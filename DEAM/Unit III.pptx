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5" r:id="rId2"/>
    <p:sldId id="416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550" r:id="rId17"/>
    <p:sldId id="431" r:id="rId18"/>
    <p:sldId id="432" r:id="rId19"/>
    <p:sldId id="433" r:id="rId20"/>
    <p:sldId id="434" r:id="rId21"/>
    <p:sldId id="435" r:id="rId22"/>
    <p:sldId id="436" r:id="rId23"/>
    <p:sldId id="437" r:id="rId24"/>
    <p:sldId id="438" r:id="rId25"/>
    <p:sldId id="439" r:id="rId26"/>
    <p:sldId id="440" r:id="rId27"/>
    <p:sldId id="441" r:id="rId28"/>
    <p:sldId id="442" r:id="rId29"/>
    <p:sldId id="443" r:id="rId30"/>
    <p:sldId id="444" r:id="rId31"/>
    <p:sldId id="445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453" r:id="rId40"/>
    <p:sldId id="454" r:id="rId41"/>
    <p:sldId id="455" r:id="rId42"/>
    <p:sldId id="456" r:id="rId43"/>
    <p:sldId id="457" r:id="rId44"/>
    <p:sldId id="458" r:id="rId45"/>
    <p:sldId id="459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587" autoAdjust="0"/>
    <p:restoredTop sz="86441" autoAdjust="0"/>
  </p:normalViewPr>
  <p:slideViewPr>
    <p:cSldViewPr>
      <p:cViewPr varScale="1">
        <p:scale>
          <a:sx n="88" d="100"/>
          <a:sy n="88" d="100"/>
        </p:scale>
        <p:origin x="-2002" y="-7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264" y="3282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26286" y="-27609"/>
            <a:ext cx="60914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1014" y="166243"/>
            <a:ext cx="7541971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6811" y="2247900"/>
            <a:ext cx="8289290" cy="3738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04021" y="6410197"/>
            <a:ext cx="4248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pPr marL="153670">
                <a:lnSpc>
                  <a:spcPts val="181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books.org/wiki/Digital_Circuits/Flip-Flop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sforu.com/technology-trends/latest-storage-product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latches-and-flip-flops/" TargetMode="External"/><Relationship Id="rId2" Type="http://schemas.openxmlformats.org/officeDocument/2006/relationships/hyperlink" Target="https://www.electrical4u.com/truth-tab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ruth_table" TargetMode="External"/><Relationship Id="rId2" Type="http://schemas.openxmlformats.org/officeDocument/2006/relationships/hyperlink" Target="https://en.wikipedia.org/wiki/Electronics_desig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tate_table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1620" y="-1295400"/>
            <a:ext cx="8629650" cy="56669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750">
              <a:latin typeface="Times New Roman"/>
              <a:cs typeface="Times New Roman"/>
            </a:endParaRPr>
          </a:p>
          <a:p>
            <a:pPr marL="12700" marR="5080" indent="635" algn="ctr">
              <a:lnSpc>
                <a:spcPct val="100000"/>
              </a:lnSpc>
              <a:tabLst>
                <a:tab pos="5890895" algn="l"/>
              </a:tabLst>
            </a:pPr>
            <a:endParaRPr lang="en-IN" sz="4400" b="1" dirty="0" smtClean="0"/>
          </a:p>
          <a:p>
            <a:pPr marL="12700" marR="5080" indent="635" algn="ctr">
              <a:lnSpc>
                <a:spcPct val="100000"/>
              </a:lnSpc>
              <a:tabLst>
                <a:tab pos="5890895" algn="l"/>
              </a:tabLst>
            </a:pPr>
            <a:endParaRPr lang="en-IN" sz="4400" b="1" dirty="0" smtClean="0"/>
          </a:p>
          <a:p>
            <a:pPr marL="12700" marR="5080" indent="635" algn="ctr">
              <a:lnSpc>
                <a:spcPct val="100000"/>
              </a:lnSpc>
              <a:tabLst>
                <a:tab pos="5890895" algn="l"/>
              </a:tabLst>
            </a:pPr>
            <a:r>
              <a:rPr lang="en-IN" sz="4400" b="1" dirty="0" smtClean="0"/>
              <a:t>Unit III: Design of Sequential Logic</a:t>
            </a:r>
          </a:p>
          <a:p>
            <a:pPr marL="12700" marR="5080" indent="635" algn="ctr">
              <a:lnSpc>
                <a:spcPct val="100000"/>
              </a:lnSpc>
              <a:tabLst>
                <a:tab pos="5890895" algn="l"/>
              </a:tabLst>
            </a:pPr>
            <a:endParaRPr lang="en-IN" sz="4400" b="1" dirty="0" smtClean="0"/>
          </a:p>
          <a:p>
            <a:pPr marL="12700" marR="5080" indent="635">
              <a:lnSpc>
                <a:spcPct val="100000"/>
              </a:lnSpc>
              <a:tabLst>
                <a:tab pos="5890895" algn="l"/>
              </a:tabLst>
            </a:pPr>
            <a:r>
              <a:rPr lang="en-IN" sz="2400" dirty="0" smtClean="0"/>
              <a:t>Flip-Flop: SR, J-K, D, T; Preset &amp;Clear, Master-Slave JK Flip Flops, Truth Tables and Excitation tables, Conversion from one type to another type of Flop- Flop. Registers: SISO, SIPO, PISO, PIPO, Shift Registers, Bidirectional Shift Registers, </a:t>
            </a:r>
            <a:r>
              <a:rPr lang="en-IN" sz="2400" b="1" dirty="0" smtClean="0"/>
              <a:t>Counters</a:t>
            </a:r>
            <a:r>
              <a:rPr lang="en-IN" sz="2400" dirty="0" smtClean="0"/>
              <a:t>: Asynchronous Counter, Synchronous Counter, BCD Counter, Johnson Counter, Modulus of the counter (IC 7490), Sequence Generators.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</a:t>
            </a:fld>
            <a:endParaRPr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49300" y="789302"/>
            <a:ext cx="7956550" cy="2085827"/>
          </a:xfrm>
          <a:prstGeom prst="rect">
            <a:avLst/>
          </a:prstGeom>
        </p:spPr>
        <p:txBody>
          <a:bodyPr vert="horz" wrap="square" lIns="0" tIns="234315" rIns="0" bIns="0" rtlCol="0">
            <a:spAutoFit/>
          </a:bodyPr>
          <a:lstStyle/>
          <a:p>
            <a:pPr marL="12700" marR="5080">
              <a:lnSpc>
                <a:spcPts val="3979"/>
              </a:lnSpc>
              <a:spcBef>
                <a:spcPts val="235"/>
              </a:spcBef>
              <a:tabLst>
                <a:tab pos="1372235" algn="l"/>
                <a:tab pos="2110105" algn="l"/>
                <a:tab pos="3000375" algn="l"/>
                <a:tab pos="4064635" algn="l"/>
                <a:tab pos="4476115" algn="l"/>
                <a:tab pos="4775200" algn="l"/>
                <a:tab pos="6552565" algn="l"/>
                <a:tab pos="7446009" algn="l"/>
              </a:tabLst>
            </a:pPr>
            <a:r>
              <a:rPr sz="2200" smtClean="0">
                <a:latin typeface="Times New Roman"/>
                <a:cs typeface="Times New Roman"/>
              </a:rPr>
              <a:t>Sequ</a:t>
            </a:r>
            <a:r>
              <a:rPr sz="2200" spc="5" smtClean="0">
                <a:latin typeface="Times New Roman"/>
                <a:cs typeface="Times New Roman"/>
              </a:rPr>
              <a:t>e</a:t>
            </a:r>
            <a:r>
              <a:rPr sz="2200" spc="-25" smtClean="0">
                <a:latin typeface="Times New Roman"/>
                <a:cs typeface="Times New Roman"/>
              </a:rPr>
              <a:t>n</a:t>
            </a:r>
            <a:r>
              <a:rPr sz="2200" spc="10" smtClean="0">
                <a:latin typeface="Times New Roman"/>
                <a:cs typeface="Times New Roman"/>
              </a:rPr>
              <a:t>t</a:t>
            </a:r>
            <a:r>
              <a:rPr sz="2200" spc="-15" smtClean="0">
                <a:latin typeface="Times New Roman"/>
                <a:cs typeface="Times New Roman"/>
              </a:rPr>
              <a:t>i</a:t>
            </a:r>
            <a:r>
              <a:rPr sz="2200" smtClean="0">
                <a:latin typeface="Times New Roman"/>
                <a:cs typeface="Times New Roman"/>
              </a:rPr>
              <a:t>al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50" dirty="0">
                <a:latin typeface="Times New Roman"/>
                <a:cs typeface="Times New Roman"/>
              </a:rPr>
              <a:t>g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c	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cu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5" dirty="0">
                <a:latin typeface="Times New Roman"/>
                <a:cs typeface="Times New Roman"/>
              </a:rPr>
              <a:t>s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s</a:t>
            </a:r>
            <a:r>
              <a:rPr sz="2200" spc="-1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s	of	a	co</a:t>
            </a:r>
            <a:r>
              <a:rPr sz="2200" spc="-60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ti</a:t>
            </a:r>
            <a:r>
              <a:rPr sz="2200" spc="-25" dirty="0">
                <a:latin typeface="Times New Roman"/>
                <a:cs typeface="Times New Roman"/>
              </a:rPr>
              <a:t>on</a:t>
            </a:r>
            <a:r>
              <a:rPr sz="2200" dirty="0">
                <a:latin typeface="Times New Roman"/>
                <a:cs typeface="Times New Roman"/>
              </a:rPr>
              <a:t>al	c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25" dirty="0">
                <a:latin typeface="Times New Roman"/>
                <a:cs typeface="Times New Roman"/>
              </a:rPr>
              <a:t>u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-10" dirty="0">
                <a:latin typeface="Times New Roman"/>
                <a:cs typeface="Times New Roman"/>
              </a:rPr>
              <a:t>w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  storage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feedback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5">
                <a:latin typeface="Times New Roman"/>
                <a:cs typeface="Times New Roman"/>
              </a:rPr>
              <a:t>to</a:t>
            </a:r>
            <a:r>
              <a:rPr sz="2200" spc="20">
                <a:latin typeface="Times New Roman"/>
                <a:cs typeface="Times New Roman"/>
              </a:rPr>
              <a:t> </a:t>
            </a:r>
            <a:r>
              <a:rPr sz="2200" spc="15" smtClean="0">
                <a:latin typeface="Times New Roman"/>
                <a:cs typeface="Times New Roman"/>
              </a:rPr>
              <a:t>combinational</a:t>
            </a:r>
            <a:r>
              <a:rPr lang="en-IN" sz="2200" spc="15" dirty="0" smtClean="0">
                <a:latin typeface="Times New Roman"/>
                <a:cs typeface="Times New Roman"/>
              </a:rPr>
              <a:t> </a:t>
            </a:r>
            <a:r>
              <a:rPr sz="2200" spc="15" smtClean="0">
                <a:latin typeface="Times New Roman"/>
                <a:cs typeface="Times New Roman"/>
              </a:rPr>
              <a:t>circuit</a:t>
            </a:r>
            <a:endParaRPr sz="2200">
              <a:latin typeface="Times New Roman"/>
              <a:cs typeface="Times New Roman"/>
            </a:endParaRPr>
          </a:p>
          <a:p>
            <a:pPr marL="777875" indent="-308610">
              <a:lnSpc>
                <a:spcPct val="100000"/>
              </a:lnSpc>
              <a:spcBef>
                <a:spcPts val="965"/>
              </a:spcBef>
              <a:buFont typeface="Microsoft Sans Serif"/>
              <a:buChar char="•"/>
              <a:tabLst>
                <a:tab pos="777875" algn="l"/>
                <a:tab pos="778510" algn="l"/>
              </a:tabLst>
            </a:pP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sequence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(past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2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present)</a:t>
            </a:r>
            <a:endParaRPr sz="1800">
              <a:latin typeface="Times New Roman"/>
              <a:cs typeface="Times New Roman"/>
            </a:endParaRPr>
          </a:p>
          <a:p>
            <a:pPr marL="777875" indent="-308610">
              <a:lnSpc>
                <a:spcPct val="100000"/>
              </a:lnSpc>
              <a:spcBef>
                <a:spcPts val="1080"/>
              </a:spcBef>
              <a:buFont typeface="Microsoft Sans Serif"/>
              <a:buChar char="•"/>
              <a:tabLst>
                <a:tab pos="777875" algn="l"/>
                <a:tab pos="778510" algn="l"/>
              </a:tabLst>
            </a:pPr>
            <a:r>
              <a:rPr sz="1800" spc="-5" dirty="0">
                <a:latin typeface="Times New Roman"/>
                <a:cs typeface="Times New Roman"/>
              </a:rPr>
              <a:t>stores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information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(state)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past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3113" y="2870"/>
            <a:ext cx="6550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2927730" y="5659628"/>
            <a:ext cx="38131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Figure</a:t>
            </a:r>
            <a:r>
              <a:rPr sz="2200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1:</a:t>
            </a:r>
            <a:r>
              <a:rPr sz="2200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Sequential</a:t>
            </a:r>
            <a:r>
              <a:rPr sz="2200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logic</a:t>
            </a:r>
            <a:r>
              <a:rPr sz="2200" spc="-114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663300"/>
                </a:solidFill>
                <a:latin typeface="Times New Roman"/>
                <a:cs typeface="Times New Roman"/>
              </a:rPr>
              <a:t>circuits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4038600"/>
            <a:ext cx="5513832" cy="155143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5513" y="2870"/>
            <a:ext cx="6550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SEQUENTIAL</a:t>
            </a:r>
            <a:r>
              <a:rPr sz="3600" spc="-75" dirty="0"/>
              <a:t> </a:t>
            </a:r>
            <a:r>
              <a:rPr sz="3600" spc="-5" dirty="0"/>
              <a:t>LOGIC</a:t>
            </a:r>
            <a:r>
              <a:rPr sz="3600" spc="-160" dirty="0"/>
              <a:t> </a:t>
            </a:r>
            <a:r>
              <a:rPr sz="3600" spc="-5" dirty="0"/>
              <a:t>CIRCUITS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88340" y="1084438"/>
            <a:ext cx="3837304" cy="342455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805" algn="just">
              <a:lnSpc>
                <a:spcPct val="100000"/>
              </a:lnSpc>
              <a:spcBef>
                <a:spcPts val="670"/>
              </a:spcBef>
              <a:buFont typeface="Microsoft Sans Serif"/>
              <a:buChar char="•"/>
              <a:tabLst>
                <a:tab pos="357505" algn="l"/>
              </a:tabLst>
            </a:pPr>
            <a:r>
              <a:rPr sz="2600" spc="-5" dirty="0">
                <a:latin typeface="Times New Roman"/>
                <a:cs typeface="Times New Roman"/>
              </a:rPr>
              <a:t>Output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depends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on</a:t>
            </a:r>
            <a:endParaRPr sz="260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95"/>
              </a:spcBef>
              <a:buFont typeface="Microsoft Sans Serif"/>
              <a:buChar char="–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Input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05"/>
              </a:spcBef>
              <a:buFont typeface="Microsoft Sans Serif"/>
              <a:buChar char="–"/>
              <a:tabLst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Pr</a:t>
            </a:r>
            <a:r>
              <a:rPr sz="2200" spc="5" dirty="0">
                <a:latin typeface="Times New Roman"/>
                <a:cs typeface="Times New Roman"/>
              </a:rPr>
              <a:t>e</a:t>
            </a:r>
            <a:r>
              <a:rPr sz="2200" spc="-25" dirty="0">
                <a:latin typeface="Times New Roman"/>
                <a:cs typeface="Times New Roman"/>
              </a:rPr>
              <a:t>v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ous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80"/>
                </a:solidFill>
                <a:latin typeface="Times New Roman"/>
                <a:cs typeface="Times New Roman"/>
              </a:rPr>
              <a:t>s</a:t>
            </a:r>
            <a:r>
              <a:rPr sz="2200" spc="10" dirty="0">
                <a:solidFill>
                  <a:srgbClr val="000080"/>
                </a:solidFill>
                <a:latin typeface="Times New Roman"/>
                <a:cs typeface="Times New Roman"/>
              </a:rPr>
              <a:t>t</a:t>
            </a:r>
            <a:r>
              <a:rPr sz="2200" dirty="0">
                <a:solidFill>
                  <a:srgbClr val="000080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000080"/>
                </a:solidFill>
                <a:latin typeface="Times New Roman"/>
                <a:cs typeface="Times New Roman"/>
              </a:rPr>
              <a:t>t</a:t>
            </a:r>
            <a:r>
              <a:rPr sz="2200" dirty="0">
                <a:solidFill>
                  <a:srgbClr val="000080"/>
                </a:solidFill>
                <a:latin typeface="Times New Roman"/>
                <a:cs typeface="Times New Roman"/>
              </a:rPr>
              <a:t>e</a:t>
            </a:r>
            <a:r>
              <a:rPr sz="2200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he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cu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356870" marR="294640" indent="-344805" algn="just">
              <a:lnSpc>
                <a:spcPct val="100000"/>
              </a:lnSpc>
              <a:spcBef>
                <a:spcPts val="585"/>
              </a:spcBef>
              <a:buFont typeface="Microsoft Sans Serif"/>
              <a:buChar char="•"/>
              <a:tabLst>
                <a:tab pos="357505" algn="l"/>
              </a:tabLst>
            </a:pPr>
            <a:r>
              <a:rPr sz="2600" spc="-5" dirty="0">
                <a:solidFill>
                  <a:srgbClr val="000099"/>
                </a:solidFill>
                <a:latin typeface="Times New Roman"/>
                <a:cs typeface="Times New Roman"/>
              </a:rPr>
              <a:t>Flip-flop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basic</a:t>
            </a:r>
            <a:r>
              <a:rPr sz="2600" spc="-30" dirty="0">
                <a:latin typeface="Times New Roman"/>
                <a:cs typeface="Times New Roman"/>
              </a:rPr>
              <a:t> memory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element</a:t>
            </a:r>
            <a:endParaRPr sz="26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7505" algn="l"/>
              </a:tabLst>
            </a:pPr>
            <a:r>
              <a:rPr sz="2600" spc="-5" dirty="0">
                <a:solidFill>
                  <a:srgbClr val="000099"/>
                </a:solidFill>
                <a:latin typeface="Times New Roman"/>
                <a:cs typeface="Times New Roman"/>
              </a:rPr>
              <a:t>State table</a:t>
            </a:r>
            <a:r>
              <a:rPr sz="2600" spc="-5" dirty="0">
                <a:latin typeface="Times New Roman"/>
                <a:cs typeface="Times New Roman"/>
              </a:rPr>
              <a:t>: </a:t>
            </a:r>
            <a:r>
              <a:rPr sz="2600" spc="-10" dirty="0">
                <a:latin typeface="Times New Roman"/>
                <a:cs typeface="Times New Roman"/>
              </a:rPr>
              <a:t>output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5" dirty="0">
                <a:latin typeface="Times New Roman"/>
                <a:cs typeface="Times New Roman"/>
              </a:rPr>
              <a:t>all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combinations </a:t>
            </a:r>
            <a:r>
              <a:rPr sz="2600" spc="-20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input </a:t>
            </a:r>
            <a:r>
              <a:rPr sz="2600" spc="-5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previous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states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000" spc="-5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u</a:t>
            </a:r>
            <a:r>
              <a:rPr sz="2000" spc="-35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h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Times New Roman"/>
                <a:cs typeface="Times New Roman"/>
              </a:rPr>
              <a:t>T</a:t>
            </a:r>
            <a:r>
              <a:rPr sz="2000" spc="-25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b</a:t>
            </a:r>
            <a:r>
              <a:rPr sz="2000" spc="-35" dirty="0">
                <a:latin typeface="Times New Roman"/>
                <a:cs typeface="Times New Roman"/>
              </a:rPr>
              <a:t>l</a:t>
            </a: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1752600"/>
            <a:ext cx="3267455" cy="27401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3113" y="2870"/>
            <a:ext cx="6550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SEQUENTIAL</a:t>
            </a:r>
            <a:r>
              <a:rPr sz="3600" spc="-75" dirty="0"/>
              <a:t> </a:t>
            </a:r>
            <a:r>
              <a:rPr sz="3600" spc="-5" dirty="0"/>
              <a:t>LOGIC</a:t>
            </a:r>
            <a:r>
              <a:rPr sz="3600" spc="-160" dirty="0"/>
              <a:t> </a:t>
            </a:r>
            <a:r>
              <a:rPr sz="3600" spc="-5" dirty="0"/>
              <a:t>CIRCUITS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07035" y="1077594"/>
            <a:ext cx="8379459" cy="5149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8419" indent="-51562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dirty="0">
                <a:latin typeface="Times New Roman"/>
                <a:cs typeface="Times New Roman"/>
              </a:rPr>
              <a:t>Sequential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circuit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receives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5">
                <a:latin typeface="Times New Roman"/>
                <a:cs typeface="Times New Roman"/>
              </a:rPr>
              <a:t>binary</a:t>
            </a:r>
            <a:r>
              <a:rPr sz="2800" spc="-5">
                <a:latin typeface="Times New Roman"/>
                <a:cs typeface="Times New Roman"/>
              </a:rPr>
              <a:t> </a:t>
            </a:r>
            <a:r>
              <a:rPr sz="2800" spc="15" smtClean="0">
                <a:latin typeface="Times New Roman"/>
                <a:cs typeface="Times New Roman"/>
              </a:rPr>
              <a:t>information</a:t>
            </a:r>
            <a:r>
              <a:rPr lang="en-IN" sz="2800" spc="15" dirty="0" smtClean="0">
                <a:latin typeface="Times New Roman"/>
                <a:cs typeface="Times New Roman"/>
              </a:rPr>
              <a:t> </a:t>
            </a:r>
            <a:r>
              <a:rPr sz="2800" spc="15" smtClean="0">
                <a:latin typeface="Times New Roman"/>
                <a:cs typeface="Times New Roman"/>
              </a:rPr>
              <a:t>from </a:t>
            </a:r>
            <a:r>
              <a:rPr sz="2800" spc="-685" smtClean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external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inputs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present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state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storage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elements </a:t>
            </a:r>
            <a:r>
              <a:rPr sz="2800" spc="5" dirty="0">
                <a:latin typeface="Times New Roman"/>
                <a:cs typeface="Times New Roman"/>
              </a:rPr>
              <a:t>together </a:t>
            </a:r>
            <a:r>
              <a:rPr sz="2800" dirty="0">
                <a:latin typeface="Times New Roman"/>
                <a:cs typeface="Times New Roman"/>
              </a:rPr>
              <a:t>determine </a:t>
            </a:r>
            <a:r>
              <a:rPr sz="2800" spc="5" dirty="0">
                <a:latin typeface="Times New Roman"/>
                <a:cs typeface="Times New Roman"/>
              </a:rPr>
              <a:t>the binary value of the 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outputs.</a:t>
            </a:r>
            <a:endParaRPr sz="2800">
              <a:latin typeface="Times New Roman"/>
              <a:cs typeface="Times New Roman"/>
            </a:endParaRPr>
          </a:p>
          <a:p>
            <a:pPr marL="527685" marR="76200" indent="-515620" algn="just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528320" algn="l"/>
              </a:tabLst>
            </a:pP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10" dirty="0">
                <a:latin typeface="Times New Roman"/>
                <a:cs typeface="Times New Roman"/>
              </a:rPr>
              <a:t>output </a:t>
            </a:r>
            <a:r>
              <a:rPr sz="2800" spc="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a sequential circuit are a </a:t>
            </a:r>
            <a:r>
              <a:rPr sz="2800" spc="5" dirty="0">
                <a:latin typeface="Times New Roman"/>
                <a:cs typeface="Times New Roman"/>
              </a:rPr>
              <a:t>function of not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only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inputs,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but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also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the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present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state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storage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elements.</a:t>
            </a:r>
            <a:endParaRPr sz="2800">
              <a:latin typeface="Times New Roman"/>
              <a:cs typeface="Times New Roman"/>
            </a:endParaRPr>
          </a:p>
          <a:p>
            <a:pPr marL="527685" marR="5080" indent="-51562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832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next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state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storage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>
                <a:latin typeface="Times New Roman"/>
                <a:cs typeface="Times New Roman"/>
              </a:rPr>
              <a:t>also</a:t>
            </a:r>
            <a:r>
              <a:rPr sz="2800" spc="-10">
                <a:latin typeface="Times New Roman"/>
                <a:cs typeface="Times New Roman"/>
              </a:rPr>
              <a:t> </a:t>
            </a:r>
            <a:r>
              <a:rPr sz="2800" spc="35" smtClean="0">
                <a:latin typeface="Times New Roman"/>
                <a:cs typeface="Times New Roman"/>
              </a:rPr>
              <a:t>a</a:t>
            </a:r>
            <a:r>
              <a:rPr lang="en-IN" sz="2800" spc="35" dirty="0" smtClean="0">
                <a:latin typeface="Times New Roman"/>
                <a:cs typeface="Times New Roman"/>
              </a:rPr>
              <a:t> </a:t>
            </a:r>
            <a:r>
              <a:rPr sz="2800" spc="35" smtClean="0">
                <a:latin typeface="Times New Roman"/>
                <a:cs typeface="Times New Roman"/>
              </a:rPr>
              <a:t>function </a:t>
            </a:r>
            <a:r>
              <a:rPr sz="2800" spc="-690" smtClean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5" dirty="0">
                <a:latin typeface="Times New Roman"/>
                <a:cs typeface="Times New Roman"/>
              </a:rPr>
              <a:t>xt</a:t>
            </a:r>
            <a:r>
              <a:rPr sz="2800" dirty="0">
                <a:latin typeface="Times New Roman"/>
                <a:cs typeface="Times New Roman"/>
              </a:rPr>
              <a:t>er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al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5" dirty="0">
                <a:latin typeface="Times New Roman"/>
                <a:cs typeface="Times New Roman"/>
              </a:rPr>
              <a:t>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re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3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st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e.</a:t>
            </a:r>
            <a:endParaRPr sz="2800">
              <a:latin typeface="Times New Roman"/>
              <a:cs typeface="Times New Roman"/>
            </a:endParaRPr>
          </a:p>
          <a:p>
            <a:pPr marL="527685" indent="-515620" algn="just">
              <a:lnSpc>
                <a:spcPct val="100000"/>
              </a:lnSpc>
              <a:buAutoNum type="arabicPeriod"/>
              <a:tabLst>
                <a:tab pos="528320" algn="l"/>
              </a:tabLst>
            </a:pP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5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ere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w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40" dirty="0">
                <a:latin typeface="Times New Roman"/>
                <a:cs typeface="Times New Roman"/>
              </a:rPr>
              <a:t>y</a:t>
            </a:r>
            <a:r>
              <a:rPr sz="2800" spc="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f 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q</a:t>
            </a:r>
            <a:r>
              <a:rPr sz="2800" spc="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al</a:t>
            </a:r>
            <a:r>
              <a:rPr sz="2800" spc="-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rc</a:t>
            </a:r>
            <a:r>
              <a:rPr sz="2800" spc="10" dirty="0">
                <a:latin typeface="Times New Roman"/>
                <a:cs typeface="Times New Roman"/>
              </a:rPr>
              <a:t>u</a:t>
            </a:r>
            <a:r>
              <a:rPr sz="2800" spc="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884555" lvl="1" indent="-357505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885190" algn="l"/>
              </a:tabLst>
            </a:pP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spc="-35" dirty="0">
                <a:latin typeface="Times New Roman"/>
                <a:cs typeface="Times New Roman"/>
              </a:rPr>
              <a:t>y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10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10" dirty="0">
                <a:latin typeface="Times New Roman"/>
                <a:cs typeface="Times New Roman"/>
              </a:rPr>
              <a:t>ono</a:t>
            </a:r>
            <a:r>
              <a:rPr sz="2800" spc="-10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qu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spc="-2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rc</a:t>
            </a:r>
            <a:r>
              <a:rPr sz="2800" spc="5" dirty="0">
                <a:latin typeface="Times New Roman"/>
                <a:cs typeface="Times New Roman"/>
              </a:rPr>
              <a:t>uit</a:t>
            </a:r>
            <a:r>
              <a:rPr sz="2800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884555" lvl="1" indent="-357505" algn="just">
              <a:lnSpc>
                <a:spcPct val="100000"/>
              </a:lnSpc>
              <a:buAutoNum type="arabicPeriod"/>
              <a:tabLst>
                <a:tab pos="88519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spc="-35" dirty="0">
                <a:latin typeface="Times New Roman"/>
                <a:cs typeface="Times New Roman"/>
              </a:rPr>
              <a:t>y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10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10" dirty="0">
                <a:latin typeface="Times New Roman"/>
                <a:cs typeface="Times New Roman"/>
              </a:rPr>
              <a:t>ono</a:t>
            </a:r>
            <a:r>
              <a:rPr sz="2800" spc="-10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qu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5" dirty="0">
                <a:latin typeface="Times New Roman"/>
                <a:cs typeface="Times New Roman"/>
              </a:rPr>
              <a:t>nt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al</a:t>
            </a:r>
            <a:r>
              <a:rPr sz="2800" spc="-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rc</a:t>
            </a:r>
            <a:r>
              <a:rPr sz="2800" spc="5" dirty="0">
                <a:latin typeface="Times New Roman"/>
                <a:cs typeface="Times New Roman"/>
              </a:rPr>
              <a:t>uit</a:t>
            </a:r>
            <a:r>
              <a:rPr sz="2800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0363" y="951991"/>
            <a:ext cx="6318885" cy="42242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65"/>
              </a:lnSpc>
              <a:spcBef>
                <a:spcPts val="100"/>
              </a:spcBef>
            </a:pPr>
            <a:r>
              <a:rPr sz="3000" dirty="0">
                <a:solidFill>
                  <a:srgbClr val="CC0066"/>
                </a:solidFill>
                <a:latin typeface="Times New Roman"/>
                <a:cs typeface="Times New Roman"/>
              </a:rPr>
              <a:t>Synchronous</a:t>
            </a:r>
            <a:r>
              <a:rPr sz="3000" spc="-145" dirty="0">
                <a:solidFill>
                  <a:srgbClr val="CC0066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C0066"/>
                </a:solidFill>
                <a:latin typeface="Times New Roman"/>
                <a:cs typeface="Times New Roman"/>
              </a:rPr>
              <a:t>sequential</a:t>
            </a:r>
            <a:r>
              <a:rPr sz="3000" spc="-165" dirty="0">
                <a:solidFill>
                  <a:srgbClr val="CC0066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C0066"/>
                </a:solidFill>
                <a:latin typeface="Times New Roman"/>
                <a:cs typeface="Times New Roman"/>
              </a:rPr>
              <a:t>circuits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ts val="3565"/>
              </a:lnSpc>
              <a:tabLst>
                <a:tab pos="5501005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system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whose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behaviour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can	</a:t>
            </a:r>
            <a:r>
              <a:rPr sz="3000" spc="5" dirty="0">
                <a:latin typeface="Calibri"/>
                <a:cs typeface="Calibri"/>
              </a:rPr>
              <a:t>be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70"/>
              </a:spcBef>
            </a:pPr>
            <a:r>
              <a:rPr sz="3000" spc="5" dirty="0">
                <a:latin typeface="Times New Roman"/>
                <a:cs typeface="Times New Roman"/>
              </a:rPr>
              <a:t>d</a:t>
            </a:r>
            <a:r>
              <a:rPr sz="3000" spc="-15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f</a:t>
            </a:r>
            <a:r>
              <a:rPr sz="3000" spc="10" dirty="0">
                <a:latin typeface="Times New Roman"/>
                <a:cs typeface="Times New Roman"/>
              </a:rPr>
              <a:t>i</a:t>
            </a:r>
            <a:r>
              <a:rPr sz="3000" spc="5" dirty="0">
                <a:latin typeface="Times New Roman"/>
                <a:cs typeface="Times New Roman"/>
              </a:rPr>
              <a:t>n</a:t>
            </a:r>
            <a:r>
              <a:rPr sz="3000" spc="-15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</a:t>
            </a:r>
            <a:r>
              <a:rPr sz="3000" spc="10" dirty="0">
                <a:latin typeface="Times New Roman"/>
                <a:cs typeface="Times New Roman"/>
              </a:rPr>
              <a:t>r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m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15" dirty="0">
                <a:latin typeface="Times New Roman"/>
                <a:cs typeface="Times New Roman"/>
              </a:rPr>
              <a:t>h</a:t>
            </a:r>
            <a:r>
              <a:rPr sz="3000" dirty="0">
                <a:latin typeface="Times New Roman"/>
                <a:cs typeface="Times New Roman"/>
              </a:rPr>
              <a:t>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</a:t>
            </a:r>
            <a:r>
              <a:rPr sz="3000" spc="15" dirty="0">
                <a:latin typeface="Times New Roman"/>
                <a:cs typeface="Times New Roman"/>
              </a:rPr>
              <a:t>n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wl</a:t>
            </a:r>
            <a:r>
              <a:rPr sz="3000" spc="-15" dirty="0">
                <a:latin typeface="Times New Roman"/>
                <a:cs typeface="Times New Roman"/>
              </a:rPr>
              <a:t>e</a:t>
            </a:r>
            <a:r>
              <a:rPr sz="3000" spc="5" dirty="0">
                <a:latin typeface="Times New Roman"/>
                <a:cs typeface="Times New Roman"/>
              </a:rPr>
              <a:t>dg</a:t>
            </a:r>
            <a:r>
              <a:rPr sz="3000" dirty="0">
                <a:latin typeface="Times New Roman"/>
                <a:cs typeface="Times New Roman"/>
              </a:rPr>
              <a:t>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f i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s</a:t>
            </a:r>
            <a:r>
              <a:rPr sz="3000" spc="-3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</a:t>
            </a:r>
            <a:r>
              <a:rPr sz="3000" spc="5" dirty="0">
                <a:latin typeface="Times New Roman"/>
                <a:cs typeface="Times New Roman"/>
              </a:rPr>
              <a:t>ign</a:t>
            </a:r>
            <a:r>
              <a:rPr sz="3000" spc="-15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ls  </a:t>
            </a:r>
            <a:r>
              <a:rPr sz="3000" spc="-5" dirty="0">
                <a:latin typeface="Times New Roman"/>
                <a:cs typeface="Times New Roman"/>
              </a:rPr>
              <a:t>at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discrete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instants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5">
                <a:latin typeface="Times New Roman"/>
                <a:cs typeface="Times New Roman"/>
              </a:rPr>
              <a:t>of</a:t>
            </a:r>
            <a:r>
              <a:rPr sz="3000" spc="-135">
                <a:latin typeface="Times New Roman"/>
                <a:cs typeface="Times New Roman"/>
              </a:rPr>
              <a:t> </a:t>
            </a:r>
            <a:r>
              <a:rPr sz="3000" spc="-10" smtClean="0">
                <a:latin typeface="Times New Roman"/>
                <a:cs typeface="Times New Roman"/>
              </a:rPr>
              <a:t>time</a:t>
            </a:r>
            <a:r>
              <a:rPr lang="en-IN" sz="3000" spc="-10" dirty="0" smtClean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CC0066"/>
                </a:solidFill>
                <a:latin typeface="Times New Roman"/>
                <a:cs typeface="Times New Roman"/>
              </a:rPr>
              <a:t>Asynchronous</a:t>
            </a:r>
            <a:r>
              <a:rPr sz="3000" spc="-125" dirty="0">
                <a:solidFill>
                  <a:srgbClr val="CC0066"/>
                </a:solidFill>
                <a:latin typeface="Times New Roman"/>
                <a:cs typeface="Times New Roman"/>
              </a:rPr>
              <a:t> </a:t>
            </a:r>
            <a:r>
              <a:rPr sz="3000" spc="-5" dirty="0">
                <a:solidFill>
                  <a:srgbClr val="CC0066"/>
                </a:solidFill>
                <a:latin typeface="Times New Roman"/>
                <a:cs typeface="Times New Roman"/>
              </a:rPr>
              <a:t>sequential</a:t>
            </a:r>
            <a:r>
              <a:rPr sz="3000" spc="-170" dirty="0">
                <a:solidFill>
                  <a:srgbClr val="CC0066"/>
                </a:solidFill>
                <a:latin typeface="Times New Roman"/>
                <a:cs typeface="Times New Roman"/>
              </a:rPr>
              <a:t> </a:t>
            </a:r>
            <a:r>
              <a:rPr sz="3000" spc="-5" dirty="0">
                <a:solidFill>
                  <a:srgbClr val="CC0066"/>
                </a:solidFill>
                <a:latin typeface="Times New Roman"/>
                <a:cs typeface="Times New Roman"/>
              </a:rPr>
              <a:t>circuits</a:t>
            </a:r>
            <a:endParaRPr sz="3000">
              <a:latin typeface="Times New Roman"/>
              <a:cs typeface="Times New Roman"/>
            </a:endParaRPr>
          </a:p>
          <a:p>
            <a:pPr marL="12700" marR="4318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 depends </a:t>
            </a:r>
            <a:r>
              <a:rPr sz="3000" spc="5" dirty="0">
                <a:latin typeface="Times New Roman"/>
                <a:cs typeface="Times New Roman"/>
              </a:rPr>
              <a:t>upon the input </a:t>
            </a:r>
            <a:r>
              <a:rPr sz="3000" dirty="0">
                <a:latin typeface="Times New Roman"/>
                <a:cs typeface="Times New Roman"/>
              </a:rPr>
              <a:t>signals </a:t>
            </a:r>
            <a:r>
              <a:rPr sz="3000" spc="-5" dirty="0">
                <a:latin typeface="Times New Roman"/>
                <a:cs typeface="Times New Roman"/>
              </a:rPr>
              <a:t>at </a:t>
            </a:r>
            <a:r>
              <a:rPr sz="3000" dirty="0">
                <a:latin typeface="Times New Roman"/>
                <a:cs typeface="Times New Roman"/>
              </a:rPr>
              <a:t>any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</a:t>
            </a:r>
            <a:r>
              <a:rPr sz="3000" spc="15" dirty="0">
                <a:latin typeface="Times New Roman"/>
                <a:cs typeface="Times New Roman"/>
              </a:rPr>
              <a:t>n</a:t>
            </a:r>
            <a:r>
              <a:rPr sz="3000" dirty="0">
                <a:latin typeface="Times New Roman"/>
                <a:cs typeface="Times New Roman"/>
              </a:rPr>
              <a:t>sta</a:t>
            </a:r>
            <a:r>
              <a:rPr sz="3000" spc="5" dirty="0">
                <a:latin typeface="Times New Roman"/>
                <a:cs typeface="Times New Roman"/>
              </a:rPr>
              <a:t>n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f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5" dirty="0">
                <a:latin typeface="Times New Roman"/>
                <a:cs typeface="Times New Roman"/>
              </a:rPr>
              <a:t>i</a:t>
            </a:r>
            <a:r>
              <a:rPr sz="3000" spc="-30" dirty="0">
                <a:latin typeface="Times New Roman"/>
                <a:cs typeface="Times New Roman"/>
              </a:rPr>
              <a:t>m</a:t>
            </a:r>
            <a:r>
              <a:rPr sz="3000" dirty="0">
                <a:latin typeface="Times New Roman"/>
                <a:cs typeface="Times New Roman"/>
              </a:rPr>
              <a:t>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</a:t>
            </a:r>
            <a:r>
              <a:rPr sz="3000" spc="10" dirty="0">
                <a:latin typeface="Times New Roman"/>
                <a:cs typeface="Times New Roman"/>
              </a:rPr>
              <a:t>n</a:t>
            </a:r>
            <a:r>
              <a:rPr sz="3000" dirty="0">
                <a:latin typeface="Times New Roman"/>
                <a:cs typeface="Times New Roman"/>
              </a:rPr>
              <a:t>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15" dirty="0">
                <a:latin typeface="Times New Roman"/>
                <a:cs typeface="Times New Roman"/>
              </a:rPr>
              <a:t>h</a:t>
            </a:r>
            <a:r>
              <a:rPr sz="3000" dirty="0">
                <a:latin typeface="Times New Roman"/>
                <a:cs typeface="Times New Roman"/>
              </a:rPr>
              <a:t>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</a:t>
            </a:r>
            <a:r>
              <a:rPr sz="3000" spc="15" dirty="0">
                <a:latin typeface="Times New Roman"/>
                <a:cs typeface="Times New Roman"/>
              </a:rPr>
              <a:t>r</a:t>
            </a:r>
            <a:r>
              <a:rPr sz="3000" spc="10" dirty="0">
                <a:latin typeface="Times New Roman"/>
                <a:cs typeface="Times New Roman"/>
              </a:rPr>
              <a:t>d</a:t>
            </a:r>
            <a:r>
              <a:rPr sz="3000" spc="-10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w</a:t>
            </a:r>
            <a:r>
              <a:rPr sz="3000" spc="10" dirty="0">
                <a:latin typeface="Times New Roman"/>
                <a:cs typeface="Times New Roman"/>
              </a:rPr>
              <a:t>h</a:t>
            </a:r>
            <a:r>
              <a:rPr sz="3000" dirty="0">
                <a:latin typeface="Times New Roman"/>
                <a:cs typeface="Times New Roman"/>
              </a:rPr>
              <a:t>ich</a:t>
            </a:r>
            <a:r>
              <a:rPr sz="3000" spc="-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15" dirty="0">
                <a:latin typeface="Times New Roman"/>
                <a:cs typeface="Times New Roman"/>
              </a:rPr>
              <a:t>h</a:t>
            </a:r>
            <a:r>
              <a:rPr sz="3000" dirty="0">
                <a:latin typeface="Times New Roman"/>
                <a:cs typeface="Times New Roman"/>
              </a:rPr>
              <a:t>e  </a:t>
            </a:r>
            <a:r>
              <a:rPr sz="3000" spc="5">
                <a:latin typeface="Times New Roman"/>
                <a:cs typeface="Times New Roman"/>
              </a:rPr>
              <a:t>input</a:t>
            </a:r>
            <a:r>
              <a:rPr sz="3000" spc="-120">
                <a:latin typeface="Times New Roman"/>
                <a:cs typeface="Times New Roman"/>
              </a:rPr>
              <a:t> </a:t>
            </a:r>
            <a:r>
              <a:rPr sz="3000" spc="-5" smtClean="0">
                <a:latin typeface="Times New Roman"/>
                <a:cs typeface="Times New Roman"/>
              </a:rPr>
              <a:t>changes</a:t>
            </a:r>
            <a:r>
              <a:rPr lang="en-IN" sz="3000" spc="-5" dirty="0" smtClean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5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3113" y="2870"/>
            <a:ext cx="6550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SEQUENTIAL</a:t>
            </a:r>
            <a:r>
              <a:rPr sz="3600" spc="-75" dirty="0"/>
              <a:t> </a:t>
            </a:r>
            <a:r>
              <a:rPr sz="3600" spc="-5" dirty="0"/>
              <a:t>LOGIC</a:t>
            </a:r>
            <a:r>
              <a:rPr sz="3600" spc="-160" dirty="0"/>
              <a:t> </a:t>
            </a:r>
            <a:r>
              <a:rPr sz="3600" spc="-5" dirty="0"/>
              <a:t>CIRCUITS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9648" y="339725"/>
            <a:ext cx="5415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mtClean="0"/>
              <a:t>Combinational</a:t>
            </a:r>
            <a:r>
              <a:rPr sz="3600" spc="-75" smtClean="0"/>
              <a:t> </a:t>
            </a:r>
            <a:r>
              <a:rPr sz="3600" dirty="0"/>
              <a:t>vs.</a:t>
            </a:r>
            <a:r>
              <a:rPr sz="3600" spc="-95" dirty="0"/>
              <a:t> </a:t>
            </a:r>
            <a:r>
              <a:rPr sz="3600" dirty="0"/>
              <a:t>Sequential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88340" y="1122061"/>
            <a:ext cx="7860665" cy="19685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R="56515" algn="ctr">
              <a:lnSpc>
                <a:spcPct val="100000"/>
              </a:lnSpc>
              <a:spcBef>
                <a:spcPts val="1165"/>
              </a:spcBef>
            </a:pP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OM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27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OG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RC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3990"/>
              </a:lnSpc>
              <a:spcBef>
                <a:spcPts val="200"/>
              </a:spcBef>
              <a:tabLst>
                <a:tab pos="1795780" algn="l"/>
                <a:tab pos="3317875" algn="l"/>
                <a:tab pos="4326890" algn="l"/>
                <a:tab pos="4686300" algn="l"/>
                <a:tab pos="5387975" algn="l"/>
                <a:tab pos="6589395" algn="l"/>
                <a:tab pos="7278370" algn="l"/>
              </a:tabLst>
            </a:pPr>
            <a:r>
              <a:rPr sz="2200" spc="-5" dirty="0">
                <a:latin typeface="Times New Roman"/>
                <a:cs typeface="Times New Roman"/>
              </a:rPr>
              <a:t>C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35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spc="-25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t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spc="-25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l	</a:t>
            </a:r>
            <a:r>
              <a:rPr sz="2200" spc="-1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25" dirty="0">
                <a:latin typeface="Times New Roman"/>
                <a:cs typeface="Times New Roman"/>
              </a:rPr>
              <a:t>g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c 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spc="-25" dirty="0">
                <a:latin typeface="Times New Roman"/>
                <a:cs typeface="Times New Roman"/>
              </a:rPr>
              <a:t>u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t	c</a:t>
            </a:r>
            <a:r>
              <a:rPr sz="2200" spc="-20" dirty="0">
                <a:latin typeface="Times New Roman"/>
                <a:cs typeface="Times New Roman"/>
              </a:rPr>
              <a:t>o</a:t>
            </a:r>
            <a:r>
              <a:rPr sz="2200" spc="-25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s</a:t>
            </a:r>
            <a:r>
              <a:rPr sz="2200" spc="-1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s	</a:t>
            </a:r>
            <a:r>
              <a:rPr sz="2200" spc="-25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f	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np</a:t>
            </a:r>
            <a:r>
              <a:rPr sz="2200" spc="-25" dirty="0">
                <a:latin typeface="Times New Roman"/>
                <a:cs typeface="Times New Roman"/>
              </a:rPr>
              <a:t>u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-25" dirty="0">
                <a:latin typeface="Times New Roman"/>
                <a:cs typeface="Times New Roman"/>
              </a:rPr>
              <a:t>v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r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1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20" dirty="0">
                <a:latin typeface="Times New Roman"/>
                <a:cs typeface="Times New Roman"/>
              </a:rPr>
              <a:t>s</a:t>
            </a:r>
            <a:r>
              <a:rPr sz="2200" dirty="0">
                <a:latin typeface="Times New Roman"/>
                <a:cs typeface="Times New Roman"/>
              </a:rPr>
              <a:t>,	</a:t>
            </a:r>
            <a:r>
              <a:rPr sz="2200" spc="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25" dirty="0">
                <a:latin typeface="Times New Roman"/>
                <a:cs typeface="Times New Roman"/>
              </a:rPr>
              <a:t>g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c	</a:t>
            </a:r>
            <a:r>
              <a:rPr sz="2200" spc="-25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t</a:t>
            </a:r>
            <a:r>
              <a:rPr sz="2200" spc="-20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s  and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output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variables.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logic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gate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accepts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signals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inputs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200" spc="5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ene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na</a:t>
            </a:r>
            <a:r>
              <a:rPr sz="2200" spc="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he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  <a:r>
              <a:rPr sz="2200" spc="10" dirty="0">
                <a:latin typeface="Times New Roman"/>
                <a:cs typeface="Times New Roman"/>
              </a:rPr>
              <a:t>s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3429000"/>
            <a:ext cx="2039112" cy="1524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8410" y="3758310"/>
            <a:ext cx="942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n </a:t>
            </a:r>
            <a:r>
              <a:rPr sz="1800" dirty="0">
                <a:latin typeface="Microsoft Sans Serif"/>
                <a:cs typeface="Microsoft Sans Serif"/>
              </a:rPr>
              <a:t>input 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v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ri</a:t>
            </a:r>
            <a:r>
              <a:rPr sz="1800" dirty="0">
                <a:latin typeface="Microsoft Sans Serif"/>
                <a:cs typeface="Microsoft Sans Serif"/>
              </a:rPr>
              <a:t>ab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721222" y="3834129"/>
            <a:ext cx="940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m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</a:t>
            </a:r>
            <a:r>
              <a:rPr sz="1800" spc="5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ut  </a:t>
            </a:r>
            <a:r>
              <a:rPr sz="1800" spc="-40" dirty="0">
                <a:latin typeface="Microsoft Sans Serif"/>
                <a:cs typeface="Microsoft Sans Serif"/>
              </a:rPr>
              <a:t>v</a:t>
            </a:r>
            <a:r>
              <a:rPr sz="1800" dirty="0">
                <a:latin typeface="Microsoft Sans Serif"/>
                <a:cs typeface="Microsoft Sans Serif"/>
              </a:rPr>
              <a:t>ar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dirty="0">
                <a:latin typeface="Microsoft Sans Serif"/>
                <a:cs typeface="Microsoft Sans Serif"/>
              </a:rPr>
              <a:t>ab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140" y="5048758"/>
            <a:ext cx="742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variables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2n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possible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combinations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binary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-20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variables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49300" y="789302"/>
            <a:ext cx="7956550" cy="2584450"/>
          </a:xfrm>
          <a:prstGeom prst="rect">
            <a:avLst/>
          </a:prstGeom>
        </p:spPr>
        <p:txBody>
          <a:bodyPr vert="horz" wrap="square" lIns="0" tIns="234315" rIns="0" bIns="0" rtlCol="0">
            <a:spAutoFit/>
          </a:bodyPr>
          <a:lstStyle/>
          <a:p>
            <a:pPr marL="844550">
              <a:lnSpc>
                <a:spcPct val="100000"/>
              </a:lnSpc>
              <a:spcBef>
                <a:spcPts val="1845"/>
              </a:spcBef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SEQU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NT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AL</a:t>
            </a:r>
            <a:r>
              <a:rPr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LOG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CIRCUITS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979"/>
              </a:lnSpc>
              <a:spcBef>
                <a:spcPts val="235"/>
              </a:spcBef>
              <a:tabLst>
                <a:tab pos="1372235" algn="l"/>
                <a:tab pos="2110105" algn="l"/>
                <a:tab pos="3000375" algn="l"/>
                <a:tab pos="4064635" algn="l"/>
                <a:tab pos="4476115" algn="l"/>
                <a:tab pos="4775200" algn="l"/>
                <a:tab pos="6552565" algn="l"/>
                <a:tab pos="7446009" algn="l"/>
              </a:tabLst>
            </a:pPr>
            <a:r>
              <a:rPr sz="2200" dirty="0">
                <a:latin typeface="Times New Roman"/>
                <a:cs typeface="Times New Roman"/>
              </a:rPr>
              <a:t>Sequ</a:t>
            </a:r>
            <a:r>
              <a:rPr sz="2200" spc="5" dirty="0">
                <a:latin typeface="Times New Roman"/>
                <a:cs typeface="Times New Roman"/>
              </a:rPr>
              <a:t>e</a:t>
            </a:r>
            <a:r>
              <a:rPr sz="2200" spc="-25" dirty="0">
                <a:latin typeface="Times New Roman"/>
                <a:cs typeface="Times New Roman"/>
              </a:rPr>
              <a:t>n</a:t>
            </a:r>
            <a:r>
              <a:rPr sz="2200" spc="10" dirty="0">
                <a:latin typeface="Times New Roman"/>
                <a:cs typeface="Times New Roman"/>
              </a:rPr>
              <a:t>t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al	</a:t>
            </a:r>
            <a:r>
              <a:rPr sz="2200" spc="10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50" dirty="0">
                <a:latin typeface="Times New Roman"/>
                <a:cs typeface="Times New Roman"/>
              </a:rPr>
              <a:t>g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c	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spc="-20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cu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-20" dirty="0">
                <a:latin typeface="Times New Roman"/>
                <a:cs typeface="Times New Roman"/>
              </a:rPr>
              <a:t>c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5" dirty="0">
                <a:latin typeface="Times New Roman"/>
                <a:cs typeface="Times New Roman"/>
              </a:rPr>
              <a:t>s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s</a:t>
            </a:r>
            <a:r>
              <a:rPr sz="2200" spc="-1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s	of	a	co</a:t>
            </a:r>
            <a:r>
              <a:rPr sz="2200" spc="-60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ti</a:t>
            </a:r>
            <a:r>
              <a:rPr sz="2200" spc="-25" dirty="0">
                <a:latin typeface="Times New Roman"/>
                <a:cs typeface="Times New Roman"/>
              </a:rPr>
              <a:t>on</a:t>
            </a:r>
            <a:r>
              <a:rPr sz="2200" dirty="0">
                <a:latin typeface="Times New Roman"/>
                <a:cs typeface="Times New Roman"/>
              </a:rPr>
              <a:t>al	c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25" dirty="0">
                <a:latin typeface="Times New Roman"/>
                <a:cs typeface="Times New Roman"/>
              </a:rPr>
              <a:t>u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-10" dirty="0">
                <a:latin typeface="Times New Roman"/>
                <a:cs typeface="Times New Roman"/>
              </a:rPr>
              <a:t>w</a:t>
            </a:r>
            <a:r>
              <a:rPr sz="2200" spc="-15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  storage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feedback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5">
                <a:latin typeface="Times New Roman"/>
                <a:cs typeface="Times New Roman"/>
              </a:rPr>
              <a:t>to</a:t>
            </a:r>
            <a:r>
              <a:rPr sz="2200" spc="20">
                <a:latin typeface="Times New Roman"/>
                <a:cs typeface="Times New Roman"/>
              </a:rPr>
              <a:t> </a:t>
            </a:r>
            <a:r>
              <a:rPr sz="2200" spc="15" smtClean="0">
                <a:latin typeface="Times New Roman"/>
                <a:cs typeface="Times New Roman"/>
              </a:rPr>
              <a:t>combinational</a:t>
            </a:r>
            <a:r>
              <a:rPr lang="en-IN" sz="2200" spc="15" dirty="0" smtClean="0">
                <a:latin typeface="Times New Roman"/>
                <a:cs typeface="Times New Roman"/>
              </a:rPr>
              <a:t> </a:t>
            </a:r>
            <a:r>
              <a:rPr sz="2200" spc="15" smtClean="0">
                <a:latin typeface="Times New Roman"/>
                <a:cs typeface="Times New Roman"/>
              </a:rPr>
              <a:t>circuit</a:t>
            </a:r>
            <a:r>
              <a:rPr lang="en-IN" sz="2200" spc="15" dirty="0" smtClean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777875" indent="-308610">
              <a:lnSpc>
                <a:spcPct val="100000"/>
              </a:lnSpc>
              <a:spcBef>
                <a:spcPts val="965"/>
              </a:spcBef>
              <a:buFont typeface="Microsoft Sans Serif"/>
              <a:buChar char="•"/>
              <a:tabLst>
                <a:tab pos="777875" algn="l"/>
                <a:tab pos="778510" algn="l"/>
              </a:tabLst>
            </a:pP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sequence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(past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2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present)</a:t>
            </a:r>
            <a:endParaRPr sz="1800">
              <a:latin typeface="Times New Roman"/>
              <a:cs typeface="Times New Roman"/>
            </a:endParaRPr>
          </a:p>
          <a:p>
            <a:pPr marL="777875" indent="-308610">
              <a:lnSpc>
                <a:spcPct val="100000"/>
              </a:lnSpc>
              <a:spcBef>
                <a:spcPts val="1080"/>
              </a:spcBef>
              <a:buFont typeface="Microsoft Sans Serif"/>
              <a:buChar char="•"/>
              <a:tabLst>
                <a:tab pos="777875" algn="l"/>
                <a:tab pos="778510" algn="l"/>
              </a:tabLst>
            </a:pPr>
            <a:r>
              <a:rPr sz="1800" spc="-5" dirty="0">
                <a:latin typeface="Times New Roman"/>
                <a:cs typeface="Times New Roman"/>
              </a:rPr>
              <a:t>stores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information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(state)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past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7248" y="2870"/>
            <a:ext cx="5412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2927730" y="5659628"/>
            <a:ext cx="38131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Figure</a:t>
            </a:r>
            <a:r>
              <a:rPr sz="2200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1:</a:t>
            </a:r>
            <a:r>
              <a:rPr sz="2200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Sequential</a:t>
            </a:r>
            <a:r>
              <a:rPr sz="2200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663300"/>
                </a:solidFill>
                <a:latin typeface="Times New Roman"/>
                <a:cs typeface="Times New Roman"/>
              </a:rPr>
              <a:t>logic</a:t>
            </a:r>
            <a:r>
              <a:rPr sz="2200" spc="-114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663300"/>
                </a:solidFill>
                <a:latin typeface="Times New Roman"/>
                <a:cs typeface="Times New Roman"/>
              </a:rPr>
              <a:t>circuits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4038600"/>
            <a:ext cx="5513832" cy="155143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7248" y="2870"/>
            <a:ext cx="5412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Combinational</a:t>
            </a:r>
            <a:r>
              <a:rPr sz="3600" spc="-75" dirty="0"/>
              <a:t> </a:t>
            </a:r>
            <a:r>
              <a:rPr sz="3600" dirty="0"/>
              <a:t>vs.</a:t>
            </a:r>
            <a:r>
              <a:rPr sz="3600" spc="-120" dirty="0"/>
              <a:t> </a:t>
            </a:r>
            <a:r>
              <a:rPr sz="3600" dirty="0"/>
              <a:t>Sequential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8130" y="1006602"/>
            <a:ext cx="7886065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CE0000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CE0000"/>
                </a:solidFill>
                <a:latin typeface="Times New Roman"/>
                <a:cs typeface="Times New Roman"/>
              </a:rPr>
              <a:t>o</a:t>
            </a:r>
            <a:r>
              <a:rPr sz="2400" spc="5" dirty="0">
                <a:solidFill>
                  <a:srgbClr val="CE0000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CE0000"/>
                </a:solidFill>
                <a:latin typeface="Times New Roman"/>
                <a:cs typeface="Times New Roman"/>
              </a:rPr>
              <a:t>b</a:t>
            </a:r>
            <a:r>
              <a:rPr sz="2400" spc="5" dirty="0">
                <a:solidFill>
                  <a:srgbClr val="CE000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CE0000"/>
                </a:solidFill>
                <a:latin typeface="Times New Roman"/>
                <a:cs typeface="Times New Roman"/>
              </a:rPr>
              <a:t>nat</a:t>
            </a:r>
            <a:r>
              <a:rPr sz="2400" spc="-15" dirty="0">
                <a:solidFill>
                  <a:srgbClr val="CE000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CE0000"/>
                </a:solidFill>
                <a:latin typeface="Times New Roman"/>
                <a:cs typeface="Times New Roman"/>
              </a:rPr>
              <a:t>onal</a:t>
            </a:r>
            <a:r>
              <a:rPr sz="2400" spc="-180" dirty="0">
                <a:solidFill>
                  <a:srgbClr val="CE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CE0000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CE0000"/>
                </a:solidFill>
                <a:latin typeface="Times New Roman"/>
                <a:cs typeface="Times New Roman"/>
              </a:rPr>
              <a:t>ircuit</a:t>
            </a:r>
            <a:endParaRPr sz="2400">
              <a:latin typeface="Times New Roman"/>
              <a:cs typeface="Times New Roman"/>
            </a:endParaRPr>
          </a:p>
          <a:p>
            <a:pPr marL="927100" marR="906144" indent="-457200">
              <a:lnSpc>
                <a:spcPct val="100000"/>
              </a:lnSpc>
            </a:pPr>
            <a:r>
              <a:rPr sz="2400" spc="-35" dirty="0">
                <a:latin typeface="Times New Roman"/>
                <a:cs typeface="Times New Roman"/>
              </a:rPr>
              <a:t>always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gives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given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ex: </a:t>
            </a:r>
            <a:r>
              <a:rPr sz="2400" spc="-5" dirty="0">
                <a:latin typeface="Times New Roman"/>
                <a:cs typeface="Times New Roman"/>
              </a:rPr>
              <a:t>adder </a:t>
            </a:r>
            <a:r>
              <a:rPr sz="2400" spc="-40" dirty="0">
                <a:latin typeface="Times New Roman"/>
                <a:cs typeface="Times New Roman"/>
              </a:rPr>
              <a:t>always </a:t>
            </a:r>
            <a:r>
              <a:rPr sz="2400" spc="-10" dirty="0">
                <a:latin typeface="Times New Roman"/>
                <a:cs typeface="Times New Roman"/>
              </a:rPr>
              <a:t>generates </a:t>
            </a:r>
            <a:r>
              <a:rPr sz="2400" spc="-5" dirty="0">
                <a:latin typeface="Times New Roman"/>
                <a:cs typeface="Times New Roman"/>
              </a:rPr>
              <a:t>sum and </a:t>
            </a:r>
            <a:r>
              <a:rPr sz="2400" spc="-85" dirty="0">
                <a:latin typeface="Times New Roman"/>
                <a:cs typeface="Times New Roman"/>
              </a:rPr>
              <a:t>carry, 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regardless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previous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CE0000"/>
                </a:solidFill>
                <a:latin typeface="Times New Roman"/>
                <a:cs typeface="Times New Roman"/>
              </a:rPr>
              <a:t>Sequential</a:t>
            </a:r>
            <a:r>
              <a:rPr sz="2400" spc="-100" dirty="0">
                <a:solidFill>
                  <a:srgbClr val="CE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CE0000"/>
                </a:solidFill>
                <a:latin typeface="Times New Roman"/>
                <a:cs typeface="Times New Roman"/>
              </a:rPr>
              <a:t>Circuit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stores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endParaRPr sz="2400">
              <a:latin typeface="Times New Roman"/>
              <a:cs typeface="Times New Roman"/>
            </a:endParaRPr>
          </a:p>
          <a:p>
            <a:pPr marL="927100" marR="739140" indent="-4572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depends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stored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(state)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 a </a:t>
            </a:r>
            <a:r>
              <a:rPr sz="2400" spc="-5" dirty="0">
                <a:latin typeface="Times New Roman"/>
                <a:cs typeface="Times New Roman"/>
              </a:rPr>
              <a:t>given </a:t>
            </a:r>
            <a:r>
              <a:rPr sz="2400" dirty="0">
                <a:latin typeface="Times New Roman"/>
                <a:cs typeface="Times New Roman"/>
              </a:rPr>
              <a:t>input </a:t>
            </a:r>
            <a:r>
              <a:rPr sz="2400" spc="-5" dirty="0">
                <a:latin typeface="Times New Roman"/>
                <a:cs typeface="Times New Roman"/>
              </a:rPr>
              <a:t>might produce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outputs,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depending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Times New Roman"/>
                <a:cs typeface="Times New Roman"/>
              </a:rPr>
              <a:t>example:</a:t>
            </a:r>
            <a:r>
              <a:rPr sz="2400" i="1" spc="-9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ticket</a:t>
            </a:r>
            <a:r>
              <a:rPr sz="2400" spc="-50">
                <a:latin typeface="Times New Roman"/>
                <a:cs typeface="Times New Roman"/>
              </a:rPr>
              <a:t> </a:t>
            </a:r>
            <a:r>
              <a:rPr sz="2400" spc="-5" smtClean="0">
                <a:latin typeface="Times New Roman"/>
                <a:cs typeface="Times New Roman"/>
              </a:rPr>
              <a:t>counter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7248" y="2870"/>
            <a:ext cx="5412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Combinational</a:t>
            </a:r>
            <a:r>
              <a:rPr sz="3600" spc="-75" dirty="0"/>
              <a:t> </a:t>
            </a:r>
            <a:r>
              <a:rPr sz="3600" dirty="0"/>
              <a:t>vs.</a:t>
            </a:r>
            <a:r>
              <a:rPr sz="3600" spc="-120" dirty="0"/>
              <a:t> </a:t>
            </a:r>
            <a:r>
              <a:rPr sz="3600" dirty="0"/>
              <a:t>Sequential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990600"/>
            <a:ext cx="8534400" cy="5257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5600" y="263525"/>
            <a:ext cx="20307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5" dirty="0"/>
              <a:t>LATCHES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88340" y="803880"/>
            <a:ext cx="7708900" cy="497268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20320" algn="ctr">
              <a:lnSpc>
                <a:spcPct val="100000"/>
              </a:lnSpc>
              <a:spcBef>
                <a:spcPts val="1265"/>
              </a:spcBef>
            </a:pP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r>
              <a:rPr sz="20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15"/>
              </a:spcBef>
            </a:pPr>
            <a:r>
              <a:rPr sz="2200" spc="-5" dirty="0">
                <a:latin typeface="Times New Roman"/>
                <a:cs typeface="Times New Roman"/>
              </a:rPr>
              <a:t>Storage</a:t>
            </a:r>
            <a:r>
              <a:rPr sz="2200" spc="5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elements</a:t>
            </a:r>
            <a:r>
              <a:rPr sz="2200" spc="5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digital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circuit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maintain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binary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state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75"/>
              </a:spcBef>
            </a:pPr>
            <a:r>
              <a:rPr sz="2200" spc="-30" dirty="0">
                <a:latin typeface="Times New Roman"/>
                <a:cs typeface="Times New Roman"/>
              </a:rPr>
              <a:t>indefinitely,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until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directed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input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signal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switch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states.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1500"/>
              </a:lnSpc>
              <a:spcBef>
                <a:spcPts val="10"/>
              </a:spcBef>
            </a:pPr>
            <a:r>
              <a:rPr sz="2200" dirty="0">
                <a:latin typeface="Times New Roman"/>
                <a:cs typeface="Times New Roman"/>
              </a:rPr>
              <a:t>major </a:t>
            </a:r>
            <a:r>
              <a:rPr sz="2200" spc="-15" dirty="0">
                <a:latin typeface="Times New Roman"/>
                <a:cs typeface="Times New Roman"/>
              </a:rPr>
              <a:t>difference </a:t>
            </a:r>
            <a:r>
              <a:rPr sz="2200" spc="-5" dirty="0">
                <a:latin typeface="Times New Roman"/>
                <a:cs typeface="Times New Roman"/>
              </a:rPr>
              <a:t>among </a:t>
            </a:r>
            <a:r>
              <a:rPr sz="2200" spc="-10" dirty="0">
                <a:latin typeface="Times New Roman"/>
                <a:cs typeface="Times New Roman"/>
              </a:rPr>
              <a:t>various </a:t>
            </a:r>
            <a:r>
              <a:rPr sz="2200" spc="-5" dirty="0">
                <a:latin typeface="Times New Roman"/>
                <a:cs typeface="Times New Roman"/>
              </a:rPr>
              <a:t>storage </a:t>
            </a:r>
            <a:r>
              <a:rPr sz="2200" spc="-10" dirty="0">
                <a:latin typeface="Times New Roman"/>
                <a:cs typeface="Times New Roman"/>
              </a:rPr>
              <a:t>elements </a:t>
            </a:r>
            <a:r>
              <a:rPr sz="2200" spc="-15" dirty="0">
                <a:latin typeface="Times New Roman"/>
                <a:cs typeface="Times New Roman"/>
              </a:rPr>
              <a:t>are </a:t>
            </a:r>
            <a:r>
              <a:rPr sz="2200" spc="-5" dirty="0">
                <a:latin typeface="Times New Roman"/>
                <a:cs typeface="Times New Roman"/>
              </a:rPr>
              <a:t>the number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 </a:t>
            </a:r>
            <a:r>
              <a:rPr sz="2200" spc="-5" dirty="0">
                <a:latin typeface="Times New Roman"/>
                <a:cs typeface="Times New Roman"/>
              </a:rPr>
              <a:t>they posses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the manner </a:t>
            </a:r>
            <a:r>
              <a:rPr sz="2200" spc="5" dirty="0">
                <a:latin typeface="Times New Roman"/>
                <a:cs typeface="Times New Roman"/>
              </a:rPr>
              <a:t>in </a:t>
            </a:r>
            <a:r>
              <a:rPr sz="2200" spc="-10" dirty="0">
                <a:latin typeface="Times New Roman"/>
                <a:cs typeface="Times New Roman"/>
              </a:rPr>
              <a:t>which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inputs </a:t>
            </a:r>
            <a:r>
              <a:rPr sz="2200" spc="-20" dirty="0">
                <a:latin typeface="Times New Roman"/>
                <a:cs typeface="Times New Roman"/>
              </a:rPr>
              <a:t>affect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bi</a:t>
            </a:r>
            <a:r>
              <a:rPr sz="2200" dirty="0">
                <a:latin typeface="Times New Roman"/>
                <a:cs typeface="Times New Roman"/>
              </a:rPr>
              <a:t>na</a:t>
            </a:r>
            <a:r>
              <a:rPr sz="2200" spc="5" dirty="0">
                <a:latin typeface="Times New Roman"/>
                <a:cs typeface="Times New Roman"/>
              </a:rPr>
              <a:t>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1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spc="10" dirty="0">
                <a:latin typeface="Times New Roman"/>
                <a:cs typeface="Times New Roman"/>
              </a:rPr>
              <a:t>e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r>
              <a:rPr sz="2200" spc="2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he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5" dirty="0">
                <a:latin typeface="Times New Roman"/>
                <a:cs typeface="Times New Roman"/>
              </a:rPr>
              <a:t> t</a:t>
            </a:r>
            <a:r>
              <a:rPr sz="2200" spc="-10" dirty="0">
                <a:latin typeface="Times New Roman"/>
                <a:cs typeface="Times New Roman"/>
              </a:rPr>
              <a:t>w</a:t>
            </a:r>
            <a:r>
              <a:rPr sz="2200" spc="5" dirty="0">
                <a:latin typeface="Times New Roman"/>
                <a:cs typeface="Times New Roman"/>
              </a:rPr>
              <a:t>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spc="-20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pes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10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ora</a:t>
            </a:r>
            <a:r>
              <a:rPr sz="2200" spc="-20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35" dirty="0">
                <a:latin typeface="Times New Roman"/>
                <a:cs typeface="Times New Roman"/>
              </a:rPr>
              <a:t>m</a:t>
            </a:r>
            <a:r>
              <a:rPr sz="2200" dirty="0">
                <a:latin typeface="Times New Roman"/>
                <a:cs typeface="Times New Roman"/>
              </a:rPr>
              <a:t>en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469900" indent="-457834" algn="just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470534" algn="l"/>
              </a:tabLst>
            </a:pPr>
            <a:r>
              <a:rPr sz="2200" spc="5" dirty="0">
                <a:latin typeface="Times New Roman"/>
                <a:cs typeface="Times New Roman"/>
              </a:rPr>
              <a:t>Latches</a:t>
            </a:r>
            <a:endParaRPr sz="2200">
              <a:latin typeface="Times New Roman"/>
              <a:cs typeface="Times New Roman"/>
            </a:endParaRPr>
          </a:p>
          <a:p>
            <a:pPr marL="469900" indent="-457834" algn="just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470534" algn="l"/>
              </a:tabLst>
            </a:pPr>
            <a:r>
              <a:rPr sz="2200" spc="5" dirty="0">
                <a:latin typeface="Times New Roman"/>
                <a:cs typeface="Times New Roman"/>
              </a:rPr>
              <a:t>Flipflops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840"/>
              </a:spcBef>
            </a:pPr>
            <a:r>
              <a:rPr sz="2200" dirty="0">
                <a:latin typeface="Times New Roman"/>
                <a:cs typeface="Times New Roman"/>
              </a:rPr>
              <a:t>Storage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5" dirty="0">
                <a:latin typeface="Times New Roman"/>
                <a:cs typeface="Times New Roman"/>
              </a:rPr>
              <a:t>operate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5" dirty="0">
                <a:latin typeface="Times New Roman"/>
                <a:cs typeface="Times New Roman"/>
              </a:rPr>
              <a:t> are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referred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latch</a:t>
            </a:r>
            <a:endParaRPr sz="2200">
              <a:latin typeface="Times New Roman"/>
              <a:cs typeface="Times New Roman"/>
            </a:endParaRPr>
          </a:p>
          <a:p>
            <a:pPr marL="82550" algn="just">
              <a:lnSpc>
                <a:spcPct val="100000"/>
              </a:lnSpc>
              <a:spcBef>
                <a:spcPts val="1325"/>
              </a:spcBef>
            </a:pPr>
            <a:r>
              <a:rPr sz="2200" spc="5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those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controlled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by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5" dirty="0">
                <a:latin typeface="Times New Roman"/>
                <a:cs typeface="Times New Roman"/>
              </a:rPr>
              <a:t>clock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transition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>
                <a:latin typeface="Times New Roman"/>
                <a:cs typeface="Times New Roman"/>
              </a:rPr>
              <a:t>referred </a:t>
            </a:r>
            <a:r>
              <a:rPr sz="2200" spc="20" smtClean="0">
                <a:latin typeface="Times New Roman"/>
                <a:cs typeface="Times New Roman"/>
              </a:rPr>
              <a:t>as</a:t>
            </a:r>
            <a:r>
              <a:rPr lang="en-IN" sz="2200" spc="20" dirty="0" smtClean="0">
                <a:latin typeface="Times New Roman"/>
                <a:cs typeface="Times New Roman"/>
              </a:rPr>
              <a:t> </a:t>
            </a:r>
            <a:r>
              <a:rPr sz="2200" spc="20" smtClean="0">
                <a:latin typeface="Times New Roman"/>
                <a:cs typeface="Times New Roman"/>
              </a:rPr>
              <a:t>flipflops</a:t>
            </a:r>
            <a:r>
              <a:rPr sz="2200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8921" y="2870"/>
            <a:ext cx="2033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/>
              <a:t>L</a:t>
            </a:r>
            <a:r>
              <a:rPr sz="3600" spc="-420" dirty="0"/>
              <a:t>A</a:t>
            </a:r>
            <a:r>
              <a:rPr sz="3600" dirty="0"/>
              <a:t>TC</a:t>
            </a:r>
            <a:r>
              <a:rPr sz="3600" spc="-5" dirty="0"/>
              <a:t>H</a:t>
            </a:r>
            <a:r>
              <a:rPr sz="3600" spc="5" dirty="0"/>
              <a:t>E</a:t>
            </a:r>
            <a:r>
              <a:rPr sz="3600" dirty="0"/>
              <a:t>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64540" y="962355"/>
            <a:ext cx="8166100" cy="53828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66065" algn="l"/>
              </a:tabLst>
            </a:pP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LATCHES:</a:t>
            </a:r>
            <a:endParaRPr sz="2000">
              <a:latin typeface="Times New Roman"/>
              <a:cs typeface="Times New Roman"/>
            </a:endParaRPr>
          </a:p>
          <a:p>
            <a:pPr marL="12700" marR="63690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latch </a:t>
            </a:r>
            <a:r>
              <a:rPr sz="2000" spc="-10" dirty="0">
                <a:latin typeface="Times New Roman"/>
                <a:cs typeface="Times New Roman"/>
              </a:rPr>
              <a:t>has </a:t>
            </a:r>
            <a:r>
              <a:rPr sz="2000" spc="-5" dirty="0">
                <a:latin typeface="Times New Roman"/>
                <a:cs typeface="Times New Roman"/>
              </a:rPr>
              <a:t>a feedback path, </a:t>
            </a:r>
            <a:r>
              <a:rPr sz="2000" spc="-10" dirty="0">
                <a:latin typeface="Times New Roman"/>
                <a:cs typeface="Times New Roman"/>
              </a:rPr>
              <a:t>so information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retained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device.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Therefore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latches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memory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store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 </a:t>
            </a:r>
            <a:r>
              <a:rPr sz="2000" spc="-10" dirty="0">
                <a:latin typeface="Times New Roman"/>
                <a:cs typeface="Times New Roman"/>
              </a:rPr>
              <a:t>long </a:t>
            </a:r>
            <a:r>
              <a:rPr sz="2000" spc="-5" dirty="0">
                <a:latin typeface="Times New Roman"/>
                <a:cs typeface="Times New Roman"/>
              </a:rPr>
              <a:t>as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device is powered. </a:t>
            </a:r>
            <a:r>
              <a:rPr sz="2000" spc="-30" dirty="0">
                <a:latin typeface="Times New Roman"/>
                <a:cs typeface="Times New Roman"/>
              </a:rPr>
              <a:t>As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40" dirty="0">
                <a:latin typeface="Times New Roman"/>
                <a:cs typeface="Times New Roman"/>
              </a:rPr>
              <a:t>name </a:t>
            </a:r>
            <a:r>
              <a:rPr sz="2000" spc="-30" dirty="0">
                <a:latin typeface="Times New Roman"/>
                <a:cs typeface="Times New Roman"/>
              </a:rPr>
              <a:t>suggests, </a:t>
            </a:r>
            <a:r>
              <a:rPr sz="2000" spc="-5" dirty="0">
                <a:latin typeface="Times New Roman"/>
                <a:cs typeface="Times New Roman"/>
              </a:rPr>
              <a:t>latches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10" dirty="0">
                <a:latin typeface="Times New Roman"/>
                <a:cs typeface="Times New Roman"/>
              </a:rPr>
              <a:t>used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"latch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onto"</a:t>
            </a:r>
            <a:r>
              <a:rPr sz="2000" spc="-10" dirty="0">
                <a:latin typeface="Times New Roman"/>
                <a:cs typeface="Times New Roman"/>
              </a:rPr>
              <a:t> information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place.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Latches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very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similar</a:t>
            </a:r>
            <a:endParaRPr sz="2000">
              <a:latin typeface="Times New Roman"/>
              <a:cs typeface="Times New Roman"/>
            </a:endParaRPr>
          </a:p>
          <a:p>
            <a:pPr marL="12700" marR="69215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flip-flops</a:t>
            </a:r>
            <a:r>
              <a:rPr sz="2000" spc="-10" dirty="0">
                <a:latin typeface="Times New Roman"/>
                <a:cs typeface="Times New Roman"/>
              </a:rPr>
              <a:t>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synchronous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clock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edges as </a:t>
            </a:r>
            <a:r>
              <a:rPr sz="2000" spc="-10" dirty="0">
                <a:latin typeface="Times New Roman"/>
                <a:cs typeface="Times New Roman"/>
              </a:rPr>
              <a:t>flip-flops </a:t>
            </a:r>
            <a:r>
              <a:rPr sz="2000" dirty="0">
                <a:latin typeface="Times New Roman"/>
                <a:cs typeface="Times New Roman"/>
              </a:rPr>
              <a:t>do. </a:t>
            </a:r>
            <a:r>
              <a:rPr sz="2000" spc="-10" dirty="0">
                <a:latin typeface="Times New Roman"/>
                <a:cs typeface="Times New Roman"/>
              </a:rPr>
              <a:t>Latch </a:t>
            </a:r>
            <a:r>
              <a:rPr sz="2000" spc="-5" dirty="0">
                <a:latin typeface="Times New Roman"/>
                <a:cs typeface="Times New Roman"/>
              </a:rPr>
              <a:t>is a </a:t>
            </a:r>
            <a:r>
              <a:rPr sz="2000" spc="-10" dirty="0">
                <a:latin typeface="Times New Roman"/>
                <a:cs typeface="Times New Roman"/>
              </a:rPr>
              <a:t>level sensitive </a:t>
            </a:r>
            <a:r>
              <a:rPr sz="2000" spc="-5" dirty="0">
                <a:latin typeface="Times New Roman"/>
                <a:cs typeface="Times New Roman"/>
              </a:rPr>
              <a:t>device. </a:t>
            </a:r>
            <a:r>
              <a:rPr sz="2000" spc="-10" dirty="0">
                <a:latin typeface="Times New Roman"/>
                <a:cs typeface="Times New Roman"/>
              </a:rPr>
              <a:t>Latch </a:t>
            </a:r>
            <a:r>
              <a:rPr sz="2000" spc="-5" dirty="0">
                <a:latin typeface="Times New Roman"/>
                <a:cs typeface="Times New Roman"/>
              </a:rPr>
              <a:t>is a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monostable</a:t>
            </a:r>
            <a:r>
              <a:rPr sz="2000" spc="-60">
                <a:latin typeface="Times New Roman"/>
                <a:cs typeface="Times New Roman"/>
              </a:rPr>
              <a:t> </a:t>
            </a:r>
            <a:r>
              <a:rPr sz="2000" spc="-10" smtClean="0">
                <a:latin typeface="Times New Roman"/>
                <a:cs typeface="Times New Roman"/>
              </a:rPr>
              <a:t>multivibrator</a:t>
            </a:r>
            <a:r>
              <a:rPr lang="en-IN" sz="2000" spc="-10" dirty="0" smtClean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50">
              <a:latin typeface="Times New Roman"/>
              <a:cs typeface="Times New Roman"/>
            </a:endParaRPr>
          </a:p>
          <a:p>
            <a:pPr marL="265430" indent="-2533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66065" algn="l"/>
              </a:tabLst>
            </a:pP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FLIPFLOPS: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885"/>
              </a:spcBef>
            </a:pPr>
            <a:r>
              <a:rPr sz="2000" spc="-10" dirty="0">
                <a:latin typeface="Times New Roman"/>
                <a:cs typeface="Times New Roman"/>
              </a:rPr>
              <a:t>A </a:t>
            </a:r>
            <a:r>
              <a:rPr sz="2000" b="1" spc="-5" dirty="0">
                <a:latin typeface="Times New Roman"/>
                <a:cs typeface="Times New Roman"/>
              </a:rPr>
              <a:t>flip-flop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circuit </a:t>
            </a:r>
            <a:r>
              <a:rPr sz="2000" spc="-15" dirty="0">
                <a:latin typeface="Times New Roman"/>
                <a:cs typeface="Times New Roman"/>
              </a:rPr>
              <a:t>that </a:t>
            </a:r>
            <a:r>
              <a:rPr sz="2000" spc="-20" dirty="0">
                <a:latin typeface="Times New Roman"/>
                <a:cs typeface="Times New Roman"/>
              </a:rPr>
              <a:t>has </a:t>
            </a:r>
            <a:r>
              <a:rPr sz="2000" spc="-25" dirty="0">
                <a:latin typeface="Times New Roman"/>
                <a:cs typeface="Times New Roman"/>
              </a:rPr>
              <a:t>two </a:t>
            </a:r>
            <a:r>
              <a:rPr sz="2000" spc="-5" dirty="0">
                <a:latin typeface="Times New Roman"/>
                <a:cs typeface="Times New Roman"/>
              </a:rPr>
              <a:t>stable </a:t>
            </a:r>
            <a:r>
              <a:rPr sz="2000" spc="-10" dirty="0">
                <a:latin typeface="Times New Roman"/>
                <a:cs typeface="Times New Roman"/>
              </a:rPr>
              <a:t>states and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5" dirty="0">
                <a:latin typeface="Times New Roman"/>
                <a:cs typeface="Times New Roman"/>
              </a:rPr>
              <a:t>used </a:t>
            </a:r>
            <a:r>
              <a:rPr sz="2000" spc="-10" dirty="0">
                <a:latin typeface="Times New Roman"/>
                <a:cs typeface="Times New Roman"/>
              </a:rPr>
              <a:t>to store state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information. </a:t>
            </a: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spc="-15" dirty="0">
                <a:latin typeface="Times New Roman"/>
                <a:cs typeface="Times New Roman"/>
              </a:rPr>
              <a:t>flip-flop </a:t>
            </a:r>
            <a:r>
              <a:rPr sz="2000" spc="-5" dirty="0">
                <a:latin typeface="Times New Roman"/>
                <a:cs typeface="Times New Roman"/>
              </a:rPr>
              <a:t>is a </a:t>
            </a:r>
            <a:r>
              <a:rPr sz="2000" spc="-10" dirty="0">
                <a:latin typeface="Times New Roman"/>
                <a:cs typeface="Times New Roman"/>
              </a:rPr>
              <a:t>bistable </a:t>
            </a:r>
            <a:r>
              <a:rPr sz="2000" spc="-35" dirty="0">
                <a:latin typeface="Times New Roman"/>
                <a:cs typeface="Times New Roman"/>
              </a:rPr>
              <a:t>multivibrator.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5" dirty="0">
                <a:latin typeface="Times New Roman"/>
                <a:cs typeface="Times New Roman"/>
              </a:rPr>
              <a:t>circuit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25" dirty="0">
                <a:latin typeface="Times New Roman"/>
                <a:cs typeface="Times New Roman"/>
              </a:rPr>
              <a:t>made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 </a:t>
            </a:r>
            <a:r>
              <a:rPr sz="2000" spc="-15" dirty="0">
                <a:latin typeface="Times New Roman"/>
                <a:cs typeface="Times New Roman"/>
              </a:rPr>
              <a:t>state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10" dirty="0">
                <a:latin typeface="Times New Roman"/>
                <a:cs typeface="Times New Roman"/>
              </a:rPr>
              <a:t>signals </a:t>
            </a:r>
            <a:r>
              <a:rPr sz="2000" spc="-15" dirty="0">
                <a:latin typeface="Times New Roman"/>
                <a:cs typeface="Times New Roman"/>
              </a:rPr>
              <a:t>applied </a:t>
            </a:r>
            <a:r>
              <a:rPr sz="2000" spc="-10" dirty="0">
                <a:latin typeface="Times New Roman"/>
                <a:cs typeface="Times New Roman"/>
              </a:rPr>
              <a:t>to one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30" dirty="0">
                <a:latin typeface="Times New Roman"/>
                <a:cs typeface="Times New Roman"/>
              </a:rPr>
              <a:t>more </a:t>
            </a:r>
            <a:r>
              <a:rPr sz="2000" spc="-5" dirty="0">
                <a:latin typeface="Times New Roman"/>
                <a:cs typeface="Times New Roman"/>
              </a:rPr>
              <a:t>control </a:t>
            </a:r>
            <a:r>
              <a:rPr sz="2000" spc="-20" dirty="0">
                <a:latin typeface="Times New Roman"/>
                <a:cs typeface="Times New Roman"/>
              </a:rPr>
              <a:t>inputs and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will </a:t>
            </a:r>
            <a:r>
              <a:rPr sz="2000" spc="-10" dirty="0">
                <a:latin typeface="Times New Roman"/>
                <a:cs typeface="Times New Roman"/>
              </a:rPr>
              <a:t>have one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30" dirty="0">
                <a:latin typeface="Times New Roman"/>
                <a:cs typeface="Times New Roman"/>
              </a:rPr>
              <a:t>two </a:t>
            </a:r>
            <a:r>
              <a:rPr sz="2000" spc="-10" dirty="0">
                <a:latin typeface="Times New Roman"/>
                <a:cs typeface="Times New Roman"/>
              </a:rPr>
              <a:t>outputs. </a:t>
            </a:r>
            <a:r>
              <a:rPr sz="2000" dirty="0">
                <a:latin typeface="Times New Roman"/>
                <a:cs typeface="Times New Roman"/>
              </a:rPr>
              <a:t>It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basic </a:t>
            </a:r>
            <a:r>
              <a:rPr sz="2000" spc="-10" dirty="0">
                <a:latin typeface="Times New Roman"/>
                <a:cs typeface="Times New Roman"/>
              </a:rPr>
              <a:t>storage </a:t>
            </a:r>
            <a:r>
              <a:rPr sz="2000" spc="-15" dirty="0">
                <a:latin typeface="Times New Roman"/>
                <a:cs typeface="Times New Roman"/>
              </a:rPr>
              <a:t>element </a:t>
            </a:r>
            <a:r>
              <a:rPr sz="2000" spc="-5" dirty="0">
                <a:latin typeface="Times New Roman"/>
                <a:cs typeface="Times New Roman"/>
              </a:rPr>
              <a:t>in sequential </a:t>
            </a:r>
            <a:r>
              <a:rPr sz="2000" spc="-10" dirty="0">
                <a:latin typeface="Times New Roman"/>
                <a:cs typeface="Times New Roman"/>
              </a:rPr>
              <a:t>logic. </a:t>
            </a:r>
            <a:r>
              <a:rPr sz="2000" spc="-15" dirty="0">
                <a:latin typeface="Times New Roman"/>
                <a:cs typeface="Times New Roman"/>
              </a:rPr>
              <a:t>Flip-flops and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latches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10" dirty="0">
                <a:latin typeface="Times New Roman"/>
                <a:cs typeface="Times New Roman"/>
              </a:rPr>
              <a:t>fundamental </a:t>
            </a:r>
            <a:r>
              <a:rPr sz="2000" spc="-15" dirty="0">
                <a:latin typeface="Times New Roman"/>
                <a:cs typeface="Times New Roman"/>
              </a:rPr>
              <a:t>building </a:t>
            </a:r>
            <a:r>
              <a:rPr sz="2000" spc="-5" dirty="0">
                <a:latin typeface="Times New Roman"/>
                <a:cs typeface="Times New Roman"/>
              </a:rPr>
              <a:t>blocks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digital </a:t>
            </a:r>
            <a:r>
              <a:rPr sz="2000" spc="-10" dirty="0">
                <a:latin typeface="Times New Roman"/>
                <a:cs typeface="Times New Roman"/>
              </a:rPr>
              <a:t>electronics </a:t>
            </a:r>
            <a:r>
              <a:rPr sz="2000" spc="-20" dirty="0">
                <a:latin typeface="Times New Roman"/>
                <a:cs typeface="Times New Roman"/>
              </a:rPr>
              <a:t>systems </a:t>
            </a:r>
            <a:r>
              <a:rPr sz="2000" spc="-10" dirty="0">
                <a:latin typeface="Times New Roman"/>
                <a:cs typeface="Times New Roman"/>
              </a:rPr>
              <a:t>used </a:t>
            </a:r>
            <a:r>
              <a:rPr sz="2000" spc="15" dirty="0">
                <a:latin typeface="Times New Roman"/>
                <a:cs typeface="Times New Roman"/>
              </a:rPr>
              <a:t>in 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computers, </a:t>
            </a:r>
            <a:r>
              <a:rPr sz="2000" spc="-10" dirty="0">
                <a:latin typeface="Times New Roman"/>
                <a:cs typeface="Times New Roman"/>
              </a:rPr>
              <a:t>communications, 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many </a:t>
            </a:r>
            <a:r>
              <a:rPr sz="2000" spc="-10" dirty="0">
                <a:latin typeface="Times New Roman"/>
                <a:cs typeface="Times New Roman"/>
              </a:rPr>
              <a:t>other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types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20" dirty="0">
                <a:latin typeface="Times New Roman"/>
                <a:cs typeface="Times New Roman"/>
              </a:rPr>
              <a:t>systems.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Flipflop </a:t>
            </a:r>
            <a:r>
              <a:rPr sz="2000" spc="-5" dirty="0">
                <a:latin typeface="Times New Roman"/>
                <a:cs typeface="Times New Roman"/>
              </a:rPr>
              <a:t>is a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sensitive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8921" y="2870"/>
            <a:ext cx="2033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/>
              <a:t>L</a:t>
            </a:r>
            <a:r>
              <a:rPr sz="3600" spc="-420" dirty="0"/>
              <a:t>A</a:t>
            </a:r>
            <a:r>
              <a:rPr sz="3600" dirty="0"/>
              <a:t>TC</a:t>
            </a:r>
            <a:r>
              <a:rPr sz="3600" spc="-5" dirty="0"/>
              <a:t>H</a:t>
            </a:r>
            <a:r>
              <a:rPr sz="3600" spc="5" dirty="0"/>
              <a:t>E</a:t>
            </a:r>
            <a:r>
              <a:rPr sz="3600" dirty="0"/>
              <a:t>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83235" y="1005027"/>
            <a:ext cx="8475345" cy="19773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SR</a:t>
            </a:r>
            <a:r>
              <a:rPr sz="2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95" dirty="0">
                <a:solidFill>
                  <a:srgbClr val="C00000"/>
                </a:solidFill>
                <a:latin typeface="Times New Roman"/>
                <a:cs typeface="Times New Roman"/>
              </a:rPr>
              <a:t>LATCH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88900" marR="5080" algn="just">
              <a:lnSpc>
                <a:spcPct val="100000"/>
              </a:lnSpc>
            </a:pPr>
            <a:r>
              <a:rPr sz="1800" spc="-30" dirty="0">
                <a:latin typeface="Times New Roman"/>
                <a:cs typeface="Times New Roman"/>
              </a:rPr>
              <a:t>An </a:t>
            </a:r>
            <a:r>
              <a:rPr sz="1800" b="1" dirty="0">
                <a:latin typeface="Times New Roman"/>
                <a:cs typeface="Times New Roman"/>
              </a:rPr>
              <a:t>SR latch </a:t>
            </a:r>
            <a:r>
              <a:rPr sz="1800" spc="-5" dirty="0">
                <a:latin typeface="Times New Roman"/>
                <a:cs typeface="Times New Roman"/>
              </a:rPr>
              <a:t>(Set/Reset)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an </a:t>
            </a:r>
            <a:r>
              <a:rPr sz="1800" spc="-10" dirty="0">
                <a:latin typeface="Times New Roman"/>
                <a:cs typeface="Times New Roman"/>
              </a:rPr>
              <a:t>asynchronous </a:t>
            </a:r>
            <a:r>
              <a:rPr sz="1800" spc="-5" dirty="0">
                <a:latin typeface="Times New Roman"/>
                <a:cs typeface="Times New Roman"/>
              </a:rPr>
              <a:t>device: </a:t>
            </a: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10" dirty="0">
                <a:latin typeface="Times New Roman"/>
                <a:cs typeface="Times New Roman"/>
              </a:rPr>
              <a:t>works </a:t>
            </a:r>
            <a:r>
              <a:rPr sz="1800" spc="-5" dirty="0">
                <a:latin typeface="Times New Roman"/>
                <a:cs typeface="Times New Roman"/>
              </a:rPr>
              <a:t>independently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control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relies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only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state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inputs.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image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can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an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flip-flop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created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with</a:t>
            </a:r>
            <a:r>
              <a:rPr sz="1800" spc="-10" dirty="0">
                <a:latin typeface="Times New Roman"/>
                <a:cs typeface="Times New Roman"/>
              </a:rPr>
              <a:t> two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NOR</a:t>
            </a:r>
            <a:r>
              <a:rPr sz="1800" spc="-5" dirty="0">
                <a:latin typeface="Times New Roman"/>
                <a:cs typeface="Times New Roman"/>
              </a:rPr>
              <a:t> gates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have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cross-feedback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loop. </a:t>
            </a:r>
            <a:r>
              <a:rPr sz="1800" spc="5" dirty="0">
                <a:latin typeface="Times New Roman"/>
                <a:cs typeface="Times New Roman"/>
              </a:rPr>
              <a:t>SR 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latches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can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also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made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NAND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gates,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but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inputs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swapped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negated.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case,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sometimes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SR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latch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3276600"/>
            <a:ext cx="2346960" cy="12527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3200400"/>
            <a:ext cx="2279904" cy="12192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9740" y="4933264"/>
            <a:ext cx="83451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―reset‖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or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―clear‖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element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zero.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Times New Roman"/>
                <a:cs typeface="Times New Roman"/>
              </a:rPr>
              <a:t>―set‖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element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set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 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one,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could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either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zero</a:t>
            </a:r>
            <a:r>
              <a:rPr sz="1800" dirty="0">
                <a:latin typeface="Times New Roman"/>
                <a:cs typeface="Times New Roman"/>
              </a:rPr>
              <a:t> 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―quiescent‖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--</a:t>
            </a:r>
            <a:r>
              <a:rPr sz="1800" spc="5" dirty="0">
                <a:latin typeface="Times New Roman"/>
                <a:cs typeface="Times New Roman"/>
              </a:rPr>
              <a:t> holds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previous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value.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note: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 a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1,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0,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vice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versa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8921" y="2870"/>
            <a:ext cx="2033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/>
              <a:t>L</a:t>
            </a:r>
            <a:r>
              <a:rPr sz="3600" spc="-420" dirty="0"/>
              <a:t>A</a:t>
            </a:r>
            <a:r>
              <a:rPr sz="3600" dirty="0"/>
              <a:t>TC</a:t>
            </a:r>
            <a:r>
              <a:rPr sz="3600" spc="-5" dirty="0"/>
              <a:t>H</a:t>
            </a:r>
            <a:r>
              <a:rPr sz="3600" spc="5" dirty="0"/>
              <a:t>E</a:t>
            </a:r>
            <a:r>
              <a:rPr sz="3600" dirty="0"/>
              <a:t>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35940" y="946331"/>
            <a:ext cx="7990840" cy="25666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55"/>
              </a:spcBef>
            </a:pP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2000" spc="-29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000" spc="-7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spc="-29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  <a:p>
            <a:pPr marL="88900" marR="5080" algn="just">
              <a:lnSpc>
                <a:spcPct val="100000"/>
              </a:lnSpc>
              <a:spcBef>
                <a:spcPts val="415"/>
              </a:spcBef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b="1" spc="-5" dirty="0">
                <a:latin typeface="Times New Roman"/>
                <a:cs typeface="Times New Roman"/>
              </a:rPr>
              <a:t>D latch </a:t>
            </a:r>
            <a:r>
              <a:rPr sz="1800" spc="-5" dirty="0">
                <a:latin typeface="Times New Roman"/>
                <a:cs typeface="Times New Roman"/>
              </a:rPr>
              <a:t>(D for </a:t>
            </a:r>
            <a:r>
              <a:rPr sz="1800" spc="-10" dirty="0">
                <a:latin typeface="Times New Roman"/>
                <a:cs typeface="Times New Roman"/>
              </a:rPr>
              <a:t>"data")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b="1" spc="-25" dirty="0">
                <a:latin typeface="Times New Roman"/>
                <a:cs typeface="Times New Roman"/>
              </a:rPr>
              <a:t>transparent </a:t>
            </a:r>
            <a:r>
              <a:rPr sz="1800" b="1" spc="-5" dirty="0">
                <a:latin typeface="Times New Roman"/>
                <a:cs typeface="Times New Roman"/>
              </a:rPr>
              <a:t>latch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simple extension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gated </a:t>
            </a:r>
            <a:r>
              <a:rPr sz="1800" spc="-25" dirty="0">
                <a:latin typeface="Times New Roman"/>
                <a:cs typeface="Times New Roman"/>
              </a:rPr>
              <a:t>SR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latch </a:t>
            </a:r>
            <a:r>
              <a:rPr sz="1800" spc="-10" dirty="0">
                <a:latin typeface="Times New Roman"/>
                <a:cs typeface="Times New Roman"/>
              </a:rPr>
              <a:t>that removes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possibility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invalid </a:t>
            </a:r>
            <a:r>
              <a:rPr sz="1800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states. </a:t>
            </a:r>
            <a:r>
              <a:rPr sz="1800" spc="-100" dirty="0">
                <a:latin typeface="Times New Roman"/>
                <a:cs typeface="Times New Roman"/>
              </a:rPr>
              <a:t>Two </a:t>
            </a:r>
            <a:r>
              <a:rPr sz="1800" dirty="0">
                <a:latin typeface="Times New Roman"/>
                <a:cs typeface="Times New Roman"/>
              </a:rPr>
              <a:t>inputs: D (data)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spc="-25" dirty="0">
                <a:latin typeface="Times New Roman"/>
                <a:cs typeface="Times New Roman"/>
              </a:rPr>
              <a:t>WE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(write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enable)</a:t>
            </a:r>
            <a:endParaRPr sz="1800">
              <a:latin typeface="Times New Roman"/>
              <a:cs typeface="Times New Roman"/>
            </a:endParaRPr>
          </a:p>
          <a:p>
            <a:pPr marL="1003300" marR="3862704" indent="-457200" algn="just">
              <a:lnSpc>
                <a:spcPct val="117900"/>
              </a:lnSpc>
              <a:spcBef>
                <a:spcPts val="25"/>
              </a:spcBef>
            </a:pPr>
            <a:r>
              <a:rPr sz="1800" spc="-10" dirty="0">
                <a:latin typeface="Times New Roman"/>
                <a:cs typeface="Times New Roman"/>
              </a:rPr>
              <a:t>when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1,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latch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value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NOT(D),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  <a:p>
            <a:pPr marL="1003300" marR="3688715" indent="-457200">
              <a:lnSpc>
                <a:spcPts val="2570"/>
              </a:lnSpc>
              <a:spcBef>
                <a:spcPts val="95"/>
              </a:spcBef>
            </a:pPr>
            <a:r>
              <a:rPr sz="1800" spc="-10" dirty="0">
                <a:latin typeface="Times New Roman"/>
                <a:cs typeface="Times New Roman"/>
              </a:rPr>
              <a:t>when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0,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latch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holds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previous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value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3733800"/>
            <a:ext cx="4358640" cy="1600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8773" y="2870"/>
            <a:ext cx="5179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FLIPFLOPS:RS</a:t>
            </a:r>
            <a:r>
              <a:rPr sz="3600" spc="-150" dirty="0"/>
              <a:t> </a:t>
            </a:r>
            <a:r>
              <a:rPr sz="3600" spc="-5" dirty="0"/>
              <a:t>FLIPFLOP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88340" y="802940"/>
            <a:ext cx="7710170" cy="553021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1550"/>
              </a:spcBef>
            </a:pP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2800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flops</a:t>
            </a: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30"/>
              </a:spcBef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flop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electronic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circuit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with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two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stable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states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that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can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to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store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dirty="0">
                <a:latin typeface="Times New Roman"/>
                <a:cs typeface="Times New Roman"/>
              </a:rPr>
              <a:t>binary </a:t>
            </a:r>
            <a:r>
              <a:rPr sz="1800" spc="-5" dirty="0">
                <a:latin typeface="Times New Roman"/>
                <a:cs typeface="Times New Roman"/>
              </a:rPr>
              <a:t>data.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stored </a:t>
            </a:r>
            <a:r>
              <a:rPr sz="1800" dirty="0">
                <a:latin typeface="Times New Roman"/>
                <a:cs typeface="Times New Roman"/>
              </a:rPr>
              <a:t>data </a:t>
            </a:r>
            <a:r>
              <a:rPr sz="1800" spc="-15" dirty="0">
                <a:latin typeface="Times New Roman"/>
                <a:cs typeface="Times New Roman"/>
              </a:rPr>
              <a:t>can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changed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applying varying inputs. </a:t>
            </a:r>
            <a:r>
              <a:rPr sz="1800" spc="-10" dirty="0">
                <a:latin typeface="Times New Roman"/>
                <a:cs typeface="Times New Roman"/>
              </a:rPr>
              <a:t>Flip-flops 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latches are </a:t>
            </a:r>
            <a:r>
              <a:rPr sz="1800" spc="-10" dirty="0">
                <a:latin typeface="Times New Roman"/>
                <a:cs typeface="Times New Roman"/>
              </a:rPr>
              <a:t>fundamental </a:t>
            </a:r>
            <a:r>
              <a:rPr sz="1800" spc="-5" dirty="0">
                <a:latin typeface="Times New Roman"/>
                <a:cs typeface="Times New Roman"/>
              </a:rPr>
              <a:t>building blocks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digital </a:t>
            </a:r>
            <a:r>
              <a:rPr sz="1800" spc="-10" dirty="0">
                <a:latin typeface="Times New Roman"/>
                <a:cs typeface="Times New Roman"/>
              </a:rPr>
              <a:t>electronics </a:t>
            </a:r>
            <a:r>
              <a:rPr sz="1800" spc="-15" dirty="0">
                <a:latin typeface="Times New Roman"/>
                <a:cs typeface="Times New Roman"/>
              </a:rPr>
              <a:t>systems </a:t>
            </a:r>
            <a:r>
              <a:rPr sz="1800" spc="-10" dirty="0">
                <a:latin typeface="Times New Roman"/>
                <a:cs typeface="Times New Roman"/>
              </a:rPr>
              <a:t>used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computers,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communications,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many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types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Flip-flops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latches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 used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data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8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storage</a:t>
            </a:r>
            <a:r>
              <a:rPr sz="1800" spc="-40" dirty="0">
                <a:solidFill>
                  <a:srgbClr val="0000FF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elements.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dirty="0">
                <a:latin typeface="Times New Roman"/>
                <a:cs typeface="Times New Roman"/>
              </a:rPr>
              <a:t> 4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types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flipflops</a:t>
            </a:r>
            <a:endParaRPr sz="1800">
              <a:latin typeface="Times New Roman"/>
              <a:cs typeface="Times New Roman"/>
            </a:endParaRPr>
          </a:p>
          <a:p>
            <a:pPr marL="356870" indent="-344805" algn="just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357505" algn="l"/>
              </a:tabLst>
            </a:pPr>
            <a:r>
              <a:rPr sz="1800" spc="-5" dirty="0">
                <a:latin typeface="Times New Roman"/>
                <a:cs typeface="Times New Roman"/>
              </a:rPr>
              <a:t>RS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356870" indent="-344805" algn="just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Jk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5" dirty="0"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356870" indent="-344805" algn="just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357505" algn="l"/>
              </a:tabLst>
            </a:pP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pp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ca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1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15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-Fl</a:t>
            </a:r>
            <a:r>
              <a:rPr sz="1800" spc="10" dirty="0">
                <a:latin typeface="Times New Roman"/>
                <a:cs typeface="Times New Roman"/>
              </a:rPr>
              <a:t>op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12700" marR="6731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These are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various </a:t>
            </a:r>
            <a:r>
              <a:rPr sz="1800" spc="-10" dirty="0">
                <a:latin typeface="Times New Roman"/>
                <a:cs typeface="Times New Roman"/>
              </a:rPr>
              <a:t>types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flip-flops </a:t>
            </a:r>
            <a:r>
              <a:rPr sz="1800" dirty="0">
                <a:latin typeface="Times New Roman"/>
                <a:cs typeface="Times New Roman"/>
              </a:rPr>
              <a:t>being </a:t>
            </a:r>
            <a:r>
              <a:rPr sz="1800" spc="-5" dirty="0">
                <a:latin typeface="Times New Roman"/>
                <a:cs typeface="Times New Roman"/>
              </a:rPr>
              <a:t>used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digital electronic </a:t>
            </a:r>
            <a:r>
              <a:rPr sz="1800" dirty="0">
                <a:latin typeface="Times New Roman"/>
                <a:cs typeface="Times New Roman"/>
              </a:rPr>
              <a:t>circuits 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applications </a:t>
            </a:r>
            <a:r>
              <a:rPr sz="1800" spc="-5" dirty="0">
                <a:latin typeface="Times New Roman"/>
                <a:cs typeface="Times New Roman"/>
              </a:rPr>
              <a:t>like </a:t>
            </a:r>
            <a:r>
              <a:rPr sz="1800" dirty="0">
                <a:latin typeface="Times New Roman"/>
                <a:cs typeface="Times New Roman"/>
              </a:rPr>
              <a:t>Counters, Frequency </a:t>
            </a:r>
            <a:r>
              <a:rPr sz="1800" spc="-5" dirty="0">
                <a:latin typeface="Times New Roman"/>
                <a:cs typeface="Times New Roman"/>
              </a:rPr>
              <a:t>Dividers, Shift Registers, Storage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Registers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6120" y="2870"/>
            <a:ext cx="51854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FLIPFLOPS:RS</a:t>
            </a:r>
            <a:r>
              <a:rPr sz="3600" spc="-105" dirty="0"/>
              <a:t> </a:t>
            </a:r>
            <a:r>
              <a:rPr sz="3600" spc="-5" dirty="0"/>
              <a:t>FLIPFLOP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7035" y="1012697"/>
            <a:ext cx="5249545" cy="167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250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EDGE-TRIGGERED	</a:t>
            </a:r>
            <a:r>
              <a:rPr sz="1800" dirty="0">
                <a:latin typeface="Microsoft Sans Serif"/>
                <a:cs typeface="Microsoft Sans Serif"/>
              </a:rPr>
              <a:t>FLIP</a:t>
            </a:r>
            <a:r>
              <a:rPr sz="1800" spc="3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FLOPS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Characteristics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State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tran</a:t>
            </a:r>
            <a:r>
              <a:rPr sz="1800" b="1" spc="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ition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curs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at 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ris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edge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521334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dirty="0">
                <a:latin typeface="Arial"/>
                <a:cs typeface="Arial"/>
              </a:rPr>
              <a:t>al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ed</a:t>
            </a:r>
            <a:r>
              <a:rPr sz="1800" b="1" spc="5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cl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k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5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Latches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035" y="3758310"/>
            <a:ext cx="4641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r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10" dirty="0">
                <a:latin typeface="Microsoft Sans Serif"/>
                <a:cs typeface="Microsoft Sans Serif"/>
              </a:rPr>
              <a:t>s</a:t>
            </a:r>
            <a:r>
              <a:rPr sz="1800" dirty="0">
                <a:latin typeface="Microsoft Sans Serif"/>
                <a:cs typeface="Microsoft Sans Serif"/>
              </a:rPr>
              <a:t>pon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</a:t>
            </a:r>
            <a:r>
              <a:rPr sz="1800" spc="5" dirty="0">
                <a:latin typeface="Microsoft Sans Serif"/>
                <a:cs typeface="Microsoft Sans Serif"/>
              </a:rPr>
              <a:t>h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dirty="0">
                <a:latin typeface="Microsoft Sans Serif"/>
                <a:cs typeface="Microsoft Sans Serif"/>
              </a:rPr>
              <a:t>nput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du</a:t>
            </a:r>
            <a:r>
              <a:rPr sz="1800" spc="-10" dirty="0">
                <a:latin typeface="Microsoft Sans Serif"/>
                <a:cs typeface="Microsoft Sans Serif"/>
              </a:rPr>
              <a:t>r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5" dirty="0">
                <a:latin typeface="Microsoft Sans Serif"/>
                <a:cs typeface="Microsoft Sans Serif"/>
              </a:rPr>
              <a:t>g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</a:t>
            </a:r>
            <a:r>
              <a:rPr sz="1800" spc="5" dirty="0">
                <a:latin typeface="Microsoft Sans Serif"/>
                <a:cs typeface="Microsoft Sans Serif"/>
              </a:rPr>
              <a:t>h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10" dirty="0">
                <a:latin typeface="Microsoft Sans Serif"/>
                <a:cs typeface="Microsoft Sans Serif"/>
              </a:rPr>
              <a:t>s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pe</a:t>
            </a:r>
            <a:r>
              <a:rPr sz="1800" spc="-10" dirty="0">
                <a:latin typeface="Microsoft Sans Serif"/>
                <a:cs typeface="Microsoft Sans Serif"/>
              </a:rPr>
              <a:t>r</a:t>
            </a:r>
            <a:r>
              <a:rPr sz="1800" dirty="0">
                <a:latin typeface="Microsoft Sans Serif"/>
                <a:cs typeface="Microsoft Sans Serif"/>
              </a:rPr>
              <a:t>iods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Edge-triggered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Flip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Flops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(positive)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43000" y="3115055"/>
            <a:ext cx="4447540" cy="728345"/>
            <a:chOff x="1143000" y="3115055"/>
            <a:chExt cx="4447540" cy="728345"/>
          </a:xfrm>
        </p:grpSpPr>
        <p:sp>
          <p:nvSpPr>
            <p:cNvPr id="7" name="object 7"/>
            <p:cNvSpPr/>
            <p:nvPr/>
          </p:nvSpPr>
          <p:spPr>
            <a:xfrm>
              <a:off x="1143000" y="3127247"/>
              <a:ext cx="1664335" cy="424180"/>
            </a:xfrm>
            <a:custGeom>
              <a:avLst/>
              <a:gdLst/>
              <a:ahLst/>
              <a:cxnLst/>
              <a:rect l="l" t="t" r="r" b="b"/>
              <a:pathLst>
                <a:path w="1664335" h="424179">
                  <a:moveTo>
                    <a:pt x="0" y="423672"/>
                  </a:moveTo>
                  <a:lnTo>
                    <a:pt x="612648" y="423672"/>
                  </a:lnTo>
                </a:path>
                <a:path w="1664335" h="424179">
                  <a:moveTo>
                    <a:pt x="591312" y="0"/>
                  </a:moveTo>
                  <a:lnTo>
                    <a:pt x="1664208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67711" y="3231895"/>
              <a:ext cx="334010" cy="611505"/>
            </a:xfrm>
            <a:custGeom>
              <a:avLst/>
              <a:gdLst/>
              <a:ahLst/>
              <a:cxnLst/>
              <a:rect l="l" t="t" r="r" b="b"/>
              <a:pathLst>
                <a:path w="334010" h="611504">
                  <a:moveTo>
                    <a:pt x="21589" y="0"/>
                  </a:moveTo>
                  <a:lnTo>
                    <a:pt x="0" y="11302"/>
                  </a:lnTo>
                  <a:lnTo>
                    <a:pt x="312293" y="611123"/>
                  </a:lnTo>
                  <a:lnTo>
                    <a:pt x="333882" y="599947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3327" y="3169919"/>
              <a:ext cx="68961" cy="852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6504" y="3127247"/>
              <a:ext cx="3843654" cy="436245"/>
            </a:xfrm>
            <a:custGeom>
              <a:avLst/>
              <a:gdLst/>
              <a:ahLst/>
              <a:cxnLst/>
              <a:rect l="l" t="t" r="r" b="b"/>
              <a:pathLst>
                <a:path w="3843654" h="436245">
                  <a:moveTo>
                    <a:pt x="0" y="435863"/>
                  </a:moveTo>
                  <a:lnTo>
                    <a:pt x="0" y="0"/>
                  </a:lnTo>
                </a:path>
                <a:path w="3843654" h="436245">
                  <a:moveTo>
                    <a:pt x="1054608" y="414527"/>
                  </a:moveTo>
                  <a:lnTo>
                    <a:pt x="1901951" y="414527"/>
                  </a:lnTo>
                </a:path>
                <a:path w="3843654" h="436245">
                  <a:moveTo>
                    <a:pt x="1911095" y="426719"/>
                  </a:moveTo>
                  <a:lnTo>
                    <a:pt x="1911095" y="0"/>
                  </a:lnTo>
                </a:path>
                <a:path w="3843654" h="436245">
                  <a:moveTo>
                    <a:pt x="1904999" y="0"/>
                  </a:moveTo>
                  <a:lnTo>
                    <a:pt x="2947416" y="0"/>
                  </a:lnTo>
                </a:path>
                <a:path w="3843654" h="436245">
                  <a:moveTo>
                    <a:pt x="2938272" y="9143"/>
                  </a:moveTo>
                  <a:lnTo>
                    <a:pt x="2938272" y="429767"/>
                  </a:lnTo>
                </a:path>
                <a:path w="3843654" h="436245">
                  <a:moveTo>
                    <a:pt x="2950463" y="423672"/>
                  </a:moveTo>
                  <a:lnTo>
                    <a:pt x="3843528" y="42367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5654" y="3232784"/>
              <a:ext cx="308610" cy="589280"/>
            </a:xfrm>
            <a:custGeom>
              <a:avLst/>
              <a:gdLst/>
              <a:ahLst/>
              <a:cxnLst/>
              <a:rect l="l" t="t" r="r" b="b"/>
              <a:pathLst>
                <a:path w="308610" h="589279">
                  <a:moveTo>
                    <a:pt x="286131" y="0"/>
                  </a:moveTo>
                  <a:lnTo>
                    <a:pt x="0" y="577850"/>
                  </a:lnTo>
                  <a:lnTo>
                    <a:pt x="21844" y="588771"/>
                  </a:lnTo>
                  <a:lnTo>
                    <a:pt x="308101" y="10794"/>
                  </a:lnTo>
                  <a:lnTo>
                    <a:pt x="2861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8670" y="3169919"/>
              <a:ext cx="68325" cy="852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04160" y="3124199"/>
              <a:ext cx="0" cy="429895"/>
            </a:xfrm>
            <a:custGeom>
              <a:avLst/>
              <a:gdLst/>
              <a:ahLst/>
              <a:cxnLst/>
              <a:rect l="l" t="t" r="r" b="b"/>
              <a:pathLst>
                <a:path h="429895">
                  <a:moveTo>
                    <a:pt x="0" y="429767"/>
                  </a:moveTo>
                  <a:lnTo>
                    <a:pt x="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36776" y="4605528"/>
            <a:ext cx="4456430" cy="790575"/>
            <a:chOff x="1636776" y="4605528"/>
            <a:chExt cx="4456430" cy="790575"/>
          </a:xfrm>
        </p:grpSpPr>
        <p:sp>
          <p:nvSpPr>
            <p:cNvPr id="15" name="object 15"/>
            <p:cNvSpPr/>
            <p:nvPr/>
          </p:nvSpPr>
          <p:spPr>
            <a:xfrm>
              <a:off x="1636776" y="5007864"/>
              <a:ext cx="661670" cy="0"/>
            </a:xfrm>
            <a:custGeom>
              <a:avLst/>
              <a:gdLst/>
              <a:ahLst/>
              <a:cxnLst/>
              <a:rect l="l" t="t" r="r" b="b"/>
              <a:pathLst>
                <a:path w="661669">
                  <a:moveTo>
                    <a:pt x="0" y="0"/>
                  </a:moveTo>
                  <a:lnTo>
                    <a:pt x="661416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11527" y="5097272"/>
              <a:ext cx="123189" cy="299085"/>
            </a:xfrm>
            <a:custGeom>
              <a:avLst/>
              <a:gdLst/>
              <a:ahLst/>
              <a:cxnLst/>
              <a:rect l="l" t="t" r="r" b="b"/>
              <a:pathLst>
                <a:path w="123189" h="299085">
                  <a:moveTo>
                    <a:pt x="23114" y="0"/>
                  </a:moveTo>
                  <a:lnTo>
                    <a:pt x="0" y="8000"/>
                  </a:lnTo>
                  <a:lnTo>
                    <a:pt x="100075" y="298576"/>
                  </a:lnTo>
                  <a:lnTo>
                    <a:pt x="123190" y="290702"/>
                  </a:lnTo>
                  <a:lnTo>
                    <a:pt x="231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7016" y="5029200"/>
              <a:ext cx="72008" cy="8445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92096" y="4617720"/>
              <a:ext cx="3801110" cy="396240"/>
            </a:xfrm>
            <a:custGeom>
              <a:avLst/>
              <a:gdLst/>
              <a:ahLst/>
              <a:cxnLst/>
              <a:rect l="l" t="t" r="r" b="b"/>
              <a:pathLst>
                <a:path w="3801110" h="396239">
                  <a:moveTo>
                    <a:pt x="0" y="0"/>
                  </a:moveTo>
                  <a:lnTo>
                    <a:pt x="1005840" y="0"/>
                  </a:lnTo>
                </a:path>
                <a:path w="3801110" h="396239">
                  <a:moveTo>
                    <a:pt x="999744" y="374903"/>
                  </a:moveTo>
                  <a:lnTo>
                    <a:pt x="1862328" y="374903"/>
                  </a:lnTo>
                </a:path>
                <a:path w="3801110" h="396239">
                  <a:moveTo>
                    <a:pt x="1871471" y="384047"/>
                  </a:moveTo>
                  <a:lnTo>
                    <a:pt x="1871471" y="6095"/>
                  </a:lnTo>
                </a:path>
                <a:path w="3801110" h="396239">
                  <a:moveTo>
                    <a:pt x="1859280" y="0"/>
                  </a:moveTo>
                  <a:lnTo>
                    <a:pt x="2910840" y="0"/>
                  </a:lnTo>
                </a:path>
                <a:path w="3801110" h="396239">
                  <a:moveTo>
                    <a:pt x="2892552" y="12191"/>
                  </a:moveTo>
                  <a:lnTo>
                    <a:pt x="2892552" y="396239"/>
                  </a:lnTo>
                </a:path>
                <a:path w="3801110" h="396239">
                  <a:moveTo>
                    <a:pt x="2907792" y="390143"/>
                  </a:moveTo>
                  <a:lnTo>
                    <a:pt x="3800855" y="390143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87190" y="5095748"/>
              <a:ext cx="163830" cy="266065"/>
            </a:xfrm>
            <a:custGeom>
              <a:avLst/>
              <a:gdLst/>
              <a:ahLst/>
              <a:cxnLst/>
              <a:rect l="l" t="t" r="r" b="b"/>
              <a:pathLst>
                <a:path w="163829" h="266064">
                  <a:moveTo>
                    <a:pt x="21336" y="0"/>
                  </a:moveTo>
                  <a:lnTo>
                    <a:pt x="0" y="11937"/>
                  </a:lnTo>
                  <a:lnTo>
                    <a:pt x="142494" y="265556"/>
                  </a:lnTo>
                  <a:lnTo>
                    <a:pt x="163830" y="25361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0520" y="5035296"/>
              <a:ext cx="70484" cy="850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95144" y="4617720"/>
              <a:ext cx="1005840" cy="396240"/>
            </a:xfrm>
            <a:custGeom>
              <a:avLst/>
              <a:gdLst/>
              <a:ahLst/>
              <a:cxnLst/>
              <a:rect l="l" t="t" r="r" b="b"/>
              <a:pathLst>
                <a:path w="1005839" h="396239">
                  <a:moveTo>
                    <a:pt x="1005840" y="387095"/>
                  </a:moveTo>
                  <a:lnTo>
                    <a:pt x="1005840" y="0"/>
                  </a:lnTo>
                </a:path>
                <a:path w="1005839" h="396239">
                  <a:moveTo>
                    <a:pt x="0" y="396239"/>
                  </a:moveTo>
                  <a:lnTo>
                    <a:pt x="0" y="609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5940" y="5512409"/>
            <a:ext cx="36772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respond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 the </a:t>
            </a:r>
            <a:r>
              <a:rPr sz="1800" spc="-5" dirty="0">
                <a:latin typeface="Microsoft Sans Serif"/>
                <a:cs typeface="Microsoft Sans Serif"/>
              </a:rPr>
              <a:t>input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only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 this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time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014" y="166243"/>
            <a:ext cx="7541971" cy="615553"/>
          </a:xfrm>
        </p:spPr>
        <p:txBody>
          <a:bodyPr/>
          <a:lstStyle/>
          <a:p>
            <a:r>
              <a:rPr lang="en-IN" spc="-5" dirty="0" smtClean="0"/>
              <a:t>FLIPFLOPS:RS</a:t>
            </a:r>
            <a:r>
              <a:rPr lang="en-IN" spc="-105" dirty="0" smtClean="0"/>
              <a:t> </a:t>
            </a:r>
            <a:r>
              <a:rPr lang="en-IN" spc="-5" dirty="0" smtClean="0"/>
              <a:t>FLIPFLOP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127" y="1295400"/>
            <a:ext cx="8619744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6120" y="2870"/>
            <a:ext cx="51854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smtClean="0"/>
              <a:t>FLIPFLOPS:</a:t>
            </a:r>
            <a:r>
              <a:rPr lang="en-IN" sz="3600" spc="-5" dirty="0" smtClean="0"/>
              <a:t>SR</a:t>
            </a:r>
            <a:r>
              <a:rPr sz="3600" spc="-105" smtClean="0"/>
              <a:t> </a:t>
            </a:r>
            <a:r>
              <a:rPr sz="3600" spc="-5" dirty="0"/>
              <a:t>FLIPFLOP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7035" y="1006602"/>
            <a:ext cx="8419465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SR</a:t>
            </a:r>
            <a:r>
              <a:rPr sz="1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Flip-Flop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b="1" dirty="0">
                <a:latin typeface="Times New Roman"/>
                <a:cs typeface="Times New Roman"/>
              </a:rPr>
              <a:t>SR </a:t>
            </a:r>
            <a:r>
              <a:rPr sz="1800" b="1" spc="-5" dirty="0">
                <a:latin typeface="Times New Roman"/>
                <a:cs typeface="Times New Roman"/>
              </a:rPr>
              <a:t>flip-flop</a:t>
            </a:r>
            <a:r>
              <a:rPr sz="1800" spc="-5" dirty="0">
                <a:latin typeface="Times New Roman"/>
                <a:cs typeface="Times New Roman"/>
              </a:rPr>
              <a:t>, also </a:t>
            </a:r>
            <a:r>
              <a:rPr sz="1800" spc="-10" dirty="0">
                <a:latin typeface="Times New Roman"/>
                <a:cs typeface="Times New Roman"/>
              </a:rPr>
              <a:t>known as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i="1" spc="5" dirty="0">
                <a:latin typeface="Times New Roman"/>
                <a:cs typeface="Times New Roman"/>
              </a:rPr>
              <a:t>SR Latch</a:t>
            </a:r>
            <a:r>
              <a:rPr sz="1800" spc="5" dirty="0">
                <a:latin typeface="Times New Roman"/>
                <a:cs typeface="Times New Roman"/>
              </a:rPr>
              <a:t>, </a:t>
            </a:r>
            <a:r>
              <a:rPr sz="1800" spc="-10" dirty="0">
                <a:latin typeface="Times New Roman"/>
                <a:cs typeface="Times New Roman"/>
              </a:rPr>
              <a:t>can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considered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spc="5" dirty="0">
                <a:latin typeface="Times New Roman"/>
                <a:cs typeface="Times New Roman"/>
              </a:rPr>
              <a:t>one 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most </a:t>
            </a:r>
            <a:r>
              <a:rPr sz="1800" spc="-5" dirty="0">
                <a:latin typeface="Times New Roman"/>
                <a:cs typeface="Times New Roman"/>
              </a:rPr>
              <a:t>basic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sequential </a:t>
            </a:r>
            <a:r>
              <a:rPr sz="1800" dirty="0">
                <a:latin typeface="Times New Roman"/>
                <a:cs typeface="Times New Roman"/>
              </a:rPr>
              <a:t>logic </a:t>
            </a:r>
            <a:r>
              <a:rPr sz="1800" spc="-5" dirty="0">
                <a:latin typeface="Times New Roman"/>
                <a:cs typeface="Times New Roman"/>
              </a:rPr>
              <a:t>circuit </a:t>
            </a:r>
            <a:r>
              <a:rPr sz="1800" dirty="0">
                <a:latin typeface="Times New Roman"/>
                <a:cs typeface="Times New Roman"/>
              </a:rPr>
              <a:t>possible. </a:t>
            </a:r>
            <a:r>
              <a:rPr sz="1800" spc="-5" dirty="0">
                <a:latin typeface="Times New Roman"/>
                <a:cs typeface="Times New Roman"/>
              </a:rPr>
              <a:t>This simple flip-flop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basically </a:t>
            </a:r>
            <a:r>
              <a:rPr sz="1800" dirty="0">
                <a:latin typeface="Times New Roman"/>
                <a:cs typeface="Times New Roman"/>
              </a:rPr>
              <a:t>a one-bit </a:t>
            </a:r>
            <a:r>
              <a:rPr sz="1800" spc="-30" dirty="0">
                <a:latin typeface="Times New Roman"/>
                <a:cs typeface="Times New Roman"/>
              </a:rPr>
              <a:t>memory </a:t>
            </a:r>
            <a:r>
              <a:rPr sz="1800" dirty="0">
                <a:latin typeface="Times New Roman"/>
                <a:cs typeface="Times New Roman"/>
              </a:rPr>
              <a:t>bistable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device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has </a:t>
            </a:r>
            <a:r>
              <a:rPr sz="1800" spc="-10" dirty="0">
                <a:latin typeface="Times New Roman"/>
                <a:cs typeface="Times New Roman"/>
              </a:rPr>
              <a:t>two </a:t>
            </a:r>
            <a:r>
              <a:rPr sz="1800" dirty="0">
                <a:latin typeface="Times New Roman"/>
                <a:cs typeface="Times New Roman"/>
              </a:rPr>
              <a:t>inputs, </a:t>
            </a:r>
            <a:r>
              <a:rPr sz="1800" spc="5" dirty="0">
                <a:latin typeface="Times New Roman"/>
                <a:cs typeface="Times New Roman"/>
              </a:rPr>
              <a:t>one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spc="-10" dirty="0">
                <a:latin typeface="Times New Roman"/>
                <a:cs typeface="Times New Roman"/>
              </a:rPr>
              <a:t>will </a:t>
            </a:r>
            <a:r>
              <a:rPr sz="1800" spc="-150" dirty="0">
                <a:latin typeface="Times New Roman"/>
                <a:cs typeface="Times New Roman"/>
              </a:rPr>
              <a:t>―SET‖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device (meaning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145" dirty="0">
                <a:latin typeface="Times New Roman"/>
                <a:cs typeface="Times New Roman"/>
              </a:rPr>
              <a:t>―1‖), 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labelled </a:t>
            </a:r>
            <a:r>
              <a:rPr sz="1800" b="1" dirty="0">
                <a:latin typeface="Times New Roman"/>
                <a:cs typeface="Times New Roman"/>
              </a:rPr>
              <a:t>S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one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spc="-10" dirty="0">
                <a:latin typeface="Times New Roman"/>
                <a:cs typeface="Times New Roman"/>
              </a:rPr>
              <a:t>will </a:t>
            </a:r>
            <a:r>
              <a:rPr sz="1800" spc="-105" dirty="0">
                <a:latin typeface="Times New Roman"/>
                <a:cs typeface="Times New Roman"/>
              </a:rPr>
              <a:t>―RESET‖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device (meaning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145" dirty="0">
                <a:latin typeface="Times New Roman"/>
                <a:cs typeface="Times New Roman"/>
              </a:rPr>
              <a:t>―0‖), 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labelled </a:t>
            </a:r>
            <a:r>
              <a:rPr sz="1800" b="1" spc="-5" dirty="0">
                <a:latin typeface="Times New Roman"/>
                <a:cs typeface="Times New Roman"/>
              </a:rPr>
              <a:t>R</a:t>
            </a:r>
            <a:r>
              <a:rPr sz="1800" spc="-5" dirty="0">
                <a:latin typeface="Times New Roman"/>
                <a:cs typeface="Times New Roman"/>
              </a:rPr>
              <a:t>.The </a:t>
            </a:r>
            <a:r>
              <a:rPr sz="1800" spc="-10" dirty="0">
                <a:latin typeface="Times New Roman"/>
                <a:cs typeface="Times New Roman"/>
              </a:rPr>
              <a:t>reset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resets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flip-flop back </a:t>
            </a:r>
            <a:r>
              <a:rPr sz="1800" dirty="0">
                <a:latin typeface="Times New Roman"/>
                <a:cs typeface="Times New Roman"/>
              </a:rPr>
              <a:t>to its original </a:t>
            </a:r>
            <a:r>
              <a:rPr sz="1800" spc="-5" dirty="0">
                <a:latin typeface="Times New Roman"/>
                <a:cs typeface="Times New Roman"/>
              </a:rPr>
              <a:t>state </a:t>
            </a:r>
            <a:r>
              <a:rPr sz="1800" spc="-10" dirty="0">
                <a:latin typeface="Times New Roman"/>
                <a:cs typeface="Times New Roman"/>
              </a:rPr>
              <a:t>with </a:t>
            </a:r>
            <a:r>
              <a:rPr sz="1800" spc="-5" dirty="0">
                <a:latin typeface="Times New Roman"/>
                <a:cs typeface="Times New Roman"/>
              </a:rPr>
              <a:t>an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spc="-5" dirty="0">
                <a:latin typeface="Times New Roman"/>
                <a:cs typeface="Times New Roman"/>
              </a:rPr>
              <a:t>Q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will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either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logic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level </a:t>
            </a:r>
            <a:r>
              <a:rPr sz="1800" spc="-240" dirty="0">
                <a:latin typeface="Times New Roman"/>
                <a:cs typeface="Times New Roman"/>
              </a:rPr>
              <a:t>―1‖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logic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35" dirty="0">
                <a:latin typeface="Times New Roman"/>
                <a:cs typeface="Times New Roman"/>
              </a:rPr>
              <a:t>―0‖</a:t>
            </a:r>
            <a:r>
              <a:rPr sz="1800" spc="-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upon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set/reset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condition.</a:t>
            </a:r>
            <a:endParaRPr sz="1800">
              <a:latin typeface="Times New Roman"/>
              <a:cs typeface="Times New Roman"/>
            </a:endParaRPr>
          </a:p>
          <a:p>
            <a:pPr marL="12700" marR="139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basic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circuit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-10" dirty="0">
                <a:latin typeface="Times New Roman"/>
                <a:cs typeface="Times New Roman"/>
              </a:rPr>
              <a:t> feedback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both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5" dirty="0">
                <a:latin typeface="Times New Roman"/>
                <a:cs typeface="Times New Roman"/>
              </a:rPr>
              <a:t> outputs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back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opposing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commonly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30" dirty="0">
                <a:latin typeface="Times New Roman"/>
                <a:cs typeface="Times New Roman"/>
              </a:rPr>
              <a:t>memory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circuits 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single</a:t>
            </a:r>
            <a:r>
              <a:rPr sz="1800" dirty="0">
                <a:latin typeface="Times New Roman"/>
                <a:cs typeface="Times New Roman"/>
              </a:rPr>
              <a:t> data bit.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Then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actually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Reset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current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it</a:t>
            </a:r>
            <a:r>
              <a:rPr sz="1800" spc="-120" dirty="0">
                <a:latin typeface="Times New Roman"/>
                <a:cs typeface="Times New Roman"/>
              </a:rPr>
              <a:t>’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</a:t>
            </a:r>
            <a:r>
              <a:rPr sz="1800" spc="10" dirty="0">
                <a:latin typeface="Times New Roman"/>
                <a:cs typeface="Times New Roman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rr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1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</a:t>
            </a:r>
            <a:r>
              <a:rPr sz="1800" spc="-1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h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3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spc="-25" dirty="0">
                <a:latin typeface="Times New Roman"/>
                <a:cs typeface="Times New Roman"/>
              </a:rPr>
              <a:t>r</a:t>
            </a:r>
            <a:r>
              <a:rPr sz="1800" spc="-180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19600"/>
            <a:ext cx="4343400" cy="1905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4114800"/>
            <a:ext cx="3352800" cy="199643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34788" y="6121400"/>
            <a:ext cx="27330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90" dirty="0">
                <a:latin typeface="Times New Roman"/>
                <a:cs typeface="Times New Roman"/>
              </a:rPr>
              <a:t>T</a:t>
            </a:r>
            <a:r>
              <a:rPr sz="1400" spc="-40" dirty="0">
                <a:latin typeface="Times New Roman"/>
                <a:cs typeface="Times New Roman"/>
              </a:rPr>
              <a:t>r</a:t>
            </a:r>
            <a:r>
              <a:rPr sz="1400" spc="-55" dirty="0">
                <a:latin typeface="Times New Roman"/>
                <a:cs typeface="Times New Roman"/>
              </a:rPr>
              <a:t>u</a:t>
            </a:r>
            <a:r>
              <a:rPr sz="1400" spc="-35" dirty="0">
                <a:latin typeface="Times New Roman"/>
                <a:cs typeface="Times New Roman"/>
              </a:rPr>
              <a:t>t</a:t>
            </a:r>
            <a:r>
              <a:rPr sz="1400" spc="-5" dirty="0">
                <a:latin typeface="Times New Roman"/>
                <a:cs typeface="Times New Roman"/>
              </a:rPr>
              <a:t>h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40" dirty="0">
                <a:latin typeface="Times New Roman"/>
                <a:cs typeface="Times New Roman"/>
              </a:rPr>
              <a:t>T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b</a:t>
            </a:r>
            <a:r>
              <a:rPr sz="1400" spc="-60" dirty="0">
                <a:latin typeface="Times New Roman"/>
                <a:cs typeface="Times New Roman"/>
              </a:rPr>
              <a:t>l</a:t>
            </a:r>
            <a:r>
              <a:rPr sz="1400" spc="-5" dirty="0">
                <a:latin typeface="Times New Roman"/>
                <a:cs typeface="Times New Roman"/>
              </a:rPr>
              <a:t>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65" dirty="0">
                <a:latin typeface="Times New Roman"/>
                <a:cs typeface="Times New Roman"/>
              </a:rPr>
              <a:t>f</a:t>
            </a:r>
            <a:r>
              <a:rPr sz="1400" spc="-30" dirty="0">
                <a:latin typeface="Times New Roman"/>
                <a:cs typeface="Times New Roman"/>
              </a:rPr>
              <a:t>o</a:t>
            </a:r>
            <a:r>
              <a:rPr sz="1400" spc="-5" dirty="0">
                <a:latin typeface="Times New Roman"/>
                <a:cs typeface="Times New Roman"/>
              </a:rPr>
              <a:t>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t</a:t>
            </a:r>
            <a:r>
              <a:rPr sz="1400" spc="-55" dirty="0">
                <a:latin typeface="Times New Roman"/>
                <a:cs typeface="Times New Roman"/>
              </a:rPr>
              <a:t>h</a:t>
            </a:r>
            <a:r>
              <a:rPr sz="1400" spc="-60" dirty="0">
                <a:latin typeface="Times New Roman"/>
                <a:cs typeface="Times New Roman"/>
              </a:rPr>
              <a:t>i</a:t>
            </a:r>
            <a:r>
              <a:rPr sz="1400" spc="-5" dirty="0">
                <a:latin typeface="Times New Roman"/>
                <a:cs typeface="Times New Roman"/>
              </a:rPr>
              <a:t>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S</a:t>
            </a:r>
            <a:r>
              <a:rPr sz="1400" spc="-5" dirty="0">
                <a:latin typeface="Times New Roman"/>
                <a:cs typeface="Times New Roman"/>
              </a:rPr>
              <a:t>et</a:t>
            </a:r>
            <a:r>
              <a:rPr sz="1400" spc="-15" dirty="0">
                <a:latin typeface="Times New Roman"/>
                <a:cs typeface="Times New Roman"/>
              </a:rPr>
              <a:t>-</a:t>
            </a:r>
            <a:r>
              <a:rPr sz="1400" spc="-5" dirty="0">
                <a:latin typeface="Times New Roman"/>
                <a:cs typeface="Times New Roman"/>
              </a:rPr>
              <a:t>Re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5" dirty="0">
                <a:latin typeface="Times New Roman"/>
                <a:cs typeface="Times New Roman"/>
              </a:rPr>
              <a:t>et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25" dirty="0">
                <a:latin typeface="Times New Roman"/>
                <a:cs typeface="Times New Roman"/>
              </a:rPr>
              <a:t> </a:t>
            </a:r>
            <a:r>
              <a:rPr sz="1400" spc="-60" dirty="0">
                <a:latin typeface="Times New Roman"/>
                <a:cs typeface="Times New Roman"/>
              </a:rPr>
              <a:t>F</a:t>
            </a:r>
            <a:r>
              <a:rPr sz="1400" spc="-55" dirty="0">
                <a:latin typeface="Times New Roman"/>
                <a:cs typeface="Times New Roman"/>
              </a:rPr>
              <a:t>un</a:t>
            </a:r>
            <a:r>
              <a:rPr sz="1400" spc="-5" dirty="0">
                <a:latin typeface="Times New Roman"/>
                <a:cs typeface="Times New Roman"/>
              </a:rPr>
              <a:t>ct</a:t>
            </a:r>
            <a:r>
              <a:rPr sz="1400" spc="-60" dirty="0">
                <a:latin typeface="Times New Roman"/>
                <a:cs typeface="Times New Roman"/>
              </a:rPr>
              <a:t>i</a:t>
            </a:r>
            <a:r>
              <a:rPr sz="1400" spc="-5" dirty="0">
                <a:latin typeface="Times New Roman"/>
                <a:cs typeface="Times New Roman"/>
              </a:rPr>
              <a:t>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4207" y="4013"/>
            <a:ext cx="5102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FLIPFLOPS:JK</a:t>
            </a:r>
            <a:r>
              <a:rPr sz="3600" spc="100" dirty="0"/>
              <a:t> </a:t>
            </a:r>
            <a:r>
              <a:rPr sz="3600" spc="-30" dirty="0"/>
              <a:t>FLIPFLOP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88340" y="863146"/>
            <a:ext cx="7473950" cy="504444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1065"/>
              </a:spcBef>
            </a:pP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JK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28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2800">
              <a:latin typeface="Times New Roman"/>
              <a:cs typeface="Times New Roman"/>
            </a:endParaRPr>
          </a:p>
          <a:p>
            <a:pPr marL="12700" marR="76200">
              <a:lnSpc>
                <a:spcPct val="100000"/>
              </a:lnSpc>
              <a:spcBef>
                <a:spcPts val="615"/>
              </a:spcBef>
            </a:pP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JK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Flip-flop is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similar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Flip-flop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change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when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 </a:t>
            </a:r>
            <a:r>
              <a:rPr sz="1800" spc="-15" dirty="0">
                <a:latin typeface="Times New Roman"/>
                <a:cs typeface="Times New Roman"/>
              </a:rPr>
              <a:t>inputs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spc="5" dirty="0">
                <a:latin typeface="Times New Roman"/>
                <a:cs typeface="Times New Roman"/>
              </a:rPr>
              <a:t>both </a:t>
            </a:r>
            <a:r>
              <a:rPr sz="1800" spc="-110" dirty="0">
                <a:latin typeface="Times New Roman"/>
                <a:cs typeface="Times New Roman"/>
              </a:rPr>
              <a:t>LOW.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25" dirty="0">
                <a:latin typeface="Times New Roman"/>
                <a:cs typeface="Times New Roman"/>
              </a:rPr>
              <a:t>basic </a:t>
            </a:r>
            <a:r>
              <a:rPr sz="1800" spc="15" dirty="0">
                <a:latin typeface="Times New Roman"/>
                <a:cs typeface="Times New Roman"/>
              </a:rPr>
              <a:t>S-R </a:t>
            </a:r>
            <a:r>
              <a:rPr sz="1800" spc="-30" dirty="0">
                <a:latin typeface="Times New Roman"/>
                <a:cs typeface="Times New Roman"/>
              </a:rPr>
              <a:t>NAND </a:t>
            </a:r>
            <a:r>
              <a:rPr sz="1800" spc="-25" dirty="0">
                <a:latin typeface="Times New Roman"/>
                <a:cs typeface="Times New Roman"/>
              </a:rPr>
              <a:t>flip-flop circuit </a:t>
            </a:r>
            <a:r>
              <a:rPr sz="1800" spc="-20" dirty="0">
                <a:latin typeface="Times New Roman"/>
                <a:cs typeface="Times New Roman"/>
              </a:rPr>
              <a:t>has </a:t>
            </a:r>
            <a:r>
              <a:rPr sz="1800" spc="-30" dirty="0">
                <a:latin typeface="Times New Roman"/>
                <a:cs typeface="Times New Roman"/>
              </a:rPr>
              <a:t>many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advantages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uses </a:t>
            </a:r>
            <a:r>
              <a:rPr sz="1800" spc="-15" dirty="0">
                <a:latin typeface="Times New Roman"/>
                <a:cs typeface="Times New Roman"/>
              </a:rPr>
              <a:t>in </a:t>
            </a:r>
            <a:r>
              <a:rPr sz="1800" spc="-25" dirty="0">
                <a:latin typeface="Times New Roman"/>
                <a:cs typeface="Times New Roman"/>
              </a:rPr>
              <a:t>sequential </a:t>
            </a:r>
            <a:r>
              <a:rPr sz="1800" spc="-20" dirty="0">
                <a:latin typeface="Times New Roman"/>
                <a:cs typeface="Times New Roman"/>
              </a:rPr>
              <a:t>logic </a:t>
            </a:r>
            <a:r>
              <a:rPr sz="1800" spc="-25" dirty="0">
                <a:latin typeface="Times New Roman"/>
                <a:cs typeface="Times New Roman"/>
              </a:rPr>
              <a:t>circuits </a:t>
            </a:r>
            <a:r>
              <a:rPr sz="1800" spc="-10" dirty="0">
                <a:latin typeface="Times New Roman"/>
                <a:cs typeface="Times New Roman"/>
              </a:rPr>
              <a:t>but </a:t>
            </a:r>
            <a:r>
              <a:rPr sz="1800" spc="-15" dirty="0">
                <a:latin typeface="Times New Roman"/>
                <a:cs typeface="Times New Roman"/>
              </a:rPr>
              <a:t>it </a:t>
            </a:r>
            <a:r>
              <a:rPr sz="1800" spc="-35" dirty="0">
                <a:latin typeface="Times New Roman"/>
                <a:cs typeface="Times New Roman"/>
              </a:rPr>
              <a:t>suffers </a:t>
            </a:r>
            <a:r>
              <a:rPr sz="1800" spc="-5" dirty="0">
                <a:latin typeface="Times New Roman"/>
                <a:cs typeface="Times New Roman"/>
              </a:rPr>
              <a:t>from </a:t>
            </a:r>
            <a:r>
              <a:rPr sz="1800" spc="-10" dirty="0">
                <a:latin typeface="Times New Roman"/>
                <a:cs typeface="Times New Roman"/>
              </a:rPr>
              <a:t>two </a:t>
            </a:r>
            <a:r>
              <a:rPr sz="1800" spc="-25" dirty="0">
                <a:latin typeface="Times New Roman"/>
                <a:cs typeface="Times New Roman"/>
              </a:rPr>
              <a:t>basic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switching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problems.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18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r>
              <a:rPr sz="1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0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condition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(S</a:t>
            </a:r>
            <a:r>
              <a:rPr sz="18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0)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always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18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avoided</a:t>
            </a:r>
            <a:endParaRPr sz="1800">
              <a:latin typeface="Times New Roman"/>
              <a:cs typeface="Times New Roman"/>
            </a:endParaRPr>
          </a:p>
          <a:p>
            <a:pPr marL="12700" marR="59055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sz="18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r>
              <a:rPr sz="18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change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state</a:t>
            </a:r>
            <a:r>
              <a:rPr sz="18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while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enable</a:t>
            </a:r>
            <a:r>
              <a:rPr sz="18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(EN)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input</a:t>
            </a:r>
            <a:r>
              <a:rPr sz="1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high</a:t>
            </a:r>
            <a:r>
              <a:rPr sz="1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correct </a:t>
            </a:r>
            <a:r>
              <a:rPr sz="1800" spc="-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latching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may </a:t>
            </a:r>
            <a:r>
              <a:rPr sz="1800" spc="5" dirty="0">
                <a:latin typeface="Times New Roman"/>
                <a:cs typeface="Times New Roman"/>
              </a:rPr>
              <a:t>not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Then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overcome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two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fundamental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design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problems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design,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Times New Roman"/>
                <a:cs typeface="Times New Roman"/>
              </a:rPr>
              <a:t>JK </a:t>
            </a:r>
            <a:r>
              <a:rPr sz="1800" b="1" spc="-20" dirty="0">
                <a:latin typeface="Times New Roman"/>
                <a:cs typeface="Times New Roman"/>
              </a:rPr>
              <a:t>flip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Flop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was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developed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scientist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name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Jack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Kirby.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JK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flip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flop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is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basically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gated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flip-flop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addition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25" dirty="0">
                <a:latin typeface="Times New Roman"/>
                <a:cs typeface="Times New Roman"/>
              </a:rPr>
              <a:t>clock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input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circuitry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prevents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25" dirty="0">
                <a:latin typeface="Times New Roman"/>
                <a:cs typeface="Times New Roman"/>
              </a:rPr>
              <a:t>illegal </a:t>
            </a:r>
            <a:r>
              <a:rPr sz="1800" spc="15" dirty="0">
                <a:latin typeface="Times New Roman"/>
                <a:cs typeface="Times New Roman"/>
              </a:rPr>
              <a:t>or </a:t>
            </a:r>
            <a:r>
              <a:rPr sz="1800" spc="-25" dirty="0">
                <a:latin typeface="Times New Roman"/>
                <a:cs typeface="Times New Roman"/>
              </a:rPr>
              <a:t>invalid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spc="-20" dirty="0">
                <a:latin typeface="Times New Roman"/>
                <a:cs typeface="Times New Roman"/>
              </a:rPr>
              <a:t>condition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10" dirty="0">
                <a:latin typeface="Times New Roman"/>
                <a:cs typeface="Times New Roman"/>
              </a:rPr>
              <a:t>can </a:t>
            </a:r>
            <a:r>
              <a:rPr sz="1800" dirty="0">
                <a:latin typeface="Times New Roman"/>
                <a:cs typeface="Times New Roman"/>
              </a:rPr>
              <a:t>occur </a:t>
            </a:r>
            <a:r>
              <a:rPr sz="1800" spc="-30" dirty="0">
                <a:latin typeface="Times New Roman"/>
                <a:cs typeface="Times New Roman"/>
              </a:rPr>
              <a:t>when 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bo</a:t>
            </a:r>
            <a:r>
              <a:rPr sz="1800" dirty="0">
                <a:latin typeface="Times New Roman"/>
                <a:cs typeface="Times New Roman"/>
              </a:rPr>
              <a:t>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npu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re 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10" dirty="0">
                <a:latin typeface="Times New Roman"/>
                <a:cs typeface="Times New Roman"/>
              </a:rPr>
              <a:t>qu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spc="-40" dirty="0">
                <a:latin typeface="Times New Roman"/>
                <a:cs typeface="Times New Roman"/>
              </a:rPr>
              <a:t>g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spc="-40" dirty="0">
                <a:latin typeface="Times New Roman"/>
                <a:cs typeface="Times New Roman"/>
              </a:rPr>
              <a:t>v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40" dirty="0">
                <a:latin typeface="Times New Roman"/>
                <a:cs typeface="Times New Roman"/>
              </a:rPr>
              <a:t>―</a:t>
            </a:r>
            <a:r>
              <a:rPr sz="1800" spc="-15" dirty="0">
                <a:latin typeface="Times New Roman"/>
                <a:cs typeface="Times New Roman"/>
              </a:rPr>
              <a:t>1</a:t>
            </a:r>
            <a:r>
              <a:rPr sz="1800" spc="254" dirty="0">
                <a:latin typeface="Times New Roman"/>
                <a:cs typeface="Times New Roman"/>
              </a:rPr>
              <a:t>‖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ue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h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dd</a:t>
            </a:r>
            <a:r>
              <a:rPr sz="1800" spc="-20" dirty="0">
                <a:latin typeface="Times New Roman"/>
                <a:cs typeface="Times New Roman"/>
              </a:rPr>
              <a:t>iti</a:t>
            </a:r>
            <a:r>
              <a:rPr sz="1800" spc="-15" dirty="0">
                <a:latin typeface="Times New Roman"/>
                <a:cs typeface="Times New Roman"/>
              </a:rPr>
              <a:t>on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c</a:t>
            </a:r>
            <a:r>
              <a:rPr sz="1800" spc="-15" dirty="0">
                <a:latin typeface="Times New Roman"/>
                <a:cs typeface="Times New Roman"/>
              </a:rPr>
              <a:t>k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d  </a:t>
            </a:r>
            <a:r>
              <a:rPr sz="1800" spc="-15" dirty="0">
                <a:latin typeface="Times New Roman"/>
                <a:cs typeface="Times New Roman"/>
              </a:rPr>
              <a:t>input,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JK </a:t>
            </a:r>
            <a:r>
              <a:rPr sz="1800" spc="-25" dirty="0">
                <a:latin typeface="Times New Roman"/>
                <a:cs typeface="Times New Roman"/>
              </a:rPr>
              <a:t>flip-flop </a:t>
            </a:r>
            <a:r>
              <a:rPr sz="1800" spc="-20" dirty="0">
                <a:latin typeface="Times New Roman"/>
                <a:cs typeface="Times New Roman"/>
              </a:rPr>
              <a:t>has </a:t>
            </a:r>
            <a:r>
              <a:rPr sz="1800" spc="-5" dirty="0">
                <a:latin typeface="Times New Roman"/>
                <a:cs typeface="Times New Roman"/>
              </a:rPr>
              <a:t>four </a:t>
            </a:r>
            <a:r>
              <a:rPr sz="1800" spc="-20" dirty="0">
                <a:latin typeface="Times New Roman"/>
                <a:cs typeface="Times New Roman"/>
              </a:rPr>
              <a:t>possible </a:t>
            </a:r>
            <a:r>
              <a:rPr sz="1800" spc="-15" dirty="0">
                <a:latin typeface="Times New Roman"/>
                <a:cs typeface="Times New Roman"/>
              </a:rPr>
              <a:t>input </a:t>
            </a:r>
            <a:r>
              <a:rPr sz="1800" spc="-25" dirty="0">
                <a:latin typeface="Times New Roman"/>
                <a:cs typeface="Times New Roman"/>
              </a:rPr>
              <a:t>combinations, </a:t>
            </a:r>
            <a:r>
              <a:rPr sz="1800" spc="-190" dirty="0">
                <a:latin typeface="Times New Roman"/>
                <a:cs typeface="Times New Roman"/>
              </a:rPr>
              <a:t>―logic </a:t>
            </a:r>
            <a:r>
              <a:rPr sz="1800" spc="95" dirty="0">
                <a:latin typeface="Times New Roman"/>
                <a:cs typeface="Times New Roman"/>
              </a:rPr>
              <a:t>1‖, </a:t>
            </a:r>
            <a:r>
              <a:rPr sz="1800" spc="-190" dirty="0">
                <a:latin typeface="Times New Roman"/>
                <a:cs typeface="Times New Roman"/>
              </a:rPr>
              <a:t>―logic </a:t>
            </a:r>
            <a:r>
              <a:rPr sz="1800" spc="95" dirty="0">
                <a:latin typeface="Times New Roman"/>
                <a:cs typeface="Times New Roman"/>
              </a:rPr>
              <a:t>0‖, </a:t>
            </a:r>
            <a:r>
              <a:rPr sz="1800" spc="-355" dirty="0">
                <a:latin typeface="Times New Roman"/>
                <a:cs typeface="Times New Roman"/>
              </a:rPr>
              <a:t>―no </a:t>
            </a:r>
            <a:r>
              <a:rPr sz="1800" spc="-3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change‖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85" dirty="0">
                <a:latin typeface="Times New Roman"/>
                <a:cs typeface="Times New Roman"/>
              </a:rPr>
              <a:t>―toggle‖.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30" dirty="0">
                <a:latin typeface="Times New Roman"/>
                <a:cs typeface="Times New Roman"/>
              </a:rPr>
              <a:t>symbol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JK </a:t>
            </a:r>
            <a:r>
              <a:rPr sz="1800" spc="-45" dirty="0">
                <a:latin typeface="Times New Roman"/>
                <a:cs typeface="Times New Roman"/>
              </a:rPr>
              <a:t>flip </a:t>
            </a:r>
            <a:r>
              <a:rPr sz="1800" spc="-25" dirty="0">
                <a:latin typeface="Times New Roman"/>
                <a:cs typeface="Times New Roman"/>
              </a:rPr>
              <a:t>flop </a:t>
            </a:r>
            <a:r>
              <a:rPr sz="1800" spc="-15" dirty="0">
                <a:latin typeface="Times New Roman"/>
                <a:cs typeface="Times New Roman"/>
              </a:rPr>
              <a:t>is </a:t>
            </a:r>
            <a:r>
              <a:rPr sz="1800" spc="-30" dirty="0">
                <a:latin typeface="Times New Roman"/>
                <a:cs typeface="Times New Roman"/>
              </a:rPr>
              <a:t>similar </a:t>
            </a:r>
            <a:r>
              <a:rPr sz="1800" spc="10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an </a:t>
            </a:r>
            <a:r>
              <a:rPr sz="1800" i="1" spc="5" dirty="0">
                <a:latin typeface="Times New Roman"/>
                <a:cs typeface="Times New Roman"/>
              </a:rPr>
              <a:t>SR 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Bistable Latch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spc="-10" dirty="0">
                <a:latin typeface="Times New Roman"/>
                <a:cs typeface="Times New Roman"/>
              </a:rPr>
              <a:t>seen </a:t>
            </a:r>
            <a:r>
              <a:rPr sz="1800" spc="-1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the previous tutorial </a:t>
            </a:r>
            <a:r>
              <a:rPr sz="1800" spc="-10" dirty="0">
                <a:latin typeface="Times New Roman"/>
                <a:cs typeface="Times New Roman"/>
              </a:rPr>
              <a:t>except for </a:t>
            </a:r>
            <a:r>
              <a:rPr sz="1800" dirty="0">
                <a:latin typeface="Times New Roman"/>
                <a:cs typeface="Times New Roman"/>
              </a:rPr>
              <a:t>the addition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clock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input.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9901" y="4013"/>
            <a:ext cx="5105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FLIPFLOPS:JK</a:t>
            </a:r>
            <a:r>
              <a:rPr sz="3600" spc="125" dirty="0"/>
              <a:t> </a:t>
            </a:r>
            <a:r>
              <a:rPr sz="3600" spc="-30" dirty="0"/>
              <a:t>FLIPFLOP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475" y="3963923"/>
            <a:ext cx="5765291" cy="2286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340" y="1079188"/>
            <a:ext cx="8259445" cy="29559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04"/>
              </a:spcBef>
              <a:buClr>
                <a:srgbClr val="FF0000"/>
              </a:buClr>
              <a:buSzPct val="93548"/>
              <a:buFont typeface="Wingdings"/>
              <a:buChar char=""/>
              <a:tabLst>
                <a:tab pos="195580" algn="l"/>
              </a:tabLst>
            </a:pPr>
            <a:r>
              <a:rPr sz="1550" spc="-5" dirty="0">
                <a:latin typeface="Times New Roman"/>
                <a:cs typeface="Times New Roman"/>
              </a:rPr>
              <a:t>Both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R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inputs</a:t>
            </a:r>
            <a:r>
              <a:rPr sz="1550" spc="-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previous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SR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bistable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have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now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been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replaced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by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5" dirty="0">
                <a:latin typeface="Times New Roman"/>
                <a:cs typeface="Times New Roman"/>
              </a:rPr>
              <a:t>called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K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inputs,</a:t>
            </a:r>
            <a:r>
              <a:rPr sz="1550" spc="-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respectively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after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its</a:t>
            </a:r>
            <a:r>
              <a:rPr sz="1550" spc="-5" dirty="0">
                <a:latin typeface="Times New Roman"/>
                <a:cs typeface="Times New Roman"/>
              </a:rPr>
              <a:t> inventor</a:t>
            </a:r>
            <a:r>
              <a:rPr sz="1550" spc="-13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Jack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Kilby.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Then</a:t>
            </a:r>
            <a:r>
              <a:rPr sz="1550" spc="-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thisequates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1855"/>
              </a:lnSpc>
              <a:spcBef>
                <a:spcPts val="105"/>
              </a:spcBef>
            </a:pPr>
            <a:r>
              <a:rPr sz="1550" spc="-5" dirty="0">
                <a:latin typeface="Times New Roman"/>
                <a:cs typeface="Times New Roman"/>
              </a:rPr>
              <a:t>to:</a:t>
            </a:r>
            <a:r>
              <a:rPr sz="1550" spc="-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</a:t>
            </a:r>
            <a:r>
              <a:rPr sz="1550" spc="5" dirty="0">
                <a:latin typeface="Times New Roman"/>
                <a:cs typeface="Times New Roman"/>
              </a:rPr>
              <a:t> =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K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=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R.</a:t>
            </a:r>
            <a:endParaRPr sz="1550">
              <a:latin typeface="Times New Roman"/>
              <a:cs typeface="Times New Roman"/>
            </a:endParaRPr>
          </a:p>
          <a:p>
            <a:pPr marL="195580" indent="-182880">
              <a:lnSpc>
                <a:spcPts val="1855"/>
              </a:lnSpc>
              <a:buClr>
                <a:srgbClr val="FF0000"/>
              </a:buClr>
              <a:buSzPct val="93548"/>
              <a:buFont typeface="Wingdings"/>
              <a:buChar char=""/>
              <a:tabLst>
                <a:tab pos="195580" algn="l"/>
              </a:tabLst>
            </a:pP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2-input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AND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gates</a:t>
            </a:r>
            <a:r>
              <a:rPr sz="1550" spc="-5" dirty="0">
                <a:latin typeface="Times New Roman"/>
                <a:cs typeface="Times New Roman"/>
              </a:rPr>
              <a:t> of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gated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SR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bistable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have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now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been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replaced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by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3-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spc="-15" dirty="0">
                <a:latin typeface="Times New Roman"/>
                <a:cs typeface="Times New Roman"/>
              </a:rPr>
              <a:t>input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NAND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gates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third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each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gate </a:t>
            </a:r>
            <a:r>
              <a:rPr sz="1550" spc="5" dirty="0">
                <a:latin typeface="Times New Roman"/>
                <a:cs typeface="Times New Roman"/>
              </a:rPr>
              <a:t>connected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outputs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Q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Q.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This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cross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coupling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SR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flip-flop</a:t>
            </a:r>
            <a:r>
              <a:rPr sz="1550" spc="254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allows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previously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invalid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condition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=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85" dirty="0">
                <a:latin typeface="Times New Roman"/>
                <a:cs typeface="Times New Roman"/>
              </a:rPr>
              <a:t>―1‖</a:t>
            </a:r>
            <a:r>
              <a:rPr sz="1550" spc="5" dirty="0">
                <a:latin typeface="Times New Roman"/>
                <a:cs typeface="Times New Roman"/>
              </a:rPr>
              <a:t> and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R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=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185" dirty="0">
                <a:latin typeface="Times New Roman"/>
                <a:cs typeface="Times New Roman"/>
              </a:rPr>
              <a:t>―1‖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state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be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50" dirty="0">
                <a:latin typeface="Times New Roman"/>
                <a:cs typeface="Times New Roman"/>
              </a:rPr>
              <a:t>used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produce</a:t>
            </a:r>
            <a:r>
              <a:rPr sz="1550" spc="-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130" dirty="0">
                <a:latin typeface="Times New Roman"/>
                <a:cs typeface="Times New Roman"/>
              </a:rPr>
              <a:t>―toggle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Times New Roman"/>
                <a:cs typeface="Times New Roman"/>
              </a:rPr>
              <a:t>action‖</a:t>
            </a:r>
            <a:r>
              <a:rPr sz="1550" spc="-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as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two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inputs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now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interlocked.</a:t>
            </a:r>
            <a:endParaRPr sz="1550">
              <a:latin typeface="Times New Roman"/>
              <a:cs typeface="Times New Roman"/>
            </a:endParaRPr>
          </a:p>
          <a:p>
            <a:pPr marL="195580" indent="-182880">
              <a:lnSpc>
                <a:spcPts val="1830"/>
              </a:lnSpc>
              <a:spcBef>
                <a:spcPts val="110"/>
              </a:spcBef>
              <a:buClr>
                <a:srgbClr val="FF0000"/>
              </a:buClr>
              <a:buSzPct val="93548"/>
              <a:buFont typeface="Wingdings"/>
              <a:buChar char=""/>
              <a:tabLst>
                <a:tab pos="195580" algn="l"/>
              </a:tabLst>
            </a:pPr>
            <a:r>
              <a:rPr sz="1550" spc="-20" dirty="0">
                <a:latin typeface="Times New Roman"/>
                <a:cs typeface="Times New Roman"/>
              </a:rPr>
              <a:t>If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circuit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now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100" dirty="0">
                <a:latin typeface="Times New Roman"/>
                <a:cs typeface="Times New Roman"/>
              </a:rPr>
              <a:t>―SET‖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input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inhibited</a:t>
            </a:r>
            <a:r>
              <a:rPr sz="1550" spc="-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by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-185" dirty="0">
                <a:latin typeface="Times New Roman"/>
                <a:cs typeface="Times New Roman"/>
              </a:rPr>
              <a:t>―0‖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status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Q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</a:t>
            </a:r>
            <a:r>
              <a:rPr sz="1550" spc="-1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1830"/>
              </a:lnSpc>
            </a:pPr>
            <a:r>
              <a:rPr sz="1550" spc="-5" dirty="0">
                <a:latin typeface="Times New Roman"/>
                <a:cs typeface="Times New Roman"/>
              </a:rPr>
              <a:t>lower</a:t>
            </a:r>
            <a:r>
              <a:rPr sz="1550" spc="-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NAND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gate.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If</a:t>
            </a:r>
            <a:r>
              <a:rPr sz="1550" spc="5" dirty="0">
                <a:latin typeface="Times New Roman"/>
                <a:cs typeface="Times New Roman"/>
              </a:rPr>
              <a:t> the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circuit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65" dirty="0">
                <a:latin typeface="Times New Roman"/>
                <a:cs typeface="Times New Roman"/>
              </a:rPr>
              <a:t>―RESET‖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K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inhibited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by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-185" dirty="0">
                <a:latin typeface="Times New Roman"/>
                <a:cs typeface="Times New Roman"/>
              </a:rPr>
              <a:t>―0‖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status</a:t>
            </a:r>
            <a:r>
              <a:rPr sz="1550" spc="-5" dirty="0">
                <a:latin typeface="Times New Roman"/>
                <a:cs typeface="Times New Roman"/>
              </a:rPr>
              <a:t> of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Q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</a:t>
            </a:r>
            <a:endParaRPr sz="1550">
              <a:latin typeface="Times New Roman"/>
              <a:cs typeface="Times New Roman"/>
            </a:endParaRPr>
          </a:p>
          <a:p>
            <a:pPr marL="12700" marR="395605">
              <a:lnSpc>
                <a:spcPts val="1920"/>
              </a:lnSpc>
              <a:spcBef>
                <a:spcPts val="50"/>
              </a:spcBef>
            </a:pP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upper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NAND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gate.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As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Q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Q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always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different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we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can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them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control</a:t>
            </a:r>
            <a:r>
              <a:rPr sz="1550" spc="-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input.</a:t>
            </a:r>
            <a:r>
              <a:rPr sz="1550" spc="-1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When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both </a:t>
            </a:r>
            <a:r>
              <a:rPr sz="1550" dirty="0">
                <a:latin typeface="Times New Roman"/>
                <a:cs typeface="Times New Roman"/>
              </a:rPr>
              <a:t>inputs J </a:t>
            </a:r>
            <a:r>
              <a:rPr sz="1550" spc="5" dirty="0">
                <a:latin typeface="Times New Roman"/>
                <a:cs typeface="Times New Roman"/>
              </a:rPr>
              <a:t>and K </a:t>
            </a:r>
            <a:r>
              <a:rPr sz="1550" spc="20" dirty="0">
                <a:latin typeface="Times New Roman"/>
                <a:cs typeface="Times New Roman"/>
              </a:rPr>
              <a:t>are </a:t>
            </a:r>
            <a:r>
              <a:rPr sz="1550" dirty="0">
                <a:latin typeface="Times New Roman"/>
                <a:cs typeface="Times New Roman"/>
              </a:rPr>
              <a:t>equal to </a:t>
            </a:r>
            <a:r>
              <a:rPr sz="1550" spc="-10" dirty="0">
                <a:latin typeface="Times New Roman"/>
                <a:cs typeface="Times New Roman"/>
              </a:rPr>
              <a:t>logic </a:t>
            </a:r>
            <a:r>
              <a:rPr sz="1550" spc="-130" dirty="0">
                <a:latin typeface="Times New Roman"/>
                <a:cs typeface="Times New Roman"/>
              </a:rPr>
              <a:t>―1‖,</a:t>
            </a:r>
            <a:r>
              <a:rPr sz="1550" spc="-1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 </a:t>
            </a:r>
            <a:r>
              <a:rPr sz="1550" spc="10" dirty="0">
                <a:latin typeface="Times New Roman"/>
                <a:cs typeface="Times New Roman"/>
              </a:rPr>
              <a:t>JK </a:t>
            </a:r>
            <a:r>
              <a:rPr sz="1550" spc="-10" dirty="0">
                <a:latin typeface="Times New Roman"/>
                <a:cs typeface="Times New Roman"/>
              </a:rPr>
              <a:t>flip </a:t>
            </a:r>
            <a:r>
              <a:rPr sz="1550" spc="-15" dirty="0">
                <a:latin typeface="Times New Roman"/>
                <a:cs typeface="Times New Roman"/>
              </a:rPr>
              <a:t>flop </a:t>
            </a:r>
            <a:r>
              <a:rPr sz="1550" spc="-10" dirty="0">
                <a:latin typeface="Times New Roman"/>
                <a:cs typeface="Times New Roman"/>
              </a:rPr>
              <a:t>toggles </a:t>
            </a:r>
            <a:r>
              <a:rPr sz="1550" spc="15" dirty="0">
                <a:latin typeface="Times New Roman"/>
                <a:cs typeface="Times New Roman"/>
              </a:rPr>
              <a:t>as </a:t>
            </a:r>
            <a:r>
              <a:rPr sz="1550" dirty="0">
                <a:latin typeface="Times New Roman"/>
                <a:cs typeface="Times New Roman"/>
              </a:rPr>
              <a:t>shown in </a:t>
            </a:r>
            <a:r>
              <a:rPr sz="1550" spc="5" dirty="0">
                <a:latin typeface="Times New Roman"/>
                <a:cs typeface="Times New Roman"/>
              </a:rPr>
              <a:t>the </a:t>
            </a:r>
            <a:r>
              <a:rPr sz="1550" spc="-10" dirty="0">
                <a:latin typeface="Times New Roman"/>
                <a:cs typeface="Times New Roman"/>
              </a:rPr>
              <a:t>following </a:t>
            </a:r>
            <a:r>
              <a:rPr sz="1550" spc="5" dirty="0">
                <a:latin typeface="Times New Roman"/>
                <a:cs typeface="Times New Roman"/>
              </a:rPr>
              <a:t>truth 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table.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9901" y="4013"/>
            <a:ext cx="5105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FLIPFLOPS:JK</a:t>
            </a:r>
            <a:r>
              <a:rPr sz="3600" spc="125" dirty="0"/>
              <a:t> </a:t>
            </a:r>
            <a:r>
              <a:rPr sz="3600" spc="-30" dirty="0"/>
              <a:t>FLIPFLOP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59740" y="820623"/>
            <a:ext cx="5439410" cy="4157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833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9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2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8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1102995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J</a:t>
            </a:r>
            <a:r>
              <a:rPr sz="1800" spc="-5" dirty="0">
                <a:latin typeface="Times New Roman"/>
                <a:cs typeface="Times New Roman"/>
              </a:rPr>
              <a:t>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f</a:t>
            </a:r>
            <a:r>
              <a:rPr sz="1800" spc="-20" dirty="0">
                <a:latin typeface="Times New Roman"/>
                <a:cs typeface="Times New Roman"/>
              </a:rPr>
              <a:t>li</a:t>
            </a:r>
            <a:r>
              <a:rPr sz="1800" spc="-15" dirty="0">
                <a:latin typeface="Times New Roman"/>
                <a:cs typeface="Times New Roman"/>
              </a:rPr>
              <a:t>p</a:t>
            </a:r>
            <a:r>
              <a:rPr sz="1800" spc="-25" dirty="0">
                <a:latin typeface="Times New Roman"/>
                <a:cs typeface="Times New Roman"/>
              </a:rPr>
              <a:t>-</a:t>
            </a:r>
            <a:r>
              <a:rPr sz="1800" spc="-50" dirty="0">
                <a:latin typeface="Times New Roman"/>
                <a:cs typeface="Times New Roman"/>
              </a:rPr>
              <a:t>f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</a:t>
            </a:r>
            <a:r>
              <a:rPr sz="1800" spc="-35" dirty="0">
                <a:latin typeface="Times New Roman"/>
                <a:cs typeface="Times New Roman"/>
              </a:rPr>
              <a:t>as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35" dirty="0">
                <a:latin typeface="Times New Roman"/>
                <a:cs typeface="Times New Roman"/>
              </a:rPr>
              <a:t>ca</a:t>
            </a:r>
            <a:r>
              <a:rPr sz="1800" spc="-20" dirty="0">
                <a:latin typeface="Times New Roman"/>
                <a:cs typeface="Times New Roman"/>
              </a:rPr>
              <a:t>ll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10" dirty="0">
                <a:latin typeface="Times New Roman"/>
                <a:cs typeface="Times New Roman"/>
              </a:rPr>
              <a:t> 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f</a:t>
            </a:r>
            <a:r>
              <a:rPr sz="1800" spc="-45" dirty="0">
                <a:latin typeface="Times New Roman"/>
                <a:cs typeface="Times New Roman"/>
              </a:rPr>
              <a:t>li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f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p  </a:t>
            </a:r>
            <a:r>
              <a:rPr sz="1800" spc="-60" dirty="0">
                <a:latin typeface="Times New Roman"/>
                <a:cs typeface="Times New Roman"/>
              </a:rPr>
              <a:t>w</a:t>
            </a:r>
            <a:r>
              <a:rPr sz="1800" spc="-20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f</a:t>
            </a:r>
            <a:r>
              <a:rPr sz="1800" spc="-35" dirty="0">
                <a:latin typeface="Times New Roman"/>
                <a:cs typeface="Times New Roman"/>
              </a:rPr>
              <a:t>ee</a:t>
            </a:r>
            <a:r>
              <a:rPr sz="1800" spc="-15" dirty="0">
                <a:latin typeface="Times New Roman"/>
                <a:cs typeface="Times New Roman"/>
              </a:rPr>
              <a:t>db</a:t>
            </a:r>
            <a:r>
              <a:rPr sz="1800" spc="-35" dirty="0">
                <a:latin typeface="Times New Roman"/>
                <a:cs typeface="Times New Roman"/>
              </a:rPr>
              <a:t>ac</a:t>
            </a:r>
            <a:r>
              <a:rPr sz="1800" dirty="0">
                <a:latin typeface="Times New Roman"/>
                <a:cs typeface="Times New Roman"/>
              </a:rPr>
              <a:t>k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w</a:t>
            </a:r>
            <a:r>
              <a:rPr sz="1800" spc="-15" dirty="0">
                <a:latin typeface="Times New Roman"/>
                <a:cs typeface="Times New Roman"/>
              </a:rPr>
              <a:t>h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3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spc="-15" dirty="0">
                <a:latin typeface="Times New Roman"/>
                <a:cs typeface="Times New Roman"/>
              </a:rPr>
              <a:t>n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b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on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on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spc="-30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o  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npu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spc="-25" dirty="0">
                <a:latin typeface="Times New Roman"/>
                <a:cs typeface="Times New Roman"/>
              </a:rPr>
              <a:t>r</a:t>
            </a:r>
            <a:r>
              <a:rPr sz="1800" spc="-60" dirty="0">
                <a:latin typeface="Times New Roman"/>
                <a:cs typeface="Times New Roman"/>
              </a:rPr>
              <a:t>m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n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3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35" dirty="0">
                <a:latin typeface="Times New Roman"/>
                <a:cs typeface="Times New Roman"/>
              </a:rPr>
              <a:t> e</a:t>
            </a:r>
            <a:r>
              <a:rPr sz="1800" spc="-20" dirty="0">
                <a:latin typeface="Times New Roman"/>
                <a:cs typeface="Times New Roman"/>
              </a:rPr>
              <a:t>it</a:t>
            </a:r>
            <a:r>
              <a:rPr sz="1800" spc="-15" dirty="0">
                <a:latin typeface="Times New Roman"/>
                <a:cs typeface="Times New Roman"/>
              </a:rPr>
              <a:t>h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</a:t>
            </a:r>
            <a:r>
              <a:rPr sz="1800" spc="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e  </a:t>
            </a:r>
            <a:r>
              <a:rPr sz="1800" spc="-25" dirty="0">
                <a:latin typeface="Times New Roman"/>
                <a:cs typeface="Times New Roman"/>
              </a:rPr>
              <a:t>active </a:t>
            </a:r>
            <a:r>
              <a:rPr sz="1800" spc="-5" dirty="0">
                <a:latin typeface="Times New Roman"/>
                <a:cs typeface="Times New Roman"/>
              </a:rPr>
              <a:t>at </a:t>
            </a:r>
            <a:r>
              <a:rPr sz="1800" spc="-20" dirty="0">
                <a:latin typeface="Times New Roman"/>
                <a:cs typeface="Times New Roman"/>
              </a:rPr>
              <a:t>any </a:t>
            </a:r>
            <a:r>
              <a:rPr sz="1800" spc="5" dirty="0">
                <a:latin typeface="Times New Roman"/>
                <a:cs typeface="Times New Roman"/>
              </a:rPr>
              <a:t>one </a:t>
            </a:r>
            <a:r>
              <a:rPr sz="1800" spc="-25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thereby </a:t>
            </a:r>
            <a:r>
              <a:rPr sz="1800" spc="-25" dirty="0">
                <a:latin typeface="Times New Roman"/>
                <a:cs typeface="Times New Roman"/>
              </a:rPr>
              <a:t>eliminating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invalid </a:t>
            </a:r>
            <a:r>
              <a:rPr sz="1800" spc="-20" dirty="0">
                <a:latin typeface="Times New Roman"/>
                <a:cs typeface="Times New Roman"/>
              </a:rPr>
              <a:t>condition </a:t>
            </a:r>
            <a:r>
              <a:rPr sz="1800" spc="-10" dirty="0">
                <a:latin typeface="Times New Roman"/>
                <a:cs typeface="Times New Roman"/>
              </a:rPr>
              <a:t>seen </a:t>
            </a:r>
            <a:r>
              <a:rPr sz="1800" spc="-25" dirty="0">
                <a:latin typeface="Times New Roman"/>
                <a:cs typeface="Times New Roman"/>
              </a:rPr>
              <a:t>previously </a:t>
            </a:r>
            <a:r>
              <a:rPr sz="1800" spc="-1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the SR </a:t>
            </a:r>
            <a:r>
              <a:rPr sz="1800" spc="-45" dirty="0">
                <a:latin typeface="Times New Roman"/>
                <a:cs typeface="Times New Roman"/>
              </a:rPr>
              <a:t>flip 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f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c</a:t>
            </a:r>
            <a:r>
              <a:rPr sz="1800" spc="-15" dirty="0">
                <a:latin typeface="Times New Roman"/>
                <a:cs typeface="Times New Roman"/>
              </a:rPr>
              <a:t>u</a:t>
            </a:r>
            <a:r>
              <a:rPr sz="1800" spc="-20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60" dirty="0">
                <a:latin typeface="Times New Roman"/>
                <a:cs typeface="Times New Roman"/>
              </a:rPr>
              <a:t> A</a:t>
            </a:r>
            <a:r>
              <a:rPr sz="1800" spc="-20" dirty="0">
                <a:latin typeface="Times New Roman"/>
                <a:cs typeface="Times New Roman"/>
              </a:rPr>
              <a:t>l</a:t>
            </a:r>
            <a:r>
              <a:rPr sz="1800" spc="-3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w</a:t>
            </a:r>
            <a:r>
              <a:rPr sz="1800" spc="-15" dirty="0">
                <a:latin typeface="Times New Roman"/>
                <a:cs typeface="Times New Roman"/>
              </a:rPr>
              <a:t>h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bo</a:t>
            </a:r>
            <a:r>
              <a:rPr sz="1800" dirty="0">
                <a:latin typeface="Times New Roman"/>
                <a:cs typeface="Times New Roman"/>
              </a:rPr>
              <a:t>th 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  <a:p>
            <a:pPr marL="12700" marR="96266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npu</a:t>
            </a:r>
            <a:r>
              <a:rPr sz="1800" spc="-2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re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spc="-40" dirty="0">
                <a:latin typeface="Times New Roman"/>
                <a:cs typeface="Times New Roman"/>
              </a:rPr>
              <a:t>g</a:t>
            </a:r>
            <a:r>
              <a:rPr sz="1800" spc="-2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spc="-40" dirty="0">
                <a:latin typeface="Times New Roman"/>
                <a:cs typeface="Times New Roman"/>
              </a:rPr>
              <a:t>v</a:t>
            </a:r>
            <a:r>
              <a:rPr sz="1800" spc="-3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35" dirty="0">
                <a:latin typeface="Times New Roman"/>
                <a:cs typeface="Times New Roman"/>
              </a:rPr>
              <a:t>―</a:t>
            </a:r>
            <a:r>
              <a:rPr sz="1800" spc="-15" dirty="0">
                <a:latin typeface="Times New Roman"/>
                <a:cs typeface="Times New Roman"/>
              </a:rPr>
              <a:t>1</a:t>
            </a:r>
            <a:r>
              <a:rPr sz="1800" spc="290" dirty="0">
                <a:latin typeface="Times New Roman"/>
                <a:cs typeface="Times New Roman"/>
              </a:rPr>
              <a:t>‖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spc="-6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e  </a:t>
            </a:r>
            <a:r>
              <a:rPr sz="1800" spc="-30" dirty="0">
                <a:latin typeface="Times New Roman"/>
                <a:cs typeface="Times New Roman"/>
              </a:rPr>
              <a:t>time,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25" dirty="0">
                <a:latin typeface="Times New Roman"/>
                <a:cs typeface="Times New Roman"/>
              </a:rPr>
              <a:t>clock </a:t>
            </a:r>
            <a:r>
              <a:rPr sz="1800" spc="-15" dirty="0">
                <a:latin typeface="Times New Roman"/>
                <a:cs typeface="Times New Roman"/>
              </a:rPr>
              <a:t>input is </a:t>
            </a:r>
            <a:r>
              <a:rPr sz="1800" spc="-20" dirty="0">
                <a:latin typeface="Times New Roman"/>
                <a:cs typeface="Times New Roman"/>
              </a:rPr>
              <a:t>pulsed </a:t>
            </a:r>
            <a:r>
              <a:rPr sz="1800" spc="-114" dirty="0">
                <a:latin typeface="Times New Roman"/>
                <a:cs typeface="Times New Roman"/>
              </a:rPr>
              <a:t>―HIGH‖,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c</a:t>
            </a:r>
            <a:r>
              <a:rPr sz="1800" spc="-15" dirty="0">
                <a:latin typeface="Times New Roman"/>
                <a:cs typeface="Times New Roman"/>
              </a:rPr>
              <a:t>u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w</a:t>
            </a:r>
            <a:r>
              <a:rPr sz="1800" spc="-20" dirty="0">
                <a:latin typeface="Times New Roman"/>
                <a:cs typeface="Times New Roman"/>
              </a:rPr>
              <a:t>il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15" dirty="0">
                <a:latin typeface="Times New Roman"/>
                <a:cs typeface="Times New Roman"/>
              </a:rPr>
              <a:t>―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spc="-15" dirty="0">
                <a:latin typeface="Times New Roman"/>
                <a:cs typeface="Times New Roman"/>
              </a:rPr>
              <a:t>gg</a:t>
            </a:r>
            <a:r>
              <a:rPr sz="1800" spc="95" dirty="0">
                <a:latin typeface="Times New Roman"/>
                <a:cs typeface="Times New Roman"/>
              </a:rPr>
              <a:t>le‖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m </a:t>
            </a:r>
            <a:r>
              <a:rPr sz="1800" spc="-2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</a:t>
            </a:r>
            <a:r>
              <a:rPr sz="1800" spc="-1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 RESET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visa-versa.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results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JK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flip </a:t>
            </a:r>
            <a:r>
              <a:rPr sz="1800" spc="-25" dirty="0">
                <a:latin typeface="Times New Roman"/>
                <a:cs typeface="Times New Roman"/>
              </a:rPr>
              <a:t>flop acting </a:t>
            </a:r>
            <a:r>
              <a:rPr sz="1800" spc="-10" dirty="0">
                <a:latin typeface="Times New Roman"/>
                <a:cs typeface="Times New Roman"/>
              </a:rPr>
              <a:t>more </a:t>
            </a:r>
            <a:r>
              <a:rPr sz="1800" spc="-20" dirty="0">
                <a:latin typeface="Times New Roman"/>
                <a:cs typeface="Times New Roman"/>
              </a:rPr>
              <a:t>like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60" dirty="0">
                <a:latin typeface="Times New Roman"/>
                <a:cs typeface="Times New Roman"/>
              </a:rPr>
              <a:t>T-type </a:t>
            </a:r>
            <a:r>
              <a:rPr sz="1800" spc="-5" dirty="0">
                <a:latin typeface="Times New Roman"/>
                <a:cs typeface="Times New Roman"/>
              </a:rPr>
              <a:t>toggle </a:t>
            </a:r>
            <a:r>
              <a:rPr sz="1800" spc="-25" dirty="0">
                <a:latin typeface="Times New Roman"/>
                <a:cs typeface="Times New Roman"/>
              </a:rPr>
              <a:t>flip-flop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when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 </a:t>
            </a:r>
            <a:r>
              <a:rPr sz="1800" spc="-30" dirty="0">
                <a:latin typeface="Times New Roman"/>
                <a:cs typeface="Times New Roman"/>
              </a:rPr>
              <a:t>terminals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are―HIGH‖.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1522475"/>
            <a:ext cx="3579876" cy="42702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2677" y="2870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F</a:t>
            </a:r>
            <a:r>
              <a:rPr sz="3600" dirty="0"/>
              <a:t>LIP</a:t>
            </a:r>
            <a:r>
              <a:rPr sz="3600" spc="-15" dirty="0"/>
              <a:t>F</a:t>
            </a:r>
            <a:r>
              <a:rPr sz="3600" dirty="0"/>
              <a:t>LO</a:t>
            </a:r>
            <a:r>
              <a:rPr sz="3600" spc="-15" dirty="0"/>
              <a:t>PS</a:t>
            </a:r>
            <a:r>
              <a:rPr sz="3600" dirty="0"/>
              <a:t>:T</a:t>
            </a:r>
            <a:r>
              <a:rPr sz="3600" spc="-160" dirty="0"/>
              <a:t> </a:t>
            </a:r>
            <a:r>
              <a:rPr sz="3600" spc="-15" dirty="0"/>
              <a:t>F</a:t>
            </a:r>
            <a:r>
              <a:rPr sz="3600" dirty="0"/>
              <a:t>LIP</a:t>
            </a:r>
            <a:r>
              <a:rPr sz="3600" spc="-15" dirty="0"/>
              <a:t>F</a:t>
            </a:r>
            <a:r>
              <a:rPr sz="3600" dirty="0"/>
              <a:t>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8130" y="1001394"/>
            <a:ext cx="9006205" cy="1553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8575" algn="ctr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2800" spc="-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FL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0"/>
              </a:spcBef>
            </a:pPr>
            <a:r>
              <a:rPr sz="1800" spc="-120" dirty="0">
                <a:latin typeface="Times New Roman"/>
                <a:cs typeface="Times New Roman"/>
              </a:rPr>
              <a:t>We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can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construct </a:t>
            </a:r>
            <a:r>
              <a:rPr sz="1800" dirty="0">
                <a:latin typeface="Times New Roman"/>
                <a:cs typeface="Times New Roman"/>
              </a:rPr>
              <a:t>a T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flop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dirty="0">
                <a:latin typeface="Times New Roman"/>
                <a:cs typeface="Times New Roman"/>
              </a:rPr>
              <a:t>any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spc="5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following </a:t>
            </a:r>
            <a:r>
              <a:rPr sz="1800" spc="-10" dirty="0">
                <a:latin typeface="Times New Roman"/>
                <a:cs typeface="Times New Roman"/>
              </a:rPr>
              <a:t>methods. </a:t>
            </a:r>
            <a:r>
              <a:rPr sz="1800" spc="-5" dirty="0">
                <a:latin typeface="Times New Roman"/>
                <a:cs typeface="Times New Roman"/>
              </a:rPr>
              <a:t>Connecting the output feedback </a:t>
            </a:r>
            <a:r>
              <a:rPr sz="1800" dirty="0">
                <a:latin typeface="Times New Roman"/>
                <a:cs typeface="Times New Roman"/>
              </a:rPr>
              <a:t> 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input,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flop.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Connecting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XOR of </a:t>
            </a:r>
            <a:r>
              <a:rPr sz="1800" dirty="0">
                <a:latin typeface="Times New Roman"/>
                <a:cs typeface="Times New Roman"/>
              </a:rPr>
              <a:t>T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15" dirty="0">
                <a:latin typeface="Times New Roman"/>
                <a:cs typeface="Times New Roman"/>
              </a:rPr>
              <a:t>and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 PREVIOUS </a:t>
            </a:r>
            <a:r>
              <a:rPr sz="1800" dirty="0">
                <a:latin typeface="Times New Roman"/>
                <a:cs typeface="Times New Roman"/>
              </a:rPr>
              <a:t>output </a:t>
            </a:r>
            <a:r>
              <a:rPr sz="1800" spc="-1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flip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flop.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Hard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wiring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the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together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connecting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input,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JK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2667000"/>
            <a:ext cx="6934200" cy="3831590"/>
            <a:chOff x="457200" y="2667000"/>
            <a:chExt cx="6934200" cy="38315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667000"/>
              <a:ext cx="3581400" cy="19171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0" y="2743200"/>
              <a:ext cx="3276600" cy="17038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2200" y="4419600"/>
              <a:ext cx="3581400" cy="207873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5077" y="2870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F</a:t>
            </a:r>
            <a:r>
              <a:rPr sz="3600" dirty="0"/>
              <a:t>LIP</a:t>
            </a:r>
            <a:r>
              <a:rPr sz="3600" spc="-15" dirty="0"/>
              <a:t>F</a:t>
            </a:r>
            <a:r>
              <a:rPr sz="3600" dirty="0"/>
              <a:t>LO</a:t>
            </a:r>
            <a:r>
              <a:rPr sz="3600" spc="-15" dirty="0"/>
              <a:t>PS</a:t>
            </a:r>
            <a:r>
              <a:rPr sz="3600" dirty="0"/>
              <a:t>:T</a:t>
            </a:r>
            <a:r>
              <a:rPr sz="3600" spc="-160" dirty="0"/>
              <a:t> </a:t>
            </a:r>
            <a:r>
              <a:rPr sz="3600" spc="-15" dirty="0"/>
              <a:t>F</a:t>
            </a:r>
            <a:r>
              <a:rPr sz="3600" dirty="0"/>
              <a:t>LIP</a:t>
            </a:r>
            <a:r>
              <a:rPr sz="3600" spc="-15" dirty="0"/>
              <a:t>F</a:t>
            </a:r>
            <a:r>
              <a:rPr sz="3600" dirty="0"/>
              <a:t>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83235" y="1082421"/>
            <a:ext cx="7815580" cy="184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Working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10" dirty="0">
                <a:latin typeface="Times New Roman"/>
                <a:cs typeface="Times New Roman"/>
              </a:rPr>
              <a:t>flop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20" dirty="0">
                <a:latin typeface="Times New Roman"/>
                <a:cs typeface="Times New Roman"/>
              </a:rPr>
              <a:t>an </a:t>
            </a:r>
            <a:r>
              <a:rPr sz="1800" spc="-5" dirty="0">
                <a:latin typeface="Times New Roman"/>
                <a:cs typeface="Times New Roman"/>
              </a:rPr>
              <a:t>edge </a:t>
            </a:r>
            <a:r>
              <a:rPr sz="1800" spc="-10" dirty="0">
                <a:latin typeface="Times New Roman"/>
                <a:cs typeface="Times New Roman"/>
              </a:rPr>
              <a:t>triggered </a:t>
            </a:r>
            <a:r>
              <a:rPr sz="1800" spc="-5" dirty="0">
                <a:latin typeface="Times New Roman"/>
                <a:cs typeface="Times New Roman"/>
              </a:rPr>
              <a:t>device </a:t>
            </a:r>
            <a:r>
              <a:rPr sz="1800" spc="-10" dirty="0">
                <a:latin typeface="Times New Roman"/>
                <a:cs typeface="Times New Roman"/>
              </a:rPr>
              <a:t>i.e.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low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high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spc="-5" dirty="0">
                <a:latin typeface="Times New Roman"/>
                <a:cs typeface="Times New Roman"/>
              </a:rPr>
              <a:t>high </a:t>
            </a:r>
            <a:r>
              <a:rPr sz="1800" dirty="0">
                <a:latin typeface="Times New Roman"/>
                <a:cs typeface="Times New Roman"/>
              </a:rPr>
              <a:t>to low </a:t>
            </a:r>
            <a:r>
              <a:rPr sz="1800" spc="-5" dirty="0">
                <a:latin typeface="Times New Roman"/>
                <a:cs typeface="Times New Roman"/>
              </a:rPr>
              <a:t>transitions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clock </a:t>
            </a:r>
            <a:r>
              <a:rPr sz="1800" spc="-5" dirty="0">
                <a:latin typeface="Times New Roman"/>
                <a:cs typeface="Times New Roman"/>
              </a:rPr>
              <a:t>signal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narrow </a:t>
            </a:r>
            <a:r>
              <a:rPr sz="1800" spc="-10" dirty="0">
                <a:latin typeface="Times New Roman"/>
                <a:cs typeface="Times New Roman"/>
              </a:rPr>
              <a:t>triggers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is provided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input </a:t>
            </a:r>
            <a:r>
              <a:rPr sz="1800" spc="-15" dirty="0">
                <a:latin typeface="Times New Roman"/>
                <a:cs typeface="Times New Roman"/>
              </a:rPr>
              <a:t>will </a:t>
            </a:r>
            <a:r>
              <a:rPr sz="1800" spc="-10" dirty="0">
                <a:latin typeface="Times New Roman"/>
                <a:cs typeface="Times New Roman"/>
              </a:rPr>
              <a:t>cause </a:t>
            </a:r>
            <a:r>
              <a:rPr sz="1800" spc="-5" dirty="0">
                <a:latin typeface="Times New Roman"/>
                <a:cs typeface="Times New Roman"/>
              </a:rPr>
              <a:t>the change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ou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pu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</a:t>
            </a:r>
            <a:r>
              <a:rPr sz="1800" spc="-1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10" dirty="0">
                <a:latin typeface="Times New Roman"/>
                <a:cs typeface="Times New Roman"/>
              </a:rPr>
              <a:t>op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5" dirty="0">
                <a:latin typeface="Times New Roman"/>
                <a:cs typeface="Times New Roman"/>
              </a:rPr>
              <a:t> 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10" dirty="0">
                <a:latin typeface="Times New Roman"/>
                <a:cs typeface="Times New Roman"/>
              </a:rPr>
              <a:t>d</a:t>
            </a:r>
            <a:r>
              <a:rPr sz="1800" spc="-15" dirty="0">
                <a:latin typeface="Times New Roman"/>
                <a:cs typeface="Times New Roman"/>
              </a:rPr>
              <a:t>g</a:t>
            </a:r>
            <a:r>
              <a:rPr sz="1800" dirty="0">
                <a:latin typeface="Times New Roman"/>
                <a:cs typeface="Times New Roman"/>
              </a:rPr>
              <a:t>e tr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gg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d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-15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ic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2643505">
              <a:lnSpc>
                <a:spcPct val="100000"/>
              </a:lnSpc>
            </a:pPr>
            <a:r>
              <a:rPr sz="2400" b="1" spc="-21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24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6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bl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4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24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lop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3200400"/>
            <a:ext cx="5077967" cy="23134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2677" y="2870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F</a:t>
            </a:r>
            <a:r>
              <a:rPr sz="3600" dirty="0"/>
              <a:t>LIP</a:t>
            </a:r>
            <a:r>
              <a:rPr sz="3600" spc="-15" dirty="0"/>
              <a:t>F</a:t>
            </a:r>
            <a:r>
              <a:rPr sz="3600" dirty="0"/>
              <a:t>LO</a:t>
            </a:r>
            <a:r>
              <a:rPr sz="3600" spc="-15" dirty="0"/>
              <a:t>PS</a:t>
            </a:r>
            <a:r>
              <a:rPr sz="3600" dirty="0"/>
              <a:t>:T</a:t>
            </a:r>
            <a:r>
              <a:rPr sz="3600" spc="-160" dirty="0"/>
              <a:t> </a:t>
            </a:r>
            <a:r>
              <a:rPr sz="3600" spc="-15" dirty="0"/>
              <a:t>F</a:t>
            </a:r>
            <a:r>
              <a:rPr sz="3600" dirty="0"/>
              <a:t>LIP</a:t>
            </a:r>
            <a:r>
              <a:rPr sz="3600" spc="-15" dirty="0"/>
              <a:t>F</a:t>
            </a:r>
            <a:r>
              <a:rPr sz="3600" dirty="0"/>
              <a:t>LOP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07035" y="930402"/>
            <a:ext cx="8662035" cy="489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035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88888"/>
              <a:buFont typeface="Wingdings"/>
              <a:buChar char="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If the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spc="-5" dirty="0">
                <a:latin typeface="Times New Roman"/>
                <a:cs typeface="Times New Roman"/>
              </a:rPr>
              <a:t>Q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5" dirty="0">
                <a:latin typeface="Times New Roman"/>
                <a:cs typeface="Times New Roman"/>
              </a:rPr>
              <a:t>0, </a:t>
            </a:r>
            <a:r>
              <a:rPr sz="1800" dirty="0">
                <a:latin typeface="Times New Roman"/>
                <a:cs typeface="Times New Roman"/>
              </a:rPr>
              <a:t>then the upper </a:t>
            </a:r>
            <a:r>
              <a:rPr sz="1800" spc="-10" dirty="0">
                <a:latin typeface="Times New Roman"/>
                <a:cs typeface="Times New Roman"/>
              </a:rPr>
              <a:t>NAND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in enable </a:t>
            </a:r>
            <a:r>
              <a:rPr sz="1800" spc="-5" dirty="0">
                <a:latin typeface="Times New Roman"/>
                <a:cs typeface="Times New Roman"/>
              </a:rPr>
              <a:t>state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lower NAND gate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disable condition. </a:t>
            </a:r>
            <a:r>
              <a:rPr sz="1800" spc="-5" dirty="0">
                <a:latin typeface="Times New Roman"/>
                <a:cs typeface="Times New Roman"/>
              </a:rPr>
              <a:t>This allows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trigger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pass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S </a:t>
            </a:r>
            <a:r>
              <a:rPr sz="1800" spc="5" dirty="0">
                <a:latin typeface="Times New Roman"/>
                <a:cs typeface="Times New Roman"/>
              </a:rPr>
              <a:t>inputs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35" dirty="0">
                <a:latin typeface="Times New Roman"/>
                <a:cs typeface="Times New Roman"/>
              </a:rPr>
              <a:t>make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flip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5" dirty="0">
                <a:latin typeface="Times New Roman"/>
                <a:cs typeface="Times New Roman"/>
              </a:rPr>
              <a:t>flop </a:t>
            </a:r>
            <a:r>
              <a:rPr sz="1800" dirty="0">
                <a:latin typeface="Times New Roman"/>
                <a:cs typeface="Times New Roman"/>
              </a:rPr>
              <a:t>in SET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i.e.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 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  <a:p>
            <a:pPr marL="12700" marR="28575">
              <a:lnSpc>
                <a:spcPct val="100000"/>
              </a:lnSpc>
              <a:buClr>
                <a:srgbClr val="FF0000"/>
              </a:buClr>
              <a:buSzPct val="88888"/>
              <a:buFont typeface="Wingdings"/>
              <a:buChar char="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If the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spc="-5" dirty="0">
                <a:latin typeface="Times New Roman"/>
                <a:cs typeface="Times New Roman"/>
              </a:rPr>
              <a:t>Q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5" dirty="0">
                <a:latin typeface="Times New Roman"/>
                <a:cs typeface="Times New Roman"/>
              </a:rPr>
              <a:t>1, </a:t>
            </a:r>
            <a:r>
              <a:rPr sz="1800" dirty="0">
                <a:latin typeface="Times New Roman"/>
                <a:cs typeface="Times New Roman"/>
              </a:rPr>
              <a:t>then the upper </a:t>
            </a:r>
            <a:r>
              <a:rPr sz="1800" spc="-10" dirty="0">
                <a:latin typeface="Times New Roman"/>
                <a:cs typeface="Times New Roman"/>
              </a:rPr>
              <a:t>NAND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in disable </a:t>
            </a:r>
            <a:r>
              <a:rPr sz="1800" spc="-5" dirty="0">
                <a:latin typeface="Times New Roman"/>
                <a:cs typeface="Times New Roman"/>
              </a:rPr>
              <a:t>state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lower NAND gate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enable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condition.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allows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trigger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pass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35" dirty="0">
                <a:latin typeface="Times New Roman"/>
                <a:cs typeface="Times New Roman"/>
              </a:rPr>
              <a:t>make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dirty="0">
                <a:latin typeface="Times New Roman"/>
                <a:cs typeface="Times New Roman"/>
              </a:rPr>
              <a:t> –</a:t>
            </a:r>
            <a:r>
              <a:rPr sz="1800" spc="-5" dirty="0">
                <a:latin typeface="Times New Roman"/>
                <a:cs typeface="Times New Roman"/>
              </a:rPr>
              <a:t> flop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i.e.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</a:t>
            </a:r>
            <a:r>
              <a:rPr sz="1800" dirty="0">
                <a:latin typeface="Times New Roman"/>
                <a:cs typeface="Times New Roman"/>
              </a:rPr>
              <a:t> =0.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</a:t>
            </a:r>
            <a:r>
              <a:rPr sz="1800" spc="-40" dirty="0">
                <a:latin typeface="Times New Roman"/>
                <a:cs typeface="Times New Roman"/>
              </a:rPr>
              <a:t>m</a:t>
            </a:r>
            <a:r>
              <a:rPr sz="1800" spc="1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le t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m</a:t>
            </a:r>
            <a:r>
              <a:rPr sz="1800" spc="-5" dirty="0">
                <a:latin typeface="Times New Roman"/>
                <a:cs typeface="Times New Roman"/>
              </a:rPr>
              <a:t>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op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When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low,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 the </a:t>
            </a:r>
            <a:r>
              <a:rPr sz="1800" spc="-5" dirty="0">
                <a:latin typeface="Times New Roman"/>
                <a:cs typeface="Times New Roman"/>
              </a:rPr>
              <a:t>next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sate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0" dirty="0">
                <a:latin typeface="Times New Roman"/>
                <a:cs typeface="Times New Roman"/>
              </a:rPr>
              <a:t> flip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same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present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 </a:t>
            </a:r>
            <a:r>
              <a:rPr sz="1800" dirty="0">
                <a:latin typeface="Times New Roman"/>
                <a:cs typeface="Times New Roman"/>
              </a:rPr>
              <a:t>= 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next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5" dirty="0">
                <a:latin typeface="Times New Roman"/>
                <a:cs typeface="Times New Roman"/>
              </a:rPr>
              <a:t> 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dirty="0">
                <a:latin typeface="Times New Roman"/>
                <a:cs typeface="Times New Roman"/>
              </a:rPr>
              <a:t> 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next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When </a:t>
            </a:r>
            <a:r>
              <a:rPr sz="1800" dirty="0">
                <a:latin typeface="Times New Roman"/>
                <a:cs typeface="Times New Roman"/>
              </a:rPr>
              <a:t>the T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high and </a:t>
            </a:r>
            <a:r>
              <a:rPr sz="1800" spc="5" dirty="0">
                <a:latin typeface="Times New Roman"/>
                <a:cs typeface="Times New Roman"/>
              </a:rPr>
              <a:t>during </a:t>
            </a:r>
            <a:r>
              <a:rPr sz="1800" dirty="0">
                <a:latin typeface="Times New Roman"/>
                <a:cs typeface="Times New Roman"/>
              </a:rPr>
              <a:t>the positive transition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clock signal,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next </a:t>
            </a:r>
            <a:r>
              <a:rPr sz="1800" spc="20" dirty="0">
                <a:latin typeface="Times New Roman"/>
                <a:cs typeface="Times New Roman"/>
              </a:rPr>
              <a:t>stateof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 is</a:t>
            </a:r>
            <a:r>
              <a:rPr sz="1800" dirty="0">
                <a:latin typeface="Times New Roman"/>
                <a:cs typeface="Times New Roman"/>
              </a:rPr>
              <a:t> 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inverse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state.</a:t>
            </a:r>
            <a:endParaRPr sz="1800">
              <a:latin typeface="Times New Roman"/>
              <a:cs typeface="Times New Roman"/>
            </a:endParaRPr>
          </a:p>
          <a:p>
            <a:pPr marL="12700" marR="4157345">
              <a:lnSpc>
                <a:spcPts val="2110"/>
              </a:lnSpc>
              <a:spcBef>
                <a:spcPts val="114"/>
              </a:spcBef>
            </a:pP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 a</a:t>
            </a:r>
            <a:r>
              <a:rPr sz="1800" spc="1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10" dirty="0">
                <a:latin typeface="Times New Roman"/>
                <a:cs typeface="Times New Roman"/>
              </a:rPr>
              <a:t> p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e</a:t>
            </a:r>
            <a:r>
              <a:rPr sz="1800" spc="1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</a:t>
            </a:r>
            <a:r>
              <a:rPr sz="1800" spc="-1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te = 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-15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</a:t>
            </a:r>
            <a:r>
              <a:rPr sz="1800" spc="-1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  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next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3700"/>
              </a:lnSpc>
            </a:pP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latin typeface="Times New Roman"/>
                <a:cs typeface="Times New Roman"/>
              </a:rPr>
              <a:t>Frequency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Division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Circuits.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Parallel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Load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Registers.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944" y="2870"/>
            <a:ext cx="4956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FLIPFLOPS:D</a:t>
            </a:r>
            <a:r>
              <a:rPr sz="3600" spc="-105" dirty="0"/>
              <a:t> </a:t>
            </a:r>
            <a:r>
              <a:rPr sz="3600" spc="-5" dirty="0"/>
              <a:t>FLIPFLOP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8130" y="1001394"/>
            <a:ext cx="8855710" cy="5395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algn="ctr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2800" spc="-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FL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D-type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modified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Set-Reset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addition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inverter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prevent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r>
              <a:rPr sz="1800" spc="-5" dirty="0">
                <a:latin typeface="Times New Roman"/>
                <a:cs typeface="Times New Roman"/>
              </a:rPr>
              <a:t> from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same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level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the</a:t>
            </a:r>
            <a:r>
              <a:rPr sz="1800" spc="-30" dirty="0">
                <a:latin typeface="Times New Roman"/>
                <a:cs typeface="Times New Roman"/>
              </a:rPr>
              <a:t> main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disadvantages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NAND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Gate</a:t>
            </a:r>
            <a:r>
              <a:rPr sz="1800" b="1" dirty="0">
                <a:latin typeface="Times New Roman"/>
                <a:cs typeface="Times New Roman"/>
              </a:rPr>
              <a:t> Bistable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circuit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indeterminate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condition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35" dirty="0">
                <a:latin typeface="Times New Roman"/>
                <a:cs typeface="Times New Roman"/>
              </a:rPr>
              <a:t>―0‖</a:t>
            </a:r>
            <a:r>
              <a:rPr sz="1800" spc="-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35" dirty="0">
                <a:latin typeface="Times New Roman"/>
                <a:cs typeface="Times New Roman"/>
              </a:rPr>
              <a:t>―0‖</a:t>
            </a:r>
            <a:r>
              <a:rPr sz="1800" spc="-21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isforbidden.</a:t>
            </a:r>
            <a:endParaRPr sz="1800">
              <a:latin typeface="Times New Roman"/>
              <a:cs typeface="Times New Roman"/>
            </a:endParaRPr>
          </a:p>
          <a:p>
            <a:pPr marL="12700" marR="88265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This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force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both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80" dirty="0">
                <a:latin typeface="Times New Roman"/>
                <a:cs typeface="Times New Roman"/>
              </a:rPr>
              <a:t>―1‖,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over-riding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feedback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latching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whichever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goes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level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35" dirty="0">
                <a:latin typeface="Times New Roman"/>
                <a:cs typeface="Times New Roman"/>
              </a:rPr>
              <a:t>―1‖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first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will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still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670" dirty="0">
                <a:latin typeface="Times New Roman"/>
                <a:cs typeface="Times New Roman"/>
              </a:rPr>
              <a:t>―</a:t>
            </a:r>
            <a:r>
              <a:rPr sz="1800" spc="-330" dirty="0">
                <a:latin typeface="Times New Roman"/>
                <a:cs typeface="Times New Roman"/>
              </a:rPr>
              <a:t>0</a:t>
            </a:r>
            <a:r>
              <a:rPr sz="1800" spc="290" dirty="0">
                <a:latin typeface="Times New Roman"/>
                <a:cs typeface="Times New Roman"/>
              </a:rPr>
              <a:t>‖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o</a:t>
            </a:r>
            <a:r>
              <a:rPr sz="1800" spc="1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tr</a:t>
            </a:r>
            <a:r>
              <a:rPr sz="1800" spc="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ls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 </a:t>
            </a:r>
            <a:r>
              <a:rPr sz="1800" spc="5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0" dirty="0">
                <a:latin typeface="Times New Roman"/>
                <a:cs typeface="Times New Roman"/>
              </a:rPr>
              <a:t>s</a:t>
            </a:r>
            <a:r>
              <a:rPr sz="1800" spc="10" dirty="0">
                <a:latin typeface="Times New Roman"/>
                <a:cs typeface="Times New Roman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lti</a:t>
            </a:r>
            <a:r>
              <a:rPr sz="1800" spc="1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latc</a:t>
            </a:r>
            <a:r>
              <a:rPr sz="1800" spc="5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order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happening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 inverter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dirty="0">
                <a:latin typeface="Times New Roman"/>
                <a:cs typeface="Times New Roman"/>
              </a:rPr>
              <a:t> connected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between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Times New Roman"/>
                <a:cs typeface="Times New Roman"/>
              </a:rPr>
              <a:t>―SET‖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5" dirty="0">
                <a:latin typeface="Times New Roman"/>
                <a:cs typeface="Times New Roman"/>
              </a:rPr>
              <a:t>―RESET‖ </a:t>
            </a:r>
            <a:r>
              <a:rPr sz="1800" spc="5" dirty="0">
                <a:latin typeface="Times New Roman"/>
                <a:cs typeface="Times New Roman"/>
              </a:rPr>
              <a:t>inputs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5" dirty="0">
                <a:latin typeface="Times New Roman"/>
                <a:cs typeface="Times New Roman"/>
              </a:rPr>
              <a:t>produce </a:t>
            </a:r>
            <a:r>
              <a:rPr sz="1800" dirty="0">
                <a:latin typeface="Times New Roman"/>
                <a:cs typeface="Times New Roman"/>
              </a:rPr>
              <a:t>another </a:t>
            </a:r>
            <a:r>
              <a:rPr sz="1800" spc="-10" dirty="0">
                <a:latin typeface="Times New Roman"/>
                <a:cs typeface="Times New Roman"/>
              </a:rPr>
              <a:t>type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5" dirty="0">
                <a:latin typeface="Times New Roman"/>
                <a:cs typeface="Times New Roman"/>
              </a:rPr>
              <a:t>flop </a:t>
            </a:r>
            <a:r>
              <a:rPr sz="1800" dirty="0">
                <a:latin typeface="Times New Roman"/>
                <a:cs typeface="Times New Roman"/>
              </a:rPr>
              <a:t>circuit </a:t>
            </a:r>
            <a:r>
              <a:rPr sz="1800" spc="-5" dirty="0">
                <a:latin typeface="Times New Roman"/>
                <a:cs typeface="Times New Roman"/>
              </a:rPr>
              <a:t>known as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b="1" spc="-5" dirty="0">
                <a:latin typeface="Times New Roman"/>
                <a:cs typeface="Times New Roman"/>
              </a:rPr>
              <a:t>Data </a:t>
            </a:r>
            <a:r>
              <a:rPr sz="1800" b="1" spc="-10" dirty="0">
                <a:latin typeface="Times New Roman"/>
                <a:cs typeface="Times New Roman"/>
              </a:rPr>
              <a:t>Latch</a:t>
            </a:r>
            <a:r>
              <a:rPr sz="1800" spc="-10" dirty="0">
                <a:latin typeface="Times New Roman"/>
                <a:cs typeface="Times New Roman"/>
              </a:rPr>
              <a:t>, </a:t>
            </a:r>
            <a:r>
              <a:rPr sz="1800" b="1" spc="-5" dirty="0">
                <a:latin typeface="Times New Roman"/>
                <a:cs typeface="Times New Roman"/>
              </a:rPr>
              <a:t>Delay </a:t>
            </a:r>
            <a:r>
              <a:rPr sz="1800" b="1" dirty="0">
                <a:latin typeface="Times New Roman"/>
                <a:cs typeface="Times New Roman"/>
              </a:rPr>
              <a:t> flip </a:t>
            </a:r>
            <a:r>
              <a:rPr sz="1800" b="1" spc="-10" dirty="0">
                <a:latin typeface="Times New Roman"/>
                <a:cs typeface="Times New Roman"/>
              </a:rPr>
              <a:t>flop</a:t>
            </a:r>
            <a:r>
              <a:rPr sz="1800" spc="-10" dirty="0">
                <a:latin typeface="Times New Roman"/>
                <a:cs typeface="Times New Roman"/>
              </a:rPr>
              <a:t>, </a:t>
            </a:r>
            <a:r>
              <a:rPr sz="1800" b="1" spc="-5" dirty="0">
                <a:latin typeface="Times New Roman"/>
                <a:cs typeface="Times New Roman"/>
              </a:rPr>
              <a:t>D-type Bistable</a:t>
            </a:r>
            <a:r>
              <a:rPr sz="1800" spc="-5" dirty="0">
                <a:latin typeface="Times New Roman"/>
                <a:cs typeface="Times New Roman"/>
              </a:rPr>
              <a:t>, </a:t>
            </a:r>
            <a:r>
              <a:rPr sz="1800" b="1" spc="-5" dirty="0">
                <a:latin typeface="Times New Roman"/>
                <a:cs typeface="Times New Roman"/>
              </a:rPr>
              <a:t>D-type </a:t>
            </a:r>
            <a:r>
              <a:rPr sz="1800" b="1" dirty="0">
                <a:latin typeface="Times New Roman"/>
                <a:cs typeface="Times New Roman"/>
              </a:rPr>
              <a:t>Flip </a:t>
            </a:r>
            <a:r>
              <a:rPr sz="1800" b="1" spc="-5" dirty="0">
                <a:latin typeface="Times New Roman"/>
                <a:cs typeface="Times New Roman"/>
              </a:rPr>
              <a:t>Flop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dirty="0">
                <a:latin typeface="Times New Roman"/>
                <a:cs typeface="Times New Roman"/>
              </a:rPr>
              <a:t>just </a:t>
            </a:r>
            <a:r>
              <a:rPr sz="1800" spc="-5" dirty="0">
                <a:latin typeface="Times New Roman"/>
                <a:cs typeface="Times New Roman"/>
              </a:rPr>
              <a:t>simply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b="1" spc="-5" dirty="0">
                <a:latin typeface="Times New Roman"/>
                <a:cs typeface="Times New Roman"/>
              </a:rPr>
              <a:t>D </a:t>
            </a:r>
            <a:r>
              <a:rPr sz="1800" b="1" dirty="0">
                <a:latin typeface="Times New Roman"/>
                <a:cs typeface="Times New Roman"/>
              </a:rPr>
              <a:t>Flip </a:t>
            </a:r>
            <a:r>
              <a:rPr sz="1800" b="1" spc="-5" dirty="0">
                <a:latin typeface="Times New Roman"/>
                <a:cs typeface="Times New Roman"/>
              </a:rPr>
              <a:t>Flop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more </a:t>
            </a:r>
            <a:r>
              <a:rPr sz="1800" spc="-5" dirty="0">
                <a:latin typeface="Times New Roman"/>
                <a:cs typeface="Times New Roman"/>
              </a:rPr>
              <a:t>generally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called.</a:t>
            </a:r>
            <a:endParaRPr sz="1800">
              <a:latin typeface="Times New Roman"/>
              <a:cs typeface="Times New Roman"/>
            </a:endParaRPr>
          </a:p>
          <a:p>
            <a:pPr marL="12700" marR="8953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b="1" spc="-5" dirty="0">
                <a:latin typeface="Times New Roman"/>
                <a:cs typeface="Times New Roman"/>
              </a:rPr>
              <a:t>D </a:t>
            </a:r>
            <a:r>
              <a:rPr sz="1800" b="1" dirty="0">
                <a:latin typeface="Times New Roman"/>
                <a:cs typeface="Times New Roman"/>
              </a:rPr>
              <a:t>Flip </a:t>
            </a:r>
            <a:r>
              <a:rPr sz="1800" b="1" spc="-5" dirty="0">
                <a:latin typeface="Times New Roman"/>
                <a:cs typeface="Times New Roman"/>
              </a:rPr>
              <a:t>Flop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spc="-25" dirty="0">
                <a:latin typeface="Times New Roman"/>
                <a:cs typeface="Times New Roman"/>
              </a:rPr>
              <a:t>far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most </a:t>
            </a:r>
            <a:r>
              <a:rPr sz="1800" spc="-5" dirty="0">
                <a:latin typeface="Times New Roman"/>
                <a:cs typeface="Times New Roman"/>
              </a:rPr>
              <a:t>important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clocked flip-flops as </a:t>
            </a:r>
            <a:r>
              <a:rPr sz="1800" dirty="0">
                <a:latin typeface="Times New Roman"/>
                <a:cs typeface="Times New Roman"/>
              </a:rPr>
              <a:t>it ensures that ensures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5" dirty="0">
                <a:latin typeface="Times New Roman"/>
                <a:cs typeface="Times New Roman"/>
              </a:rPr>
              <a:t>inputs </a:t>
            </a:r>
            <a:r>
              <a:rPr sz="1800" dirty="0">
                <a:latin typeface="Times New Roman"/>
                <a:cs typeface="Times New Roman"/>
              </a:rPr>
              <a:t>S and R </a:t>
            </a:r>
            <a:r>
              <a:rPr sz="1800" spc="-5" dirty="0">
                <a:latin typeface="Times New Roman"/>
                <a:cs typeface="Times New Roman"/>
              </a:rPr>
              <a:t>are never </a:t>
            </a:r>
            <a:r>
              <a:rPr sz="1800" dirty="0">
                <a:latin typeface="Times New Roman"/>
                <a:cs typeface="Times New Roman"/>
              </a:rPr>
              <a:t>equal to </a:t>
            </a:r>
            <a:r>
              <a:rPr sz="1800" spc="5" dirty="0">
                <a:latin typeface="Times New Roman"/>
                <a:cs typeface="Times New Roman"/>
              </a:rPr>
              <a:t>one </a:t>
            </a:r>
            <a:r>
              <a:rPr sz="1800" spc="-5" dirty="0">
                <a:latin typeface="Times New Roman"/>
                <a:cs typeface="Times New Roman"/>
              </a:rPr>
              <a:t>at </a:t>
            </a:r>
            <a:r>
              <a:rPr sz="1800" spc="5" dirty="0">
                <a:latin typeface="Times New Roman"/>
                <a:cs typeface="Times New Roman"/>
              </a:rPr>
              <a:t>the </a:t>
            </a:r>
            <a:r>
              <a:rPr sz="1800" spc="-35" dirty="0">
                <a:latin typeface="Times New Roman"/>
                <a:cs typeface="Times New Roman"/>
              </a:rPr>
              <a:t>same </a:t>
            </a:r>
            <a:r>
              <a:rPr sz="1800" spc="-10" dirty="0">
                <a:latin typeface="Times New Roman"/>
                <a:cs typeface="Times New Roman"/>
              </a:rPr>
              <a:t>time. </a:t>
            </a:r>
            <a:r>
              <a:rPr sz="1800" spc="-5" dirty="0">
                <a:latin typeface="Times New Roman"/>
                <a:cs typeface="Times New Roman"/>
              </a:rPr>
              <a:t>The D-type flip flop are </a:t>
            </a:r>
            <a:r>
              <a:rPr sz="1800" dirty="0">
                <a:latin typeface="Times New Roman"/>
                <a:cs typeface="Times New Roman"/>
              </a:rPr>
              <a:t>constructed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gated </a:t>
            </a:r>
            <a:r>
              <a:rPr sz="1800" dirty="0">
                <a:latin typeface="Times New Roman"/>
                <a:cs typeface="Times New Roman"/>
              </a:rPr>
              <a:t>SR </a:t>
            </a:r>
            <a:r>
              <a:rPr sz="1800" spc="-5" dirty="0">
                <a:latin typeface="Times New Roman"/>
                <a:cs typeface="Times New Roman"/>
              </a:rPr>
              <a:t>flip-flop </a:t>
            </a:r>
            <a:r>
              <a:rPr sz="1800" spc="-10" dirty="0">
                <a:latin typeface="Times New Roman"/>
                <a:cs typeface="Times New Roman"/>
              </a:rPr>
              <a:t>with </a:t>
            </a:r>
            <a:r>
              <a:rPr sz="1800" dirty="0">
                <a:latin typeface="Times New Roman"/>
                <a:cs typeface="Times New Roman"/>
              </a:rPr>
              <a:t>an inverter added </a:t>
            </a:r>
            <a:r>
              <a:rPr sz="1800" spc="-5" dirty="0">
                <a:latin typeface="Times New Roman"/>
                <a:cs typeface="Times New Roman"/>
              </a:rPr>
              <a:t>between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and the R </a:t>
            </a:r>
            <a:r>
              <a:rPr sz="1800" spc="5" dirty="0">
                <a:latin typeface="Times New Roman"/>
                <a:cs typeface="Times New Roman"/>
              </a:rPr>
              <a:t>inputs </a:t>
            </a:r>
            <a:r>
              <a:rPr sz="1800" dirty="0">
                <a:latin typeface="Times New Roman"/>
                <a:cs typeface="Times New Roman"/>
              </a:rPr>
              <a:t>to allow </a:t>
            </a:r>
            <a:r>
              <a:rPr sz="1800" spc="-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 (data)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input.</a:t>
            </a:r>
            <a:endParaRPr sz="1800">
              <a:latin typeface="Times New Roman"/>
              <a:cs typeface="Times New Roman"/>
            </a:endParaRPr>
          </a:p>
          <a:p>
            <a:pPr marL="12700" marR="3365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 </a:t>
            </a:r>
            <a:r>
              <a:rPr sz="1800" spc="5" dirty="0">
                <a:latin typeface="Times New Roman"/>
                <a:cs typeface="Times New Roman"/>
              </a:rPr>
              <a:t>input,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labelled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40" dirty="0">
                <a:latin typeface="Times New Roman"/>
                <a:cs typeface="Times New Roman"/>
              </a:rPr>
              <a:t>―D‖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45" dirty="0">
                <a:latin typeface="Times New Roman"/>
                <a:cs typeface="Times New Roman"/>
              </a:rPr>
              <a:t>―Set‖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inverter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 used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generate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complementary </a:t>
            </a:r>
            <a:r>
              <a:rPr sz="1800" spc="-105" dirty="0">
                <a:latin typeface="Times New Roman"/>
                <a:cs typeface="Times New Roman"/>
              </a:rPr>
              <a:t>―Reset‖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dirty="0">
                <a:latin typeface="Times New Roman"/>
                <a:cs typeface="Times New Roman"/>
              </a:rPr>
              <a:t>thereby </a:t>
            </a:r>
            <a:r>
              <a:rPr sz="1800" spc="-10" dirty="0">
                <a:latin typeface="Times New Roman"/>
                <a:cs typeface="Times New Roman"/>
              </a:rPr>
              <a:t>making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level-sensitive </a:t>
            </a:r>
            <a:r>
              <a:rPr sz="1800" spc="-10" dirty="0">
                <a:latin typeface="Times New Roman"/>
                <a:cs typeface="Times New Roman"/>
              </a:rPr>
              <a:t>D-type </a:t>
            </a:r>
            <a:r>
              <a:rPr sz="1800" spc="-5" dirty="0">
                <a:latin typeface="Times New Roman"/>
                <a:cs typeface="Times New Roman"/>
              </a:rPr>
              <a:t> flip-flop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level-sensitive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SR-latch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now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 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not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shown.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4598" y="2870"/>
            <a:ext cx="4951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FLIPFLOPS:D</a:t>
            </a:r>
            <a:r>
              <a:rPr sz="3600" spc="-150" dirty="0"/>
              <a:t> </a:t>
            </a:r>
            <a:r>
              <a:rPr sz="3600" spc="-5" dirty="0"/>
              <a:t>FLIPFLOP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828800"/>
            <a:ext cx="7620000" cy="19141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3235" y="1240916"/>
            <a:ext cx="254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D-type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 Flip-Flop Circuit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83235" y="3736340"/>
            <a:ext cx="853884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latin typeface="Times New Roman"/>
                <a:cs typeface="Times New Roman"/>
              </a:rPr>
              <a:t>We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remember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simple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two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one</a:t>
            </a:r>
            <a:r>
              <a:rPr sz="1800" dirty="0">
                <a:latin typeface="Times New Roman"/>
                <a:cs typeface="Times New Roman"/>
              </a:rPr>
              <a:t> to </a:t>
            </a:r>
            <a:r>
              <a:rPr sz="1800" spc="-150" dirty="0">
                <a:latin typeface="Times New Roman"/>
                <a:cs typeface="Times New Roman"/>
              </a:rPr>
              <a:t>―SET‖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output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―RESET‖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output.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inverter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gate)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SR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flip-flop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can</a:t>
            </a:r>
            <a:endParaRPr sz="1800">
              <a:latin typeface="Times New Roman"/>
              <a:cs typeface="Times New Roman"/>
            </a:endParaRPr>
          </a:p>
          <a:p>
            <a:pPr marL="12700" marR="205104">
              <a:lnSpc>
                <a:spcPct val="100000"/>
              </a:lnSpc>
            </a:pPr>
            <a:r>
              <a:rPr sz="1800" spc="-150" dirty="0">
                <a:latin typeface="Times New Roman"/>
                <a:cs typeface="Times New Roman"/>
              </a:rPr>
              <a:t>―SET‖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5" dirty="0">
                <a:latin typeface="Times New Roman"/>
                <a:cs typeface="Times New Roman"/>
              </a:rPr>
              <a:t>―RESET‖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flip-flop </a:t>
            </a:r>
            <a:r>
              <a:rPr sz="1800" dirty="0">
                <a:latin typeface="Times New Roman"/>
                <a:cs typeface="Times New Roman"/>
              </a:rPr>
              <a:t>using just </a:t>
            </a:r>
            <a:r>
              <a:rPr sz="1800" spc="5" dirty="0">
                <a:latin typeface="Times New Roman"/>
                <a:cs typeface="Times New Roman"/>
              </a:rPr>
              <a:t>one input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spc="5" dirty="0">
                <a:latin typeface="Times New Roman"/>
                <a:cs typeface="Times New Roman"/>
              </a:rPr>
              <a:t>now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two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signals are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complements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each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other.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complement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avoids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ambiguity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inherent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-5" dirty="0">
                <a:latin typeface="Times New Roman"/>
                <a:cs typeface="Times New Roman"/>
              </a:rPr>
              <a:t> latch</a:t>
            </a:r>
            <a:endParaRPr sz="1800">
              <a:latin typeface="Times New Roman"/>
              <a:cs typeface="Times New Roman"/>
            </a:endParaRPr>
          </a:p>
          <a:p>
            <a:pPr marL="12700" marR="96520">
              <a:lnSpc>
                <a:spcPct val="99700"/>
              </a:lnSpc>
              <a:spcBef>
                <a:spcPts val="35"/>
              </a:spcBef>
            </a:pPr>
            <a:r>
              <a:rPr sz="1800" spc="-10" dirty="0">
                <a:latin typeface="Times New Roman"/>
                <a:cs typeface="Times New Roman"/>
              </a:rPr>
              <a:t>when </a:t>
            </a:r>
            <a:r>
              <a:rPr sz="1800" spc="5" dirty="0">
                <a:latin typeface="Times New Roman"/>
                <a:cs typeface="Times New Roman"/>
              </a:rPr>
              <a:t>both inputs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spc="-95" dirty="0">
                <a:latin typeface="Times New Roman"/>
                <a:cs typeface="Times New Roman"/>
              </a:rPr>
              <a:t>LOW, </a:t>
            </a:r>
            <a:r>
              <a:rPr sz="1800" spc="-5" dirty="0">
                <a:latin typeface="Times New Roman"/>
                <a:cs typeface="Times New Roman"/>
              </a:rPr>
              <a:t>since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state is </a:t>
            </a:r>
            <a:r>
              <a:rPr sz="1800" spc="5" dirty="0">
                <a:latin typeface="Times New Roman"/>
                <a:cs typeface="Times New Roman"/>
              </a:rPr>
              <a:t>no </a:t>
            </a:r>
            <a:r>
              <a:rPr sz="1800" spc="-5" dirty="0">
                <a:latin typeface="Times New Roman"/>
                <a:cs typeface="Times New Roman"/>
              </a:rPr>
              <a:t>longer possible</a:t>
            </a:r>
            <a:r>
              <a:rPr sz="1800" spc="-5" dirty="0">
                <a:latin typeface="Microsoft Sans Serif"/>
                <a:cs typeface="Microsoft Sans Serif"/>
              </a:rPr>
              <a:t>. </a:t>
            </a:r>
            <a:r>
              <a:rPr sz="1800" spc="-5" dirty="0">
                <a:latin typeface="Times New Roman"/>
                <a:cs typeface="Times New Roman"/>
              </a:rPr>
              <a:t>Thus </a:t>
            </a:r>
            <a:r>
              <a:rPr sz="1800" dirty="0">
                <a:latin typeface="Times New Roman"/>
                <a:cs typeface="Times New Roman"/>
              </a:rPr>
              <a:t>this </a:t>
            </a:r>
            <a:r>
              <a:rPr sz="1800" spc="-5" dirty="0">
                <a:latin typeface="Times New Roman"/>
                <a:cs typeface="Times New Roman"/>
              </a:rPr>
              <a:t>single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254" dirty="0">
                <a:latin typeface="Times New Roman"/>
                <a:cs typeface="Times New Roman"/>
              </a:rPr>
              <a:t>―DATA‖</a:t>
            </a:r>
            <a:r>
              <a:rPr sz="1800" spc="-2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input. </a:t>
            </a:r>
            <a:r>
              <a:rPr sz="1800" dirty="0">
                <a:latin typeface="Times New Roman"/>
                <a:cs typeface="Times New Roman"/>
              </a:rPr>
              <a:t>If this data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held </a:t>
            </a:r>
            <a:r>
              <a:rPr sz="1800" spc="-10" dirty="0">
                <a:latin typeface="Times New Roman"/>
                <a:cs typeface="Times New Roman"/>
              </a:rPr>
              <a:t>HIGH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flip flop would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150" dirty="0">
                <a:latin typeface="Times New Roman"/>
                <a:cs typeface="Times New Roman"/>
              </a:rPr>
              <a:t>―SET‖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when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-5" dirty="0">
                <a:latin typeface="Times New Roman"/>
                <a:cs typeface="Times New Roman"/>
              </a:rPr>
              <a:t> flop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would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change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become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―RESET‖.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However,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would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rather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pointless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since</a:t>
            </a:r>
            <a:r>
              <a:rPr sz="1800" dirty="0">
                <a:latin typeface="Times New Roman"/>
                <a:cs typeface="Times New Roman"/>
              </a:rPr>
              <a:t> 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would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always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change</a:t>
            </a:r>
            <a:r>
              <a:rPr sz="1800" spc="5" dirty="0">
                <a:latin typeface="Times New Roman"/>
                <a:cs typeface="Times New Roman"/>
              </a:rPr>
              <a:t> 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every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pulse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applied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944" y="2870"/>
            <a:ext cx="4956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FLIPFLOPS:D</a:t>
            </a:r>
            <a:r>
              <a:rPr sz="3600" spc="-105" dirty="0"/>
              <a:t> </a:t>
            </a:r>
            <a:r>
              <a:rPr sz="3600" spc="-5" dirty="0"/>
              <a:t>FLIPFLOP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8130" y="930402"/>
            <a:ext cx="8935085" cy="290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839" algn="just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avoid this </a:t>
            </a:r>
            <a:r>
              <a:rPr sz="1800" spc="-15" dirty="0">
                <a:latin typeface="Times New Roman"/>
                <a:cs typeface="Times New Roman"/>
              </a:rPr>
              <a:t>an </a:t>
            </a:r>
            <a:r>
              <a:rPr sz="1800" spc="-5" dirty="0">
                <a:latin typeface="Times New Roman"/>
                <a:cs typeface="Times New Roman"/>
              </a:rPr>
              <a:t>additional </a:t>
            </a:r>
            <a:r>
              <a:rPr sz="1800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called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14" dirty="0">
                <a:latin typeface="Times New Roman"/>
                <a:cs typeface="Times New Roman"/>
              </a:rPr>
              <a:t>―CLOCK‖ </a:t>
            </a:r>
            <a:r>
              <a:rPr sz="1800" spc="5" dirty="0">
                <a:latin typeface="Times New Roman"/>
                <a:cs typeface="Times New Roman"/>
              </a:rPr>
              <a:t>or </a:t>
            </a:r>
            <a:r>
              <a:rPr sz="1800" spc="-105" dirty="0">
                <a:latin typeface="Times New Roman"/>
                <a:cs typeface="Times New Roman"/>
              </a:rPr>
              <a:t>―ENABLE‖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used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isolate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 input </a:t>
            </a:r>
            <a:r>
              <a:rPr sz="1800" spc="-10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35" dirty="0">
                <a:latin typeface="Times New Roman"/>
                <a:cs typeface="Times New Roman"/>
              </a:rPr>
              <a:t>flop’s </a:t>
            </a:r>
            <a:r>
              <a:rPr sz="1800" dirty="0">
                <a:latin typeface="Times New Roman"/>
                <a:cs typeface="Times New Roman"/>
              </a:rPr>
              <a:t>latching circuitry </a:t>
            </a:r>
            <a:r>
              <a:rPr sz="1800" spc="-10" dirty="0">
                <a:latin typeface="Times New Roman"/>
                <a:cs typeface="Times New Roman"/>
              </a:rPr>
              <a:t>after </a:t>
            </a:r>
            <a:r>
              <a:rPr sz="1800" spc="-5" dirty="0">
                <a:latin typeface="Times New Roman"/>
                <a:cs typeface="Times New Roman"/>
              </a:rPr>
              <a:t>the desired data </a:t>
            </a:r>
            <a:r>
              <a:rPr sz="1800" dirty="0">
                <a:latin typeface="Times New Roman"/>
                <a:cs typeface="Times New Roman"/>
              </a:rPr>
              <a:t>has been </a:t>
            </a:r>
            <a:r>
              <a:rPr sz="1800" spc="-5" dirty="0">
                <a:latin typeface="Times New Roman"/>
                <a:cs typeface="Times New Roman"/>
              </a:rPr>
              <a:t>stored. </a:t>
            </a:r>
            <a:r>
              <a:rPr sz="1800" spc="-10" dirty="0">
                <a:latin typeface="Times New Roman"/>
                <a:cs typeface="Times New Roman"/>
              </a:rPr>
              <a:t>The </a:t>
            </a:r>
            <a:r>
              <a:rPr sz="1800" spc="-30" dirty="0">
                <a:latin typeface="Times New Roman"/>
                <a:cs typeface="Times New Roman"/>
              </a:rPr>
              <a:t>effect 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5" dirty="0">
                <a:latin typeface="Times New Roman"/>
                <a:cs typeface="Times New Roman"/>
              </a:rPr>
              <a:t>that </a:t>
            </a:r>
            <a:r>
              <a:rPr sz="1800" dirty="0">
                <a:latin typeface="Times New Roman"/>
                <a:cs typeface="Times New Roman"/>
              </a:rPr>
              <a:t>D input </a:t>
            </a:r>
            <a:r>
              <a:rPr sz="1800" spc="-5" dirty="0">
                <a:latin typeface="Times New Roman"/>
                <a:cs typeface="Times New Roman"/>
              </a:rPr>
              <a:t>condition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5" dirty="0">
                <a:latin typeface="Times New Roman"/>
                <a:cs typeface="Times New Roman"/>
              </a:rPr>
              <a:t>only copied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output Q </a:t>
            </a:r>
            <a:r>
              <a:rPr sz="1800" spc="-15" dirty="0">
                <a:latin typeface="Times New Roman"/>
                <a:cs typeface="Times New Roman"/>
              </a:rPr>
              <a:t>when </a:t>
            </a:r>
            <a:r>
              <a:rPr sz="1800" spc="-5" dirty="0">
                <a:latin typeface="Times New Roman"/>
                <a:cs typeface="Times New Roman"/>
              </a:rPr>
              <a:t>the clock </a:t>
            </a:r>
            <a:r>
              <a:rPr sz="1800" dirty="0">
                <a:latin typeface="Times New Roman"/>
                <a:cs typeface="Times New Roman"/>
              </a:rPr>
              <a:t>input is </a:t>
            </a:r>
            <a:r>
              <a:rPr sz="1800" spc="-10" dirty="0">
                <a:latin typeface="Times New Roman"/>
                <a:cs typeface="Times New Roman"/>
              </a:rPr>
              <a:t>active. </a:t>
            </a:r>
            <a:r>
              <a:rPr sz="1800" spc="-5" dirty="0">
                <a:latin typeface="Times New Roman"/>
                <a:cs typeface="Times New Roman"/>
              </a:rPr>
              <a:t>This then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forms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 another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sequential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device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b="1" spc="-5" dirty="0">
                <a:latin typeface="Times New Roman"/>
                <a:cs typeface="Times New Roman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 Flip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Flop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505" dirty="0">
                <a:latin typeface="Times New Roman"/>
                <a:cs typeface="Times New Roman"/>
              </a:rPr>
              <a:t>―D</a:t>
            </a:r>
            <a:r>
              <a:rPr sz="1800" spc="-5" dirty="0">
                <a:latin typeface="Times New Roman"/>
                <a:cs typeface="Times New Roman"/>
              </a:rPr>
              <a:t> flip </a:t>
            </a:r>
            <a:r>
              <a:rPr sz="1800" spc="55" dirty="0">
                <a:latin typeface="Times New Roman"/>
                <a:cs typeface="Times New Roman"/>
              </a:rPr>
              <a:t>flop‖ </a:t>
            </a:r>
            <a:r>
              <a:rPr sz="1800" spc="-10" dirty="0">
                <a:latin typeface="Times New Roman"/>
                <a:cs typeface="Times New Roman"/>
              </a:rPr>
              <a:t>will </a:t>
            </a:r>
            <a:r>
              <a:rPr sz="1800" dirty="0">
                <a:latin typeface="Times New Roman"/>
                <a:cs typeface="Times New Roman"/>
              </a:rPr>
              <a:t>store and </a:t>
            </a:r>
            <a:r>
              <a:rPr sz="1800" spc="5" dirty="0">
                <a:latin typeface="Times New Roman"/>
                <a:cs typeface="Times New Roman"/>
              </a:rPr>
              <a:t>output </a:t>
            </a:r>
            <a:r>
              <a:rPr sz="1800" spc="-10" dirty="0">
                <a:latin typeface="Times New Roman"/>
                <a:cs typeface="Times New Roman"/>
              </a:rPr>
              <a:t>whatever </a:t>
            </a:r>
            <a:r>
              <a:rPr sz="1800" dirty="0">
                <a:latin typeface="Times New Roman"/>
                <a:cs typeface="Times New Roman"/>
              </a:rPr>
              <a:t>logic </a:t>
            </a:r>
            <a:r>
              <a:rPr sz="1800" spc="-5" dirty="0">
                <a:latin typeface="Times New Roman"/>
                <a:cs typeface="Times New Roman"/>
              </a:rPr>
              <a:t>level </a:t>
            </a:r>
            <a:r>
              <a:rPr sz="1800" dirty="0">
                <a:latin typeface="Times New Roman"/>
                <a:cs typeface="Times New Roman"/>
              </a:rPr>
              <a:t>is applied to its data </a:t>
            </a:r>
            <a:r>
              <a:rPr sz="1800" spc="-5" dirty="0">
                <a:latin typeface="Times New Roman"/>
                <a:cs typeface="Times New Roman"/>
              </a:rPr>
              <a:t>terminal </a:t>
            </a:r>
            <a:r>
              <a:rPr sz="1800" dirty="0">
                <a:latin typeface="Times New Roman"/>
                <a:cs typeface="Times New Roman"/>
              </a:rPr>
              <a:t>so </a:t>
            </a:r>
            <a:r>
              <a:rPr sz="1800" spc="5" dirty="0">
                <a:latin typeface="Times New Roman"/>
                <a:cs typeface="Times New Roman"/>
              </a:rPr>
              <a:t>long 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the clock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HIGH. </a:t>
            </a:r>
            <a:r>
              <a:rPr sz="1800" dirty="0">
                <a:latin typeface="Times New Roman"/>
                <a:cs typeface="Times New Roman"/>
              </a:rPr>
              <a:t>Once the clock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goes </a:t>
            </a:r>
            <a:r>
              <a:rPr sz="1800" spc="-10" dirty="0">
                <a:latin typeface="Times New Roman"/>
                <a:cs typeface="Times New Roman"/>
              </a:rPr>
              <a:t>LOW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45" dirty="0">
                <a:latin typeface="Times New Roman"/>
                <a:cs typeface="Times New Roman"/>
              </a:rPr>
              <a:t>―set‖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5" dirty="0">
                <a:latin typeface="Times New Roman"/>
                <a:cs typeface="Times New Roman"/>
              </a:rPr>
              <a:t>―reset‖ </a:t>
            </a:r>
            <a:r>
              <a:rPr sz="1800" spc="5" dirty="0">
                <a:latin typeface="Times New Roman"/>
                <a:cs typeface="Times New Roman"/>
              </a:rPr>
              <a:t>inputs 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 </a:t>
            </a:r>
            <a:r>
              <a:rPr sz="1800" dirty="0">
                <a:latin typeface="Times New Roman"/>
                <a:cs typeface="Times New Roman"/>
              </a:rPr>
              <a:t>are </a:t>
            </a:r>
            <a:r>
              <a:rPr sz="1800" spc="5" dirty="0">
                <a:latin typeface="Times New Roman"/>
                <a:cs typeface="Times New Roman"/>
              </a:rPr>
              <a:t>both </a:t>
            </a:r>
            <a:r>
              <a:rPr sz="1800" dirty="0">
                <a:latin typeface="Times New Roman"/>
                <a:cs typeface="Times New Roman"/>
              </a:rPr>
              <a:t>held at logic </a:t>
            </a:r>
            <a:r>
              <a:rPr sz="1800" spc="-5" dirty="0">
                <a:latin typeface="Times New Roman"/>
                <a:cs typeface="Times New Roman"/>
              </a:rPr>
              <a:t>level </a:t>
            </a:r>
            <a:r>
              <a:rPr sz="1800" spc="-235" dirty="0">
                <a:latin typeface="Times New Roman"/>
                <a:cs typeface="Times New Roman"/>
              </a:rPr>
              <a:t>―1‖</a:t>
            </a:r>
            <a:r>
              <a:rPr sz="1800" spc="-22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 </a:t>
            </a: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10" dirty="0">
                <a:latin typeface="Times New Roman"/>
                <a:cs typeface="Times New Roman"/>
              </a:rPr>
              <a:t>will </a:t>
            </a:r>
            <a:r>
              <a:rPr sz="1800" spc="5" dirty="0">
                <a:latin typeface="Times New Roman"/>
                <a:cs typeface="Times New Roman"/>
              </a:rPr>
              <a:t>not </a:t>
            </a:r>
            <a:r>
              <a:rPr sz="1800" dirty="0">
                <a:latin typeface="Times New Roman"/>
                <a:cs typeface="Times New Roman"/>
              </a:rPr>
              <a:t>change state and store </a:t>
            </a:r>
            <a:r>
              <a:rPr sz="1800" spc="-5" dirty="0">
                <a:latin typeface="Times New Roman"/>
                <a:cs typeface="Times New Roman"/>
              </a:rPr>
              <a:t>whatever </a:t>
            </a:r>
            <a:r>
              <a:rPr sz="1800" dirty="0">
                <a:latin typeface="Times New Roman"/>
                <a:cs typeface="Times New Roman"/>
              </a:rPr>
              <a:t>data </a:t>
            </a:r>
            <a:r>
              <a:rPr sz="1800" spc="-30" dirty="0">
                <a:latin typeface="Times New Roman"/>
                <a:cs typeface="Times New Roman"/>
              </a:rPr>
              <a:t>was 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 </a:t>
            </a: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before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clock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transition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occurred.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other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words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―latched‖at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either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35" dirty="0">
                <a:latin typeface="Times New Roman"/>
                <a:cs typeface="Times New Roman"/>
              </a:rPr>
              <a:t>―0‖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80" dirty="0">
                <a:latin typeface="Times New Roman"/>
                <a:cs typeface="Times New Roman"/>
              </a:rPr>
              <a:t>―1‖.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2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8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abl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8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-8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800" b="1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Fli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b="1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Flop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038600"/>
            <a:ext cx="3182112" cy="1981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9753" y="4520565"/>
            <a:ext cx="39700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Note </a:t>
            </a:r>
            <a:r>
              <a:rPr sz="1800" spc="-5" dirty="0">
                <a:latin typeface="Microsoft Sans Serif"/>
                <a:cs typeface="Microsoft Sans Serif"/>
              </a:rPr>
              <a:t>that: </a:t>
            </a:r>
            <a:r>
              <a:rPr sz="1800" dirty="0">
                <a:latin typeface="Microsoft Sans Serif"/>
                <a:cs typeface="Microsoft Sans Serif"/>
              </a:rPr>
              <a:t>↓ and ↑ </a:t>
            </a:r>
            <a:r>
              <a:rPr sz="1800" spc="-10" dirty="0">
                <a:latin typeface="Microsoft Sans Serif"/>
                <a:cs typeface="Microsoft Sans Serif"/>
              </a:rPr>
              <a:t>indicates </a:t>
            </a:r>
            <a:r>
              <a:rPr sz="1800" spc="-5" dirty="0">
                <a:latin typeface="Microsoft Sans Serif"/>
                <a:cs typeface="Microsoft Sans Serif"/>
              </a:rPr>
              <a:t>direction </a:t>
            </a:r>
            <a:r>
              <a:rPr sz="1800" spc="-20" dirty="0">
                <a:latin typeface="Microsoft Sans Serif"/>
                <a:cs typeface="Microsoft Sans Serif"/>
              </a:rPr>
              <a:t>of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clock </a:t>
            </a:r>
            <a:r>
              <a:rPr sz="1800" spc="-10" dirty="0">
                <a:latin typeface="Microsoft Sans Serif"/>
                <a:cs typeface="Microsoft Sans Serif"/>
              </a:rPr>
              <a:t>pulse </a:t>
            </a:r>
            <a:r>
              <a:rPr sz="1800" dirty="0">
                <a:latin typeface="Microsoft Sans Serif"/>
                <a:cs typeface="Microsoft Sans Serif"/>
              </a:rPr>
              <a:t>as </a:t>
            </a:r>
            <a:r>
              <a:rPr sz="1800" spc="-5" dirty="0">
                <a:latin typeface="Microsoft Sans Serif"/>
                <a:cs typeface="Microsoft Sans Serif"/>
              </a:rPr>
              <a:t>it is </a:t>
            </a:r>
            <a:r>
              <a:rPr sz="1800" dirty="0">
                <a:latin typeface="Microsoft Sans Serif"/>
                <a:cs typeface="Microsoft Sans Serif"/>
              </a:rPr>
              <a:t>assumed </a:t>
            </a:r>
            <a:r>
              <a:rPr sz="1800" spc="-10" dirty="0">
                <a:latin typeface="Microsoft Sans Serif"/>
                <a:cs typeface="Microsoft Sans Serif"/>
              </a:rPr>
              <a:t>D-type </a:t>
            </a:r>
            <a:r>
              <a:rPr sz="1800" spc="-5" dirty="0">
                <a:latin typeface="Microsoft Sans Serif"/>
                <a:cs typeface="Microsoft Sans Serif"/>
              </a:rPr>
              <a:t>flip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flops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edge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triggered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125" y="4013"/>
            <a:ext cx="7980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FLIPFLOPS:MASTER</a:t>
            </a:r>
            <a:r>
              <a:rPr sz="3600" spc="75" dirty="0"/>
              <a:t> </a:t>
            </a:r>
            <a:r>
              <a:rPr sz="3600" spc="-100" dirty="0"/>
              <a:t>SLAVE</a:t>
            </a:r>
            <a:r>
              <a:rPr sz="3600" spc="190" dirty="0"/>
              <a:t> </a:t>
            </a:r>
            <a:r>
              <a:rPr sz="3600" spc="-30" dirty="0"/>
              <a:t>FLIPFLOP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8130" y="973413"/>
            <a:ext cx="8863965" cy="13208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73025" algn="ctr">
              <a:lnSpc>
                <a:spcPct val="100000"/>
              </a:lnSpc>
              <a:spcBef>
                <a:spcPts val="315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MASTER</a:t>
            </a:r>
            <a:r>
              <a:rPr sz="2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55" dirty="0">
                <a:solidFill>
                  <a:srgbClr val="FF0000"/>
                </a:solidFill>
                <a:latin typeface="Times New Roman"/>
                <a:cs typeface="Times New Roman"/>
              </a:rPr>
              <a:t>SLAVE</a:t>
            </a:r>
            <a:r>
              <a:rPr sz="28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FLIPFLOP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0"/>
              </a:spcBef>
            </a:pPr>
            <a:r>
              <a:rPr sz="1800" spc="-5" dirty="0">
                <a:latin typeface="Microsoft Sans Serif"/>
                <a:cs typeface="Microsoft Sans Serif"/>
              </a:rPr>
              <a:t>Master-slave flip </a:t>
            </a:r>
            <a:r>
              <a:rPr sz="1800" dirty="0">
                <a:latin typeface="Microsoft Sans Serif"/>
                <a:cs typeface="Microsoft Sans Serif"/>
              </a:rPr>
              <a:t>flop </a:t>
            </a:r>
            <a:r>
              <a:rPr sz="1800" spc="-5" dirty="0">
                <a:latin typeface="Microsoft Sans Serif"/>
                <a:cs typeface="Microsoft Sans Serif"/>
              </a:rPr>
              <a:t>is </a:t>
            </a:r>
            <a:r>
              <a:rPr sz="1800" dirty="0">
                <a:latin typeface="Microsoft Sans Serif"/>
                <a:cs typeface="Microsoft Sans Serif"/>
              </a:rPr>
              <a:t>designed using </a:t>
            </a:r>
            <a:r>
              <a:rPr sz="1800" spc="-25" dirty="0">
                <a:latin typeface="Microsoft Sans Serif"/>
                <a:cs typeface="Microsoft Sans Serif"/>
              </a:rPr>
              <a:t>two </a:t>
            </a:r>
            <a:r>
              <a:rPr sz="1800" dirty="0">
                <a:latin typeface="Microsoft Sans Serif"/>
                <a:cs typeface="Microsoft Sans Serif"/>
              </a:rPr>
              <a:t>separate </a:t>
            </a:r>
            <a:r>
              <a:rPr sz="1800" spc="-5" dirty="0">
                <a:latin typeface="Microsoft Sans Serif"/>
                <a:cs typeface="Microsoft Sans Serif"/>
              </a:rPr>
              <a:t>flip </a:t>
            </a:r>
            <a:r>
              <a:rPr sz="1800" dirty="0">
                <a:latin typeface="Microsoft Sans Serif"/>
                <a:cs typeface="Microsoft Sans Serif"/>
              </a:rPr>
              <a:t>flops. </a:t>
            </a:r>
            <a:r>
              <a:rPr sz="1800" spc="-5" dirty="0">
                <a:latin typeface="Microsoft Sans Serif"/>
                <a:cs typeface="Microsoft Sans Serif"/>
              </a:rPr>
              <a:t>Out </a:t>
            </a:r>
            <a:r>
              <a:rPr sz="1800" dirty="0">
                <a:latin typeface="Microsoft Sans Serif"/>
                <a:cs typeface="Microsoft Sans Serif"/>
              </a:rPr>
              <a:t>of </a:t>
            </a:r>
            <a:r>
              <a:rPr sz="1800" spc="5" dirty="0">
                <a:latin typeface="Microsoft Sans Serif"/>
                <a:cs typeface="Microsoft Sans Serif"/>
              </a:rPr>
              <a:t>these, </a:t>
            </a:r>
            <a:r>
              <a:rPr sz="1800" dirty="0">
                <a:latin typeface="Microsoft Sans Serif"/>
                <a:cs typeface="Microsoft Sans Serif"/>
              </a:rPr>
              <a:t>one acts as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master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other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slave.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figure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master-slave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J-K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flop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is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shown 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below.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135123"/>
            <a:ext cx="3808476" cy="23545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130" y="4446778"/>
            <a:ext cx="861441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above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figure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you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J-K</a:t>
            </a:r>
            <a:r>
              <a:rPr sz="1800" spc="75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flops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presented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in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 </a:t>
            </a:r>
            <a:r>
              <a:rPr sz="1800" dirty="0">
                <a:latin typeface="Microsoft Sans Serif"/>
                <a:cs typeface="Microsoft Sans Serif"/>
              </a:rPr>
              <a:t> series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connection.</a:t>
            </a:r>
            <a:r>
              <a:rPr sz="1800" spc="-1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output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master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J-K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flop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fed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input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slave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J-K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flip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flop.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output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slave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J-K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 </a:t>
            </a:r>
            <a:r>
              <a:rPr sz="1800" spc="-5" dirty="0">
                <a:latin typeface="Microsoft Sans Serif"/>
                <a:cs typeface="Microsoft Sans Serif"/>
              </a:rPr>
              <a:t>flop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given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feedback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input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master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J-K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 </a:t>
            </a:r>
            <a:r>
              <a:rPr sz="1800" dirty="0">
                <a:latin typeface="Microsoft Sans Serif"/>
                <a:cs typeface="Microsoft Sans Serif"/>
              </a:rPr>
              <a:t>flop.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clock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pulse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[Clk]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is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given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master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J-K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flop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5" dirty="0">
                <a:latin typeface="Microsoft Sans Serif"/>
                <a:cs typeface="Microsoft Sans Serif"/>
              </a:rPr>
              <a:t> it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sent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through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NOT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Gate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thus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inverted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before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passing </a:t>
            </a:r>
            <a:r>
              <a:rPr sz="1800" spc="10" dirty="0">
                <a:latin typeface="Microsoft Sans Serif"/>
                <a:cs typeface="Microsoft Sans Serif"/>
              </a:rPr>
              <a:t>it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 </a:t>
            </a:r>
            <a:r>
              <a:rPr sz="1800" spc="-5" dirty="0">
                <a:latin typeface="Microsoft Sans Serif"/>
                <a:cs typeface="Microsoft Sans Serif"/>
              </a:rPr>
              <a:t>slave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J-K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 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flop.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2477" y="4013"/>
            <a:ext cx="7980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FLIPFLOPS:MASTER</a:t>
            </a:r>
            <a:r>
              <a:rPr sz="3600" spc="75" dirty="0"/>
              <a:t> </a:t>
            </a:r>
            <a:r>
              <a:rPr sz="3600" spc="-100" dirty="0"/>
              <a:t>SLAVE</a:t>
            </a:r>
            <a:r>
              <a:rPr sz="3600" spc="190" dirty="0"/>
              <a:t> </a:t>
            </a:r>
            <a:r>
              <a:rPr sz="3600" spc="-30" dirty="0"/>
              <a:t>FLIPFLOP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724" y="1143000"/>
            <a:ext cx="6236208" cy="47914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125" y="4013"/>
            <a:ext cx="7980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FLIPFLOPS:MASTER</a:t>
            </a:r>
            <a:r>
              <a:rPr sz="3600" spc="75" dirty="0"/>
              <a:t> </a:t>
            </a:r>
            <a:r>
              <a:rPr sz="3600" spc="-100" dirty="0"/>
              <a:t>SLAVE</a:t>
            </a:r>
            <a:r>
              <a:rPr sz="3600" spc="190" dirty="0"/>
              <a:t> </a:t>
            </a:r>
            <a:r>
              <a:rPr sz="3600" spc="-30" dirty="0"/>
              <a:t>FLIPFLOP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8130" y="1014171"/>
            <a:ext cx="8778875" cy="304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truth</a:t>
            </a:r>
            <a:r>
              <a:rPr sz="1800" u="heavy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table</a:t>
            </a:r>
            <a:r>
              <a:rPr sz="1800" spc="10" dirty="0">
                <a:solidFill>
                  <a:srgbClr val="0000FF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corresponding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working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flip-flop</a:t>
            </a:r>
            <a:r>
              <a:rPr sz="1800" u="heavy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shown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Figure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given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Table </a:t>
            </a:r>
            <a:r>
              <a:rPr sz="1800" dirty="0">
                <a:latin typeface="Microsoft Sans Serif"/>
                <a:cs typeface="Microsoft Sans Serif"/>
              </a:rPr>
              <a:t>I. Here </a:t>
            </a:r>
            <a:r>
              <a:rPr sz="1800" spc="5" dirty="0">
                <a:latin typeface="Microsoft Sans Serif"/>
                <a:cs typeface="Microsoft Sans Serif"/>
              </a:rPr>
              <a:t>it is </a:t>
            </a:r>
            <a:r>
              <a:rPr sz="1800" dirty="0">
                <a:latin typeface="Microsoft Sans Serif"/>
                <a:cs typeface="Microsoft Sans Serif"/>
              </a:rPr>
              <a:t>seen that the outputs at the master-part of the </a:t>
            </a:r>
            <a:r>
              <a:rPr sz="1800" spc="-5" dirty="0">
                <a:latin typeface="Microsoft Sans Serif"/>
                <a:cs typeface="Microsoft Sans Serif"/>
              </a:rPr>
              <a:t>flip-flop </a:t>
            </a:r>
            <a:r>
              <a:rPr sz="1800" dirty="0">
                <a:latin typeface="Microsoft Sans Serif"/>
                <a:cs typeface="Microsoft Sans Serif"/>
              </a:rPr>
              <a:t>(data enclosed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10" dirty="0">
                <a:latin typeface="Microsoft Sans Serif"/>
                <a:cs typeface="Microsoft Sans Serif"/>
              </a:rPr>
              <a:t>in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boxes)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appear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during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positive-edge</a:t>
            </a:r>
            <a:r>
              <a:rPr sz="1800" spc="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 clock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(red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arrow).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However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instant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slave-outputs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remain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latched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unchanged.</a:t>
            </a:r>
            <a:r>
              <a:rPr sz="1800" spc="-18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same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5" dirty="0">
                <a:latin typeface="Microsoft Sans Serif"/>
                <a:cs typeface="Microsoft Sans Serif"/>
              </a:rPr>
              <a:t> is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transferred</a:t>
            </a:r>
            <a:r>
              <a:rPr sz="1800" spc="-1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output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pins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master-slave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flip-flop</a:t>
            </a:r>
            <a:r>
              <a:rPr sz="1800" spc="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(data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enclosed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in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blue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boxes)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slave </a:t>
            </a:r>
            <a:r>
              <a:rPr sz="1800" dirty="0">
                <a:latin typeface="Microsoft Sans Serif"/>
                <a:cs typeface="Microsoft Sans Serif"/>
              </a:rPr>
              <a:t> during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negative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edge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clock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pulse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(blue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arrow).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same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principle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further 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emphasized </a:t>
            </a:r>
            <a:r>
              <a:rPr sz="1800" spc="5" dirty="0">
                <a:latin typeface="Microsoft Sans Serif"/>
                <a:cs typeface="Microsoft Sans Serif"/>
              </a:rPr>
              <a:t>in </a:t>
            </a:r>
            <a:r>
              <a:rPr sz="1800" dirty="0">
                <a:latin typeface="Microsoft Sans Serif"/>
                <a:cs typeface="Microsoft Sans Serif"/>
              </a:rPr>
              <a:t>the timing diagram of </a:t>
            </a:r>
            <a:r>
              <a:rPr sz="1800" b="1" dirty="0">
                <a:latin typeface="Arial"/>
                <a:cs typeface="Arial"/>
              </a:rPr>
              <a:t>master-slave flip-flop </a:t>
            </a:r>
            <a:r>
              <a:rPr sz="1800" spc="-5" dirty="0">
                <a:latin typeface="Microsoft Sans Serif"/>
                <a:cs typeface="Microsoft Sans Serif"/>
              </a:rPr>
              <a:t>shown </a:t>
            </a:r>
            <a:r>
              <a:rPr sz="1800" dirty="0">
                <a:latin typeface="Microsoft Sans Serif"/>
                <a:cs typeface="Microsoft Sans Serif"/>
              </a:rPr>
              <a:t>by Figure 3. Here 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green </a:t>
            </a:r>
            <a:r>
              <a:rPr sz="1800" spc="-5" dirty="0">
                <a:latin typeface="Microsoft Sans Serif"/>
                <a:cs typeface="Microsoft Sans Serif"/>
              </a:rPr>
              <a:t>arrows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used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indicate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 slave-output</a:t>
            </a:r>
            <a:r>
              <a:rPr sz="1800" spc="105" dirty="0">
                <a:latin typeface="Microsoft Sans Serif"/>
                <a:cs typeface="Microsoft Sans Serif"/>
              </a:rPr>
              <a:t> </a:t>
            </a:r>
            <a:r>
              <a:rPr sz="1800" spc="10" dirty="0">
                <a:latin typeface="Microsoft Sans Serif"/>
                <a:cs typeface="Microsoft Sans Serif"/>
              </a:rPr>
              <a:t>is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nothing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but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master- 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output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delayed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half-a-clock</a:t>
            </a:r>
            <a:r>
              <a:rPr sz="1800" spc="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cycle.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Moreover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it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is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noted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working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any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other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type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master-slave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flip-flop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10" dirty="0">
                <a:latin typeface="Microsoft Sans Serif"/>
                <a:cs typeface="Microsoft Sans Serif"/>
              </a:rPr>
              <a:t>is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analogous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master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slave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JK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15" dirty="0">
                <a:latin typeface="Microsoft Sans Serif"/>
                <a:cs typeface="Microsoft Sans Serif"/>
              </a:rPr>
              <a:t>flip-flop 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explained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here.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7400" y="3808476"/>
            <a:ext cx="4343400" cy="26060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125" y="4013"/>
            <a:ext cx="7919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solidFill>
                  <a:srgbClr val="FF0000"/>
                </a:solidFill>
                <a:latin typeface="Times New Roman"/>
                <a:cs typeface="Times New Roman"/>
              </a:rPr>
              <a:t>FLIPFLOPS:MASTER</a:t>
            </a:r>
            <a:r>
              <a:rPr sz="36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195" dirty="0">
                <a:solidFill>
                  <a:srgbClr val="FF0000"/>
                </a:solidFill>
                <a:latin typeface="Times New Roman"/>
                <a:cs typeface="Times New Roman"/>
              </a:rPr>
              <a:t>SLAVE</a:t>
            </a:r>
            <a:r>
              <a:rPr sz="36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30" dirty="0">
                <a:solidFill>
                  <a:srgbClr val="FF0000"/>
                </a:solidFill>
                <a:latin typeface="Times New Roman"/>
                <a:cs typeface="Times New Roman"/>
              </a:rPr>
              <a:t>FLIPFLOP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" y="1014171"/>
            <a:ext cx="89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955547"/>
            <a:ext cx="6094476" cy="54726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517" y="2870"/>
            <a:ext cx="78041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FLIPFLOPS:EXCITATION</a:t>
            </a:r>
            <a:r>
              <a:rPr sz="3600" spc="-55" dirty="0"/>
              <a:t> </a:t>
            </a:r>
            <a:r>
              <a:rPr sz="3600" spc="-5" dirty="0"/>
              <a:t>FUNCTIONS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07035" y="1007110"/>
            <a:ext cx="8549640" cy="4789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0655">
              <a:lnSpc>
                <a:spcPct val="100000"/>
              </a:lnSpc>
              <a:spcBef>
                <a:spcPts val="105"/>
              </a:spcBef>
            </a:pPr>
            <a:r>
              <a:rPr sz="1600" spc="-40" dirty="0">
                <a:latin typeface="Times New Roman"/>
                <a:cs typeface="Times New Roman"/>
              </a:rPr>
              <a:t>In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electronics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design</a:t>
            </a:r>
            <a:r>
              <a:rPr sz="1600" dirty="0">
                <a:latin typeface="Times New Roman"/>
                <a:cs typeface="Times New Roman"/>
              </a:rPr>
              <a:t>, an </a:t>
            </a:r>
            <a:r>
              <a:rPr sz="1600" b="1" dirty="0">
                <a:latin typeface="Times New Roman"/>
                <a:cs typeface="Times New Roman"/>
              </a:rPr>
              <a:t>excitation table </a:t>
            </a:r>
            <a:r>
              <a:rPr sz="1600" spc="-10" dirty="0">
                <a:latin typeface="Times New Roman"/>
                <a:cs typeface="Times New Roman"/>
              </a:rPr>
              <a:t>shows </a:t>
            </a:r>
            <a:r>
              <a:rPr sz="1600" spc="5" dirty="0">
                <a:latin typeface="Times New Roman"/>
                <a:cs typeface="Times New Roman"/>
              </a:rPr>
              <a:t>the minimum inputs that </a:t>
            </a:r>
            <a:r>
              <a:rPr sz="1600" spc="-5" dirty="0">
                <a:latin typeface="Times New Roman"/>
                <a:cs typeface="Times New Roman"/>
              </a:rPr>
              <a:t>are necessary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generate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particular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next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(in</a:t>
            </a:r>
            <a:r>
              <a:rPr sz="1600" spc="-5" dirty="0">
                <a:latin typeface="Times New Roman"/>
                <a:cs typeface="Times New Roman"/>
              </a:rPr>
              <a:t> other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words,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"excite"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next </a:t>
            </a:r>
            <a:r>
              <a:rPr sz="1600" dirty="0">
                <a:latin typeface="Times New Roman"/>
                <a:cs typeface="Times New Roman"/>
              </a:rPr>
              <a:t>state)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current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known.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They </a:t>
            </a:r>
            <a:r>
              <a:rPr sz="1600" dirty="0">
                <a:latin typeface="Times New Roman"/>
                <a:cs typeface="Times New Roman"/>
              </a:rPr>
              <a:t>are similar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truth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tables</a:t>
            </a:r>
            <a:r>
              <a:rPr sz="1600" spc="-5" dirty="0">
                <a:solidFill>
                  <a:srgbClr val="0000FF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and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state tables</a:t>
            </a:r>
            <a:r>
              <a:rPr sz="1600" dirty="0">
                <a:latin typeface="Times New Roman"/>
                <a:cs typeface="Times New Roman"/>
              </a:rPr>
              <a:t>, </a:t>
            </a:r>
            <a:r>
              <a:rPr sz="1600" spc="5" dirty="0">
                <a:latin typeface="Times New Roman"/>
                <a:cs typeface="Times New Roman"/>
              </a:rPr>
              <a:t>but </a:t>
            </a:r>
            <a:r>
              <a:rPr sz="1600" spc="-5" dirty="0">
                <a:latin typeface="Times New Roman"/>
                <a:cs typeface="Times New Roman"/>
              </a:rPr>
              <a:t>rearrange </a:t>
            </a:r>
            <a:r>
              <a:rPr sz="1600" spc="5" dirty="0">
                <a:latin typeface="Times New Roman"/>
                <a:cs typeface="Times New Roman"/>
              </a:rPr>
              <a:t>the data </a:t>
            </a:r>
            <a:r>
              <a:rPr sz="1600" dirty="0">
                <a:latin typeface="Times New Roman"/>
                <a:cs typeface="Times New Roman"/>
              </a:rPr>
              <a:t>so </a:t>
            </a:r>
            <a:r>
              <a:rPr sz="1600" spc="5" dirty="0">
                <a:latin typeface="Times New Roman"/>
                <a:cs typeface="Times New Roman"/>
              </a:rPr>
              <a:t>that the </a:t>
            </a:r>
            <a:r>
              <a:rPr sz="1600" spc="-5" dirty="0">
                <a:latin typeface="Times New Roman"/>
                <a:cs typeface="Times New Roman"/>
              </a:rPr>
              <a:t>current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and </a:t>
            </a:r>
            <a:r>
              <a:rPr sz="1600" spc="-5" dirty="0">
                <a:latin typeface="Times New Roman"/>
                <a:cs typeface="Times New Roman"/>
              </a:rPr>
              <a:t>next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-5" dirty="0">
                <a:latin typeface="Times New Roman"/>
                <a:cs typeface="Times New Roman"/>
              </a:rPr>
              <a:t>are next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each other on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left-hand </a:t>
            </a:r>
            <a:r>
              <a:rPr sz="1600" spc="5" dirty="0">
                <a:latin typeface="Times New Roman"/>
                <a:cs typeface="Times New Roman"/>
              </a:rPr>
              <a:t>side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table, </a:t>
            </a:r>
            <a:r>
              <a:rPr sz="1600" spc="5" dirty="0">
                <a:latin typeface="Times New Roman"/>
                <a:cs typeface="Times New Roman"/>
              </a:rPr>
              <a:t>and the inputs </a:t>
            </a:r>
            <a:r>
              <a:rPr sz="1600" spc="-5" dirty="0">
                <a:latin typeface="Times New Roman"/>
                <a:cs typeface="Times New Roman"/>
              </a:rPr>
              <a:t>needed </a:t>
            </a:r>
            <a:r>
              <a:rPr sz="1600" spc="5" dirty="0">
                <a:latin typeface="Times New Roman"/>
                <a:cs typeface="Times New Roman"/>
              </a:rPr>
              <a:t>to make that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happen.</a:t>
            </a:r>
            <a:endParaRPr sz="1600">
              <a:latin typeface="Times New Roman"/>
              <a:cs typeface="Times New Roman"/>
            </a:endParaRPr>
          </a:p>
          <a:p>
            <a:pPr marL="12700" marR="606425">
              <a:lnSpc>
                <a:spcPct val="100000"/>
              </a:lnSpc>
              <a:spcBef>
                <a:spcPts val="5"/>
              </a:spcBef>
            </a:pPr>
            <a:r>
              <a:rPr sz="1600" spc="-30" dirty="0">
                <a:latin typeface="Times New Roman"/>
                <a:cs typeface="Times New Roman"/>
              </a:rPr>
              <a:t>All </a:t>
            </a:r>
            <a:r>
              <a:rPr sz="1600" spc="-5" dirty="0">
                <a:latin typeface="Times New Roman"/>
                <a:cs typeface="Times New Roman"/>
              </a:rPr>
              <a:t>flip-flops </a:t>
            </a:r>
            <a:r>
              <a:rPr sz="1600" dirty="0">
                <a:latin typeface="Times New Roman"/>
                <a:cs typeface="Times New Roman"/>
              </a:rPr>
              <a:t>can </a:t>
            </a:r>
            <a:r>
              <a:rPr sz="1600" spc="5" dirty="0">
                <a:latin typeface="Times New Roman"/>
                <a:cs typeface="Times New Roman"/>
              </a:rPr>
              <a:t>be </a:t>
            </a:r>
            <a:r>
              <a:rPr sz="1600" dirty="0">
                <a:latin typeface="Times New Roman"/>
                <a:cs typeface="Times New Roman"/>
              </a:rPr>
              <a:t>divided </a:t>
            </a:r>
            <a:r>
              <a:rPr sz="1600" spc="5" dirty="0">
                <a:latin typeface="Times New Roman"/>
                <a:cs typeface="Times New Roman"/>
              </a:rPr>
              <a:t>into </a:t>
            </a:r>
            <a:r>
              <a:rPr sz="1600" spc="-5" dirty="0">
                <a:latin typeface="Times New Roman"/>
                <a:cs typeface="Times New Roman"/>
              </a:rPr>
              <a:t>four </a:t>
            </a:r>
            <a:r>
              <a:rPr sz="1600" spc="5" dirty="0">
                <a:latin typeface="Times New Roman"/>
                <a:cs typeface="Times New Roman"/>
              </a:rPr>
              <a:t>basic </a:t>
            </a:r>
            <a:r>
              <a:rPr sz="1600" spc="-10" dirty="0">
                <a:latin typeface="Times New Roman"/>
                <a:cs typeface="Times New Roman"/>
              </a:rPr>
              <a:t>types: </a:t>
            </a:r>
            <a:r>
              <a:rPr sz="1600" b="1" spc="-5" dirty="0">
                <a:latin typeface="Times New Roman"/>
                <a:cs typeface="Times New Roman"/>
              </a:rPr>
              <a:t>SR</a:t>
            </a:r>
            <a:r>
              <a:rPr sz="1600" spc="-5" dirty="0">
                <a:latin typeface="Times New Roman"/>
                <a:cs typeface="Times New Roman"/>
              </a:rPr>
              <a:t>, </a:t>
            </a:r>
            <a:r>
              <a:rPr sz="1600" b="1" spc="5" dirty="0">
                <a:latin typeface="Times New Roman"/>
                <a:cs typeface="Times New Roman"/>
              </a:rPr>
              <a:t>JK</a:t>
            </a:r>
            <a:r>
              <a:rPr sz="1600" spc="5" dirty="0">
                <a:latin typeface="Times New Roman"/>
                <a:cs typeface="Times New Roman"/>
              </a:rPr>
              <a:t>, </a:t>
            </a:r>
            <a:r>
              <a:rPr sz="1600" b="1" spc="5" dirty="0">
                <a:latin typeface="Times New Roman"/>
                <a:cs typeface="Times New Roman"/>
              </a:rPr>
              <a:t>D </a:t>
            </a:r>
            <a:r>
              <a:rPr sz="1600" spc="5" dirty="0">
                <a:latin typeface="Times New Roman"/>
                <a:cs typeface="Times New Roman"/>
              </a:rPr>
              <a:t>and </a:t>
            </a:r>
            <a:r>
              <a:rPr sz="1600" b="1" spc="5" dirty="0">
                <a:latin typeface="Times New Roman"/>
                <a:cs typeface="Times New Roman"/>
              </a:rPr>
              <a:t>T</a:t>
            </a:r>
            <a:r>
              <a:rPr sz="1600" spc="5" dirty="0">
                <a:latin typeface="Times New Roman"/>
                <a:cs typeface="Times New Roman"/>
              </a:rPr>
              <a:t>. </a:t>
            </a:r>
            <a:r>
              <a:rPr sz="1600" spc="-10" dirty="0">
                <a:latin typeface="Times New Roman"/>
                <a:cs typeface="Times New Roman"/>
              </a:rPr>
              <a:t>They differ </a:t>
            </a:r>
            <a:r>
              <a:rPr sz="1600" spc="5" dirty="0">
                <a:latin typeface="Times New Roman"/>
                <a:cs typeface="Times New Roman"/>
              </a:rPr>
              <a:t>in the </a:t>
            </a:r>
            <a:r>
              <a:rPr sz="1600" dirty="0">
                <a:latin typeface="Times New Roman"/>
                <a:cs typeface="Times New Roman"/>
              </a:rPr>
              <a:t>number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inputs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response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invoked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by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 of </a:t>
            </a:r>
            <a:r>
              <a:rPr sz="1600" spc="15" dirty="0">
                <a:latin typeface="Times New Roman"/>
                <a:cs typeface="Times New Roman"/>
              </a:rPr>
              <a:t>inputsignals.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b="1" i="1" dirty="0">
                <a:latin typeface="Times New Roman"/>
                <a:cs typeface="Times New Roman"/>
              </a:rPr>
              <a:t>characteristic </a:t>
            </a:r>
            <a:r>
              <a:rPr sz="1600" b="1" i="1" spc="-10" dirty="0">
                <a:latin typeface="Times New Roman"/>
                <a:cs typeface="Times New Roman"/>
              </a:rPr>
              <a:t>table </a:t>
            </a:r>
            <a:r>
              <a:rPr sz="1600" spc="-10" dirty="0">
                <a:latin typeface="Times New Roman"/>
                <a:cs typeface="Times New Roman"/>
              </a:rPr>
              <a:t>in </a:t>
            </a:r>
            <a:r>
              <a:rPr sz="1600" spc="-5" dirty="0">
                <a:latin typeface="Times New Roman"/>
                <a:cs typeface="Times New Roman"/>
              </a:rPr>
              <a:t>the third column of </a:t>
            </a:r>
            <a:r>
              <a:rPr sz="1600" spc="-50" dirty="0">
                <a:latin typeface="Times New Roman"/>
                <a:cs typeface="Times New Roman"/>
              </a:rPr>
              <a:t>Table </a:t>
            </a:r>
            <a:r>
              <a:rPr sz="1600" spc="5" dirty="0">
                <a:latin typeface="Times New Roman"/>
                <a:cs typeface="Times New Roman"/>
              </a:rPr>
              <a:t>1 </a:t>
            </a:r>
            <a:r>
              <a:rPr sz="1600" spc="-5" dirty="0">
                <a:latin typeface="Times New Roman"/>
                <a:cs typeface="Times New Roman"/>
              </a:rPr>
              <a:t>defines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-5" dirty="0">
                <a:latin typeface="Times New Roman"/>
                <a:cs typeface="Times New Roman"/>
              </a:rPr>
              <a:t>of each flip-flop </a:t>
            </a:r>
            <a:r>
              <a:rPr sz="1600" spc="5" dirty="0">
                <a:latin typeface="Times New Roman"/>
                <a:cs typeface="Times New Roman"/>
              </a:rPr>
              <a:t>as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10" dirty="0">
                <a:latin typeface="Times New Roman"/>
                <a:cs typeface="Times New Roman"/>
              </a:rPr>
              <a:t>function </a:t>
            </a:r>
            <a:r>
              <a:rPr sz="1600" spc="-40" dirty="0">
                <a:latin typeface="Times New Roman"/>
                <a:cs typeface="Times New Roman"/>
              </a:rPr>
              <a:t>of 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its </a:t>
            </a:r>
            <a:r>
              <a:rPr sz="1600" dirty="0">
                <a:latin typeface="Times New Roman"/>
                <a:cs typeface="Times New Roman"/>
              </a:rPr>
              <a:t>inputs </a:t>
            </a:r>
            <a:r>
              <a:rPr sz="1600" spc="-10" dirty="0">
                <a:latin typeface="Times New Roman"/>
                <a:cs typeface="Times New Roman"/>
              </a:rPr>
              <a:t>and previous </a:t>
            </a:r>
            <a:r>
              <a:rPr sz="1600" spc="-5" dirty="0">
                <a:latin typeface="Times New Roman"/>
                <a:cs typeface="Times New Roman"/>
              </a:rPr>
              <a:t>state. </a:t>
            </a:r>
            <a:r>
              <a:rPr sz="1600" b="1" spc="5" dirty="0">
                <a:latin typeface="Times New Roman"/>
                <a:cs typeface="Times New Roman"/>
              </a:rPr>
              <a:t>Q </a:t>
            </a:r>
            <a:r>
              <a:rPr sz="1600" spc="-10" dirty="0">
                <a:latin typeface="Times New Roman"/>
                <a:cs typeface="Times New Roman"/>
              </a:rPr>
              <a:t>refers </a:t>
            </a:r>
            <a:r>
              <a:rPr sz="1600" spc="5" dirty="0">
                <a:latin typeface="Times New Roman"/>
                <a:cs typeface="Times New Roman"/>
              </a:rPr>
              <a:t>to the </a:t>
            </a:r>
            <a:r>
              <a:rPr sz="1600" spc="-10" dirty="0">
                <a:latin typeface="Times New Roman"/>
                <a:cs typeface="Times New Roman"/>
              </a:rPr>
              <a:t>present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-10" dirty="0">
                <a:latin typeface="Times New Roman"/>
                <a:cs typeface="Times New Roman"/>
              </a:rPr>
              <a:t>and </a:t>
            </a:r>
            <a:r>
              <a:rPr sz="1600" b="1" spc="-10" dirty="0">
                <a:latin typeface="Times New Roman"/>
                <a:cs typeface="Times New Roman"/>
              </a:rPr>
              <a:t>Q(next) </a:t>
            </a:r>
            <a:r>
              <a:rPr sz="1600" spc="-10" dirty="0">
                <a:latin typeface="Times New Roman"/>
                <a:cs typeface="Times New Roman"/>
              </a:rPr>
              <a:t>refers </a:t>
            </a:r>
            <a:r>
              <a:rPr sz="1600" spc="5" dirty="0">
                <a:latin typeface="Times New Roman"/>
                <a:cs typeface="Times New Roman"/>
              </a:rPr>
              <a:t>to the </a:t>
            </a:r>
            <a:r>
              <a:rPr sz="1600" spc="-5" dirty="0">
                <a:latin typeface="Times New Roman"/>
                <a:cs typeface="Times New Roman"/>
              </a:rPr>
              <a:t>next state </a:t>
            </a:r>
            <a:r>
              <a:rPr sz="1600" spc="-10" dirty="0">
                <a:latin typeface="Times New Roman"/>
                <a:cs typeface="Times New Roman"/>
              </a:rPr>
              <a:t>after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occurrence of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clock </a:t>
            </a:r>
            <a:r>
              <a:rPr sz="1600" spc="-5" dirty="0">
                <a:latin typeface="Times New Roman"/>
                <a:cs typeface="Times New Roman"/>
              </a:rPr>
              <a:t>pulse.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characteristic </a:t>
            </a:r>
            <a:r>
              <a:rPr sz="1600" spc="-5" dirty="0">
                <a:latin typeface="Times New Roman"/>
                <a:cs typeface="Times New Roman"/>
              </a:rPr>
              <a:t>table </a:t>
            </a:r>
            <a:r>
              <a:rPr sz="1600" spc="-10" dirty="0">
                <a:latin typeface="Times New Roman"/>
                <a:cs typeface="Times New Roman"/>
              </a:rPr>
              <a:t>for </a:t>
            </a:r>
            <a:r>
              <a:rPr sz="1600" spc="5" dirty="0">
                <a:latin typeface="Times New Roman"/>
                <a:cs typeface="Times New Roman"/>
              </a:rPr>
              <a:t>the RS </a:t>
            </a:r>
            <a:r>
              <a:rPr sz="1600" dirty="0">
                <a:latin typeface="Times New Roman"/>
                <a:cs typeface="Times New Roman"/>
              </a:rPr>
              <a:t>flip-flop </a:t>
            </a:r>
            <a:r>
              <a:rPr sz="1600" spc="-15" dirty="0">
                <a:latin typeface="Times New Roman"/>
                <a:cs typeface="Times New Roman"/>
              </a:rPr>
              <a:t>shows </a:t>
            </a:r>
            <a:r>
              <a:rPr sz="1600" spc="5" dirty="0">
                <a:latin typeface="Times New Roman"/>
                <a:cs typeface="Times New Roman"/>
              </a:rPr>
              <a:t>that the </a:t>
            </a:r>
            <a:r>
              <a:rPr sz="1600" spc="-5" dirty="0">
                <a:latin typeface="Times New Roman"/>
                <a:cs typeface="Times New Roman"/>
              </a:rPr>
              <a:t>next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is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equal </a:t>
            </a:r>
            <a:r>
              <a:rPr sz="1600" spc="5" dirty="0">
                <a:latin typeface="Times New Roman"/>
                <a:cs typeface="Times New Roman"/>
              </a:rPr>
              <a:t>to the </a:t>
            </a:r>
            <a:r>
              <a:rPr sz="1600" spc="-5" dirty="0">
                <a:latin typeface="Times New Roman"/>
                <a:cs typeface="Times New Roman"/>
              </a:rPr>
              <a:t>present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 </a:t>
            </a:r>
            <a:r>
              <a:rPr sz="1600" spc="-15" dirty="0">
                <a:latin typeface="Times New Roman"/>
                <a:cs typeface="Times New Roman"/>
              </a:rPr>
              <a:t>when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both</a:t>
            </a:r>
            <a:r>
              <a:rPr sz="1600" dirty="0">
                <a:latin typeface="Times New Roman"/>
                <a:cs typeface="Times New Roman"/>
              </a:rPr>
              <a:t> inputs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1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R </a:t>
            </a:r>
            <a:r>
              <a:rPr sz="1600" spc="-5" dirty="0">
                <a:latin typeface="Times New Roman"/>
                <a:cs typeface="Times New Roman"/>
              </a:rPr>
              <a:t>are equal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 0. </a:t>
            </a:r>
            <a:r>
              <a:rPr sz="1600" spc="-20" dirty="0">
                <a:latin typeface="Times New Roman"/>
                <a:cs typeface="Times New Roman"/>
              </a:rPr>
              <a:t>When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R=1, </a:t>
            </a:r>
            <a:r>
              <a:rPr sz="1600" spc="-5" dirty="0">
                <a:latin typeface="Times New Roman"/>
                <a:cs typeface="Times New Roman"/>
              </a:rPr>
              <a:t>the next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clock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pulse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clears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flip-flop. </a:t>
            </a:r>
            <a:r>
              <a:rPr sz="1600" spc="-15" dirty="0">
                <a:latin typeface="Times New Roman"/>
                <a:cs typeface="Times New Roman"/>
              </a:rPr>
              <a:t>When </a:t>
            </a:r>
            <a:r>
              <a:rPr sz="1600" spc="-5" dirty="0">
                <a:latin typeface="Times New Roman"/>
                <a:cs typeface="Times New Roman"/>
              </a:rPr>
              <a:t>S=1,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flip-flop output </a:t>
            </a:r>
            <a:r>
              <a:rPr sz="1600" spc="5" dirty="0">
                <a:latin typeface="Times New Roman"/>
                <a:cs typeface="Times New Roman"/>
              </a:rPr>
              <a:t>Q is </a:t>
            </a:r>
            <a:r>
              <a:rPr sz="1600" spc="-5" dirty="0">
                <a:latin typeface="Times New Roman"/>
                <a:cs typeface="Times New Roman"/>
              </a:rPr>
              <a:t>set </a:t>
            </a:r>
            <a:r>
              <a:rPr sz="1600" spc="5" dirty="0">
                <a:latin typeface="Times New Roman"/>
                <a:cs typeface="Times New Roman"/>
              </a:rPr>
              <a:t>to 1.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equation </a:t>
            </a:r>
            <a:r>
              <a:rPr sz="1600" spc="-5" dirty="0">
                <a:latin typeface="Times New Roman"/>
                <a:cs typeface="Times New Roman"/>
              </a:rPr>
              <a:t>mark </a:t>
            </a:r>
            <a:r>
              <a:rPr sz="1600" spc="-10" dirty="0">
                <a:latin typeface="Times New Roman"/>
                <a:cs typeface="Times New Roman"/>
              </a:rPr>
              <a:t>(?) for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next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equal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1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designates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indeterminate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next</a:t>
            </a:r>
            <a:r>
              <a:rPr sz="1600" spc="-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state.</a:t>
            </a:r>
            <a:endParaRPr sz="16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characteristic </a:t>
            </a:r>
            <a:r>
              <a:rPr sz="1600" spc="-5" dirty="0">
                <a:latin typeface="Times New Roman"/>
                <a:cs typeface="Times New Roman"/>
              </a:rPr>
              <a:t>table </a:t>
            </a:r>
            <a:r>
              <a:rPr sz="1600" spc="-10" dirty="0">
                <a:latin typeface="Times New Roman"/>
                <a:cs typeface="Times New Roman"/>
              </a:rPr>
              <a:t>for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JK flip-flop </a:t>
            </a:r>
            <a:r>
              <a:rPr sz="1600" spc="5" dirty="0">
                <a:latin typeface="Times New Roman"/>
                <a:cs typeface="Times New Roman"/>
              </a:rPr>
              <a:t>is the </a:t>
            </a:r>
            <a:r>
              <a:rPr sz="1600" dirty="0">
                <a:latin typeface="Times New Roman"/>
                <a:cs typeface="Times New Roman"/>
              </a:rPr>
              <a:t>same </a:t>
            </a:r>
            <a:r>
              <a:rPr sz="1600" spc="5" dirty="0">
                <a:latin typeface="Times New Roman"/>
                <a:cs typeface="Times New Roman"/>
              </a:rPr>
              <a:t>as that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the RS </a:t>
            </a:r>
            <a:r>
              <a:rPr sz="1600" spc="-25" dirty="0">
                <a:latin typeface="Times New Roman"/>
                <a:cs typeface="Times New Roman"/>
              </a:rPr>
              <a:t>when </a:t>
            </a:r>
            <a:r>
              <a:rPr sz="1600" dirty="0">
                <a:latin typeface="Times New Roman"/>
                <a:cs typeface="Times New Roman"/>
              </a:rPr>
              <a:t>J </a:t>
            </a:r>
            <a:r>
              <a:rPr sz="1600" spc="5" dirty="0">
                <a:latin typeface="Times New Roman"/>
                <a:cs typeface="Times New Roman"/>
              </a:rPr>
              <a:t>and K are </a:t>
            </a:r>
            <a:r>
              <a:rPr sz="1600" spc="-5" dirty="0">
                <a:latin typeface="Times New Roman"/>
                <a:cs typeface="Times New Roman"/>
              </a:rPr>
              <a:t>replaced </a:t>
            </a:r>
            <a:r>
              <a:rPr sz="1600" spc="5" dirty="0">
                <a:latin typeface="Times New Roman"/>
                <a:cs typeface="Times New Roman"/>
              </a:rPr>
              <a:t>by </a:t>
            </a: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5" dirty="0">
                <a:latin typeface="Times New Roman"/>
                <a:cs typeface="Times New Roman"/>
              </a:rPr>
              <a:t>R </a:t>
            </a:r>
            <a:r>
              <a:rPr sz="1600" spc="-25" dirty="0">
                <a:latin typeface="Times New Roman"/>
                <a:cs typeface="Times New Roman"/>
              </a:rPr>
              <a:t>respectively, </a:t>
            </a:r>
            <a:r>
              <a:rPr sz="1600" spc="-5" dirty="0">
                <a:latin typeface="Times New Roman"/>
                <a:cs typeface="Times New Roman"/>
              </a:rPr>
              <a:t>except </a:t>
            </a:r>
            <a:r>
              <a:rPr sz="1600" spc="-10" dirty="0">
                <a:latin typeface="Times New Roman"/>
                <a:cs typeface="Times New Roman"/>
              </a:rPr>
              <a:t>for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indeterminate </a:t>
            </a:r>
            <a:r>
              <a:rPr sz="1600" dirty="0">
                <a:latin typeface="Times New Roman"/>
                <a:cs typeface="Times New Roman"/>
              </a:rPr>
              <a:t>case. </a:t>
            </a:r>
            <a:r>
              <a:rPr sz="1600" spc="-10" dirty="0">
                <a:latin typeface="Times New Roman"/>
                <a:cs typeface="Times New Roman"/>
              </a:rPr>
              <a:t>When </a:t>
            </a:r>
            <a:r>
              <a:rPr sz="1600" spc="-5" dirty="0">
                <a:latin typeface="Times New Roman"/>
                <a:cs typeface="Times New Roman"/>
              </a:rPr>
              <a:t>both </a:t>
            </a:r>
            <a:r>
              <a:rPr sz="1600" dirty="0">
                <a:latin typeface="Times New Roman"/>
                <a:cs typeface="Times New Roman"/>
              </a:rPr>
              <a:t>J </a:t>
            </a:r>
            <a:r>
              <a:rPr sz="1600" spc="-10" dirty="0">
                <a:latin typeface="Times New Roman"/>
                <a:cs typeface="Times New Roman"/>
              </a:rPr>
              <a:t>and </a:t>
            </a:r>
            <a:r>
              <a:rPr sz="1600" spc="5" dirty="0">
                <a:latin typeface="Times New Roman"/>
                <a:cs typeface="Times New Roman"/>
              </a:rPr>
              <a:t>K </a:t>
            </a:r>
            <a:r>
              <a:rPr sz="1600" spc="-5" dirty="0">
                <a:latin typeface="Times New Roman"/>
                <a:cs typeface="Times New Roman"/>
              </a:rPr>
              <a:t>are </a:t>
            </a:r>
            <a:r>
              <a:rPr sz="1600" dirty="0">
                <a:latin typeface="Times New Roman"/>
                <a:cs typeface="Times New Roman"/>
              </a:rPr>
              <a:t>equal </a:t>
            </a:r>
            <a:r>
              <a:rPr sz="1600" spc="5" dirty="0">
                <a:latin typeface="Times New Roman"/>
                <a:cs typeface="Times New Roman"/>
              </a:rPr>
              <a:t>to 1, the </a:t>
            </a:r>
            <a:r>
              <a:rPr sz="1600" spc="-5" dirty="0">
                <a:latin typeface="Times New Roman"/>
                <a:cs typeface="Times New Roman"/>
              </a:rPr>
              <a:t>next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is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equal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complement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present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that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Q(next)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=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Q'.</a:t>
            </a:r>
            <a:endParaRPr sz="1600">
              <a:latin typeface="Times New Roman"/>
              <a:cs typeface="Times New Roman"/>
            </a:endParaRPr>
          </a:p>
          <a:p>
            <a:pPr marL="12700" marR="48260" algn="just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The next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the D </a:t>
            </a:r>
            <a:r>
              <a:rPr sz="1600" spc="-5" dirty="0">
                <a:latin typeface="Times New Roman"/>
                <a:cs typeface="Times New Roman"/>
              </a:rPr>
              <a:t>flip-flop </a:t>
            </a:r>
            <a:r>
              <a:rPr sz="1600" spc="5" dirty="0">
                <a:latin typeface="Times New Roman"/>
                <a:cs typeface="Times New Roman"/>
              </a:rPr>
              <a:t>is </a:t>
            </a:r>
            <a:r>
              <a:rPr sz="1600" spc="-5" dirty="0">
                <a:latin typeface="Times New Roman"/>
                <a:cs typeface="Times New Roman"/>
              </a:rPr>
              <a:t>completely dependent on </a:t>
            </a:r>
            <a:r>
              <a:rPr sz="1600" spc="5" dirty="0">
                <a:latin typeface="Times New Roman"/>
                <a:cs typeface="Times New Roman"/>
              </a:rPr>
              <a:t>the input D and </a:t>
            </a:r>
            <a:r>
              <a:rPr sz="1600" dirty="0">
                <a:latin typeface="Times New Roman"/>
                <a:cs typeface="Times New Roman"/>
              </a:rPr>
              <a:t>independent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present </a:t>
            </a:r>
            <a:r>
              <a:rPr sz="1600" dirty="0">
                <a:latin typeface="Times New Roman"/>
                <a:cs typeface="Times New Roman"/>
              </a:rPr>
              <a:t> state.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next</a:t>
            </a:r>
            <a:r>
              <a:rPr sz="1600" dirty="0">
                <a:latin typeface="Times New Roman"/>
                <a:cs typeface="Times New Roman"/>
              </a:rPr>
              <a:t> state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flip-flop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present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Q</a:t>
            </a:r>
            <a:r>
              <a:rPr sz="1600" dirty="0">
                <a:latin typeface="Times New Roman"/>
                <a:cs typeface="Times New Roman"/>
              </a:rPr>
              <a:t> if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T=0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and </a:t>
            </a:r>
            <a:r>
              <a:rPr sz="1600" spc="-5" dirty="0">
                <a:latin typeface="Times New Roman"/>
                <a:cs typeface="Times New Roman"/>
              </a:rPr>
              <a:t>complemented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T=1.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55619" y="1046810"/>
            <a:ext cx="20167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SR</a:t>
            </a:r>
            <a:r>
              <a:rPr sz="3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3200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3917" y="2870"/>
            <a:ext cx="78111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FLIPFLOPS:EXCITATION</a:t>
            </a:r>
            <a:r>
              <a:rPr sz="3600" dirty="0"/>
              <a:t> </a:t>
            </a:r>
            <a:r>
              <a:rPr sz="3600" spc="-5" dirty="0"/>
              <a:t>FUNCTIONS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905000"/>
            <a:ext cx="972312" cy="8564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1600200"/>
            <a:ext cx="2904744" cy="11826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03375" y="2989579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imes New Roman"/>
                <a:cs typeface="Times New Roman"/>
              </a:rPr>
              <a:t>FLIP-FLOPSYMBOL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2388" y="2989579"/>
            <a:ext cx="269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CH</a:t>
            </a:r>
            <a:r>
              <a:rPr sz="1800" spc="-4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ERI</a:t>
            </a:r>
            <a:r>
              <a:rPr sz="1800" spc="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IC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8575" y="5582513"/>
            <a:ext cx="3154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CHARACTERISTIC</a:t>
            </a:r>
            <a:r>
              <a:rPr sz="1800" spc="-55" dirty="0">
                <a:latin typeface="Times New Roman"/>
                <a:cs typeface="Times New Roman"/>
              </a:rPr>
              <a:t> EQUATION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9588" y="5659018"/>
            <a:ext cx="204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imes New Roman"/>
                <a:cs typeface="Times New Roman"/>
              </a:rPr>
              <a:t>E</a:t>
            </a:r>
            <a:r>
              <a:rPr sz="1800" spc="-35" dirty="0">
                <a:latin typeface="Times New Roman"/>
                <a:cs typeface="Times New Roman"/>
              </a:rPr>
              <a:t>X</a:t>
            </a:r>
            <a:r>
              <a:rPr sz="1800" spc="-50" dirty="0">
                <a:latin typeface="Times New Roman"/>
                <a:cs typeface="Times New Roman"/>
              </a:rPr>
              <a:t>CI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275" dirty="0">
                <a:latin typeface="Times New Roman"/>
                <a:cs typeface="Times New Roman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I</a:t>
            </a:r>
            <a:r>
              <a:rPr sz="1800" spc="-60" dirty="0">
                <a:latin typeface="Times New Roman"/>
                <a:cs typeface="Times New Roman"/>
              </a:rPr>
              <a:t>O</a:t>
            </a:r>
            <a:r>
              <a:rPr sz="1800" spc="-5" dirty="0">
                <a:latin typeface="Times New Roman"/>
                <a:cs typeface="Times New Roman"/>
              </a:rPr>
              <a:t>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7400" y="3962400"/>
            <a:ext cx="1466088" cy="725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0" y="3733800"/>
            <a:ext cx="2913888" cy="115214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76954" y="1046810"/>
            <a:ext cx="197738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JK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3917" y="2870"/>
            <a:ext cx="78111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FLIPFLOPS:EXCITATION</a:t>
            </a:r>
            <a:r>
              <a:rPr sz="3600" dirty="0"/>
              <a:t> </a:t>
            </a:r>
            <a:r>
              <a:rPr sz="3600" spc="-5" dirty="0"/>
              <a:t>FUNCTIONS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1603375" y="2989579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imes New Roman"/>
                <a:cs typeface="Times New Roman"/>
              </a:rPr>
              <a:t>FLIP-FLOPSYMBOL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2388" y="2989579"/>
            <a:ext cx="269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CH</a:t>
            </a:r>
            <a:r>
              <a:rPr sz="1800" spc="-4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ERI</a:t>
            </a:r>
            <a:r>
              <a:rPr sz="1800" spc="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IC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575" y="5582513"/>
            <a:ext cx="3154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CHARACTERISTIC</a:t>
            </a:r>
            <a:r>
              <a:rPr sz="1800" spc="-55" dirty="0">
                <a:latin typeface="Times New Roman"/>
                <a:cs typeface="Times New Roman"/>
              </a:rPr>
              <a:t> EQUATION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9588" y="5659018"/>
            <a:ext cx="204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imes New Roman"/>
                <a:cs typeface="Times New Roman"/>
              </a:rPr>
              <a:t>E</a:t>
            </a:r>
            <a:r>
              <a:rPr sz="1800" spc="-35" dirty="0">
                <a:latin typeface="Times New Roman"/>
                <a:cs typeface="Times New Roman"/>
              </a:rPr>
              <a:t>X</a:t>
            </a:r>
            <a:r>
              <a:rPr sz="1800" spc="-50" dirty="0">
                <a:latin typeface="Times New Roman"/>
                <a:cs typeface="Times New Roman"/>
              </a:rPr>
              <a:t>CI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275" dirty="0">
                <a:latin typeface="Times New Roman"/>
                <a:cs typeface="Times New Roman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I</a:t>
            </a:r>
            <a:r>
              <a:rPr sz="1800" spc="-60" dirty="0">
                <a:latin typeface="Times New Roman"/>
                <a:cs typeface="Times New Roman"/>
              </a:rPr>
              <a:t>O</a:t>
            </a:r>
            <a:r>
              <a:rPr sz="1800" spc="-5" dirty="0">
                <a:latin typeface="Times New Roman"/>
                <a:cs typeface="Times New Roman"/>
              </a:rPr>
              <a:t>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828800"/>
            <a:ext cx="1286255" cy="10302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1752600"/>
            <a:ext cx="2904744" cy="1182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4191000"/>
            <a:ext cx="2667000" cy="762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00600" y="3810000"/>
            <a:ext cx="2944368" cy="117043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56203" y="1046810"/>
            <a:ext cx="181863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3917" y="2870"/>
            <a:ext cx="78111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FLIPFLOPS:EXCITATION</a:t>
            </a:r>
            <a:r>
              <a:rPr sz="3600" dirty="0"/>
              <a:t> </a:t>
            </a:r>
            <a:r>
              <a:rPr sz="3600" spc="-5" dirty="0"/>
              <a:t>FUNCTIONS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1603375" y="2989579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imes New Roman"/>
                <a:cs typeface="Times New Roman"/>
              </a:rPr>
              <a:t>FLIP-FLOPSYMBOL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2388" y="2989579"/>
            <a:ext cx="269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CH</a:t>
            </a:r>
            <a:r>
              <a:rPr sz="1800" spc="-4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ERI</a:t>
            </a:r>
            <a:r>
              <a:rPr sz="1800" spc="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IC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575" y="5582513"/>
            <a:ext cx="3154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CHARACTERISTIC</a:t>
            </a:r>
            <a:r>
              <a:rPr sz="1800" spc="-55" dirty="0">
                <a:latin typeface="Times New Roman"/>
                <a:cs typeface="Times New Roman"/>
              </a:rPr>
              <a:t> EQUATION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9588" y="5659018"/>
            <a:ext cx="204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imes New Roman"/>
                <a:cs typeface="Times New Roman"/>
              </a:rPr>
              <a:t>E</a:t>
            </a:r>
            <a:r>
              <a:rPr sz="1800" spc="-35" dirty="0">
                <a:latin typeface="Times New Roman"/>
                <a:cs typeface="Times New Roman"/>
              </a:rPr>
              <a:t>X</a:t>
            </a:r>
            <a:r>
              <a:rPr sz="1800" spc="-50" dirty="0">
                <a:latin typeface="Times New Roman"/>
                <a:cs typeface="Times New Roman"/>
              </a:rPr>
              <a:t>CI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275" dirty="0">
                <a:latin typeface="Times New Roman"/>
                <a:cs typeface="Times New Roman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I</a:t>
            </a:r>
            <a:r>
              <a:rPr sz="1800" spc="-60" dirty="0">
                <a:latin typeface="Times New Roman"/>
                <a:cs typeface="Times New Roman"/>
              </a:rPr>
              <a:t>O</a:t>
            </a:r>
            <a:r>
              <a:rPr sz="1800" spc="-5" dirty="0">
                <a:latin typeface="Times New Roman"/>
                <a:cs typeface="Times New Roman"/>
              </a:rPr>
              <a:t>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05000"/>
            <a:ext cx="1246632" cy="914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905000"/>
            <a:ext cx="3133344" cy="9631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800" y="4114800"/>
            <a:ext cx="1895855" cy="9906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0" y="3886200"/>
            <a:ext cx="3029711" cy="12192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83634" y="1046810"/>
            <a:ext cx="175513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32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3917" y="2870"/>
            <a:ext cx="78111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FLIPFLOPS:EXCITATION</a:t>
            </a:r>
            <a:r>
              <a:rPr sz="3600" dirty="0"/>
              <a:t> </a:t>
            </a:r>
            <a:r>
              <a:rPr sz="3600" spc="-5" dirty="0"/>
              <a:t>FUNCTIONS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1603375" y="2989579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imes New Roman"/>
                <a:cs typeface="Times New Roman"/>
              </a:rPr>
              <a:t>FLIP-FLOPSYMBOL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2388" y="2989579"/>
            <a:ext cx="269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CH</a:t>
            </a:r>
            <a:r>
              <a:rPr sz="1800" spc="-4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spc="-3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ERI</a:t>
            </a:r>
            <a:r>
              <a:rPr sz="1800" spc="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IC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5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5582513"/>
            <a:ext cx="31565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CHARACTERISTIC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EQUATION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91988" y="5506313"/>
            <a:ext cx="2044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imes New Roman"/>
                <a:cs typeface="Times New Roman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X</a:t>
            </a:r>
            <a:r>
              <a:rPr sz="1800" spc="-50" dirty="0">
                <a:latin typeface="Times New Roman"/>
                <a:cs typeface="Times New Roman"/>
              </a:rPr>
              <a:t>CI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270" dirty="0">
                <a:latin typeface="Times New Roman"/>
                <a:cs typeface="Times New Roman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I</a:t>
            </a:r>
            <a:r>
              <a:rPr sz="1800" spc="-5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15" dirty="0">
                <a:latin typeface="Times New Roman"/>
                <a:cs typeface="Times New Roman"/>
              </a:rPr>
              <a:t>T</a:t>
            </a:r>
            <a:r>
              <a:rPr sz="1800" spc="-80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spc="-7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191768" cy="9723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981200"/>
            <a:ext cx="3340607" cy="990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4191000"/>
            <a:ext cx="2886455" cy="9144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733800"/>
            <a:ext cx="4178807" cy="16764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07035" y="1082802"/>
            <a:ext cx="8550910" cy="331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LIP</a:t>
            </a:r>
            <a:r>
              <a:rPr sz="18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K FLIPFLOP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85725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 </a:t>
            </a:r>
            <a:r>
              <a:rPr sz="1800" spc="-10" dirty="0">
                <a:latin typeface="Times New Roman"/>
                <a:cs typeface="Times New Roman"/>
              </a:rPr>
              <a:t>will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10" dirty="0">
                <a:latin typeface="Times New Roman"/>
                <a:cs typeface="Times New Roman"/>
              </a:rPr>
              <a:t>given as </a:t>
            </a:r>
            <a:r>
              <a:rPr sz="1800" spc="-5" dirty="0">
                <a:latin typeface="Times New Roman"/>
                <a:cs typeface="Times New Roman"/>
              </a:rPr>
              <a:t>external </a:t>
            </a:r>
            <a:r>
              <a:rPr sz="1800" spc="5" dirty="0">
                <a:latin typeface="Times New Roman"/>
                <a:cs typeface="Times New Roman"/>
              </a:rPr>
              <a:t>inputs </a:t>
            </a:r>
            <a:r>
              <a:rPr sz="1800" spc="-15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R. </a:t>
            </a:r>
            <a:r>
              <a:rPr sz="1800" spc="-30" dirty="0">
                <a:latin typeface="Times New Roman"/>
                <a:cs typeface="Times New Roman"/>
              </a:rPr>
              <a:t>As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logic diagram </a:t>
            </a:r>
            <a:r>
              <a:rPr sz="1800" spc="-45" dirty="0">
                <a:latin typeface="Times New Roman"/>
                <a:cs typeface="Times New Roman"/>
              </a:rPr>
              <a:t>below, </a:t>
            </a:r>
            <a:r>
              <a:rPr sz="1800" spc="-5" dirty="0">
                <a:latin typeface="Times New Roman"/>
                <a:cs typeface="Times New Roman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 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dirty="0">
                <a:latin typeface="Times New Roman"/>
                <a:cs typeface="Times New Roman"/>
              </a:rPr>
              <a:t> 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combinational</a:t>
            </a:r>
            <a:r>
              <a:rPr sz="1800" spc="-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circuit.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tables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flip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flop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conversion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given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represented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800" spc="5" dirty="0">
                <a:latin typeface="Times New Roman"/>
                <a:cs typeface="Times New Roman"/>
              </a:rPr>
              <a:t>by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Qp+1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dirty="0">
                <a:latin typeface="Times New Roman"/>
                <a:cs typeface="Times New Roman"/>
              </a:rPr>
              <a:t> obtained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applied.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two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inputs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K,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will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eight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possible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combinations.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each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combination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of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J, K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Qp,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corresponding Qp+1 states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spc="-10" dirty="0">
                <a:latin typeface="Times New Roman"/>
                <a:cs typeface="Times New Roman"/>
              </a:rPr>
              <a:t>found. </a:t>
            </a:r>
            <a:r>
              <a:rPr sz="1800" spc="-15" dirty="0">
                <a:latin typeface="Times New Roman"/>
                <a:cs typeface="Times New Roman"/>
              </a:rPr>
              <a:t>Qp+1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simply </a:t>
            </a:r>
            <a:r>
              <a:rPr sz="1800" spc="-5" dirty="0">
                <a:latin typeface="Times New Roman"/>
                <a:cs typeface="Times New Roman"/>
              </a:rPr>
              <a:t>suggests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future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spc="-15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obtained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JK flip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flop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after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value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Qp.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table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then </a:t>
            </a:r>
            <a:r>
              <a:rPr sz="1800" spc="-10" dirty="0">
                <a:latin typeface="Times New Roman"/>
                <a:cs typeface="Times New Roman"/>
              </a:rPr>
              <a:t>completed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writing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S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R </a:t>
            </a:r>
            <a:r>
              <a:rPr sz="1800" spc="-10" dirty="0">
                <a:latin typeface="Times New Roman"/>
                <a:cs typeface="Times New Roman"/>
              </a:rPr>
              <a:t>required </a:t>
            </a:r>
            <a:r>
              <a:rPr sz="1800" spc="-15" dirty="0">
                <a:latin typeface="Times New Roman"/>
                <a:cs typeface="Times New Roman"/>
              </a:rPr>
              <a:t>to </a:t>
            </a:r>
            <a:r>
              <a:rPr sz="1800" spc="-20" dirty="0">
                <a:latin typeface="Times New Roman"/>
                <a:cs typeface="Times New Roman"/>
              </a:rPr>
              <a:t>get </a:t>
            </a:r>
            <a:r>
              <a:rPr sz="1800" spc="-15" dirty="0">
                <a:latin typeface="Times New Roman"/>
                <a:cs typeface="Times New Roman"/>
              </a:rPr>
              <a:t>each </a:t>
            </a:r>
            <a:r>
              <a:rPr sz="1800" spc="-20" dirty="0">
                <a:latin typeface="Times New Roman"/>
                <a:cs typeface="Times New Roman"/>
              </a:rPr>
              <a:t>Qp+1 </a:t>
            </a:r>
            <a:r>
              <a:rPr sz="1800" spc="-5" dirty="0">
                <a:latin typeface="Times New Roman"/>
                <a:cs typeface="Times New Roman"/>
              </a:rPr>
              <a:t>from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corresponding </a:t>
            </a:r>
            <a:r>
              <a:rPr sz="1800" spc="-10" dirty="0">
                <a:latin typeface="Times New Roman"/>
                <a:cs typeface="Times New Roman"/>
              </a:rPr>
              <a:t>Qp. That </a:t>
            </a:r>
            <a:r>
              <a:rPr sz="1800" spc="-5" dirty="0">
                <a:latin typeface="Times New Roman"/>
                <a:cs typeface="Times New Roman"/>
              </a:rPr>
              <a:t> is, the </a:t>
            </a:r>
            <a:r>
              <a:rPr sz="1800" spc="-10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R that </a:t>
            </a:r>
            <a:r>
              <a:rPr sz="1800" spc="-15" dirty="0">
                <a:latin typeface="Times New Roman"/>
                <a:cs typeface="Times New Roman"/>
              </a:rPr>
              <a:t>are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required </a:t>
            </a:r>
            <a:r>
              <a:rPr sz="1800" spc="-15" dirty="0">
                <a:latin typeface="Times New Roman"/>
                <a:cs typeface="Times New Roman"/>
              </a:rPr>
              <a:t>to change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state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5" dirty="0">
                <a:latin typeface="Times New Roman"/>
                <a:cs typeface="Times New Roman"/>
              </a:rPr>
              <a:t>flip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flop </a:t>
            </a:r>
            <a:r>
              <a:rPr sz="1800" spc="-5" dirty="0">
                <a:latin typeface="Times New Roman"/>
                <a:cs typeface="Times New Roman"/>
              </a:rPr>
              <a:t>from Qp </a:t>
            </a:r>
            <a:r>
              <a:rPr sz="1800" spc="-45" dirty="0">
                <a:latin typeface="Times New Roman"/>
                <a:cs typeface="Times New Roman"/>
              </a:rPr>
              <a:t>to 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Qp+1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written.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62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25" dirty="0"/>
              <a:t> </a:t>
            </a:r>
            <a:r>
              <a:rPr sz="2400" spc="-55" dirty="0"/>
              <a:t>FLIP</a:t>
            </a:r>
            <a:r>
              <a:rPr sz="2400" spc="35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0" dirty="0"/>
              <a:t> </a:t>
            </a:r>
            <a:r>
              <a:rPr sz="2400" spc="-40" dirty="0"/>
              <a:t>FLOP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176527"/>
            <a:ext cx="6781800" cy="46908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6277" y="2436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25" dirty="0"/>
              <a:t> </a:t>
            </a:r>
            <a:r>
              <a:rPr sz="2400" spc="-55" dirty="0"/>
              <a:t>FLIP</a:t>
            </a:r>
            <a:r>
              <a:rPr sz="2400" spc="35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0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59740" y="682645"/>
            <a:ext cx="8167370" cy="312356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430"/>
              </a:spcBef>
            </a:pP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NV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OP</a:t>
            </a:r>
            <a:r>
              <a:rPr sz="20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SR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b="1" spc="17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OP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10"/>
              </a:spcBef>
            </a:pP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spc="-15" dirty="0">
                <a:latin typeface="Times New Roman"/>
                <a:cs typeface="Times New Roman"/>
              </a:rPr>
              <a:t>will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the reverse process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above explained conversion. </a:t>
            </a:r>
            <a:r>
              <a:rPr sz="1800" spc="-5" dirty="0">
                <a:latin typeface="Times New Roman"/>
                <a:cs typeface="Times New Roman"/>
              </a:rPr>
              <a:t>S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R </a:t>
            </a:r>
            <a:r>
              <a:rPr sz="1800" spc="-15" dirty="0">
                <a:latin typeface="Times New Roman"/>
                <a:cs typeface="Times New Roman"/>
              </a:rPr>
              <a:t>will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external inputs </a:t>
            </a:r>
            <a:r>
              <a:rPr sz="1800" spc="-15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spc="-20" dirty="0">
                <a:latin typeface="Times New Roman"/>
                <a:cs typeface="Times New Roman"/>
              </a:rPr>
              <a:t>and K. </a:t>
            </a:r>
            <a:r>
              <a:rPr sz="1800" spc="-30" dirty="0">
                <a:latin typeface="Times New Roman"/>
                <a:cs typeface="Times New Roman"/>
              </a:rPr>
              <a:t>As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spc="-15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the logic diagram </a:t>
            </a:r>
            <a:r>
              <a:rPr sz="1800" spc="-40" dirty="0">
                <a:latin typeface="Times New Roman"/>
                <a:cs typeface="Times New Roman"/>
              </a:rPr>
              <a:t>below, </a:t>
            </a: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 </a:t>
            </a:r>
            <a:r>
              <a:rPr sz="1800" spc="-15" dirty="0">
                <a:latin typeface="Times New Roman"/>
                <a:cs typeface="Times New Roman"/>
              </a:rPr>
              <a:t>will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combinational circuit. </a:t>
            </a:r>
            <a:r>
              <a:rPr sz="1800" spc="-5" dirty="0">
                <a:latin typeface="Times New Roman"/>
                <a:cs typeface="Times New Roman"/>
              </a:rPr>
              <a:t>Thus,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 have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10" dirty="0">
                <a:latin typeface="Times New Roman"/>
                <a:cs typeface="Times New Roman"/>
              </a:rPr>
              <a:t>obtained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terms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Qp.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logic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diagram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A conversion </a:t>
            </a:r>
            <a:r>
              <a:rPr sz="1800" dirty="0">
                <a:latin typeface="Times New Roman"/>
                <a:cs typeface="Times New Roman"/>
              </a:rPr>
              <a:t>table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15" dirty="0">
                <a:latin typeface="Times New Roman"/>
                <a:cs typeface="Times New Roman"/>
              </a:rPr>
              <a:t>to </a:t>
            </a:r>
            <a:r>
              <a:rPr sz="1800" spc="5" dirty="0">
                <a:latin typeface="Times New Roman"/>
                <a:cs typeface="Times New Roman"/>
              </a:rPr>
              <a:t>be </a:t>
            </a:r>
            <a:r>
              <a:rPr sz="1800" spc="-10" dirty="0">
                <a:latin typeface="Times New Roman"/>
                <a:cs typeface="Times New Roman"/>
              </a:rPr>
              <a:t>written </a:t>
            </a:r>
            <a:r>
              <a:rPr sz="1800" spc="-5" dirty="0">
                <a:latin typeface="Times New Roman"/>
                <a:cs typeface="Times New Roman"/>
              </a:rPr>
              <a:t>using </a:t>
            </a:r>
            <a:r>
              <a:rPr sz="1800" dirty="0">
                <a:latin typeface="Times New Roman"/>
                <a:cs typeface="Times New Roman"/>
              </a:rPr>
              <a:t>S, </a:t>
            </a:r>
            <a:r>
              <a:rPr sz="1800" spc="-5" dirty="0">
                <a:latin typeface="Times New Roman"/>
                <a:cs typeface="Times New Roman"/>
              </a:rPr>
              <a:t>R, </a:t>
            </a:r>
            <a:r>
              <a:rPr sz="1800" dirty="0">
                <a:latin typeface="Times New Roman"/>
                <a:cs typeface="Times New Roman"/>
              </a:rPr>
              <a:t>Qp, </a:t>
            </a:r>
            <a:r>
              <a:rPr sz="1800" spc="-10" dirty="0">
                <a:latin typeface="Times New Roman"/>
                <a:cs typeface="Times New Roman"/>
              </a:rPr>
              <a:t>Qp+1, </a:t>
            </a: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K.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10" dirty="0">
                <a:latin typeface="Times New Roman"/>
                <a:cs typeface="Times New Roman"/>
              </a:rPr>
              <a:t>two inputs, </a:t>
            </a:r>
            <a:r>
              <a:rPr sz="1800" spc="-5" dirty="0">
                <a:latin typeface="Times New Roman"/>
                <a:cs typeface="Times New Roman"/>
              </a:rPr>
              <a:t>S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R, </a:t>
            </a:r>
            <a:r>
              <a:rPr sz="1800" spc="-10" dirty="0">
                <a:latin typeface="Times New Roman"/>
                <a:cs typeface="Times New Roman"/>
              </a:rPr>
              <a:t>eight </a:t>
            </a:r>
            <a:r>
              <a:rPr sz="1800" spc="-5" dirty="0">
                <a:latin typeface="Times New Roman"/>
                <a:cs typeface="Times New Roman"/>
              </a:rPr>
              <a:t>combinations are </a:t>
            </a:r>
            <a:r>
              <a:rPr sz="1800" spc="-15" dirty="0">
                <a:latin typeface="Times New Roman"/>
                <a:cs typeface="Times New Roman"/>
              </a:rPr>
              <a:t>made.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15" dirty="0">
                <a:latin typeface="Times New Roman"/>
                <a:cs typeface="Times New Roman"/>
              </a:rPr>
              <a:t>each </a:t>
            </a:r>
            <a:r>
              <a:rPr sz="1800" spc="-10" dirty="0">
                <a:latin typeface="Times New Roman"/>
                <a:cs typeface="Times New Roman"/>
              </a:rPr>
              <a:t>combination, the corresponding Qp+1 outputs </a:t>
            </a:r>
            <a:r>
              <a:rPr sz="1800" spc="-5" dirty="0">
                <a:latin typeface="Times New Roman"/>
                <a:cs typeface="Times New Roman"/>
              </a:rPr>
              <a:t> are </a:t>
            </a:r>
            <a:r>
              <a:rPr sz="1800" dirty="0">
                <a:latin typeface="Times New Roman"/>
                <a:cs typeface="Times New Roman"/>
              </a:rPr>
              <a:t>found </a:t>
            </a:r>
            <a:r>
              <a:rPr sz="1800" spc="-5" dirty="0">
                <a:latin typeface="Times New Roman"/>
                <a:cs typeface="Times New Roman"/>
              </a:rPr>
              <a:t>ut.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outputs for </a:t>
            </a:r>
            <a:r>
              <a:rPr sz="1800" dirty="0">
                <a:latin typeface="Times New Roman"/>
                <a:cs typeface="Times New Roman"/>
              </a:rPr>
              <a:t>the combinations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S=1 </a:t>
            </a:r>
            <a:r>
              <a:rPr sz="1800" spc="-20" dirty="0">
                <a:latin typeface="Times New Roman"/>
                <a:cs typeface="Times New Roman"/>
              </a:rPr>
              <a:t>and R=1 </a:t>
            </a:r>
            <a:r>
              <a:rPr sz="1800" spc="-15" dirty="0">
                <a:latin typeface="Times New Roman"/>
                <a:cs typeface="Times New Roman"/>
              </a:rPr>
              <a:t>are </a:t>
            </a:r>
            <a:r>
              <a:rPr sz="1800" spc="5" dirty="0">
                <a:latin typeface="Times New Roman"/>
                <a:cs typeface="Times New Roman"/>
              </a:rPr>
              <a:t>not </a:t>
            </a:r>
            <a:r>
              <a:rPr sz="1800" spc="-5" dirty="0">
                <a:latin typeface="Times New Roman"/>
                <a:cs typeface="Times New Roman"/>
              </a:rPr>
              <a:t>permitted for </a:t>
            </a:r>
            <a:r>
              <a:rPr sz="1800" spc="-35" dirty="0">
                <a:latin typeface="Times New Roman"/>
                <a:cs typeface="Times New Roman"/>
              </a:rPr>
              <a:t>an 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flip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flop.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Thus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outputs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are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considered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invalid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values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taken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spc="-1015" dirty="0">
                <a:latin typeface="Times New Roman"/>
                <a:cs typeface="Times New Roman"/>
              </a:rPr>
              <a:t>―</a:t>
            </a:r>
            <a:r>
              <a:rPr sz="1800" spc="10" dirty="0">
                <a:latin typeface="Times New Roman"/>
                <a:cs typeface="Times New Roman"/>
              </a:rPr>
              <a:t>don</a:t>
            </a:r>
            <a:r>
              <a:rPr sz="1800" spc="-25" dirty="0">
                <a:latin typeface="Times New Roman"/>
                <a:cs typeface="Times New Roman"/>
              </a:rPr>
              <a:t>’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165" dirty="0">
                <a:latin typeface="Times New Roman"/>
                <a:cs typeface="Times New Roman"/>
              </a:rPr>
              <a:t>s</a:t>
            </a:r>
            <a:r>
              <a:rPr sz="1800" spc="105" dirty="0">
                <a:latin typeface="Times New Roman"/>
                <a:cs typeface="Times New Roman"/>
              </a:rPr>
              <a:t>‖</a:t>
            </a:r>
            <a:r>
              <a:rPr sz="180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6277" y="2436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25" dirty="0"/>
              <a:t> </a:t>
            </a:r>
            <a:r>
              <a:rPr sz="2400" spc="-55" dirty="0"/>
              <a:t>FLIP</a:t>
            </a:r>
            <a:r>
              <a:rPr sz="2400" spc="35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0" dirty="0"/>
              <a:t> </a:t>
            </a:r>
            <a:r>
              <a:rPr sz="2400" spc="-40" dirty="0"/>
              <a:t>FLOP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313688"/>
            <a:ext cx="6324600" cy="43251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39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07035" y="978851"/>
            <a:ext cx="8292465" cy="13309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LIP</a:t>
            </a:r>
            <a:r>
              <a:rPr sz="18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</a:t>
            </a:r>
            <a:r>
              <a:rPr sz="18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88900" marR="5080" algn="just">
              <a:lnSpc>
                <a:spcPct val="100000"/>
              </a:lnSpc>
              <a:spcBef>
                <a:spcPts val="820"/>
              </a:spcBef>
            </a:pPr>
            <a:r>
              <a:rPr sz="1800" spc="-15" dirty="0">
                <a:latin typeface="Times New Roman"/>
                <a:cs typeface="Times New Roman"/>
              </a:rPr>
              <a:t>As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spc="-15" dirty="0">
                <a:latin typeface="Times New Roman"/>
                <a:cs typeface="Times New Roman"/>
              </a:rPr>
              <a:t>in </a:t>
            </a:r>
            <a:r>
              <a:rPr sz="1800" spc="-10" dirty="0">
                <a:latin typeface="Times New Roman"/>
                <a:cs typeface="Times New Roman"/>
              </a:rPr>
              <a:t>the figure, </a:t>
            </a:r>
            <a:r>
              <a:rPr sz="1800" dirty="0">
                <a:latin typeface="Times New Roman"/>
                <a:cs typeface="Times New Roman"/>
              </a:rPr>
              <a:t>S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R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actual </a:t>
            </a:r>
            <a:r>
              <a:rPr sz="1800" dirty="0">
                <a:latin typeface="Times New Roman"/>
                <a:cs typeface="Times New Roman"/>
              </a:rPr>
              <a:t>inputs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20" dirty="0">
                <a:latin typeface="Times New Roman"/>
                <a:cs typeface="Times New Roman"/>
              </a:rPr>
              <a:t>flop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D is </a:t>
            </a:r>
            <a:r>
              <a:rPr sz="1800" spc="-10" dirty="0">
                <a:latin typeface="Times New Roman"/>
                <a:cs typeface="Times New Roman"/>
              </a:rPr>
              <a:t>the external 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 of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flip </a:t>
            </a:r>
            <a:r>
              <a:rPr sz="1800" spc="-10" dirty="0">
                <a:latin typeface="Times New Roman"/>
                <a:cs typeface="Times New Roman"/>
              </a:rPr>
              <a:t>flop. </a:t>
            </a:r>
            <a:r>
              <a:rPr sz="1800" spc="-5" dirty="0">
                <a:latin typeface="Times New Roman"/>
                <a:cs typeface="Times New Roman"/>
              </a:rPr>
              <a:t>The four combinations,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logic </a:t>
            </a:r>
            <a:r>
              <a:rPr sz="1800" spc="-10" dirty="0">
                <a:latin typeface="Times New Roman"/>
                <a:cs typeface="Times New Roman"/>
              </a:rPr>
              <a:t>diagram, </a:t>
            </a:r>
            <a:r>
              <a:rPr sz="1800" spc="-5" dirty="0">
                <a:latin typeface="Times New Roman"/>
                <a:cs typeface="Times New Roman"/>
              </a:rPr>
              <a:t>conversion table,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K-map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terms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D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shown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667000"/>
            <a:ext cx="7772400" cy="3200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40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07035" y="1054949"/>
            <a:ext cx="8513445" cy="17272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FLIP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LI</a:t>
            </a:r>
            <a:r>
              <a:rPr sz="18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latin typeface="Times New Roman"/>
                <a:cs typeface="Times New Roman"/>
              </a:rPr>
              <a:t>D is the </a:t>
            </a:r>
            <a:r>
              <a:rPr sz="1800" spc="-5" dirty="0">
                <a:latin typeface="Times New Roman"/>
                <a:cs typeface="Times New Roman"/>
              </a:rPr>
              <a:t>actual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dirty="0">
                <a:latin typeface="Times New Roman"/>
                <a:cs typeface="Times New Roman"/>
              </a:rPr>
              <a:t>of the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5" dirty="0">
                <a:latin typeface="Times New Roman"/>
                <a:cs typeface="Times New Roman"/>
              </a:rPr>
              <a:t>flop and </a:t>
            </a:r>
            <a:r>
              <a:rPr sz="1800" dirty="0">
                <a:latin typeface="Times New Roman"/>
                <a:cs typeface="Times New Roman"/>
              </a:rPr>
              <a:t>S and R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external </a:t>
            </a:r>
            <a:r>
              <a:rPr sz="1800" dirty="0">
                <a:latin typeface="Times New Roman"/>
                <a:cs typeface="Times New Roman"/>
              </a:rPr>
              <a:t>inputs. </a:t>
            </a:r>
            <a:r>
              <a:rPr sz="1800" spc="-5" dirty="0">
                <a:latin typeface="Times New Roman"/>
                <a:cs typeface="Times New Roman"/>
              </a:rPr>
              <a:t>Eight </a:t>
            </a:r>
            <a:r>
              <a:rPr sz="1800" dirty="0">
                <a:latin typeface="Times New Roman"/>
                <a:cs typeface="Times New Roman"/>
              </a:rPr>
              <a:t>possible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combinations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achieved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external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 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Qp.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since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combination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S=1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R=1 are </a:t>
            </a:r>
            <a:r>
              <a:rPr sz="1800" dirty="0">
                <a:latin typeface="Times New Roman"/>
                <a:cs typeface="Times New Roman"/>
              </a:rPr>
              <a:t>invalid, the </a:t>
            </a:r>
            <a:r>
              <a:rPr sz="1800" spc="-5" dirty="0">
                <a:latin typeface="Times New Roman"/>
                <a:cs typeface="Times New Roman"/>
              </a:rPr>
              <a:t>values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Qp+1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D </a:t>
            </a:r>
            <a:r>
              <a:rPr sz="1800" dirty="0">
                <a:latin typeface="Times New Roman"/>
                <a:cs typeface="Times New Roman"/>
              </a:rPr>
              <a:t>are </a:t>
            </a:r>
            <a:r>
              <a:rPr sz="1800" spc="-5" dirty="0">
                <a:latin typeface="Times New Roman"/>
                <a:cs typeface="Times New Roman"/>
              </a:rPr>
              <a:t>considered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spc="-170" dirty="0">
                <a:latin typeface="Times New Roman"/>
                <a:cs typeface="Times New Roman"/>
              </a:rPr>
              <a:t>―don’t </a:t>
            </a:r>
            <a:r>
              <a:rPr sz="1800" spc="30" dirty="0">
                <a:latin typeface="Times New Roman"/>
                <a:cs typeface="Times New Roman"/>
              </a:rPr>
              <a:t>cares‖.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logic diagram showing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conversion from D </a:t>
            </a:r>
            <a:r>
              <a:rPr sz="1800" dirty="0">
                <a:latin typeface="Times New Roman"/>
                <a:cs typeface="Times New Roman"/>
              </a:rPr>
              <a:t>to SR, and the </a:t>
            </a:r>
            <a:r>
              <a:rPr sz="1800" spc="-35" dirty="0">
                <a:latin typeface="Times New Roman"/>
                <a:cs typeface="Times New Roman"/>
              </a:rPr>
              <a:t>K-map </a:t>
            </a:r>
            <a:r>
              <a:rPr sz="1800" spc="-5" dirty="0">
                <a:latin typeface="Times New Roman"/>
                <a:cs typeface="Times New Roman"/>
              </a:rPr>
              <a:t>for D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10" dirty="0">
                <a:latin typeface="Times New Roman"/>
                <a:cs typeface="Times New Roman"/>
              </a:rPr>
              <a:t>terms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S, R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Qp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819400"/>
            <a:ext cx="7924800" cy="3276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07035" y="978851"/>
            <a:ext cx="8453755" cy="13309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1800" b="1" spc="-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1800" b="1" spc="-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  <a:spcBef>
                <a:spcPts val="820"/>
              </a:spcBef>
            </a:pPr>
            <a:r>
              <a:rPr sz="1800" dirty="0">
                <a:latin typeface="Times New Roman"/>
                <a:cs typeface="Times New Roman"/>
              </a:rPr>
              <a:t>J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K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actual </a:t>
            </a:r>
            <a:r>
              <a:rPr sz="1800" dirty="0">
                <a:latin typeface="Times New Roman"/>
                <a:cs typeface="Times New Roman"/>
              </a:rPr>
              <a:t>inputs of the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5" dirty="0">
                <a:latin typeface="Times New Roman"/>
                <a:cs typeface="Times New Roman"/>
              </a:rPr>
              <a:t>flop and </a:t>
            </a:r>
            <a:r>
              <a:rPr sz="1800" dirty="0">
                <a:latin typeface="Times New Roman"/>
                <a:cs typeface="Times New Roman"/>
              </a:rPr>
              <a:t>T is </a:t>
            </a:r>
            <a:r>
              <a:rPr sz="1800" spc="-5" dirty="0">
                <a:latin typeface="Times New Roman"/>
                <a:cs typeface="Times New Roman"/>
              </a:rPr>
              <a:t>taken as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external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1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conversion.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Four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combinations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dirty="0">
                <a:latin typeface="Times New Roman"/>
                <a:cs typeface="Times New Roman"/>
              </a:rPr>
              <a:t> produced</a:t>
            </a:r>
            <a:r>
              <a:rPr sz="1800" spc="-10" dirty="0">
                <a:latin typeface="Times New Roman"/>
                <a:cs typeface="Times New Roman"/>
              </a:rPr>
              <a:t> with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Qp.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spc="-10" dirty="0">
                <a:latin typeface="Times New Roman"/>
                <a:cs typeface="Times New Roman"/>
              </a:rPr>
              <a:t>expressed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terms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Qp.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conversion </a:t>
            </a:r>
            <a:r>
              <a:rPr sz="1800" dirty="0">
                <a:latin typeface="Times New Roman"/>
                <a:cs typeface="Times New Roman"/>
              </a:rPr>
              <a:t>table,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K-maps,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diagram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given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743200"/>
            <a:ext cx="8229600" cy="2971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07035" y="978851"/>
            <a:ext cx="8079105" cy="160528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8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FLI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  <a:spcBef>
                <a:spcPts val="820"/>
              </a:spcBef>
            </a:pPr>
            <a:r>
              <a:rPr sz="1800" dirty="0">
                <a:latin typeface="Times New Roman"/>
                <a:cs typeface="Times New Roman"/>
              </a:rPr>
              <a:t>D is the </a:t>
            </a:r>
            <a:r>
              <a:rPr sz="1800" spc="-5" dirty="0">
                <a:latin typeface="Times New Roman"/>
                <a:cs typeface="Times New Roman"/>
              </a:rPr>
              <a:t>external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J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K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actual </a:t>
            </a:r>
            <a:r>
              <a:rPr sz="1800" dirty="0">
                <a:latin typeface="Times New Roman"/>
                <a:cs typeface="Times New Roman"/>
              </a:rPr>
              <a:t>inputs of the </a:t>
            </a:r>
            <a:r>
              <a:rPr sz="1800" spc="-10" dirty="0">
                <a:latin typeface="Times New Roman"/>
                <a:cs typeface="Times New Roman"/>
              </a:rPr>
              <a:t>flip </a:t>
            </a:r>
            <a:r>
              <a:rPr sz="1800" spc="-5" dirty="0">
                <a:latin typeface="Times New Roman"/>
                <a:cs typeface="Times New Roman"/>
              </a:rPr>
              <a:t>flop. </a:t>
            </a:r>
            <a:r>
              <a:rPr sz="1800" dirty="0">
                <a:latin typeface="Times New Roman"/>
                <a:cs typeface="Times New Roman"/>
              </a:rPr>
              <a:t>D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Qp </a:t>
            </a:r>
            <a:r>
              <a:rPr sz="1800" spc="-35" dirty="0">
                <a:latin typeface="Times New Roman"/>
                <a:cs typeface="Times New Roman"/>
              </a:rPr>
              <a:t>make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four </a:t>
            </a:r>
            <a:r>
              <a:rPr sz="1800" dirty="0">
                <a:latin typeface="Times New Roman"/>
                <a:cs typeface="Times New Roman"/>
              </a:rPr>
              <a:t>combinations. </a:t>
            </a:r>
            <a:r>
              <a:rPr sz="1800" spc="-5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K are </a:t>
            </a:r>
            <a:r>
              <a:rPr sz="1800" spc="-10" dirty="0">
                <a:latin typeface="Times New Roman"/>
                <a:cs typeface="Times New Roman"/>
              </a:rPr>
              <a:t>expressed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10" dirty="0">
                <a:latin typeface="Times New Roman"/>
                <a:cs typeface="Times New Roman"/>
              </a:rPr>
              <a:t>terms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D </a:t>
            </a:r>
            <a:r>
              <a:rPr sz="1800" dirty="0">
                <a:latin typeface="Times New Roman"/>
                <a:cs typeface="Times New Roman"/>
              </a:rPr>
              <a:t>and Qp. </a:t>
            </a:r>
            <a:r>
              <a:rPr sz="1800" spc="-5" dirty="0">
                <a:latin typeface="Times New Roman"/>
                <a:cs typeface="Times New Roman"/>
              </a:rPr>
              <a:t>The four combination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conversion </a:t>
            </a:r>
            <a:r>
              <a:rPr sz="1800" dirty="0">
                <a:latin typeface="Times New Roman"/>
                <a:cs typeface="Times New Roman"/>
              </a:rPr>
              <a:t>table, the </a:t>
            </a:r>
            <a:r>
              <a:rPr sz="1800" spc="-30" dirty="0">
                <a:latin typeface="Times New Roman"/>
                <a:cs typeface="Times New Roman"/>
              </a:rPr>
              <a:t>K-maps </a:t>
            </a:r>
            <a:r>
              <a:rPr sz="1800" spc="-10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J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K in </a:t>
            </a:r>
            <a:r>
              <a:rPr sz="1800" spc="-10" dirty="0">
                <a:latin typeface="Times New Roman"/>
                <a:cs typeface="Times New Roman"/>
              </a:rPr>
              <a:t>terms </a:t>
            </a:r>
            <a:r>
              <a:rPr sz="1800" dirty="0">
                <a:latin typeface="Times New Roman"/>
                <a:cs typeface="Times New Roman"/>
              </a:rPr>
              <a:t>of D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Qp,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the logic </a:t>
            </a:r>
            <a:r>
              <a:rPr sz="1800" spc="-5" dirty="0">
                <a:latin typeface="Times New Roman"/>
                <a:cs typeface="Times New Roman"/>
              </a:rPr>
              <a:t>diagram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showing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conversion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JK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given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819400"/>
            <a:ext cx="8153400" cy="3276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07035" y="978851"/>
            <a:ext cx="8382000" cy="187960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FLIP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8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</a:t>
            </a:r>
            <a:r>
              <a:rPr sz="1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88900" marR="5080" algn="just">
              <a:lnSpc>
                <a:spcPct val="100000"/>
              </a:lnSpc>
              <a:spcBef>
                <a:spcPts val="820"/>
              </a:spcBef>
            </a:pPr>
            <a:r>
              <a:rPr sz="1800" spc="-5" dirty="0">
                <a:latin typeface="Times New Roman"/>
                <a:cs typeface="Times New Roman"/>
              </a:rPr>
              <a:t>In this conversion, </a:t>
            </a:r>
            <a:r>
              <a:rPr sz="1800" dirty="0">
                <a:latin typeface="Times New Roman"/>
                <a:cs typeface="Times New Roman"/>
              </a:rPr>
              <a:t>D is the </a:t>
            </a:r>
            <a:r>
              <a:rPr sz="1800" spc="-5" dirty="0">
                <a:latin typeface="Times New Roman"/>
                <a:cs typeface="Times New Roman"/>
              </a:rPr>
              <a:t>actual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15" dirty="0">
                <a:latin typeface="Times New Roman"/>
                <a:cs typeface="Times New Roman"/>
              </a:rPr>
              <a:t>to </a:t>
            </a:r>
            <a:r>
              <a:rPr sz="1800" spc="-10" dirty="0">
                <a:latin typeface="Times New Roman"/>
                <a:cs typeface="Times New Roman"/>
              </a:rPr>
              <a:t>the </a:t>
            </a:r>
            <a:r>
              <a:rPr sz="1800" spc="-20" dirty="0">
                <a:latin typeface="Times New Roman"/>
                <a:cs typeface="Times New Roman"/>
              </a:rPr>
              <a:t>flip </a:t>
            </a:r>
            <a:r>
              <a:rPr sz="1800" spc="-10" dirty="0">
                <a:latin typeface="Times New Roman"/>
                <a:cs typeface="Times New Roman"/>
              </a:rPr>
              <a:t>flop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J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K </a:t>
            </a:r>
            <a:r>
              <a:rPr sz="1800" spc="-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external </a:t>
            </a:r>
            <a:r>
              <a:rPr sz="1800" spc="-5" dirty="0">
                <a:latin typeface="Times New Roman"/>
                <a:cs typeface="Times New Roman"/>
              </a:rPr>
              <a:t>inputs.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J, K </a:t>
            </a:r>
            <a:r>
              <a:rPr sz="1800" spc="-1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Qp </a:t>
            </a:r>
            <a:r>
              <a:rPr sz="1800" spc="-25" dirty="0">
                <a:latin typeface="Times New Roman"/>
                <a:cs typeface="Times New Roman"/>
              </a:rPr>
              <a:t>make </a:t>
            </a:r>
            <a:r>
              <a:rPr sz="1800" dirty="0">
                <a:latin typeface="Times New Roman"/>
                <a:cs typeface="Times New Roman"/>
              </a:rPr>
              <a:t>eight </a:t>
            </a:r>
            <a:r>
              <a:rPr sz="1800" spc="-5" dirty="0">
                <a:latin typeface="Times New Roman"/>
                <a:cs typeface="Times New Roman"/>
              </a:rPr>
              <a:t>possible </a:t>
            </a:r>
            <a:r>
              <a:rPr sz="1800" dirty="0">
                <a:latin typeface="Times New Roman"/>
                <a:cs typeface="Times New Roman"/>
              </a:rPr>
              <a:t>combinations, </a:t>
            </a:r>
            <a:r>
              <a:rPr sz="1800" spc="-10" dirty="0">
                <a:latin typeface="Times New Roman"/>
                <a:cs typeface="Times New Roman"/>
              </a:rPr>
              <a:t>as shown </a:t>
            </a:r>
            <a:r>
              <a:rPr sz="1800" dirty="0">
                <a:latin typeface="Times New Roman"/>
                <a:cs typeface="Times New Roman"/>
              </a:rPr>
              <a:t>in the </a:t>
            </a:r>
            <a:r>
              <a:rPr sz="1800" spc="-10" dirty="0">
                <a:latin typeface="Times New Roman"/>
                <a:cs typeface="Times New Roman"/>
              </a:rPr>
              <a:t>conversion </a:t>
            </a:r>
            <a:r>
              <a:rPr sz="1800" spc="-5" dirty="0">
                <a:latin typeface="Times New Roman"/>
                <a:cs typeface="Times New Roman"/>
              </a:rPr>
              <a:t>table </a:t>
            </a:r>
            <a:r>
              <a:rPr sz="1800" spc="-50" dirty="0">
                <a:latin typeface="Times New Roman"/>
                <a:cs typeface="Times New Roman"/>
              </a:rPr>
              <a:t>below. </a:t>
            </a:r>
            <a:r>
              <a:rPr sz="1800" spc="-5" dirty="0">
                <a:latin typeface="Times New Roman"/>
                <a:cs typeface="Times New Roman"/>
              </a:rPr>
              <a:t>D </a:t>
            </a:r>
            <a:r>
              <a:rPr sz="1800" dirty="0">
                <a:latin typeface="Times New Roman"/>
                <a:cs typeface="Times New Roman"/>
              </a:rPr>
              <a:t> 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expressed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terms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J,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Qp.</a:t>
            </a:r>
            <a:endParaRPr sz="1800">
              <a:latin typeface="Times New Roman"/>
              <a:cs typeface="Times New Roman"/>
            </a:endParaRPr>
          </a:p>
          <a:p>
            <a:pPr marL="88900" marR="515620" algn="just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The conversion </a:t>
            </a:r>
            <a:r>
              <a:rPr sz="1800" dirty="0">
                <a:latin typeface="Times New Roman"/>
                <a:cs typeface="Times New Roman"/>
              </a:rPr>
              <a:t>table, the </a:t>
            </a:r>
            <a:r>
              <a:rPr sz="1800" spc="-30" dirty="0">
                <a:latin typeface="Times New Roman"/>
                <a:cs typeface="Times New Roman"/>
              </a:rPr>
              <a:t>K-map </a:t>
            </a:r>
            <a:r>
              <a:rPr sz="1800" spc="-5" dirty="0">
                <a:latin typeface="Times New Roman"/>
                <a:cs typeface="Times New Roman"/>
              </a:rPr>
              <a:t>for D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10" dirty="0">
                <a:latin typeface="Times New Roman"/>
                <a:cs typeface="Times New Roman"/>
              </a:rPr>
              <a:t>terms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J, K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Qp </a:t>
            </a:r>
            <a:r>
              <a:rPr sz="1800" dirty="0">
                <a:latin typeface="Times New Roman"/>
                <a:cs typeface="Times New Roman"/>
              </a:rPr>
              <a:t>and the </a:t>
            </a:r>
            <a:r>
              <a:rPr sz="1800" spc="-5" dirty="0">
                <a:latin typeface="Times New Roman"/>
                <a:cs typeface="Times New Roman"/>
              </a:rPr>
              <a:t>logic diagram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conversion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JK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given</a:t>
            </a:r>
            <a:r>
              <a:rPr sz="1800" dirty="0">
                <a:latin typeface="Times New Roman"/>
                <a:cs typeface="Times New Roman"/>
              </a:rPr>
              <a:t> 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figure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048000"/>
            <a:ext cx="7924800" cy="3352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167462"/>
            <a:ext cx="812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CONVERTION</a:t>
            </a:r>
            <a:r>
              <a:rPr sz="2400" dirty="0"/>
              <a:t> OF </a:t>
            </a:r>
            <a:r>
              <a:rPr sz="2400" spc="-5" dirty="0"/>
              <a:t>ONE</a:t>
            </a:r>
            <a:r>
              <a:rPr sz="2400" spc="-30" dirty="0"/>
              <a:t> </a:t>
            </a:r>
            <a:r>
              <a:rPr sz="2400" spc="-55" dirty="0"/>
              <a:t>FLIP</a:t>
            </a:r>
            <a:r>
              <a:rPr sz="2400" spc="40" dirty="0"/>
              <a:t> </a:t>
            </a:r>
            <a:r>
              <a:rPr sz="2400" spc="-40" dirty="0"/>
              <a:t>FLOP</a:t>
            </a:r>
            <a:r>
              <a:rPr sz="2400" spc="60" dirty="0"/>
              <a:t> </a:t>
            </a:r>
            <a:r>
              <a:rPr sz="2400" spc="-15" dirty="0"/>
              <a:t>TO</a:t>
            </a:r>
            <a:r>
              <a:rPr sz="2400" spc="-80" dirty="0"/>
              <a:t> </a:t>
            </a:r>
            <a:r>
              <a:rPr sz="2400" spc="-5" dirty="0"/>
              <a:t>ANOTHER</a:t>
            </a:r>
            <a:r>
              <a:rPr sz="2400" spc="5" dirty="0"/>
              <a:t> </a:t>
            </a:r>
            <a:r>
              <a:rPr sz="2400" spc="-55" dirty="0"/>
              <a:t>FLIP</a:t>
            </a:r>
            <a:r>
              <a:rPr sz="2400" spc="135" dirty="0"/>
              <a:t> </a:t>
            </a:r>
            <a:r>
              <a:rPr sz="2400" spc="-40" dirty="0"/>
              <a:t>FLOP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07035" y="978851"/>
            <a:ext cx="8398510" cy="105600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CON</a:t>
            </a:r>
            <a:r>
              <a:rPr sz="1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800" b="1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800" b="1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1800" b="1" spc="-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r>
              <a:rPr sz="1800" b="1" spc="-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FLIP</a:t>
            </a:r>
            <a:r>
              <a:rPr sz="1800" b="1" spc="-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FLOP</a:t>
            </a:r>
            <a:endParaRPr sz="18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820"/>
              </a:spcBef>
            </a:pPr>
            <a:r>
              <a:rPr sz="1800" spc="-135" dirty="0">
                <a:latin typeface="Times New Roman"/>
                <a:cs typeface="Times New Roman"/>
              </a:rPr>
              <a:t>We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begin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T-to-JK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conversion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table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(see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Figure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5), </a:t>
            </a:r>
            <a:r>
              <a:rPr sz="1800" spc="-5" dirty="0">
                <a:latin typeface="Times New Roman"/>
                <a:cs typeface="Times New Roman"/>
              </a:rPr>
              <a:t>which combines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JK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flip-flop's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table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flip-flop's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excitation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057400"/>
            <a:ext cx="7571232" cy="24566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835" y="4845253"/>
            <a:ext cx="87363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Next, </a:t>
            </a:r>
            <a:r>
              <a:rPr sz="1800" spc="-30" dirty="0">
                <a:latin typeface="Times New Roman"/>
                <a:cs typeface="Times New Roman"/>
              </a:rPr>
              <a:t>we </a:t>
            </a:r>
            <a:r>
              <a:rPr sz="1800" spc="-5" dirty="0">
                <a:latin typeface="Times New Roman"/>
                <a:cs typeface="Times New Roman"/>
              </a:rPr>
              <a:t>need </a:t>
            </a:r>
            <a:r>
              <a:rPr sz="1800" dirty="0">
                <a:latin typeface="Times New Roman"/>
                <a:cs typeface="Times New Roman"/>
              </a:rPr>
              <a:t>to obtain the </a:t>
            </a:r>
            <a:r>
              <a:rPr sz="1800" spc="-10" dirty="0">
                <a:latin typeface="Times New Roman"/>
                <a:cs typeface="Times New Roman"/>
              </a:rPr>
              <a:t>simplified </a:t>
            </a:r>
            <a:r>
              <a:rPr sz="1800" dirty="0">
                <a:latin typeface="Times New Roman"/>
                <a:cs typeface="Times New Roman"/>
              </a:rPr>
              <a:t>Boolean </a:t>
            </a:r>
            <a:r>
              <a:rPr sz="1800" spc="-5" dirty="0">
                <a:latin typeface="Times New Roman"/>
                <a:cs typeface="Times New Roman"/>
              </a:rPr>
              <a:t>expression </a:t>
            </a:r>
            <a:r>
              <a:rPr sz="1800" spc="-10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the T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10" dirty="0">
                <a:latin typeface="Times New Roman"/>
                <a:cs typeface="Times New Roman"/>
              </a:rPr>
              <a:t>terms </a:t>
            </a:r>
            <a:r>
              <a:rPr sz="1800" dirty="0">
                <a:latin typeface="Times New Roman"/>
                <a:cs typeface="Times New Roman"/>
              </a:rPr>
              <a:t>of J, K,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Q</a:t>
            </a:r>
            <a:r>
              <a:rPr sz="1800" spc="-22" baseline="-16203" dirty="0">
                <a:latin typeface="Times New Roman"/>
                <a:cs typeface="Times New Roman"/>
              </a:rPr>
              <a:t>n</a:t>
            </a:r>
            <a:r>
              <a:rPr sz="1800" spc="-15" dirty="0">
                <a:latin typeface="Times New Roman"/>
                <a:cs typeface="Times New Roman"/>
              </a:rPr>
              <a:t>. </a:t>
            </a:r>
            <a:r>
              <a:rPr sz="1800" spc="-5" dirty="0">
                <a:latin typeface="Times New Roman"/>
                <a:cs typeface="Times New Roman"/>
              </a:rPr>
              <a:t>The expression for </a:t>
            </a:r>
            <a:r>
              <a:rPr sz="1800" dirty="0">
                <a:latin typeface="Times New Roman"/>
                <a:cs typeface="Times New Roman"/>
              </a:rPr>
              <a:t>the T </a:t>
            </a:r>
            <a:r>
              <a:rPr sz="1800" spc="5" dirty="0">
                <a:latin typeface="Times New Roman"/>
                <a:cs typeface="Times New Roman"/>
              </a:rPr>
              <a:t>input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spc="-150" dirty="0">
                <a:latin typeface="Times New Roman"/>
                <a:cs typeface="Times New Roman"/>
              </a:rPr>
              <a:t>JQ</a:t>
            </a:r>
            <a:r>
              <a:rPr sz="2700" spc="-225" baseline="1543" dirty="0">
                <a:latin typeface="Times New Roman"/>
                <a:cs typeface="Times New Roman"/>
              </a:rPr>
              <a:t>̅ </a:t>
            </a:r>
            <a:r>
              <a:rPr sz="1800" baseline="-16203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10" dirty="0">
                <a:latin typeface="Times New Roman"/>
                <a:cs typeface="Times New Roman"/>
              </a:rPr>
              <a:t>KQ</a:t>
            </a:r>
            <a:r>
              <a:rPr sz="1800" spc="-15" baseline="-16203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. </a:t>
            </a: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spc="-10" dirty="0">
                <a:latin typeface="Times New Roman"/>
                <a:cs typeface="Times New Roman"/>
              </a:rPr>
              <a:t>means </a:t>
            </a:r>
            <a:r>
              <a:rPr sz="1800" dirty="0">
                <a:latin typeface="Times New Roman"/>
                <a:cs typeface="Times New Roman"/>
              </a:rPr>
              <a:t>that to </a:t>
            </a:r>
            <a:r>
              <a:rPr sz="1800" spc="-5" dirty="0">
                <a:latin typeface="Times New Roman"/>
                <a:cs typeface="Times New Roman"/>
              </a:rPr>
              <a:t>convert </a:t>
            </a:r>
            <a:r>
              <a:rPr sz="1800" dirty="0">
                <a:latin typeface="Times New Roman"/>
                <a:cs typeface="Times New Roman"/>
              </a:rPr>
              <a:t>the T </a:t>
            </a:r>
            <a:r>
              <a:rPr sz="1800" spc="-5" dirty="0">
                <a:latin typeface="Times New Roman"/>
                <a:cs typeface="Times New Roman"/>
              </a:rPr>
              <a:t>flip-flop </a:t>
            </a:r>
            <a:r>
              <a:rPr sz="1800" dirty="0">
                <a:latin typeface="Times New Roman"/>
                <a:cs typeface="Times New Roman"/>
              </a:rPr>
              <a:t>into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JK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flip-flop,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driven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by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output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two-input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inputs</a:t>
            </a:r>
            <a:endParaRPr sz="180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negation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present-state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Q</a:t>
            </a:r>
            <a:r>
              <a:rPr sz="1800" spc="-22" baseline="-16203" dirty="0">
                <a:latin typeface="Times New Roman"/>
                <a:cs typeface="Times New Roman"/>
              </a:rPr>
              <a:t>n</a:t>
            </a:r>
            <a:r>
              <a:rPr sz="1800" spc="-15" dirty="0">
                <a:latin typeface="Times New Roman"/>
                <a:cs typeface="Times New Roman"/>
              </a:rPr>
              <a:t>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i.e.,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Q</a:t>
            </a:r>
            <a:r>
              <a:rPr sz="2700" spc="-165" baseline="1543" dirty="0">
                <a:latin typeface="Times New Roman"/>
                <a:cs typeface="Times New Roman"/>
              </a:rPr>
              <a:t>̅</a:t>
            </a:r>
            <a:r>
              <a:rPr sz="1800" spc="-165" baseline="-16203" dirty="0">
                <a:latin typeface="Times New Roman"/>
                <a:cs typeface="Times New Roman"/>
              </a:rPr>
              <a:t>n</a:t>
            </a:r>
            <a:endParaRPr sz="1800" baseline="-16203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K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ANDed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present-state</a:t>
            </a:r>
            <a:r>
              <a:rPr sz="1800" spc="-5">
                <a:latin typeface="Times New Roman"/>
                <a:cs typeface="Times New Roman"/>
              </a:rPr>
              <a:t>,</a:t>
            </a:r>
            <a:r>
              <a:rPr sz="1800" spc="-90">
                <a:latin typeface="Times New Roman"/>
                <a:cs typeface="Times New Roman"/>
              </a:rPr>
              <a:t> </a:t>
            </a:r>
            <a:r>
              <a:rPr sz="1800" spc="-5" smtClean="0">
                <a:latin typeface="Times New Roman"/>
                <a:cs typeface="Times New Roman"/>
              </a:rPr>
              <a:t>Q</a:t>
            </a:r>
            <a:r>
              <a:rPr sz="1800" spc="-7" baseline="-16203" smtClean="0">
                <a:latin typeface="Times New Roman"/>
                <a:cs typeface="Times New Roman"/>
              </a:rPr>
              <a:t>n</a:t>
            </a:r>
            <a:r>
              <a:rPr lang="en-IN" sz="1800" spc="-7" baseline="-16203" dirty="0" smtClean="0">
                <a:latin typeface="Times New Roman"/>
                <a:cs typeface="Times New Roman"/>
              </a:rPr>
              <a:t> </a:t>
            </a:r>
            <a:endParaRPr sz="1800" baseline="-16203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3810000"/>
            <a:ext cx="1905000" cy="11003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pPr marL="38100">
                <a:lnSpc>
                  <a:spcPts val="1810"/>
                </a:lnSpc>
              </a:pPr>
              <a:t>45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4500</Words>
  <Application>Microsoft Office PowerPoint</Application>
  <PresentationFormat>On-screen Show (4:3)</PresentationFormat>
  <Paragraphs>296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Slide 1</vt:lpstr>
      <vt:lpstr>Slide 2</vt:lpstr>
      <vt:lpstr>SEQUENTIAL LOGIC CIRCUITS</vt:lpstr>
      <vt:lpstr>SEQUENTIAL LOGIC CIRCUITS</vt:lpstr>
      <vt:lpstr>SEQUENTIAL LOGIC CIRCUITS</vt:lpstr>
      <vt:lpstr>Combinational vs. Sequential</vt:lpstr>
      <vt:lpstr>Slide 7</vt:lpstr>
      <vt:lpstr>Combinational vs. Sequential</vt:lpstr>
      <vt:lpstr>Combinational vs. Sequential</vt:lpstr>
      <vt:lpstr>LATCHES</vt:lpstr>
      <vt:lpstr>LATCHES</vt:lpstr>
      <vt:lpstr>LATCHES</vt:lpstr>
      <vt:lpstr>LATCHES</vt:lpstr>
      <vt:lpstr>FLIPFLOPS:RS FLIPFLOP</vt:lpstr>
      <vt:lpstr>FLIPFLOPS:RS FLIPFLOP</vt:lpstr>
      <vt:lpstr>FLIPFLOPS:RS FLIPFLOP </vt:lpstr>
      <vt:lpstr>FLIPFLOPS:SR FLIPFLOP</vt:lpstr>
      <vt:lpstr>FLIPFLOPS:JK FLIPFLOP</vt:lpstr>
      <vt:lpstr>FLIPFLOPS:JK FLIPFLOP</vt:lpstr>
      <vt:lpstr>FLIPFLOPS:JK FLIPFLOP</vt:lpstr>
      <vt:lpstr>FLIPFLOPS:T FLIPFLOP</vt:lpstr>
      <vt:lpstr>FLIPFLOPS:T FLIPFLOP</vt:lpstr>
      <vt:lpstr>FLIPFLOPS:T FLIPFLOP</vt:lpstr>
      <vt:lpstr>FLIPFLOPS:D FLIPFLOP</vt:lpstr>
      <vt:lpstr>FLIPFLOPS:D FLIPFLOP</vt:lpstr>
      <vt:lpstr>FLIPFLOPS:D FLIPFLOP</vt:lpstr>
      <vt:lpstr>FLIPFLOPS:MASTER SLAVE FLIPFLOP</vt:lpstr>
      <vt:lpstr>FLIPFLOPS:MASTER SLAVE FLIPFLOP</vt:lpstr>
      <vt:lpstr>FLIPFLOPS:MASTER SLAVE FLIPFLOP</vt:lpstr>
      <vt:lpstr>Slide 30</vt:lpstr>
      <vt:lpstr>FLIPFLOPS:EXCITATION FUNCTIONS</vt:lpstr>
      <vt:lpstr>FLIPFLOPS:EXCITATION FUNCTIONS</vt:lpstr>
      <vt:lpstr>FLIPFLOPS:EXCITATION FUNCTIONS</vt:lpstr>
      <vt:lpstr>FLIPFLOPS:EXCITATION FUNCTIONS</vt:lpstr>
      <vt:lpstr>FLIPFLOPS:EXCITATION FUNCTIONS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  <vt:lpstr>CONVERTION OF ONE FLIP FLOP TO ANOTHER FLIP FLOP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lenovo</cp:lastModifiedBy>
  <cp:revision>20</cp:revision>
  <dcterms:created xsi:type="dcterms:W3CDTF">2022-11-30T07:34:57Z</dcterms:created>
  <dcterms:modified xsi:type="dcterms:W3CDTF">2024-08-21T12:15:05Z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2018-07-25T00:00:00Z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2022-11-30T00:00:00Z</vt:filetime>
  </property>
</Properties>
</file>