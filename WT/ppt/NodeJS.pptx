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7" r:id="rId1"/>
  </p:sldMasterIdLst>
  <p:sldIdLst>
    <p:sldId id="256" r:id="rId2"/>
    <p:sldId id="262"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2" r:id="rId17"/>
    <p:sldId id="323" r:id="rId18"/>
    <p:sldId id="324" r:id="rId19"/>
    <p:sldId id="275" r:id="rId20"/>
    <p:sldId id="278" r:id="rId21"/>
    <p:sldId id="279" r:id="rId22"/>
    <p:sldId id="280" r:id="rId23"/>
    <p:sldId id="329" r:id="rId24"/>
    <p:sldId id="325" r:id="rId25"/>
    <p:sldId id="326" r:id="rId26"/>
    <p:sldId id="327" r:id="rId27"/>
    <p:sldId id="328" r:id="rId28"/>
    <p:sldId id="276" r:id="rId29"/>
    <p:sldId id="265" r:id="rId30"/>
    <p:sldId id="282" r:id="rId31"/>
    <p:sldId id="283" r:id="rId32"/>
    <p:sldId id="284" r:id="rId33"/>
    <p:sldId id="285" r:id="rId34"/>
    <p:sldId id="286" r:id="rId35"/>
    <p:sldId id="267" r:id="rId36"/>
    <p:sldId id="287" r:id="rId37"/>
    <p:sldId id="288" r:id="rId38"/>
    <p:sldId id="289" r:id="rId39"/>
    <p:sldId id="290" r:id="rId40"/>
    <p:sldId id="291" r:id="rId41"/>
    <p:sldId id="292" r:id="rId42"/>
    <p:sldId id="293" r:id="rId43"/>
    <p:sldId id="295" r:id="rId44"/>
    <p:sldId id="296" r:id="rId45"/>
    <p:sldId id="297" r:id="rId46"/>
    <p:sldId id="298" r:id="rId47"/>
    <p:sldId id="294" r:id="rId48"/>
    <p:sldId id="299" r:id="rId49"/>
    <p:sldId id="300" r:id="rId50"/>
    <p:sldId id="301" r:id="rId51"/>
    <p:sldId id="302" r:id="rId52"/>
    <p:sldId id="303" r:id="rId53"/>
    <p:sldId id="304" r:id="rId54"/>
    <p:sldId id="306" r:id="rId55"/>
    <p:sldId id="305" r:id="rId56"/>
    <p:sldId id="30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p:scale>
          <a:sx n="53" d="100"/>
          <a:sy n="53" d="100"/>
        </p:scale>
        <p:origin x="-1272" y="-33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4C371B-AA9C-3B33-FB75-C1D0595F3B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24A0FE4-2B05-F55A-AE2A-65B2144FE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7A3AA14-21AE-503D-10E1-F3C76B7BB83C}"/>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0BBFF94F-4CB2-B60C-07A7-F8C6CE9D19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6A37EC1-1E11-0F88-611A-5098DFFFE9AF}"/>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568117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F962C6-0D3A-8100-3A3B-430B7C7BE9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8CAC41D-3089-7FEE-3B77-F91CEF955B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0B13E77-5DE7-4C6F-9B5D-D1AE35EB73C8}"/>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8B2B361A-F90D-C062-AE07-A2427D831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24AC690-E113-A919-E4DA-C2F4FB6BF4D9}"/>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928719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0FCCA6-033B-0E3C-810F-312C9F9487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C9767A5-3E5C-55CE-E612-E85EEAE30B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470191B-52CE-0CF1-4B62-EA9551397C03}"/>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CBC87A82-6229-493F-CD3D-E7A00EF43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CFFDD2F-8BA3-DEA0-4CA8-46E2CC14231E}"/>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660895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EEFA2C-3FB4-979D-5E2F-6925C308A7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BD760B9-1D27-1B85-0110-42797D206A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AEBDA63-87DA-96E6-4AD1-A34C3D979A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82FABF6-7B5D-3007-8BC5-630157DC05B2}"/>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6" name="Footer Placeholder 5">
            <a:extLst>
              <a:ext uri="{FF2B5EF4-FFF2-40B4-BE49-F238E27FC236}">
                <a16:creationId xmlns="" xmlns:a16="http://schemas.microsoft.com/office/drawing/2014/main" id="{66A6DEF2-D793-3C75-F2AF-A77D0F4F95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C138F70-584A-64C6-3321-999D741E5206}"/>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982320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4C9BE0-D49A-19CF-91A9-5359E15B44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322AD9B-0689-EA38-BDA1-E3BD397730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41ADA0A-35A1-2EBB-A8E8-B187395D44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6E2662BF-80E9-497B-6285-DCF31C9ED4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7840BB2-0274-18A0-114D-98084C5444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9F05FF19-F276-0DA2-7172-3EDCD698630B}"/>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8" name="Footer Placeholder 7">
            <a:extLst>
              <a:ext uri="{FF2B5EF4-FFF2-40B4-BE49-F238E27FC236}">
                <a16:creationId xmlns="" xmlns:a16="http://schemas.microsoft.com/office/drawing/2014/main" id="{E429F823-5270-2DBE-B511-FC3D7A6CA1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BDA7BA6B-180F-A263-8DBA-D4518D5804F7}"/>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1062341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D26D7F-26D5-33E3-18E0-5C854E32A7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3D51A007-41AA-B89A-BE1B-2BA3BA8ECEE7}"/>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4" name="Footer Placeholder 3">
            <a:extLst>
              <a:ext uri="{FF2B5EF4-FFF2-40B4-BE49-F238E27FC236}">
                <a16:creationId xmlns="" xmlns:a16="http://schemas.microsoft.com/office/drawing/2014/main" id="{099ECA27-0708-0CB9-6B99-19745D0250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2CC6C426-963A-225E-FF4B-00B01EE3C1B8}"/>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76435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7269A38-CA4D-E867-3578-1F4F19523C65}"/>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3" name="Footer Placeholder 2">
            <a:extLst>
              <a:ext uri="{FF2B5EF4-FFF2-40B4-BE49-F238E27FC236}">
                <a16:creationId xmlns="" xmlns:a16="http://schemas.microsoft.com/office/drawing/2014/main" id="{6B5DE622-4800-FF21-5A12-D3763F2974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6281B709-4C0B-C3C3-A8FB-6481DE68C3BB}"/>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1104213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0940D6-DDC1-3BC6-48DE-D82ADBD5A2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C6633DF-46F9-69D2-AC76-EFBCACA681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E1D9F6F9-6F11-181B-81CC-A84608D26A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BE68D4C-0F9D-24F7-2FC7-5D76F6BAA771}"/>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6" name="Footer Placeholder 5">
            <a:extLst>
              <a:ext uri="{FF2B5EF4-FFF2-40B4-BE49-F238E27FC236}">
                <a16:creationId xmlns="" xmlns:a16="http://schemas.microsoft.com/office/drawing/2014/main" id="{B6C25DD5-F23B-5BF6-963D-24B5ACAEE8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14EF063-8E58-739F-4E42-F07FB38EAF4F}"/>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256416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C1E570-E659-047E-1D47-A466581AE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BC5F4F1-2F25-00BB-2530-8655834399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22BBA42C-D020-20BA-FA8F-97450A071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52AAE6E-8F08-3AB2-99E6-F673F59450EB}"/>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6" name="Footer Placeholder 5">
            <a:extLst>
              <a:ext uri="{FF2B5EF4-FFF2-40B4-BE49-F238E27FC236}">
                <a16:creationId xmlns="" xmlns:a16="http://schemas.microsoft.com/office/drawing/2014/main" id="{516CE8DD-BC5B-8E54-3FA9-5D72236734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3EE0345-48DF-DB0B-7C5C-DEE72E3C7AB1}"/>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3871434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30E661-999E-52AF-B522-4A60056C27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D91071E-BA1B-FD2C-B1CF-3174439B15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0BEBB8C-FC49-FB99-B0EB-982DB361D1FD}"/>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7893487D-378E-A6CE-5F73-57CA4557F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686619F-659E-348C-9725-D51243A90D80}"/>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1809527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69A0CCC-611D-9113-AEB4-88ABDB6D65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7B6E2BE-3CBD-2032-4B1F-6F90C409BB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F2C575E-3C97-2AF1-4C2C-CA40DA16714A}"/>
              </a:ext>
            </a:extLst>
          </p:cNvPr>
          <p:cNvSpPr>
            <a:spLocks noGrp="1"/>
          </p:cNvSpPr>
          <p:nvPr>
            <p:ph type="dt" sz="half" idx="10"/>
          </p:nvPr>
        </p:nvSpPr>
        <p:spPr/>
        <p:txBody>
          <a:body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A987C0E6-700C-3350-F066-FE8AD23143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03EEDCA-2F33-F900-30D2-973ECD085A41}"/>
              </a:ext>
            </a:extLst>
          </p:cNvPr>
          <p:cNvSpPr>
            <a:spLocks noGrp="1"/>
          </p:cNvSpPr>
          <p:nvPr>
            <p:ph type="sldNum" sz="quarter" idx="12"/>
          </p:nvPr>
        </p:nvSpPr>
        <p:spPr/>
        <p:txBody>
          <a:body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175346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E6C9C94A-58D4-AB8E-9673-00E42508F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965DB59-7D04-DD8C-BEE4-4CD23D3A1D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E9F352B-F8F0-6374-8001-018804A43E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D5D7F-1C47-4429-AA2B-33F80F4B704B}" type="datetimeFigureOut">
              <a:rPr lang="en-IN" smtClean="0"/>
              <a:pPr/>
              <a:t>07-04-2025</a:t>
            </a:fld>
            <a:endParaRPr lang="en-IN"/>
          </a:p>
        </p:txBody>
      </p:sp>
      <p:sp>
        <p:nvSpPr>
          <p:cNvPr id="5" name="Footer Placeholder 4">
            <a:extLst>
              <a:ext uri="{FF2B5EF4-FFF2-40B4-BE49-F238E27FC236}">
                <a16:creationId xmlns="" xmlns:a16="http://schemas.microsoft.com/office/drawing/2014/main" id="{08DFB75B-AFFA-EFB9-97F2-5B76071D3F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6B2AADB0-6B1A-06B1-730E-E9420871F7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34D89-F4BB-43BF-8222-0710F2D67794}" type="slidenum">
              <a:rPr lang="en-IN" smtClean="0"/>
              <a:pPr/>
              <a:t>‹#›</a:t>
            </a:fld>
            <a:endParaRPr lang="en-IN"/>
          </a:p>
        </p:txBody>
      </p:sp>
    </p:spTree>
    <p:extLst>
      <p:ext uri="{BB962C8B-B14F-4D97-AF65-F5344CB8AC3E}">
        <p14:creationId xmlns="" xmlns:p14="http://schemas.microsoft.com/office/powerpoint/2010/main" val="2095599754"/>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A41DAA-C22C-8495-9035-97B9C2BF8276}"/>
              </a:ext>
            </a:extLst>
          </p:cNvPr>
          <p:cNvSpPr>
            <a:spLocks noGrp="1"/>
          </p:cNvSpPr>
          <p:nvPr>
            <p:ph type="ctrTitle"/>
          </p:nvPr>
        </p:nvSpPr>
        <p:spPr>
          <a:xfrm>
            <a:off x="1261872" y="0"/>
            <a:ext cx="8706881" cy="1972235"/>
          </a:xfrm>
        </p:spPr>
        <p:txBody>
          <a:bodyPr>
            <a:normAutofit/>
          </a:bodyPr>
          <a:lstStyle/>
          <a:p>
            <a:r>
              <a:rPr lang="en-IN" sz="6600" dirty="0"/>
              <a:t>NodeJS</a:t>
            </a:r>
          </a:p>
        </p:txBody>
      </p:sp>
      <p:sp>
        <p:nvSpPr>
          <p:cNvPr id="3" name="Subtitle 2">
            <a:extLst>
              <a:ext uri="{FF2B5EF4-FFF2-40B4-BE49-F238E27FC236}">
                <a16:creationId xmlns="" xmlns:a16="http://schemas.microsoft.com/office/drawing/2014/main" id="{05028829-1DC4-8E47-6F2F-DA63345E167A}"/>
              </a:ext>
            </a:extLst>
          </p:cNvPr>
          <p:cNvSpPr>
            <a:spLocks noGrp="1"/>
          </p:cNvSpPr>
          <p:nvPr>
            <p:ph type="subTitle" idx="1"/>
          </p:nvPr>
        </p:nvSpPr>
        <p:spPr>
          <a:xfrm>
            <a:off x="2414337" y="4769101"/>
            <a:ext cx="9144000" cy="1655762"/>
          </a:xfrm>
        </p:spPr>
        <p:txBody>
          <a:bodyPr>
            <a:noAutofit/>
          </a:bodyPr>
          <a:lstStyle/>
          <a:p>
            <a:endParaRPr lang="en-IN" sz="3200" dirty="0">
              <a:solidFill>
                <a:srgbClr val="FFFF00"/>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srcRect/>
          <a:stretch>
            <a:fillRect/>
          </a:stretch>
        </p:blipFill>
        <p:spPr bwMode="auto">
          <a:xfrm>
            <a:off x="4191560" y="2512080"/>
            <a:ext cx="2876550" cy="1762125"/>
          </a:xfrm>
          <a:prstGeom prst="rect">
            <a:avLst/>
          </a:prstGeom>
          <a:noFill/>
          <a:ln w="9525">
            <a:noFill/>
            <a:miter lim="800000"/>
            <a:headEnd/>
            <a:tailEnd/>
          </a:ln>
          <a:effectLst/>
        </p:spPr>
      </p:pic>
    </p:spTree>
    <p:extLst>
      <p:ext uri="{BB962C8B-B14F-4D97-AF65-F5344CB8AC3E}">
        <p14:creationId xmlns="" xmlns:p14="http://schemas.microsoft.com/office/powerpoint/2010/main" val="1863434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r>
              <a:rPr lang="en-IN" dirty="0">
                <a:solidFill>
                  <a:schemeClr val="tx1"/>
                </a:solidFill>
              </a:rPr>
              <a:t>Importance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1171024"/>
            <a:ext cx="10353762" cy="5313997"/>
          </a:xfrm>
        </p:spPr>
        <p:txBody>
          <a:bodyPr>
            <a:noAutofit/>
          </a:bodyPr>
          <a:lstStyle/>
          <a:p>
            <a:pPr algn="just"/>
            <a:r>
              <a:rPr lang="en-IN" dirty="0">
                <a:latin typeface="Times New Roman" pitchFamily="18" charset="0"/>
                <a:cs typeface="Times New Roman" pitchFamily="18" charset="0"/>
              </a:rPr>
              <a:t>Node.js is an opensource and </a:t>
            </a:r>
            <a:r>
              <a:rPr lang="en-IN" dirty="0" err="1">
                <a:latin typeface="Times New Roman" pitchFamily="18" charset="0"/>
                <a:cs typeface="Times New Roman" pitchFamily="18" charset="0"/>
              </a:rPr>
              <a:t>crossplatform</a:t>
            </a:r>
            <a:r>
              <a:rPr lang="en-IN" dirty="0">
                <a:latin typeface="Times New Roman" pitchFamily="18" charset="0"/>
                <a:cs typeface="Times New Roman" pitchFamily="18" charset="0"/>
              </a:rPr>
              <a:t> JavaScript runtime environment</a:t>
            </a:r>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p>
            <a:pPr algn="just"/>
            <a:r>
              <a:rPr lang="en-IN" i="1" dirty="0" smtClean="0">
                <a:solidFill>
                  <a:srgbClr val="FF0000"/>
                </a:solidFill>
                <a:latin typeface="Times New Roman" pitchFamily="18" charset="0"/>
                <a:cs typeface="Times New Roman" pitchFamily="18" charset="0"/>
              </a:rPr>
              <a:t>A </a:t>
            </a:r>
            <a:r>
              <a:rPr lang="en-IN" i="1" dirty="0">
                <a:solidFill>
                  <a:srgbClr val="FF0000"/>
                </a:solidFill>
                <a:latin typeface="Times New Roman" pitchFamily="18" charset="0"/>
                <a:cs typeface="Times New Roman" pitchFamily="18" charset="0"/>
              </a:rPr>
              <a:t>Node.js app runs in a single process, without creating a new thread for every request. </a:t>
            </a:r>
            <a:r>
              <a:rPr lang="en-IN" dirty="0">
                <a:solidFill>
                  <a:srgbClr val="FF0000"/>
                </a:solidFill>
                <a:latin typeface="Times New Roman" pitchFamily="18" charset="0"/>
                <a:cs typeface="Times New Roman" pitchFamily="18" charset="0"/>
              </a:rPr>
              <a:t>Node.js provides a set of asynchronous I/O primitives in its standard library that prevent JavaScript code from </a:t>
            </a:r>
            <a:r>
              <a:rPr lang="en-IN" dirty="0" smtClean="0">
                <a:solidFill>
                  <a:srgbClr val="FF0000"/>
                </a:solidFill>
                <a:latin typeface="Times New Roman" pitchFamily="18" charset="0"/>
                <a:cs typeface="Times New Roman" pitchFamily="18" charset="0"/>
              </a:rPr>
              <a:t>blocking.</a:t>
            </a:r>
          </a:p>
          <a:p>
            <a:pPr algn="just"/>
            <a:r>
              <a:rPr lang="en-IN" dirty="0" smtClean="0">
                <a:latin typeface="Times New Roman" pitchFamily="18" charset="0"/>
                <a:cs typeface="Times New Roman" pitchFamily="18" charset="0"/>
              </a:rPr>
              <a:t>Libraries </a:t>
            </a:r>
            <a:r>
              <a:rPr lang="en-IN" dirty="0">
                <a:latin typeface="Times New Roman" pitchFamily="18" charset="0"/>
                <a:cs typeface="Times New Roman" pitchFamily="18" charset="0"/>
              </a:rPr>
              <a:t>in Node.js are written using nonblocking paradigms, making blocking </a:t>
            </a:r>
            <a:r>
              <a:rPr lang="en-IN" dirty="0" smtClean="0">
                <a:latin typeface="Times New Roman" pitchFamily="18" charset="0"/>
                <a:cs typeface="Times New Roman" pitchFamily="18" charset="0"/>
              </a:rPr>
              <a:t>behaviour </a:t>
            </a:r>
            <a:r>
              <a:rPr lang="en-IN" dirty="0">
                <a:latin typeface="Times New Roman" pitchFamily="18" charset="0"/>
                <a:cs typeface="Times New Roman" pitchFamily="18" charset="0"/>
              </a:rPr>
              <a:t>the exception rather than the norm.</a:t>
            </a:r>
          </a:p>
          <a:p>
            <a:pPr algn="just"/>
            <a:r>
              <a:rPr lang="en-IN" dirty="0">
                <a:latin typeface="Times New Roman" pitchFamily="18" charset="0"/>
                <a:cs typeface="Times New Roman" pitchFamily="18" charset="0"/>
              </a:rPr>
              <a:t>When Node.js performs an I/O operation, like reading from the network, accessing a database or the filesystem, instead of blocking the thread and wasting CPU cycles waiting, Node.js will resume the operations when the response comes back.</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50453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491" y="2692688"/>
            <a:ext cx="10515600" cy="1325563"/>
          </a:xfrm>
        </p:spPr>
        <p:txBody>
          <a:bodyPr/>
          <a:lstStyle/>
          <a:p>
            <a:pPr algn="ctr"/>
            <a:r>
              <a:rPr lang="en-US" dirty="0" smtClean="0"/>
              <a:t>Synchronous Code</a:t>
            </a:r>
            <a:endParaRPr lang="en-IN" dirty="0"/>
          </a:p>
        </p:txBody>
      </p:sp>
    </p:spTree>
    <p:extLst>
      <p:ext uri="{BB962C8B-B14F-4D97-AF65-F5344CB8AC3E}">
        <p14:creationId xmlns:p14="http://schemas.microsoft.com/office/powerpoint/2010/main" xmlns="" val="391091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9004" y="617764"/>
            <a:ext cx="11678195" cy="5443402"/>
          </a:xfrm>
          <a:prstGeom prst="rect">
            <a:avLst/>
          </a:prstGeom>
        </p:spPr>
      </p:pic>
    </p:spTree>
    <p:extLst>
      <p:ext uri="{BB962C8B-B14F-4D97-AF65-F5344CB8AC3E}">
        <p14:creationId xmlns:p14="http://schemas.microsoft.com/office/powerpoint/2010/main" xmlns="" val="2777012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0893" y="670423"/>
            <a:ext cx="10782981" cy="5181737"/>
          </a:xfrm>
          <a:prstGeom prst="rect">
            <a:avLst/>
          </a:prstGeom>
        </p:spPr>
      </p:pic>
    </p:spTree>
    <p:extLst>
      <p:ext uri="{BB962C8B-B14F-4D97-AF65-F5344CB8AC3E}">
        <p14:creationId xmlns:p14="http://schemas.microsoft.com/office/powerpoint/2010/main" xmlns="" val="2696533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0525" y="1283153"/>
            <a:ext cx="11145149" cy="3915863"/>
          </a:xfrm>
          <a:prstGeom prst="rect">
            <a:avLst/>
          </a:prstGeom>
        </p:spPr>
      </p:pic>
    </p:spTree>
    <p:extLst>
      <p:ext uri="{BB962C8B-B14F-4D97-AF65-F5344CB8AC3E}">
        <p14:creationId xmlns:p14="http://schemas.microsoft.com/office/powerpoint/2010/main" xmlns="" val="1710065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491" y="3205306"/>
            <a:ext cx="10515600" cy="1325563"/>
          </a:xfrm>
        </p:spPr>
        <p:txBody>
          <a:bodyPr/>
          <a:lstStyle/>
          <a:p>
            <a:pPr algn="ctr"/>
            <a:r>
              <a:rPr lang="en-US" dirty="0" err="1" smtClean="0"/>
              <a:t>ASynchronous</a:t>
            </a:r>
            <a:r>
              <a:rPr lang="en-US" dirty="0" smtClean="0"/>
              <a:t> Code</a:t>
            </a:r>
            <a:endParaRPr lang="en-IN" dirty="0"/>
          </a:p>
        </p:txBody>
      </p:sp>
    </p:spTree>
    <p:extLst>
      <p:ext uri="{BB962C8B-B14F-4D97-AF65-F5344CB8AC3E}">
        <p14:creationId xmlns:p14="http://schemas.microsoft.com/office/powerpoint/2010/main" xmlns="" val="392225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39623" y="587964"/>
            <a:ext cx="11621451" cy="5211945"/>
          </a:xfrm>
          <a:prstGeom prst="rect">
            <a:avLst/>
          </a:prstGeom>
        </p:spPr>
      </p:pic>
    </p:spTree>
    <p:extLst>
      <p:ext uri="{BB962C8B-B14F-4D97-AF65-F5344CB8AC3E}">
        <p14:creationId xmlns:p14="http://schemas.microsoft.com/office/powerpoint/2010/main" xmlns="" val="390616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8384" y="649741"/>
            <a:ext cx="11949113" cy="5058728"/>
          </a:xfrm>
          <a:prstGeom prst="rect">
            <a:avLst/>
          </a:prstGeom>
        </p:spPr>
      </p:pic>
    </p:spTree>
    <p:extLst>
      <p:ext uri="{BB962C8B-B14F-4D97-AF65-F5344CB8AC3E}">
        <p14:creationId xmlns:p14="http://schemas.microsoft.com/office/powerpoint/2010/main" xmlns="" val="3849097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7234" y="459785"/>
            <a:ext cx="11804469" cy="4935175"/>
          </a:xfrm>
          <a:prstGeom prst="rect">
            <a:avLst/>
          </a:prstGeom>
        </p:spPr>
      </p:pic>
    </p:spTree>
    <p:extLst>
      <p:ext uri="{BB962C8B-B14F-4D97-AF65-F5344CB8AC3E}">
        <p14:creationId xmlns:p14="http://schemas.microsoft.com/office/powerpoint/2010/main" xmlns="" val="3924895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1261" y="1245734"/>
            <a:ext cx="11292431" cy="4105275"/>
          </a:xfrm>
          <a:prstGeom prst="rect">
            <a:avLst/>
          </a:prstGeom>
        </p:spPr>
      </p:pic>
    </p:spTree>
    <p:extLst>
      <p:ext uri="{BB962C8B-B14F-4D97-AF65-F5344CB8AC3E}">
        <p14:creationId xmlns:p14="http://schemas.microsoft.com/office/powerpoint/2010/main" xmlns="" val="1024640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Asynchronous?</a:t>
            </a:r>
            <a:endParaRPr lang="en-IN" dirty="0"/>
          </a:p>
        </p:txBody>
      </p:sp>
      <p:pic>
        <p:nvPicPr>
          <p:cNvPr id="4" name="Content Placeholder 3"/>
          <p:cNvPicPr>
            <a:picLocks noGrp="1" noChangeAspect="1"/>
          </p:cNvPicPr>
          <p:nvPr>
            <p:ph idx="1"/>
          </p:nvPr>
        </p:nvPicPr>
        <p:blipFill>
          <a:blip r:embed="rId2"/>
          <a:stretch>
            <a:fillRect/>
          </a:stretch>
        </p:blipFill>
        <p:spPr>
          <a:xfrm>
            <a:off x="629194" y="1690688"/>
            <a:ext cx="11064606" cy="4527210"/>
          </a:xfrm>
          <a:prstGeom prst="rect">
            <a:avLst/>
          </a:prstGeom>
        </p:spPr>
      </p:pic>
    </p:spTree>
    <p:extLst>
      <p:ext uri="{BB962C8B-B14F-4D97-AF65-F5344CB8AC3E}">
        <p14:creationId xmlns:p14="http://schemas.microsoft.com/office/powerpoint/2010/main" xmlns="" val="2332293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Asynchronous?</a:t>
            </a:r>
            <a:endParaRPr lang="en-IN" dirty="0"/>
          </a:p>
        </p:txBody>
      </p:sp>
      <p:pic>
        <p:nvPicPr>
          <p:cNvPr id="4" name="Content Placeholder 3"/>
          <p:cNvPicPr>
            <a:picLocks noGrp="1" noChangeAspect="1"/>
          </p:cNvPicPr>
          <p:nvPr>
            <p:ph idx="1"/>
          </p:nvPr>
        </p:nvPicPr>
        <p:blipFill>
          <a:blip r:embed="rId2"/>
          <a:stretch>
            <a:fillRect/>
          </a:stretch>
        </p:blipFill>
        <p:spPr>
          <a:xfrm>
            <a:off x="838200" y="1889959"/>
            <a:ext cx="10515600" cy="4222670"/>
          </a:xfrm>
          <a:prstGeom prst="rect">
            <a:avLst/>
          </a:prstGeom>
        </p:spPr>
      </p:pic>
    </p:spTree>
    <p:extLst>
      <p:ext uri="{BB962C8B-B14F-4D97-AF65-F5344CB8AC3E}">
        <p14:creationId xmlns:p14="http://schemas.microsoft.com/office/powerpoint/2010/main" xmlns="" val="1300779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Process?</a:t>
            </a:r>
            <a:endParaRPr lang="en-IN" dirty="0"/>
          </a:p>
        </p:txBody>
      </p:sp>
      <p:pic>
        <p:nvPicPr>
          <p:cNvPr id="4" name="Content Placeholder 3"/>
          <p:cNvPicPr>
            <a:picLocks noGrp="1" noChangeAspect="1"/>
          </p:cNvPicPr>
          <p:nvPr>
            <p:ph idx="1"/>
          </p:nvPr>
        </p:nvPicPr>
        <p:blipFill>
          <a:blip r:embed="rId2"/>
          <a:stretch>
            <a:fillRect/>
          </a:stretch>
        </p:blipFill>
        <p:spPr>
          <a:xfrm>
            <a:off x="2257153" y="2162697"/>
            <a:ext cx="6534150" cy="3997362"/>
          </a:xfrm>
          <a:prstGeom prst="rect">
            <a:avLst/>
          </a:prstGeom>
        </p:spPr>
      </p:pic>
    </p:spTree>
    <p:extLst>
      <p:ext uri="{BB962C8B-B14F-4D97-AF65-F5344CB8AC3E}">
        <p14:creationId xmlns:p14="http://schemas.microsoft.com/office/powerpoint/2010/main" xmlns="" val="2702518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Threaded Problem</a:t>
            </a:r>
            <a:endParaRPr lang="en-IN" dirty="0"/>
          </a:p>
        </p:txBody>
      </p:sp>
      <p:pic>
        <p:nvPicPr>
          <p:cNvPr id="4" name="Content Placeholder 3"/>
          <p:cNvPicPr>
            <a:picLocks noGrp="1" noChangeAspect="1"/>
          </p:cNvPicPr>
          <p:nvPr>
            <p:ph idx="1"/>
          </p:nvPr>
        </p:nvPicPr>
        <p:blipFill>
          <a:blip r:embed="rId2"/>
          <a:stretch>
            <a:fillRect/>
          </a:stretch>
        </p:blipFill>
        <p:spPr>
          <a:xfrm>
            <a:off x="1766343" y="2546418"/>
            <a:ext cx="8083052" cy="2897966"/>
          </a:xfrm>
          <a:prstGeom prst="rect">
            <a:avLst/>
          </a:prstGeom>
        </p:spPr>
      </p:pic>
    </p:spTree>
    <p:extLst>
      <p:ext uri="{BB962C8B-B14F-4D97-AF65-F5344CB8AC3E}">
        <p14:creationId xmlns:p14="http://schemas.microsoft.com/office/powerpoint/2010/main" xmlns="" val="2381488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Node</a:t>
            </a:r>
            <a:endParaRPr lang="en-IN" dirty="0"/>
          </a:p>
        </p:txBody>
      </p:sp>
      <p:pic>
        <p:nvPicPr>
          <p:cNvPr id="4" name="Content Placeholder 3"/>
          <p:cNvPicPr>
            <a:picLocks noGrp="1" noChangeAspect="1"/>
          </p:cNvPicPr>
          <p:nvPr>
            <p:ph idx="1"/>
          </p:nvPr>
        </p:nvPicPr>
        <p:blipFill>
          <a:blip r:embed="rId2"/>
          <a:stretch>
            <a:fillRect/>
          </a:stretch>
        </p:blipFill>
        <p:spPr>
          <a:xfrm>
            <a:off x="1484267" y="2179296"/>
            <a:ext cx="8561069" cy="4335767"/>
          </a:xfrm>
          <a:prstGeom prst="rect">
            <a:avLst/>
          </a:prstGeom>
        </p:spPr>
      </p:pic>
    </p:spTree>
    <p:extLst>
      <p:ext uri="{BB962C8B-B14F-4D97-AF65-F5344CB8AC3E}">
        <p14:creationId xmlns:p14="http://schemas.microsoft.com/office/powerpoint/2010/main" xmlns="" val="1981872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1541418" y="221434"/>
            <a:ext cx="8477794" cy="6440624"/>
          </a:xfrm>
          <a:prstGeom prst="rect">
            <a:avLst/>
          </a:prstGeom>
        </p:spPr>
      </p:pic>
    </p:spTree>
    <p:extLst>
      <p:ext uri="{BB962C8B-B14F-4D97-AF65-F5344CB8AC3E}">
        <p14:creationId xmlns:p14="http://schemas.microsoft.com/office/powerpoint/2010/main" xmlns="" val="3059057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 Intensive Task are handled by Worker Thread</a:t>
            </a:r>
            <a:endParaRPr lang="en-IN" dirty="0"/>
          </a:p>
        </p:txBody>
      </p:sp>
      <p:pic>
        <p:nvPicPr>
          <p:cNvPr id="4" name="Content Placeholder 3"/>
          <p:cNvPicPr>
            <a:picLocks noGrp="1" noChangeAspect="1"/>
          </p:cNvPicPr>
          <p:nvPr>
            <p:ph idx="1"/>
          </p:nvPr>
        </p:nvPicPr>
        <p:blipFill>
          <a:blip r:embed="rId2"/>
          <a:stretch>
            <a:fillRect/>
          </a:stretch>
        </p:blipFill>
        <p:spPr>
          <a:xfrm>
            <a:off x="4052691" y="1825625"/>
            <a:ext cx="4086617" cy="4351338"/>
          </a:xfrm>
          <a:prstGeom prst="rect">
            <a:avLst/>
          </a:prstGeom>
        </p:spPr>
      </p:pic>
    </p:spTree>
    <p:extLst>
      <p:ext uri="{BB962C8B-B14F-4D97-AF65-F5344CB8AC3E}">
        <p14:creationId xmlns:p14="http://schemas.microsoft.com/office/powerpoint/2010/main" xmlns="" val="403382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r>
              <a:rPr lang="en-IN" dirty="0">
                <a:solidFill>
                  <a:schemeClr val="tx1"/>
                </a:solidFill>
              </a:rPr>
              <a:t>Importance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1171024"/>
            <a:ext cx="10353762" cy="5313997"/>
          </a:xfrm>
        </p:spPr>
        <p:txBody>
          <a:bodyPr>
            <a:noAutofit/>
          </a:bodyPr>
          <a:lstStyle/>
          <a:p>
            <a:pPr algn="just"/>
            <a:r>
              <a:rPr lang="en-IN" sz="2400" dirty="0">
                <a:latin typeface="Times New Roman" panose="02020603050405020304" pitchFamily="18" charset="0"/>
                <a:cs typeface="Times New Roman" panose="02020603050405020304" pitchFamily="18" charset="0"/>
              </a:rPr>
              <a:t>Node.js has a unique advantage because millions of </a:t>
            </a:r>
            <a:r>
              <a:rPr lang="en-IN" sz="2400" dirty="0">
                <a:solidFill>
                  <a:srgbClr val="FF0000"/>
                </a:solidFill>
                <a:latin typeface="Times New Roman" panose="02020603050405020304" pitchFamily="18" charset="0"/>
                <a:cs typeface="Times New Roman" panose="02020603050405020304" pitchFamily="18" charset="0"/>
              </a:rPr>
              <a:t>frontend developers that write JavaScript for the browser are now able to write the </a:t>
            </a:r>
            <a:r>
              <a:rPr lang="en-IN" sz="2400" dirty="0" err="1">
                <a:solidFill>
                  <a:srgbClr val="FF0000"/>
                </a:solidFill>
                <a:latin typeface="Times New Roman" panose="02020603050405020304" pitchFamily="18" charset="0"/>
                <a:cs typeface="Times New Roman" panose="02020603050405020304" pitchFamily="18" charset="0"/>
              </a:rPr>
              <a:t>serverside</a:t>
            </a:r>
            <a:r>
              <a:rPr lang="en-IN" sz="2400" dirty="0">
                <a:solidFill>
                  <a:srgbClr val="FF0000"/>
                </a:solidFill>
                <a:latin typeface="Times New Roman" panose="02020603050405020304" pitchFamily="18" charset="0"/>
                <a:cs typeface="Times New Roman" panose="02020603050405020304" pitchFamily="18" charset="0"/>
              </a:rPr>
              <a:t> code in addition to the </a:t>
            </a:r>
            <a:r>
              <a:rPr lang="en-IN" sz="2400" dirty="0" smtClean="0">
                <a:solidFill>
                  <a:srgbClr val="FF0000"/>
                </a:solidFill>
                <a:latin typeface="Times New Roman" panose="02020603050405020304" pitchFamily="18" charset="0"/>
                <a:cs typeface="Times New Roman" panose="02020603050405020304" pitchFamily="18" charset="0"/>
              </a:rPr>
              <a:t>client side </a:t>
            </a:r>
            <a:r>
              <a:rPr lang="en-IN" sz="2400" dirty="0">
                <a:solidFill>
                  <a:srgbClr val="FF0000"/>
                </a:solidFill>
                <a:latin typeface="Times New Roman" panose="02020603050405020304" pitchFamily="18" charset="0"/>
                <a:cs typeface="Times New Roman" panose="02020603050405020304" pitchFamily="18" charset="0"/>
              </a:rPr>
              <a:t>code without the need to learn a completely different language.</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solidFill>
                  <a:srgbClr val="FF0000"/>
                </a:solidFill>
                <a:latin typeface="Times New Roman" panose="02020603050405020304" pitchFamily="18" charset="0"/>
                <a:cs typeface="Times New Roman" panose="02020603050405020304" pitchFamily="18" charset="0"/>
              </a:rPr>
              <a:t>In </a:t>
            </a:r>
            <a:r>
              <a:rPr lang="en-IN" sz="2400" dirty="0">
                <a:solidFill>
                  <a:srgbClr val="FF0000"/>
                </a:solidFill>
                <a:latin typeface="Times New Roman" panose="02020603050405020304" pitchFamily="18" charset="0"/>
                <a:cs typeface="Times New Roman" panose="02020603050405020304" pitchFamily="18" charset="0"/>
              </a:rPr>
              <a:t>Node.js the new ECMAScript standards can be used without problems</a:t>
            </a:r>
            <a:r>
              <a:rPr lang="en-IN" sz="2400" dirty="0">
                <a:latin typeface="Times New Roman" panose="02020603050405020304" pitchFamily="18" charset="0"/>
                <a:cs typeface="Times New Roman" panose="02020603050405020304" pitchFamily="18" charset="0"/>
              </a:rPr>
              <a:t>, as you don't have to wait for all your users to update their browsers  you are in charge of deciding which ECMAScript version to use by changing the Node.js version, and you can also enable specific experimental features by running Node.js with flags.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Node.js is one of the </a:t>
            </a:r>
            <a:r>
              <a:rPr lang="en-IN" sz="2400" dirty="0">
                <a:solidFill>
                  <a:srgbClr val="FF0000"/>
                </a:solidFill>
                <a:latin typeface="Times New Roman" panose="02020603050405020304" pitchFamily="18" charset="0"/>
                <a:cs typeface="Times New Roman" panose="02020603050405020304" pitchFamily="18" charset="0"/>
              </a:rPr>
              <a:t>popular choices for developing RESTful APIs, microservices and web applications.</a:t>
            </a:r>
          </a:p>
          <a:p>
            <a:pPr algn="just"/>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1470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a:bodyPr>
          <a:lstStyle/>
          <a:p>
            <a:r>
              <a:rPr lang="en-IN" b="1" dirty="0">
                <a:solidFill>
                  <a:schemeClr val="tx1"/>
                </a:solidFill>
              </a:rPr>
              <a:t>Features of Node.js</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772001"/>
            <a:ext cx="10353762" cy="5313997"/>
          </a:xfrm>
        </p:spPr>
        <p:txBody>
          <a:bodyPr>
            <a:noAutofit/>
          </a:bodyPr>
          <a:lstStyle/>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Extremely fast: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is built on Google Chrome's V8 JavaScript Engine, so its library is very fast in code execution.</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I/O is Asynchronous and Event Driven: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All APIs of Node.js library are asynchronous i.e. nonblocking. So a Node.js based server never waits for an API to return data. The server moves to the next API after calling it and a notification mechanism of Events of Node.js helps the server to get a response from the previous API call. It is also a reason that it is very fast.</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Single threaded: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follows a single threaded model with event looping.</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Highly Scalable: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is highly scalable because event mechanism helps the server to respond in a nonblocking way.</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No buffering: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cuts down the overall processing time while uploading audio and video files. Node.js applications never buffer any data. These applications simply output the data in chunks.</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Open source: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has an open source community which has produced many excellent modules to add additional capabilities to Node.js applications.</a:t>
            </a:r>
          </a:p>
          <a:p>
            <a:pPr algn="just">
              <a:buFont typeface="+mj-lt"/>
              <a:buAutoNum type="arabicPeriod"/>
            </a:pPr>
            <a:r>
              <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rPr>
              <a:t>License: </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Node.js is released under the MIT license.</a:t>
            </a:r>
          </a:p>
          <a:p>
            <a:endParaRPr lang="en-IN" sz="24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17930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a:bodyPr>
          <a:lstStyle/>
          <a:p>
            <a:pPr algn="l"/>
            <a:r>
              <a:rPr lang="en-IN" b="0" i="0" dirty="0">
                <a:solidFill>
                  <a:srgbClr val="000000"/>
                </a:solidFill>
                <a:effectLst/>
                <a:highlight>
                  <a:srgbClr val="FFFFFF"/>
                </a:highlight>
                <a:latin typeface="Segoe UI" panose="020B0502040204020203" pitchFamily="34" charset="0"/>
              </a:rPr>
              <a:t>What Can Node.js Do?</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1171024"/>
            <a:ext cx="10353762" cy="5313997"/>
          </a:xfrm>
        </p:spPr>
        <p:txBody>
          <a:bodyPr>
            <a:noAutofit/>
          </a:bodyPr>
          <a:lstStyle/>
          <a:p>
            <a:pPr marL="0" indent="0" algn="just">
              <a:buNone/>
            </a:pPr>
            <a:r>
              <a:rPr lang="en-IN" dirty="0">
                <a:highlight>
                  <a:srgbClr val="FFFFFF"/>
                </a:highlight>
              </a:rPr>
              <a:t>Node.js is a runtime environment that allows you to run JavaScript on the </a:t>
            </a:r>
            <a:r>
              <a:rPr lang="en-IN" dirty="0" err="1">
                <a:highlight>
                  <a:srgbClr val="FFFFFF"/>
                </a:highlight>
              </a:rPr>
              <a:t>serverside</a:t>
            </a:r>
            <a:r>
              <a:rPr lang="en-IN" dirty="0">
                <a:highlight>
                  <a:srgbClr val="FFFFFF"/>
                </a:highlight>
              </a:rPr>
              <a:t>. Here's a breakdown:</a:t>
            </a:r>
            <a:endParaRPr lang="en-IN" sz="2400" b="1" i="0" dirty="0">
              <a:solidFill>
                <a:srgbClr val="000000"/>
              </a:solidFill>
              <a:effectLst/>
              <a:highlight>
                <a:srgbClr val="FFFFFF"/>
              </a:highlight>
              <a:latin typeface="Times New Roman" panose="02020603050405020304" pitchFamily="18" charset="0"/>
              <a:cs typeface="Times New Roman" panose="02020603050405020304" pitchFamily="18" charset="0"/>
            </a:endParaRPr>
          </a:p>
          <a:p>
            <a:pPr algn="just">
              <a:buFont typeface="+mj-lt"/>
              <a:buAutoNum type="arabicPeriod"/>
            </a:pPr>
            <a:r>
              <a:rPr lang="en-IN" sz="2400" b="1" i="0" dirty="0">
                <a:solidFill>
                  <a:srgbClr val="000000"/>
                </a:solidFill>
                <a:effectLst/>
                <a:latin typeface="Times New Roman" panose="02020603050405020304" pitchFamily="18" charset="0"/>
                <a:cs typeface="Times New Roman" panose="02020603050405020304" pitchFamily="18" charset="0"/>
              </a:rPr>
              <a:t>Generate dynamic page content:</a:t>
            </a:r>
            <a:r>
              <a:rPr lang="en-IN" sz="2400" b="0" i="0" dirty="0">
                <a:solidFill>
                  <a:srgbClr val="000000"/>
                </a:solidFill>
                <a:effectLst/>
                <a:latin typeface="Times New Roman" panose="02020603050405020304" pitchFamily="18" charset="0"/>
                <a:cs typeface="Times New Roman" panose="02020603050405020304" pitchFamily="18" charset="0"/>
              </a:rPr>
              <a:t> Yes, Node.js can dynamically generate HTML content on the </a:t>
            </a:r>
            <a:r>
              <a:rPr lang="en-IN" sz="2400" b="0" i="0" dirty="0" err="1">
                <a:solidFill>
                  <a:srgbClr val="000000"/>
                </a:solidFill>
                <a:effectLst/>
                <a:latin typeface="Times New Roman" panose="02020603050405020304" pitchFamily="18" charset="0"/>
                <a:cs typeface="Times New Roman" panose="02020603050405020304" pitchFamily="18" charset="0"/>
              </a:rPr>
              <a:t>serverside</a:t>
            </a:r>
            <a:r>
              <a:rPr lang="en-IN" sz="2400" b="0" i="0" dirty="0">
                <a:solidFill>
                  <a:srgbClr val="000000"/>
                </a:solidFill>
                <a:effectLst/>
                <a:latin typeface="Times New Roman" panose="02020603050405020304" pitchFamily="18" charset="0"/>
                <a:cs typeface="Times New Roman" panose="02020603050405020304" pitchFamily="18" charset="0"/>
              </a:rPr>
              <a:t>, allowing for dynamic web page generation.</a:t>
            </a:r>
          </a:p>
          <a:p>
            <a:pPr algn="just">
              <a:buFont typeface="+mj-lt"/>
              <a:buAutoNum type="arabicPeriod"/>
            </a:pPr>
            <a:r>
              <a:rPr lang="en-IN" sz="2400" b="1" i="0" dirty="0">
                <a:solidFill>
                  <a:srgbClr val="000000"/>
                </a:solidFill>
                <a:effectLst/>
                <a:latin typeface="Times New Roman" panose="02020603050405020304" pitchFamily="18" charset="0"/>
                <a:cs typeface="Times New Roman" panose="02020603050405020304" pitchFamily="18" charset="0"/>
              </a:rPr>
              <a:t> File manipulation</a:t>
            </a:r>
            <a:r>
              <a:rPr lang="en-IN" sz="2400" b="0" i="0" dirty="0">
                <a:solidFill>
                  <a:srgbClr val="000000"/>
                </a:solidFill>
                <a:effectLst/>
                <a:latin typeface="Times New Roman" panose="02020603050405020304" pitchFamily="18" charset="0"/>
                <a:cs typeface="Times New Roman" panose="02020603050405020304" pitchFamily="18" charset="0"/>
              </a:rPr>
              <a:t>: Node.js has </a:t>
            </a:r>
            <a:r>
              <a:rPr lang="en-IN" sz="2400" b="0" i="0" dirty="0" err="1">
                <a:solidFill>
                  <a:srgbClr val="000000"/>
                </a:solidFill>
                <a:effectLst/>
                <a:latin typeface="Times New Roman" panose="02020603050405020304" pitchFamily="18" charset="0"/>
                <a:cs typeface="Times New Roman" panose="02020603050405020304" pitchFamily="18" charset="0"/>
              </a:rPr>
              <a:t>builtin</a:t>
            </a:r>
            <a:r>
              <a:rPr lang="en-IN" sz="2400" b="0" i="0" dirty="0">
                <a:solidFill>
                  <a:srgbClr val="000000"/>
                </a:solidFill>
                <a:effectLst/>
                <a:latin typeface="Times New Roman" panose="02020603050405020304" pitchFamily="18" charset="0"/>
                <a:cs typeface="Times New Roman" panose="02020603050405020304" pitchFamily="18" charset="0"/>
              </a:rPr>
              <a:t> modules that allow you to interact with the file system, including creating, opening, reading, writing, deleting, and closing files on the server.</a:t>
            </a:r>
          </a:p>
          <a:p>
            <a:pPr algn="just">
              <a:buFont typeface="+mj-lt"/>
              <a:buAutoNum type="arabicPeriod"/>
            </a:pPr>
            <a:r>
              <a:rPr lang="en-IN" sz="2400" b="1" i="0" dirty="0">
                <a:solidFill>
                  <a:srgbClr val="000000"/>
                </a:solidFill>
                <a:effectLst/>
                <a:latin typeface="Times New Roman" panose="02020603050405020304" pitchFamily="18" charset="0"/>
                <a:cs typeface="Times New Roman" panose="02020603050405020304" pitchFamily="18" charset="0"/>
              </a:rPr>
              <a:t> Collect form data:</a:t>
            </a:r>
            <a:r>
              <a:rPr lang="en-IN" sz="2400" b="0" i="0" dirty="0">
                <a:solidFill>
                  <a:srgbClr val="000000"/>
                </a:solidFill>
                <a:effectLst/>
                <a:latin typeface="Times New Roman" panose="02020603050405020304" pitchFamily="18" charset="0"/>
                <a:cs typeface="Times New Roman" panose="02020603050405020304" pitchFamily="18" charset="0"/>
              </a:rPr>
              <a:t> Node.js can handle form submissions from web pages. It can parse form data and process it on the server.</a:t>
            </a:r>
          </a:p>
          <a:p>
            <a:pPr algn="just">
              <a:buFont typeface="+mj-lt"/>
              <a:buAutoNum type="arabicPeriod"/>
            </a:pPr>
            <a:r>
              <a:rPr lang="en-IN" sz="2400" b="1" i="0" dirty="0">
                <a:solidFill>
                  <a:srgbClr val="000000"/>
                </a:solidFill>
                <a:effectLst/>
                <a:latin typeface="Times New Roman" panose="02020603050405020304" pitchFamily="18" charset="0"/>
                <a:cs typeface="Times New Roman" panose="02020603050405020304" pitchFamily="18" charset="0"/>
              </a:rPr>
              <a:t> Database operations:</a:t>
            </a:r>
            <a:r>
              <a:rPr lang="en-IN" sz="2400" b="0" i="0" dirty="0">
                <a:solidFill>
                  <a:srgbClr val="000000"/>
                </a:solidFill>
                <a:effectLst/>
                <a:latin typeface="Times New Roman" panose="02020603050405020304" pitchFamily="18" charset="0"/>
                <a:cs typeface="Times New Roman" panose="02020603050405020304" pitchFamily="18" charset="0"/>
              </a:rPr>
              <a:t> Node.js can interact with databases, both SQL and NoSQL. This includes adding, deleting, and modifying data in </a:t>
            </a:r>
            <a:r>
              <a:rPr lang="en-IN" sz="2400" b="0" i="0" dirty="0" smtClean="0">
                <a:solidFill>
                  <a:srgbClr val="000000"/>
                </a:solidFill>
                <a:effectLst/>
                <a:latin typeface="Times New Roman" panose="02020603050405020304" pitchFamily="18" charset="0"/>
                <a:cs typeface="Times New Roman" panose="02020603050405020304" pitchFamily="18" charset="0"/>
              </a:rPr>
              <a:t>databases.</a:t>
            </a:r>
          </a:p>
          <a:p>
            <a:pPr algn="just">
              <a:buNone/>
            </a:pPr>
            <a:r>
              <a:rPr lang="en-IN" sz="2400" dirty="0" smtClean="0">
                <a:solidFill>
                  <a:srgbClr val="000000"/>
                </a:solidFill>
                <a:latin typeface="Times New Roman" panose="02020603050405020304" pitchFamily="18" charset="0"/>
                <a:cs typeface="Times New Roman" panose="02020603050405020304" pitchFamily="18" charset="0"/>
              </a:rPr>
              <a:t>	</a:t>
            </a:r>
            <a:r>
              <a:rPr lang="en-IN" sz="2400" b="0" i="0" dirty="0" smtClean="0">
                <a:solidFill>
                  <a:srgbClr val="000000"/>
                </a:solidFill>
                <a:effectLst/>
                <a:latin typeface="Times New Roman" panose="02020603050405020304" pitchFamily="18" charset="0"/>
                <a:cs typeface="Times New Roman" panose="02020603050405020304" pitchFamily="18" charset="0"/>
              </a:rPr>
              <a:t>These </a:t>
            </a:r>
            <a:r>
              <a:rPr lang="en-IN" sz="2400" b="0" i="0" dirty="0">
                <a:solidFill>
                  <a:srgbClr val="000000"/>
                </a:solidFill>
                <a:effectLst/>
                <a:latin typeface="Times New Roman" panose="02020603050405020304" pitchFamily="18" charset="0"/>
                <a:cs typeface="Times New Roman" panose="02020603050405020304" pitchFamily="18" charset="0"/>
              </a:rPr>
              <a:t>functionalities are often used to create web applications, APIs, and other </a:t>
            </a:r>
            <a:r>
              <a:rPr lang="en-IN" sz="2400" b="0" i="0" dirty="0" err="1">
                <a:solidFill>
                  <a:srgbClr val="000000"/>
                </a:solidFill>
                <a:effectLst/>
                <a:latin typeface="Times New Roman" panose="02020603050405020304" pitchFamily="18" charset="0"/>
                <a:cs typeface="Times New Roman" panose="02020603050405020304" pitchFamily="18" charset="0"/>
              </a:rPr>
              <a:t>serverside</a:t>
            </a:r>
            <a:r>
              <a:rPr lang="en-IN" sz="2400" b="0" i="0" dirty="0">
                <a:solidFill>
                  <a:srgbClr val="000000"/>
                </a:solidFill>
                <a:effectLst/>
                <a:latin typeface="Times New Roman" panose="02020603050405020304" pitchFamily="18" charset="0"/>
                <a:cs typeface="Times New Roman" panose="02020603050405020304" pitchFamily="18" charset="0"/>
              </a:rPr>
              <a:t> applications.</a:t>
            </a:r>
            <a:endPar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38788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180474"/>
            <a:ext cx="11033563" cy="806116"/>
          </a:xfrm>
        </p:spPr>
        <p:txBody>
          <a:bodyPr>
            <a:normAutofit fontScale="90000"/>
          </a:bodyPr>
          <a:lstStyle/>
          <a:p>
            <a:r>
              <a:rPr lang="en-IN" sz="4400" b="0" i="0" dirty="0">
                <a:solidFill>
                  <a:srgbClr val="000000"/>
                </a:solidFill>
                <a:effectLst/>
                <a:latin typeface="Times New Roman" panose="02020603050405020304" pitchFamily="18" charset="0"/>
                <a:cs typeface="Times New Roman" panose="02020603050405020304" pitchFamily="18" charset="0"/>
              </a:rPr>
              <a:t>Comparing File Handling in PHP/ASP and Node.js</a:t>
            </a:r>
            <a:endParaRPr lang="en-IN" b="1" dirty="0">
              <a:solidFill>
                <a:schemeClr val="tx1"/>
              </a:solidFill>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1171024"/>
            <a:ext cx="10353762" cy="5313997"/>
          </a:xfrm>
        </p:spPr>
        <p:txBody>
          <a:bodyPr>
            <a:noAutofit/>
          </a:bodyPr>
          <a:lstStyle/>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PHP/ASP File Handling:</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1. Sends task to file system.</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2. Waits for file system to open and read the file.</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3. Returns content to client.</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4. Ready to handle the next request.</a:t>
            </a:r>
          </a:p>
          <a:p>
            <a:pPr marL="0" indent="0" algn="just">
              <a:buNone/>
            </a:pPr>
            <a:endParaRPr lang="en-IN" sz="22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Node.js File Handling:</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1. Sends task to file system.</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2. Ready to handle the next request.</a:t>
            </a:r>
          </a:p>
          <a:p>
            <a:pPr marL="0" indent="0" algn="just">
              <a:buNone/>
            </a:pPr>
            <a:r>
              <a:rPr lang="en-IN" sz="2200" b="0" i="0" dirty="0">
                <a:solidFill>
                  <a:srgbClr val="000000"/>
                </a:solidFill>
                <a:effectLst/>
                <a:latin typeface="Times New Roman" panose="02020603050405020304" pitchFamily="18" charset="0"/>
                <a:cs typeface="Times New Roman" panose="02020603050405020304" pitchFamily="18" charset="0"/>
              </a:rPr>
              <a:t>3. When file system completes operation, returns content to client.</a:t>
            </a:r>
          </a:p>
          <a:p>
            <a:pPr marL="0" indent="0" algn="just">
              <a:buNone/>
            </a:pPr>
            <a:endParaRPr lang="en-IN" sz="22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4D71C207-9876-3CA1-1F97-C4116CE8208E}"/>
              </a:ext>
            </a:extLst>
          </p:cNvPr>
          <p:cNvSpPr txBox="1"/>
          <p:nvPr/>
        </p:nvSpPr>
        <p:spPr>
          <a:xfrm>
            <a:off x="5417218" y="2708520"/>
            <a:ext cx="6774782" cy="1569660"/>
          </a:xfrm>
          <a:prstGeom prst="rect">
            <a:avLst/>
          </a:prstGeom>
          <a:noFill/>
        </p:spPr>
        <p:txBody>
          <a:bodyPr wrap="square">
            <a:spAutoFit/>
          </a:bodyPr>
          <a:lstStyle/>
          <a:p>
            <a:pPr marL="0" indent="0" algn="just">
              <a:buNone/>
            </a:pPr>
            <a:r>
              <a:rPr lang="en-IN" sz="2400" b="0" i="1" dirty="0">
                <a:solidFill>
                  <a:srgbClr val="7030A0"/>
                </a:solidFill>
                <a:effectLst/>
                <a:latin typeface="Times New Roman" panose="02020603050405020304" pitchFamily="18" charset="0"/>
                <a:cs typeface="Times New Roman" panose="02020603050405020304" pitchFamily="18" charset="0"/>
              </a:rPr>
              <a:t>Node.js Advantages:</a:t>
            </a:r>
          </a:p>
          <a:p>
            <a:pPr marL="0" indent="0" algn="just">
              <a:buNone/>
            </a:pPr>
            <a:r>
              <a:rPr lang="en-IN" sz="2400" b="0" i="1" dirty="0">
                <a:solidFill>
                  <a:srgbClr val="7030A0"/>
                </a:solidFill>
                <a:effectLst/>
                <a:latin typeface="Times New Roman" panose="02020603050405020304" pitchFamily="18" charset="0"/>
                <a:cs typeface="Times New Roman" panose="02020603050405020304" pitchFamily="18" charset="0"/>
              </a:rPr>
              <a:t> Eliminates waiting, continues with next request.</a:t>
            </a:r>
          </a:p>
          <a:p>
            <a:pPr marL="0" indent="0" algn="just">
              <a:buNone/>
            </a:pPr>
            <a:r>
              <a:rPr lang="en-IN" sz="2400" b="0" i="1" dirty="0">
                <a:solidFill>
                  <a:srgbClr val="7030A0"/>
                </a:solidFill>
                <a:effectLst/>
                <a:latin typeface="Times New Roman" panose="02020603050405020304" pitchFamily="18" charset="0"/>
                <a:cs typeface="Times New Roman" panose="02020603050405020304" pitchFamily="18" charset="0"/>
              </a:rPr>
              <a:t> </a:t>
            </a:r>
            <a:r>
              <a:rPr lang="en-IN" sz="2400" b="0" i="1" dirty="0" err="1">
                <a:solidFill>
                  <a:srgbClr val="7030A0"/>
                </a:solidFill>
                <a:effectLst/>
                <a:latin typeface="Times New Roman" panose="02020603050405020304" pitchFamily="18" charset="0"/>
                <a:cs typeface="Times New Roman" panose="02020603050405020304" pitchFamily="18" charset="0"/>
              </a:rPr>
              <a:t>Singlethreaded</a:t>
            </a:r>
            <a:r>
              <a:rPr lang="en-IN" sz="2400" b="0" i="1" dirty="0">
                <a:solidFill>
                  <a:srgbClr val="7030A0"/>
                </a:solidFill>
                <a:effectLst/>
                <a:latin typeface="Times New Roman" panose="02020603050405020304" pitchFamily="18" charset="0"/>
                <a:cs typeface="Times New Roman" panose="02020603050405020304" pitchFamily="18" charset="0"/>
              </a:rPr>
              <a:t>, nonblocking, asynchronous.</a:t>
            </a:r>
          </a:p>
          <a:p>
            <a:pPr marL="0" indent="0" algn="just">
              <a:buNone/>
            </a:pPr>
            <a:r>
              <a:rPr lang="en-IN" sz="2400" b="0" i="1" dirty="0">
                <a:solidFill>
                  <a:srgbClr val="7030A0"/>
                </a:solidFill>
                <a:effectLst/>
                <a:latin typeface="Times New Roman" panose="02020603050405020304" pitchFamily="18" charset="0"/>
                <a:cs typeface="Times New Roman" panose="02020603050405020304" pitchFamily="18" charset="0"/>
              </a:rPr>
              <a:t> Memory efficient.</a:t>
            </a:r>
          </a:p>
        </p:txBody>
      </p:sp>
    </p:spTree>
    <p:extLst>
      <p:ext uri="{BB962C8B-B14F-4D97-AF65-F5344CB8AC3E}">
        <p14:creationId xmlns="" xmlns:p14="http://schemas.microsoft.com/office/powerpoint/2010/main" val="103041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animEffect transition="in" filter="fade">
                                      <p:cBhvr>
                                        <p:cTn id="43" dur="500"/>
                                        <p:tgtEl>
                                          <p:spTgt spid="5">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Effect transition="in" filter="fade">
                                      <p:cBhvr>
                                        <p:cTn id="46" dur="500"/>
                                        <p:tgtEl>
                                          <p:spTgt spid="5">
                                            <p:txEl>
                                              <p:pRg st="1" end="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animEffect transition="in" filter="fade">
                                      <p:cBhvr>
                                        <p:cTn id="49" dur="500"/>
                                        <p:tgtEl>
                                          <p:spTgt spid="5">
                                            <p:txEl>
                                              <p:pRg st="2" end="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fade">
                                      <p:cBhvr>
                                        <p:cTn id="5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6482" y="2821454"/>
            <a:ext cx="10515600" cy="1325563"/>
          </a:xfrm>
        </p:spPr>
        <p:txBody>
          <a:bodyPr/>
          <a:lstStyle/>
          <a:p>
            <a:r>
              <a:rPr lang="en-US" dirty="0" smtClean="0"/>
              <a:t>First Program in Node </a:t>
            </a:r>
            <a:r>
              <a:rPr lang="en-US" dirty="0" err="1" smtClean="0"/>
              <a:t>js</a:t>
            </a:r>
            <a:r>
              <a:rPr lang="en-US" dirty="0" smtClean="0"/>
              <a:t> to create server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80960" y="142852"/>
            <a:ext cx="11334829" cy="6571403"/>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80960" y="142853"/>
            <a:ext cx="11525331" cy="6512817"/>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61963" y="142853"/>
            <a:ext cx="10763325" cy="6540699"/>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396047" y="428605"/>
            <a:ext cx="11224492" cy="6105535"/>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AE001A-F9DA-382A-04FC-5D01262C3136}"/>
              </a:ext>
            </a:extLst>
          </p:cNvPr>
          <p:cNvSpPr>
            <a:spLocks noGrp="1"/>
          </p:cNvSpPr>
          <p:nvPr>
            <p:ph type="title"/>
          </p:nvPr>
        </p:nvSpPr>
        <p:spPr>
          <a:xfrm>
            <a:off x="838200" y="365125"/>
            <a:ext cx="10515600" cy="765843"/>
          </a:xfrm>
        </p:spPr>
        <p:txBody>
          <a:bodyPr/>
          <a:lstStyle/>
          <a:p>
            <a:r>
              <a:rPr lang="en-IN" b="1" i="0" dirty="0">
                <a:solidFill>
                  <a:srgbClr val="333333"/>
                </a:solidFill>
                <a:effectLst/>
                <a:highlight>
                  <a:srgbClr val="FFFFFF"/>
                </a:highlight>
                <a:latin typeface="inter-bold"/>
              </a:rPr>
              <a:t>Different parts of Node.js</a:t>
            </a:r>
            <a:endParaRPr lang="en-IN" dirty="0"/>
          </a:p>
        </p:txBody>
      </p:sp>
      <p:pic>
        <p:nvPicPr>
          <p:cNvPr id="7" name="Picture 6">
            <a:extLst>
              <a:ext uri="{FF2B5EF4-FFF2-40B4-BE49-F238E27FC236}">
                <a16:creationId xmlns="" xmlns:a16="http://schemas.microsoft.com/office/drawing/2014/main" id="{6F5EB799-5706-80A9-7CC2-E540198A3207}"/>
              </a:ext>
            </a:extLst>
          </p:cNvPr>
          <p:cNvPicPr>
            <a:picLocks noChangeAspect="1"/>
          </p:cNvPicPr>
          <p:nvPr/>
        </p:nvPicPr>
        <p:blipFill>
          <a:blip r:embed="rId2"/>
          <a:stretch>
            <a:fillRect/>
          </a:stretch>
        </p:blipFill>
        <p:spPr>
          <a:xfrm>
            <a:off x="1421731" y="1227221"/>
            <a:ext cx="9587164" cy="5534525"/>
          </a:xfrm>
          <a:prstGeom prst="rect">
            <a:avLst/>
          </a:prstGeom>
        </p:spPr>
      </p:pic>
    </p:spTree>
    <p:extLst>
      <p:ext uri="{BB962C8B-B14F-4D97-AF65-F5344CB8AC3E}">
        <p14:creationId xmlns="" xmlns:p14="http://schemas.microsoft.com/office/powerpoint/2010/main" val="1481740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3284016" y="2943775"/>
            <a:ext cx="5182205" cy="970450"/>
          </a:xfrm>
        </p:spPr>
        <p:txBody>
          <a:bodyPr>
            <a:normAutofit fontScale="90000"/>
          </a:bodyPr>
          <a:lstStyle/>
          <a:p>
            <a:r>
              <a:rPr lang="en-IN" dirty="0">
                <a:solidFill>
                  <a:schemeClr val="tx1"/>
                </a:solidFill>
              </a:rPr>
              <a:t>How to install NodeJS</a:t>
            </a:r>
          </a:p>
        </p:txBody>
      </p:sp>
    </p:spTree>
    <p:extLst>
      <p:ext uri="{BB962C8B-B14F-4D97-AF65-F5344CB8AC3E}">
        <p14:creationId xmlns="" xmlns:p14="http://schemas.microsoft.com/office/powerpoint/2010/main" val="3404634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fontScale="90000"/>
          </a:bodyPr>
          <a:lstStyle/>
          <a:p>
            <a:pPr algn="l"/>
            <a:r>
              <a:rPr lang="en-IN" b="0" i="0" dirty="0">
                <a:solidFill>
                  <a:srgbClr val="0D0D0D"/>
                </a:solidFill>
                <a:effectLst/>
                <a:highlight>
                  <a:srgbClr val="FFFFFF"/>
                </a:highlight>
                <a:latin typeface="Söhne"/>
              </a:rPr>
              <a:t>Creating a </a:t>
            </a:r>
            <a:r>
              <a:rPr lang="en-IN" b="0" i="0" dirty="0" err="1">
                <a:solidFill>
                  <a:srgbClr val="0D0D0D"/>
                </a:solidFill>
                <a:effectLst/>
                <a:highlight>
                  <a:srgbClr val="FFFFFF"/>
                </a:highlight>
                <a:latin typeface="Söhne"/>
              </a:rPr>
              <a:t>Consolebased</a:t>
            </a:r>
            <a:r>
              <a:rPr lang="en-IN" b="0" i="0" dirty="0">
                <a:solidFill>
                  <a:srgbClr val="0D0D0D"/>
                </a:solidFill>
                <a:effectLst/>
                <a:highlight>
                  <a:srgbClr val="FFFFFF"/>
                </a:highlight>
                <a:latin typeface="Söhne"/>
              </a:rPr>
              <a:t> Node Application</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806116"/>
            <a:ext cx="10353762" cy="5313997"/>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Step 1: </a:t>
            </a:r>
            <a:r>
              <a:rPr lang="en-IN" sz="2200" dirty="0">
                <a:latin typeface="Times New Roman" panose="02020603050405020304" pitchFamily="18" charset="0"/>
                <a:cs typeface="Times New Roman" panose="02020603050405020304" pitchFamily="18" charset="0"/>
              </a:rPr>
              <a:t>Set Up Your Environment</a:t>
            </a:r>
          </a:p>
          <a:p>
            <a:pPr algn="just"/>
            <a:r>
              <a:rPr lang="en-IN" sz="2200" dirty="0">
                <a:latin typeface="Times New Roman" panose="02020603050405020304" pitchFamily="18" charset="0"/>
                <a:cs typeface="Times New Roman" panose="02020603050405020304" pitchFamily="18" charset="0"/>
              </a:rPr>
              <a:t>Install Node.js: Download and install Node.js from [nodejs.org](https://nodejs.org/).</a:t>
            </a:r>
          </a:p>
          <a:p>
            <a:pPr algn="just"/>
            <a:r>
              <a:rPr lang="en-IN" sz="2200" dirty="0">
                <a:latin typeface="Times New Roman" panose="02020603050405020304" pitchFamily="18" charset="0"/>
                <a:cs typeface="Times New Roman" panose="02020603050405020304" pitchFamily="18" charset="0"/>
              </a:rPr>
              <a:t>Verify Installation: Open your terminal or command prompt and run `node v` to check if Node.js is installed.</a:t>
            </a:r>
          </a:p>
          <a:p>
            <a:pPr marL="0" indent="0" algn="just">
              <a:buNone/>
            </a:pPr>
            <a:r>
              <a:rPr lang="en-IN" sz="2200" b="1" dirty="0">
                <a:latin typeface="Times New Roman" panose="02020603050405020304" pitchFamily="18" charset="0"/>
                <a:cs typeface="Times New Roman" panose="02020603050405020304" pitchFamily="18" charset="0"/>
              </a:rPr>
              <a:t>Step 2:</a:t>
            </a:r>
            <a:r>
              <a:rPr lang="en-IN" sz="2200" dirty="0">
                <a:latin typeface="Times New Roman" panose="02020603050405020304" pitchFamily="18" charset="0"/>
                <a:cs typeface="Times New Roman" panose="02020603050405020304" pitchFamily="18" charset="0"/>
              </a:rPr>
              <a:t> Initialize Your Node Project</a:t>
            </a:r>
          </a:p>
          <a:p>
            <a:pPr algn="just"/>
            <a:r>
              <a:rPr lang="en-IN" sz="2200" dirty="0">
                <a:latin typeface="Times New Roman" panose="02020603050405020304" pitchFamily="18" charset="0"/>
                <a:cs typeface="Times New Roman" panose="02020603050405020304" pitchFamily="18" charset="0"/>
              </a:rPr>
              <a:t>Create a New Directory: Create a new directory for your project using `</a:t>
            </a:r>
            <a:r>
              <a:rPr lang="en-IN" sz="2200" dirty="0" err="1">
                <a:latin typeface="Times New Roman" panose="02020603050405020304" pitchFamily="18" charset="0"/>
                <a:cs typeface="Times New Roman" panose="02020603050405020304" pitchFamily="18" charset="0"/>
              </a:rPr>
              <a:t>mkdir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mynodeapp</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Navigate to the Directory: Move into your project directory using `cd </a:t>
            </a:r>
            <a:r>
              <a:rPr lang="en-IN" sz="2200" dirty="0" err="1">
                <a:latin typeface="Times New Roman" panose="02020603050405020304" pitchFamily="18" charset="0"/>
                <a:cs typeface="Times New Roman" panose="02020603050405020304" pitchFamily="18" charset="0"/>
              </a:rPr>
              <a:t>mynodeapp</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Initialize Node Project: Run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init</a:t>
            </a:r>
            <a:r>
              <a:rPr lang="en-IN" sz="2200" dirty="0">
                <a:latin typeface="Times New Roman" panose="02020603050405020304" pitchFamily="18" charset="0"/>
                <a:cs typeface="Times New Roman" panose="02020603050405020304" pitchFamily="18" charset="0"/>
              </a:rPr>
              <a:t> y` to initialize a new Node.js project with default settings.</a:t>
            </a:r>
          </a:p>
          <a:p>
            <a:pPr marL="0" indent="0" algn="just">
              <a:buNone/>
            </a:pPr>
            <a:r>
              <a:rPr lang="en-IN" sz="2200" b="1" dirty="0">
                <a:latin typeface="Times New Roman" panose="02020603050405020304" pitchFamily="18" charset="0"/>
                <a:cs typeface="Times New Roman" panose="02020603050405020304" pitchFamily="18" charset="0"/>
              </a:rPr>
              <a:t>Step 3:</a:t>
            </a:r>
            <a:r>
              <a:rPr lang="en-IN" sz="2200" dirty="0">
                <a:latin typeface="Times New Roman" panose="02020603050405020304" pitchFamily="18" charset="0"/>
                <a:cs typeface="Times New Roman" panose="02020603050405020304" pitchFamily="18" charset="0"/>
              </a:rPr>
              <a:t> Write Your Node.js Script</a:t>
            </a:r>
          </a:p>
          <a:p>
            <a:pPr algn="just"/>
            <a:r>
              <a:rPr lang="en-IN" sz="2200" dirty="0">
                <a:latin typeface="Times New Roman" panose="02020603050405020304" pitchFamily="18" charset="0"/>
                <a:cs typeface="Times New Roman" panose="02020603050405020304" pitchFamily="18" charset="0"/>
              </a:rPr>
              <a:t>Create a JavaScript File: Create a new JavaScript file, e.g., `app.js`, in your project directory.</a:t>
            </a:r>
          </a:p>
          <a:p>
            <a:pPr algn="just"/>
            <a:r>
              <a:rPr lang="en-IN" sz="2200" dirty="0">
                <a:latin typeface="Times New Roman" panose="02020603050405020304" pitchFamily="18" charset="0"/>
                <a:cs typeface="Times New Roman" panose="02020603050405020304" pitchFamily="18" charset="0"/>
              </a:rPr>
              <a:t>Write Your Code: Write your Node.js script in `app.js`, including any </a:t>
            </a:r>
            <a:r>
              <a:rPr lang="en-IN" sz="2200" dirty="0" err="1">
                <a:latin typeface="Times New Roman" panose="02020603050405020304" pitchFamily="18" charset="0"/>
                <a:cs typeface="Times New Roman" panose="02020603050405020304" pitchFamily="18" charset="0"/>
              </a:rPr>
              <a:t>consolebased</a:t>
            </a:r>
            <a:r>
              <a:rPr lang="en-IN" sz="2200" dirty="0">
                <a:latin typeface="Times New Roman" panose="02020603050405020304" pitchFamily="18" charset="0"/>
                <a:cs typeface="Times New Roman" panose="02020603050405020304" pitchFamily="18" charset="0"/>
              </a:rPr>
              <a:t> functionality you want to implement.</a:t>
            </a:r>
          </a:p>
        </p:txBody>
      </p:sp>
    </p:spTree>
    <p:extLst>
      <p:ext uri="{BB962C8B-B14F-4D97-AF65-F5344CB8AC3E}">
        <p14:creationId xmlns="" xmlns:p14="http://schemas.microsoft.com/office/powerpoint/2010/main" val="123391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lt">
                                    <p:tmAbs val="40"/>
                                  </p:iterate>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fontScale="90000"/>
          </a:bodyPr>
          <a:lstStyle/>
          <a:p>
            <a:pPr algn="l"/>
            <a:r>
              <a:rPr lang="en-IN" b="0" i="0" dirty="0">
                <a:solidFill>
                  <a:srgbClr val="0D0D0D"/>
                </a:solidFill>
                <a:effectLst/>
                <a:highlight>
                  <a:srgbClr val="FFFFFF"/>
                </a:highlight>
                <a:latin typeface="Söhne"/>
              </a:rPr>
              <a:t>Creating a </a:t>
            </a:r>
            <a:r>
              <a:rPr lang="en-IN" b="0" i="0" dirty="0" err="1">
                <a:solidFill>
                  <a:srgbClr val="0D0D0D"/>
                </a:solidFill>
                <a:effectLst/>
                <a:highlight>
                  <a:srgbClr val="FFFFFF"/>
                </a:highlight>
                <a:latin typeface="Söhne"/>
              </a:rPr>
              <a:t>Consolebased</a:t>
            </a:r>
            <a:r>
              <a:rPr lang="en-IN" b="0" i="0" dirty="0">
                <a:solidFill>
                  <a:srgbClr val="0D0D0D"/>
                </a:solidFill>
                <a:effectLst/>
                <a:highlight>
                  <a:srgbClr val="FFFFFF"/>
                </a:highlight>
                <a:latin typeface="Söhne"/>
              </a:rPr>
              <a:t> Node Application</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806116"/>
            <a:ext cx="10353762" cy="5313997"/>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Step 4: </a:t>
            </a:r>
            <a:r>
              <a:rPr lang="en-IN" sz="2200" dirty="0">
                <a:latin typeface="Times New Roman" panose="02020603050405020304" pitchFamily="18" charset="0"/>
                <a:cs typeface="Times New Roman" panose="02020603050405020304" pitchFamily="18" charset="0"/>
              </a:rPr>
              <a:t>Run Your Node Application</a:t>
            </a:r>
          </a:p>
          <a:p>
            <a:pPr algn="just"/>
            <a:r>
              <a:rPr lang="en-IN" sz="2200" dirty="0">
                <a:latin typeface="Times New Roman" panose="02020603050405020304" pitchFamily="18" charset="0"/>
                <a:cs typeface="Times New Roman" panose="02020603050405020304" pitchFamily="18" charset="0"/>
              </a:rPr>
              <a:t>Execute Your Script: In the terminal, run `node app.js` to execute your Node.js application.</a:t>
            </a:r>
          </a:p>
          <a:p>
            <a:pPr algn="just"/>
            <a:r>
              <a:rPr lang="en-IN" sz="2200" dirty="0">
                <a:latin typeface="Times New Roman" panose="02020603050405020304" pitchFamily="18" charset="0"/>
                <a:cs typeface="Times New Roman" panose="02020603050405020304" pitchFamily="18" charset="0"/>
              </a:rPr>
              <a:t>Check Output: Check the terminal for any console.log statements or output generated by your script.</a:t>
            </a:r>
          </a:p>
          <a:p>
            <a:pPr marL="0" indent="0" algn="just">
              <a:buNone/>
            </a:pPr>
            <a:r>
              <a:rPr lang="en-IN" sz="2200" b="1" dirty="0">
                <a:latin typeface="Times New Roman" panose="02020603050405020304" pitchFamily="18" charset="0"/>
                <a:cs typeface="Times New Roman" panose="02020603050405020304" pitchFamily="18" charset="0"/>
              </a:rPr>
              <a:t>Step 5: </a:t>
            </a:r>
            <a:r>
              <a:rPr lang="en-IN" sz="2200" dirty="0">
                <a:latin typeface="Times New Roman" panose="02020603050405020304" pitchFamily="18" charset="0"/>
                <a:cs typeface="Times New Roman" panose="02020603050405020304" pitchFamily="18" charset="0"/>
              </a:rPr>
              <a:t>Iterate and Improve</a:t>
            </a:r>
          </a:p>
          <a:p>
            <a:pPr algn="just"/>
            <a:r>
              <a:rPr lang="en-IN" sz="2200" dirty="0">
                <a:latin typeface="Times New Roman" panose="02020603050405020304" pitchFamily="18" charset="0"/>
                <a:cs typeface="Times New Roman" panose="02020603050405020304" pitchFamily="18" charset="0"/>
              </a:rPr>
              <a:t>Test and Debug: Test your application thoroughly and debug any errors or issues.</a:t>
            </a:r>
          </a:p>
          <a:p>
            <a:pPr algn="just"/>
            <a:r>
              <a:rPr lang="en-IN" sz="2200" dirty="0">
                <a:latin typeface="Times New Roman" panose="02020603050405020304" pitchFamily="18" charset="0"/>
                <a:cs typeface="Times New Roman" panose="02020603050405020304" pitchFamily="18" charset="0"/>
              </a:rPr>
              <a:t>Refine Your Code: Refactor and improve your code as needed, adding new features or functionality.</a:t>
            </a:r>
          </a:p>
          <a:p>
            <a:pPr marL="0" indent="0" algn="just">
              <a:buNone/>
            </a:pPr>
            <a:r>
              <a:rPr lang="en-IN" sz="2200" b="1" dirty="0">
                <a:latin typeface="Times New Roman" panose="02020603050405020304" pitchFamily="18" charset="0"/>
                <a:cs typeface="Times New Roman" panose="02020603050405020304" pitchFamily="18" charset="0"/>
              </a:rPr>
              <a:t>Step 6: </a:t>
            </a:r>
            <a:r>
              <a:rPr lang="en-IN" sz="2200" dirty="0">
                <a:latin typeface="Times New Roman" panose="02020603050405020304" pitchFamily="18" charset="0"/>
                <a:cs typeface="Times New Roman" panose="02020603050405020304" pitchFamily="18" charset="0"/>
              </a:rPr>
              <a:t>Share Your Application</a:t>
            </a:r>
          </a:p>
          <a:p>
            <a:pPr algn="just"/>
            <a:r>
              <a:rPr lang="en-IN" sz="2200" dirty="0">
                <a:latin typeface="Times New Roman" panose="02020603050405020304" pitchFamily="18" charset="0"/>
                <a:cs typeface="Times New Roman" panose="02020603050405020304" pitchFamily="18" charset="0"/>
              </a:rPr>
              <a:t>Version Control: Consider using Git for version control to track changes to your codebase.</a:t>
            </a:r>
          </a:p>
          <a:p>
            <a:pPr algn="just"/>
            <a:r>
              <a:rPr lang="en-IN" sz="2200" dirty="0">
                <a:latin typeface="Times New Roman" panose="02020603050405020304" pitchFamily="18" charset="0"/>
                <a:cs typeface="Times New Roman" panose="02020603050405020304" pitchFamily="18" charset="0"/>
              </a:rPr>
              <a:t>Share Your Project: Share your Node.js project with others on platforms like GitHub for collaboration or feedback.</a:t>
            </a:r>
          </a:p>
        </p:txBody>
      </p:sp>
    </p:spTree>
    <p:extLst>
      <p:ext uri="{BB962C8B-B14F-4D97-AF65-F5344CB8AC3E}">
        <p14:creationId xmlns="" xmlns:p14="http://schemas.microsoft.com/office/powerpoint/2010/main" val="52089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a:bodyPr>
          <a:lstStyle/>
          <a:p>
            <a:pPr algn="l"/>
            <a:r>
              <a:rPr lang="en-IN" b="0" i="0" dirty="0">
                <a:solidFill>
                  <a:srgbClr val="0D0D0D"/>
                </a:solidFill>
                <a:effectLst/>
                <a:highlight>
                  <a:srgbClr val="FFFFFF"/>
                </a:highlight>
                <a:latin typeface="Söhne"/>
              </a:rPr>
              <a:t>Creating a Web-based Node Application</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806116"/>
            <a:ext cx="10353762" cy="5313997"/>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Step 1: </a:t>
            </a:r>
            <a:r>
              <a:rPr lang="en-IN" sz="2200" dirty="0">
                <a:latin typeface="Times New Roman" panose="02020603050405020304" pitchFamily="18" charset="0"/>
                <a:cs typeface="Times New Roman" panose="02020603050405020304" pitchFamily="18" charset="0"/>
              </a:rPr>
              <a:t>Set Up Your Environment</a:t>
            </a:r>
          </a:p>
          <a:p>
            <a:pPr algn="just"/>
            <a:r>
              <a:rPr lang="en-IN" sz="2200" dirty="0">
                <a:latin typeface="Times New Roman" panose="02020603050405020304" pitchFamily="18" charset="0"/>
                <a:cs typeface="Times New Roman" panose="02020603050405020304" pitchFamily="18" charset="0"/>
              </a:rPr>
              <a:t>Install Node.js: Download and install Node.js from [nodejs.org](https://nodejs.org/).</a:t>
            </a:r>
          </a:p>
          <a:p>
            <a:pPr algn="just"/>
            <a:r>
              <a:rPr lang="en-IN" sz="2200" dirty="0">
                <a:latin typeface="Times New Roman" panose="02020603050405020304" pitchFamily="18" charset="0"/>
                <a:cs typeface="Times New Roman" panose="02020603050405020304" pitchFamily="18" charset="0"/>
              </a:rPr>
              <a:t>Verify Installation: Open your terminal or command prompt and run `node v` to check if Node.js is installed.</a:t>
            </a:r>
          </a:p>
          <a:p>
            <a:pPr marL="0" indent="0" algn="just">
              <a:buNone/>
            </a:pPr>
            <a:r>
              <a:rPr lang="en-IN" sz="2200" b="1" dirty="0">
                <a:latin typeface="Times New Roman" panose="02020603050405020304" pitchFamily="18" charset="0"/>
                <a:cs typeface="Times New Roman" panose="02020603050405020304" pitchFamily="18" charset="0"/>
              </a:rPr>
              <a:t>Step 2:</a:t>
            </a:r>
            <a:r>
              <a:rPr lang="en-IN" sz="2200" dirty="0">
                <a:latin typeface="Times New Roman" panose="02020603050405020304" pitchFamily="18" charset="0"/>
                <a:cs typeface="Times New Roman" panose="02020603050405020304" pitchFamily="18" charset="0"/>
              </a:rPr>
              <a:t> Initialize Your Node Project</a:t>
            </a:r>
          </a:p>
          <a:p>
            <a:pPr algn="just"/>
            <a:r>
              <a:rPr lang="en-IN" sz="2200" dirty="0">
                <a:latin typeface="Times New Roman" panose="02020603050405020304" pitchFamily="18" charset="0"/>
                <a:cs typeface="Times New Roman" panose="02020603050405020304" pitchFamily="18" charset="0"/>
              </a:rPr>
              <a:t>Create a New Directory: Create a new directory for your project using `</a:t>
            </a:r>
            <a:r>
              <a:rPr lang="en-IN" sz="2200" dirty="0" err="1">
                <a:latin typeface="Times New Roman" panose="02020603050405020304" pitchFamily="18" charset="0"/>
                <a:cs typeface="Times New Roman" panose="02020603050405020304" pitchFamily="18" charset="0"/>
              </a:rPr>
              <a:t>mkdir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mynodeapp</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Navigate to the Directory: Move into your project directory using `cd </a:t>
            </a:r>
            <a:r>
              <a:rPr lang="en-IN" sz="2200" dirty="0" err="1">
                <a:latin typeface="Times New Roman" panose="02020603050405020304" pitchFamily="18" charset="0"/>
                <a:cs typeface="Times New Roman" panose="02020603050405020304" pitchFamily="18" charset="0"/>
              </a:rPr>
              <a:t>mynodeapp</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Initialize Node Project: Run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init</a:t>
            </a:r>
            <a:r>
              <a:rPr lang="en-IN" sz="2200" dirty="0">
                <a:latin typeface="Times New Roman" panose="02020603050405020304" pitchFamily="18" charset="0"/>
                <a:cs typeface="Times New Roman" panose="02020603050405020304" pitchFamily="18" charset="0"/>
              </a:rPr>
              <a:t> y` to initialize a new Node.js project with default settings.</a:t>
            </a:r>
          </a:p>
          <a:p>
            <a:pPr algn="just"/>
            <a:r>
              <a:rPr lang="en-IN" sz="2200" b="1" dirty="0">
                <a:latin typeface="Times New Roman" panose="02020603050405020304" pitchFamily="18" charset="0"/>
                <a:cs typeface="Times New Roman" panose="02020603050405020304" pitchFamily="18" charset="0"/>
              </a:rPr>
              <a:t>Step 3: </a:t>
            </a:r>
            <a:r>
              <a:rPr lang="en-IN" sz="2200" dirty="0">
                <a:latin typeface="Times New Roman" panose="02020603050405020304" pitchFamily="18" charset="0"/>
                <a:cs typeface="Times New Roman" panose="02020603050405020304" pitchFamily="18" charset="0"/>
              </a:rPr>
              <a:t>Install Express.js</a:t>
            </a:r>
          </a:p>
          <a:p>
            <a:pPr algn="just"/>
            <a:r>
              <a:rPr lang="en-IN" sz="2200" dirty="0">
                <a:latin typeface="Times New Roman" panose="02020603050405020304" pitchFamily="18" charset="0"/>
                <a:cs typeface="Times New Roman" panose="02020603050405020304" pitchFamily="18" charset="0"/>
              </a:rPr>
              <a:t>Install Express.js: Use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to install Express.js by running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install express`.Express.js: A web application framework for Node.js, simplifying the process of building web apps and APIs.</a:t>
            </a:r>
          </a:p>
        </p:txBody>
      </p:sp>
    </p:spTree>
    <p:extLst>
      <p:ext uri="{BB962C8B-B14F-4D97-AF65-F5344CB8AC3E}">
        <p14:creationId xmlns="" xmlns:p14="http://schemas.microsoft.com/office/powerpoint/2010/main" val="408257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a:bodyPr>
          <a:lstStyle/>
          <a:p>
            <a:pPr algn="l"/>
            <a:r>
              <a:rPr lang="en-IN" b="0" i="0" dirty="0">
                <a:solidFill>
                  <a:srgbClr val="0D0D0D"/>
                </a:solidFill>
                <a:effectLst/>
                <a:highlight>
                  <a:srgbClr val="FFFFFF"/>
                </a:highlight>
                <a:latin typeface="Söhne"/>
              </a:rPr>
              <a:t>Creating a Web-based Node Application</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806116"/>
            <a:ext cx="10353762" cy="5313997"/>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Step 4: </a:t>
            </a:r>
            <a:r>
              <a:rPr lang="en-IN" sz="2200" dirty="0">
                <a:latin typeface="Times New Roman" panose="02020603050405020304" pitchFamily="18" charset="0"/>
                <a:cs typeface="Times New Roman" panose="02020603050405020304" pitchFamily="18" charset="0"/>
              </a:rPr>
              <a:t>Write Your Node.js Script</a:t>
            </a:r>
          </a:p>
          <a:p>
            <a:pPr algn="just"/>
            <a:r>
              <a:rPr lang="en-IN" sz="2200" dirty="0">
                <a:latin typeface="Times New Roman" panose="02020603050405020304" pitchFamily="18" charset="0"/>
                <a:cs typeface="Times New Roman" panose="02020603050405020304" pitchFamily="18" charset="0"/>
              </a:rPr>
              <a:t>Create a JavaScript File: Create a new JavaScript file, e.g., `app.js`, in your project directory.</a:t>
            </a:r>
          </a:p>
          <a:p>
            <a:pPr algn="just"/>
            <a:r>
              <a:rPr lang="en-IN" sz="2200" dirty="0">
                <a:latin typeface="Times New Roman" panose="02020603050405020304" pitchFamily="18" charset="0"/>
                <a:cs typeface="Times New Roman" panose="02020603050405020304" pitchFamily="18" charset="0"/>
              </a:rPr>
              <a:t>Write Your Code: Write your Node.js script in `app.js`, including setting up routes, handling requests, and defining responses.</a:t>
            </a:r>
          </a:p>
          <a:p>
            <a:pPr marL="0" indent="0" algn="just">
              <a:buNone/>
            </a:pPr>
            <a:r>
              <a:rPr lang="en-IN" sz="2200" b="1" dirty="0">
                <a:latin typeface="Times New Roman" panose="02020603050405020304" pitchFamily="18" charset="0"/>
                <a:cs typeface="Times New Roman" panose="02020603050405020304" pitchFamily="18" charset="0"/>
              </a:rPr>
              <a:t>Step 5: </a:t>
            </a:r>
            <a:r>
              <a:rPr lang="en-IN" sz="2200" dirty="0">
                <a:latin typeface="Times New Roman" panose="02020603050405020304" pitchFamily="18" charset="0"/>
                <a:cs typeface="Times New Roman" panose="02020603050405020304" pitchFamily="18" charset="0"/>
              </a:rPr>
              <a:t>Create Your HTML Views</a:t>
            </a:r>
          </a:p>
          <a:p>
            <a:pPr algn="just"/>
            <a:r>
              <a:rPr lang="en-IN" sz="2200" dirty="0">
                <a:latin typeface="Times New Roman" panose="02020603050405020304" pitchFamily="18" charset="0"/>
                <a:cs typeface="Times New Roman" panose="02020603050405020304" pitchFamily="18" charset="0"/>
              </a:rPr>
              <a:t>Create Views Directory: Create a directory named `views` to store your HTML files.</a:t>
            </a:r>
          </a:p>
          <a:p>
            <a:pPr algn="just"/>
            <a:r>
              <a:rPr lang="en-IN" sz="2200" dirty="0">
                <a:latin typeface="Times New Roman" panose="02020603050405020304" pitchFamily="18" charset="0"/>
                <a:cs typeface="Times New Roman" panose="02020603050405020304" pitchFamily="18" charset="0"/>
              </a:rPr>
              <a:t>Write HTML Files: Create HTML files for different views/pages of your web application, such as `index.html`, `about.html`, etc.</a:t>
            </a:r>
          </a:p>
          <a:p>
            <a:pPr marL="0" indent="0" algn="just">
              <a:buNone/>
            </a:pPr>
            <a:r>
              <a:rPr lang="en-IN" sz="2200" b="1" dirty="0">
                <a:latin typeface="Times New Roman" panose="02020603050405020304" pitchFamily="18" charset="0"/>
                <a:cs typeface="Times New Roman" panose="02020603050405020304" pitchFamily="18" charset="0"/>
              </a:rPr>
              <a:t>Step 6: </a:t>
            </a:r>
            <a:r>
              <a:rPr lang="en-IN" sz="2200" dirty="0">
                <a:latin typeface="Times New Roman" panose="02020603050405020304" pitchFamily="18" charset="0"/>
                <a:cs typeface="Times New Roman" panose="02020603050405020304" pitchFamily="18" charset="0"/>
              </a:rPr>
              <a:t>Serve Static Files</a:t>
            </a:r>
          </a:p>
          <a:p>
            <a:pPr algn="just"/>
            <a:r>
              <a:rPr lang="en-IN" sz="2200" dirty="0">
                <a:latin typeface="Times New Roman" panose="02020603050405020304" pitchFamily="18" charset="0"/>
                <a:cs typeface="Times New Roman" panose="02020603050405020304" pitchFamily="18" charset="0"/>
              </a:rPr>
              <a:t>Serve Static Files: Use Express.js to serve static files (e.g., CSS, images) by using the `</a:t>
            </a:r>
            <a:r>
              <a:rPr lang="en-IN" sz="2200" dirty="0" err="1">
                <a:latin typeface="Times New Roman" panose="02020603050405020304" pitchFamily="18" charset="0"/>
                <a:cs typeface="Times New Roman" panose="02020603050405020304" pitchFamily="18" charset="0"/>
              </a:rPr>
              <a:t>express.static</a:t>
            </a:r>
            <a:r>
              <a:rPr lang="en-IN" sz="2200" dirty="0">
                <a:latin typeface="Times New Roman" panose="02020603050405020304" pitchFamily="18" charset="0"/>
                <a:cs typeface="Times New Roman" panose="02020603050405020304" pitchFamily="18" charset="0"/>
              </a:rPr>
              <a:t>` middleware.</a:t>
            </a:r>
          </a:p>
          <a:p>
            <a:pPr algn="just"/>
            <a:r>
              <a:rPr lang="en-IN" sz="2200" dirty="0">
                <a:latin typeface="Times New Roman" panose="02020603050405020304" pitchFamily="18" charset="0"/>
                <a:cs typeface="Times New Roman" panose="02020603050405020304" pitchFamily="18" charset="0"/>
              </a:rPr>
              <a:t>Organize Your Files: Place static files (e.g., CSS, images) in a directory named `public` for better organization.</a:t>
            </a:r>
          </a:p>
        </p:txBody>
      </p:sp>
    </p:spTree>
    <p:extLst>
      <p:ext uri="{BB962C8B-B14F-4D97-AF65-F5344CB8AC3E}">
        <p14:creationId xmlns="" xmlns:p14="http://schemas.microsoft.com/office/powerpoint/2010/main" val="1524520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806116"/>
          </a:xfrm>
        </p:spPr>
        <p:txBody>
          <a:bodyPr>
            <a:normAutofit/>
          </a:bodyPr>
          <a:lstStyle/>
          <a:p>
            <a:pPr algn="l"/>
            <a:r>
              <a:rPr lang="en-IN" b="0" i="0" dirty="0">
                <a:solidFill>
                  <a:srgbClr val="0D0D0D"/>
                </a:solidFill>
                <a:effectLst/>
                <a:highlight>
                  <a:srgbClr val="FFFFFF"/>
                </a:highlight>
                <a:latin typeface="Söhne"/>
              </a:rPr>
              <a:t>Creating a Web-based Node Application</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913795" y="806116"/>
            <a:ext cx="10353762" cy="5313997"/>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Step 7: </a:t>
            </a:r>
            <a:r>
              <a:rPr lang="en-IN" sz="2200" dirty="0">
                <a:latin typeface="Times New Roman" panose="02020603050405020304" pitchFamily="18" charset="0"/>
                <a:cs typeface="Times New Roman" panose="02020603050405020304" pitchFamily="18" charset="0"/>
              </a:rPr>
              <a:t>Run Your Node Application</a:t>
            </a:r>
          </a:p>
          <a:p>
            <a:pPr algn="just"/>
            <a:r>
              <a:rPr lang="en-IN" sz="2200" dirty="0">
                <a:latin typeface="Times New Roman" panose="02020603050405020304" pitchFamily="18" charset="0"/>
                <a:cs typeface="Times New Roman" panose="02020603050405020304" pitchFamily="18" charset="0"/>
              </a:rPr>
              <a:t>Execute Your Script: In the terminal, run `node app.js` to start your Node.js application.</a:t>
            </a:r>
          </a:p>
          <a:p>
            <a:pPr algn="just"/>
            <a:r>
              <a:rPr lang="en-IN" sz="2200" dirty="0">
                <a:latin typeface="Times New Roman" panose="02020603050405020304" pitchFamily="18" charset="0"/>
                <a:cs typeface="Times New Roman" panose="02020603050405020304" pitchFamily="18" charset="0"/>
              </a:rPr>
              <a:t>Access Your Web App: Open your web browser and navigate to `http://localhost:3000` (or another port if specified) to view your web application.</a:t>
            </a:r>
          </a:p>
          <a:p>
            <a:pPr marL="0" indent="0" algn="just">
              <a:buNone/>
            </a:pPr>
            <a:r>
              <a:rPr lang="en-IN" sz="2200" b="1" dirty="0">
                <a:latin typeface="Times New Roman" panose="02020603050405020304" pitchFamily="18" charset="0"/>
                <a:cs typeface="Times New Roman" panose="02020603050405020304" pitchFamily="18" charset="0"/>
              </a:rPr>
              <a:t>Step 8: </a:t>
            </a:r>
            <a:r>
              <a:rPr lang="en-IN" sz="2200" dirty="0">
                <a:latin typeface="Times New Roman" panose="02020603050405020304" pitchFamily="18" charset="0"/>
                <a:cs typeface="Times New Roman" panose="02020603050405020304" pitchFamily="18" charset="0"/>
              </a:rPr>
              <a:t>Iterate and Improve</a:t>
            </a:r>
          </a:p>
          <a:p>
            <a:pPr algn="just"/>
            <a:r>
              <a:rPr lang="en-IN" sz="2200" dirty="0">
                <a:latin typeface="Times New Roman" panose="02020603050405020304" pitchFamily="18" charset="0"/>
                <a:cs typeface="Times New Roman" panose="02020603050405020304" pitchFamily="18" charset="0"/>
              </a:rPr>
              <a:t>Test and Debug: Test your application thoroughly and debug any errors or issues.</a:t>
            </a:r>
          </a:p>
          <a:p>
            <a:pPr algn="just"/>
            <a:r>
              <a:rPr lang="en-IN" sz="2200" dirty="0">
                <a:latin typeface="Times New Roman" panose="02020603050405020304" pitchFamily="18" charset="0"/>
                <a:cs typeface="Times New Roman" panose="02020603050405020304" pitchFamily="18" charset="0"/>
              </a:rPr>
              <a:t>Refine Your Code: Refactor and improve your code as needed, adding new features or functionality.</a:t>
            </a:r>
          </a:p>
          <a:p>
            <a:pPr marL="0" indent="0" algn="just">
              <a:buNone/>
            </a:pPr>
            <a:r>
              <a:rPr lang="en-IN" sz="2200" b="1" dirty="0">
                <a:latin typeface="Times New Roman" panose="02020603050405020304" pitchFamily="18" charset="0"/>
                <a:cs typeface="Times New Roman" panose="02020603050405020304" pitchFamily="18" charset="0"/>
              </a:rPr>
              <a:t>Step 9: </a:t>
            </a:r>
            <a:r>
              <a:rPr lang="en-IN" sz="2200" dirty="0">
                <a:latin typeface="Times New Roman" panose="02020603050405020304" pitchFamily="18" charset="0"/>
                <a:cs typeface="Times New Roman" panose="02020603050405020304" pitchFamily="18" charset="0"/>
              </a:rPr>
              <a:t>Deployment</a:t>
            </a:r>
          </a:p>
          <a:p>
            <a:pPr algn="just"/>
            <a:r>
              <a:rPr lang="en-IN" sz="2200" dirty="0">
                <a:latin typeface="Times New Roman" panose="02020603050405020304" pitchFamily="18" charset="0"/>
                <a:cs typeface="Times New Roman" panose="02020603050405020304" pitchFamily="18" charset="0"/>
              </a:rPr>
              <a:t>Choose a Hosting Provider: Select a hosting provider (e.g., Heroku, AWS, </a:t>
            </a:r>
            <a:r>
              <a:rPr lang="en-IN" sz="2200" dirty="0" err="1">
                <a:latin typeface="Times New Roman" panose="02020603050405020304" pitchFamily="18" charset="0"/>
                <a:cs typeface="Times New Roman" panose="02020603050405020304" pitchFamily="18" charset="0"/>
              </a:rPr>
              <a:t>DigitalOcean</a:t>
            </a:r>
            <a:r>
              <a:rPr lang="en-IN" sz="2200" dirty="0">
                <a:latin typeface="Times New Roman" panose="02020603050405020304" pitchFamily="18" charset="0"/>
                <a:cs typeface="Times New Roman" panose="02020603050405020304" pitchFamily="18" charset="0"/>
              </a:rPr>
              <a:t>) to deploy your Node.js application.</a:t>
            </a:r>
          </a:p>
          <a:p>
            <a:pPr algn="just"/>
            <a:r>
              <a:rPr lang="en-IN" sz="2200" dirty="0">
                <a:latin typeface="Times New Roman" panose="02020603050405020304" pitchFamily="18" charset="0"/>
                <a:cs typeface="Times New Roman" panose="02020603050405020304" pitchFamily="18" charset="0"/>
              </a:rPr>
              <a:t>Deploy Your App: Follow the hosting provider's instructions to deploy your web-based Node.js application.</a:t>
            </a:r>
          </a:p>
          <a:p>
            <a:pPr marL="0" indent="0" algn="just">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598651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r>
              <a:rPr lang="en-IN" dirty="0">
                <a:solidFill>
                  <a:schemeClr val="tx1"/>
                </a:solidFill>
              </a:rPr>
              <a:t>Modules in Node.js</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dirty="0">
                <a:latin typeface="Times New Roman" panose="02020603050405020304" pitchFamily="18" charset="0"/>
                <a:cs typeface="Times New Roman" panose="02020603050405020304" pitchFamily="18" charset="0"/>
              </a:rPr>
              <a:t>1. What is a Module?</a:t>
            </a:r>
          </a:p>
          <a:p>
            <a:pPr algn="just"/>
            <a:r>
              <a:rPr lang="en-IN" sz="2200" dirty="0">
                <a:latin typeface="Times New Roman" panose="02020603050405020304" pitchFamily="18" charset="0"/>
                <a:cs typeface="Times New Roman" panose="02020603050405020304" pitchFamily="18" charset="0"/>
              </a:rPr>
              <a:t>A reusable piece of JavaScript code that encapsulates specific functionality.</a:t>
            </a:r>
          </a:p>
          <a:p>
            <a:pPr algn="just"/>
            <a:r>
              <a:rPr lang="en-IN" sz="2200" dirty="0">
                <a:latin typeface="Times New Roman" panose="02020603050405020304" pitchFamily="18" charset="0"/>
                <a:cs typeface="Times New Roman" panose="02020603050405020304" pitchFamily="18" charset="0"/>
              </a:rPr>
              <a:t>Helps organize code into logical units, making it easier to manage and maintain large applications.</a:t>
            </a:r>
          </a:p>
          <a:p>
            <a:pPr marL="0" indent="0" algn="just">
              <a:buNone/>
            </a:pPr>
            <a:r>
              <a:rPr lang="en-IN" sz="2200" dirty="0">
                <a:latin typeface="Times New Roman" panose="02020603050405020304" pitchFamily="18" charset="0"/>
                <a:cs typeface="Times New Roman" panose="02020603050405020304" pitchFamily="18" charset="0"/>
              </a:rPr>
              <a:t>2. Encapsulation and Modularity</a:t>
            </a:r>
          </a:p>
          <a:p>
            <a:pPr algn="just"/>
            <a:r>
              <a:rPr lang="en-IN" sz="2200" dirty="0">
                <a:latin typeface="Times New Roman" panose="02020603050405020304" pitchFamily="18" charset="0"/>
                <a:cs typeface="Times New Roman" panose="02020603050405020304" pitchFamily="18" charset="0"/>
              </a:rPr>
              <a:t>Each module in Node.js encapsulates its own variables, functions, and classes, keeping them private by default.</a:t>
            </a:r>
          </a:p>
          <a:p>
            <a:pPr algn="just"/>
            <a:r>
              <a:rPr lang="en-IN" sz="2200" dirty="0">
                <a:latin typeface="Times New Roman" panose="02020603050405020304" pitchFamily="18" charset="0"/>
                <a:cs typeface="Times New Roman" panose="02020603050405020304" pitchFamily="18" charset="0"/>
              </a:rPr>
              <a:t>Node.js follows the </a:t>
            </a:r>
            <a:r>
              <a:rPr lang="en-IN" sz="2200" dirty="0" err="1">
                <a:latin typeface="Times New Roman" panose="02020603050405020304" pitchFamily="18" charset="0"/>
                <a:cs typeface="Times New Roman" panose="02020603050405020304" pitchFamily="18" charset="0"/>
              </a:rPr>
              <a:t>CommonJS</a:t>
            </a:r>
            <a:r>
              <a:rPr lang="en-IN" sz="2200" dirty="0">
                <a:latin typeface="Times New Roman" panose="02020603050405020304" pitchFamily="18" charset="0"/>
                <a:cs typeface="Times New Roman" panose="02020603050405020304" pitchFamily="18" charset="0"/>
              </a:rPr>
              <a:t> module system, treating each file as a separate module.</a:t>
            </a:r>
          </a:p>
          <a:p>
            <a:pPr marL="0" indent="0" algn="just">
              <a:buNone/>
            </a:pPr>
            <a:r>
              <a:rPr lang="en-IN" sz="2200" dirty="0">
                <a:latin typeface="Times New Roman" panose="02020603050405020304" pitchFamily="18" charset="0"/>
                <a:cs typeface="Times New Roman" panose="02020603050405020304" pitchFamily="18" charset="0"/>
              </a:rPr>
              <a:t>3. Exporting Functionality</a:t>
            </a:r>
          </a:p>
          <a:p>
            <a:pPr algn="just"/>
            <a:r>
              <a:rPr lang="en-IN" sz="2200" dirty="0">
                <a:latin typeface="Times New Roman" panose="02020603050405020304" pitchFamily="18" charset="0"/>
                <a:cs typeface="Times New Roman" panose="02020603050405020304" pitchFamily="18" charset="0"/>
              </a:rPr>
              <a:t>Modules can export functionalities using `</a:t>
            </a:r>
            <a:r>
              <a:rPr lang="en-IN" sz="2200" dirty="0" err="1">
                <a:latin typeface="Times New Roman" panose="02020603050405020304" pitchFamily="18" charset="0"/>
                <a:cs typeface="Times New Roman" panose="02020603050405020304" pitchFamily="18" charset="0"/>
              </a:rPr>
              <a:t>module.exports</a:t>
            </a:r>
            <a:r>
              <a:rPr lang="en-IN" sz="2200" dirty="0">
                <a:latin typeface="Times New Roman" panose="02020603050405020304" pitchFamily="18" charset="0"/>
                <a:cs typeface="Times New Roman" panose="02020603050405020304" pitchFamily="18" charset="0"/>
              </a:rPr>
              <a:t>` or `exports`.</a:t>
            </a:r>
          </a:p>
          <a:p>
            <a:pPr algn="just"/>
            <a:r>
              <a:rPr lang="en-IN" sz="2200" dirty="0">
                <a:latin typeface="Times New Roman" panose="02020603050405020304" pitchFamily="18" charset="0"/>
                <a:cs typeface="Times New Roman" panose="02020603050405020304" pitchFamily="18" charset="0"/>
              </a:rPr>
              <a:t>Exported functionalities are made accessible to other modules through `require()`.</a:t>
            </a:r>
          </a:p>
        </p:txBody>
      </p:sp>
    </p:spTree>
    <p:extLst>
      <p:ext uri="{BB962C8B-B14F-4D97-AF65-F5344CB8AC3E}">
        <p14:creationId xmlns="" xmlns:p14="http://schemas.microsoft.com/office/powerpoint/2010/main" val="40581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r>
              <a:rPr lang="en-IN" dirty="0">
                <a:solidFill>
                  <a:schemeClr val="tx1"/>
                </a:solidFill>
              </a:rPr>
              <a:t>Modules in Node.js</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dirty="0">
                <a:latin typeface="Times New Roman" panose="02020603050405020304" pitchFamily="18" charset="0"/>
                <a:cs typeface="Times New Roman" panose="02020603050405020304" pitchFamily="18" charset="0"/>
              </a:rPr>
              <a:t>4. Importing Modules</a:t>
            </a:r>
          </a:p>
          <a:p>
            <a:pPr algn="just"/>
            <a:r>
              <a:rPr lang="en-IN" sz="2200" dirty="0">
                <a:latin typeface="Times New Roman" panose="02020603050405020304" pitchFamily="18" charset="0"/>
                <a:cs typeface="Times New Roman" panose="02020603050405020304" pitchFamily="18" charset="0"/>
              </a:rPr>
              <a:t>Modules are imported into other modules using the `require()` function.</a:t>
            </a:r>
          </a:p>
          <a:p>
            <a:pPr algn="just"/>
            <a:r>
              <a:rPr lang="en-IN" sz="2200" dirty="0">
                <a:latin typeface="Times New Roman" panose="02020603050405020304" pitchFamily="18" charset="0"/>
                <a:cs typeface="Times New Roman" panose="02020603050405020304" pitchFamily="18" charset="0"/>
              </a:rPr>
              <a:t>When a module is required, its code is executed, and its exports are returned for use.</a:t>
            </a:r>
          </a:p>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5. Types of Modules</a:t>
            </a:r>
          </a:p>
          <a:p>
            <a:pPr algn="just"/>
            <a:r>
              <a:rPr lang="en-IN" sz="2200" dirty="0">
                <a:latin typeface="Times New Roman" panose="02020603050405020304" pitchFamily="18" charset="0"/>
                <a:cs typeface="Times New Roman" panose="02020603050405020304" pitchFamily="18" charset="0"/>
              </a:rPr>
              <a:t> Built-in Modules: Provided by Node.js, e.g., `fs`, `http`, `path`.</a:t>
            </a:r>
          </a:p>
          <a:p>
            <a:pPr algn="just"/>
            <a:r>
              <a:rPr lang="en-IN" sz="2200" dirty="0">
                <a:latin typeface="Times New Roman" panose="02020603050405020304" pitchFamily="18" charset="0"/>
                <a:cs typeface="Times New Roman" panose="02020603050405020304" pitchFamily="18" charset="0"/>
              </a:rPr>
              <a:t> User-defined Modules: Created by developers to encapsulate specific functionalities.</a:t>
            </a:r>
          </a:p>
          <a:p>
            <a:pPr marL="0" indent="0" algn="just">
              <a:buNone/>
            </a:pPr>
            <a:r>
              <a:rPr lang="en-IN" sz="2200" dirty="0">
                <a:latin typeface="Times New Roman" panose="02020603050405020304" pitchFamily="18" charset="0"/>
                <a:cs typeface="Times New Roman" panose="02020603050405020304" pitchFamily="18" charset="0"/>
              </a:rPr>
              <a:t>6. Benefits of Modules</a:t>
            </a:r>
          </a:p>
          <a:p>
            <a:pPr algn="just"/>
            <a:r>
              <a:rPr lang="en-IN" sz="2200" dirty="0">
                <a:latin typeface="Times New Roman" panose="02020603050405020304" pitchFamily="18" charset="0"/>
                <a:cs typeface="Times New Roman" panose="02020603050405020304" pitchFamily="18" charset="0"/>
              </a:rPr>
              <a:t>Facilitate code organization and modularity.</a:t>
            </a:r>
          </a:p>
          <a:p>
            <a:pPr algn="just"/>
            <a:r>
              <a:rPr lang="en-IN" sz="2200" dirty="0">
                <a:latin typeface="Times New Roman" panose="02020603050405020304" pitchFamily="18" charset="0"/>
                <a:cs typeface="Times New Roman" panose="02020603050405020304" pitchFamily="18" charset="0"/>
              </a:rPr>
              <a:t>Promote code reuse and maintainability.</a:t>
            </a:r>
          </a:p>
          <a:p>
            <a:pPr algn="just"/>
            <a:r>
              <a:rPr lang="en-IN" sz="2200" dirty="0">
                <a:latin typeface="Times New Roman" panose="02020603050405020304" pitchFamily="18" charset="0"/>
                <a:cs typeface="Times New Roman" panose="02020603050405020304" pitchFamily="18" charset="0"/>
              </a:rPr>
              <a:t>Essential for building scalable and maintainable applications in Node.js.</a:t>
            </a:r>
          </a:p>
        </p:txBody>
      </p:sp>
    </p:spTree>
    <p:extLst>
      <p:ext uri="{BB962C8B-B14F-4D97-AF65-F5344CB8AC3E}">
        <p14:creationId xmlns="" xmlns:p14="http://schemas.microsoft.com/office/powerpoint/2010/main" val="286559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lt">
                                    <p:tmAbs val="40"/>
                                  </p:iterate>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Node.js HTTP Module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b="1" dirty="0">
                <a:latin typeface="Times New Roman" panose="02020603050405020304" pitchFamily="18" charset="0"/>
                <a:cs typeface="Times New Roman" panose="02020603050405020304" pitchFamily="18" charset="0"/>
              </a:rPr>
              <a:t>1. Introduction to HTTP Module</a:t>
            </a:r>
          </a:p>
          <a:p>
            <a:pPr algn="just"/>
            <a:r>
              <a:rPr lang="en-IN" sz="2200" dirty="0">
                <a:latin typeface="Times New Roman" panose="02020603050405020304" pitchFamily="18" charset="0"/>
                <a:cs typeface="Times New Roman" panose="02020603050405020304" pitchFamily="18" charset="0"/>
              </a:rPr>
              <a:t>Node.js includes a built-in HTTP module that allows you to create HTTP servers and make HTTP requests.</a:t>
            </a:r>
          </a:p>
          <a:p>
            <a:pPr algn="just"/>
            <a:r>
              <a:rPr lang="en-IN" sz="2200" dirty="0">
                <a:latin typeface="Times New Roman" panose="02020603050405020304" pitchFamily="18" charset="0"/>
                <a:cs typeface="Times New Roman" panose="02020603050405020304" pitchFamily="18" charset="0"/>
              </a:rPr>
              <a:t>Provides a set of functions and classes for handling HTTP-related tasks.</a:t>
            </a:r>
          </a:p>
          <a:p>
            <a:pPr marL="0" indent="0" algn="just">
              <a:buNone/>
            </a:pPr>
            <a:r>
              <a:rPr lang="en-IN" sz="2200" b="1" dirty="0">
                <a:latin typeface="Times New Roman" panose="02020603050405020304" pitchFamily="18" charset="0"/>
                <a:cs typeface="Times New Roman" panose="02020603050405020304" pitchFamily="18" charset="0"/>
              </a:rPr>
              <a:t>2. Creating an HTTP Server</a:t>
            </a:r>
          </a:p>
          <a:p>
            <a:pPr algn="just"/>
            <a:r>
              <a:rPr lang="en-IN" sz="2200" dirty="0">
                <a:latin typeface="Times New Roman" panose="02020603050405020304" pitchFamily="18" charset="0"/>
                <a:cs typeface="Times New Roman" panose="02020603050405020304" pitchFamily="18" charset="0"/>
              </a:rPr>
              <a:t>Use the `</a:t>
            </a:r>
            <a:r>
              <a:rPr lang="en-IN" sz="2200" dirty="0" err="1">
                <a:latin typeface="Times New Roman" panose="02020603050405020304" pitchFamily="18" charset="0"/>
                <a:cs typeface="Times New Roman" panose="02020603050405020304" pitchFamily="18" charset="0"/>
              </a:rPr>
              <a:t>http.createServer</a:t>
            </a:r>
            <a:r>
              <a:rPr lang="en-IN" sz="2200" dirty="0">
                <a:latin typeface="Times New Roman" panose="02020603050405020304" pitchFamily="18" charset="0"/>
                <a:cs typeface="Times New Roman" panose="02020603050405020304" pitchFamily="18" charset="0"/>
              </a:rPr>
              <a:t>()` method to create an HTTP server instance.</a:t>
            </a:r>
          </a:p>
          <a:p>
            <a:pPr algn="just"/>
            <a:r>
              <a:rPr lang="en-IN" sz="2200" dirty="0">
                <a:latin typeface="Times New Roman" panose="02020603050405020304" pitchFamily="18" charset="0"/>
                <a:cs typeface="Times New Roman" panose="02020603050405020304" pitchFamily="18" charset="0"/>
              </a:rPr>
              <a:t>Define request/response handlers using callbacks or event listeners.</a:t>
            </a:r>
          </a:p>
          <a:p>
            <a:pPr marL="0" indent="0" algn="just">
              <a:buNone/>
            </a:pPr>
            <a:r>
              <a:rPr lang="en-IN" sz="2200" b="1" dirty="0">
                <a:latin typeface="Times New Roman" panose="02020603050405020304" pitchFamily="18" charset="0"/>
                <a:cs typeface="Times New Roman" panose="02020603050405020304" pitchFamily="18" charset="0"/>
              </a:rPr>
              <a:t>3. Handling HTTP Requests</a:t>
            </a:r>
          </a:p>
          <a:p>
            <a:pPr algn="just"/>
            <a:r>
              <a:rPr lang="en-IN" sz="2200" dirty="0">
                <a:latin typeface="Times New Roman" panose="02020603050405020304" pitchFamily="18" charset="0"/>
                <a:cs typeface="Times New Roman" panose="02020603050405020304" pitchFamily="18" charset="0"/>
              </a:rPr>
              <a:t>Access request details such as URL, method, headers, and body.</a:t>
            </a:r>
          </a:p>
          <a:p>
            <a:pPr algn="just"/>
            <a:r>
              <a:rPr lang="en-IN" sz="2200" dirty="0">
                <a:latin typeface="Times New Roman" panose="02020603050405020304" pitchFamily="18" charset="0"/>
                <a:cs typeface="Times New Roman" panose="02020603050405020304" pitchFamily="18" charset="0"/>
              </a:rPr>
              <a:t>Process incoming requests and generate appropriate responses.</a:t>
            </a:r>
          </a:p>
          <a:p>
            <a:pPr marL="0" indent="0" algn="just">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1195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Node.js HTTP Module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4. Sending HTTP Responses</a:t>
            </a:r>
          </a:p>
          <a:p>
            <a:pPr marL="0" indent="0" algn="just">
              <a:buNone/>
            </a:pPr>
            <a:r>
              <a:rPr lang="en-IN" sz="2200" dirty="0">
                <a:latin typeface="Times New Roman" panose="02020603050405020304" pitchFamily="18" charset="0"/>
                <a:cs typeface="Times New Roman" panose="02020603050405020304" pitchFamily="18" charset="0"/>
              </a:rPr>
              <a:t>Use the `</a:t>
            </a:r>
            <a:r>
              <a:rPr lang="en-IN" sz="2200" dirty="0" err="1">
                <a:latin typeface="Times New Roman" panose="02020603050405020304" pitchFamily="18" charset="0"/>
                <a:cs typeface="Times New Roman" panose="02020603050405020304" pitchFamily="18" charset="0"/>
              </a:rPr>
              <a:t>response.writeHead</a:t>
            </a:r>
            <a:r>
              <a:rPr lang="en-IN" sz="2200" dirty="0">
                <a:latin typeface="Times New Roman" panose="02020603050405020304" pitchFamily="18" charset="0"/>
                <a:cs typeface="Times New Roman" panose="02020603050405020304" pitchFamily="18" charset="0"/>
              </a:rPr>
              <a:t>()` method to set the status code and headers of the response.</a:t>
            </a:r>
          </a:p>
          <a:p>
            <a:pPr marL="0" indent="0" algn="just">
              <a:buNone/>
            </a:pPr>
            <a:r>
              <a:rPr lang="en-IN" sz="2200" dirty="0">
                <a:latin typeface="Times New Roman" panose="02020603050405020304" pitchFamily="18" charset="0"/>
                <a:cs typeface="Times New Roman" panose="02020603050405020304" pitchFamily="18" charset="0"/>
              </a:rPr>
              <a:t>Write the response body using the `</a:t>
            </a:r>
            <a:r>
              <a:rPr lang="en-IN" sz="2200" dirty="0" err="1">
                <a:latin typeface="Times New Roman" panose="02020603050405020304" pitchFamily="18" charset="0"/>
                <a:cs typeface="Times New Roman" panose="02020603050405020304" pitchFamily="18" charset="0"/>
              </a:rPr>
              <a:t>response.write</a:t>
            </a:r>
            <a:r>
              <a:rPr lang="en-IN" sz="2200" dirty="0">
                <a:latin typeface="Times New Roman" panose="02020603050405020304" pitchFamily="18" charset="0"/>
                <a:cs typeface="Times New Roman" panose="02020603050405020304" pitchFamily="18" charset="0"/>
              </a:rPr>
              <a:t>()` method.</a:t>
            </a:r>
          </a:p>
          <a:p>
            <a:pPr marL="0" indent="0" algn="just">
              <a:buNone/>
            </a:pPr>
            <a:r>
              <a:rPr lang="en-IN" sz="2200" dirty="0">
                <a:latin typeface="Times New Roman" panose="02020603050405020304" pitchFamily="18" charset="0"/>
                <a:cs typeface="Times New Roman" panose="02020603050405020304" pitchFamily="18" charset="0"/>
              </a:rPr>
              <a:t>End the response with `</a:t>
            </a:r>
            <a:r>
              <a:rPr lang="en-IN" sz="2200" dirty="0" err="1">
                <a:latin typeface="Times New Roman" panose="02020603050405020304" pitchFamily="18" charset="0"/>
                <a:cs typeface="Times New Roman" panose="02020603050405020304" pitchFamily="18" charset="0"/>
              </a:rPr>
              <a:t>response.end</a:t>
            </a:r>
            <a:r>
              <a:rPr lang="en-IN" sz="2200" dirty="0">
                <a:latin typeface="Times New Roman" panose="02020603050405020304" pitchFamily="18" charset="0"/>
                <a:cs typeface="Times New Roman" panose="02020603050405020304" pitchFamily="18" charset="0"/>
              </a:rPr>
              <a:t>()`.</a:t>
            </a:r>
          </a:p>
          <a:p>
            <a:pPr marL="0" indent="0" algn="just">
              <a:buNone/>
            </a:pPr>
            <a:r>
              <a:rPr lang="en-IN" sz="2200" b="1" dirty="0">
                <a:latin typeface="Times New Roman" panose="02020603050405020304" pitchFamily="18" charset="0"/>
                <a:cs typeface="Times New Roman" panose="02020603050405020304" pitchFamily="18" charset="0"/>
              </a:rPr>
              <a:t>Example:</a:t>
            </a:r>
          </a:p>
          <a:p>
            <a:pPr marL="0" indent="0" algn="just">
              <a:buNone/>
            </a:pPr>
            <a:r>
              <a:rPr lang="en-IN" sz="2200" dirty="0" err="1">
                <a:latin typeface="Times New Roman" panose="02020603050405020304" pitchFamily="18" charset="0"/>
                <a:cs typeface="Times New Roman" panose="02020603050405020304" pitchFamily="18" charset="0"/>
              </a:rPr>
              <a:t>const</a:t>
            </a:r>
            <a:r>
              <a:rPr lang="en-IN" sz="2200" dirty="0">
                <a:latin typeface="Times New Roman" panose="02020603050405020304" pitchFamily="18" charset="0"/>
                <a:cs typeface="Times New Roman" panose="02020603050405020304" pitchFamily="18" charset="0"/>
              </a:rPr>
              <a:t> http = require('http');</a:t>
            </a:r>
          </a:p>
          <a:p>
            <a:pPr marL="0" indent="0" algn="just">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const</a:t>
            </a:r>
            <a:r>
              <a:rPr lang="en-IN" sz="2200" dirty="0">
                <a:latin typeface="Times New Roman" panose="02020603050405020304" pitchFamily="18" charset="0"/>
                <a:cs typeface="Times New Roman" panose="02020603050405020304" pitchFamily="18" charset="0"/>
              </a:rPr>
              <a:t> server = </a:t>
            </a:r>
            <a:r>
              <a:rPr lang="en-IN" sz="2200" dirty="0" err="1">
                <a:latin typeface="Times New Roman" panose="02020603050405020304" pitchFamily="18" charset="0"/>
                <a:cs typeface="Times New Roman" panose="02020603050405020304" pitchFamily="18" charset="0"/>
              </a:rPr>
              <a:t>http.createServer</a:t>
            </a: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req</a:t>
            </a:r>
            <a:r>
              <a:rPr lang="en-IN" sz="2200" dirty="0">
                <a:latin typeface="Times New Roman" panose="02020603050405020304" pitchFamily="18" charset="0"/>
                <a:cs typeface="Times New Roman" panose="02020603050405020304" pitchFamily="18" charset="0"/>
              </a:rPr>
              <a:t>, res) =&gt; {</a:t>
            </a:r>
          </a:p>
          <a:p>
            <a:pPr marL="0" indent="0" algn="just">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res.writeHead</a:t>
            </a:r>
            <a:r>
              <a:rPr lang="en-IN" sz="2200" dirty="0">
                <a:latin typeface="Times New Roman" panose="02020603050405020304" pitchFamily="18" charset="0"/>
                <a:cs typeface="Times New Roman" panose="02020603050405020304" pitchFamily="18" charset="0"/>
              </a:rPr>
              <a:t>(200, { 'Content-Type': 'text/plain' });</a:t>
            </a:r>
          </a:p>
          <a:p>
            <a:pPr marL="0" indent="0" algn="just">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res.end</a:t>
            </a:r>
            <a:r>
              <a:rPr lang="en-IN" sz="2200" dirty="0">
                <a:latin typeface="Times New Roman" panose="02020603050405020304" pitchFamily="18" charset="0"/>
                <a:cs typeface="Times New Roman" panose="02020603050405020304" pitchFamily="18" charset="0"/>
              </a:rPr>
              <a:t>(‘Viomesh </a:t>
            </a:r>
            <a:r>
              <a:rPr lang="en-IN" sz="2200" dirty="0" err="1">
                <a:latin typeface="Times New Roman" panose="02020603050405020304" pitchFamily="18" charset="0"/>
                <a:cs typeface="Times New Roman" panose="02020603050405020304" pitchFamily="18" charset="0"/>
              </a:rPr>
              <a:t>Sir:NodeJS</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Class'</a:t>
            </a:r>
            <a:r>
              <a:rPr lang="en-IN" sz="2200" dirty="0">
                <a:latin typeface="Times New Roman" panose="02020603050405020304" pitchFamily="18" charset="0"/>
                <a:cs typeface="Times New Roman" panose="02020603050405020304" pitchFamily="18" charset="0"/>
              </a:rPr>
              <a:t>);</a:t>
            </a:r>
          </a:p>
          <a:p>
            <a:pPr marL="0" indent="0" algn="just">
              <a:buNone/>
            </a:pPr>
            <a:r>
              <a:rPr lang="en-IN" sz="2200" dirty="0">
                <a:latin typeface="Times New Roman" panose="02020603050405020304" pitchFamily="18" charset="0"/>
                <a:cs typeface="Times New Roman" panose="02020603050405020304" pitchFamily="18" charset="0"/>
              </a:rPr>
              <a:t>   });</a:t>
            </a:r>
          </a:p>
          <a:p>
            <a:pPr marL="0" indent="0" algn="just">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server.listen</a:t>
            </a:r>
            <a:r>
              <a:rPr lang="en-IN" sz="2200" dirty="0">
                <a:latin typeface="Times New Roman" panose="02020603050405020304" pitchFamily="18" charset="0"/>
                <a:cs typeface="Times New Roman" panose="02020603050405020304" pitchFamily="18" charset="0"/>
              </a:rPr>
              <a:t>(3000, () =&gt; {</a:t>
            </a:r>
          </a:p>
          <a:p>
            <a:pPr marL="0" indent="0" algn="just">
              <a:buNone/>
            </a:pPr>
            <a:r>
              <a:rPr lang="en-IN" sz="2200" dirty="0">
                <a:latin typeface="Times New Roman" panose="02020603050405020304" pitchFamily="18" charset="0"/>
                <a:cs typeface="Times New Roman" panose="02020603050405020304" pitchFamily="18" charset="0"/>
              </a:rPr>
              <a:t>       console.log('Server running on port 3000');</a:t>
            </a:r>
          </a:p>
          <a:p>
            <a:pPr marL="0" indent="0" algn="just">
              <a:buNone/>
            </a:pPr>
            <a:r>
              <a:rPr lang="en-IN" sz="2200" dirty="0">
                <a:latin typeface="Times New Roman" panose="02020603050405020304" pitchFamily="18" charset="0"/>
                <a:cs typeface="Times New Roman" panose="02020603050405020304" pitchFamily="18" charset="0"/>
              </a:rPr>
              <a:t>   });</a:t>
            </a:r>
          </a:p>
        </p:txBody>
      </p:sp>
    </p:spTree>
    <p:extLst>
      <p:ext uri="{BB962C8B-B14F-4D97-AF65-F5344CB8AC3E}">
        <p14:creationId xmlns="" xmlns:p14="http://schemas.microsoft.com/office/powerpoint/2010/main" val="148087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lt">
                                    <p:tmAbs val="40"/>
                                  </p:iterate>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iterate type="lt">
                                    <p:tmAbs val="40"/>
                                  </p:iterate>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iterate type="lt">
                                    <p:tmAbs val="40"/>
                                  </p:iterate>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iterate type="lt">
                                    <p:tmAbs val="40"/>
                                  </p:iterate>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Node.js HTTP Module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5. Additional Functionality</a:t>
            </a:r>
          </a:p>
          <a:p>
            <a:pPr algn="just"/>
            <a:r>
              <a:rPr lang="en-IN" sz="2200" dirty="0">
                <a:latin typeface="Times New Roman" panose="02020603050405020304" pitchFamily="18" charset="0"/>
                <a:cs typeface="Times New Roman" panose="02020603050405020304" pitchFamily="18" charset="0"/>
              </a:rPr>
              <a:t>Supports HTTPS for secure communication.</a:t>
            </a:r>
          </a:p>
          <a:p>
            <a:pPr algn="just"/>
            <a:r>
              <a:rPr lang="en-IN" sz="2200" dirty="0">
                <a:latin typeface="Times New Roman" panose="02020603050405020304" pitchFamily="18" charset="0"/>
                <a:cs typeface="Times New Roman" panose="02020603050405020304" pitchFamily="18" charset="0"/>
              </a:rPr>
              <a:t>Can be extended with middleware frameworks like Express.js for more advanced routing and request handling.</a:t>
            </a:r>
          </a:p>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6. Benefits of HTTP Module</a:t>
            </a:r>
          </a:p>
          <a:p>
            <a:pPr algn="just"/>
            <a:r>
              <a:rPr lang="en-IN" sz="2200" dirty="0">
                <a:latin typeface="Times New Roman" panose="02020603050405020304" pitchFamily="18" charset="0"/>
                <a:cs typeface="Times New Roman" panose="02020603050405020304" pitchFamily="18" charset="0"/>
              </a:rPr>
              <a:t>Lightweight and efficient for building simple HTTP servers.</a:t>
            </a:r>
          </a:p>
          <a:p>
            <a:pPr algn="just"/>
            <a:r>
              <a:rPr lang="en-IN" sz="2200" dirty="0">
                <a:latin typeface="Times New Roman" panose="02020603050405020304" pitchFamily="18" charset="0"/>
                <a:cs typeface="Times New Roman" panose="02020603050405020304" pitchFamily="18" charset="0"/>
              </a:rPr>
              <a:t>Ideal for handling basic web applications, APIs, and microservices.</a:t>
            </a:r>
          </a:p>
        </p:txBody>
      </p:sp>
    </p:spTree>
    <p:extLst>
      <p:ext uri="{BB962C8B-B14F-4D97-AF65-F5344CB8AC3E}">
        <p14:creationId xmlns="" xmlns:p14="http://schemas.microsoft.com/office/powerpoint/2010/main" val="177262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Node.js File System Module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1.Introduction to File System Module</a:t>
            </a:r>
          </a:p>
          <a:p>
            <a:pPr algn="just"/>
            <a:r>
              <a:rPr lang="en-IN" sz="2200" dirty="0">
                <a:latin typeface="Times New Roman" panose="02020603050405020304" pitchFamily="18" charset="0"/>
                <a:cs typeface="Times New Roman" panose="02020603050405020304" pitchFamily="18" charset="0"/>
              </a:rPr>
              <a:t>Node.js includes a built-in File System module (`</a:t>
            </a:r>
            <a:r>
              <a:rPr lang="en-IN" sz="2200" dirty="0" err="1">
                <a:latin typeface="Times New Roman" panose="02020603050405020304" pitchFamily="18" charset="0"/>
                <a:cs typeface="Times New Roman" panose="02020603050405020304" pitchFamily="18" charset="0"/>
              </a:rPr>
              <a:t>fs`</a:t>
            </a:r>
            <a:r>
              <a:rPr lang="en-IN" sz="2200" dirty="0">
                <a:latin typeface="Times New Roman" panose="02020603050405020304" pitchFamily="18" charset="0"/>
                <a:cs typeface="Times New Roman" panose="02020603050405020304" pitchFamily="18" charset="0"/>
              </a:rPr>
              <a:t>) for interacting with the file system on your computer.</a:t>
            </a:r>
          </a:p>
          <a:p>
            <a:pPr marL="0" indent="0" algn="just">
              <a:buNone/>
            </a:pPr>
            <a:r>
              <a:rPr lang="en-IN" sz="2200" dirty="0">
                <a:latin typeface="Times New Roman" panose="02020603050405020304" pitchFamily="18" charset="0"/>
                <a:cs typeface="Times New Roman" panose="02020603050405020304" pitchFamily="18" charset="0"/>
              </a:rPr>
              <a:t>2.Key Functions</a:t>
            </a:r>
          </a:p>
          <a:p>
            <a:pPr algn="just"/>
            <a:r>
              <a:rPr lang="en-IN" sz="2200" dirty="0">
                <a:latin typeface="Times New Roman" panose="02020603050405020304" pitchFamily="18" charset="0"/>
                <a:cs typeface="Times New Roman" panose="02020603050405020304" pitchFamily="18" charset="0"/>
              </a:rPr>
              <a:t>Reading Files: Use `</a:t>
            </a:r>
            <a:r>
              <a:rPr lang="en-IN" sz="2200" dirty="0" err="1">
                <a:latin typeface="Times New Roman" panose="02020603050405020304" pitchFamily="18" charset="0"/>
                <a:cs typeface="Times New Roman" panose="02020603050405020304" pitchFamily="18" charset="0"/>
              </a:rPr>
              <a:t>fs.readFile</a:t>
            </a:r>
            <a:r>
              <a:rPr lang="en-IN" sz="2200" dirty="0">
                <a:latin typeface="Times New Roman" panose="02020603050405020304" pitchFamily="18" charset="0"/>
                <a:cs typeface="Times New Roman" panose="02020603050405020304" pitchFamily="18" charset="0"/>
              </a:rPr>
              <a:t>()` or `</a:t>
            </a:r>
            <a:r>
              <a:rPr lang="en-IN" sz="2200" dirty="0" err="1">
                <a:latin typeface="Times New Roman" panose="02020603050405020304" pitchFamily="18" charset="0"/>
                <a:cs typeface="Times New Roman" panose="02020603050405020304" pitchFamily="18" charset="0"/>
              </a:rPr>
              <a:t>fs.readFileSync</a:t>
            </a:r>
            <a:r>
              <a:rPr lang="en-IN" sz="2200" dirty="0">
                <a:latin typeface="Times New Roman" panose="02020603050405020304" pitchFamily="18" charset="0"/>
                <a:cs typeface="Times New Roman" panose="02020603050405020304" pitchFamily="18" charset="0"/>
              </a:rPr>
              <a:t>()` to read the contents of a file asynchronously or synchronously, respectively.</a:t>
            </a:r>
          </a:p>
          <a:p>
            <a:pPr algn="just"/>
            <a:r>
              <a:rPr lang="en-IN" sz="2200" dirty="0">
                <a:latin typeface="Times New Roman" panose="02020603050405020304" pitchFamily="18" charset="0"/>
                <a:cs typeface="Times New Roman" panose="02020603050405020304" pitchFamily="18" charset="0"/>
              </a:rPr>
              <a:t>Writing Files: Use `</a:t>
            </a:r>
            <a:r>
              <a:rPr lang="en-IN" sz="2200" dirty="0" err="1">
                <a:latin typeface="Times New Roman" panose="02020603050405020304" pitchFamily="18" charset="0"/>
                <a:cs typeface="Times New Roman" panose="02020603050405020304" pitchFamily="18" charset="0"/>
              </a:rPr>
              <a:t>fs.writeFile</a:t>
            </a:r>
            <a:r>
              <a:rPr lang="en-IN" sz="2200" dirty="0">
                <a:latin typeface="Times New Roman" panose="02020603050405020304" pitchFamily="18" charset="0"/>
                <a:cs typeface="Times New Roman" panose="02020603050405020304" pitchFamily="18" charset="0"/>
              </a:rPr>
              <a:t>()` or `</a:t>
            </a:r>
            <a:r>
              <a:rPr lang="en-IN" sz="2200" dirty="0" err="1">
                <a:latin typeface="Times New Roman" panose="02020603050405020304" pitchFamily="18" charset="0"/>
                <a:cs typeface="Times New Roman" panose="02020603050405020304" pitchFamily="18" charset="0"/>
              </a:rPr>
              <a:t>fs.writeFileSync</a:t>
            </a:r>
            <a:r>
              <a:rPr lang="en-IN" sz="2200" dirty="0">
                <a:latin typeface="Times New Roman" panose="02020603050405020304" pitchFamily="18" charset="0"/>
                <a:cs typeface="Times New Roman" panose="02020603050405020304" pitchFamily="18" charset="0"/>
              </a:rPr>
              <a:t>()` to write data to a file asynchronously or synchronously, respectively.</a:t>
            </a:r>
          </a:p>
          <a:p>
            <a:pPr algn="just"/>
            <a:r>
              <a:rPr lang="en-IN" sz="2200" dirty="0">
                <a:latin typeface="Times New Roman" panose="02020603050405020304" pitchFamily="18" charset="0"/>
                <a:cs typeface="Times New Roman" panose="02020603050405020304" pitchFamily="18" charset="0"/>
              </a:rPr>
              <a:t>Working with Directories: Functions like `</a:t>
            </a:r>
            <a:r>
              <a:rPr lang="en-IN" sz="2200" dirty="0" err="1">
                <a:latin typeface="Times New Roman" panose="02020603050405020304" pitchFamily="18" charset="0"/>
                <a:cs typeface="Times New Roman" panose="02020603050405020304" pitchFamily="18" charset="0"/>
              </a:rPr>
              <a:t>fs.readdir</a:t>
            </a:r>
            <a:r>
              <a:rPr lang="en-IN" sz="2200" dirty="0">
                <a:latin typeface="Times New Roman" panose="02020603050405020304" pitchFamily="18" charset="0"/>
                <a:cs typeface="Times New Roman" panose="02020603050405020304" pitchFamily="18" charset="0"/>
              </a:rPr>
              <a:t>()` and `</a:t>
            </a:r>
            <a:r>
              <a:rPr lang="en-IN" sz="2200" dirty="0" err="1">
                <a:latin typeface="Times New Roman" panose="02020603050405020304" pitchFamily="18" charset="0"/>
                <a:cs typeface="Times New Roman" panose="02020603050405020304" pitchFamily="18" charset="0"/>
              </a:rPr>
              <a:t>fs.mkdir</a:t>
            </a:r>
            <a:r>
              <a:rPr lang="en-IN" sz="2200" dirty="0">
                <a:latin typeface="Times New Roman" panose="02020603050405020304" pitchFamily="18" charset="0"/>
                <a:cs typeface="Times New Roman" panose="02020603050405020304" pitchFamily="18" charset="0"/>
              </a:rPr>
              <a:t>()` allow you to work with directories, listing contents or creating new ones.</a:t>
            </a:r>
          </a:p>
        </p:txBody>
      </p:sp>
    </p:spTree>
    <p:extLst>
      <p:ext uri="{BB962C8B-B14F-4D97-AF65-F5344CB8AC3E}">
        <p14:creationId xmlns="" xmlns:p14="http://schemas.microsoft.com/office/powerpoint/2010/main" val="373770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Node.js File System Module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3.Asynchronous vs. Synchronous Methods</a:t>
            </a:r>
          </a:p>
          <a:p>
            <a:pPr algn="just"/>
            <a:r>
              <a:rPr lang="en-IN" sz="2200" dirty="0">
                <a:latin typeface="Times New Roman" panose="02020603050405020304" pitchFamily="18" charset="0"/>
                <a:cs typeface="Times New Roman" panose="02020603050405020304" pitchFamily="18" charset="0"/>
              </a:rPr>
              <a:t>Asynchronous methods are non-blocking and return immediately, allowing your code to continue executing.</a:t>
            </a:r>
          </a:p>
          <a:p>
            <a:pPr algn="just"/>
            <a:r>
              <a:rPr lang="en-IN" sz="2200" dirty="0">
                <a:latin typeface="Times New Roman" panose="02020603050405020304" pitchFamily="18" charset="0"/>
                <a:cs typeface="Times New Roman" panose="02020603050405020304" pitchFamily="18" charset="0"/>
              </a:rPr>
              <a:t>Synchronous methods block the execution of code until the operation is completed, potentially leading to performance issues in I/O-heavy applications.</a:t>
            </a:r>
          </a:p>
          <a:p>
            <a:pPr marL="0" indent="0" algn="just">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60162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Read File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fs.readFile</a:t>
            </a:r>
            <a:r>
              <a:rPr lang="en-IN" sz="2200" dirty="0">
                <a:latin typeface="Times New Roman" panose="02020603050405020304" pitchFamily="18" charset="0"/>
                <a:cs typeface="Times New Roman" panose="02020603050405020304" pitchFamily="18" charset="0"/>
              </a:rPr>
              <a:t>() method is used to read files on your computer. </a:t>
            </a:r>
          </a:p>
          <a:p>
            <a:pPr marL="0" indent="0" algn="just">
              <a:buNone/>
            </a:pPr>
            <a:r>
              <a:rPr lang="en-IN" sz="2200" dirty="0">
                <a:latin typeface="Times New Roman" panose="02020603050405020304" pitchFamily="18" charset="0"/>
                <a:cs typeface="Times New Roman" panose="02020603050405020304" pitchFamily="18" charset="0"/>
              </a:rPr>
              <a:t>Assume we have the following HTML file (located in the same folder as Node.js):</a:t>
            </a:r>
          </a:p>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&lt;html&gt;</a:t>
            </a:r>
          </a:p>
          <a:p>
            <a:pPr marL="0" indent="0" algn="just">
              <a:buNone/>
            </a:pPr>
            <a:r>
              <a:rPr lang="en-IN" sz="2200" dirty="0">
                <a:latin typeface="Times New Roman" panose="02020603050405020304" pitchFamily="18" charset="0"/>
                <a:cs typeface="Times New Roman" panose="02020603050405020304" pitchFamily="18" charset="0"/>
              </a:rPr>
              <a:t>&lt;body&gt;</a:t>
            </a:r>
          </a:p>
          <a:p>
            <a:pPr marL="0" indent="0" algn="just">
              <a:buNone/>
            </a:pPr>
            <a:r>
              <a:rPr lang="en-IN" sz="2200" dirty="0">
                <a:latin typeface="Times New Roman" panose="02020603050405020304" pitchFamily="18" charset="0"/>
                <a:cs typeface="Times New Roman" panose="02020603050405020304" pitchFamily="18" charset="0"/>
              </a:rPr>
              <a:t>&lt;h1&gt;My Header&lt;/h1&gt;</a:t>
            </a:r>
          </a:p>
          <a:p>
            <a:pPr marL="0" indent="0" algn="just">
              <a:buNone/>
            </a:pPr>
            <a:r>
              <a:rPr lang="en-IN" sz="2200" dirty="0">
                <a:latin typeface="Times New Roman" panose="02020603050405020304" pitchFamily="18" charset="0"/>
                <a:cs typeface="Times New Roman" panose="02020603050405020304" pitchFamily="18" charset="0"/>
              </a:rPr>
              <a:t>&lt;p&gt;My paragraph.&lt;/p&gt;</a:t>
            </a:r>
          </a:p>
          <a:p>
            <a:pPr marL="0" indent="0" algn="just">
              <a:buNone/>
            </a:pPr>
            <a:r>
              <a:rPr lang="en-IN" sz="2200" dirty="0">
                <a:latin typeface="Times New Roman" panose="02020603050405020304" pitchFamily="18" charset="0"/>
                <a:cs typeface="Times New Roman" panose="02020603050405020304" pitchFamily="18" charset="0"/>
              </a:rPr>
              <a:t>&lt;/body&gt;</a:t>
            </a:r>
          </a:p>
          <a:p>
            <a:pPr marL="0" indent="0" algn="just">
              <a:buNone/>
            </a:pPr>
            <a:r>
              <a:rPr lang="en-IN" sz="2200" dirty="0">
                <a:latin typeface="Times New Roman" panose="02020603050405020304" pitchFamily="18" charset="0"/>
                <a:cs typeface="Times New Roman" panose="02020603050405020304" pitchFamily="18" charset="0"/>
              </a:rPr>
              <a:t>&lt;/html&gt;</a:t>
            </a:r>
          </a:p>
        </p:txBody>
      </p:sp>
      <p:sp>
        <p:nvSpPr>
          <p:cNvPr id="5" name="TextBox 4">
            <a:extLst>
              <a:ext uri="{FF2B5EF4-FFF2-40B4-BE49-F238E27FC236}">
                <a16:creationId xmlns="" xmlns:a16="http://schemas.microsoft.com/office/drawing/2014/main" id="{9B51E582-ADF8-34CD-3D6B-211AF6D02336}"/>
              </a:ext>
            </a:extLst>
          </p:cNvPr>
          <p:cNvSpPr txBox="1"/>
          <p:nvPr/>
        </p:nvSpPr>
        <p:spPr>
          <a:xfrm>
            <a:off x="3914275" y="2019396"/>
            <a:ext cx="7257028" cy="3877985"/>
          </a:xfrm>
          <a:prstGeom prst="rect">
            <a:avLst/>
          </a:prstGeom>
          <a:noFill/>
        </p:spPr>
        <p:txBody>
          <a:bodyPr wrap="square">
            <a:spAutoFit/>
          </a:bodyPr>
          <a:lstStyle/>
          <a:p>
            <a:r>
              <a:rPr lang="en-IN" sz="2400" b="0" i="0" dirty="0">
                <a:solidFill>
                  <a:srgbClr val="000000"/>
                </a:solidFill>
                <a:effectLst/>
                <a:highlight>
                  <a:srgbClr val="FFFFFF"/>
                </a:highlight>
                <a:latin typeface="Verdana" panose="020B0604030504040204" pitchFamily="34" charset="0"/>
              </a:rPr>
              <a:t>Node.js file that reads the HTML file, and return the content</a:t>
            </a:r>
            <a:endPar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endParaRPr>
          </a:p>
          <a:p>
            <a:r>
              <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rPr>
              <a:t>var</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http = require(</a:t>
            </a:r>
            <a:r>
              <a:rPr lang="en-IN" sz="2200" b="0" i="0" dirty="0">
                <a:solidFill>
                  <a:srgbClr val="A52A2A"/>
                </a:solidFill>
                <a:effectLst/>
                <a:highlight>
                  <a:srgbClr val="FFFFFF"/>
                </a:highlight>
                <a:latin typeface="Times New Roman" panose="02020603050405020304" pitchFamily="18" charset="0"/>
                <a:cs typeface="Times New Roman" panose="02020603050405020304" pitchFamily="18" charset="0"/>
              </a:rPr>
              <a:t>'http'</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rPr>
              <a:t>var</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fs = require(</a:t>
            </a:r>
            <a:r>
              <a:rPr lang="en-IN" sz="2200" b="0" i="0" dirty="0">
                <a:solidFill>
                  <a:srgbClr val="A52A2A"/>
                </a:solidFill>
                <a:effectLst/>
                <a:highlight>
                  <a:srgbClr val="FFFFFF"/>
                </a:highlight>
                <a:latin typeface="Times New Roman" panose="02020603050405020304" pitchFamily="18" charset="0"/>
                <a:cs typeface="Times New Roman" panose="02020603050405020304" pitchFamily="18" charset="0"/>
              </a:rPr>
              <a:t>'fs'</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http.createServer</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rPr>
              <a:t>function</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req</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res) {</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1"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1" i="0" dirty="0" err="1">
                <a:solidFill>
                  <a:srgbClr val="000000"/>
                </a:solidFill>
                <a:effectLst/>
                <a:highlight>
                  <a:srgbClr val="FFFFFF"/>
                </a:highlight>
                <a:latin typeface="Times New Roman" panose="02020603050405020304" pitchFamily="18" charset="0"/>
                <a:cs typeface="Times New Roman" panose="02020603050405020304" pitchFamily="18" charset="0"/>
              </a:rPr>
              <a:t>fs.readFile</a:t>
            </a:r>
            <a:r>
              <a:rPr lang="en-IN" sz="2200" b="1"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b="1" i="0" dirty="0">
                <a:solidFill>
                  <a:srgbClr val="A52A2A"/>
                </a:solidFill>
                <a:effectLst/>
                <a:highlight>
                  <a:srgbClr val="FFFFFF"/>
                </a:highlight>
                <a:latin typeface="Times New Roman" panose="02020603050405020304" pitchFamily="18" charset="0"/>
                <a:cs typeface="Times New Roman" panose="02020603050405020304" pitchFamily="18" charset="0"/>
              </a:rPr>
              <a:t>'demofile1.html'</a:t>
            </a:r>
            <a:r>
              <a:rPr lang="en-IN" sz="2200" b="1"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1" i="0" dirty="0">
                <a:solidFill>
                  <a:srgbClr val="0000CD"/>
                </a:solidFill>
                <a:effectLst/>
                <a:highlight>
                  <a:srgbClr val="FFFFFF"/>
                </a:highlight>
                <a:latin typeface="Times New Roman" panose="02020603050405020304" pitchFamily="18" charset="0"/>
                <a:cs typeface="Times New Roman" panose="02020603050405020304" pitchFamily="18" charset="0"/>
              </a:rPr>
              <a:t>function</a:t>
            </a:r>
            <a:r>
              <a:rPr lang="en-IN" sz="2200" b="1" i="0" dirty="0">
                <a:solidFill>
                  <a:srgbClr val="000000"/>
                </a:solidFill>
                <a:effectLst/>
                <a:highlight>
                  <a:srgbClr val="FFFFFF"/>
                </a:highlight>
                <a:latin typeface="Times New Roman" panose="02020603050405020304" pitchFamily="18" charset="0"/>
                <a:cs typeface="Times New Roman" panose="02020603050405020304" pitchFamily="18" charset="0"/>
              </a:rPr>
              <a:t>(err, data) {</a:t>
            </a:r>
            <a:br>
              <a:rPr lang="en-IN" sz="2200" b="1" i="0" dirty="0">
                <a:solidFill>
                  <a:srgbClr val="000000"/>
                </a:solidFill>
                <a:effectLst/>
                <a:highlight>
                  <a:srgbClr val="FFFFFF"/>
                </a:highlight>
                <a:latin typeface="Times New Roman" panose="02020603050405020304" pitchFamily="18" charset="0"/>
                <a:cs typeface="Times New Roman" panose="02020603050405020304" pitchFamily="18" charset="0"/>
              </a:rPr>
            </a:b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res.writeHead</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b="0" i="0" dirty="0">
                <a:solidFill>
                  <a:srgbClr val="FF0000"/>
                </a:solidFill>
                <a:effectLst/>
                <a:highlight>
                  <a:srgbClr val="FFFFFF"/>
                </a:highlight>
                <a:latin typeface="Times New Roman" panose="02020603050405020304" pitchFamily="18" charset="0"/>
                <a:cs typeface="Times New Roman" panose="02020603050405020304" pitchFamily="18" charset="0"/>
              </a:rPr>
              <a:t>200</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a:solidFill>
                  <a:srgbClr val="A52A2A"/>
                </a:solidFill>
                <a:effectLst/>
                <a:highlight>
                  <a:srgbClr val="FFFFFF"/>
                </a:highlight>
                <a:latin typeface="Times New Roman" panose="02020603050405020304" pitchFamily="18" charset="0"/>
                <a:cs typeface="Times New Roman" panose="02020603050405020304" pitchFamily="18" charset="0"/>
              </a:rPr>
              <a:t>'Content-Type'</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a:solidFill>
                  <a:srgbClr val="A52A2A"/>
                </a:solidFill>
                <a:effectLst/>
                <a:highlight>
                  <a:srgbClr val="FFFFFF"/>
                </a:highlight>
                <a:latin typeface="Times New Roman" panose="02020603050405020304" pitchFamily="18" charset="0"/>
                <a:cs typeface="Times New Roman" panose="02020603050405020304" pitchFamily="18" charset="0"/>
              </a:rPr>
              <a:t>'text/html'</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res.write</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(data);</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rPr>
              <a:t>return</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res.end</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}).listen(</a:t>
            </a:r>
            <a:r>
              <a:rPr lang="en-IN" sz="2200" b="0" i="0" dirty="0">
                <a:solidFill>
                  <a:srgbClr val="FF0000"/>
                </a:solidFill>
                <a:effectLst/>
                <a:highlight>
                  <a:srgbClr val="FFFFFF"/>
                </a:highlight>
                <a:latin typeface="Times New Roman" panose="02020603050405020304" pitchFamily="18" charset="0"/>
                <a:cs typeface="Times New Roman" panose="02020603050405020304" pitchFamily="18" charset="0"/>
              </a:rPr>
              <a:t>8080</a:t>
            </a:r>
            <a:r>
              <a:rPr lang="en-IN" sz="22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9C2E8BA4-2873-8586-072C-EC1CAC7C568B}"/>
              </a:ext>
            </a:extLst>
          </p:cNvPr>
          <p:cNvSpPr txBox="1"/>
          <p:nvPr/>
        </p:nvSpPr>
        <p:spPr>
          <a:xfrm>
            <a:off x="552845" y="6054525"/>
            <a:ext cx="10714712" cy="738664"/>
          </a:xfrm>
          <a:prstGeom prst="rect">
            <a:avLst/>
          </a:prstGeom>
          <a:noFill/>
        </p:spPr>
        <p:txBody>
          <a:bodyPr wrap="square">
            <a:spAutoFit/>
          </a:bodyPr>
          <a:lstStyle/>
          <a:p>
            <a:r>
              <a:rPr lang="en-IN" b="0" i="0" dirty="0">
                <a:solidFill>
                  <a:srgbClr val="000000"/>
                </a:solidFill>
                <a:effectLst/>
                <a:highlight>
                  <a:srgbClr val="FFFFFF"/>
                </a:highlight>
                <a:latin typeface="Verdana" panose="020B0604030504040204" pitchFamily="34" charset="0"/>
              </a:rPr>
              <a:t>Save the code above in a file called "demo_readfile.js", and initiate the file:</a:t>
            </a:r>
          </a:p>
          <a:p>
            <a:r>
              <a:rPr lang="en-IN" sz="2400" dirty="0">
                <a:solidFill>
                  <a:srgbClr val="0070C0"/>
                </a:solidFill>
              </a:rPr>
              <a:t>C:\Users\</a:t>
            </a:r>
            <a:r>
              <a:rPr lang="en-IN" sz="2400" i="1" dirty="0">
                <a:solidFill>
                  <a:srgbClr val="0070C0"/>
                </a:solidFill>
              </a:rPr>
              <a:t>Your Name</a:t>
            </a:r>
            <a:r>
              <a:rPr lang="en-IN" sz="2400" dirty="0">
                <a:solidFill>
                  <a:srgbClr val="0070C0"/>
                </a:solidFill>
              </a:rPr>
              <a:t>&gt;node demo_readfile.js</a:t>
            </a:r>
          </a:p>
        </p:txBody>
      </p:sp>
    </p:spTree>
    <p:extLst>
      <p:ext uri="{BB962C8B-B14F-4D97-AF65-F5344CB8AC3E}">
        <p14:creationId xmlns="" xmlns:p14="http://schemas.microsoft.com/office/powerpoint/2010/main" val="230136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0" i="0" dirty="0">
                <a:solidFill>
                  <a:srgbClr val="000000"/>
                </a:solidFill>
                <a:effectLst/>
                <a:highlight>
                  <a:srgbClr val="FFFFFF"/>
                </a:highlight>
                <a:latin typeface="Segoe UI" panose="020B0502040204020203" pitchFamily="34" charset="0"/>
              </a:rPr>
              <a:t>Create File</a:t>
            </a: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sz="2200" dirty="0">
                <a:latin typeface="Times New Roman" panose="02020603050405020304" pitchFamily="18" charset="0"/>
                <a:cs typeface="Times New Roman" panose="02020603050405020304" pitchFamily="18" charset="0"/>
              </a:rPr>
              <a:t>The File System module has methods for creating new files: </a:t>
            </a:r>
          </a:p>
          <a:p>
            <a:pPr marL="0" indent="0" algn="just">
              <a:buNone/>
            </a:pPr>
            <a:r>
              <a:rPr lang="en-IN" sz="2200" dirty="0" err="1">
                <a:latin typeface="Times New Roman" panose="02020603050405020304" pitchFamily="18" charset="0"/>
                <a:cs typeface="Times New Roman" panose="02020603050405020304" pitchFamily="18" charset="0"/>
              </a:rPr>
              <a:t>fs.appendFile</a:t>
            </a:r>
            <a:r>
              <a:rPr lang="en-IN" sz="2200" dirty="0">
                <a:latin typeface="Times New Roman" panose="02020603050405020304" pitchFamily="18" charset="0"/>
                <a:cs typeface="Times New Roman" panose="02020603050405020304" pitchFamily="18" charset="0"/>
              </a:rPr>
              <a:t>() </a:t>
            </a:r>
          </a:p>
          <a:p>
            <a:pPr marL="0" indent="0" algn="just">
              <a:buNone/>
            </a:pPr>
            <a:r>
              <a:rPr lang="en-IN" sz="2200" dirty="0" err="1">
                <a:latin typeface="Times New Roman" panose="02020603050405020304" pitchFamily="18" charset="0"/>
                <a:cs typeface="Times New Roman" panose="02020603050405020304" pitchFamily="18" charset="0"/>
              </a:rPr>
              <a:t>fs.open</a:t>
            </a:r>
            <a:r>
              <a:rPr lang="en-IN" sz="2200" dirty="0">
                <a:latin typeface="Times New Roman" panose="02020603050405020304" pitchFamily="18" charset="0"/>
                <a:cs typeface="Times New Roman" panose="02020603050405020304" pitchFamily="18" charset="0"/>
              </a:rPr>
              <a:t>() </a:t>
            </a:r>
          </a:p>
          <a:p>
            <a:pPr marL="0" indent="0" algn="just">
              <a:buNone/>
            </a:pPr>
            <a:r>
              <a:rPr lang="en-IN" sz="2200" dirty="0" err="1">
                <a:latin typeface="Times New Roman" panose="02020603050405020304" pitchFamily="18" charset="0"/>
                <a:cs typeface="Times New Roman" panose="02020603050405020304" pitchFamily="18" charset="0"/>
              </a:rPr>
              <a:t>fs.writeFile</a:t>
            </a: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 xmlns:p14="http://schemas.microsoft.com/office/powerpoint/2010/main" val="2153657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fs.appendFile</a:t>
            </a:r>
            <a:r>
              <a:rPr lang="en-IN" sz="2200" dirty="0">
                <a:latin typeface="Times New Roman" panose="02020603050405020304" pitchFamily="18" charset="0"/>
                <a:cs typeface="Times New Roman" panose="02020603050405020304" pitchFamily="18" charset="0"/>
              </a:rPr>
              <a:t>() method appends specified content to a file. If the file does not exist, the file will be created:</a:t>
            </a:r>
          </a:p>
          <a:p>
            <a:pPr marL="0" indent="0">
              <a:buNone/>
            </a:pPr>
            <a:r>
              <a:rPr lang="en-IN" sz="2200" dirty="0">
                <a:latin typeface="Times New Roman" panose="02020603050405020304" pitchFamily="18" charset="0"/>
                <a:cs typeface="Times New Roman" panose="02020603050405020304" pitchFamily="18" charset="0"/>
              </a:rPr>
              <a:t>Example</a:t>
            </a:r>
          </a:p>
          <a:p>
            <a:pPr marL="0" indent="0">
              <a:buNone/>
            </a:pP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var</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fs = require(</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'fs'</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fs.appendFile</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'mynewfile1.txt'</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'Hello content!'</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function</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if</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throw</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console.log(</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'Saved!'</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1347686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fs.open</a:t>
            </a:r>
            <a:r>
              <a:rPr lang="en-IN" sz="2200" dirty="0">
                <a:latin typeface="Times New Roman" panose="02020603050405020304" pitchFamily="18" charset="0"/>
                <a:cs typeface="Times New Roman" panose="02020603050405020304" pitchFamily="18" charset="0"/>
              </a:rPr>
              <a:t>() method takes a "flag" as the second argument, if the flag is "w" for "writing", the specified file is opened for writing. If the file does not exist, an empty file is created:</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Create a new, empty file using the open() </a:t>
            </a:r>
            <a:r>
              <a:rPr lang="en-IN" sz="2200" dirty="0" err="1">
                <a:latin typeface="Times New Roman" panose="02020603050405020304" pitchFamily="18" charset="0"/>
                <a:cs typeface="Times New Roman" panose="02020603050405020304" pitchFamily="18" charset="0"/>
              </a:rPr>
              <a:t>method:Example</a:t>
            </a:r>
            <a:endParaRPr lang="en-IN" sz="2200" dirty="0">
              <a:latin typeface="Times New Roman" panose="02020603050405020304" pitchFamily="18" charset="0"/>
              <a:cs typeface="Times New Roman" panose="02020603050405020304" pitchFamily="18" charset="0"/>
            </a:endParaRPr>
          </a:p>
          <a:p>
            <a:pPr marL="0" indent="0">
              <a:buNone/>
            </a:pP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var</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fs = require(</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'fs'</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fs.open</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'mynewfile2.txt'</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'w'</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function</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file) {</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if</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throw</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console.log(</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'Saved!'</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4013234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fs.writeFile</a:t>
            </a:r>
            <a:r>
              <a:rPr lang="en-IN" sz="2200" dirty="0">
                <a:latin typeface="Times New Roman" panose="02020603050405020304" pitchFamily="18" charset="0"/>
                <a:cs typeface="Times New Roman" panose="02020603050405020304" pitchFamily="18" charset="0"/>
              </a:rPr>
              <a:t>() method replaces the specified file and content if it exists. If the file does not exist, a new file, containing the specified content, will be created:</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Create a new file using the </a:t>
            </a:r>
            <a:r>
              <a:rPr lang="en-IN" sz="2200" dirty="0" err="1">
                <a:latin typeface="Times New Roman" panose="02020603050405020304" pitchFamily="18" charset="0"/>
                <a:cs typeface="Times New Roman" panose="02020603050405020304" pitchFamily="18" charset="0"/>
              </a:rPr>
              <a:t>writeFile</a:t>
            </a:r>
            <a:r>
              <a:rPr lang="en-IN" sz="2200" dirty="0">
                <a:latin typeface="Times New Roman" panose="02020603050405020304" pitchFamily="18" charset="0"/>
                <a:cs typeface="Times New Roman" panose="02020603050405020304" pitchFamily="18" charset="0"/>
              </a:rPr>
              <a:t>() method:</a:t>
            </a:r>
          </a:p>
          <a:p>
            <a:pPr marL="0" indent="0">
              <a:buNone/>
            </a:pPr>
            <a:endParaRPr lang="en-IN" sz="2200" b="0" i="0" dirty="0">
              <a:solidFill>
                <a:srgbClr val="0000CD"/>
              </a:solidFill>
              <a:effectLst/>
              <a:highlight>
                <a:srgbClr val="FFFFFF"/>
              </a:highlight>
              <a:latin typeface="Times New Roman" panose="02020603050405020304" pitchFamily="18" charset="0"/>
              <a:cs typeface="Times New Roman" panose="02020603050405020304" pitchFamily="18" charset="0"/>
            </a:endParaRPr>
          </a:p>
          <a:p>
            <a:pPr marL="0" indent="0">
              <a:buNone/>
            </a:pP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var</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fs = require(</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'fs'</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fs.open</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'mynewfile2.txt'</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'w'</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function</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file) {</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if</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 </a:t>
            </a:r>
            <a:r>
              <a:rPr lang="en-IN" sz="2400" b="0" i="0" dirty="0">
                <a:solidFill>
                  <a:srgbClr val="0000CD"/>
                </a:solidFill>
                <a:effectLst/>
                <a:highlight>
                  <a:srgbClr val="FFFFFF"/>
                </a:highlight>
                <a:latin typeface="Times New Roman" panose="02020603050405020304" pitchFamily="18" charset="0"/>
                <a:cs typeface="Times New Roman" panose="02020603050405020304" pitchFamily="18" charset="0"/>
              </a:rPr>
              <a:t>throw</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err;</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  console.log(</a:t>
            </a:r>
            <a:r>
              <a:rPr lang="en-IN" sz="2400" b="0" i="0" dirty="0">
                <a:solidFill>
                  <a:srgbClr val="A52A2A"/>
                </a:solidFill>
                <a:effectLst/>
                <a:highlight>
                  <a:srgbClr val="FFFFFF"/>
                </a:highlight>
                <a:latin typeface="Times New Roman" panose="02020603050405020304" pitchFamily="18" charset="0"/>
                <a:cs typeface="Times New Roman" panose="02020603050405020304" pitchFamily="18" charset="0"/>
              </a:rPr>
              <a:t>'Saved!'</a:t>
            </a: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b="0" i="0" dirty="0">
                <a:solidFill>
                  <a:srgbClr val="000000"/>
                </a:solidFill>
                <a:effectLst/>
                <a:highlight>
                  <a:srgbClr val="FFFFFF"/>
                </a:highligh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81640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518D14-8E92-7EDB-D168-9037E8269D24}"/>
              </a:ext>
            </a:extLst>
          </p:cNvPr>
          <p:cNvSpPr>
            <a:spLocks noGrp="1"/>
          </p:cNvSpPr>
          <p:nvPr>
            <p:ph type="title"/>
          </p:nvPr>
        </p:nvSpPr>
        <p:spPr>
          <a:xfrm>
            <a:off x="913795" y="0"/>
            <a:ext cx="10353762" cy="970450"/>
          </a:xfrm>
        </p:spPr>
        <p:txBody>
          <a:bodyPr>
            <a:normAutofit/>
          </a:bodyPr>
          <a:lstStyle/>
          <a:p>
            <a:pPr algn="l"/>
            <a:r>
              <a:rPr lang="en-IN" b="1" dirty="0"/>
              <a:t>Self Study</a:t>
            </a:r>
            <a:endParaRPr lang="en-IN" b="0" i="0" dirty="0">
              <a:solidFill>
                <a:srgbClr val="000000"/>
              </a:solidFill>
              <a:effectLst/>
              <a:highlight>
                <a:srgbClr val="FFFFFF"/>
              </a:highlight>
              <a:latin typeface="Segoe UI" panose="020B0502040204020203" pitchFamily="34" charset="0"/>
            </a:endParaRPr>
          </a:p>
        </p:txBody>
      </p:sp>
      <p:sp>
        <p:nvSpPr>
          <p:cNvPr id="3" name="Content Placeholder 2">
            <a:extLst>
              <a:ext uri="{FF2B5EF4-FFF2-40B4-BE49-F238E27FC236}">
                <a16:creationId xmlns="" xmlns:a16="http://schemas.microsoft.com/office/drawing/2014/main" id="{D21F2BC1-3D62-22BF-94AE-071C20FF843B}"/>
              </a:ext>
            </a:extLst>
          </p:cNvPr>
          <p:cNvSpPr>
            <a:spLocks noGrp="1"/>
          </p:cNvSpPr>
          <p:nvPr>
            <p:ph idx="1"/>
          </p:nvPr>
        </p:nvSpPr>
        <p:spPr>
          <a:xfrm>
            <a:off x="552845" y="1058779"/>
            <a:ext cx="10353762" cy="5799221"/>
          </a:xfrm>
        </p:spPr>
        <p:txBody>
          <a:bodyPr>
            <a:noAutofit/>
          </a:bodyPr>
          <a:lstStyle/>
          <a:p>
            <a:pPr marL="0" indent="0" algn="just">
              <a:buNone/>
            </a:pPr>
            <a:r>
              <a:rPr lang="en-IN" b="1" i="0" dirty="0">
                <a:solidFill>
                  <a:srgbClr val="000000"/>
                </a:solidFill>
                <a:effectLst/>
                <a:highlight>
                  <a:srgbClr val="FFFFFF"/>
                </a:highlight>
                <a:latin typeface="Segoe UI" panose="020B0502040204020203" pitchFamily="34" charset="0"/>
              </a:rPr>
              <a:t>File System Module</a:t>
            </a:r>
            <a:endParaRPr lang="en-IN" b="1" dirty="0"/>
          </a:p>
          <a:p>
            <a:pPr marL="0" indent="0" algn="just">
              <a:buNone/>
            </a:pPr>
            <a:r>
              <a:rPr lang="en-IN" dirty="0"/>
              <a:t>Update Files</a:t>
            </a:r>
          </a:p>
          <a:p>
            <a:pPr marL="0" indent="0" algn="just">
              <a:buNone/>
            </a:pPr>
            <a:r>
              <a:rPr lang="en-IN" dirty="0"/>
              <a:t>Delete Files</a:t>
            </a:r>
          </a:p>
          <a:p>
            <a:pPr marL="0" indent="0" algn="just">
              <a:buNone/>
            </a:pPr>
            <a:r>
              <a:rPr lang="en-IN" dirty="0"/>
              <a:t>Rename Files</a:t>
            </a:r>
          </a:p>
          <a:p>
            <a:pPr marL="0" indent="0" algn="just">
              <a:buNone/>
            </a:pPr>
            <a:r>
              <a:rPr lang="en-IN" dirty="0"/>
              <a:t>Upload Files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r>
              <a:rPr lang="en-IN" b="1" dirty="0"/>
              <a:t>NodeJS NPM Package</a:t>
            </a:r>
          </a:p>
          <a:p>
            <a:pPr marL="0" indent="0" algn="just">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275188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7390E2-BB53-5EE2-F26C-BE3D8016BE1F}"/>
              </a:ext>
            </a:extLst>
          </p:cNvPr>
          <p:cNvSpPr>
            <a:spLocks noGrp="1"/>
          </p:cNvSpPr>
          <p:nvPr>
            <p:ph type="title"/>
          </p:nvPr>
        </p:nvSpPr>
        <p:spPr>
          <a:xfrm>
            <a:off x="838200" y="2975977"/>
            <a:ext cx="10515600" cy="1325563"/>
          </a:xfrm>
        </p:spPr>
        <p:txBody>
          <a:bodyPr/>
          <a:lstStyle/>
          <a:p>
            <a:pPr algn="ctr"/>
            <a:r>
              <a:rPr lang="en-IN" b="1" i="0" dirty="0">
                <a:solidFill>
                  <a:srgbClr val="0D0D0D"/>
                </a:solidFill>
                <a:effectLst/>
                <a:highlight>
                  <a:srgbClr val="FFFFFF"/>
                </a:highlight>
                <a:latin typeface="Söhne"/>
              </a:rPr>
              <a:t>Node.js with MySQL</a:t>
            </a:r>
            <a:endParaRPr lang="en-IN" b="1" dirty="0"/>
          </a:p>
        </p:txBody>
      </p:sp>
    </p:spTree>
    <p:extLst>
      <p:ext uri="{BB962C8B-B14F-4D97-AF65-F5344CB8AC3E}">
        <p14:creationId xmlns="" xmlns:p14="http://schemas.microsoft.com/office/powerpoint/2010/main" val="2549999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normAutofit fontScale="90000"/>
          </a:bodyPr>
          <a:lstStyle/>
          <a:p>
            <a:r>
              <a:rPr lang="en-IN" b="0" i="0" dirty="0">
                <a:solidFill>
                  <a:srgbClr val="0D0D0D"/>
                </a:solidFill>
                <a:effectLst/>
                <a:highlight>
                  <a:srgbClr val="FFFFFF"/>
                </a:highlight>
                <a:latin typeface="Söhne"/>
              </a:rPr>
              <a:t>Advantages of Using 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rmAutofit fontScale="85000" lnSpcReduction="20000"/>
          </a:bodyPr>
          <a:lstStyle/>
          <a:p>
            <a:pPr marL="0" indent="0">
              <a:buNone/>
            </a:pPr>
            <a:r>
              <a:rPr lang="en-IN" dirty="0"/>
              <a:t>Using Node.js with MySQL offers several advantages for building web applications:</a:t>
            </a:r>
          </a:p>
          <a:p>
            <a:pPr marL="0" indent="0">
              <a:buNone/>
            </a:pPr>
            <a:endParaRPr lang="en-IN" dirty="0"/>
          </a:p>
          <a:p>
            <a:pPr marL="0" indent="0">
              <a:buNone/>
            </a:pPr>
            <a:r>
              <a:rPr lang="en-IN" b="1" dirty="0"/>
              <a:t>1.JavaScript Everywhere:</a:t>
            </a:r>
            <a:r>
              <a:rPr lang="en-IN" dirty="0"/>
              <a:t> With Node.js, you can use JavaScript on both the client and server sides of your application. This allows for consistency in development and easier code sharing between different parts of your application.</a:t>
            </a:r>
          </a:p>
          <a:p>
            <a:pPr marL="0" indent="0">
              <a:buNone/>
            </a:pPr>
            <a:endParaRPr lang="en-IN" dirty="0"/>
          </a:p>
          <a:p>
            <a:pPr marL="0" indent="0">
              <a:buNone/>
            </a:pPr>
            <a:r>
              <a:rPr lang="en-IN" dirty="0"/>
              <a:t>2.Asynchronous I/O: Node.js is known for its non-blocking, asynchronous I/O model, which allows it to handle multiple concurrent operations efficiently. This aligns well with MySQL's I/O-bound nature, making Node.js a good choice for interacting with MySQL databases.</a:t>
            </a:r>
          </a:p>
          <a:p>
            <a:pPr marL="0" indent="0">
              <a:buNone/>
            </a:pPr>
            <a:endParaRPr lang="en-IN" dirty="0"/>
          </a:p>
          <a:p>
            <a:pPr marL="0" indent="0">
              <a:buNone/>
            </a:pPr>
            <a:r>
              <a:rPr lang="en-IN" b="1" dirty="0"/>
              <a:t>3.Performance:</a:t>
            </a:r>
            <a:r>
              <a:rPr lang="en-IN" dirty="0"/>
              <a:t> Node.js's event-driven architecture and asynchronous nature make it well-suited for I/O-heavy tasks like database operations. It can handle a large number of concurrent database queries without blocking, leading to improved performance and responsiveness in web applications.</a:t>
            </a:r>
          </a:p>
          <a:p>
            <a:pPr marL="0" indent="0">
              <a:buNone/>
            </a:pPr>
            <a:endParaRPr lang="en-IN" dirty="0"/>
          </a:p>
        </p:txBody>
      </p:sp>
    </p:spTree>
    <p:extLst>
      <p:ext uri="{BB962C8B-B14F-4D97-AF65-F5344CB8AC3E}">
        <p14:creationId xmlns="" xmlns:p14="http://schemas.microsoft.com/office/powerpoint/2010/main" val="330927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left)">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lstStyle/>
          <a:p>
            <a:r>
              <a:rPr lang="en-IN" b="0" i="0" dirty="0">
                <a:solidFill>
                  <a:srgbClr val="0D0D0D"/>
                </a:solidFill>
                <a:effectLst/>
                <a:highlight>
                  <a:srgbClr val="FFFFFF"/>
                </a:highlight>
                <a:latin typeface="Söhne"/>
              </a:rPr>
              <a:t>Advantages of Using 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rmAutofit fontScale="70000" lnSpcReduction="20000"/>
          </a:bodyPr>
          <a:lstStyle/>
          <a:p>
            <a:pPr marL="0" indent="0">
              <a:buNone/>
            </a:pPr>
            <a:endParaRPr lang="en-IN" dirty="0"/>
          </a:p>
          <a:p>
            <a:pPr marL="0" indent="0">
              <a:buNone/>
            </a:pPr>
            <a:r>
              <a:rPr lang="en-IN" b="1" dirty="0"/>
              <a:t>4.Scalability:</a:t>
            </a:r>
            <a:r>
              <a:rPr lang="en-IN" dirty="0"/>
              <a:t> Both Node.js and MySQL are known for their scalability. Node.js can handle a large number of concurrent connections efficiently, and MySQL can scale horizontally by adding more servers to distribute the load. Together, they form a scalable stack for building high-performance web applications.</a:t>
            </a:r>
          </a:p>
          <a:p>
            <a:pPr marL="0" indent="0">
              <a:buNone/>
            </a:pPr>
            <a:endParaRPr lang="en-IN" dirty="0"/>
          </a:p>
          <a:p>
            <a:pPr marL="0" indent="0">
              <a:buNone/>
            </a:pPr>
            <a:r>
              <a:rPr lang="en-IN" b="1" dirty="0"/>
              <a:t>5.Community and Ecosystem:</a:t>
            </a:r>
            <a:r>
              <a:rPr lang="en-IN" dirty="0"/>
              <a:t> Both Node.js and MySQL have large and active communities, with extensive libraries, frameworks, and tools available to streamline development. This rich ecosystem provides developers with the resources they need to build robust and feature-rich web applications.</a:t>
            </a:r>
          </a:p>
          <a:p>
            <a:pPr marL="0" indent="0">
              <a:buNone/>
            </a:pPr>
            <a:endParaRPr lang="en-IN" dirty="0"/>
          </a:p>
          <a:p>
            <a:pPr marL="0" indent="0">
              <a:buNone/>
            </a:pPr>
            <a:r>
              <a:rPr lang="en-IN" b="1" dirty="0"/>
              <a:t>6.Ease of Development:</a:t>
            </a:r>
            <a:r>
              <a:rPr lang="en-IN" dirty="0"/>
              <a:t> Node.js's simple and lightweight runtime, combined with its rich ecosystem of modules, makes it easy to develop and maintain web applications. Integrating Node.js with MySQL allows developers to build data-driven applications quickly and efficiently.</a:t>
            </a:r>
          </a:p>
          <a:p>
            <a:pPr marL="0" indent="0">
              <a:buNone/>
            </a:pPr>
            <a:endParaRPr lang="en-IN" dirty="0"/>
          </a:p>
          <a:p>
            <a:pPr marL="0" indent="0">
              <a:buNone/>
            </a:pPr>
            <a:r>
              <a:rPr lang="en-IN" dirty="0"/>
              <a:t>Overall, using Node.js with MySQL provides a powerful and efficient stack for building modern web applications, combining the flexibility and scalability of Node.js with the reliability and performance of MySQL databases.</a:t>
            </a:r>
          </a:p>
        </p:txBody>
      </p:sp>
    </p:spTree>
    <p:extLst>
      <p:ext uri="{BB962C8B-B14F-4D97-AF65-F5344CB8AC3E}">
        <p14:creationId xmlns="" xmlns:p14="http://schemas.microsoft.com/office/powerpoint/2010/main" val="184207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left)">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wipe(left)">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lstStyle/>
          <a:p>
            <a:r>
              <a:rPr lang="en-IN" b="0" i="0" dirty="0">
                <a:solidFill>
                  <a:srgbClr val="0D0D0D"/>
                </a:solidFill>
                <a:effectLst/>
                <a:highlight>
                  <a:srgbClr val="FFFFFF"/>
                </a:highlight>
                <a:latin typeface="Söhne"/>
              </a:rPr>
              <a:t>Advantages of Using 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rmAutofit fontScale="70000" lnSpcReduction="20000"/>
          </a:bodyPr>
          <a:lstStyle/>
          <a:p>
            <a:pPr marL="0" indent="0">
              <a:buNone/>
            </a:pPr>
            <a:endParaRPr lang="en-IN" dirty="0"/>
          </a:p>
          <a:p>
            <a:pPr marL="0" indent="0">
              <a:buNone/>
            </a:pPr>
            <a:r>
              <a:rPr lang="en-IN" b="1" dirty="0"/>
              <a:t>4.Scalability:</a:t>
            </a:r>
            <a:r>
              <a:rPr lang="en-IN" dirty="0"/>
              <a:t> Both Node.js and MySQL are known for their scalability. Node.js can handle a large number of concurrent connections efficiently, and MySQL can scale horizontally by adding more servers to distribute the load. Together, they form a scalable stack for building high-performance web applications.</a:t>
            </a:r>
          </a:p>
          <a:p>
            <a:pPr marL="0" indent="0">
              <a:buNone/>
            </a:pPr>
            <a:endParaRPr lang="en-IN" dirty="0"/>
          </a:p>
          <a:p>
            <a:pPr marL="0" indent="0">
              <a:buNone/>
            </a:pPr>
            <a:r>
              <a:rPr lang="en-IN" b="1" dirty="0"/>
              <a:t>5.Community and Ecosystem:</a:t>
            </a:r>
            <a:r>
              <a:rPr lang="en-IN" dirty="0"/>
              <a:t> Both Node.js and MySQL have large and active communities, with extensive libraries, frameworks, and tools available to streamline development. This rich ecosystem provides developers with the resources they need to build robust and feature-rich web applications.</a:t>
            </a:r>
          </a:p>
          <a:p>
            <a:pPr marL="0" indent="0">
              <a:buNone/>
            </a:pPr>
            <a:endParaRPr lang="en-IN" dirty="0"/>
          </a:p>
          <a:p>
            <a:pPr marL="0" indent="0">
              <a:buNone/>
            </a:pPr>
            <a:r>
              <a:rPr lang="en-IN" b="1" dirty="0"/>
              <a:t>6.Ease of Development:</a:t>
            </a:r>
            <a:r>
              <a:rPr lang="en-IN" dirty="0"/>
              <a:t> Node.js's simple and lightweight runtime, combined with its rich ecosystem of modules, makes it easy to develop and maintain web applications. Integrating Node.js with MySQL allows developers to build data-driven applications quickly and efficiently.</a:t>
            </a:r>
          </a:p>
          <a:p>
            <a:pPr marL="0" indent="0">
              <a:buNone/>
            </a:pPr>
            <a:endParaRPr lang="en-IN" dirty="0"/>
          </a:p>
          <a:p>
            <a:pPr marL="0" indent="0">
              <a:buNone/>
            </a:pPr>
            <a:r>
              <a:rPr lang="en-IN" dirty="0"/>
              <a:t>Overall, using Node.js with MySQL provides a powerful and efficient stack for building modern web applications, combining the flexibility and scalability of Node.js with the reliability and performance of MySQL databases.</a:t>
            </a:r>
          </a:p>
        </p:txBody>
      </p:sp>
    </p:spTree>
    <p:extLst>
      <p:ext uri="{BB962C8B-B14F-4D97-AF65-F5344CB8AC3E}">
        <p14:creationId xmlns="" xmlns:p14="http://schemas.microsoft.com/office/powerpoint/2010/main" val="70923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left)">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wipe(left)">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normAutofit/>
          </a:bodyPr>
          <a:lstStyle/>
          <a:p>
            <a:r>
              <a:rPr lang="en-IN" dirty="0">
                <a:latin typeface="Times New Roman" panose="02020603050405020304" pitchFamily="18" charset="0"/>
                <a:cs typeface="Times New Roman" panose="02020603050405020304" pitchFamily="18" charset="0"/>
              </a:rPr>
              <a:t>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50493"/>
            <a:ext cx="10515600" cy="521443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Introduction to MySQL</a:t>
            </a:r>
          </a:p>
          <a:p>
            <a:r>
              <a:rPr lang="en-IN" sz="2200" dirty="0">
                <a:latin typeface="Times New Roman" panose="02020603050405020304" pitchFamily="18" charset="0"/>
                <a:cs typeface="Times New Roman" panose="02020603050405020304" pitchFamily="18" charset="0"/>
              </a:rPr>
              <a:t>MySQL is a popular open-source relational database management system (RDBMS) known for its reliability, scalability, and performance.</a:t>
            </a:r>
          </a:p>
          <a:p>
            <a:r>
              <a:rPr lang="en-IN" sz="2200" dirty="0">
                <a:latin typeface="Times New Roman" panose="02020603050405020304" pitchFamily="18" charset="0"/>
                <a:cs typeface="Times New Roman" panose="02020603050405020304" pitchFamily="18" charset="0"/>
              </a:rPr>
              <a:t>It's widely used in web development for storing and managing structured data.</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b="1" dirty="0">
                <a:latin typeface="Times New Roman" panose="02020603050405020304" pitchFamily="18" charset="0"/>
                <a:cs typeface="Times New Roman" panose="02020603050405020304" pitchFamily="18" charset="0"/>
              </a:rPr>
              <a:t>Node.js and MySQL</a:t>
            </a:r>
          </a:p>
          <a:p>
            <a:r>
              <a:rPr lang="en-IN" sz="2200" dirty="0">
                <a:latin typeface="Times New Roman" panose="02020603050405020304" pitchFamily="18" charset="0"/>
                <a:cs typeface="Times New Roman" panose="02020603050405020304" pitchFamily="18" charset="0"/>
              </a:rPr>
              <a:t>Node.js can be used to interact with MySQL databases, allowing developers to build powerful and data-driven applications.</a:t>
            </a:r>
          </a:p>
          <a:p>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mysql</a:t>
            </a:r>
            <a:r>
              <a:rPr lang="en-IN" sz="2200" dirty="0">
                <a:latin typeface="Times New Roman" panose="02020603050405020304" pitchFamily="18" charset="0"/>
                <a:cs typeface="Times New Roman" panose="02020603050405020304" pitchFamily="18" charset="0"/>
              </a:rPr>
              <a:t>` package is commonly used in Node.js applications for MySQL database connectivity.</a:t>
            </a:r>
          </a:p>
        </p:txBody>
      </p:sp>
    </p:spTree>
    <p:extLst>
      <p:ext uri="{BB962C8B-B14F-4D97-AF65-F5344CB8AC3E}">
        <p14:creationId xmlns="" xmlns:p14="http://schemas.microsoft.com/office/powerpoint/2010/main" val="87339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normAutofit/>
          </a:bodyPr>
          <a:lstStyle/>
          <a:p>
            <a:r>
              <a:rPr lang="en-IN" dirty="0">
                <a:latin typeface="Times New Roman" panose="02020603050405020304" pitchFamily="18" charset="0"/>
                <a:cs typeface="Times New Roman" panose="02020603050405020304" pitchFamily="18" charset="0"/>
              </a:rPr>
              <a:t>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Connecting to MySQL Database</a:t>
            </a:r>
          </a:p>
          <a:p>
            <a:r>
              <a:rPr lang="en-IN" sz="2200" dirty="0">
                <a:latin typeface="Times New Roman" panose="02020603050405020304" pitchFamily="18" charset="0"/>
                <a:cs typeface="Times New Roman" panose="02020603050405020304" pitchFamily="18" charset="0"/>
              </a:rPr>
              <a:t>Install Node.js: Download and install Node.js from the official website https://nodejs.org/en/download. This will also install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(Node Package Manager).</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Install MySQL Driver: Use </a:t>
            </a:r>
            <a:r>
              <a:rPr lang="en-IN" sz="2200" dirty="0" err="1">
                <a:latin typeface="Times New Roman" panose="02020603050405020304" pitchFamily="18" charset="0"/>
                <a:cs typeface="Times New Roman" panose="02020603050405020304" pitchFamily="18" charset="0"/>
              </a:rPr>
              <a:t>npm</a:t>
            </a:r>
            <a:r>
              <a:rPr lang="en-IN" sz="2200" dirty="0">
                <a:latin typeface="Times New Roman" panose="02020603050405020304" pitchFamily="18" charset="0"/>
                <a:cs typeface="Times New Roman" panose="02020603050405020304" pitchFamily="18" charset="0"/>
              </a:rPr>
              <a:t> to install a driver that lets Node.js communicate with MySQL. A popular option is</a:t>
            </a:r>
          </a:p>
          <a:p>
            <a:pPr marL="0" indent="0">
              <a:buNone/>
            </a:pPr>
            <a:r>
              <a:rPr lang="en-IN" dirty="0"/>
              <a:t>	</a:t>
            </a:r>
            <a:r>
              <a:rPr lang="en-IN" b="1" dirty="0" err="1"/>
              <a:t>npm</a:t>
            </a:r>
            <a:r>
              <a:rPr lang="en-IN" b="1" dirty="0"/>
              <a:t> install </a:t>
            </a:r>
            <a:r>
              <a:rPr lang="en-IN" b="1" dirty="0" err="1"/>
              <a:t>mysql</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49190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693821" y="132346"/>
            <a:ext cx="10515600" cy="521443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Connecting to MySQL:</a:t>
            </a:r>
          </a:p>
          <a:p>
            <a:r>
              <a:rPr lang="en-IN" sz="2200" dirty="0">
                <a:latin typeface="Times New Roman" panose="02020603050405020304" pitchFamily="18" charset="0"/>
                <a:cs typeface="Times New Roman" panose="02020603050405020304" pitchFamily="18" charset="0"/>
              </a:rPr>
              <a:t>Node.js scripts use the installed driver to connect to your MySQL database. </a:t>
            </a:r>
          </a:p>
          <a:p>
            <a:pPr marL="0" indent="0">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mysql.createConnection</a:t>
            </a:r>
            <a:r>
              <a:rPr lang="en-IN" sz="2200" dirty="0">
                <a:latin typeface="Times New Roman" panose="02020603050405020304" pitchFamily="18" charset="0"/>
                <a:cs typeface="Times New Roman" panose="02020603050405020304" pitchFamily="18" charset="0"/>
              </a:rPr>
              <a:t>().</a:t>
            </a:r>
          </a:p>
          <a:p>
            <a:pPr marL="0" indent="0">
              <a:buNone/>
            </a:pPr>
            <a:r>
              <a:rPr lang="en-IN" sz="2200" b="1" dirty="0">
                <a:latin typeface="Times New Roman" panose="02020603050405020304" pitchFamily="18" charset="0"/>
                <a:cs typeface="Times New Roman" panose="02020603050405020304" pitchFamily="18" charset="0"/>
              </a:rPr>
              <a:t>Example</a:t>
            </a:r>
          </a:p>
          <a:p>
            <a:pPr marL="0" indent="0">
              <a:buNone/>
            </a:pPr>
            <a:r>
              <a:rPr lang="en-IN" sz="2200" dirty="0" err="1">
                <a:latin typeface="Times New Roman" panose="02020603050405020304" pitchFamily="18" charset="0"/>
                <a:cs typeface="Times New Roman" panose="02020603050405020304" pitchFamily="18" charset="0"/>
              </a:rPr>
              <a:t>const</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mysql</a:t>
            </a:r>
            <a:r>
              <a:rPr lang="en-IN" sz="2200" dirty="0">
                <a:latin typeface="Times New Roman" panose="02020603050405020304" pitchFamily="18" charset="0"/>
                <a:cs typeface="Times New Roman" panose="02020603050405020304" pitchFamily="18" charset="0"/>
              </a:rPr>
              <a:t> = require('</a:t>
            </a:r>
            <a:r>
              <a:rPr lang="en-IN" sz="2200" dirty="0" err="1">
                <a:latin typeface="Times New Roman" panose="02020603050405020304" pitchFamily="18" charset="0"/>
                <a:cs typeface="Times New Roman" panose="02020603050405020304" pitchFamily="18" charset="0"/>
              </a:rPr>
              <a:t>mysql</a:t>
            </a:r>
            <a:r>
              <a:rPr lang="en-IN" sz="2200" dirty="0">
                <a:latin typeface="Times New Roman" panose="02020603050405020304" pitchFamily="18" charset="0"/>
                <a:cs typeface="Times New Roman" panose="02020603050405020304" pitchFamily="18" charset="0"/>
              </a:rPr>
              <a:t>');</a:t>
            </a:r>
          </a:p>
          <a:p>
            <a:pPr marL="0" indent="0">
              <a:buNone/>
            </a:pPr>
            <a:r>
              <a:rPr lang="en-IN" sz="2200" dirty="0" err="1">
                <a:latin typeface="Times New Roman" panose="02020603050405020304" pitchFamily="18" charset="0"/>
                <a:cs typeface="Times New Roman" panose="02020603050405020304" pitchFamily="18" charset="0"/>
              </a:rPr>
              <a:t>const</a:t>
            </a:r>
            <a:r>
              <a:rPr lang="en-IN" sz="2200" dirty="0">
                <a:latin typeface="Times New Roman" panose="02020603050405020304" pitchFamily="18" charset="0"/>
                <a:cs typeface="Times New Roman" panose="02020603050405020304" pitchFamily="18" charset="0"/>
              </a:rPr>
              <a:t> connection = </a:t>
            </a:r>
            <a:r>
              <a:rPr lang="en-IN" sz="2200" dirty="0" err="1">
                <a:latin typeface="Times New Roman" panose="02020603050405020304" pitchFamily="18" charset="0"/>
                <a:cs typeface="Times New Roman" panose="02020603050405020304" pitchFamily="18" charset="0"/>
              </a:rPr>
              <a:t>mysql.createConnection</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  host: 'localhost',</a:t>
            </a:r>
          </a:p>
          <a:p>
            <a:pPr marL="0" indent="0">
              <a:buNone/>
            </a:pPr>
            <a:r>
              <a:rPr lang="en-IN" sz="2200" dirty="0">
                <a:latin typeface="Times New Roman" panose="02020603050405020304" pitchFamily="18" charset="0"/>
                <a:cs typeface="Times New Roman" panose="02020603050405020304" pitchFamily="18" charset="0"/>
              </a:rPr>
              <a:t>  user: '</a:t>
            </a:r>
            <a:r>
              <a:rPr lang="en-IN" sz="2200" dirty="0" err="1">
                <a:latin typeface="Times New Roman" panose="02020603050405020304" pitchFamily="18" charset="0"/>
                <a:cs typeface="Times New Roman" panose="02020603050405020304" pitchFamily="18" charset="0"/>
              </a:rPr>
              <a:t>your_username</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  password: '</a:t>
            </a:r>
            <a:r>
              <a:rPr lang="en-IN" sz="2200" dirty="0" err="1">
                <a:latin typeface="Times New Roman" panose="02020603050405020304" pitchFamily="18" charset="0"/>
                <a:cs typeface="Times New Roman" panose="02020603050405020304" pitchFamily="18" charset="0"/>
              </a:rPr>
              <a:t>your_password</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  database: '</a:t>
            </a:r>
            <a:r>
              <a:rPr lang="en-IN" sz="2200" dirty="0" err="1">
                <a:latin typeface="Times New Roman" panose="02020603050405020304" pitchFamily="18" charset="0"/>
                <a:cs typeface="Times New Roman" panose="02020603050405020304" pitchFamily="18" charset="0"/>
              </a:rPr>
              <a:t>your_database</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a:t>
            </a:r>
          </a:p>
          <a:p>
            <a:pPr marL="0" indent="0">
              <a:buNone/>
            </a:pPr>
            <a:r>
              <a:rPr lang="en-IN" sz="2200" dirty="0" err="1">
                <a:latin typeface="Times New Roman" panose="02020603050405020304" pitchFamily="18" charset="0"/>
                <a:cs typeface="Times New Roman" panose="02020603050405020304" pitchFamily="18" charset="0"/>
              </a:rPr>
              <a:t>connection.connect</a:t>
            </a:r>
            <a:r>
              <a:rPr lang="en-IN" sz="2200" dirty="0">
                <a:latin typeface="Times New Roman" panose="02020603050405020304" pitchFamily="18" charset="0"/>
                <a:cs typeface="Times New Roman" panose="02020603050405020304" pitchFamily="18" charset="0"/>
              </a:rPr>
              <a:t>(function(err) {</a:t>
            </a:r>
          </a:p>
          <a:p>
            <a:pPr marL="0" indent="0">
              <a:buNone/>
            </a:pPr>
            <a:r>
              <a:rPr lang="en-IN" sz="2200" dirty="0">
                <a:latin typeface="Times New Roman" panose="02020603050405020304" pitchFamily="18" charset="0"/>
                <a:cs typeface="Times New Roman" panose="02020603050405020304" pitchFamily="18" charset="0"/>
              </a:rPr>
              <a:t>  if (err) throw err;</a:t>
            </a:r>
          </a:p>
          <a:p>
            <a:pPr marL="0" indent="0">
              <a:buNone/>
            </a:pPr>
            <a:r>
              <a:rPr lang="en-IN" sz="2200" dirty="0">
                <a:latin typeface="Times New Roman" panose="02020603050405020304" pitchFamily="18" charset="0"/>
                <a:cs typeface="Times New Roman" panose="02020603050405020304" pitchFamily="18" charset="0"/>
              </a:rPr>
              <a:t>  console.log("Connected to the database!");</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 xmlns:p14="http://schemas.microsoft.com/office/powerpoint/2010/main" val="13985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4" end="14"/>
                                            </p:txEl>
                                          </p:spTgt>
                                        </p:tgtEl>
                                        <p:attrNameLst>
                                          <p:attrName>style.visibility</p:attrName>
                                        </p:attrNameLst>
                                      </p:cBhvr>
                                      <p:to>
                                        <p:strVal val="visible"/>
                                      </p:to>
                                    </p:set>
                                    <p:animEffect transition="in" filter="wipe(left)">
                                      <p:cBhvr>
                                        <p:cTn id="22" dur="500"/>
                                        <p:tgtEl>
                                          <p:spTgt spid="3">
                                            <p:txEl>
                                              <p:pRg st="14" end="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left)">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wipe(left)">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wipe(left)">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wipe(left)">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
                                            <p:txEl>
                                              <p:pRg st="0" end="0"/>
                                            </p:txEl>
                                          </p:spTgt>
                                        </p:tgtEl>
                                        <p:attrNameLst>
                                          <p:attrName>style.visibility</p:attrName>
                                        </p:attrNameLst>
                                      </p:cBhvr>
                                      <p:to>
                                        <p:strVal val="visible"/>
                                      </p:to>
                                    </p:set>
                                    <p:animEffect transition="in" filter="wipe(left)">
                                      <p:cBhvr>
                                        <p:cTn id="7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normAutofit/>
          </a:bodyPr>
          <a:lstStyle/>
          <a:p>
            <a:r>
              <a:rPr lang="en-IN" dirty="0">
                <a:latin typeface="Times New Roman" panose="02020603050405020304" pitchFamily="18" charset="0"/>
                <a:cs typeface="Times New Roman" panose="02020603050405020304" pitchFamily="18" charset="0"/>
              </a:rPr>
              <a:t>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Autofit/>
          </a:bodyPr>
          <a:lstStyle/>
          <a:p>
            <a:pPr marL="0" indent="0">
              <a:buNone/>
            </a:pPr>
            <a:r>
              <a:rPr lang="en-IN" b="1" dirty="0"/>
              <a:t>Working with MySQL:</a:t>
            </a:r>
            <a:endParaRPr lang="en-IN" dirty="0"/>
          </a:p>
          <a:p>
            <a:r>
              <a:rPr lang="en-IN" dirty="0"/>
              <a:t>Once connected, you can perform CRUD (Create, Read, Update, Delete) operations on your database. You can write queries to:</a:t>
            </a:r>
          </a:p>
          <a:p>
            <a:r>
              <a:rPr lang="en-IN" dirty="0"/>
              <a:t>Create tables and insert data</a:t>
            </a:r>
          </a:p>
          <a:p>
            <a:r>
              <a:rPr lang="en-IN" dirty="0"/>
              <a:t>Fetch data from tables</a:t>
            </a:r>
          </a:p>
          <a:p>
            <a:r>
              <a:rPr lang="en-IN" dirty="0"/>
              <a:t>Update existing data</a:t>
            </a:r>
          </a:p>
          <a:p>
            <a:r>
              <a:rPr lang="en-IN" dirty="0"/>
              <a:t>Delete data</a:t>
            </a:r>
          </a:p>
          <a:p>
            <a:endParaRPr lang="en-IN" dirty="0"/>
          </a:p>
          <a:p>
            <a:pPr marL="0" indent="0">
              <a:buNone/>
            </a:pPr>
            <a:r>
              <a:rPr lang="en-IN" dirty="0"/>
              <a:t>The </a:t>
            </a:r>
            <a:r>
              <a:rPr lang="en-IN" dirty="0" err="1"/>
              <a:t>mysql</a:t>
            </a:r>
            <a:r>
              <a:rPr lang="en-IN" dirty="0"/>
              <a:t> driver provides functions like </a:t>
            </a:r>
            <a:r>
              <a:rPr lang="en-IN" dirty="0" err="1"/>
              <a:t>connection.query</a:t>
            </a:r>
            <a:r>
              <a:rPr lang="en-IN" dirty="0"/>
              <a:t>() to execute SQL statements and handle results.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50949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45844-666C-75C1-59F9-F0C8245B74AB}"/>
              </a:ext>
            </a:extLst>
          </p:cNvPr>
          <p:cNvSpPr>
            <a:spLocks noGrp="1"/>
          </p:cNvSpPr>
          <p:nvPr>
            <p:ph type="title"/>
          </p:nvPr>
        </p:nvSpPr>
        <p:spPr>
          <a:xfrm>
            <a:off x="753979" y="18255"/>
            <a:ext cx="10515600" cy="944271"/>
          </a:xfrm>
        </p:spPr>
        <p:txBody>
          <a:bodyPr>
            <a:normAutofit/>
          </a:bodyPr>
          <a:lstStyle/>
          <a:p>
            <a:r>
              <a:rPr lang="en-IN" dirty="0">
                <a:latin typeface="Times New Roman" panose="02020603050405020304" pitchFamily="18" charset="0"/>
                <a:cs typeface="Times New Roman" panose="02020603050405020304" pitchFamily="18" charset="0"/>
              </a:rPr>
              <a:t>Node.js with MySQL</a:t>
            </a:r>
            <a:endParaRPr lang="en-IN" dirty="0"/>
          </a:p>
        </p:txBody>
      </p:sp>
      <p:sp>
        <p:nvSpPr>
          <p:cNvPr id="3" name="Content Placeholder 2">
            <a:extLst>
              <a:ext uri="{FF2B5EF4-FFF2-40B4-BE49-F238E27FC236}">
                <a16:creationId xmlns="" xmlns:a16="http://schemas.microsoft.com/office/drawing/2014/main" id="{9F6E6653-1B96-E848-A93C-47BD70EBBF23}"/>
              </a:ext>
            </a:extLst>
          </p:cNvPr>
          <p:cNvSpPr>
            <a:spLocks noGrp="1"/>
          </p:cNvSpPr>
          <p:nvPr>
            <p:ph idx="1"/>
          </p:nvPr>
        </p:nvSpPr>
        <p:spPr>
          <a:xfrm>
            <a:off x="838200" y="962525"/>
            <a:ext cx="10515600" cy="521443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Perform SQL queries: </a:t>
            </a:r>
            <a:r>
              <a:rPr lang="en-IN" sz="2200" dirty="0">
                <a:latin typeface="Times New Roman" panose="02020603050405020304" pitchFamily="18" charset="0"/>
                <a:cs typeface="Times New Roman" panose="02020603050405020304" pitchFamily="18" charset="0"/>
              </a:rPr>
              <a:t>Use the connection object to execute SQL queries using methods like `</a:t>
            </a:r>
            <a:r>
              <a:rPr lang="en-IN" sz="2200" dirty="0" err="1">
                <a:latin typeface="Times New Roman" panose="02020603050405020304" pitchFamily="18" charset="0"/>
                <a:cs typeface="Times New Roman" panose="02020603050405020304" pitchFamily="18" charset="0"/>
              </a:rPr>
              <a:t>connection.query</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 Example: Executing SQL Query</a:t>
            </a:r>
          </a:p>
          <a:p>
            <a:pPr marL="0" indent="0">
              <a:buNone/>
            </a:pPr>
            <a:r>
              <a:rPr lang="en-IN" sz="2200" dirty="0" err="1">
                <a:latin typeface="Times New Roman" panose="02020603050405020304" pitchFamily="18" charset="0"/>
                <a:cs typeface="Times New Roman" panose="02020603050405020304" pitchFamily="18" charset="0"/>
              </a:rPr>
              <a:t>connection.query</a:t>
            </a:r>
            <a:r>
              <a:rPr lang="en-IN" sz="2200" dirty="0">
                <a:latin typeface="Times New Roman" panose="02020603050405020304" pitchFamily="18" charset="0"/>
                <a:cs typeface="Times New Roman" panose="02020603050405020304" pitchFamily="18" charset="0"/>
              </a:rPr>
              <a:t>('SELECT * FROM users', (err, rows) =&gt; {</a:t>
            </a:r>
          </a:p>
          <a:p>
            <a:pPr marL="0" indent="0">
              <a:buNone/>
            </a:pPr>
            <a:r>
              <a:rPr lang="en-IN" sz="2200" dirty="0">
                <a:latin typeface="Times New Roman" panose="02020603050405020304" pitchFamily="18" charset="0"/>
                <a:cs typeface="Times New Roman" panose="02020603050405020304" pitchFamily="18" charset="0"/>
              </a:rPr>
              <a:t>       if (err) throw err;</a:t>
            </a:r>
          </a:p>
          <a:p>
            <a:pPr marL="0" indent="0">
              <a:buNone/>
            </a:pPr>
            <a:r>
              <a:rPr lang="en-IN" sz="2200" dirty="0">
                <a:latin typeface="Times New Roman" panose="02020603050405020304" pitchFamily="18" charset="0"/>
                <a:cs typeface="Times New Roman" panose="02020603050405020304" pitchFamily="18" charset="0"/>
              </a:rPr>
              <a:t>       console.log('Data received from MySQL:');</a:t>
            </a:r>
          </a:p>
          <a:p>
            <a:pPr marL="0" indent="0">
              <a:buNone/>
            </a:pPr>
            <a:r>
              <a:rPr lang="en-IN" sz="2200" dirty="0">
                <a:latin typeface="Times New Roman" panose="02020603050405020304" pitchFamily="18" charset="0"/>
                <a:cs typeface="Times New Roman" panose="02020603050405020304" pitchFamily="18" charset="0"/>
              </a:rPr>
              <a:t>       console.log(rows);</a:t>
            </a:r>
          </a:p>
          <a:p>
            <a:pPr marL="0" indent="0">
              <a:buNone/>
            </a:pPr>
            <a:r>
              <a:rPr lang="en-IN" sz="2200" dirty="0">
                <a:latin typeface="Times New Roman" panose="02020603050405020304" pitchFamily="18" charset="0"/>
                <a:cs typeface="Times New Roman" panose="02020603050405020304" pitchFamily="18" charset="0"/>
              </a:rPr>
              <a:t>   });</a:t>
            </a:r>
          </a:p>
          <a:p>
            <a:pPr marL="0" indent="0">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75091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2692</TotalTime>
  <Words>2884</Words>
  <Application>Microsoft Office PowerPoint</Application>
  <PresentationFormat>Custom</PresentationFormat>
  <Paragraphs>288</Paragraphs>
  <Slides>56</Slides>
  <Notes>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NodeJS</vt:lpstr>
      <vt:lpstr>Importance</vt:lpstr>
      <vt:lpstr>Synchronous Code</vt:lpstr>
      <vt:lpstr>Slide 4</vt:lpstr>
      <vt:lpstr>Slide 5</vt:lpstr>
      <vt:lpstr>Slide 6</vt:lpstr>
      <vt:lpstr>ASynchronous Code</vt:lpstr>
      <vt:lpstr>Slide 8</vt:lpstr>
      <vt:lpstr>Slide 9</vt:lpstr>
      <vt:lpstr>Slide 10</vt:lpstr>
      <vt:lpstr>Slide 11</vt:lpstr>
      <vt:lpstr>Why Asynchronous?</vt:lpstr>
      <vt:lpstr>Why Asynchronous?</vt:lpstr>
      <vt:lpstr>What is a Process?</vt:lpstr>
      <vt:lpstr>Single Threaded Problem</vt:lpstr>
      <vt:lpstr>Architecture of Node</vt:lpstr>
      <vt:lpstr>Slide 17</vt:lpstr>
      <vt:lpstr>CPU Intensive Task are handled by Worker Thread</vt:lpstr>
      <vt:lpstr>Importance</vt:lpstr>
      <vt:lpstr>Features of Node.js</vt:lpstr>
      <vt:lpstr>What Can Node.js Do?</vt:lpstr>
      <vt:lpstr>Comparing File Handling in PHP/ASP and Node.js</vt:lpstr>
      <vt:lpstr>First Program in Node js to create server</vt:lpstr>
      <vt:lpstr>Slide 24</vt:lpstr>
      <vt:lpstr>Slide 25</vt:lpstr>
      <vt:lpstr>Slide 26</vt:lpstr>
      <vt:lpstr>Slide 27</vt:lpstr>
      <vt:lpstr>Different parts of Node.js</vt:lpstr>
      <vt:lpstr>How to install NodeJS</vt:lpstr>
      <vt:lpstr>Creating a Consolebased Node Application</vt:lpstr>
      <vt:lpstr>Creating a Consolebased Node Application</vt:lpstr>
      <vt:lpstr>Creating a Web-based Node Application</vt:lpstr>
      <vt:lpstr>Creating a Web-based Node Application</vt:lpstr>
      <vt:lpstr>Creating a Web-based Node Application</vt:lpstr>
      <vt:lpstr>Modules in Node.js</vt:lpstr>
      <vt:lpstr>Modules in Node.js</vt:lpstr>
      <vt:lpstr>Node.js HTTP Module</vt:lpstr>
      <vt:lpstr>Node.js HTTP Module</vt:lpstr>
      <vt:lpstr>Node.js HTTP Module</vt:lpstr>
      <vt:lpstr>Node.js File System Module</vt:lpstr>
      <vt:lpstr>Node.js File System Module</vt:lpstr>
      <vt:lpstr>Read File</vt:lpstr>
      <vt:lpstr>Create File</vt:lpstr>
      <vt:lpstr>Slide 44</vt:lpstr>
      <vt:lpstr>Slide 45</vt:lpstr>
      <vt:lpstr>Slide 46</vt:lpstr>
      <vt:lpstr>Self Study</vt:lpstr>
      <vt:lpstr>Node.js with MySQL</vt:lpstr>
      <vt:lpstr>Advantages of Using Node.js with MySQL</vt:lpstr>
      <vt:lpstr>Advantages of Using Node.js with MySQL</vt:lpstr>
      <vt:lpstr>Advantages of Using Node.js with MySQL</vt:lpstr>
      <vt:lpstr>Node.js with MySQL</vt:lpstr>
      <vt:lpstr>Node.js with MySQL</vt:lpstr>
      <vt:lpstr>Slide 54</vt:lpstr>
      <vt:lpstr>Node.js with MySQL</vt:lpstr>
      <vt:lpstr>Node.js with MySQL</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TECHNOLOGY (AI2014)</dc:title>
  <dc:creator>Viomesh Singh</dc:creator>
  <cp:lastModifiedBy>sony</cp:lastModifiedBy>
  <cp:revision>29</cp:revision>
  <dcterms:created xsi:type="dcterms:W3CDTF">2024-01-02T04:51:01Z</dcterms:created>
  <dcterms:modified xsi:type="dcterms:W3CDTF">2025-04-07T06:28:19Z</dcterms:modified>
</cp:coreProperties>
</file>