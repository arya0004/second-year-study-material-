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7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314" r:id="rId42"/>
    <p:sldId id="297" r:id="rId43"/>
    <p:sldId id="302" r:id="rId44"/>
    <p:sldId id="298" r:id="rId45"/>
    <p:sldId id="299" r:id="rId46"/>
    <p:sldId id="303" r:id="rId47"/>
    <p:sldId id="300" r:id="rId48"/>
    <p:sldId id="301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6" r:id="rId68"/>
    <p:sldId id="325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5" r:id="rId87"/>
    <p:sldId id="353" r:id="rId88"/>
    <p:sldId id="352" r:id="rId89"/>
    <p:sldId id="344" r:id="rId90"/>
    <p:sldId id="346" r:id="rId91"/>
    <p:sldId id="347" r:id="rId92"/>
    <p:sldId id="348" r:id="rId93"/>
    <p:sldId id="349" r:id="rId94"/>
    <p:sldId id="350" r:id="rId95"/>
    <p:sldId id="351" r:id="rId9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47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38CF-3365-46A2-882B-F264B2578616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F009-A8C4-469E-9A80-CDB6CB2907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38CF-3365-46A2-882B-F264B2578616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F009-A8C4-469E-9A80-CDB6CB2907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38CF-3365-46A2-882B-F264B2578616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F009-A8C4-469E-9A80-CDB6CB2907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38CF-3365-46A2-882B-F264B2578616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F009-A8C4-469E-9A80-CDB6CB2907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38CF-3365-46A2-882B-F264B2578616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F009-A8C4-469E-9A80-CDB6CB2907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38CF-3365-46A2-882B-F264B2578616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F009-A8C4-469E-9A80-CDB6CB2907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38CF-3365-46A2-882B-F264B2578616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F009-A8C4-469E-9A80-CDB6CB2907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38CF-3365-46A2-882B-F264B2578616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F009-A8C4-469E-9A80-CDB6CB2907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38CF-3365-46A2-882B-F264B2578616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F009-A8C4-469E-9A80-CDB6CB2907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38CF-3365-46A2-882B-F264B2578616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F009-A8C4-469E-9A80-CDB6CB2907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B38CF-3365-46A2-882B-F264B2578616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9F009-A8C4-469E-9A80-CDB6CB2907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B38CF-3365-46A2-882B-F264B2578616}" type="datetimeFigureOut">
              <a:rPr lang="en-US" smtClean="0"/>
              <a:pPr/>
              <a:t>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9F009-A8C4-469E-9A80-CDB6CB2907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Server-side scripting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Web servers are used to execute server-side scripting. </a:t>
            </a:r>
            <a:endParaRPr lang="en-US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en-US" dirty="0" smtClean="0"/>
              <a:t>They </a:t>
            </a:r>
            <a:r>
              <a:rPr lang="en-US" dirty="0"/>
              <a:t>are basically used to create dynamic pages. </a:t>
            </a:r>
            <a:endParaRPr lang="en-US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en-US" dirty="0" smtClean="0"/>
              <a:t>It </a:t>
            </a:r>
            <a:r>
              <a:rPr lang="en-US" dirty="0"/>
              <a:t>can also access the file system residing at the </a:t>
            </a:r>
            <a:r>
              <a:rPr lang="en-US" dirty="0" err="1"/>
              <a:t>webserver</a:t>
            </a:r>
            <a:r>
              <a:rPr lang="en-US" dirty="0"/>
              <a:t>. 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Scripts can be written in any of a number of server-side scripting languages available. </a:t>
            </a:r>
            <a:endParaRPr lang="en-US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en-US" dirty="0" smtClean="0"/>
              <a:t>It </a:t>
            </a:r>
            <a:r>
              <a:rPr lang="en-US" dirty="0"/>
              <a:t>is used to retrieve and generate content for dynamic pages. </a:t>
            </a:r>
            <a:endParaRPr lang="en-US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en-US" dirty="0" smtClean="0"/>
              <a:t>When </a:t>
            </a:r>
            <a:r>
              <a:rPr lang="en-US" dirty="0"/>
              <a:t>you need to store and retrieve information a database will be used to contain data. It can use huge resources of the server. </a:t>
            </a:r>
            <a:endParaRPr lang="en-US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en-US" dirty="0" smtClean="0"/>
              <a:t>It </a:t>
            </a:r>
            <a:r>
              <a:rPr lang="en-US" dirty="0"/>
              <a:t>reduces client-side computation overhead. </a:t>
            </a:r>
            <a:endParaRPr lang="en-US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en-US" dirty="0" smtClean="0"/>
              <a:t>The </a:t>
            </a:r>
            <a:r>
              <a:rPr lang="en-US" dirty="0"/>
              <a:t>server sends pages to the request of the user/client. 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Server-side Programming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	It </a:t>
            </a:r>
            <a:r>
              <a:rPr lang="en-US" dirty="0"/>
              <a:t>is the program that runs on server dealing with the generation of content of web page.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1) Querying the database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2) Operations over databases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3) Access/Write a file on server.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4) Interact with other servers.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5) Structure web applications.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6) Process user input.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Client and server side scripting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66443" y="1853126"/>
            <a:ext cx="6011114" cy="4020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PHP: </a:t>
            </a:r>
            <a:r>
              <a:rPr lang="en-US" dirty="0"/>
              <a:t>Hypertext </a:t>
            </a:r>
            <a:r>
              <a:rPr lang="en-US" dirty="0" smtClean="0"/>
              <a:t>Preprocessor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HyperText</a:t>
            </a:r>
            <a:r>
              <a:rPr lang="en-US" dirty="0">
                <a:solidFill>
                  <a:srgbClr val="FF0000"/>
                </a:solidFill>
              </a:rPr>
              <a:t> means text containing all sorts of web markups, and </a:t>
            </a:r>
            <a:r>
              <a:rPr lang="en-US" dirty="0" err="1">
                <a:solidFill>
                  <a:srgbClr val="FF0000"/>
                </a:solidFill>
              </a:rPr>
              <a:t>PreProcessor</a:t>
            </a:r>
            <a:r>
              <a:rPr lang="en-US" dirty="0">
                <a:solidFill>
                  <a:srgbClr val="FF0000"/>
                </a:solidFill>
              </a:rPr>
              <a:t> means all of the </a:t>
            </a:r>
            <a:r>
              <a:rPr lang="en-US" dirty="0" err="1">
                <a:solidFill>
                  <a:srgbClr val="FF0000"/>
                </a:solidFill>
              </a:rPr>
              <a:t>HyperText</a:t>
            </a:r>
            <a:r>
              <a:rPr lang="en-US" dirty="0">
                <a:solidFill>
                  <a:srgbClr val="FF0000"/>
                </a:solidFill>
              </a:rPr>
              <a:t> is processed first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Then</a:t>
            </a:r>
            <a:r>
              <a:rPr lang="en-US" dirty="0"/>
              <a:t>, the result is sent as pure HTML to the web browser. A client cannot see the PHP source code because it is preprocessed and interpreted.</a:t>
            </a:r>
          </a:p>
          <a:p>
            <a:r>
              <a:rPr lang="en-US" dirty="0" smtClean="0"/>
              <a:t>PHP </a:t>
            </a:r>
            <a:r>
              <a:rPr lang="en-US" dirty="0"/>
              <a:t>(Hypertext Preprocessor) </a:t>
            </a:r>
            <a:r>
              <a:rPr lang="en-US" dirty="0">
                <a:solidFill>
                  <a:srgbClr val="FF0000"/>
                </a:solidFill>
              </a:rPr>
              <a:t>is an open-source HTML-embedded server-side scripting language used to develop dynamic and interactive web applications </a:t>
            </a:r>
            <a:r>
              <a:rPr lang="en-US" dirty="0"/>
              <a:t>and as a general-purpose programming language.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PHP: Hypertext Preprocessor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PHP has many syntaxes similar to C, Java, and Perl </a:t>
            </a:r>
            <a:r>
              <a:rPr lang="en-US" dirty="0"/>
              <a:t>and has many unique features and specific functions.</a:t>
            </a:r>
          </a:p>
          <a:p>
            <a:r>
              <a:rPr lang="en-US" dirty="0">
                <a:solidFill>
                  <a:srgbClr val="FF0000"/>
                </a:solidFill>
              </a:rPr>
              <a:t>PHP page is a file with a .</a:t>
            </a:r>
            <a:r>
              <a:rPr lang="en-US" dirty="0" err="1">
                <a:solidFill>
                  <a:srgbClr val="FF0000"/>
                </a:solidFill>
              </a:rPr>
              <a:t>php</a:t>
            </a:r>
            <a:r>
              <a:rPr lang="en-US" dirty="0">
                <a:solidFill>
                  <a:srgbClr val="FF0000"/>
                </a:solidFill>
              </a:rPr>
              <a:t> extension </a:t>
            </a:r>
            <a:r>
              <a:rPr lang="en-US" dirty="0"/>
              <a:t>can contain a combination of HTML Tags and PHP scripts</a:t>
            </a:r>
            <a:r>
              <a:rPr lang="en-US" dirty="0" smtClean="0"/>
              <a:t>.</a:t>
            </a:r>
          </a:p>
          <a:p>
            <a:r>
              <a:rPr lang="en-US" dirty="0"/>
              <a:t>PHP is Server-side scripting language: Server-side scripting means that the PHP code is processed on the web server rather than the client machine.</a:t>
            </a:r>
          </a:p>
          <a:p>
            <a:r>
              <a:rPr lang="en-US" dirty="0">
                <a:solidFill>
                  <a:srgbClr val="FF0000"/>
                </a:solidFill>
              </a:rPr>
              <a:t>PHP supports many </a:t>
            </a:r>
            <a:r>
              <a:rPr lang="en-US" dirty="0" smtClean="0">
                <a:solidFill>
                  <a:srgbClr val="FF0000"/>
                </a:solidFill>
              </a:rPr>
              <a:t>databases.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 of PHP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42547" y="1734046"/>
            <a:ext cx="6658905" cy="42582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 </a:t>
            </a:r>
            <a:r>
              <a:rPr lang="en-US" dirty="0"/>
              <a:t>of PHP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PHP performs system functions. It can create, open, read, write, and close the files.</a:t>
            </a:r>
          </a:p>
          <a:p>
            <a:r>
              <a:rPr lang="en-US" dirty="0"/>
              <a:t>PHP can handle forms. It can gather data from files, save data to a file, through email you can send data, return data to the user.</a:t>
            </a:r>
          </a:p>
          <a:p>
            <a:r>
              <a:rPr lang="en-US" dirty="0"/>
              <a:t>You add, delete, modify elements within your database through PHP.</a:t>
            </a:r>
          </a:p>
          <a:p>
            <a:r>
              <a:rPr lang="en-US" dirty="0"/>
              <a:t>Access cookies variables and set cookies.</a:t>
            </a:r>
          </a:p>
          <a:p>
            <a:r>
              <a:rPr lang="en-US" dirty="0"/>
              <a:t>Using PHP, you can restrict users to access some pages of your website.</a:t>
            </a:r>
          </a:p>
          <a:p>
            <a:r>
              <a:rPr lang="en-US" dirty="0"/>
              <a:t>It can encrypt data.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PHP </a:t>
            </a:r>
            <a:r>
              <a:rPr lang="en-US" b="1" dirty="0"/>
              <a:t>- Syntax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 ".</a:t>
            </a:r>
            <a:r>
              <a:rPr lang="en-US" sz="2800" dirty="0" err="1"/>
              <a:t>php</a:t>
            </a:r>
            <a:r>
              <a:rPr lang="en-US" sz="2800" dirty="0"/>
              <a:t>" file may contain HTML, CSS and JavaScript code blocks along with the PHP code. Hence, the PHP parser must differentiate between the PHP code from the other elements</a:t>
            </a:r>
            <a:r>
              <a:rPr lang="en-US" sz="2800" dirty="0" smtClean="0"/>
              <a:t>.</a:t>
            </a:r>
          </a:p>
          <a:p>
            <a:endParaRPr lang="en-US" sz="2400" dirty="0"/>
          </a:p>
          <a:p>
            <a:endParaRPr lang="en-US" sz="2400" dirty="0" smtClean="0"/>
          </a:p>
          <a:p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3643314"/>
            <a:ext cx="6973887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Code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57224" y="1357297"/>
            <a:ext cx="6357982" cy="50941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for comments in PHP code: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785926"/>
            <a:ext cx="8229600" cy="1613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Search on browser for </a:t>
            </a:r>
            <a:r>
              <a:rPr lang="en-US" dirty="0" err="1" smtClean="0"/>
              <a:t>php</a:t>
            </a:r>
            <a:r>
              <a:rPr lang="en-US" dirty="0" smtClean="0"/>
              <a:t> download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14348" y="1643050"/>
            <a:ext cx="7791531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 the link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66757" y="1428736"/>
            <a:ext cx="7691228" cy="4697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Select </a:t>
            </a:r>
            <a:r>
              <a:rPr lang="en-US" b="1" dirty="0"/>
              <a:t>VS17 x64 Thread </a:t>
            </a:r>
            <a:r>
              <a:rPr lang="en-US" b="1" dirty="0" smtClean="0"/>
              <a:t>Safe option to download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 Zip file according to version you want to download.</a:t>
            </a:r>
          </a:p>
          <a:p>
            <a:r>
              <a:rPr lang="en-US" dirty="0" smtClean="0"/>
              <a:t>Extract the file and rename it with short name.</a:t>
            </a:r>
          </a:p>
          <a:p>
            <a:r>
              <a:rPr lang="en-US" dirty="0" smtClean="0"/>
              <a:t>Cut and Paste the extracted file to your defined location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Set environment variable 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84593" y="1600200"/>
            <a:ext cx="4774814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 err="1" smtClean="0"/>
              <a:t>vs</a:t>
            </a:r>
            <a:r>
              <a:rPr lang="en-US" dirty="0" smtClean="0"/>
              <a:t> code extensions search for 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7922" y="1600200"/>
            <a:ext cx="7308156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76337"/>
            <a:ext cx="8229600" cy="437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 </a:t>
            </a:r>
            <a:r>
              <a:rPr lang="en-US" dirty="0" err="1" smtClean="0"/>
              <a:t>PhP</a:t>
            </a:r>
            <a:r>
              <a:rPr lang="en-US" dirty="0" smtClean="0"/>
              <a:t> language Feature from left hand side and disable it.</a:t>
            </a:r>
          </a:p>
          <a:p>
            <a:r>
              <a:rPr lang="en-US" dirty="0" smtClean="0"/>
              <a:t>Again in extensions </a:t>
            </a:r>
            <a:r>
              <a:rPr lang="en-US" dirty="0" err="1" smtClean="0"/>
              <a:t>serach</a:t>
            </a:r>
            <a:r>
              <a:rPr lang="en-US" dirty="0" smtClean="0"/>
              <a:t> for PHP </a:t>
            </a:r>
            <a:r>
              <a:rPr lang="en-US" dirty="0" err="1" smtClean="0"/>
              <a:t>Intelephense</a:t>
            </a:r>
            <a:r>
              <a:rPr lang="en-US" dirty="0" smtClean="0"/>
              <a:t> and install it.</a:t>
            </a:r>
          </a:p>
          <a:p>
            <a:r>
              <a:rPr lang="en-US" dirty="0" smtClean="0"/>
              <a:t>Install Code runner through extensions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Write a program and save it as progname.php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3580" y="1600200"/>
            <a:ext cx="7996839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Press Run button and check the output in terminal.</a:t>
            </a:r>
          </a:p>
          <a:p>
            <a:r>
              <a:rPr lang="en-US" dirty="0" smtClean="0"/>
              <a:t>Output of PHP code is seen.</a:t>
            </a: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3500438"/>
            <a:ext cx="8215370" cy="2190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File select option open folder and browse for C:\xampp\htdocs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10857" y="1600200"/>
            <a:ext cx="632228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Open browser and in </a:t>
            </a:r>
            <a:r>
              <a:rPr lang="en-US" dirty="0" err="1" smtClean="0"/>
              <a:t>url</a:t>
            </a:r>
            <a:r>
              <a:rPr lang="en-US" dirty="0" smtClean="0"/>
              <a:t> section provide </a:t>
            </a:r>
            <a:r>
              <a:rPr lang="en-US" dirty="0" err="1" smtClean="0"/>
              <a:t>localhost</a:t>
            </a:r>
            <a:r>
              <a:rPr lang="en-US" dirty="0" smtClean="0"/>
              <a:t>/filename.php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58246" y="1600200"/>
            <a:ext cx="8027508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Creating </a:t>
            </a:r>
            <a:r>
              <a:rPr lang="en-US" dirty="0"/>
              <a:t>(Declaring) PHP Variables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PHP, a variable starts with the </a:t>
            </a:r>
            <a:r>
              <a:rPr lang="en-US" dirty="0" smtClean="0"/>
              <a:t>$</a:t>
            </a:r>
            <a:r>
              <a:rPr lang="en-US" dirty="0"/>
              <a:t> sign, </a:t>
            </a:r>
            <a:r>
              <a:rPr lang="en-US" dirty="0" smtClean="0"/>
              <a:t>followed </a:t>
            </a:r>
            <a:r>
              <a:rPr lang="en-US" dirty="0"/>
              <a:t>by the name of the </a:t>
            </a:r>
            <a:r>
              <a:rPr lang="en-US" dirty="0" smtClean="0"/>
              <a:t>variable.</a:t>
            </a:r>
          </a:p>
          <a:p>
            <a:r>
              <a:rPr lang="en-US" dirty="0" smtClean="0"/>
              <a:t>Example</a:t>
            </a:r>
            <a:endParaRPr lang="en-US" dirty="0"/>
          </a:p>
          <a:p>
            <a:pPr>
              <a:buNone/>
            </a:pPr>
            <a:r>
              <a:rPr lang="en-US" dirty="0" smtClean="0"/>
              <a:t>	$</a:t>
            </a:r>
            <a:r>
              <a:rPr lang="en-US" dirty="0"/>
              <a:t>x</a:t>
            </a:r>
            <a:r>
              <a:rPr lang="en-US" dirty="0" smtClean="0"/>
              <a:t> </a:t>
            </a:r>
            <a:r>
              <a:rPr lang="en-US" dirty="0"/>
              <a:t>=</a:t>
            </a:r>
            <a:r>
              <a:rPr lang="en-US" dirty="0" smtClean="0"/>
              <a:t> </a:t>
            </a:r>
            <a:r>
              <a:rPr lang="en-US" dirty="0"/>
              <a:t>5;</a:t>
            </a:r>
            <a:r>
              <a:rPr lang="en-US" dirty="0" smtClean="0"/>
              <a:t> 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$</a:t>
            </a:r>
            <a:r>
              <a:rPr lang="en-US" dirty="0"/>
              <a:t>y</a:t>
            </a:r>
            <a:r>
              <a:rPr lang="en-US" dirty="0" smtClean="0"/>
              <a:t> </a:t>
            </a:r>
            <a:r>
              <a:rPr lang="en-US" dirty="0"/>
              <a:t>=</a:t>
            </a:r>
            <a:r>
              <a:rPr lang="en-US" dirty="0" smtClean="0"/>
              <a:t> </a:t>
            </a:r>
            <a:r>
              <a:rPr lang="en-US" dirty="0"/>
              <a:t>"John";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PHP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/>
              <a:t>	</a:t>
            </a:r>
            <a:r>
              <a:rPr lang="en-US" dirty="0" smtClean="0">
                <a:solidFill>
                  <a:srgbClr val="0070C0"/>
                </a:solidFill>
              </a:rPr>
              <a:t>Rules </a:t>
            </a:r>
            <a:r>
              <a:rPr lang="en-US" dirty="0">
                <a:solidFill>
                  <a:srgbClr val="0070C0"/>
                </a:solidFill>
              </a:rPr>
              <a:t>for PHP variables:</a:t>
            </a:r>
          </a:p>
          <a:p>
            <a:r>
              <a:rPr lang="en-US" dirty="0"/>
              <a:t>A variable </a:t>
            </a:r>
            <a:r>
              <a:rPr lang="en-US" dirty="0">
                <a:solidFill>
                  <a:srgbClr val="FF0000"/>
                </a:solidFill>
              </a:rPr>
              <a:t>starts with the $ sign</a:t>
            </a:r>
            <a:r>
              <a:rPr lang="en-US" dirty="0"/>
              <a:t>, followed by the name of the variable</a:t>
            </a:r>
          </a:p>
          <a:p>
            <a:r>
              <a:rPr lang="en-US" dirty="0"/>
              <a:t>A variable </a:t>
            </a:r>
            <a:r>
              <a:rPr lang="en-US" dirty="0">
                <a:solidFill>
                  <a:srgbClr val="FF0000"/>
                </a:solidFill>
              </a:rPr>
              <a:t>name must start with a letter or the underscore character</a:t>
            </a:r>
          </a:p>
          <a:p>
            <a:r>
              <a:rPr lang="en-US" dirty="0"/>
              <a:t>A variable name </a:t>
            </a:r>
            <a:r>
              <a:rPr lang="en-US" dirty="0">
                <a:solidFill>
                  <a:srgbClr val="FF0000"/>
                </a:solidFill>
              </a:rPr>
              <a:t>cannot start with a number</a:t>
            </a:r>
          </a:p>
          <a:p>
            <a:r>
              <a:rPr lang="en-US" dirty="0"/>
              <a:t>A variable </a:t>
            </a:r>
            <a:r>
              <a:rPr lang="en-US" dirty="0">
                <a:solidFill>
                  <a:srgbClr val="FF0000"/>
                </a:solidFill>
              </a:rPr>
              <a:t>name can only contain alpha-numeric characters and underscores </a:t>
            </a:r>
            <a:r>
              <a:rPr lang="en-US" dirty="0"/>
              <a:t>(A-z, 0-9, and _ )</a:t>
            </a:r>
          </a:p>
          <a:p>
            <a:r>
              <a:rPr lang="en-US" dirty="0"/>
              <a:t>Variable names are </a:t>
            </a:r>
            <a:r>
              <a:rPr lang="en-US" dirty="0">
                <a:solidFill>
                  <a:srgbClr val="FF0000"/>
                </a:solidFill>
              </a:rPr>
              <a:t>case-sensitive</a:t>
            </a:r>
            <a:r>
              <a:rPr lang="en-US" dirty="0"/>
              <a:t> ($age and $AGE are two different variables)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Output </a:t>
            </a:r>
            <a:r>
              <a:rPr lang="en-US" dirty="0"/>
              <a:t>Variables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PHP </a:t>
            </a:r>
            <a:r>
              <a:rPr lang="en-US" dirty="0" smtClean="0"/>
              <a:t>echo</a:t>
            </a:r>
            <a:r>
              <a:rPr lang="en-US" dirty="0"/>
              <a:t> statement is often used to output data to the screen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s-ES" dirty="0" smtClean="0"/>
              <a:t>	</a:t>
            </a:r>
            <a:r>
              <a:rPr lang="es-ES" dirty="0" err="1" smtClean="0"/>
              <a:t>Example</a:t>
            </a:r>
            <a:endParaRPr lang="es-ES" dirty="0"/>
          </a:p>
          <a:p>
            <a:pPr>
              <a:buNone/>
            </a:pPr>
            <a:r>
              <a:rPr lang="es-ES" dirty="0" smtClean="0"/>
              <a:t>	$</a:t>
            </a:r>
            <a:r>
              <a:rPr lang="es-ES" dirty="0"/>
              <a:t>x</a:t>
            </a:r>
            <a:r>
              <a:rPr lang="es-ES" dirty="0" smtClean="0"/>
              <a:t> </a:t>
            </a:r>
            <a:r>
              <a:rPr lang="es-ES" dirty="0"/>
              <a:t>=</a:t>
            </a:r>
            <a:r>
              <a:rPr lang="es-ES" dirty="0" smtClean="0"/>
              <a:t> </a:t>
            </a:r>
            <a:r>
              <a:rPr lang="es-ES" dirty="0"/>
              <a:t>5</a:t>
            </a:r>
            <a:r>
              <a:rPr lang="es-ES" dirty="0" smtClean="0"/>
              <a:t>;</a:t>
            </a:r>
          </a:p>
          <a:p>
            <a:pPr>
              <a:buNone/>
            </a:pPr>
            <a:r>
              <a:rPr lang="es-ES" dirty="0" smtClean="0"/>
              <a:t>	$</a:t>
            </a:r>
            <a:r>
              <a:rPr lang="es-ES" dirty="0"/>
              <a:t>y</a:t>
            </a:r>
            <a:r>
              <a:rPr lang="es-ES" dirty="0" smtClean="0"/>
              <a:t> </a:t>
            </a:r>
            <a:r>
              <a:rPr lang="es-ES" dirty="0"/>
              <a:t>=</a:t>
            </a:r>
            <a:r>
              <a:rPr lang="es-ES" dirty="0" smtClean="0"/>
              <a:t> </a:t>
            </a:r>
            <a:r>
              <a:rPr lang="es-ES" dirty="0"/>
              <a:t>4;</a:t>
            </a:r>
            <a:r>
              <a:rPr lang="es-ES" dirty="0" smtClean="0"/>
              <a:t> </a:t>
            </a:r>
          </a:p>
          <a:p>
            <a:pPr>
              <a:buNone/>
            </a:pPr>
            <a:r>
              <a:rPr lang="es-ES" dirty="0" smtClean="0"/>
              <a:t>	echo </a:t>
            </a:r>
            <a:r>
              <a:rPr lang="es-ES" dirty="0"/>
              <a:t>$x</a:t>
            </a:r>
            <a:r>
              <a:rPr lang="es-ES" dirty="0" smtClean="0"/>
              <a:t> </a:t>
            </a:r>
            <a:r>
              <a:rPr lang="es-ES" dirty="0"/>
              <a:t>+</a:t>
            </a:r>
            <a:r>
              <a:rPr lang="es-ES" dirty="0" smtClean="0"/>
              <a:t> </a:t>
            </a:r>
            <a:r>
              <a:rPr lang="es-ES" dirty="0"/>
              <a:t>$y;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PHP</a:t>
            </a:r>
            <a:r>
              <a:rPr lang="en-US" dirty="0"/>
              <a:t> Data Types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PHP supports the following data types: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String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Integer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Float (floating point numbers - also called double)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Boolean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Array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Object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NULL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Resource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Double quoted Strings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2786058"/>
            <a:ext cx="8229600" cy="18244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857224" y="1643050"/>
            <a:ext cx="72866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Double quoted strings perform action on special characters.</a:t>
            </a:r>
          </a:p>
          <a:p>
            <a:r>
              <a:rPr lang="en-US" dirty="0"/>
              <a:t>E.g. when there is a variable in the string, it returns the </a:t>
            </a:r>
            <a:r>
              <a:rPr lang="en-US" i="1" dirty="0"/>
              <a:t>value</a:t>
            </a:r>
            <a:r>
              <a:rPr lang="en-US" dirty="0"/>
              <a:t> of the variable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 quoted Strings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2714620"/>
            <a:ext cx="8229600" cy="1649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571472" y="1928802"/>
            <a:ext cx="74295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Single quoted string literals returns the string as it 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String Length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PHP </a:t>
            </a:r>
            <a:r>
              <a:rPr lang="en-US" dirty="0" err="1"/>
              <a:t>strlen</a:t>
            </a:r>
            <a:r>
              <a:rPr lang="en-US" dirty="0"/>
              <a:t>() function returns the length of a </a:t>
            </a:r>
            <a:r>
              <a:rPr lang="en-US" dirty="0" smtClean="0"/>
              <a:t>string.</a:t>
            </a:r>
            <a:endParaRPr lang="en-US" dirty="0"/>
          </a:p>
          <a:p>
            <a:pPr>
              <a:buNone/>
            </a:pPr>
            <a:r>
              <a:rPr lang="en-US" dirty="0" smtClean="0"/>
              <a:t>Example: echo </a:t>
            </a:r>
            <a:r>
              <a:rPr lang="en-US" dirty="0" err="1"/>
              <a:t>strlen</a:t>
            </a:r>
            <a:r>
              <a:rPr lang="en-US" dirty="0"/>
              <a:t>("Hello world!");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Word </a:t>
            </a:r>
            <a:r>
              <a:rPr lang="en-US" dirty="0"/>
              <a:t>Count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PHP </a:t>
            </a:r>
            <a:r>
              <a:rPr lang="en-US" dirty="0" err="1" smtClean="0"/>
              <a:t>str_word_count</a:t>
            </a:r>
            <a:r>
              <a:rPr lang="en-US" dirty="0" smtClean="0"/>
              <a:t>()</a:t>
            </a:r>
            <a:r>
              <a:rPr lang="en-US" dirty="0"/>
              <a:t> function counts the number of words in a string</a:t>
            </a:r>
            <a:r>
              <a:rPr lang="en-US" dirty="0" smtClean="0"/>
              <a:t>.</a:t>
            </a:r>
          </a:p>
          <a:p>
            <a:pPr>
              <a:buNone/>
            </a:pPr>
            <a:r>
              <a:rPr lang="en-US" dirty="0" smtClean="0"/>
              <a:t>Example: echo </a:t>
            </a:r>
            <a:r>
              <a:rPr lang="en-US" dirty="0" err="1"/>
              <a:t>str_word_count</a:t>
            </a:r>
            <a:r>
              <a:rPr lang="en-US" dirty="0"/>
              <a:t>("Hello world!");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Search </a:t>
            </a:r>
            <a:r>
              <a:rPr lang="en-US" dirty="0"/>
              <a:t>For Text Within a String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PHP </a:t>
            </a:r>
            <a:r>
              <a:rPr lang="en-US" dirty="0" err="1"/>
              <a:t>strpos</a:t>
            </a:r>
            <a:r>
              <a:rPr lang="en-US" dirty="0"/>
              <a:t>() function searches for a specific text within a string.</a:t>
            </a:r>
          </a:p>
          <a:p>
            <a:r>
              <a:rPr lang="en-US" dirty="0"/>
              <a:t>If a match is found, the function returns the character position of the first match. If no match is found, it will return FALSE.</a:t>
            </a:r>
          </a:p>
          <a:p>
            <a:pPr>
              <a:buNone/>
            </a:pPr>
            <a:r>
              <a:rPr lang="en-US" dirty="0" smtClean="0"/>
              <a:t>Example: </a:t>
            </a:r>
            <a:r>
              <a:rPr lang="en-US" dirty="0"/>
              <a:t>echo</a:t>
            </a:r>
            <a:r>
              <a:rPr lang="en-US" dirty="0" smtClean="0"/>
              <a:t> </a:t>
            </a:r>
            <a:r>
              <a:rPr lang="en-US" dirty="0" err="1"/>
              <a:t>strpos</a:t>
            </a:r>
            <a:r>
              <a:rPr lang="en-US"/>
              <a:t>("Hello world!",</a:t>
            </a:r>
            <a:r>
              <a:rPr lang="en-US" smtClean="0"/>
              <a:t> </a:t>
            </a:r>
            <a:r>
              <a:rPr lang="en-US"/>
              <a:t>"world");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to read user or console input in PHP 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47470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Method 1:</a:t>
            </a:r>
            <a:r>
              <a:rPr lang="en-US" dirty="0"/>
              <a:t> Using </a:t>
            </a:r>
            <a:r>
              <a:rPr lang="en-US" b="1" dirty="0" err="1"/>
              <a:t>readline</a:t>
            </a:r>
            <a:r>
              <a:rPr lang="en-US" b="1" dirty="0"/>
              <a:t>() function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/>
              <a:t>It is </a:t>
            </a:r>
            <a:r>
              <a:rPr lang="en-US" dirty="0"/>
              <a:t>a built-in function in PHP. </a:t>
            </a:r>
            <a:endParaRPr lang="en-US" dirty="0" smtClean="0"/>
          </a:p>
          <a:p>
            <a:pPr fontAlgn="base"/>
            <a:r>
              <a:rPr lang="en-US" dirty="0" smtClean="0"/>
              <a:t>This </a:t>
            </a:r>
            <a:r>
              <a:rPr lang="en-US" dirty="0"/>
              <a:t>function is used to read console input. </a:t>
            </a:r>
            <a:endParaRPr lang="en-US" dirty="0" smtClean="0"/>
          </a:p>
          <a:p>
            <a:pPr fontAlgn="base"/>
            <a:r>
              <a:rPr lang="en-US" b="1" dirty="0" smtClean="0"/>
              <a:t>Accept </a:t>
            </a:r>
            <a:r>
              <a:rPr lang="en-US" b="1" dirty="0"/>
              <a:t>a single input by prompting the </a:t>
            </a:r>
            <a:r>
              <a:rPr lang="en-US" b="1" dirty="0" smtClean="0"/>
              <a:t>user.</a:t>
            </a:r>
          </a:p>
          <a:p>
            <a:pPr fontAlgn="base"/>
            <a:r>
              <a:rPr lang="en-US" dirty="0"/>
              <a:t>By default, the data type of the variable accepted through </a:t>
            </a:r>
            <a:r>
              <a:rPr lang="en-US" dirty="0" err="1"/>
              <a:t>readline</a:t>
            </a:r>
            <a:r>
              <a:rPr lang="en-US" dirty="0"/>
              <a:t>() function is </a:t>
            </a:r>
            <a:r>
              <a:rPr lang="en-US" b="1" dirty="0"/>
              <a:t>string</a:t>
            </a:r>
            <a:r>
              <a:rPr lang="en-US" dirty="0"/>
              <a:t>. </a:t>
            </a:r>
            <a:endParaRPr lang="en-US" dirty="0" smtClean="0"/>
          </a:p>
          <a:p>
            <a:pPr fontAlgn="base"/>
            <a:r>
              <a:rPr lang="en-US" dirty="0" smtClean="0"/>
              <a:t>So </a:t>
            </a:r>
            <a:r>
              <a:rPr lang="en-US" dirty="0"/>
              <a:t>for any other data type, we have to </a:t>
            </a:r>
            <a:r>
              <a:rPr lang="en-US" b="1" dirty="0"/>
              <a:t>typecast</a:t>
            </a:r>
            <a:r>
              <a:rPr lang="en-US" dirty="0"/>
              <a:t> it </a:t>
            </a:r>
            <a:r>
              <a:rPr lang="en-US" dirty="0" smtClean="0"/>
              <a:t>explicitly.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270307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 </a:t>
            </a:r>
            <a:r>
              <a:rPr lang="en-US" b="1" dirty="0" err="1" smtClean="0"/>
              <a:t>readline</a:t>
            </a:r>
            <a:r>
              <a:rPr lang="en-US" b="1" dirty="0" smtClean="0"/>
              <a:t>() function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1" y="1883491"/>
            <a:ext cx="7886700" cy="365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38371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Using </a:t>
            </a:r>
            <a:r>
              <a:rPr lang="en-US" b="1" dirty="0" err="1" smtClean="0"/>
              <a:t>readline</a:t>
            </a:r>
            <a:r>
              <a:rPr lang="en-US" b="1" dirty="0" smtClean="0"/>
              <a:t>() function with typecasting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797344"/>
            <a:ext cx="6653556" cy="492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99396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Accept multiple space separated inputs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</a:t>
            </a:r>
            <a:r>
              <a:rPr lang="en-US" dirty="0" smtClean="0"/>
              <a:t>se </a:t>
            </a:r>
            <a:r>
              <a:rPr lang="en-US" dirty="0"/>
              <a:t>another function </a:t>
            </a:r>
            <a:r>
              <a:rPr lang="en-US" b="1" dirty="0"/>
              <a:t>explode()</a:t>
            </a:r>
            <a:r>
              <a:rPr lang="en-US" dirty="0"/>
              <a:t> together with </a:t>
            </a:r>
            <a:r>
              <a:rPr lang="en-US" b="1" dirty="0" err="1"/>
              <a:t>readline</a:t>
            </a:r>
            <a:r>
              <a:rPr lang="en-US" b="1" dirty="0"/>
              <a:t>()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first argument of </a:t>
            </a:r>
            <a:r>
              <a:rPr lang="en-US" b="1" dirty="0"/>
              <a:t>explode()</a:t>
            </a:r>
            <a:r>
              <a:rPr lang="en-US" dirty="0"/>
              <a:t> is the delimiter we want to </a:t>
            </a:r>
            <a:r>
              <a:rPr lang="en-US" dirty="0" smtClean="0"/>
              <a:t>use.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</a:rPr>
              <a:t>Syntax</a:t>
            </a:r>
          </a:p>
          <a:p>
            <a:r>
              <a:rPr lang="en-IN" dirty="0"/>
              <a:t>explode(</a:t>
            </a:r>
            <a:r>
              <a:rPr lang="en-IN" i="1" dirty="0" err="1"/>
              <a:t>separator,string,limit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692884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explode () parameter values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1554" y="1825625"/>
            <a:ext cx="666089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85629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241099"/>
            <a:ext cx="7886700" cy="3520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48259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Method 2:</a:t>
            </a:r>
            <a:r>
              <a:rPr lang="en-US" dirty="0" smtClean="0"/>
              <a:t> Using </a:t>
            </a:r>
            <a:r>
              <a:rPr lang="en-US" dirty="0" err="1" smtClean="0"/>
              <a:t>fscanf</a:t>
            </a:r>
            <a:r>
              <a:rPr lang="en-US" dirty="0" smtClean="0"/>
              <a:t>()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function </a:t>
            </a:r>
            <a:r>
              <a:rPr lang="en-US" dirty="0"/>
              <a:t>works same as the </a:t>
            </a:r>
            <a:r>
              <a:rPr lang="en-US" dirty="0" err="1"/>
              <a:t>fscanf</a:t>
            </a:r>
            <a:r>
              <a:rPr lang="en-US" dirty="0"/>
              <a:t>() function in C.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can read 2 integers from Keyboard(STDIN</a:t>
            </a:r>
            <a:r>
              <a:rPr lang="en-US" dirty="0" smtClean="0"/>
              <a:t>).</a:t>
            </a:r>
          </a:p>
          <a:p>
            <a:r>
              <a:rPr lang="en-US" dirty="0"/>
              <a:t>No need to use explicit typecasting for </a:t>
            </a:r>
            <a:r>
              <a:rPr lang="en-US" b="1" dirty="0" err="1"/>
              <a:t>fscanf</a:t>
            </a:r>
            <a:r>
              <a:rPr lang="en-US" b="1" dirty="0"/>
              <a:t>() function</a:t>
            </a:r>
            <a:r>
              <a:rPr lang="en-US" dirty="0"/>
              <a:t>, because it is done by the format specifiers , e.g. </a:t>
            </a:r>
            <a:r>
              <a:rPr lang="en-US" b="1" dirty="0"/>
              <a:t>%d</a:t>
            </a:r>
            <a:r>
              <a:rPr lang="en-US" dirty="0"/>
              <a:t>, </a:t>
            </a:r>
            <a:r>
              <a:rPr lang="en-US" b="1" dirty="0"/>
              <a:t>%f</a:t>
            </a:r>
            <a:r>
              <a:rPr lang="en-US" dirty="0"/>
              <a:t>, </a:t>
            </a:r>
            <a:r>
              <a:rPr lang="en-US" b="1" dirty="0"/>
              <a:t>%c</a:t>
            </a:r>
            <a:r>
              <a:rPr lang="en-US" dirty="0"/>
              <a:t> etc</a:t>
            </a:r>
            <a:r>
              <a:rPr lang="en-US" dirty="0" smtClean="0"/>
              <a:t>.</a:t>
            </a:r>
          </a:p>
          <a:p>
            <a:r>
              <a:rPr lang="en-US" dirty="0" err="1"/>
              <a:t>fscanf</a:t>
            </a:r>
            <a:r>
              <a:rPr lang="en-US" dirty="0"/>
              <a:t>() function is much faster than the </a:t>
            </a:r>
            <a:r>
              <a:rPr lang="en-US" dirty="0" err="1"/>
              <a:t>readline</a:t>
            </a:r>
            <a:r>
              <a:rPr lang="en-US" dirty="0"/>
              <a:t>() </a:t>
            </a:r>
            <a:r>
              <a:rPr lang="en-US" dirty="0" smtClean="0"/>
              <a:t>function.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068461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1" y="1973878"/>
            <a:ext cx="7346426" cy="415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64844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 of two numbers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28662" y="1500174"/>
            <a:ext cx="5286412" cy="47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PHP Conditional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In PHP we have the following conditional statements:</a:t>
            </a:r>
          </a:p>
          <a:p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if statement </a:t>
            </a:r>
            <a:r>
              <a:rPr lang="en-US" dirty="0" smtClean="0"/>
              <a:t>- executes some code if one condition is true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if...else statement </a:t>
            </a:r>
            <a:r>
              <a:rPr lang="en-US" dirty="0" smtClean="0"/>
              <a:t>- executes some code if a condition is true and another code if that condition is false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if...</a:t>
            </a:r>
            <a:r>
              <a:rPr lang="en-US" dirty="0" err="1" smtClean="0">
                <a:solidFill>
                  <a:srgbClr val="FF0000"/>
                </a:solidFill>
              </a:rPr>
              <a:t>elseif</a:t>
            </a:r>
            <a:r>
              <a:rPr lang="en-US" dirty="0" smtClean="0">
                <a:solidFill>
                  <a:srgbClr val="FF0000"/>
                </a:solidFill>
              </a:rPr>
              <a:t>...else statement </a:t>
            </a:r>
            <a:r>
              <a:rPr lang="en-US" dirty="0" smtClean="0"/>
              <a:t>- executes different codes for more than two conditions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rgbClr val="FF0000"/>
                </a:solidFill>
              </a:rPr>
              <a:t>switch statement </a:t>
            </a:r>
            <a:r>
              <a:rPr lang="en-US" dirty="0" smtClean="0"/>
              <a:t>- selects one of many blocks of code to be executed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20501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Write program to accept marks of 5 subjects, calculate its total and percentage. Check student percentage and display its division.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Write a PHP program to check whether a person is eligible to vote.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Short </a:t>
            </a:r>
            <a:r>
              <a:rPr lang="en-IN" dirty="0"/>
              <a:t>Hand If...Else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971377"/>
            <a:ext cx="7886700" cy="219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41034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PHP </a:t>
            </a:r>
            <a:r>
              <a:rPr lang="en-IN" dirty="0"/>
              <a:t>Loops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In PHP, we have the following loop types: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while - loops through a block of code as long as the specified condition is true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do...while - loops through a block of code once, and then repeats the loop as long as the specified condition is true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for - loops through a block of code a specified number of times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foreach</a:t>
            </a:r>
            <a:r>
              <a:rPr lang="en-US" dirty="0" smtClean="0"/>
              <a:t> - loops through a block of code for each element in an array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50925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Practice Programs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Write a program to display numbers from 5 to 15 using PHP loop.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Write a program to accept a number from user and calculate its factorial and display it.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of </a:t>
            </a:r>
            <a:r>
              <a:rPr lang="en-IN" dirty="0" err="1" smtClean="0"/>
              <a:t>foreach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324729"/>
            <a:ext cx="7886700" cy="3353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12092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key and value in the </a:t>
            </a:r>
            <a:r>
              <a:rPr lang="en-US" dirty="0" err="1" smtClean="0"/>
              <a:t>foreach</a:t>
            </a:r>
            <a:r>
              <a:rPr lang="en-US" dirty="0" smtClean="0"/>
              <a:t> definition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126" y="1869814"/>
            <a:ext cx="8519751" cy="360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448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PHP supports over 1000 built-in functions that can be directly from within a script, to perform a specific task.</a:t>
            </a:r>
          </a:p>
          <a:p>
            <a:r>
              <a:rPr lang="en-US" dirty="0" smtClean="0"/>
              <a:t>It is also possible to create your own functions. (User defined functions)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user-defined function declaration starts with 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keyword function</a:t>
            </a:r>
            <a:r>
              <a:rPr lang="en-US" dirty="0" smtClean="0"/>
              <a:t>, followed by the name of the function.</a:t>
            </a:r>
          </a:p>
          <a:p>
            <a:pPr>
              <a:buNone/>
            </a:pPr>
            <a:r>
              <a:rPr lang="en-US" dirty="0" smtClean="0"/>
              <a:t>Example: function </a:t>
            </a:r>
            <a:r>
              <a:rPr lang="en-US" dirty="0" err="1" smtClean="0"/>
              <a:t>mymsg</a:t>
            </a:r>
            <a:r>
              <a:rPr lang="en-US" dirty="0" smtClean="0"/>
              <a:t>()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echo “Hello World”;</a:t>
            </a:r>
          </a:p>
          <a:p>
            <a:pPr>
              <a:buNone/>
            </a:pPr>
            <a:r>
              <a:rPr lang="en-US" dirty="0" smtClean="0"/>
              <a:t>}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Call a function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call a function, write its name followed by parentheses().</a:t>
            </a:r>
          </a:p>
          <a:p>
            <a:pPr>
              <a:buNone/>
            </a:pPr>
            <a:r>
              <a:rPr lang="en-US" dirty="0" smtClean="0"/>
              <a:t>Example: function </a:t>
            </a:r>
            <a:r>
              <a:rPr lang="en-US" dirty="0" err="1" smtClean="0"/>
              <a:t>mymsg</a:t>
            </a:r>
            <a:r>
              <a:rPr lang="en-US" dirty="0" smtClean="0"/>
              <a:t>()</a:t>
            </a:r>
          </a:p>
          <a:p>
            <a:pPr>
              <a:buNone/>
            </a:pPr>
            <a:r>
              <a:rPr lang="en-US" dirty="0" smtClean="0"/>
              <a:t>{</a:t>
            </a:r>
          </a:p>
          <a:p>
            <a:pPr>
              <a:buNone/>
            </a:pPr>
            <a:r>
              <a:rPr lang="en-US" dirty="0" smtClean="0"/>
              <a:t>echo “Hello World”;</a:t>
            </a:r>
          </a:p>
          <a:p>
            <a:pPr>
              <a:buNone/>
            </a:pPr>
            <a:r>
              <a:rPr lang="en-US" dirty="0" smtClean="0"/>
              <a:t>}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dirty="0" err="1" smtClean="0"/>
              <a:t>mymsg</a:t>
            </a:r>
            <a:r>
              <a:rPr lang="en-US" dirty="0" smtClean="0"/>
              <a:t>();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PHP Function Arguments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Arguments are specified after the function name, inside the parentheses.</a:t>
            </a:r>
          </a:p>
          <a:p>
            <a:r>
              <a:rPr lang="en-US" dirty="0" smtClean="0"/>
              <a:t>One can add many arguments as you want, just separate them with a comma.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142239"/>
            <a:ext cx="8229600" cy="3441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Passing </a:t>
            </a:r>
            <a:r>
              <a:rPr lang="en-US" dirty="0"/>
              <a:t>Arguments by Reference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PHP, arguments are </a:t>
            </a:r>
            <a:r>
              <a:rPr lang="en-US" dirty="0">
                <a:solidFill>
                  <a:srgbClr val="FF0000"/>
                </a:solidFill>
              </a:rPr>
              <a:t>usually passed by value</a:t>
            </a:r>
            <a:r>
              <a:rPr lang="en-US" dirty="0"/>
              <a:t>, which means that a copy of the value is used in the function and the variable that was passed into the function cannot be changed.</a:t>
            </a:r>
          </a:p>
          <a:p>
            <a:r>
              <a:rPr lang="en-US" dirty="0"/>
              <a:t>When a function argument is passed by reference, changes to the argument also change the variable that was passed in. </a:t>
            </a:r>
            <a:r>
              <a:rPr lang="en-US" dirty="0">
                <a:solidFill>
                  <a:srgbClr val="FF0000"/>
                </a:solidFill>
              </a:rPr>
              <a:t>To turn a function argument into a reference, the &amp; operator is </a:t>
            </a:r>
            <a:r>
              <a:rPr lang="en-US" dirty="0" smtClean="0">
                <a:solidFill>
                  <a:srgbClr val="FF0000"/>
                </a:solidFill>
              </a:rPr>
              <a:t>used.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 of Passing Arguments by Reference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714488"/>
            <a:ext cx="8229600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Variable </a:t>
            </a:r>
            <a:r>
              <a:rPr lang="en-US" dirty="0"/>
              <a:t>Number of Arguments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using the ... operator in front of the function parameter, the function accepts an unknown number of arguments.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is also called a </a:t>
            </a:r>
            <a:r>
              <a:rPr lang="en-US" dirty="0" err="1"/>
              <a:t>variadic</a:t>
            </a:r>
            <a:r>
              <a:rPr lang="en-US" dirty="0"/>
              <a:t> function.</a:t>
            </a:r>
          </a:p>
          <a:p>
            <a:r>
              <a:rPr lang="en-US" dirty="0"/>
              <a:t>The </a:t>
            </a:r>
            <a:r>
              <a:rPr lang="en-US" dirty="0" err="1"/>
              <a:t>variadic</a:t>
            </a:r>
            <a:r>
              <a:rPr lang="en-US" dirty="0"/>
              <a:t> function argument becomes an array.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</a:t>
            </a:r>
            <a:r>
              <a:rPr lang="en-US" dirty="0" err="1" smtClean="0"/>
              <a:t>variadic</a:t>
            </a:r>
            <a:r>
              <a:rPr lang="en-US" smtClean="0"/>
              <a:t> function.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74534"/>
            <a:ext cx="8229600" cy="3177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Arrays in PHP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8934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An array in PHP is an ordered map that associates values to keys.</a:t>
            </a:r>
          </a:p>
          <a:p>
            <a:r>
              <a:rPr lang="en-US" dirty="0" smtClean="0"/>
              <a:t>A PHP array can be used to implement different data structures such as a stack, queue, list (vector), hash table, dictionary, etc.</a:t>
            </a:r>
          </a:p>
          <a:p>
            <a:r>
              <a:rPr lang="en-US" dirty="0" smtClean="0"/>
              <a:t>The value part of an array element can be other arrays. This fact can be used to implement tree data structure and multidimensional arrays.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972158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Built-in Array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built-in array() function uses the parameters given to it and returns an object of array type.</a:t>
            </a:r>
          </a:p>
          <a:p>
            <a:r>
              <a:rPr lang="en-US" dirty="0" smtClean="0"/>
              <a:t> One or more comma-separated parameters are the elements in the array.</a:t>
            </a:r>
          </a:p>
          <a:p>
            <a:pPr marL="0" indent="0">
              <a:buNone/>
            </a:pPr>
            <a:r>
              <a:rPr lang="en-US" dirty="0" smtClean="0"/>
              <a:t>Syntax: array(mixed ...$values): array</a:t>
            </a:r>
          </a:p>
          <a:p>
            <a:r>
              <a:rPr lang="en-US" dirty="0" smtClean="0"/>
              <a:t>Each value in the parenthesis may be either a singular value (it may be a number, string, any object or even another array), or a key-value pair. </a:t>
            </a:r>
          </a:p>
          <a:p>
            <a:r>
              <a:rPr lang="en-US" dirty="0" smtClean="0"/>
              <a:t>The association between the key and its value is denoted by the "=&gt;" symbol.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1397916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156474"/>
            <a:ext cx="7941014" cy="312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9429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Using Square Brackets [ ]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Instead of the array() function, the comma-separated array elements may also be put inside the square brackets to declare an array object.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78" y="3036310"/>
            <a:ext cx="8158463" cy="2505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13302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Types of Arrays in PHP</a:t>
            </a:r>
            <a:br>
              <a:rPr lang="en-US" b="1" dirty="0" smtClean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690688"/>
            <a:ext cx="8005828" cy="423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43634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Accessing the Array Elements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access any element from a given array, you can use the array[key] syntax.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698" y="3044826"/>
            <a:ext cx="5897166" cy="326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315177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Traversing an Indexed Array in PHP</a:t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Any type of PHP loop can be employed to traverse an array. </a:t>
            </a:r>
          </a:p>
          <a:p>
            <a:r>
              <a:rPr lang="en-US" dirty="0" smtClean="0"/>
              <a:t>If we want to use a </a:t>
            </a:r>
            <a:r>
              <a:rPr lang="en-US" b="1" dirty="0" smtClean="0"/>
              <a:t>for</a:t>
            </a:r>
            <a:r>
              <a:rPr lang="en-US" dirty="0" smtClean="0"/>
              <a:t> or </a:t>
            </a:r>
            <a:r>
              <a:rPr lang="en-US" b="1" dirty="0" smtClean="0"/>
              <a:t>while</a:t>
            </a:r>
            <a:r>
              <a:rPr lang="en-US" dirty="0" smtClean="0"/>
              <a:t> loop, we have to find the number of elements in the array with count() function and use its value as the test condition for the counted </a:t>
            </a:r>
            <a:r>
              <a:rPr lang="en-US" b="1" dirty="0" smtClean="0"/>
              <a:t>for</a:t>
            </a:r>
            <a:r>
              <a:rPr lang="en-US" dirty="0" smtClean="0"/>
              <a:t> or </a:t>
            </a:r>
            <a:r>
              <a:rPr lang="en-US" b="1" dirty="0" smtClean="0"/>
              <a:t>while</a:t>
            </a:r>
            <a:r>
              <a:rPr lang="en-US" dirty="0" smtClean="0"/>
              <a:t> loop.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517524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The following code uses a </a:t>
            </a:r>
            <a:r>
              <a:rPr lang="en-US" b="1" dirty="0" smtClean="0"/>
              <a:t>for</a:t>
            </a:r>
            <a:r>
              <a:rPr lang="en-US" dirty="0" smtClean="0"/>
              <a:t> loop to list all the elements in an indexed array.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7820" y="2165567"/>
            <a:ext cx="8367896" cy="341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1928968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PHP Files and I/O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1658943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PHP - Files &amp; I/O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Functions related to files are: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Opening a File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Reading a File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Writing a File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Closing a File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23944950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Opening a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PHP </a:t>
            </a:r>
            <a:r>
              <a:rPr lang="en-US" b="1" dirty="0" err="1" smtClean="0"/>
              <a:t>fopen</a:t>
            </a:r>
            <a:r>
              <a:rPr lang="en-US" b="1" dirty="0" smtClean="0"/>
              <a:t>()</a:t>
            </a:r>
            <a:r>
              <a:rPr lang="en-US" dirty="0" smtClean="0"/>
              <a:t> function is used to open a file.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It requires two arguments stating first the file name and then mode in which to operate.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012804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Read File - </a:t>
            </a:r>
            <a:r>
              <a:rPr lang="en-IN" b="1" dirty="0" err="1" smtClean="0"/>
              <a:t>fread</a:t>
            </a:r>
            <a:r>
              <a:rPr lang="en-IN" b="1" dirty="0" smtClean="0"/>
              <a:t>()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fread</a:t>
            </a:r>
            <a:r>
              <a:rPr lang="en-US" dirty="0" smtClean="0"/>
              <a:t>() function reads from an open file.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The </a:t>
            </a:r>
            <a:r>
              <a:rPr lang="en-US" dirty="0" smtClean="0">
                <a:solidFill>
                  <a:srgbClr val="00B050"/>
                </a:solidFill>
              </a:rPr>
              <a:t>first parameter of </a:t>
            </a:r>
            <a:r>
              <a:rPr lang="en-US" dirty="0" err="1" smtClean="0">
                <a:solidFill>
                  <a:srgbClr val="00B050"/>
                </a:solidFill>
              </a:rPr>
              <a:t>fread</a:t>
            </a:r>
            <a:r>
              <a:rPr lang="en-US" dirty="0" smtClean="0">
                <a:solidFill>
                  <a:srgbClr val="00B050"/>
                </a:solidFill>
              </a:rPr>
              <a:t>() contains the name of the file to read from</a:t>
            </a:r>
            <a:r>
              <a:rPr lang="en-US" dirty="0" smtClean="0">
                <a:solidFill>
                  <a:srgbClr val="FF0000"/>
                </a:solidFill>
              </a:rPr>
              <a:t> and the </a:t>
            </a:r>
            <a:r>
              <a:rPr lang="en-US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second parameter specifies the maximum number of bytes to read.</a:t>
            </a:r>
            <a:endParaRPr lang="en-IN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2360964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Close File - </a:t>
            </a:r>
            <a:r>
              <a:rPr lang="en-IN" b="1" dirty="0" err="1" smtClean="0"/>
              <a:t>fclose</a:t>
            </a:r>
            <a:r>
              <a:rPr lang="en-IN" b="1" dirty="0" smtClean="0"/>
              <a:t>()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fclose</a:t>
            </a:r>
            <a:r>
              <a:rPr lang="en-US" dirty="0" smtClean="0"/>
              <a:t>() function is used to close an open file.</a:t>
            </a:r>
          </a:p>
          <a:p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The </a:t>
            </a:r>
            <a:r>
              <a:rPr lang="en-IN" dirty="0" err="1">
                <a:solidFill>
                  <a:schemeClr val="accent2">
                    <a:lumMod val="75000"/>
                  </a:schemeClr>
                </a:solidFill>
              </a:rPr>
              <a:t>fclose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() requires the name of the file (or a variable that holds the filename) we want to </a:t>
            </a:r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close.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9372607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Files modes can be specified as one of the six options </a:t>
            </a:r>
            <a:endParaRPr lang="en-I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2042" y="1825625"/>
            <a:ext cx="6039917" cy="435133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5199551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to read a file</a:t>
            </a:r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096863"/>
            <a:ext cx="7886700" cy="3808861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7208912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Read Single Line - </a:t>
            </a:r>
            <a:r>
              <a:rPr lang="en-IN" b="1" dirty="0" err="1" smtClean="0"/>
              <a:t>fgets</a:t>
            </a:r>
            <a:r>
              <a:rPr lang="en-IN" b="1" dirty="0" smtClean="0"/>
              <a:t>()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fgets</a:t>
            </a:r>
            <a:r>
              <a:rPr lang="en-US" dirty="0" smtClean="0"/>
              <a:t>() function is used to read a single line from a file.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614" y="2866087"/>
            <a:ext cx="7660773" cy="255104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9409049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Check End-Of-File - </a:t>
            </a:r>
            <a:r>
              <a:rPr lang="en-IN" b="1" dirty="0" err="1" smtClean="0"/>
              <a:t>feof</a:t>
            </a:r>
            <a:r>
              <a:rPr lang="en-IN" b="1" dirty="0" smtClean="0"/>
              <a:t>()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feof</a:t>
            </a:r>
            <a:r>
              <a:rPr lang="en-US" dirty="0" smtClean="0"/>
              <a:t>() function checks if the "end-of-file" (EOF) has been reached.</a:t>
            </a:r>
          </a:p>
          <a:p>
            <a:r>
              <a:rPr lang="en-US" dirty="0" smtClean="0"/>
              <a:t>The </a:t>
            </a:r>
            <a:r>
              <a:rPr lang="en-US" dirty="0" err="1" smtClean="0"/>
              <a:t>feof</a:t>
            </a:r>
            <a:r>
              <a:rPr lang="en-US" dirty="0" smtClean="0"/>
              <a:t>() function is useful for looping through data of unknown length.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29159147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of </a:t>
            </a:r>
            <a:r>
              <a:rPr lang="en-US" dirty="0" err="1" smtClean="0"/>
              <a:t>feof</a:t>
            </a:r>
            <a:r>
              <a:rPr lang="en-US" dirty="0" smtClean="0"/>
              <a:t>()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2263" y="2199337"/>
            <a:ext cx="8013088" cy="310695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40324482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Read Single Character - </a:t>
            </a:r>
            <a:r>
              <a:rPr lang="en-IN" b="1" dirty="0" err="1" smtClean="0"/>
              <a:t>fgetc</a:t>
            </a:r>
            <a:r>
              <a:rPr lang="en-IN" b="1" dirty="0" smtClean="0"/>
              <a:t>()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fgetc</a:t>
            </a:r>
            <a:r>
              <a:rPr lang="en-US" dirty="0" smtClean="0"/>
              <a:t>() function is used to read a single character from a file.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04" y="2750993"/>
            <a:ext cx="7515257" cy="2513734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9118363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Write to File - </a:t>
            </a:r>
            <a:r>
              <a:rPr lang="en-IN" b="1" dirty="0" err="1" smtClean="0"/>
              <a:t>fwrite</a:t>
            </a:r>
            <a:r>
              <a:rPr lang="en-IN" b="1" dirty="0" smtClean="0"/>
              <a:t>()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fwrite</a:t>
            </a:r>
            <a:r>
              <a:rPr lang="en-US" dirty="0" smtClean="0"/>
              <a:t>() function is used to write to a file.</a:t>
            </a:r>
          </a:p>
          <a:p>
            <a:r>
              <a:rPr lang="en-US" dirty="0" smtClean="0"/>
              <a:t>The first parameter of </a:t>
            </a:r>
            <a:r>
              <a:rPr lang="en-US" dirty="0" err="1" smtClean="0"/>
              <a:t>fwrite</a:t>
            </a:r>
            <a:r>
              <a:rPr lang="en-US" dirty="0" smtClean="0"/>
              <a:t>() contains the name of the file to write to and the second parameter is the string to be written.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3232006"/>
            <a:ext cx="8030299" cy="266425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98944076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Understanding Cookies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858" y="2096532"/>
            <a:ext cx="5714285" cy="3809524"/>
          </a:xfrm>
        </p:spPr>
      </p:pic>
    </p:spTree>
    <p:extLst>
      <p:ext uri="{BB962C8B-B14F-4D97-AF65-F5344CB8AC3E}">
        <p14:creationId xmlns="" xmlns:p14="http://schemas.microsoft.com/office/powerpoint/2010/main" val="274934152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Cookies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cookie is often used to identify a user. </a:t>
            </a:r>
          </a:p>
          <a:p>
            <a:r>
              <a:rPr lang="en-US" dirty="0" smtClean="0"/>
              <a:t>A cookie is a small file that the server embeds on the user's computer.</a:t>
            </a:r>
          </a:p>
          <a:p>
            <a:r>
              <a:rPr lang="en-US" dirty="0" smtClean="0"/>
              <a:t> Each time the same computer requests a page with a browser, it will send the cookie too. </a:t>
            </a:r>
          </a:p>
          <a:p>
            <a:r>
              <a:rPr lang="en-US" dirty="0" smtClean="0"/>
              <a:t>With PHP, you can both create and retrieve cookie values.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48930601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Create Cookies 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cookie is created with the </a:t>
            </a:r>
            <a:r>
              <a:rPr lang="en-US" dirty="0" err="1" smtClean="0"/>
              <a:t>setcookie</a:t>
            </a:r>
            <a:r>
              <a:rPr lang="en-US" dirty="0" smtClean="0"/>
              <a:t>() function.</a:t>
            </a:r>
          </a:p>
          <a:p>
            <a:pPr marL="0" indent="0">
              <a:buNone/>
            </a:pPr>
            <a:r>
              <a:rPr lang="en-US" dirty="0" smtClean="0"/>
              <a:t>Syntax</a:t>
            </a:r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Only the name parameter is required. All other parameters are optional.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958812"/>
            <a:ext cx="6842414" cy="71264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545122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/>
            </a:r>
            <a:br>
              <a:rPr lang="en-IN" b="1" dirty="0" smtClean="0"/>
            </a:br>
            <a:r>
              <a:rPr lang="en-IN" b="1" dirty="0" smtClean="0"/>
              <a:t>Create/Retrieve a Cookie</a:t>
            </a:r>
            <a:br>
              <a:rPr lang="en-IN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The following example creates a cookie named "user" with the value "John Doe". </a:t>
            </a:r>
          </a:p>
          <a:p>
            <a:r>
              <a:rPr lang="en-US" dirty="0" smtClean="0"/>
              <a:t>The cookie will expire after 30 days (86400 * 30). The "/" means that the cookie is available in entire website (otherwise, select the directory you prefer).</a:t>
            </a:r>
          </a:p>
          <a:p>
            <a:r>
              <a:rPr lang="en-US" dirty="0" smtClean="0"/>
              <a:t>We then retrieve the value of the cookie "user" (using the global variable $_COOKIE). We also use the </a:t>
            </a:r>
            <a:r>
              <a:rPr lang="en-US" dirty="0" err="1" smtClean="0"/>
              <a:t>isset</a:t>
            </a:r>
            <a:r>
              <a:rPr lang="en-US" dirty="0" smtClean="0"/>
              <a:t>() function to find out if the cookie is set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21702801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7224" y="1500174"/>
            <a:ext cx="7929618" cy="4917287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80711974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What are cookies used for?</a:t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smtClean="0"/>
              <a:t>User sessions: </a:t>
            </a:r>
            <a:r>
              <a:rPr lang="en-US" dirty="0" smtClean="0"/>
              <a:t>Cookies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help associate website activity with a specific user.</a:t>
            </a:r>
            <a:r>
              <a:rPr lang="en-US" dirty="0" smtClean="0"/>
              <a:t> A session cookie contains a unique string (a combination of letters and numbers) that matches a user session with relevant data and content for that user.</a:t>
            </a:r>
          </a:p>
          <a:p>
            <a:r>
              <a:rPr lang="en-US" b="1" dirty="0" smtClean="0"/>
              <a:t>Personalization: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Cookies help a website "remember" user actions or user preferences, enabling the website to customize the user's experience.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61968522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What are cookies used for?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Tracking:</a:t>
            </a:r>
            <a:r>
              <a:rPr lang="en-US" dirty="0" smtClean="0"/>
              <a:t> </a:t>
            </a: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Some cookies record what websites users visit. </a:t>
            </a:r>
            <a:r>
              <a:rPr lang="en-US" dirty="0" smtClean="0"/>
              <a:t>This information is sent to the server that originated the cookie the next time the browser has to load content from that server. With third-party tracking cookies, this process takes place anytime the browser loads a website that uses that tracking service.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52151492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Delete a Cookie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delete a cookie, use the </a:t>
            </a:r>
            <a:r>
              <a:rPr lang="en-US" dirty="0" err="1" smtClean="0"/>
              <a:t>setcookie</a:t>
            </a:r>
            <a:r>
              <a:rPr lang="en-US" dirty="0" smtClean="0"/>
              <a:t>() function with an expiration date in the past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3286124"/>
            <a:ext cx="5643602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“Session” is the term </a:t>
            </a:r>
            <a:r>
              <a:rPr lang="en-US" dirty="0" smtClean="0">
                <a:solidFill>
                  <a:srgbClr val="FF0000"/>
                </a:solidFill>
              </a:rPr>
              <a:t>used to refer to a visitor’s time browsing a web site. </a:t>
            </a:r>
            <a:r>
              <a:rPr lang="en-US" dirty="0" smtClean="0"/>
              <a:t>It’s meant </a:t>
            </a:r>
            <a:r>
              <a:rPr lang="en-US" dirty="0" smtClean="0">
                <a:solidFill>
                  <a:schemeClr val="accent4">
                    <a:lumMod val="50000"/>
                  </a:schemeClr>
                </a:solidFill>
              </a:rPr>
              <a:t>to represent the time between a visitor’s first arrival at a page on the site and the time they stop using the site.</a:t>
            </a:r>
            <a:endParaRPr lang="en-US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Session Management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2071678"/>
            <a:ext cx="8058618" cy="4000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smtClean="0"/>
              <a:t>Sessions</a:t>
            </a:r>
            <a:br>
              <a:rPr lang="en-US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 session is a way to store information (in variables) to be used across multiple pages.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Unlike a cookie, the information is not stored on the users computer.</a:t>
            </a:r>
          </a:p>
          <a:p>
            <a:r>
              <a:rPr lang="en-US" dirty="0" smtClean="0"/>
              <a:t>Session variables store user information to be used across multiple pages (e.g. username, favorite color, etc).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By default, session variables last until the user closes the browser.</a:t>
            </a:r>
          </a:p>
          <a:p>
            <a:r>
              <a:rPr lang="en-US" dirty="0" smtClean="0"/>
              <a:t>So; Session variables hold information about one single user, and are available to all pages in one application.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240009759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PHP Session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session is started with the </a:t>
            </a:r>
            <a:r>
              <a:rPr lang="en-US" dirty="0" err="1" smtClean="0"/>
              <a:t>session_start</a:t>
            </a:r>
            <a:r>
              <a:rPr lang="en-US" dirty="0" smtClean="0"/>
              <a:t>() function.</a:t>
            </a:r>
          </a:p>
          <a:p>
            <a:r>
              <a:rPr lang="en-US" dirty="0" smtClean="0"/>
              <a:t>Session variables are set with the PHP global variable: $_SESSION.</a:t>
            </a:r>
          </a:p>
          <a:p>
            <a:r>
              <a:rPr lang="en-US" dirty="0" smtClean="0"/>
              <a:t>The </a:t>
            </a:r>
            <a:r>
              <a:rPr lang="en-US" dirty="0" err="1" smtClean="0"/>
              <a:t>session_start</a:t>
            </a:r>
            <a:r>
              <a:rPr lang="en-US" dirty="0" smtClean="0"/>
              <a:t>() function must be the very first thing in your document. Before any HTML tags.</a:t>
            </a:r>
            <a:endParaRPr lang="en-US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to start a Session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00174"/>
            <a:ext cx="8229600" cy="4429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Get PHP Session Variable Values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session variables are not passed individually to each new page, instead they are retrieved from the session we open at the beginning of each page (</a:t>
            </a:r>
            <a:r>
              <a:rPr lang="en-US" dirty="0" err="1" smtClean="0"/>
              <a:t>session_start</a:t>
            </a:r>
            <a:r>
              <a:rPr lang="en-US" dirty="0" smtClean="0"/>
              <a:t>()).</a:t>
            </a:r>
          </a:p>
          <a:p>
            <a:r>
              <a:rPr lang="en-US" dirty="0" smtClean="0"/>
              <a:t>All session variable values are stored in the global $_SESSION variable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357298"/>
            <a:ext cx="8229600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Destroy a PHP Session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remove all global session variables and destroy the session, use </a:t>
            </a:r>
            <a:r>
              <a:rPr lang="en-US" dirty="0" err="1" smtClean="0"/>
              <a:t>session_unset</a:t>
            </a:r>
            <a:r>
              <a:rPr lang="en-US" dirty="0" smtClean="0"/>
              <a:t>() and </a:t>
            </a:r>
            <a:r>
              <a:rPr lang="en-US" dirty="0" err="1" smtClean="0"/>
              <a:t>session_destroy</a:t>
            </a:r>
            <a:r>
              <a:rPr lang="en-US" dirty="0" smtClean="0"/>
              <a:t>()</a:t>
            </a:r>
            <a:endParaRPr lang="en-US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1428736"/>
            <a:ext cx="8229600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925</TotalTime>
  <Words>2045</Words>
  <Application>Microsoft Office PowerPoint</Application>
  <PresentationFormat>On-screen Show (4:3)</PresentationFormat>
  <Paragraphs>262</Paragraphs>
  <Slides>95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Office Theme</vt:lpstr>
      <vt:lpstr>Server-side scripting</vt:lpstr>
      <vt:lpstr>Introduction</vt:lpstr>
      <vt:lpstr>Server-side Programming </vt:lpstr>
      <vt:lpstr>Client and server side scripting</vt:lpstr>
      <vt:lpstr>PHP: Hypertext Preprocessor</vt:lpstr>
      <vt:lpstr>PHP: Hypertext Preprocessor</vt:lpstr>
      <vt:lpstr>Features of PHP</vt:lpstr>
      <vt:lpstr>Features of PHP</vt:lpstr>
      <vt:lpstr> PHP - Syntax </vt:lpstr>
      <vt:lpstr>Example Code</vt:lpstr>
      <vt:lpstr>Syntax for comments in PHP code:</vt:lpstr>
      <vt:lpstr>Search on browser for php download</vt:lpstr>
      <vt:lpstr>Select the link</vt:lpstr>
      <vt:lpstr> Select VS17 x64 Thread Safe option to download </vt:lpstr>
      <vt:lpstr>Set environment variable </vt:lpstr>
      <vt:lpstr>In vs code extensions search for </vt:lpstr>
      <vt:lpstr>Slide 17</vt:lpstr>
      <vt:lpstr>Slide 18</vt:lpstr>
      <vt:lpstr>Write a program and save it as progname.php</vt:lpstr>
      <vt:lpstr>Slide 20</vt:lpstr>
      <vt:lpstr>File select option open folder and browse for C:\xampp\htdocs</vt:lpstr>
      <vt:lpstr>Open browser and in url section provide localhost/filename.php</vt:lpstr>
      <vt:lpstr> Creating (Declaring) PHP Variables </vt:lpstr>
      <vt:lpstr>PHP Variables</vt:lpstr>
      <vt:lpstr> Output Variables </vt:lpstr>
      <vt:lpstr> PHP Data Types </vt:lpstr>
      <vt:lpstr>Double quoted Strings</vt:lpstr>
      <vt:lpstr>Single quoted Strings</vt:lpstr>
      <vt:lpstr> String Length </vt:lpstr>
      <vt:lpstr> Word Count </vt:lpstr>
      <vt:lpstr> Search For Text Within a String </vt:lpstr>
      <vt:lpstr>How to read user or console input in PHP ? </vt:lpstr>
      <vt:lpstr>Method 1: Using readline() function</vt:lpstr>
      <vt:lpstr>Using readline() function</vt:lpstr>
      <vt:lpstr>Using readline() function with typecasting</vt:lpstr>
      <vt:lpstr>Accept multiple space separated inputs</vt:lpstr>
      <vt:lpstr>explode () parameter values</vt:lpstr>
      <vt:lpstr>Example</vt:lpstr>
      <vt:lpstr>Method 2: Using fscanf()</vt:lpstr>
      <vt:lpstr>Example</vt:lpstr>
      <vt:lpstr>Addition of two numbers</vt:lpstr>
      <vt:lpstr>PHP Conditional Statements</vt:lpstr>
      <vt:lpstr>Practice Programs</vt:lpstr>
      <vt:lpstr> Short Hand If...Else </vt:lpstr>
      <vt:lpstr> PHP Loops </vt:lpstr>
      <vt:lpstr>Practice Programs</vt:lpstr>
      <vt:lpstr>Example of foreach</vt:lpstr>
      <vt:lpstr>key and value in the foreach definition</vt:lpstr>
      <vt:lpstr>Functions</vt:lpstr>
      <vt:lpstr>Create a function</vt:lpstr>
      <vt:lpstr>Call a function</vt:lpstr>
      <vt:lpstr>PHP Function Arguments</vt:lpstr>
      <vt:lpstr>Slide 53</vt:lpstr>
      <vt:lpstr> Passing Arguments by Reference </vt:lpstr>
      <vt:lpstr>Example of Passing Arguments by Reference</vt:lpstr>
      <vt:lpstr> Variable Number of Arguments </vt:lpstr>
      <vt:lpstr>Example of variadic function.</vt:lpstr>
      <vt:lpstr>Arrays in PHP</vt:lpstr>
      <vt:lpstr>Introduction</vt:lpstr>
      <vt:lpstr>Built-in Array</vt:lpstr>
      <vt:lpstr>Example</vt:lpstr>
      <vt:lpstr> Using Square Brackets [ ] </vt:lpstr>
      <vt:lpstr> Types of Arrays in PHP </vt:lpstr>
      <vt:lpstr> Accessing the Array Elements </vt:lpstr>
      <vt:lpstr>Traversing an Indexed Array in PHP </vt:lpstr>
      <vt:lpstr>The following code uses a for loop to list all the elements in an indexed array.</vt:lpstr>
      <vt:lpstr>PHP Files and I/O</vt:lpstr>
      <vt:lpstr> PHP - Files &amp; I/O </vt:lpstr>
      <vt:lpstr>Opening a File</vt:lpstr>
      <vt:lpstr> Read File - fread() </vt:lpstr>
      <vt:lpstr> Close File - fclose() </vt:lpstr>
      <vt:lpstr>Files modes can be specified as one of the six options </vt:lpstr>
      <vt:lpstr>Example to read a file</vt:lpstr>
      <vt:lpstr> Read Single Line - fgets() </vt:lpstr>
      <vt:lpstr> Check End-Of-File - feof() </vt:lpstr>
      <vt:lpstr>Example of feof()</vt:lpstr>
      <vt:lpstr> Read Single Character - fgetc() </vt:lpstr>
      <vt:lpstr> Write to File - fwrite() </vt:lpstr>
      <vt:lpstr>Understanding Cookies</vt:lpstr>
      <vt:lpstr> Cookies </vt:lpstr>
      <vt:lpstr> Create Cookies  </vt:lpstr>
      <vt:lpstr> Create/Retrieve a Cookie </vt:lpstr>
      <vt:lpstr>Example</vt:lpstr>
      <vt:lpstr> What are cookies used for? </vt:lpstr>
      <vt:lpstr>What are cookies used for?</vt:lpstr>
      <vt:lpstr> Delete a Cookie </vt:lpstr>
      <vt:lpstr>Session</vt:lpstr>
      <vt:lpstr>Session Management</vt:lpstr>
      <vt:lpstr>  Sessions  </vt:lpstr>
      <vt:lpstr> PHP Session </vt:lpstr>
      <vt:lpstr>Example to start a Session</vt:lpstr>
      <vt:lpstr> Get PHP Session Variable Values </vt:lpstr>
      <vt:lpstr>Example</vt:lpstr>
      <vt:lpstr> Destroy a PHP Session </vt:lpstr>
      <vt:lpstr>Example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Server-side scripting</dc:title>
  <dc:creator>admin</dc:creator>
  <cp:lastModifiedBy>sony</cp:lastModifiedBy>
  <cp:revision>71</cp:revision>
  <dcterms:created xsi:type="dcterms:W3CDTF">2025-02-10T04:51:28Z</dcterms:created>
  <dcterms:modified xsi:type="dcterms:W3CDTF">2025-02-25T05:12:23Z</dcterms:modified>
</cp:coreProperties>
</file>