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9" r:id="rId1"/>
  </p:sldMasterIdLst>
  <p:sldIdLst>
    <p:sldId id="256" r:id="rId2"/>
    <p:sldId id="258" r:id="rId3"/>
    <p:sldId id="260" r:id="rId4"/>
    <p:sldId id="261" r:id="rId5"/>
    <p:sldId id="259" r:id="rId6"/>
    <p:sldId id="262" r:id="rId7"/>
    <p:sldId id="274" r:id="rId8"/>
    <p:sldId id="276" r:id="rId9"/>
    <p:sldId id="277" r:id="rId10"/>
    <p:sldId id="279" r:id="rId11"/>
    <p:sldId id="284" r:id="rId12"/>
    <p:sldId id="280" r:id="rId13"/>
    <p:sldId id="275" r:id="rId14"/>
    <p:sldId id="282" r:id="rId15"/>
    <p:sldId id="286" r:id="rId16"/>
    <p:sldId id="288" r:id="rId17"/>
    <p:sldId id="281"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4" d="100"/>
          <a:sy n="64" d="100"/>
        </p:scale>
        <p:origin x="-86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CD5D7F-1C47-4429-AA2B-33F80F4B704B}" type="datetimeFigureOut">
              <a:rPr lang="en-IN" smtClean="0"/>
              <a:pPr/>
              <a:t>18-03-2025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B34D89-F4BB-43BF-8222-0710F2D67794}"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D5D7F-1C47-4429-AA2B-33F80F4B704B}" type="datetimeFigureOut">
              <a:rPr lang="en-IN" smtClean="0"/>
              <a:pPr/>
              <a:t>18-03-2025</a:t>
            </a:fld>
            <a:endParaRPr lang="en-IN"/>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B34D89-F4BB-43BF-8222-0710F2D67794}"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A41DAA-C22C-8495-9035-97B9C2BF8276}"/>
              </a:ext>
            </a:extLst>
          </p:cNvPr>
          <p:cNvSpPr>
            <a:spLocks noGrp="1"/>
          </p:cNvSpPr>
          <p:nvPr>
            <p:ph type="ctrTitle"/>
          </p:nvPr>
        </p:nvSpPr>
        <p:spPr>
          <a:xfrm>
            <a:off x="1261872" y="0"/>
            <a:ext cx="9418320" cy="4041648"/>
          </a:xfrm>
        </p:spPr>
        <p:txBody>
          <a:bodyPr>
            <a:normAutofit/>
          </a:bodyPr>
          <a:lstStyle/>
          <a:p>
            <a:pPr algn="ctr"/>
            <a:r>
              <a:rPr lang="en-IN" sz="6600" dirty="0"/>
              <a:t>jQuery</a:t>
            </a:r>
          </a:p>
        </p:txBody>
      </p:sp>
      <p:sp>
        <p:nvSpPr>
          <p:cNvPr id="3" name="Subtitle 2">
            <a:extLst>
              <a:ext uri="{FF2B5EF4-FFF2-40B4-BE49-F238E27FC236}">
                <a16:creationId xmlns:a16="http://schemas.microsoft.com/office/drawing/2014/main" xmlns="" id="{05028829-1DC4-8E47-6F2F-DA63345E167A}"/>
              </a:ext>
            </a:extLst>
          </p:cNvPr>
          <p:cNvSpPr>
            <a:spLocks noGrp="1"/>
          </p:cNvSpPr>
          <p:nvPr>
            <p:ph type="subTitle" idx="1"/>
          </p:nvPr>
        </p:nvSpPr>
        <p:spPr/>
        <p:txBody>
          <a:bodyPr>
            <a:noAutofit/>
          </a:bodyPr>
          <a:lstStyle/>
          <a:p>
            <a:pPr algn="r"/>
            <a:r>
              <a:rPr lang="en-IN" sz="3200" dirty="0" smtClean="0">
                <a:solidFill>
                  <a:srgbClr val="002060"/>
                </a:solidFill>
                <a:latin typeface="Times New Roman" panose="02020603050405020304" pitchFamily="18" charset="0"/>
                <a:cs typeface="Times New Roman" panose="02020603050405020304" pitchFamily="18" charset="0"/>
              </a:rPr>
              <a:t>SYAI&amp;DS-A</a:t>
            </a:r>
            <a:endParaRPr lang="en-I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6343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518D14-8E92-7EDB-D168-9037E8269D24}"/>
              </a:ext>
            </a:extLst>
          </p:cNvPr>
          <p:cNvSpPr>
            <a:spLocks noGrp="1"/>
          </p:cNvSpPr>
          <p:nvPr>
            <p:ph type="title"/>
          </p:nvPr>
        </p:nvSpPr>
        <p:spPr>
          <a:xfrm>
            <a:off x="913795" y="0"/>
            <a:ext cx="10353762" cy="970450"/>
          </a:xfrm>
        </p:spPr>
        <p:txBody>
          <a:bodyPr/>
          <a:lstStyle/>
          <a:p>
            <a:r>
              <a:rPr lang="en-IN" dirty="0">
                <a:solidFill>
                  <a:schemeClr val="tx1"/>
                </a:solidFill>
              </a:rPr>
              <a:t>Introduction to jQuery</a:t>
            </a:r>
          </a:p>
        </p:txBody>
      </p:sp>
      <p:sp>
        <p:nvSpPr>
          <p:cNvPr id="3" name="Content Placeholder 2">
            <a:extLst>
              <a:ext uri="{FF2B5EF4-FFF2-40B4-BE49-F238E27FC236}">
                <a16:creationId xmlns:a16="http://schemas.microsoft.com/office/drawing/2014/main" xmlns="" id="{D21F2BC1-3D62-22BF-94AE-071C20FF843B}"/>
              </a:ext>
            </a:extLst>
          </p:cNvPr>
          <p:cNvSpPr>
            <a:spLocks noGrp="1"/>
          </p:cNvSpPr>
          <p:nvPr>
            <p:ph idx="1"/>
          </p:nvPr>
        </p:nvSpPr>
        <p:spPr>
          <a:xfrm>
            <a:off x="913795" y="1171025"/>
            <a:ext cx="10353762" cy="4431754"/>
          </a:xfrm>
        </p:spPr>
        <p:txBody>
          <a:bodyPr>
            <a:noAutofit/>
          </a:bodyPr>
          <a:lstStyle/>
          <a:p>
            <a:pPr marL="457200" indent="-457200">
              <a:buFont typeface="+mj-lt"/>
              <a:buAutoNum type="arabicPeriod"/>
            </a:pPr>
            <a:r>
              <a:rPr lang="en-IN" sz="2200" dirty="0">
                <a:latin typeface="Times New Roman" pitchFamily="18" charset="0"/>
                <a:cs typeface="Times New Roman" pitchFamily="18" charset="0"/>
              </a:rPr>
              <a:t>jQuery is a lightweight, "write less, do more", JavaScript library.</a:t>
            </a:r>
          </a:p>
          <a:p>
            <a:pPr marL="514350" indent="-514350">
              <a:buFont typeface="+mj-lt"/>
              <a:buAutoNum type="arabicPeriod"/>
            </a:pPr>
            <a:r>
              <a:rPr lang="en-IN" dirty="0">
                <a:solidFill>
                  <a:srgbClr val="FF0000"/>
                </a:solidFill>
                <a:latin typeface="Times New Roman" pitchFamily="18" charset="0"/>
                <a:cs typeface="Times New Roman" pitchFamily="18" charset="0"/>
              </a:rPr>
              <a:t>jQuery is an open-source JavaScript library that simplifies the interactions between an HTML/CSS document</a:t>
            </a:r>
          </a:p>
          <a:p>
            <a:pPr marL="457200" indent="-457200">
              <a:buFont typeface="+mj-lt"/>
              <a:buAutoNum type="arabicPeriod"/>
            </a:pPr>
            <a:r>
              <a:rPr lang="en-IN" sz="2200" dirty="0">
                <a:latin typeface="Times New Roman" pitchFamily="18" charset="0"/>
                <a:cs typeface="Times New Roman" pitchFamily="18" charset="0"/>
              </a:rPr>
              <a:t>jQuery is a fast, small, and feature-rich JavaScript library.</a:t>
            </a:r>
          </a:p>
          <a:p>
            <a:pPr marL="457200" indent="-457200">
              <a:buFont typeface="+mj-lt"/>
              <a:buAutoNum type="arabicPeriod"/>
            </a:pPr>
            <a:r>
              <a:rPr lang="en-IN" sz="2200" dirty="0">
                <a:latin typeface="Times New Roman" pitchFamily="18" charset="0"/>
                <a:cs typeface="Times New Roman" pitchFamily="18" charset="0"/>
              </a:rPr>
              <a:t>The purpose of jQuery is to make it much easier to use JavaScript on your website.</a:t>
            </a:r>
          </a:p>
          <a:p>
            <a:pPr marL="457200" indent="-457200">
              <a:buFont typeface="+mj-lt"/>
              <a:buAutoNum type="arabicPeriod"/>
            </a:pPr>
            <a:r>
              <a:rPr lang="en-IN" sz="2200" dirty="0">
                <a:latin typeface="Times New Roman" pitchFamily="18" charset="0"/>
                <a:cs typeface="Times New Roman" pitchFamily="18" charset="0"/>
              </a:rPr>
              <a:t>jQuery is cross-platform.</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50879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518D14-8E92-7EDB-D168-9037E8269D24}"/>
              </a:ext>
            </a:extLst>
          </p:cNvPr>
          <p:cNvSpPr>
            <a:spLocks noGrp="1"/>
          </p:cNvSpPr>
          <p:nvPr>
            <p:ph type="title"/>
          </p:nvPr>
        </p:nvSpPr>
        <p:spPr>
          <a:xfrm>
            <a:off x="913795" y="0"/>
            <a:ext cx="10353762" cy="970450"/>
          </a:xfrm>
        </p:spPr>
        <p:txBody>
          <a:bodyPr/>
          <a:lstStyle/>
          <a:p>
            <a:r>
              <a:rPr lang="en-IN" dirty="0">
                <a:solidFill>
                  <a:schemeClr val="tx1"/>
                </a:solidFill>
              </a:rPr>
              <a:t> jQuery Features</a:t>
            </a:r>
          </a:p>
        </p:txBody>
      </p:sp>
      <p:sp>
        <p:nvSpPr>
          <p:cNvPr id="3" name="Content Placeholder 2">
            <a:extLst>
              <a:ext uri="{FF2B5EF4-FFF2-40B4-BE49-F238E27FC236}">
                <a16:creationId xmlns:a16="http://schemas.microsoft.com/office/drawing/2014/main" xmlns="" id="{D21F2BC1-3D62-22BF-94AE-071C20FF843B}"/>
              </a:ext>
            </a:extLst>
          </p:cNvPr>
          <p:cNvSpPr>
            <a:spLocks noGrp="1"/>
          </p:cNvSpPr>
          <p:nvPr>
            <p:ph idx="1"/>
          </p:nvPr>
        </p:nvSpPr>
        <p:spPr>
          <a:xfrm>
            <a:off x="913795" y="1171024"/>
            <a:ext cx="10353762" cy="5313997"/>
          </a:xfrm>
        </p:spPr>
        <p:txBody>
          <a:bodyPr>
            <a:noAutofit/>
          </a:bodyPr>
          <a:lstStyle/>
          <a:p>
            <a:pPr marL="457200" indent="-457200">
              <a:buFont typeface="+mj-lt"/>
              <a:buAutoNum type="arabicPeriod"/>
            </a:pPr>
            <a:r>
              <a:rPr lang="en-IN" sz="2200" dirty="0">
                <a:latin typeface="Times New Roman" pitchFamily="18" charset="0"/>
                <a:cs typeface="Times New Roman" pitchFamily="18" charset="0"/>
              </a:rPr>
              <a:t>Event handling: Simplify event handling such as click, hover, submit, etc.</a:t>
            </a:r>
          </a:p>
          <a:p>
            <a:pPr marL="457200" indent="-457200">
              <a:buFont typeface="+mj-lt"/>
              <a:buAutoNum type="arabicPeriod"/>
            </a:pPr>
            <a:r>
              <a:rPr lang="en-IN" sz="2200" dirty="0">
                <a:latin typeface="Times New Roman" pitchFamily="18" charset="0"/>
                <a:cs typeface="Times New Roman" pitchFamily="18" charset="0"/>
              </a:rPr>
              <a:t>Animations: Create smooth animations and effects.</a:t>
            </a:r>
          </a:p>
          <a:p>
            <a:pPr marL="514350" indent="-514350">
              <a:buFont typeface="+mj-lt"/>
              <a:buAutoNum type="arabicPeriod"/>
            </a:pPr>
            <a:r>
              <a:rPr lang="en-IN" dirty="0">
                <a:latin typeface="Times New Roman" pitchFamily="18" charset="0"/>
                <a:cs typeface="Times New Roman" pitchFamily="18" charset="0"/>
              </a:rPr>
              <a:t>jQuery is simple and has powerful features</a:t>
            </a:r>
          </a:p>
          <a:p>
            <a:pPr marL="457200" indent="-457200">
              <a:buFont typeface="+mj-lt"/>
              <a:buAutoNum type="arabicPeriod"/>
            </a:pPr>
            <a:r>
              <a:rPr lang="en-IN" sz="2200" dirty="0">
                <a:latin typeface="Times New Roman" pitchFamily="18" charset="0"/>
                <a:cs typeface="Times New Roman" pitchFamily="18" charset="0"/>
              </a:rPr>
              <a:t>It helps us to manipulate DOM (Document Object Model) elements</a:t>
            </a:r>
          </a:p>
          <a:p>
            <a:pPr marL="457200" indent="-457200">
              <a:buFont typeface="+mj-lt"/>
              <a:buAutoNum type="arabicPeriod"/>
            </a:pPr>
            <a:r>
              <a:rPr lang="en-IN" sz="2200" dirty="0">
                <a:latin typeface="Times New Roman" pitchFamily="18" charset="0"/>
                <a:cs typeface="Times New Roman" pitchFamily="18" charset="0"/>
              </a:rPr>
              <a:t>Provides event methods to trigger and respond to an events on a html page such as mouse click, keypress etc</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90881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518D14-8E92-7EDB-D168-9037E8269D24}"/>
              </a:ext>
            </a:extLst>
          </p:cNvPr>
          <p:cNvSpPr>
            <a:spLocks noGrp="1"/>
          </p:cNvSpPr>
          <p:nvPr>
            <p:ph type="title"/>
          </p:nvPr>
        </p:nvSpPr>
        <p:spPr>
          <a:xfrm>
            <a:off x="913795" y="0"/>
            <a:ext cx="10353762" cy="970450"/>
          </a:xfrm>
        </p:spPr>
        <p:txBody>
          <a:bodyPr/>
          <a:lstStyle/>
          <a:p>
            <a:r>
              <a:rPr lang="en-IN" dirty="0">
                <a:solidFill>
                  <a:schemeClr val="tx1"/>
                </a:solidFill>
              </a:rPr>
              <a:t>Advantages of jQuery</a:t>
            </a:r>
          </a:p>
        </p:txBody>
      </p:sp>
      <p:sp>
        <p:nvSpPr>
          <p:cNvPr id="3" name="Content Placeholder 2">
            <a:extLst>
              <a:ext uri="{FF2B5EF4-FFF2-40B4-BE49-F238E27FC236}">
                <a16:creationId xmlns:a16="http://schemas.microsoft.com/office/drawing/2014/main" xmlns="" id="{D21F2BC1-3D62-22BF-94AE-071C20FF843B}"/>
              </a:ext>
            </a:extLst>
          </p:cNvPr>
          <p:cNvSpPr>
            <a:spLocks noGrp="1"/>
          </p:cNvSpPr>
          <p:nvPr>
            <p:ph idx="1"/>
          </p:nvPr>
        </p:nvSpPr>
        <p:spPr>
          <a:xfrm>
            <a:off x="913795" y="1171024"/>
            <a:ext cx="10353762" cy="5313997"/>
          </a:xfrm>
        </p:spPr>
        <p:txBody>
          <a:bodyPr>
            <a:noAutofit/>
          </a:bodyPr>
          <a:lstStyle/>
          <a:p>
            <a:pPr algn="just"/>
            <a:r>
              <a:rPr lang="en-IN" sz="2200" dirty="0">
                <a:latin typeface="Times New Roman" panose="02020603050405020304" pitchFamily="18" charset="0"/>
                <a:cs typeface="Times New Roman" panose="02020603050405020304" pitchFamily="18" charset="0"/>
              </a:rPr>
              <a:t>Wide range of plug-ins that allows developers to create plug-ins on top of the JavaScript library.</a:t>
            </a:r>
          </a:p>
          <a:p>
            <a:pPr algn="just"/>
            <a:r>
              <a:rPr lang="en-IN" sz="2200" dirty="0">
                <a:latin typeface="Times New Roman" panose="02020603050405020304" pitchFamily="18" charset="0"/>
                <a:cs typeface="Times New Roman" panose="02020603050405020304" pitchFamily="18" charset="0"/>
              </a:rPr>
              <a:t>Large development community.</a:t>
            </a:r>
          </a:p>
          <a:p>
            <a:pPr algn="just"/>
            <a:r>
              <a:rPr lang="en-IN" sz="2200" dirty="0">
                <a:latin typeface="Times New Roman" panose="02020603050405020304" pitchFamily="18" charset="0"/>
                <a:cs typeface="Times New Roman" panose="02020603050405020304" pitchFamily="18" charset="0"/>
              </a:rPr>
              <a:t>It is a lot easier to use compared to standard </a:t>
            </a:r>
            <a:r>
              <a:rPr lang="en-IN" sz="2200" dirty="0" err="1">
                <a:latin typeface="Times New Roman" panose="02020603050405020304" pitchFamily="18" charset="0"/>
                <a:cs typeface="Times New Roman" panose="02020603050405020304" pitchFamily="18" charset="0"/>
              </a:rPr>
              <a:t>javascript</a:t>
            </a:r>
            <a:r>
              <a:rPr lang="en-IN" sz="2200" dirty="0">
                <a:latin typeface="Times New Roman" panose="02020603050405020304" pitchFamily="18" charset="0"/>
                <a:cs typeface="Times New Roman" panose="02020603050405020304" pitchFamily="18" charset="0"/>
              </a:rPr>
              <a:t> and other </a:t>
            </a:r>
            <a:r>
              <a:rPr lang="en-IN" sz="2200" dirty="0" err="1">
                <a:latin typeface="Times New Roman" panose="02020603050405020304" pitchFamily="18" charset="0"/>
                <a:cs typeface="Times New Roman" panose="02020603050405020304" pitchFamily="18" charset="0"/>
              </a:rPr>
              <a:t>javascript</a:t>
            </a:r>
            <a:r>
              <a:rPr lang="en-IN" sz="2200" dirty="0">
                <a:latin typeface="Times New Roman" panose="02020603050405020304" pitchFamily="18" charset="0"/>
                <a:cs typeface="Times New Roman" panose="02020603050405020304" pitchFamily="18" charset="0"/>
              </a:rPr>
              <a:t> libraries.</a:t>
            </a:r>
          </a:p>
          <a:p>
            <a:pPr algn="just"/>
            <a:r>
              <a:rPr lang="en-IN" sz="2200" dirty="0">
                <a:latin typeface="Times New Roman" panose="02020603050405020304" pitchFamily="18" charset="0"/>
                <a:cs typeface="Times New Roman" panose="02020603050405020304" pitchFamily="18" charset="0"/>
              </a:rPr>
              <a:t>It lets users develop Ajax templates with ease. Ajax enables a sleeker interface where actions can be performed on pages without requiring the entire page to be reloaded.</a:t>
            </a:r>
          </a:p>
          <a:p>
            <a:pPr algn="just"/>
            <a:r>
              <a:rPr lang="en-IN" sz="2200" dirty="0">
                <a:latin typeface="Times New Roman" panose="02020603050405020304" pitchFamily="18" charset="0"/>
                <a:cs typeface="Times New Roman" panose="02020603050405020304" pitchFamily="18" charset="0"/>
              </a:rPr>
              <a:t>Being Light weight and a powerful chaining capabilities makes it more strong.</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8200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518D14-8E92-7EDB-D168-9037E8269D24}"/>
              </a:ext>
            </a:extLst>
          </p:cNvPr>
          <p:cNvSpPr>
            <a:spLocks noGrp="1"/>
          </p:cNvSpPr>
          <p:nvPr>
            <p:ph type="title"/>
          </p:nvPr>
        </p:nvSpPr>
        <p:spPr>
          <a:xfrm>
            <a:off x="913795" y="0"/>
            <a:ext cx="10353762" cy="970450"/>
          </a:xfrm>
        </p:spPr>
        <p:txBody>
          <a:bodyPr/>
          <a:lstStyle/>
          <a:p>
            <a:r>
              <a:rPr lang="en-IN" dirty="0">
                <a:solidFill>
                  <a:schemeClr val="tx1"/>
                </a:solidFill>
              </a:rPr>
              <a:t>Adding jQuery to Your Web Pages</a:t>
            </a:r>
          </a:p>
        </p:txBody>
      </p:sp>
      <p:sp>
        <p:nvSpPr>
          <p:cNvPr id="3" name="Content Placeholder 2">
            <a:extLst>
              <a:ext uri="{FF2B5EF4-FFF2-40B4-BE49-F238E27FC236}">
                <a16:creationId xmlns:a16="http://schemas.microsoft.com/office/drawing/2014/main" xmlns="" id="{D21F2BC1-3D62-22BF-94AE-071C20FF843B}"/>
              </a:ext>
            </a:extLst>
          </p:cNvPr>
          <p:cNvSpPr>
            <a:spLocks noGrp="1"/>
          </p:cNvSpPr>
          <p:nvPr>
            <p:ph idx="1"/>
          </p:nvPr>
        </p:nvSpPr>
        <p:spPr>
          <a:xfrm>
            <a:off x="913795" y="1171024"/>
            <a:ext cx="10353762" cy="531399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There are several ways to start using jQuery on your web site.</a:t>
            </a:r>
          </a:p>
          <a:p>
            <a:endParaRPr lang="en-IN" sz="2200" b="1"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Use the Google-hosted/ Microsoft-hosted content delivery network (CDN) to include a version of jQuery.</a:t>
            </a:r>
          </a:p>
          <a:p>
            <a:r>
              <a:rPr lang="en-IN" sz="2200" dirty="0">
                <a:latin typeface="Times New Roman" panose="02020603050405020304" pitchFamily="18" charset="0"/>
                <a:cs typeface="Times New Roman" panose="02020603050405020304" pitchFamily="18" charset="0"/>
              </a:rPr>
              <a:t>Download own version of jQuery from jQuery.com and host it on own server or local filesystem.</a:t>
            </a:r>
          </a:p>
        </p:txBody>
      </p:sp>
    </p:spTree>
    <p:extLst>
      <p:ext uri="{BB962C8B-B14F-4D97-AF65-F5344CB8AC3E}">
        <p14:creationId xmlns:p14="http://schemas.microsoft.com/office/powerpoint/2010/main" xmlns="" val="240714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518D14-8E92-7EDB-D168-9037E8269D24}"/>
              </a:ext>
            </a:extLst>
          </p:cNvPr>
          <p:cNvSpPr>
            <a:spLocks noGrp="1"/>
          </p:cNvSpPr>
          <p:nvPr>
            <p:ph type="title"/>
          </p:nvPr>
        </p:nvSpPr>
        <p:spPr>
          <a:xfrm>
            <a:off x="913795" y="0"/>
            <a:ext cx="10353762" cy="970450"/>
          </a:xfrm>
        </p:spPr>
        <p:txBody>
          <a:bodyPr/>
          <a:lstStyle/>
          <a:p>
            <a:r>
              <a:rPr lang="en-IN" dirty="0">
                <a:solidFill>
                  <a:schemeClr val="tx1"/>
                </a:solidFill>
              </a:rPr>
              <a:t>jQuery Syntax</a:t>
            </a:r>
          </a:p>
        </p:txBody>
      </p:sp>
      <p:sp>
        <p:nvSpPr>
          <p:cNvPr id="3" name="Content Placeholder 2">
            <a:extLst>
              <a:ext uri="{FF2B5EF4-FFF2-40B4-BE49-F238E27FC236}">
                <a16:creationId xmlns:a16="http://schemas.microsoft.com/office/drawing/2014/main" xmlns="" id="{D21F2BC1-3D62-22BF-94AE-071C20FF843B}"/>
              </a:ext>
            </a:extLst>
          </p:cNvPr>
          <p:cNvSpPr>
            <a:spLocks noGrp="1"/>
          </p:cNvSpPr>
          <p:nvPr>
            <p:ph idx="1"/>
          </p:nvPr>
        </p:nvSpPr>
        <p:spPr>
          <a:xfrm>
            <a:off x="913795" y="1171024"/>
            <a:ext cx="10353762" cy="5313997"/>
          </a:xfrm>
        </p:spPr>
        <p:txBody>
          <a:bodyPr>
            <a:noAutofit/>
          </a:bodyPr>
          <a:lstStyle/>
          <a:p>
            <a:r>
              <a:rPr lang="en-IN" sz="2200" dirty="0">
                <a:latin typeface="Times New Roman" panose="02020603050405020304" pitchFamily="18" charset="0"/>
                <a:cs typeface="Times New Roman" panose="02020603050405020304" pitchFamily="18" charset="0"/>
              </a:rPr>
              <a:t>The jQuery syntax is tailor-made for selecting HTML elements and performing some action on the element(s).</a:t>
            </a:r>
          </a:p>
          <a:p>
            <a:r>
              <a:rPr lang="en-IN" sz="2200" dirty="0">
                <a:latin typeface="Times New Roman" panose="02020603050405020304" pitchFamily="18" charset="0"/>
                <a:cs typeface="Times New Roman" panose="02020603050405020304" pitchFamily="18" charset="0"/>
              </a:rPr>
              <a:t>$(selector).action()</a:t>
            </a:r>
          </a:p>
          <a:p>
            <a:pPr lvl="1"/>
            <a:r>
              <a:rPr lang="en-IN" sz="1800" dirty="0">
                <a:latin typeface="Times New Roman" panose="02020603050405020304" pitchFamily="18" charset="0"/>
                <a:cs typeface="Times New Roman" panose="02020603050405020304" pitchFamily="18" charset="0"/>
              </a:rPr>
              <a:t>$ sign: It grants access to jQuery. </a:t>
            </a:r>
          </a:p>
          <a:p>
            <a:pPr lvl="1"/>
            <a:r>
              <a:rPr lang="en-IN" sz="1800" dirty="0">
                <a:latin typeface="Times New Roman" panose="02020603050405020304" pitchFamily="18" charset="0"/>
                <a:cs typeface="Times New Roman" panose="02020603050405020304" pitchFamily="18" charset="0"/>
              </a:rPr>
              <a:t>(selector): It is used to find HTML elements. </a:t>
            </a:r>
          </a:p>
          <a:p>
            <a:pPr lvl="1"/>
            <a:r>
              <a:rPr lang="en-IN" sz="1800" dirty="0">
                <a:latin typeface="Times New Roman" panose="02020603050405020304" pitchFamily="18" charset="0"/>
                <a:cs typeface="Times New Roman" panose="02020603050405020304" pitchFamily="18" charset="0"/>
              </a:rPr>
              <a:t>jQuery action(): It is used to perform actions on the elements. </a:t>
            </a:r>
          </a:p>
          <a:p>
            <a:pPr lvl="1"/>
            <a:endParaRPr lang="en-IN" sz="1800" dirty="0">
              <a:latin typeface="Times New Roman" panose="02020603050405020304" pitchFamily="18" charset="0"/>
              <a:cs typeface="Times New Roman" panose="02020603050405020304" pitchFamily="18" charset="0"/>
            </a:endParaRPr>
          </a:p>
          <a:p>
            <a:pPr lvl="1"/>
            <a:endParaRPr lang="en-IN" sz="18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0453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D29A9E-53E1-9A30-230D-CBFE228CB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8979DB2-B687-BE54-F80B-3D6386435E21}"/>
              </a:ext>
            </a:extLst>
          </p:cNvPr>
          <p:cNvSpPr>
            <a:spLocks noGrp="1"/>
          </p:cNvSpPr>
          <p:nvPr>
            <p:ph type="title"/>
          </p:nvPr>
        </p:nvSpPr>
        <p:spPr>
          <a:xfrm>
            <a:off x="913795" y="0"/>
            <a:ext cx="10353762" cy="970450"/>
          </a:xfrm>
        </p:spPr>
        <p:txBody>
          <a:bodyPr/>
          <a:lstStyle/>
          <a:p>
            <a:r>
              <a:rPr lang="en-IN" dirty="0">
                <a:solidFill>
                  <a:schemeClr val="tx1"/>
                </a:solidFill>
              </a:rPr>
              <a:t>Examples</a:t>
            </a:r>
          </a:p>
        </p:txBody>
      </p:sp>
      <p:sp>
        <p:nvSpPr>
          <p:cNvPr id="3" name="Content Placeholder 2">
            <a:extLst>
              <a:ext uri="{FF2B5EF4-FFF2-40B4-BE49-F238E27FC236}">
                <a16:creationId xmlns:a16="http://schemas.microsoft.com/office/drawing/2014/main" xmlns="" id="{554B894A-0AF4-1101-1EAB-E5D7061B16E5}"/>
              </a:ext>
            </a:extLst>
          </p:cNvPr>
          <p:cNvSpPr>
            <a:spLocks noGrp="1"/>
          </p:cNvSpPr>
          <p:nvPr>
            <p:ph idx="1"/>
          </p:nvPr>
        </p:nvSpPr>
        <p:spPr>
          <a:xfrm>
            <a:off x="913795" y="1171024"/>
            <a:ext cx="10353762" cy="5313997"/>
          </a:xfrm>
        </p:spPr>
        <p:txBody>
          <a:bodyPr>
            <a:noAutofit/>
          </a:bodyPr>
          <a:lstStyle/>
          <a:p>
            <a:r>
              <a:rPr lang="en-IN" sz="2200" dirty="0">
                <a:latin typeface="Times New Roman" panose="02020603050405020304" pitchFamily="18" charset="0"/>
                <a:cs typeface="Times New Roman" panose="02020603050405020304" pitchFamily="18" charset="0"/>
              </a:rPr>
              <a:t>$(this).hide() - hides the current element.</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$("p").hide() - hides all &lt;p&gt; elements.</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$(".test").hide() - hides all elements with class="test".</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$("#test").hide() - hides the element with id="test</a:t>
            </a:r>
          </a:p>
        </p:txBody>
      </p:sp>
    </p:spTree>
    <p:extLst>
      <p:ext uri="{BB962C8B-B14F-4D97-AF65-F5344CB8AC3E}">
        <p14:creationId xmlns:p14="http://schemas.microsoft.com/office/powerpoint/2010/main" xmlns="" val="121990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0FD704-1444-38C7-9C71-202A745BC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F118DE2-4FF9-E745-36AB-79DC2E0DEFAB}"/>
              </a:ext>
            </a:extLst>
          </p:cNvPr>
          <p:cNvSpPr>
            <a:spLocks noGrp="1"/>
          </p:cNvSpPr>
          <p:nvPr>
            <p:ph type="title"/>
          </p:nvPr>
        </p:nvSpPr>
        <p:spPr>
          <a:xfrm>
            <a:off x="913795" y="0"/>
            <a:ext cx="10353762" cy="970450"/>
          </a:xfrm>
        </p:spPr>
        <p:txBody>
          <a:bodyPr/>
          <a:lstStyle/>
          <a:p>
            <a:r>
              <a:rPr lang="en-IN" dirty="0">
                <a:solidFill>
                  <a:schemeClr val="tx1"/>
                </a:solidFill>
              </a:rPr>
              <a:t>Document Ready Event:</a:t>
            </a:r>
          </a:p>
        </p:txBody>
      </p:sp>
      <p:sp>
        <p:nvSpPr>
          <p:cNvPr id="3" name="Content Placeholder 2">
            <a:extLst>
              <a:ext uri="{FF2B5EF4-FFF2-40B4-BE49-F238E27FC236}">
                <a16:creationId xmlns:a16="http://schemas.microsoft.com/office/drawing/2014/main" xmlns="" id="{D82426E1-6840-FAE6-7C61-D9757628FB6A}"/>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$(document).ready(function(){</a:t>
            </a:r>
          </a:p>
          <a:p>
            <a:pPr marL="0" indent="0">
              <a:buNone/>
            </a:pPr>
            <a:r>
              <a:rPr lang="en-IN" sz="2200" dirty="0">
                <a:latin typeface="Times New Roman" panose="02020603050405020304" pitchFamily="18" charset="0"/>
                <a:cs typeface="Times New Roman" panose="02020603050405020304" pitchFamily="18" charset="0"/>
              </a:rPr>
              <a:t>  $(selector).action()	// jQuery methods go here...</a:t>
            </a:r>
          </a:p>
          <a:p>
            <a:pPr marL="0" indent="0">
              <a:buNone/>
            </a:pPr>
            <a:r>
              <a:rPr lang="en-IN" sz="2200" dirty="0" smtClean="0">
                <a:latin typeface="Times New Roman" panose="02020603050405020304" pitchFamily="18" charset="0"/>
                <a:cs typeface="Times New Roman" panose="02020603050405020304" pitchFamily="18" charset="0"/>
              </a:rPr>
              <a:t>});</a:t>
            </a:r>
          </a:p>
          <a:p>
            <a:pPr marL="0" indent="0">
              <a:buNone/>
            </a:pP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dirty="0" smtClean="0">
                <a:latin typeface="Times New Roman" panose="02020603050405020304" pitchFamily="18" charset="0"/>
                <a:cs typeface="Times New Roman" panose="02020603050405020304" pitchFamily="18" charset="0"/>
              </a:rPr>
              <a:t>All </a:t>
            </a:r>
            <a:r>
              <a:rPr lang="en-IN" sz="2200" dirty="0">
                <a:latin typeface="Times New Roman" panose="02020603050405020304" pitchFamily="18" charset="0"/>
                <a:cs typeface="Times New Roman" panose="02020603050405020304" pitchFamily="18" charset="0"/>
              </a:rPr>
              <a:t>jQuery methods should be inside a document ready event to prevent any jQuery code from running before the document is finished </a:t>
            </a:r>
            <a:r>
              <a:rPr lang="en-IN" sz="2200" dirty="0" smtClean="0">
                <a:latin typeface="Times New Roman" panose="02020603050405020304" pitchFamily="18" charset="0"/>
                <a:cs typeface="Times New Roman" panose="02020603050405020304" pitchFamily="18" charset="0"/>
              </a:rPr>
              <a:t>loading</a:t>
            </a:r>
          </a:p>
          <a:p>
            <a:pPr marL="457200" indent="-457200">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The factory function $() is a synonym of jQuery() function.</a:t>
            </a:r>
          </a:p>
        </p:txBody>
      </p:sp>
    </p:spTree>
    <p:extLst>
      <p:ext uri="{BB962C8B-B14F-4D97-AF65-F5344CB8AC3E}">
        <p14:creationId xmlns:p14="http://schemas.microsoft.com/office/powerpoint/2010/main" xmlns="" val="116382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599556-73C8-4AFE-7AA2-845AAEB25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A5B5A03-E898-319F-1063-A5CA9A0A4177}"/>
              </a:ext>
            </a:extLst>
          </p:cNvPr>
          <p:cNvSpPr>
            <a:spLocks noGrp="1"/>
          </p:cNvSpPr>
          <p:nvPr>
            <p:ph type="title"/>
          </p:nvPr>
        </p:nvSpPr>
        <p:spPr>
          <a:xfrm>
            <a:off x="913795" y="0"/>
            <a:ext cx="10353762" cy="970450"/>
          </a:xfrm>
        </p:spPr>
        <p:txBody>
          <a:bodyPr/>
          <a:lstStyle/>
          <a:p>
            <a:r>
              <a:rPr lang="en-IN" dirty="0">
                <a:solidFill>
                  <a:schemeClr val="tx1"/>
                </a:solidFill>
              </a:rPr>
              <a:t>Document Ready Event:</a:t>
            </a:r>
          </a:p>
        </p:txBody>
      </p:sp>
      <p:sp>
        <p:nvSpPr>
          <p:cNvPr id="3" name="Content Placeholder 2">
            <a:extLst>
              <a:ext uri="{FF2B5EF4-FFF2-40B4-BE49-F238E27FC236}">
                <a16:creationId xmlns:a16="http://schemas.microsoft.com/office/drawing/2014/main" xmlns="" id="{69BC6566-E3D0-E698-FB9D-3A868ACA04ED}"/>
              </a:ext>
            </a:extLst>
          </p:cNvPr>
          <p:cNvSpPr>
            <a:spLocks noGrp="1"/>
          </p:cNvSpPr>
          <p:nvPr>
            <p:ph idx="1"/>
          </p:nvPr>
        </p:nvSpPr>
        <p:spPr>
          <a:xfrm>
            <a:off x="913795" y="1171024"/>
            <a:ext cx="10353762" cy="5313997"/>
          </a:xfrm>
        </p:spPr>
        <p:txBody>
          <a:bodyPr>
            <a:noAutofit/>
          </a:bodyPr>
          <a:lstStyle/>
          <a:p>
            <a:pPr marL="0" indent="0">
              <a:buNone/>
            </a:pPr>
            <a:r>
              <a:rPr lang="en-IN" sz="2200" dirty="0">
                <a:solidFill>
                  <a:srgbClr val="FF0000"/>
                </a:solidFill>
                <a:latin typeface="Times New Roman" panose="02020603050405020304" pitchFamily="18" charset="0"/>
                <a:cs typeface="Times New Roman" panose="02020603050405020304" pitchFamily="18" charset="0"/>
              </a:rPr>
              <a:t>if methods are run before the document is fully loaded then following actions that can fail</a:t>
            </a:r>
          </a:p>
          <a:p>
            <a:pPr marL="0" indent="0">
              <a:buNone/>
            </a:pP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Trying to hide an element that is not created yet</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Trying to get the size of an image that is not loaded yet</a:t>
            </a:r>
          </a:p>
        </p:txBody>
      </p:sp>
    </p:spTree>
    <p:extLst>
      <p:ext uri="{BB962C8B-B14F-4D97-AF65-F5344CB8AC3E}">
        <p14:creationId xmlns:p14="http://schemas.microsoft.com/office/powerpoint/2010/main" xmlns="" val="26454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828A54C-1CC5-D4A4-E82E-9A47E3452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A97BFE6-5D3E-639D-FD07-588213DA16F6}"/>
              </a:ext>
            </a:extLst>
          </p:cNvPr>
          <p:cNvSpPr>
            <a:spLocks noGrp="1"/>
          </p:cNvSpPr>
          <p:nvPr>
            <p:ph type="title"/>
          </p:nvPr>
        </p:nvSpPr>
        <p:spPr>
          <a:xfrm>
            <a:off x="913795" y="0"/>
            <a:ext cx="10353762" cy="970450"/>
          </a:xfrm>
        </p:spPr>
        <p:txBody>
          <a:bodyPr/>
          <a:lstStyle/>
          <a:p>
            <a:r>
              <a:rPr lang="en-IN" dirty="0">
                <a:solidFill>
                  <a:schemeClr val="tx1"/>
                </a:solidFill>
              </a:rPr>
              <a:t>jQuery Selectors</a:t>
            </a:r>
          </a:p>
        </p:txBody>
      </p:sp>
      <p:sp>
        <p:nvSpPr>
          <p:cNvPr id="3" name="Content Placeholder 2">
            <a:extLst>
              <a:ext uri="{FF2B5EF4-FFF2-40B4-BE49-F238E27FC236}">
                <a16:creationId xmlns:a16="http://schemas.microsoft.com/office/drawing/2014/main" xmlns="" id="{876C8369-6032-0B87-F432-6B3257492240}"/>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jQuery selectors allow you to select and manipulate HTML element(s).</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HTML element Name</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Element ID</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Element Class</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Element attribute name</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Element attribute value</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Many more criteria</a:t>
            </a:r>
          </a:p>
          <a:p>
            <a:pPr marL="0" indent="0"/>
            <a:r>
              <a:rPr lang="en-IN" sz="2200" dirty="0" smtClean="0">
                <a:latin typeface="Times New Roman" panose="02020603050405020304" pitchFamily="18" charset="0"/>
                <a:cs typeface="Times New Roman" panose="02020603050405020304" pitchFamily="18" charset="0"/>
              </a:rPr>
              <a:t> </a:t>
            </a:r>
            <a:r>
              <a:rPr lang="en-IN" sz="2200" dirty="0" err="1" smtClean="0">
                <a:latin typeface="Times New Roman" panose="02020603050405020304" pitchFamily="18" charset="0"/>
                <a:cs typeface="Times New Roman" panose="02020603050405020304" pitchFamily="18" charset="0"/>
              </a:rPr>
              <a:t>jQuery</a:t>
            </a:r>
            <a:r>
              <a:rPr lang="en-IN" sz="2200" dirty="0" smtClean="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selectors are used to "find" (or select) HTML elements based on their name, id, classes, types, attributes, values of attributes and much more. </a:t>
            </a:r>
            <a:endParaRPr lang="en-IN" sz="2200" dirty="0" smtClean="0">
              <a:latin typeface="Times New Roman" panose="02020603050405020304" pitchFamily="18" charset="0"/>
              <a:cs typeface="Times New Roman" panose="02020603050405020304" pitchFamily="18" charset="0"/>
            </a:endParaRPr>
          </a:p>
          <a:p>
            <a:pPr marL="0" indent="0"/>
            <a:r>
              <a:rPr lang="en-IN" sz="2200" dirty="0" smtClean="0">
                <a:latin typeface="Times New Roman" panose="02020603050405020304" pitchFamily="18" charset="0"/>
                <a:cs typeface="Times New Roman" panose="02020603050405020304" pitchFamily="18" charset="0"/>
              </a:rPr>
              <a:t> It's </a:t>
            </a:r>
            <a:r>
              <a:rPr lang="en-IN" sz="2200" dirty="0">
                <a:latin typeface="Times New Roman" panose="02020603050405020304" pitchFamily="18" charset="0"/>
                <a:cs typeface="Times New Roman" panose="02020603050405020304" pitchFamily="18" charset="0"/>
              </a:rPr>
              <a:t>based on the existing CSS Selectors, and in addition, it has some own custom selectors.</a:t>
            </a:r>
          </a:p>
          <a:p>
            <a:pPr marL="0" indent="0"/>
            <a:r>
              <a:rPr lang="en-IN" sz="2200" dirty="0" smtClean="0">
                <a:latin typeface="Times New Roman" panose="02020603050405020304" pitchFamily="18" charset="0"/>
                <a:cs typeface="Times New Roman" panose="02020603050405020304" pitchFamily="18" charset="0"/>
              </a:rPr>
              <a:t> All </a:t>
            </a:r>
            <a:r>
              <a:rPr lang="en-IN" sz="2200" dirty="0">
                <a:latin typeface="Times New Roman" panose="02020603050405020304" pitchFamily="18" charset="0"/>
                <a:cs typeface="Times New Roman" panose="02020603050405020304" pitchFamily="18" charset="0"/>
              </a:rPr>
              <a:t>selectors in jQuery start with the dollar sign and parentheses: $()</a:t>
            </a:r>
          </a:p>
        </p:txBody>
      </p:sp>
    </p:spTree>
    <p:extLst>
      <p:ext uri="{BB962C8B-B14F-4D97-AF65-F5344CB8AC3E}">
        <p14:creationId xmlns:p14="http://schemas.microsoft.com/office/powerpoint/2010/main" xmlns="" val="85689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40"/>
                                  </p:iterate>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40"/>
                                  </p:iterate>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lt">
                                    <p:tmAbs val="40"/>
                                  </p:iterate>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9FF040-9656-FC6E-1F99-39C2C732A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CE0B4C2-2693-F121-581A-8FD8740A8971}"/>
              </a:ext>
            </a:extLst>
          </p:cNvPr>
          <p:cNvSpPr>
            <a:spLocks noGrp="1"/>
          </p:cNvSpPr>
          <p:nvPr>
            <p:ph type="title"/>
          </p:nvPr>
        </p:nvSpPr>
        <p:spPr>
          <a:xfrm>
            <a:off x="913795" y="0"/>
            <a:ext cx="10353762" cy="970450"/>
          </a:xfrm>
        </p:spPr>
        <p:txBody>
          <a:bodyPr/>
          <a:lstStyle/>
          <a:p>
            <a:r>
              <a:rPr lang="en-IN" dirty="0">
                <a:solidFill>
                  <a:schemeClr val="tx1"/>
                </a:solidFill>
              </a:rPr>
              <a:t>jQuery Selectors Syntax</a:t>
            </a:r>
          </a:p>
        </p:txBody>
      </p:sp>
      <p:sp>
        <p:nvSpPr>
          <p:cNvPr id="3" name="Content Placeholder 2">
            <a:extLst>
              <a:ext uri="{FF2B5EF4-FFF2-40B4-BE49-F238E27FC236}">
                <a16:creationId xmlns:a16="http://schemas.microsoft.com/office/drawing/2014/main" xmlns="" id="{BCB7B266-F703-7585-9A06-362E0138C4D4}"/>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$(document).ready(function(){</a:t>
            </a:r>
          </a:p>
          <a:p>
            <a:pPr marL="0" indent="0">
              <a:buNone/>
            </a:pPr>
            <a:r>
              <a:rPr lang="en-IN" sz="2200" dirty="0">
                <a:latin typeface="Times New Roman" panose="02020603050405020304" pitchFamily="18" charset="0"/>
                <a:cs typeface="Times New Roman" panose="02020603050405020304" pitchFamily="18" charset="0"/>
              </a:rPr>
              <a:t>    $(selector)</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283424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0A31A1-F389-02C9-AB1C-2FFE0F8E8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FCEA59A-756B-E1CF-9EBD-5F56A9785450}"/>
              </a:ext>
            </a:extLst>
          </p:cNvPr>
          <p:cNvSpPr>
            <a:spLocks noGrp="1"/>
          </p:cNvSpPr>
          <p:nvPr>
            <p:ph type="title"/>
          </p:nvPr>
        </p:nvSpPr>
        <p:spPr>
          <a:xfrm>
            <a:off x="913795" y="0"/>
            <a:ext cx="10353762" cy="970450"/>
          </a:xfrm>
        </p:spPr>
        <p:txBody>
          <a:bodyPr/>
          <a:lstStyle/>
          <a:p>
            <a:r>
              <a:rPr lang="en-IN" dirty="0">
                <a:solidFill>
                  <a:schemeClr val="tx1"/>
                </a:solidFill>
              </a:rPr>
              <a:t>The element Selector</a:t>
            </a:r>
          </a:p>
        </p:txBody>
      </p:sp>
      <p:sp>
        <p:nvSpPr>
          <p:cNvPr id="3" name="Content Placeholder 2">
            <a:extLst>
              <a:ext uri="{FF2B5EF4-FFF2-40B4-BE49-F238E27FC236}">
                <a16:creationId xmlns:a16="http://schemas.microsoft.com/office/drawing/2014/main" xmlns="" id="{272A78FD-1D8F-583E-11D5-967797AEFED4}"/>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jQuery element selector selects elements based on the element name.</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You can select all &lt;p&gt; elements on a page like this:</a:t>
            </a:r>
          </a:p>
          <a:p>
            <a:pPr marL="0" indent="0">
              <a:buNone/>
            </a:pPr>
            <a:r>
              <a:rPr lang="en-IN" sz="2200" dirty="0">
                <a:latin typeface="Times New Roman" panose="02020603050405020304" pitchFamily="18" charset="0"/>
                <a:cs typeface="Times New Roman" panose="02020603050405020304" pitchFamily="18" charset="0"/>
              </a:rPr>
              <a:t>$(document).ready(function(){</a:t>
            </a:r>
          </a:p>
          <a:p>
            <a:pPr marL="0" indent="0">
              <a:buNone/>
            </a:pPr>
            <a:r>
              <a:rPr lang="en-IN" sz="2200" dirty="0">
                <a:latin typeface="Times New Roman" panose="02020603050405020304" pitchFamily="18" charset="0"/>
                <a:cs typeface="Times New Roman" panose="02020603050405020304" pitchFamily="18" charset="0"/>
              </a:rPr>
              <a:t>    $("Html Element Name")</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144623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4F66043-CEF1-CAA8-5BD1-3412E298EB63}"/>
              </a:ext>
            </a:extLst>
          </p:cNvPr>
          <p:cNvSpPr>
            <a:spLocks noGrp="1"/>
          </p:cNvSpPr>
          <p:nvPr>
            <p:ph idx="1"/>
          </p:nvPr>
        </p:nvSpPr>
        <p:spPr>
          <a:xfrm>
            <a:off x="1261872" y="348916"/>
            <a:ext cx="8595360" cy="5831221"/>
          </a:xfrm>
        </p:spPr>
        <p:txBody>
          <a:bodyPr>
            <a:noAutofit/>
          </a:bodyPr>
          <a:lstStyle/>
          <a:p>
            <a:pPr marL="0" indent="0">
              <a:buNone/>
            </a:pPr>
            <a:endParaRPr lang="en-IN" sz="23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790C0C6F-5486-C622-6290-E1B98686EF9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18976271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2CA1A73-1336-3CAD-9929-16ADD052A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D610506-208A-F526-E320-12C954504A12}"/>
              </a:ext>
            </a:extLst>
          </p:cNvPr>
          <p:cNvSpPr>
            <a:spLocks noGrp="1"/>
          </p:cNvSpPr>
          <p:nvPr>
            <p:ph type="title"/>
          </p:nvPr>
        </p:nvSpPr>
        <p:spPr>
          <a:xfrm>
            <a:off x="913795" y="0"/>
            <a:ext cx="10353762" cy="970450"/>
          </a:xfrm>
        </p:spPr>
        <p:txBody>
          <a:bodyPr/>
          <a:lstStyle/>
          <a:p>
            <a:r>
              <a:rPr lang="en-IN" dirty="0">
                <a:solidFill>
                  <a:schemeClr val="tx1"/>
                </a:solidFill>
              </a:rPr>
              <a:t>The #id Selector</a:t>
            </a:r>
          </a:p>
        </p:txBody>
      </p:sp>
      <p:sp>
        <p:nvSpPr>
          <p:cNvPr id="3" name="Content Placeholder 2">
            <a:extLst>
              <a:ext uri="{FF2B5EF4-FFF2-40B4-BE49-F238E27FC236}">
                <a16:creationId xmlns:a16="http://schemas.microsoft.com/office/drawing/2014/main" xmlns="" id="{BC06B129-DA87-8240-11A6-CA7538829433}"/>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jQuery #id selector uses the id attribute of an HTML tag to find the specific element. </a:t>
            </a:r>
          </a:p>
          <a:p>
            <a:pPr marL="0" indent="0">
              <a:buNone/>
            </a:pPr>
            <a:r>
              <a:rPr lang="en-IN" sz="2200" dirty="0">
                <a:latin typeface="Times New Roman" panose="02020603050405020304" pitchFamily="18" charset="0"/>
                <a:cs typeface="Times New Roman" panose="02020603050405020304" pitchFamily="18" charset="0"/>
              </a:rPr>
              <a:t>An id should be unique within a page, so you should use the #id selector when you want to find a single, unique element.</a:t>
            </a:r>
          </a:p>
          <a:p>
            <a:pPr marL="0" indent="0">
              <a:buNone/>
            </a:pPr>
            <a:r>
              <a:rPr lang="en-IN" sz="2200" dirty="0">
                <a:latin typeface="Times New Roman" panose="02020603050405020304" pitchFamily="18" charset="0"/>
                <a:cs typeface="Times New Roman" panose="02020603050405020304" pitchFamily="18" charset="0"/>
              </a:rPr>
              <a:t>$(document).ready(function(){</a:t>
            </a:r>
          </a:p>
          <a:p>
            <a:pPr marL="0" indent="0">
              <a:buNone/>
            </a:pPr>
            <a:r>
              <a:rPr lang="en-IN" sz="2200" dirty="0">
                <a:latin typeface="Times New Roman" panose="02020603050405020304" pitchFamily="18" charset="0"/>
                <a:cs typeface="Times New Roman" panose="02020603050405020304" pitchFamily="18" charset="0"/>
              </a:rPr>
              <a:t>    $("#id of the element")</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230865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3A1550-EFC5-99B3-BE1E-03E16D2E1F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9C5BAFF9-73FB-8D83-54E3-B15899C5D9B6}"/>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xmlns="" id="{4E65D94A-0645-2D7F-2172-0F7723124AE7}"/>
              </a:ext>
            </a:extLst>
          </p:cNvPr>
          <p:cNvPicPr>
            <a:picLocks noChangeAspect="1"/>
          </p:cNvPicPr>
          <p:nvPr/>
        </p:nvPicPr>
        <p:blipFill>
          <a:blip r:embed="rId2"/>
          <a:stretch>
            <a:fillRect/>
          </a:stretch>
        </p:blipFill>
        <p:spPr>
          <a:xfrm>
            <a:off x="0" y="-14990"/>
            <a:ext cx="12192000" cy="6858000"/>
          </a:xfrm>
          <a:prstGeom prst="rect">
            <a:avLst/>
          </a:prstGeom>
        </p:spPr>
      </p:pic>
    </p:spTree>
    <p:extLst>
      <p:ext uri="{BB962C8B-B14F-4D97-AF65-F5344CB8AC3E}">
        <p14:creationId xmlns:p14="http://schemas.microsoft.com/office/powerpoint/2010/main" xmlns="" val="40155608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39AEF3-91DA-2622-5533-4F740F894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9307573-1F16-08F3-5914-17C51540C44A}"/>
              </a:ext>
            </a:extLst>
          </p:cNvPr>
          <p:cNvSpPr>
            <a:spLocks noGrp="1"/>
          </p:cNvSpPr>
          <p:nvPr>
            <p:ph type="title"/>
          </p:nvPr>
        </p:nvSpPr>
        <p:spPr>
          <a:xfrm>
            <a:off x="913795" y="0"/>
            <a:ext cx="10353762" cy="970450"/>
          </a:xfrm>
        </p:spPr>
        <p:txBody>
          <a:bodyPr/>
          <a:lstStyle/>
          <a:p>
            <a:r>
              <a:rPr lang="en-IN" dirty="0">
                <a:solidFill>
                  <a:schemeClr val="tx1"/>
                </a:solidFill>
              </a:rPr>
              <a:t>The #class Selector</a:t>
            </a:r>
          </a:p>
        </p:txBody>
      </p:sp>
      <p:sp>
        <p:nvSpPr>
          <p:cNvPr id="3" name="Content Placeholder 2">
            <a:extLst>
              <a:ext uri="{FF2B5EF4-FFF2-40B4-BE49-F238E27FC236}">
                <a16:creationId xmlns:a16="http://schemas.microsoft.com/office/drawing/2014/main" xmlns="" id="{152DBD03-56F8-DD23-7666-77BBBD12A93B}"/>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The jQuery .class selector selects HTML element(s) based on the element class attribute. </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$(document).ready(function(){</a:t>
            </a:r>
          </a:p>
          <a:p>
            <a:pPr marL="0" indent="0">
              <a:buNone/>
            </a:pPr>
            <a:r>
              <a:rPr lang="en-IN" sz="2200" dirty="0">
                <a:latin typeface="Times New Roman" panose="02020603050405020304" pitchFamily="18" charset="0"/>
                <a:cs typeface="Times New Roman" panose="02020603050405020304" pitchFamily="18" charset="0"/>
              </a:rPr>
              <a:t>    $(".class of the element")</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343377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0BED09-B073-7C19-C014-FC0A38CCC5A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D65AFFE-EA55-6CD5-E1C8-F2BC96B48129}"/>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xmlns="" id="{03CA21F8-15A2-079A-9EA8-EDBF14FEE9E3}"/>
              </a:ext>
            </a:extLst>
          </p:cNvPr>
          <p:cNvPicPr>
            <a:picLocks noChangeAspect="1"/>
          </p:cNvPicPr>
          <p:nvPr/>
        </p:nvPicPr>
        <p:blipFill>
          <a:blip r:embed="rId2"/>
          <a:stretch>
            <a:fillRect/>
          </a:stretch>
        </p:blipFill>
        <p:spPr>
          <a:xfrm>
            <a:off x="-1905" y="0"/>
            <a:ext cx="12193905" cy="6858000"/>
          </a:xfrm>
          <a:prstGeom prst="rect">
            <a:avLst/>
          </a:prstGeom>
        </p:spPr>
      </p:pic>
    </p:spTree>
    <p:extLst>
      <p:ext uri="{BB962C8B-B14F-4D97-AF65-F5344CB8AC3E}">
        <p14:creationId xmlns:p14="http://schemas.microsoft.com/office/powerpoint/2010/main" xmlns="" val="763391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A351D1-F593-5ECC-7F8C-7E3FBDC9DD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6F364DA-B2D9-ECCF-B3A1-5D0F75CA8C90}"/>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xmlns="" id="{8EEE840E-D723-EE6C-6A72-1A4D5CB92BD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122712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DCE1E1-6033-D314-CFB7-5BA345816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9C8B50D-7E55-5D82-BD1D-154F4E4C8E23}"/>
              </a:ext>
            </a:extLst>
          </p:cNvPr>
          <p:cNvSpPr>
            <a:spLocks noGrp="1"/>
          </p:cNvSpPr>
          <p:nvPr>
            <p:ph type="title"/>
          </p:nvPr>
        </p:nvSpPr>
        <p:spPr>
          <a:xfrm>
            <a:off x="913795" y="0"/>
            <a:ext cx="10353762" cy="970450"/>
          </a:xfrm>
        </p:spPr>
        <p:txBody>
          <a:bodyPr/>
          <a:lstStyle/>
          <a:p>
            <a:r>
              <a:rPr lang="en-IN" dirty="0">
                <a:solidFill>
                  <a:schemeClr val="tx1"/>
                </a:solidFill>
              </a:rPr>
              <a:t>jQuery Event Methods</a:t>
            </a:r>
          </a:p>
        </p:txBody>
      </p:sp>
      <p:sp>
        <p:nvSpPr>
          <p:cNvPr id="3" name="Content Placeholder 2">
            <a:extLst>
              <a:ext uri="{FF2B5EF4-FFF2-40B4-BE49-F238E27FC236}">
                <a16:creationId xmlns:a16="http://schemas.microsoft.com/office/drawing/2014/main" xmlns="" id="{15328F7C-9D4C-C5BB-B227-202FD97AA780}"/>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jQuery events are the actions that can be detected by your web application. They are used to create dynamic web pages. An event shows the exact moment when something happens.</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Examples of events.</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A mouse click</a:t>
            </a:r>
          </a:p>
          <a:p>
            <a:pPr marL="0" indent="0">
              <a:buNone/>
            </a:pPr>
            <a:r>
              <a:rPr lang="en-IN" sz="2200" dirty="0">
                <a:latin typeface="Times New Roman" panose="02020603050405020304" pitchFamily="18" charset="0"/>
                <a:cs typeface="Times New Roman" panose="02020603050405020304" pitchFamily="18" charset="0"/>
              </a:rPr>
              <a:t>An HTML form submission</a:t>
            </a:r>
          </a:p>
          <a:p>
            <a:pPr marL="0" indent="0">
              <a:buNone/>
            </a:pPr>
            <a:r>
              <a:rPr lang="en-IN" sz="2200" dirty="0">
                <a:latin typeface="Times New Roman" panose="02020603050405020304" pitchFamily="18" charset="0"/>
                <a:cs typeface="Times New Roman" panose="02020603050405020304" pitchFamily="18" charset="0"/>
              </a:rPr>
              <a:t>A web page loading</a:t>
            </a:r>
          </a:p>
          <a:p>
            <a:pPr marL="0" indent="0">
              <a:buNone/>
            </a:pPr>
            <a:r>
              <a:rPr lang="en-IN" sz="2200" dirty="0">
                <a:latin typeface="Times New Roman" panose="02020603050405020304" pitchFamily="18" charset="0"/>
                <a:cs typeface="Times New Roman" panose="02020603050405020304" pitchFamily="18" charset="0"/>
              </a:rPr>
              <a:t>A keystroke on the keyboard</a:t>
            </a:r>
          </a:p>
          <a:p>
            <a:pPr marL="0" indent="0">
              <a:buNone/>
            </a:pPr>
            <a:r>
              <a:rPr lang="en-IN" sz="2200" dirty="0">
                <a:latin typeface="Times New Roman" panose="02020603050405020304" pitchFamily="18" charset="0"/>
                <a:cs typeface="Times New Roman" panose="02020603050405020304" pitchFamily="18" charset="0"/>
              </a:rPr>
              <a:t>Scrolling of the web page etc.</a:t>
            </a:r>
          </a:p>
        </p:txBody>
      </p:sp>
    </p:spTree>
    <p:extLst>
      <p:ext uri="{BB962C8B-B14F-4D97-AF65-F5344CB8AC3E}">
        <p14:creationId xmlns:p14="http://schemas.microsoft.com/office/powerpoint/2010/main" xmlns="" val="188929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lt">
                                    <p:tmAbs val="40"/>
                                  </p:iterate>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C6987D-FE10-27B0-695F-A9D2672A72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6A0F8933-9307-163E-CF63-D2F0ACB22310}"/>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xmlns="" id="{5AD49E96-582A-3F95-A0AC-D9F58084ED61}"/>
              </a:ext>
            </a:extLst>
          </p:cNvPr>
          <p:cNvPicPr>
            <a:picLocks noChangeAspect="1"/>
          </p:cNvPicPr>
          <p:nvPr/>
        </p:nvPicPr>
        <p:blipFill>
          <a:blip r:embed="rId2"/>
          <a:stretch>
            <a:fillRect/>
          </a:stretch>
        </p:blipFill>
        <p:spPr>
          <a:xfrm>
            <a:off x="-1" y="0"/>
            <a:ext cx="12302893" cy="6858000"/>
          </a:xfrm>
          <a:prstGeom prst="rect">
            <a:avLst/>
          </a:prstGeom>
        </p:spPr>
      </p:pic>
    </p:spTree>
    <p:extLst>
      <p:ext uri="{BB962C8B-B14F-4D97-AF65-F5344CB8AC3E}">
        <p14:creationId xmlns:p14="http://schemas.microsoft.com/office/powerpoint/2010/main" xmlns="" val="4188028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298D8F4-D1D2-90E0-A8E8-1CBEEE30C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FFEDC45-0147-0541-9B2D-F269FBE82B5C}"/>
              </a:ext>
            </a:extLst>
          </p:cNvPr>
          <p:cNvSpPr>
            <a:spLocks noGrp="1"/>
          </p:cNvSpPr>
          <p:nvPr>
            <p:ph type="title"/>
          </p:nvPr>
        </p:nvSpPr>
        <p:spPr>
          <a:xfrm>
            <a:off x="913795" y="0"/>
            <a:ext cx="10353762" cy="970450"/>
          </a:xfrm>
        </p:spPr>
        <p:txBody>
          <a:bodyPr/>
          <a:lstStyle/>
          <a:p>
            <a:r>
              <a:rPr lang="en-IN" dirty="0">
                <a:solidFill>
                  <a:schemeClr val="tx1"/>
                </a:solidFill>
              </a:rPr>
              <a:t>Syntax</a:t>
            </a:r>
          </a:p>
        </p:txBody>
      </p:sp>
      <p:sp>
        <p:nvSpPr>
          <p:cNvPr id="3" name="Content Placeholder 2">
            <a:extLst>
              <a:ext uri="{FF2B5EF4-FFF2-40B4-BE49-F238E27FC236}">
                <a16:creationId xmlns:a16="http://schemas.microsoft.com/office/drawing/2014/main" xmlns="" id="{6324807E-644F-DB2D-E0DB-D0CBA5A33DB5}"/>
              </a:ext>
            </a:extLst>
          </p:cNvPr>
          <p:cNvSpPr>
            <a:spLocks noGrp="1"/>
          </p:cNvSpPr>
          <p:nvPr>
            <p:ph idx="1"/>
          </p:nvPr>
        </p:nvSpPr>
        <p:spPr>
          <a:xfrm>
            <a:off x="913795" y="1171024"/>
            <a:ext cx="10353762" cy="5313997"/>
          </a:xfrm>
        </p:spPr>
        <p:txBody>
          <a:bodyPr>
            <a:noAutofit/>
          </a:bodyPr>
          <a:lstStyle/>
          <a:p>
            <a:pPr marL="0" indent="0">
              <a:buNone/>
            </a:pPr>
            <a:r>
              <a:rPr lang="en-IN" sz="2200" dirty="0">
                <a:latin typeface="Times New Roman" panose="02020603050405020304" pitchFamily="18" charset="0"/>
                <a:cs typeface="Times New Roman" panose="02020603050405020304" pitchFamily="18" charset="0"/>
              </a:rPr>
              <a:t>$("div").click(function(){</a:t>
            </a:r>
          </a:p>
          <a:p>
            <a:pPr marL="0" indent="0">
              <a:buNone/>
            </a:pPr>
            <a:r>
              <a:rPr lang="en-IN" sz="2200" dirty="0">
                <a:latin typeface="Times New Roman" panose="02020603050405020304" pitchFamily="18" charset="0"/>
                <a:cs typeface="Times New Roman" panose="02020603050405020304" pitchFamily="18" charset="0"/>
              </a:rPr>
              <a:t>   // jQuery code goes here</a:t>
            </a:r>
          </a:p>
          <a:p>
            <a:pPr marL="0" indent="0">
              <a:buNone/>
            </a:pPr>
            <a:r>
              <a:rPr lang="en-IN" sz="2200" dirty="0">
                <a:latin typeface="Times New Roman" panose="02020603050405020304" pitchFamily="18" charset="0"/>
                <a:cs typeface="Times New Roman" panose="02020603050405020304" pitchFamily="18" charset="0"/>
              </a:rPr>
              <a:t>});</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$("div").bind('click', function(){</a:t>
            </a:r>
          </a:p>
          <a:p>
            <a:pPr marL="0" indent="0">
              <a:buNone/>
            </a:pPr>
            <a:r>
              <a:rPr lang="en-IN" sz="2200" dirty="0">
                <a:latin typeface="Times New Roman" panose="02020603050405020304" pitchFamily="18" charset="0"/>
                <a:cs typeface="Times New Roman" panose="02020603050405020304" pitchFamily="18" charset="0"/>
              </a:rPr>
              <a:t>   // jQuery code goes here</a:t>
            </a:r>
          </a:p>
          <a:p>
            <a:pPr marL="0" indent="0">
              <a:buNone/>
            </a:pP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20660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4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40"/>
                                  </p:iterate>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40"/>
                                  </p:iterate>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lt">
                                    <p:tmAbs val="40"/>
                                  </p:iterate>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40"/>
                                  </p:iterate>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lt">
                                    <p:tmAbs val="40"/>
                                  </p:iterate>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D40C14-81B1-27E5-6372-8C022DF171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FCBB266-FCAC-95FF-CD68-D00779AE66E5}"/>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xmlns="" id="{D3B38788-E9A9-3949-005D-B6A42A7AED3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xmlns="" val="3554101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62582-E26A-93C5-E8CF-9F37186C17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80AB54D-2E7A-7159-784C-EC2FEF255FE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7F7B91D4-8F24-F823-73F5-37CF857FE031}"/>
              </a:ext>
            </a:extLst>
          </p:cNvPr>
          <p:cNvPicPr>
            <a:picLocks noChangeAspect="1"/>
          </p:cNvPicPr>
          <p:nvPr/>
        </p:nvPicPr>
        <p:blipFill>
          <a:blip r:embed="rId2"/>
          <a:stretch>
            <a:fillRect/>
          </a:stretch>
        </p:blipFill>
        <p:spPr>
          <a:xfrm>
            <a:off x="-102018" y="71437"/>
            <a:ext cx="12294018" cy="6786563"/>
          </a:xfrm>
          <a:prstGeom prst="rect">
            <a:avLst/>
          </a:prstGeom>
        </p:spPr>
      </p:pic>
    </p:spTree>
    <p:extLst>
      <p:ext uri="{BB962C8B-B14F-4D97-AF65-F5344CB8AC3E}">
        <p14:creationId xmlns:p14="http://schemas.microsoft.com/office/powerpoint/2010/main" xmlns="" val="323059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solidFill>
                  <a:schemeClr val="accent2"/>
                </a:solidFill>
              </a:rPr>
              <a:t>How can we change styles when certain events got triggered </a:t>
            </a:r>
            <a:r>
              <a:rPr lang="en-US" dirty="0" smtClean="0"/>
              <a:t>with the help of JQuery. </a:t>
            </a:r>
            <a:endParaRPr lang="en-IN" dirty="0"/>
          </a:p>
        </p:txBody>
      </p:sp>
      <p:sp>
        <p:nvSpPr>
          <p:cNvPr id="5" name="Content Placeholder 4"/>
          <p:cNvSpPr>
            <a:spLocks noGrp="1"/>
          </p:cNvSpPr>
          <p:nvPr>
            <p:ph idx="1"/>
          </p:nvPr>
        </p:nvSpPr>
        <p:spPr/>
        <p:txBody>
          <a:bodyPr/>
          <a:lstStyle/>
          <a:p>
            <a:r>
              <a:rPr lang="en-US" dirty="0" smtClean="0"/>
              <a:t>We can apply styles on elements by using either the </a:t>
            </a:r>
          </a:p>
          <a:p>
            <a:pPr marL="514350" indent="-514350">
              <a:buFont typeface="+mj-lt"/>
              <a:buAutoNum type="arabicPeriod"/>
            </a:pPr>
            <a:r>
              <a:rPr lang="en-US" b="1" dirty="0" smtClean="0"/>
              <a:t>JQuery CSS Classes</a:t>
            </a:r>
            <a:r>
              <a:rPr lang="en-US" dirty="0" smtClean="0"/>
              <a:t> or the </a:t>
            </a:r>
          </a:p>
          <a:p>
            <a:pPr marL="514350" indent="-514350">
              <a:buFont typeface="+mj-lt"/>
              <a:buAutoNum type="arabicPeriod"/>
            </a:pPr>
            <a:r>
              <a:rPr lang="en-US" b="1" dirty="0" smtClean="0"/>
              <a:t>JQuery .</a:t>
            </a:r>
            <a:r>
              <a:rPr lang="en-US" b="1" dirty="0" err="1" smtClean="0"/>
              <a:t>css</a:t>
            </a:r>
            <a:r>
              <a:rPr lang="en-US" b="1" dirty="0" smtClean="0"/>
              <a:t>() method</a:t>
            </a:r>
            <a:r>
              <a:rPr lang="en-US" dirty="0" smtClean="0"/>
              <a:t>.</a:t>
            </a:r>
            <a:endParaRPr lang="en-IN" dirty="0"/>
          </a:p>
        </p:txBody>
      </p:sp>
    </p:spTree>
    <p:extLst>
      <p:ext uri="{BB962C8B-B14F-4D97-AF65-F5344CB8AC3E}">
        <p14:creationId xmlns="" xmlns:p14="http://schemas.microsoft.com/office/powerpoint/2010/main" val="92969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solidFill>
                  <a:srgbClr val="FF0000"/>
                </a:solidFill>
              </a:rPr>
              <a:t>Approach 1: Using JQuery CSS Classes</a:t>
            </a:r>
            <a:r>
              <a:rPr lang="en-US" sz="3200" dirty="0" smtClean="0"/>
              <a:t>.. </a:t>
            </a:r>
            <a:endParaRPr lang="en-IN" sz="3200" dirty="0"/>
          </a:p>
        </p:txBody>
      </p:sp>
      <p:sp>
        <p:nvSpPr>
          <p:cNvPr id="3" name="Content Placeholder 2"/>
          <p:cNvSpPr>
            <a:spLocks noGrp="1"/>
          </p:cNvSpPr>
          <p:nvPr>
            <p:ph idx="1"/>
          </p:nvPr>
        </p:nvSpPr>
        <p:spPr/>
        <p:txBody>
          <a:bodyPr/>
          <a:lstStyle/>
          <a:p>
            <a:r>
              <a:rPr lang="en-US" dirty="0" smtClean="0"/>
              <a:t>This approaches consists of using methods such as the </a:t>
            </a:r>
            <a:r>
              <a:rPr lang="en-US" dirty="0" err="1" smtClean="0"/>
              <a:t>addClass</a:t>
            </a:r>
            <a:r>
              <a:rPr lang="en-US" dirty="0" smtClean="0"/>
              <a:t>() method, </a:t>
            </a:r>
            <a:r>
              <a:rPr lang="en-US" dirty="0" err="1" smtClean="0"/>
              <a:t>removeClass</a:t>
            </a:r>
            <a:r>
              <a:rPr lang="en-US" dirty="0" smtClean="0"/>
              <a:t>() method and the </a:t>
            </a:r>
            <a:r>
              <a:rPr lang="en-US" dirty="0" err="1" smtClean="0"/>
              <a:t>toggleClass</a:t>
            </a:r>
            <a:r>
              <a:rPr lang="en-US" dirty="0" smtClean="0"/>
              <a:t>() method</a:t>
            </a:r>
          </a:p>
          <a:p>
            <a:endParaRPr lang="en-US" dirty="0" smtClean="0"/>
          </a:p>
          <a:p>
            <a:r>
              <a:rPr lang="en-US" dirty="0" smtClean="0"/>
              <a:t>We can create some classes with some </a:t>
            </a:r>
            <a:r>
              <a:rPr lang="en-US" dirty="0" err="1" smtClean="0"/>
              <a:t>css</a:t>
            </a:r>
            <a:r>
              <a:rPr lang="en-US" dirty="0" smtClean="0"/>
              <a:t> rules and add or remove them using JQuery as per the requirement.</a:t>
            </a:r>
            <a:endParaRPr lang="en-IN" dirty="0"/>
          </a:p>
        </p:txBody>
      </p:sp>
    </p:spTree>
    <p:extLst>
      <p:ext uri="{BB962C8B-B14F-4D97-AF65-F5344CB8AC3E}">
        <p14:creationId xmlns="" xmlns:p14="http://schemas.microsoft.com/office/powerpoint/2010/main" val="1947058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pic>
        <p:nvPicPr>
          <p:cNvPr id="4" name="Content Placeholder 3"/>
          <p:cNvPicPr>
            <a:picLocks noGrp="1" noChangeAspect="1"/>
          </p:cNvPicPr>
          <p:nvPr>
            <p:ph idx="1"/>
          </p:nvPr>
        </p:nvPicPr>
        <p:blipFill>
          <a:blip r:embed="rId2"/>
          <a:stretch>
            <a:fillRect/>
          </a:stretch>
        </p:blipFill>
        <p:spPr>
          <a:xfrm>
            <a:off x="1514007" y="473638"/>
            <a:ext cx="8619344" cy="6033015"/>
          </a:xfrm>
          <a:prstGeom prst="rect">
            <a:avLst/>
          </a:prstGeom>
        </p:spPr>
      </p:pic>
    </p:spTree>
    <p:extLst>
      <p:ext uri="{BB962C8B-B14F-4D97-AF65-F5344CB8AC3E}">
        <p14:creationId xmlns="" xmlns:p14="http://schemas.microsoft.com/office/powerpoint/2010/main" val="3494665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1094282" y="407122"/>
            <a:ext cx="9698635" cy="6071277"/>
          </a:xfrm>
          <a:prstGeom prst="rect">
            <a:avLst/>
          </a:prstGeom>
        </p:spPr>
      </p:pic>
    </p:spTree>
    <p:extLst>
      <p:ext uri="{BB962C8B-B14F-4D97-AF65-F5344CB8AC3E}">
        <p14:creationId xmlns="" xmlns:p14="http://schemas.microsoft.com/office/powerpoint/2010/main" val="702216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Approach 2: Using the </a:t>
            </a:r>
            <a:r>
              <a:rPr lang="en-US" b="1" dirty="0" err="1" smtClean="0"/>
              <a:t>JQuery</a:t>
            </a:r>
            <a:r>
              <a:rPr lang="en-US" b="1" dirty="0" smtClean="0"/>
              <a:t> </a:t>
            </a:r>
            <a:r>
              <a:rPr lang="en-US" b="1" dirty="0" err="1" smtClean="0"/>
              <a:t>css</a:t>
            </a:r>
            <a:r>
              <a:rPr lang="en-US" b="1" smtClean="0"/>
              <a:t>() method:</a:t>
            </a:r>
            <a:endParaRPr lang="en-IN" dirty="0"/>
          </a:p>
        </p:txBody>
      </p:sp>
      <p:sp>
        <p:nvSpPr>
          <p:cNvPr id="3" name="Content Placeholder 2"/>
          <p:cNvSpPr>
            <a:spLocks noGrp="1"/>
          </p:cNvSpPr>
          <p:nvPr>
            <p:ph idx="1"/>
          </p:nvPr>
        </p:nvSpPr>
        <p:spPr/>
        <p:txBody>
          <a:bodyPr/>
          <a:lstStyle/>
          <a:p>
            <a:r>
              <a:rPr lang="en-US" dirty="0" smtClean="0"/>
              <a:t>In this method, instead of creating separate classes inside the stylesheet, you can directly set styles from </a:t>
            </a:r>
            <a:r>
              <a:rPr lang="en-US" dirty="0" err="1" smtClean="0"/>
              <a:t>javascript</a:t>
            </a:r>
            <a:r>
              <a:rPr lang="en-US" dirty="0" smtClean="0"/>
              <a:t> itself.</a:t>
            </a:r>
          </a:p>
          <a:p>
            <a:r>
              <a:rPr lang="en-US" dirty="0" smtClean="0"/>
              <a:t> The</a:t>
            </a:r>
            <a:r>
              <a:rPr lang="en-US" b="1" dirty="0" smtClean="0"/>
              <a:t> </a:t>
            </a:r>
            <a:r>
              <a:rPr lang="en-US" b="1" dirty="0" err="1" smtClean="0"/>
              <a:t>css</a:t>
            </a:r>
            <a:r>
              <a:rPr lang="en-US" b="1" dirty="0" smtClean="0"/>
              <a:t>() method</a:t>
            </a:r>
            <a:r>
              <a:rPr lang="en-US" dirty="0" smtClean="0"/>
              <a:t> can be used to either return a single property based on the given property or set a single or multiple CSS properties.</a:t>
            </a:r>
            <a:endParaRPr lang="en-IN" dirty="0"/>
          </a:p>
        </p:txBody>
      </p:sp>
    </p:spTree>
    <p:extLst>
      <p:ext uri="{BB962C8B-B14F-4D97-AF65-F5344CB8AC3E}">
        <p14:creationId xmlns="" xmlns:p14="http://schemas.microsoft.com/office/powerpoint/2010/main" val="3645027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43532" y="432088"/>
            <a:ext cx="6798686" cy="5827517"/>
          </a:xfrm>
          <a:prstGeom prst="rect">
            <a:avLst/>
          </a:prstGeom>
        </p:spPr>
      </p:pic>
    </p:spTree>
    <p:extLst>
      <p:ext uri="{BB962C8B-B14F-4D97-AF65-F5344CB8AC3E}">
        <p14:creationId xmlns="" xmlns:p14="http://schemas.microsoft.com/office/powerpoint/2010/main" val="1765360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8582" y="993147"/>
            <a:ext cx="8483296" cy="5227545"/>
          </a:xfrm>
          <a:prstGeom prst="rect">
            <a:avLst/>
          </a:prstGeom>
        </p:spPr>
      </p:pic>
    </p:spTree>
    <p:extLst>
      <p:ext uri="{BB962C8B-B14F-4D97-AF65-F5344CB8AC3E}">
        <p14:creationId xmlns="" xmlns:p14="http://schemas.microsoft.com/office/powerpoint/2010/main" val="1834079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create an HTML element using jQuery ?</a:t>
            </a:r>
            <a:br>
              <a:rPr lang="en-US" b="1" dirty="0" smtClean="0"/>
            </a:b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To create and append the HTML element, we use the jQuery append() method. </a:t>
            </a:r>
          </a:p>
          <a:p>
            <a:r>
              <a:rPr lang="en-US" dirty="0" smtClean="0"/>
              <a:t>The jQuery append() method is used to insert some content at the end of the selected elements.</a:t>
            </a:r>
          </a:p>
          <a:p>
            <a:r>
              <a:rPr lang="en-US" dirty="0" smtClean="0"/>
              <a:t>Syntax:</a:t>
            </a:r>
          </a:p>
          <a:p>
            <a:pPr marL="0" indent="0">
              <a:buNone/>
            </a:pPr>
            <a:r>
              <a:rPr lang="en-US" dirty="0" smtClean="0"/>
              <a:t>	$(selector).append( content, function(index, html) )</a:t>
            </a:r>
          </a:p>
          <a:p>
            <a:pPr marL="0" indent="0">
              <a:buNone/>
            </a:pPr>
            <a:endParaRPr lang="en-US" dirty="0" smtClean="0"/>
          </a:p>
          <a:p>
            <a:pPr marL="0" indent="0">
              <a:buNone/>
            </a:pPr>
            <a:r>
              <a:rPr lang="en-US" sz="1900" b="1" dirty="0" smtClean="0"/>
              <a:t>Parameters:</a:t>
            </a:r>
            <a:endParaRPr lang="en-US" sz="1900" dirty="0" smtClean="0"/>
          </a:p>
          <a:p>
            <a:r>
              <a:rPr lang="en-US" sz="1900" b="1" dirty="0" smtClean="0"/>
              <a:t>content:</a:t>
            </a:r>
            <a:r>
              <a:rPr lang="en-US" sz="1900" dirty="0" smtClean="0"/>
              <a:t> It is a required parameter and is used to specify the content which is to be inserted at the end of selected elements. The possible value of contents is HTML elements, jQuery objects, and DOM elements.</a:t>
            </a:r>
          </a:p>
          <a:p>
            <a:r>
              <a:rPr lang="en-US" sz="1900" b="1" dirty="0" smtClean="0"/>
              <a:t>function(index, html):</a:t>
            </a:r>
            <a:r>
              <a:rPr lang="en-US" sz="1900" dirty="0" smtClean="0"/>
              <a:t> It is an optional parameter and is used to specify the function that will return the content to be inserted. </a:t>
            </a:r>
          </a:p>
          <a:p>
            <a:pPr lvl="1"/>
            <a:r>
              <a:rPr lang="en-US" sz="1900" b="1" dirty="0" smtClean="0"/>
              <a:t>index:</a:t>
            </a:r>
            <a:r>
              <a:rPr lang="en-US" sz="1900" dirty="0" smtClean="0"/>
              <a:t> It is used to return the index position of the element.</a:t>
            </a:r>
          </a:p>
          <a:p>
            <a:pPr lvl="1"/>
            <a:r>
              <a:rPr lang="en-US" sz="1900" b="1" dirty="0" smtClean="0"/>
              <a:t>html:</a:t>
            </a:r>
            <a:r>
              <a:rPr lang="en-US" sz="1900" dirty="0" smtClean="0"/>
              <a:t> It is used to return the current HTML of the selected element.</a:t>
            </a:r>
          </a:p>
          <a:p>
            <a:pPr marL="0" indent="0">
              <a:buNone/>
            </a:pPr>
            <a:endParaRPr lang="en-IN" dirty="0"/>
          </a:p>
        </p:txBody>
      </p:sp>
    </p:spTree>
    <p:extLst>
      <p:ext uri="{BB962C8B-B14F-4D97-AF65-F5344CB8AC3E}">
        <p14:creationId xmlns="" xmlns:p14="http://schemas.microsoft.com/office/powerpoint/2010/main" val="1562309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47800" y="381867"/>
            <a:ext cx="8305800" cy="5752328"/>
          </a:xfrm>
          <a:prstGeom prst="rect">
            <a:avLst/>
          </a:prstGeom>
        </p:spPr>
      </p:pic>
    </p:spTree>
    <p:extLst>
      <p:ext uri="{BB962C8B-B14F-4D97-AF65-F5344CB8AC3E}">
        <p14:creationId xmlns="" xmlns:p14="http://schemas.microsoft.com/office/powerpoint/2010/main" val="243421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4899" y="687964"/>
            <a:ext cx="8122228" cy="5809817"/>
          </a:xfrm>
          <a:prstGeom prst="rect">
            <a:avLst/>
          </a:prstGeom>
        </p:spPr>
      </p:pic>
    </p:spTree>
    <p:extLst>
      <p:ext uri="{BB962C8B-B14F-4D97-AF65-F5344CB8AC3E}">
        <p14:creationId xmlns="" xmlns:p14="http://schemas.microsoft.com/office/powerpoint/2010/main" val="2923308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jQuery - Remove Elements</a:t>
            </a:r>
            <a:endParaRPr lang="en-IN" dirty="0"/>
          </a:p>
        </p:txBody>
      </p:sp>
      <p:sp>
        <p:nvSpPr>
          <p:cNvPr id="3" name="Content Placeholder 2"/>
          <p:cNvSpPr>
            <a:spLocks noGrp="1"/>
          </p:cNvSpPr>
          <p:nvPr>
            <p:ph idx="1"/>
          </p:nvPr>
        </p:nvSpPr>
        <p:spPr/>
        <p:txBody>
          <a:bodyPr/>
          <a:lstStyle/>
          <a:p>
            <a:pPr marL="0" indent="0">
              <a:buNone/>
            </a:pPr>
            <a:r>
              <a:rPr lang="en-US" dirty="0" smtClean="0"/>
              <a:t>Remove Elements/Content</a:t>
            </a:r>
          </a:p>
          <a:p>
            <a:r>
              <a:rPr lang="en-US" dirty="0" smtClean="0"/>
              <a:t>To remove elements and content, there are mainly two jQuery methods:</a:t>
            </a:r>
          </a:p>
          <a:p>
            <a:pPr marL="514350" indent="-514350">
              <a:buFont typeface="+mj-lt"/>
              <a:buAutoNum type="arabicPeriod"/>
            </a:pPr>
            <a:r>
              <a:rPr lang="en-US" dirty="0" smtClean="0"/>
              <a:t>    remove() - Removes the selected element (and its child elements)</a:t>
            </a:r>
          </a:p>
          <a:p>
            <a:pPr marL="514350" indent="-514350">
              <a:buFont typeface="+mj-lt"/>
              <a:buAutoNum type="arabicPeriod"/>
            </a:pPr>
            <a:r>
              <a:rPr lang="en-US" dirty="0" smtClean="0"/>
              <a:t>    empty() - Removes the child elements from the selected element</a:t>
            </a:r>
          </a:p>
          <a:p>
            <a:endParaRPr lang="en-IN" dirty="0"/>
          </a:p>
        </p:txBody>
      </p:sp>
    </p:spTree>
    <p:extLst>
      <p:ext uri="{BB962C8B-B14F-4D97-AF65-F5344CB8AC3E}">
        <p14:creationId xmlns="" xmlns:p14="http://schemas.microsoft.com/office/powerpoint/2010/main" val="4263047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6993" y="1052945"/>
            <a:ext cx="10588826" cy="4821382"/>
          </a:xfrm>
          <a:prstGeom prst="rect">
            <a:avLst/>
          </a:prstGeom>
        </p:spPr>
      </p:pic>
    </p:spTree>
    <p:extLst>
      <p:ext uri="{BB962C8B-B14F-4D97-AF65-F5344CB8AC3E}">
        <p14:creationId xmlns="" xmlns:p14="http://schemas.microsoft.com/office/powerpoint/2010/main" val="2090170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jQuery empty() Method</a:t>
            </a:r>
            <a:endParaRPr lang="en-IN" dirty="0"/>
          </a:p>
        </p:txBody>
      </p:sp>
      <p:pic>
        <p:nvPicPr>
          <p:cNvPr id="4" name="Content Placeholder 3"/>
          <p:cNvPicPr>
            <a:picLocks noGrp="1" noChangeAspect="1"/>
          </p:cNvPicPr>
          <p:nvPr>
            <p:ph idx="1"/>
          </p:nvPr>
        </p:nvPicPr>
        <p:blipFill>
          <a:blip r:embed="rId2"/>
          <a:stretch>
            <a:fillRect/>
          </a:stretch>
        </p:blipFill>
        <p:spPr>
          <a:xfrm>
            <a:off x="297872" y="1453330"/>
            <a:ext cx="11547763" cy="5016743"/>
          </a:xfrm>
          <a:prstGeom prst="rect">
            <a:avLst/>
          </a:prstGeom>
        </p:spPr>
      </p:pic>
    </p:spTree>
    <p:extLst>
      <p:ext uri="{BB962C8B-B14F-4D97-AF65-F5344CB8AC3E}">
        <p14:creationId xmlns="" xmlns:p14="http://schemas.microsoft.com/office/powerpoint/2010/main" val="3257093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the Elements to be Removed</a:t>
            </a:r>
            <a:endParaRPr lang="en-IN" dirty="0"/>
          </a:p>
        </p:txBody>
      </p:sp>
      <p:sp>
        <p:nvSpPr>
          <p:cNvPr id="3" name="Content Placeholder 2"/>
          <p:cNvSpPr>
            <a:spLocks noGrp="1"/>
          </p:cNvSpPr>
          <p:nvPr>
            <p:ph idx="1"/>
          </p:nvPr>
        </p:nvSpPr>
        <p:spPr/>
        <p:txBody>
          <a:bodyPr/>
          <a:lstStyle/>
          <a:p>
            <a:r>
              <a:rPr lang="en-US" dirty="0" smtClean="0"/>
              <a:t>The jQuery remove() method also accepts parameter, which allows you to filter the elements to be removed.</a:t>
            </a:r>
          </a:p>
          <a:p>
            <a:r>
              <a:rPr lang="en-US" dirty="0" smtClean="0"/>
              <a:t>The parameter can be any of the jQuery selector syntaxes.</a:t>
            </a:r>
            <a:endParaRPr lang="en-IN" dirty="0"/>
          </a:p>
        </p:txBody>
      </p:sp>
    </p:spTree>
    <p:extLst>
      <p:ext uri="{BB962C8B-B14F-4D97-AF65-F5344CB8AC3E}">
        <p14:creationId xmlns="" xmlns:p14="http://schemas.microsoft.com/office/powerpoint/2010/main" val="1623440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7553" y="581891"/>
            <a:ext cx="11362931" cy="5666509"/>
          </a:xfrm>
          <a:prstGeom prst="rect">
            <a:avLst/>
          </a:prstGeom>
        </p:spPr>
      </p:pic>
    </p:spTree>
    <p:extLst>
      <p:ext uri="{BB962C8B-B14F-4D97-AF65-F5344CB8AC3E}">
        <p14:creationId xmlns="" xmlns:p14="http://schemas.microsoft.com/office/powerpoint/2010/main" val="4709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86244" y="952933"/>
            <a:ext cx="10844047" cy="3217285"/>
          </a:xfrm>
          <a:prstGeom prst="rect">
            <a:avLst/>
          </a:prstGeom>
        </p:spPr>
      </p:pic>
    </p:spTree>
    <p:extLst>
      <p:ext uri="{BB962C8B-B14F-4D97-AF65-F5344CB8AC3E}">
        <p14:creationId xmlns="" xmlns:p14="http://schemas.microsoft.com/office/powerpoint/2010/main" val="1804634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4400</TotalTime>
  <Words>1059</Words>
  <Application>Microsoft Office PowerPoint</Application>
  <PresentationFormat>Custom</PresentationFormat>
  <Paragraphs>138</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jQuery</vt:lpstr>
      <vt:lpstr>Introduction to jQuery</vt:lpstr>
      <vt:lpstr> jQuery Features</vt:lpstr>
      <vt:lpstr>Advantages of jQuery</vt:lpstr>
      <vt:lpstr>Adding jQuery to Your Web Pages</vt:lpstr>
      <vt:lpstr>jQuery Syntax</vt:lpstr>
      <vt:lpstr>Examples</vt:lpstr>
      <vt:lpstr>Document Ready Event:</vt:lpstr>
      <vt:lpstr>Document Ready Event:</vt:lpstr>
      <vt:lpstr>jQuery Selectors</vt:lpstr>
      <vt:lpstr>jQuery Selectors Syntax</vt:lpstr>
      <vt:lpstr>The element Selector</vt:lpstr>
      <vt:lpstr>Slide 13</vt:lpstr>
      <vt:lpstr>The #id Selector</vt:lpstr>
      <vt:lpstr>Slide 15</vt:lpstr>
      <vt:lpstr>The #class Selector</vt:lpstr>
      <vt:lpstr>Slide 17</vt:lpstr>
      <vt:lpstr>Slide 18</vt:lpstr>
      <vt:lpstr>jQuery Event Methods</vt:lpstr>
      <vt:lpstr>Slide 20</vt:lpstr>
      <vt:lpstr>Syntax</vt:lpstr>
      <vt:lpstr>Slide 22</vt:lpstr>
      <vt:lpstr>Slide 23</vt:lpstr>
      <vt:lpstr>How can we change styles when certain events got triggered with the help of JQuery. </vt:lpstr>
      <vt:lpstr>Approach 1: Using JQuery CSS Classes.. </vt:lpstr>
      <vt:lpstr>Example</vt:lpstr>
      <vt:lpstr>Slide 27</vt:lpstr>
      <vt:lpstr>Approach 2: Using the JQuery css() method:</vt:lpstr>
      <vt:lpstr>Slide 29</vt:lpstr>
      <vt:lpstr>Slide 30</vt:lpstr>
      <vt:lpstr>How to create an HTML element using jQuery ? </vt:lpstr>
      <vt:lpstr>Slide 32</vt:lpstr>
      <vt:lpstr>Slide 33</vt:lpstr>
      <vt:lpstr>jQuery - Remove Elements</vt:lpstr>
      <vt:lpstr>Slide 35</vt:lpstr>
      <vt:lpstr>jQuery empty() Method</vt:lpstr>
      <vt:lpstr>Filter the Elements to be Removed</vt:lpstr>
      <vt:lpstr>Slide 38</vt:lpstr>
      <vt:lpstr>Slide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TECHNOLOGY (AI2014)</dc:title>
  <dc:creator>Viomesh Singh</dc:creator>
  <cp:lastModifiedBy>sony</cp:lastModifiedBy>
  <cp:revision>31</cp:revision>
  <cp:lastPrinted>2024-03-28T08:35:10Z</cp:lastPrinted>
  <dcterms:created xsi:type="dcterms:W3CDTF">2024-01-02T04:51:01Z</dcterms:created>
  <dcterms:modified xsi:type="dcterms:W3CDTF">2025-03-18T08:56:49Z</dcterms:modified>
</cp:coreProperties>
</file>