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7"/>
  </p:notesMasterIdLst>
  <p:sldIdLst>
    <p:sldId id="256" r:id="rId2"/>
    <p:sldId id="356" r:id="rId3"/>
    <p:sldId id="357" r:id="rId4"/>
    <p:sldId id="358" r:id="rId5"/>
    <p:sldId id="359" r:id="rId6"/>
    <p:sldId id="360" r:id="rId7"/>
    <p:sldId id="361" r:id="rId8"/>
    <p:sldId id="362" r:id="rId9"/>
    <p:sldId id="363" r:id="rId10"/>
    <p:sldId id="364" r:id="rId11"/>
    <p:sldId id="365" r:id="rId12"/>
    <p:sldId id="366" r:id="rId13"/>
    <p:sldId id="367" r:id="rId14"/>
    <p:sldId id="368" r:id="rId15"/>
    <p:sldId id="369" r:id="rId16"/>
    <p:sldId id="370" r:id="rId17"/>
    <p:sldId id="371" r:id="rId18"/>
    <p:sldId id="372" r:id="rId19"/>
    <p:sldId id="373" r:id="rId20"/>
    <p:sldId id="374" r:id="rId21"/>
    <p:sldId id="375" r:id="rId22"/>
    <p:sldId id="376" r:id="rId23"/>
    <p:sldId id="377" r:id="rId24"/>
    <p:sldId id="378" r:id="rId25"/>
    <p:sldId id="379" r:id="rId26"/>
    <p:sldId id="380" r:id="rId27"/>
    <p:sldId id="381" r:id="rId28"/>
    <p:sldId id="382" r:id="rId29"/>
    <p:sldId id="383" r:id="rId30"/>
    <p:sldId id="384" r:id="rId31"/>
    <p:sldId id="385" r:id="rId32"/>
    <p:sldId id="386" r:id="rId33"/>
    <p:sldId id="387" r:id="rId34"/>
    <p:sldId id="388" r:id="rId35"/>
    <p:sldId id="389" r:id="rId36"/>
    <p:sldId id="390" r:id="rId37"/>
    <p:sldId id="391" r:id="rId38"/>
    <p:sldId id="392" r:id="rId39"/>
    <p:sldId id="393" r:id="rId40"/>
    <p:sldId id="394" r:id="rId41"/>
    <p:sldId id="395" r:id="rId42"/>
    <p:sldId id="396" r:id="rId43"/>
    <p:sldId id="397" r:id="rId44"/>
    <p:sldId id="398" r:id="rId45"/>
    <p:sldId id="399" r:id="rId46"/>
    <p:sldId id="400" r:id="rId47"/>
    <p:sldId id="401" r:id="rId48"/>
    <p:sldId id="402" r:id="rId49"/>
    <p:sldId id="403" r:id="rId50"/>
    <p:sldId id="404" r:id="rId51"/>
    <p:sldId id="405" r:id="rId52"/>
    <p:sldId id="406" r:id="rId53"/>
    <p:sldId id="407" r:id="rId54"/>
    <p:sldId id="408" r:id="rId55"/>
    <p:sldId id="409" r:id="rId56"/>
    <p:sldId id="410" r:id="rId57"/>
    <p:sldId id="411" r:id="rId58"/>
    <p:sldId id="412" r:id="rId59"/>
    <p:sldId id="413" r:id="rId60"/>
    <p:sldId id="414" r:id="rId61"/>
    <p:sldId id="415" r:id="rId62"/>
    <p:sldId id="416" r:id="rId63"/>
    <p:sldId id="417" r:id="rId64"/>
    <p:sldId id="418" r:id="rId65"/>
    <p:sldId id="419" r:id="rId66"/>
    <p:sldId id="420" r:id="rId67"/>
    <p:sldId id="421" r:id="rId68"/>
    <p:sldId id="422" r:id="rId69"/>
    <p:sldId id="423" r:id="rId70"/>
    <p:sldId id="424" r:id="rId71"/>
    <p:sldId id="425" r:id="rId72"/>
    <p:sldId id="426" r:id="rId73"/>
    <p:sldId id="427" r:id="rId74"/>
    <p:sldId id="428" r:id="rId75"/>
    <p:sldId id="429" r:id="rId76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7664" autoAdjust="0"/>
  </p:normalViewPr>
  <p:slideViewPr>
    <p:cSldViewPr>
      <p:cViewPr varScale="1">
        <p:scale>
          <a:sx n="59" d="100"/>
          <a:sy n="59" d="100"/>
        </p:scale>
        <p:origin x="1632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C4D3CF-FF8B-403D-A34D-AD86B0938067}" type="datetimeFigureOut">
              <a:rPr lang="en-US" smtClean="0"/>
              <a:t>1/10/2024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6F41F9-6A68-4AF3-BF0B-0F92CD3BB3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3604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93444" y="202438"/>
            <a:ext cx="7157110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1/10/2024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696363"/>
                </a:solidFill>
                <a:latin typeface="Franklin Gothic Medium"/>
                <a:cs typeface="Franklin Gothic Mediu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1/10/2024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696363"/>
                </a:solidFill>
                <a:latin typeface="Franklin Gothic Medium"/>
                <a:cs typeface="Franklin Gothic Mediu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1/10/2024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696363"/>
                </a:solidFill>
                <a:latin typeface="Franklin Gothic Medium"/>
                <a:cs typeface="Franklin Gothic Mediu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1/10/2024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1/10/2024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4007" y="69722"/>
            <a:ext cx="9013825" cy="6693534"/>
          </a:xfrm>
          <a:custGeom>
            <a:avLst/>
            <a:gdLst/>
            <a:ahLst/>
            <a:cxnLst/>
            <a:rect l="l" t="t" r="r" b="b"/>
            <a:pathLst>
              <a:path w="9013825" h="6693534">
                <a:moveTo>
                  <a:pt x="0" y="329946"/>
                </a:moveTo>
                <a:lnTo>
                  <a:pt x="3577" y="281184"/>
                </a:lnTo>
                <a:lnTo>
                  <a:pt x="13968" y="234645"/>
                </a:lnTo>
                <a:lnTo>
                  <a:pt x="30664" y="190840"/>
                </a:lnTo>
                <a:lnTo>
                  <a:pt x="53153" y="150277"/>
                </a:lnTo>
                <a:lnTo>
                  <a:pt x="80925" y="113468"/>
                </a:lnTo>
                <a:lnTo>
                  <a:pt x="113469" y="80923"/>
                </a:lnTo>
                <a:lnTo>
                  <a:pt x="150276" y="53151"/>
                </a:lnTo>
                <a:lnTo>
                  <a:pt x="190835" y="30662"/>
                </a:lnTo>
                <a:lnTo>
                  <a:pt x="234636" y="13967"/>
                </a:lnTo>
                <a:lnTo>
                  <a:pt x="281168" y="3576"/>
                </a:lnTo>
                <a:lnTo>
                  <a:pt x="329920" y="0"/>
                </a:lnTo>
                <a:lnTo>
                  <a:pt x="8683498" y="0"/>
                </a:lnTo>
                <a:lnTo>
                  <a:pt x="8732228" y="3576"/>
                </a:lnTo>
                <a:lnTo>
                  <a:pt x="8778740" y="13967"/>
                </a:lnTo>
                <a:lnTo>
                  <a:pt x="8822525" y="30662"/>
                </a:lnTo>
                <a:lnTo>
                  <a:pt x="8863071" y="53151"/>
                </a:lnTo>
                <a:lnTo>
                  <a:pt x="8899868" y="80923"/>
                </a:lnTo>
                <a:lnTo>
                  <a:pt x="8932405" y="113468"/>
                </a:lnTo>
                <a:lnTo>
                  <a:pt x="8960172" y="150277"/>
                </a:lnTo>
                <a:lnTo>
                  <a:pt x="8982656" y="190840"/>
                </a:lnTo>
                <a:lnTo>
                  <a:pt x="8999349" y="234645"/>
                </a:lnTo>
                <a:lnTo>
                  <a:pt x="9009740" y="281184"/>
                </a:lnTo>
                <a:lnTo>
                  <a:pt x="9013317" y="329946"/>
                </a:lnTo>
                <a:lnTo>
                  <a:pt x="9013317" y="6363525"/>
                </a:lnTo>
                <a:lnTo>
                  <a:pt x="9009740" y="6412277"/>
                </a:lnTo>
                <a:lnTo>
                  <a:pt x="8999349" y="6458809"/>
                </a:lnTo>
                <a:lnTo>
                  <a:pt x="8982656" y="6502609"/>
                </a:lnTo>
                <a:lnTo>
                  <a:pt x="8960172" y="6543167"/>
                </a:lnTo>
                <a:lnTo>
                  <a:pt x="8932405" y="6579973"/>
                </a:lnTo>
                <a:lnTo>
                  <a:pt x="8899868" y="6612517"/>
                </a:lnTo>
                <a:lnTo>
                  <a:pt x="8863071" y="6640288"/>
                </a:lnTo>
                <a:lnTo>
                  <a:pt x="8822525" y="6662776"/>
                </a:lnTo>
                <a:lnTo>
                  <a:pt x="8778740" y="6679471"/>
                </a:lnTo>
                <a:lnTo>
                  <a:pt x="8732228" y="6689862"/>
                </a:lnTo>
                <a:lnTo>
                  <a:pt x="8683498" y="6693439"/>
                </a:lnTo>
                <a:lnTo>
                  <a:pt x="329920" y="6693439"/>
                </a:lnTo>
                <a:lnTo>
                  <a:pt x="281168" y="6689862"/>
                </a:lnTo>
                <a:lnTo>
                  <a:pt x="234636" y="6679471"/>
                </a:lnTo>
                <a:lnTo>
                  <a:pt x="190835" y="6662776"/>
                </a:lnTo>
                <a:lnTo>
                  <a:pt x="150276" y="6640288"/>
                </a:lnTo>
                <a:lnTo>
                  <a:pt x="113469" y="6612517"/>
                </a:lnTo>
                <a:lnTo>
                  <a:pt x="80925" y="6579973"/>
                </a:lnTo>
                <a:lnTo>
                  <a:pt x="53153" y="6543167"/>
                </a:lnTo>
                <a:lnTo>
                  <a:pt x="30664" y="6502609"/>
                </a:lnTo>
                <a:lnTo>
                  <a:pt x="13968" y="6458809"/>
                </a:lnTo>
                <a:lnTo>
                  <a:pt x="3577" y="6412277"/>
                </a:lnTo>
                <a:lnTo>
                  <a:pt x="0" y="6363525"/>
                </a:lnTo>
                <a:lnTo>
                  <a:pt x="0" y="329946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5940" y="202438"/>
            <a:ext cx="8072119" cy="11233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696363"/>
                </a:solidFill>
                <a:latin typeface="Franklin Gothic Medium"/>
                <a:cs typeface="Franklin Gothic Mediu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46430" y="1410970"/>
            <a:ext cx="8051139" cy="3836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1/10/2024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Optical_fiber" TargetMode="External"/><Relationship Id="rId2" Type="http://schemas.openxmlformats.org/officeDocument/2006/relationships/hyperlink" Target="https://en.wikipedia.org/wiki/Electrical_cable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n.wikipedia.org/wiki/Telecommunication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hyperlink" Target="https://en.wikipedia.org/wiki/Hertz" TargetMode="External"/><Relationship Id="rId7" Type="http://schemas.openxmlformats.org/officeDocument/2006/relationships/hyperlink" Target="https://en.wikipedia.org/wiki/International_Telecommunication_Union" TargetMode="External"/><Relationship Id="rId2" Type="http://schemas.openxmlformats.org/officeDocument/2006/relationships/hyperlink" Target="https://en.wikipedia.org/wiki/Electromagnetic_spectrum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n.wikipedia.org/wiki/Telecommunication" TargetMode="External"/><Relationship Id="rId5" Type="http://schemas.openxmlformats.org/officeDocument/2006/relationships/hyperlink" Target="https://en.wikipedia.org/wiki/Radio_wave" TargetMode="External"/><Relationship Id="rId4" Type="http://schemas.openxmlformats.org/officeDocument/2006/relationships/hyperlink" Target="https://en.wikipedia.org/wiki/Terahertz_radiation" TargetMode="Externa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Computer_network" TargetMode="External"/><Relationship Id="rId2" Type="http://schemas.openxmlformats.org/officeDocument/2006/relationships/hyperlink" Target="https://en.wikipedia.org/wiki/Computer_networking_device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en.wikipedia.org/wiki/Network_hub" TargetMode="External"/><Relationship Id="rId4" Type="http://schemas.openxmlformats.org/officeDocument/2006/relationships/hyperlink" Target="https://en.wikipedia.org/wiki/Packet_switching" TargetMode="Externa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hyperlink" Target="http://en.wikipedia.org/wiki/Store_and_forward" TargetMode="Externa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hyperlink" Target="http://en.wikipedia.org/wiki/Cut-through_switching" TargetMode="Externa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11" Type="http://schemas.openxmlformats.org/officeDocument/2006/relationships/image" Target="../media/image40.png"/><Relationship Id="rId5" Type="http://schemas.openxmlformats.org/officeDocument/2006/relationships/image" Target="../media/image34.png"/><Relationship Id="rId10" Type="http://schemas.openxmlformats.org/officeDocument/2006/relationships/image" Target="../media/image39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7" Type="http://schemas.openxmlformats.org/officeDocument/2006/relationships/image" Target="../media/image71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6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4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4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4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6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4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4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ideshare.net/rupinderj/networking-devices-12807479" TargetMode="External"/><Relationship Id="rId3" Type="http://schemas.openxmlformats.org/officeDocument/2006/relationships/hyperlink" Target="https://www.techopedia.com/2/29090/networks/lanwanman-an-overview-of-network-types" TargetMode="External"/><Relationship Id="rId7" Type="http://schemas.openxmlformats.org/officeDocument/2006/relationships/hyperlink" Target="https://en.wikipedia.org/wiki/Radio_spectrum" TargetMode="External"/><Relationship Id="rId2" Type="http://schemas.openxmlformats.org/officeDocument/2006/relationships/hyperlink" Target="https://cs.fit.edu/~pkc/classes/dc/slides/ch3.ppt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n.wikipedia.org/wiki/Optical_fiber_cable" TargetMode="External"/><Relationship Id="rId5" Type="http://schemas.openxmlformats.org/officeDocument/2006/relationships/hyperlink" Target="http://www.businessdictionary.com/definition/distributed-network-architecture-DNA.html" TargetMode="External"/><Relationship Id="rId10" Type="http://schemas.openxmlformats.org/officeDocument/2006/relationships/hyperlink" Target="https://www.slideshare.net/LukaXavi/data-encoding" TargetMode="External"/><Relationship Id="rId4" Type="http://schemas.openxmlformats.org/officeDocument/2006/relationships/hyperlink" Target="https://www.slideshare.net/ENGMSHARI/adhoc-networks" TargetMode="External"/><Relationship Id="rId9" Type="http://schemas.openxmlformats.org/officeDocument/2006/relationships/hyperlink" Target="https://en.wikipedia.org/wiki/Wireless_access_poin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2138" y="66547"/>
            <a:ext cx="9022715" cy="6698615"/>
            <a:chOff x="62138" y="66547"/>
            <a:chExt cx="9022715" cy="669861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313" y="69722"/>
              <a:ext cx="9013408" cy="6692231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5313" y="69722"/>
              <a:ext cx="9013825" cy="6692265"/>
            </a:xfrm>
            <a:custGeom>
              <a:avLst/>
              <a:gdLst/>
              <a:ahLst/>
              <a:cxnLst/>
              <a:rect l="l" t="t" r="r" b="b"/>
              <a:pathLst>
                <a:path w="9013825" h="6692265">
                  <a:moveTo>
                    <a:pt x="0" y="329946"/>
                  </a:moveTo>
                  <a:lnTo>
                    <a:pt x="3576" y="281184"/>
                  </a:lnTo>
                  <a:lnTo>
                    <a:pt x="13965" y="234645"/>
                  </a:lnTo>
                  <a:lnTo>
                    <a:pt x="30657" y="190840"/>
                  </a:lnTo>
                  <a:lnTo>
                    <a:pt x="53141" y="150277"/>
                  </a:lnTo>
                  <a:lnTo>
                    <a:pt x="80907" y="113468"/>
                  </a:lnTo>
                  <a:lnTo>
                    <a:pt x="113445" y="80923"/>
                  </a:lnTo>
                  <a:lnTo>
                    <a:pt x="150245" y="53151"/>
                  </a:lnTo>
                  <a:lnTo>
                    <a:pt x="190796" y="30662"/>
                  </a:lnTo>
                  <a:lnTo>
                    <a:pt x="234589" y="13967"/>
                  </a:lnTo>
                  <a:lnTo>
                    <a:pt x="281114" y="3576"/>
                  </a:lnTo>
                  <a:lnTo>
                    <a:pt x="329859" y="0"/>
                  </a:lnTo>
                  <a:lnTo>
                    <a:pt x="8683462" y="0"/>
                  </a:lnTo>
                  <a:lnTo>
                    <a:pt x="8732224" y="3576"/>
                  </a:lnTo>
                  <a:lnTo>
                    <a:pt x="8778762" y="13967"/>
                  </a:lnTo>
                  <a:lnTo>
                    <a:pt x="8822568" y="30662"/>
                  </a:lnTo>
                  <a:lnTo>
                    <a:pt x="8863130" y="53151"/>
                  </a:lnTo>
                  <a:lnTo>
                    <a:pt x="8899939" y="80923"/>
                  </a:lnTo>
                  <a:lnTo>
                    <a:pt x="8932485" y="113468"/>
                  </a:lnTo>
                  <a:lnTo>
                    <a:pt x="8960257" y="150277"/>
                  </a:lnTo>
                  <a:lnTo>
                    <a:pt x="8982745" y="190840"/>
                  </a:lnTo>
                  <a:lnTo>
                    <a:pt x="8999440" y="234645"/>
                  </a:lnTo>
                  <a:lnTo>
                    <a:pt x="9009831" y="281184"/>
                  </a:lnTo>
                  <a:lnTo>
                    <a:pt x="9013408" y="329946"/>
                  </a:lnTo>
                  <a:lnTo>
                    <a:pt x="9013408" y="6362369"/>
                  </a:lnTo>
                  <a:lnTo>
                    <a:pt x="9009831" y="6411115"/>
                  </a:lnTo>
                  <a:lnTo>
                    <a:pt x="8999440" y="6457639"/>
                  </a:lnTo>
                  <a:lnTo>
                    <a:pt x="8982745" y="6501432"/>
                  </a:lnTo>
                  <a:lnTo>
                    <a:pt x="8960257" y="6541984"/>
                  </a:lnTo>
                  <a:lnTo>
                    <a:pt x="8932485" y="6578785"/>
                  </a:lnTo>
                  <a:lnTo>
                    <a:pt x="8899939" y="6611323"/>
                  </a:lnTo>
                  <a:lnTo>
                    <a:pt x="8863130" y="6639090"/>
                  </a:lnTo>
                  <a:lnTo>
                    <a:pt x="8822568" y="6661574"/>
                  </a:lnTo>
                  <a:lnTo>
                    <a:pt x="8778762" y="6678266"/>
                  </a:lnTo>
                  <a:lnTo>
                    <a:pt x="8732224" y="6688655"/>
                  </a:lnTo>
                  <a:lnTo>
                    <a:pt x="8683462" y="6692231"/>
                  </a:lnTo>
                  <a:lnTo>
                    <a:pt x="329859" y="6692231"/>
                  </a:lnTo>
                  <a:lnTo>
                    <a:pt x="281114" y="6688655"/>
                  </a:lnTo>
                  <a:lnTo>
                    <a:pt x="234589" y="6678266"/>
                  </a:lnTo>
                  <a:lnTo>
                    <a:pt x="190796" y="6661574"/>
                  </a:lnTo>
                  <a:lnTo>
                    <a:pt x="150245" y="6639090"/>
                  </a:lnTo>
                  <a:lnTo>
                    <a:pt x="113445" y="6611323"/>
                  </a:lnTo>
                  <a:lnTo>
                    <a:pt x="80907" y="6578785"/>
                  </a:lnTo>
                  <a:lnTo>
                    <a:pt x="53141" y="6541984"/>
                  </a:lnTo>
                  <a:lnTo>
                    <a:pt x="30657" y="6501432"/>
                  </a:lnTo>
                  <a:lnTo>
                    <a:pt x="13965" y="6457639"/>
                  </a:lnTo>
                  <a:lnTo>
                    <a:pt x="3576" y="6411115"/>
                  </a:lnTo>
                  <a:lnTo>
                    <a:pt x="0" y="6362369"/>
                  </a:lnTo>
                  <a:lnTo>
                    <a:pt x="0" y="329946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2931" y="1396688"/>
              <a:ext cx="9022080" cy="120650"/>
            </a:xfrm>
            <a:custGeom>
              <a:avLst/>
              <a:gdLst/>
              <a:ahLst/>
              <a:cxnLst/>
              <a:rect l="l" t="t" r="r" b="b"/>
              <a:pathLst>
                <a:path w="9022080" h="120650">
                  <a:moveTo>
                    <a:pt x="9021572" y="0"/>
                  </a:moveTo>
                  <a:lnTo>
                    <a:pt x="0" y="0"/>
                  </a:lnTo>
                  <a:lnTo>
                    <a:pt x="0" y="120580"/>
                  </a:lnTo>
                  <a:lnTo>
                    <a:pt x="9021572" y="120580"/>
                  </a:lnTo>
                  <a:lnTo>
                    <a:pt x="9021572" y="0"/>
                  </a:lnTo>
                  <a:close/>
                </a:path>
              </a:pathLst>
            </a:custGeom>
            <a:solidFill>
              <a:srgbClr val="E6B0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2931" y="2976711"/>
              <a:ext cx="9022080" cy="111125"/>
            </a:xfrm>
            <a:custGeom>
              <a:avLst/>
              <a:gdLst/>
              <a:ahLst/>
              <a:cxnLst/>
              <a:rect l="l" t="t" r="r" b="b"/>
              <a:pathLst>
                <a:path w="9022080" h="111125">
                  <a:moveTo>
                    <a:pt x="9021572" y="0"/>
                  </a:moveTo>
                  <a:lnTo>
                    <a:pt x="0" y="0"/>
                  </a:lnTo>
                  <a:lnTo>
                    <a:pt x="0" y="110531"/>
                  </a:lnTo>
                  <a:lnTo>
                    <a:pt x="9021572" y="110531"/>
                  </a:lnTo>
                  <a:lnTo>
                    <a:pt x="9021572" y="0"/>
                  </a:lnTo>
                  <a:close/>
                </a:path>
              </a:pathLst>
            </a:custGeom>
            <a:solidFill>
              <a:srgbClr val="9184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560957" y="4194429"/>
            <a:ext cx="5866130" cy="519430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390525" marR="5080" indent="-378460">
              <a:lnSpc>
                <a:spcPct val="80000"/>
              </a:lnSpc>
              <a:spcBef>
                <a:spcPts val="530"/>
              </a:spcBef>
            </a:pPr>
            <a:r>
              <a:rPr sz="1800" b="1" spc="-20" dirty="0">
                <a:solidFill>
                  <a:srgbClr val="696363"/>
                </a:solidFill>
                <a:latin typeface="Times New Roman"/>
                <a:cs typeface="Times New Roman"/>
              </a:rPr>
              <a:t>Note:</a:t>
            </a:r>
            <a:r>
              <a:rPr sz="1800" b="1" spc="-125" dirty="0">
                <a:solidFill>
                  <a:srgbClr val="696363"/>
                </a:solidFill>
                <a:latin typeface="Times New Roman"/>
                <a:cs typeface="Times New Roman"/>
              </a:rPr>
              <a:t> </a:t>
            </a:r>
            <a:r>
              <a:rPr sz="1800" b="1" spc="-20" dirty="0">
                <a:solidFill>
                  <a:srgbClr val="696363"/>
                </a:solidFill>
                <a:latin typeface="Times New Roman"/>
                <a:cs typeface="Times New Roman"/>
              </a:rPr>
              <a:t>Material</a:t>
            </a:r>
            <a:r>
              <a:rPr sz="1800" b="1" spc="-60" dirty="0">
                <a:solidFill>
                  <a:srgbClr val="696363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696363"/>
                </a:solidFill>
                <a:latin typeface="Times New Roman"/>
                <a:cs typeface="Times New Roman"/>
              </a:rPr>
              <a:t>for</a:t>
            </a:r>
            <a:r>
              <a:rPr sz="1800" b="1" spc="-60" dirty="0">
                <a:solidFill>
                  <a:srgbClr val="696363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696363"/>
                </a:solidFill>
                <a:latin typeface="Times New Roman"/>
                <a:cs typeface="Times New Roman"/>
              </a:rPr>
              <a:t>this</a:t>
            </a:r>
            <a:r>
              <a:rPr sz="1800" b="1" spc="-45" dirty="0">
                <a:solidFill>
                  <a:srgbClr val="696363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696363"/>
                </a:solidFill>
                <a:latin typeface="Times New Roman"/>
                <a:cs typeface="Times New Roman"/>
              </a:rPr>
              <a:t>presentations</a:t>
            </a:r>
            <a:r>
              <a:rPr sz="1800" b="1" spc="-25" dirty="0">
                <a:solidFill>
                  <a:srgbClr val="696363"/>
                </a:solidFill>
                <a:latin typeface="Times New Roman"/>
                <a:cs typeface="Times New Roman"/>
              </a:rPr>
              <a:t> </a:t>
            </a:r>
            <a:r>
              <a:rPr sz="1800" b="1" spc="-35" dirty="0">
                <a:solidFill>
                  <a:srgbClr val="696363"/>
                </a:solidFill>
                <a:latin typeface="Times New Roman"/>
                <a:cs typeface="Times New Roman"/>
              </a:rPr>
              <a:t>are</a:t>
            </a:r>
            <a:r>
              <a:rPr sz="1800" b="1" spc="-55" dirty="0">
                <a:solidFill>
                  <a:srgbClr val="696363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696363"/>
                </a:solidFill>
                <a:latin typeface="Times New Roman"/>
                <a:cs typeface="Times New Roman"/>
              </a:rPr>
              <a:t>taken</a:t>
            </a:r>
            <a:r>
              <a:rPr sz="1800" b="1" spc="-40" dirty="0">
                <a:solidFill>
                  <a:srgbClr val="696363"/>
                </a:solidFill>
                <a:latin typeface="Times New Roman"/>
                <a:cs typeface="Times New Roman"/>
              </a:rPr>
              <a:t> </a:t>
            </a:r>
            <a:r>
              <a:rPr sz="1800" b="1" spc="-25" dirty="0">
                <a:solidFill>
                  <a:srgbClr val="696363"/>
                </a:solidFill>
                <a:latin typeface="Times New Roman"/>
                <a:cs typeface="Times New Roman"/>
              </a:rPr>
              <a:t>from</a:t>
            </a:r>
            <a:r>
              <a:rPr sz="1800" b="1" spc="-55" dirty="0">
                <a:solidFill>
                  <a:srgbClr val="696363"/>
                </a:solidFill>
                <a:latin typeface="Times New Roman"/>
                <a:cs typeface="Times New Roman"/>
              </a:rPr>
              <a:t> </a:t>
            </a:r>
            <a:r>
              <a:rPr sz="1800" b="1" spc="5" dirty="0">
                <a:solidFill>
                  <a:srgbClr val="696363"/>
                </a:solidFill>
                <a:latin typeface="Times New Roman"/>
                <a:cs typeface="Times New Roman"/>
              </a:rPr>
              <a:t>Internet </a:t>
            </a:r>
            <a:r>
              <a:rPr sz="1800" b="1" spc="-434" dirty="0">
                <a:solidFill>
                  <a:srgbClr val="696363"/>
                </a:solidFill>
                <a:latin typeface="Times New Roman"/>
                <a:cs typeface="Times New Roman"/>
              </a:rPr>
              <a:t> </a:t>
            </a:r>
            <a:r>
              <a:rPr sz="1800" b="1" spc="-15" dirty="0">
                <a:solidFill>
                  <a:srgbClr val="696363"/>
                </a:solidFill>
                <a:latin typeface="Times New Roman"/>
                <a:cs typeface="Times New Roman"/>
              </a:rPr>
              <a:t>and</a:t>
            </a:r>
            <a:r>
              <a:rPr sz="1800" b="1" spc="-60" dirty="0">
                <a:solidFill>
                  <a:srgbClr val="696363"/>
                </a:solidFill>
                <a:latin typeface="Times New Roman"/>
                <a:cs typeface="Times New Roman"/>
              </a:rPr>
              <a:t> </a:t>
            </a:r>
            <a:r>
              <a:rPr sz="1800" b="1" spc="15" dirty="0">
                <a:solidFill>
                  <a:srgbClr val="696363"/>
                </a:solidFill>
                <a:latin typeface="Times New Roman"/>
                <a:cs typeface="Times New Roman"/>
              </a:rPr>
              <a:t>books</a:t>
            </a:r>
            <a:r>
              <a:rPr sz="1800" b="1" spc="-45" dirty="0">
                <a:solidFill>
                  <a:srgbClr val="696363"/>
                </a:solidFill>
                <a:latin typeface="Times New Roman"/>
                <a:cs typeface="Times New Roman"/>
              </a:rPr>
              <a:t> </a:t>
            </a:r>
            <a:r>
              <a:rPr sz="1800" b="1" spc="-15" dirty="0">
                <a:solidFill>
                  <a:srgbClr val="696363"/>
                </a:solidFill>
                <a:latin typeface="Times New Roman"/>
                <a:cs typeface="Times New Roman"/>
              </a:rPr>
              <a:t>and</a:t>
            </a:r>
            <a:r>
              <a:rPr sz="1800" b="1" spc="-65" dirty="0">
                <a:solidFill>
                  <a:srgbClr val="696363"/>
                </a:solidFill>
                <a:latin typeface="Times New Roman"/>
                <a:cs typeface="Times New Roman"/>
              </a:rPr>
              <a:t> </a:t>
            </a:r>
            <a:r>
              <a:rPr sz="1800" b="1" spc="15" dirty="0">
                <a:solidFill>
                  <a:srgbClr val="696363"/>
                </a:solidFill>
                <a:latin typeface="Times New Roman"/>
                <a:cs typeface="Times New Roman"/>
              </a:rPr>
              <a:t>only</a:t>
            </a:r>
            <a:r>
              <a:rPr sz="1800" b="1" spc="-45" dirty="0">
                <a:solidFill>
                  <a:srgbClr val="696363"/>
                </a:solidFill>
                <a:latin typeface="Times New Roman"/>
                <a:cs typeface="Times New Roman"/>
              </a:rPr>
              <a:t> </a:t>
            </a:r>
            <a:r>
              <a:rPr sz="1800" b="1" spc="10" dirty="0">
                <a:solidFill>
                  <a:srgbClr val="696363"/>
                </a:solidFill>
                <a:latin typeface="Times New Roman"/>
                <a:cs typeface="Times New Roman"/>
              </a:rPr>
              <a:t>being</a:t>
            </a:r>
            <a:r>
              <a:rPr sz="1800" b="1" spc="-50" dirty="0">
                <a:solidFill>
                  <a:srgbClr val="696363"/>
                </a:solidFill>
                <a:latin typeface="Times New Roman"/>
                <a:cs typeface="Times New Roman"/>
              </a:rPr>
              <a:t> </a:t>
            </a:r>
            <a:r>
              <a:rPr sz="1800" b="1" spc="10" dirty="0">
                <a:solidFill>
                  <a:srgbClr val="696363"/>
                </a:solidFill>
                <a:latin typeface="Times New Roman"/>
                <a:cs typeface="Times New Roman"/>
              </a:rPr>
              <a:t>used</a:t>
            </a:r>
            <a:r>
              <a:rPr sz="1800" b="1" spc="-40" dirty="0">
                <a:solidFill>
                  <a:srgbClr val="696363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696363"/>
                </a:solidFill>
                <a:latin typeface="Times New Roman"/>
                <a:cs typeface="Times New Roman"/>
              </a:rPr>
              <a:t>for</a:t>
            </a:r>
            <a:r>
              <a:rPr sz="1800" b="1" spc="-60" dirty="0">
                <a:solidFill>
                  <a:srgbClr val="696363"/>
                </a:solidFill>
                <a:latin typeface="Times New Roman"/>
                <a:cs typeface="Times New Roman"/>
              </a:rPr>
              <a:t> </a:t>
            </a:r>
            <a:r>
              <a:rPr sz="1800" b="1" spc="10" dirty="0">
                <a:solidFill>
                  <a:srgbClr val="696363"/>
                </a:solidFill>
                <a:latin typeface="Times New Roman"/>
                <a:cs typeface="Times New Roman"/>
              </a:rPr>
              <a:t>student</a:t>
            </a:r>
            <a:r>
              <a:rPr sz="1800" b="1" spc="-30" dirty="0">
                <a:solidFill>
                  <a:srgbClr val="696363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696363"/>
                </a:solidFill>
                <a:latin typeface="Times New Roman"/>
                <a:cs typeface="Times New Roman"/>
              </a:rPr>
              <a:t>reference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62931" y="1517269"/>
            <a:ext cx="9022080" cy="1307409"/>
          </a:xfrm>
          <a:prstGeom prst="rect">
            <a:avLst/>
          </a:prstGeom>
          <a:solidFill>
            <a:srgbClr val="D24717"/>
          </a:solidFill>
        </p:spPr>
        <p:txBody>
          <a:bodyPr vert="horz" wrap="square" lIns="0" tIns="75565" rIns="0" bIns="0" rtlCol="0">
            <a:spAutoFit/>
          </a:bodyPr>
          <a:lstStyle/>
          <a:p>
            <a:pPr marL="2328545" marR="814705" indent="-1504315" algn="l">
              <a:lnSpc>
                <a:spcPct val="100000"/>
              </a:lnSpc>
              <a:spcBef>
                <a:spcPts val="595"/>
              </a:spcBef>
            </a:pPr>
            <a:r>
              <a:rPr lang="en-US" sz="4000" spc="-65" dirty="0">
                <a:solidFill>
                  <a:srgbClr val="FFFFFF"/>
                </a:solidFill>
              </a:rPr>
              <a:t>             </a:t>
            </a:r>
            <a:r>
              <a:rPr sz="4000" spc="-65" dirty="0">
                <a:solidFill>
                  <a:srgbClr val="FFFFFF"/>
                </a:solidFill>
              </a:rPr>
              <a:t>Computer</a:t>
            </a:r>
            <a:r>
              <a:rPr sz="4000" spc="-5" dirty="0">
                <a:solidFill>
                  <a:srgbClr val="FFFFFF"/>
                </a:solidFill>
              </a:rPr>
              <a:t> </a:t>
            </a:r>
            <a:r>
              <a:rPr sz="4000" spc="-55" dirty="0">
                <a:solidFill>
                  <a:srgbClr val="FFFFFF"/>
                </a:solidFill>
              </a:rPr>
              <a:t>Networks</a:t>
            </a:r>
            <a:br>
              <a:rPr lang="en-US" sz="4000" spc="-55" dirty="0">
                <a:solidFill>
                  <a:srgbClr val="FFFFFF"/>
                </a:solidFill>
              </a:rPr>
            </a:br>
            <a:r>
              <a:rPr sz="4000" spc="-60" dirty="0">
                <a:solidFill>
                  <a:srgbClr val="FFFFFF"/>
                </a:solidFill>
              </a:rPr>
              <a:t> </a:t>
            </a:r>
            <a:r>
              <a:rPr sz="4000" spc="-985" dirty="0">
                <a:solidFill>
                  <a:srgbClr val="FFFFFF"/>
                </a:solidFill>
              </a:rPr>
              <a:t> </a:t>
            </a:r>
            <a:r>
              <a:rPr sz="4000" spc="-25" dirty="0">
                <a:solidFill>
                  <a:srgbClr val="FFFFFF"/>
                </a:solidFill>
              </a:rPr>
              <a:t>Unit </a:t>
            </a:r>
            <a:r>
              <a:rPr sz="4000" spc="-20" dirty="0">
                <a:solidFill>
                  <a:srgbClr val="FFFFFF"/>
                </a:solidFill>
              </a:rPr>
              <a:t>I</a:t>
            </a:r>
            <a:r>
              <a:rPr lang="en-US" sz="4000" spc="-20" dirty="0">
                <a:solidFill>
                  <a:srgbClr val="FFFFFF"/>
                </a:solidFill>
              </a:rPr>
              <a:t>I – Physical Layer</a:t>
            </a:r>
            <a:endParaRPr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688974"/>
            <a:ext cx="154749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45" dirty="0"/>
              <a:t>Out</a:t>
            </a:r>
            <a:r>
              <a:rPr sz="4000" spc="-35" dirty="0"/>
              <a:t>line</a:t>
            </a:r>
            <a:endParaRPr sz="4000"/>
          </a:p>
        </p:txBody>
      </p:sp>
      <p:sp>
        <p:nvSpPr>
          <p:cNvPr id="3" name="object 3"/>
          <p:cNvSpPr/>
          <p:nvPr/>
        </p:nvSpPr>
        <p:spPr>
          <a:xfrm>
            <a:off x="914400" y="1450594"/>
            <a:ext cx="6858000" cy="5100320"/>
          </a:xfrm>
          <a:custGeom>
            <a:avLst/>
            <a:gdLst/>
            <a:ahLst/>
            <a:cxnLst/>
            <a:rect l="l" t="t" r="r" b="b"/>
            <a:pathLst>
              <a:path w="6858000" h="5100320">
                <a:moveTo>
                  <a:pt x="0" y="77215"/>
                </a:moveTo>
                <a:lnTo>
                  <a:pt x="6067" y="47148"/>
                </a:lnTo>
                <a:lnTo>
                  <a:pt x="22615" y="22605"/>
                </a:lnTo>
                <a:lnTo>
                  <a:pt x="47159" y="6064"/>
                </a:lnTo>
                <a:lnTo>
                  <a:pt x="77215" y="0"/>
                </a:lnTo>
                <a:lnTo>
                  <a:pt x="6780783" y="0"/>
                </a:lnTo>
                <a:lnTo>
                  <a:pt x="6810851" y="6064"/>
                </a:lnTo>
                <a:lnTo>
                  <a:pt x="6835394" y="22606"/>
                </a:lnTo>
                <a:lnTo>
                  <a:pt x="6851935" y="47148"/>
                </a:lnTo>
                <a:lnTo>
                  <a:pt x="6858000" y="77215"/>
                </a:lnTo>
                <a:lnTo>
                  <a:pt x="6858000" y="386079"/>
                </a:lnTo>
                <a:lnTo>
                  <a:pt x="6851935" y="416147"/>
                </a:lnTo>
                <a:lnTo>
                  <a:pt x="6835394" y="440689"/>
                </a:lnTo>
                <a:lnTo>
                  <a:pt x="6810851" y="457231"/>
                </a:lnTo>
                <a:lnTo>
                  <a:pt x="6780783" y="463295"/>
                </a:lnTo>
                <a:lnTo>
                  <a:pt x="77215" y="463295"/>
                </a:lnTo>
                <a:lnTo>
                  <a:pt x="47159" y="457231"/>
                </a:lnTo>
                <a:lnTo>
                  <a:pt x="22615" y="440689"/>
                </a:lnTo>
                <a:lnTo>
                  <a:pt x="6067" y="416147"/>
                </a:lnTo>
                <a:lnTo>
                  <a:pt x="0" y="386079"/>
                </a:lnTo>
                <a:lnTo>
                  <a:pt x="0" y="77215"/>
                </a:lnTo>
                <a:close/>
              </a:path>
              <a:path w="6858000" h="5100320">
                <a:moveTo>
                  <a:pt x="0" y="592454"/>
                </a:moveTo>
                <a:lnTo>
                  <a:pt x="6067" y="562387"/>
                </a:lnTo>
                <a:lnTo>
                  <a:pt x="22615" y="537844"/>
                </a:lnTo>
                <a:lnTo>
                  <a:pt x="47159" y="521303"/>
                </a:lnTo>
                <a:lnTo>
                  <a:pt x="77215" y="515238"/>
                </a:lnTo>
                <a:lnTo>
                  <a:pt x="6780783" y="515238"/>
                </a:lnTo>
                <a:lnTo>
                  <a:pt x="6810851" y="521303"/>
                </a:lnTo>
                <a:lnTo>
                  <a:pt x="6835394" y="537845"/>
                </a:lnTo>
                <a:lnTo>
                  <a:pt x="6851935" y="562387"/>
                </a:lnTo>
                <a:lnTo>
                  <a:pt x="6858000" y="592454"/>
                </a:lnTo>
                <a:lnTo>
                  <a:pt x="6858000" y="901318"/>
                </a:lnTo>
                <a:lnTo>
                  <a:pt x="6851935" y="931386"/>
                </a:lnTo>
                <a:lnTo>
                  <a:pt x="6835394" y="955928"/>
                </a:lnTo>
                <a:lnTo>
                  <a:pt x="6810851" y="972470"/>
                </a:lnTo>
                <a:lnTo>
                  <a:pt x="6780783" y="978534"/>
                </a:lnTo>
                <a:lnTo>
                  <a:pt x="77215" y="978534"/>
                </a:lnTo>
                <a:lnTo>
                  <a:pt x="47159" y="972470"/>
                </a:lnTo>
                <a:lnTo>
                  <a:pt x="22615" y="955928"/>
                </a:lnTo>
                <a:lnTo>
                  <a:pt x="6067" y="931386"/>
                </a:lnTo>
                <a:lnTo>
                  <a:pt x="0" y="901318"/>
                </a:lnTo>
                <a:lnTo>
                  <a:pt x="0" y="592454"/>
                </a:lnTo>
                <a:close/>
              </a:path>
              <a:path w="6858000" h="5100320">
                <a:moveTo>
                  <a:pt x="0" y="1107566"/>
                </a:moveTo>
                <a:lnTo>
                  <a:pt x="6067" y="1077499"/>
                </a:lnTo>
                <a:lnTo>
                  <a:pt x="22615" y="1052956"/>
                </a:lnTo>
                <a:lnTo>
                  <a:pt x="47159" y="1036415"/>
                </a:lnTo>
                <a:lnTo>
                  <a:pt x="77215" y="1030351"/>
                </a:lnTo>
                <a:lnTo>
                  <a:pt x="6780783" y="1030351"/>
                </a:lnTo>
                <a:lnTo>
                  <a:pt x="6810851" y="1036415"/>
                </a:lnTo>
                <a:lnTo>
                  <a:pt x="6835394" y="1052957"/>
                </a:lnTo>
                <a:lnTo>
                  <a:pt x="6851935" y="1077499"/>
                </a:lnTo>
                <a:lnTo>
                  <a:pt x="6858000" y="1107566"/>
                </a:lnTo>
                <a:lnTo>
                  <a:pt x="6858000" y="1416430"/>
                </a:lnTo>
                <a:lnTo>
                  <a:pt x="6851935" y="1446498"/>
                </a:lnTo>
                <a:lnTo>
                  <a:pt x="6835394" y="1471040"/>
                </a:lnTo>
                <a:lnTo>
                  <a:pt x="6810851" y="1487582"/>
                </a:lnTo>
                <a:lnTo>
                  <a:pt x="6780783" y="1493646"/>
                </a:lnTo>
                <a:lnTo>
                  <a:pt x="77215" y="1493646"/>
                </a:lnTo>
                <a:lnTo>
                  <a:pt x="47159" y="1487582"/>
                </a:lnTo>
                <a:lnTo>
                  <a:pt x="22615" y="1471040"/>
                </a:lnTo>
                <a:lnTo>
                  <a:pt x="6067" y="1446498"/>
                </a:lnTo>
                <a:lnTo>
                  <a:pt x="0" y="1416430"/>
                </a:lnTo>
                <a:lnTo>
                  <a:pt x="0" y="1107566"/>
                </a:lnTo>
                <a:close/>
              </a:path>
              <a:path w="6858000" h="5100320">
                <a:moveTo>
                  <a:pt x="0" y="1622678"/>
                </a:moveTo>
                <a:lnTo>
                  <a:pt x="6067" y="1592665"/>
                </a:lnTo>
                <a:lnTo>
                  <a:pt x="22615" y="1568116"/>
                </a:lnTo>
                <a:lnTo>
                  <a:pt x="47159" y="1551545"/>
                </a:lnTo>
                <a:lnTo>
                  <a:pt x="77215" y="1545463"/>
                </a:lnTo>
                <a:lnTo>
                  <a:pt x="6780783" y="1545463"/>
                </a:lnTo>
                <a:lnTo>
                  <a:pt x="6810851" y="1551545"/>
                </a:lnTo>
                <a:lnTo>
                  <a:pt x="6835394" y="1568116"/>
                </a:lnTo>
                <a:lnTo>
                  <a:pt x="6851935" y="1592665"/>
                </a:lnTo>
                <a:lnTo>
                  <a:pt x="6858000" y="1622678"/>
                </a:lnTo>
                <a:lnTo>
                  <a:pt x="6858000" y="1931542"/>
                </a:lnTo>
                <a:lnTo>
                  <a:pt x="6851935" y="1961630"/>
                </a:lnTo>
                <a:lnTo>
                  <a:pt x="6835394" y="1986216"/>
                </a:lnTo>
                <a:lnTo>
                  <a:pt x="6810851" y="2002801"/>
                </a:lnTo>
                <a:lnTo>
                  <a:pt x="6780783" y="2008885"/>
                </a:lnTo>
                <a:lnTo>
                  <a:pt x="77215" y="2008885"/>
                </a:lnTo>
                <a:lnTo>
                  <a:pt x="47159" y="2002801"/>
                </a:lnTo>
                <a:lnTo>
                  <a:pt x="22615" y="1986216"/>
                </a:lnTo>
                <a:lnTo>
                  <a:pt x="6067" y="1961630"/>
                </a:lnTo>
                <a:lnTo>
                  <a:pt x="0" y="1931542"/>
                </a:lnTo>
                <a:lnTo>
                  <a:pt x="0" y="1622678"/>
                </a:lnTo>
                <a:close/>
              </a:path>
              <a:path w="6858000" h="5100320">
                <a:moveTo>
                  <a:pt x="0" y="2137917"/>
                </a:moveTo>
                <a:lnTo>
                  <a:pt x="6067" y="2107850"/>
                </a:lnTo>
                <a:lnTo>
                  <a:pt x="22615" y="2083307"/>
                </a:lnTo>
                <a:lnTo>
                  <a:pt x="47159" y="2066766"/>
                </a:lnTo>
                <a:lnTo>
                  <a:pt x="77215" y="2060702"/>
                </a:lnTo>
                <a:lnTo>
                  <a:pt x="6780783" y="2060702"/>
                </a:lnTo>
                <a:lnTo>
                  <a:pt x="6810851" y="2066766"/>
                </a:lnTo>
                <a:lnTo>
                  <a:pt x="6835394" y="2083308"/>
                </a:lnTo>
                <a:lnTo>
                  <a:pt x="6851935" y="2107850"/>
                </a:lnTo>
                <a:lnTo>
                  <a:pt x="6858000" y="2137917"/>
                </a:lnTo>
                <a:lnTo>
                  <a:pt x="6858000" y="2446781"/>
                </a:lnTo>
                <a:lnTo>
                  <a:pt x="6851935" y="2476849"/>
                </a:lnTo>
                <a:lnTo>
                  <a:pt x="6835394" y="2501391"/>
                </a:lnTo>
                <a:lnTo>
                  <a:pt x="6810851" y="2517933"/>
                </a:lnTo>
                <a:lnTo>
                  <a:pt x="6780783" y="2523997"/>
                </a:lnTo>
                <a:lnTo>
                  <a:pt x="77215" y="2523997"/>
                </a:lnTo>
                <a:lnTo>
                  <a:pt x="47159" y="2517933"/>
                </a:lnTo>
                <a:lnTo>
                  <a:pt x="22615" y="2501391"/>
                </a:lnTo>
                <a:lnTo>
                  <a:pt x="6067" y="2476849"/>
                </a:lnTo>
                <a:lnTo>
                  <a:pt x="0" y="2446781"/>
                </a:lnTo>
                <a:lnTo>
                  <a:pt x="0" y="2137917"/>
                </a:lnTo>
                <a:close/>
              </a:path>
              <a:path w="6858000" h="5100320">
                <a:moveTo>
                  <a:pt x="0" y="2653029"/>
                </a:moveTo>
                <a:lnTo>
                  <a:pt x="6067" y="2622962"/>
                </a:lnTo>
                <a:lnTo>
                  <a:pt x="22615" y="2598419"/>
                </a:lnTo>
                <a:lnTo>
                  <a:pt x="47159" y="2581878"/>
                </a:lnTo>
                <a:lnTo>
                  <a:pt x="77215" y="2575813"/>
                </a:lnTo>
                <a:lnTo>
                  <a:pt x="6780783" y="2575813"/>
                </a:lnTo>
                <a:lnTo>
                  <a:pt x="6810851" y="2581878"/>
                </a:lnTo>
                <a:lnTo>
                  <a:pt x="6835394" y="2598419"/>
                </a:lnTo>
                <a:lnTo>
                  <a:pt x="6851935" y="2622962"/>
                </a:lnTo>
                <a:lnTo>
                  <a:pt x="6858000" y="2653029"/>
                </a:lnTo>
                <a:lnTo>
                  <a:pt x="6858000" y="2961893"/>
                </a:lnTo>
                <a:lnTo>
                  <a:pt x="6851935" y="2991961"/>
                </a:lnTo>
                <a:lnTo>
                  <a:pt x="6835394" y="3016504"/>
                </a:lnTo>
                <a:lnTo>
                  <a:pt x="6810851" y="3033045"/>
                </a:lnTo>
                <a:lnTo>
                  <a:pt x="6780783" y="3039110"/>
                </a:lnTo>
                <a:lnTo>
                  <a:pt x="77215" y="3039110"/>
                </a:lnTo>
                <a:lnTo>
                  <a:pt x="47159" y="3033045"/>
                </a:lnTo>
                <a:lnTo>
                  <a:pt x="22615" y="3016504"/>
                </a:lnTo>
                <a:lnTo>
                  <a:pt x="6067" y="2991961"/>
                </a:lnTo>
                <a:lnTo>
                  <a:pt x="0" y="2961893"/>
                </a:lnTo>
                <a:lnTo>
                  <a:pt x="0" y="2653029"/>
                </a:lnTo>
                <a:close/>
              </a:path>
              <a:path w="6858000" h="5100320">
                <a:moveTo>
                  <a:pt x="0" y="3168268"/>
                </a:moveTo>
                <a:lnTo>
                  <a:pt x="6067" y="3138181"/>
                </a:lnTo>
                <a:lnTo>
                  <a:pt x="22615" y="3113595"/>
                </a:lnTo>
                <a:lnTo>
                  <a:pt x="47159" y="3097010"/>
                </a:lnTo>
                <a:lnTo>
                  <a:pt x="77215" y="3090925"/>
                </a:lnTo>
                <a:lnTo>
                  <a:pt x="6780783" y="3090925"/>
                </a:lnTo>
                <a:lnTo>
                  <a:pt x="6810851" y="3097010"/>
                </a:lnTo>
                <a:lnTo>
                  <a:pt x="6835394" y="3113595"/>
                </a:lnTo>
                <a:lnTo>
                  <a:pt x="6851935" y="3138181"/>
                </a:lnTo>
                <a:lnTo>
                  <a:pt x="6858000" y="3168268"/>
                </a:lnTo>
                <a:lnTo>
                  <a:pt x="6858000" y="3477132"/>
                </a:lnTo>
                <a:lnTo>
                  <a:pt x="6851935" y="3507146"/>
                </a:lnTo>
                <a:lnTo>
                  <a:pt x="6835394" y="3531695"/>
                </a:lnTo>
                <a:lnTo>
                  <a:pt x="6810851" y="3548266"/>
                </a:lnTo>
                <a:lnTo>
                  <a:pt x="6780783" y="3554349"/>
                </a:lnTo>
                <a:lnTo>
                  <a:pt x="77215" y="3554349"/>
                </a:lnTo>
                <a:lnTo>
                  <a:pt x="47159" y="3548266"/>
                </a:lnTo>
                <a:lnTo>
                  <a:pt x="22615" y="3531695"/>
                </a:lnTo>
                <a:lnTo>
                  <a:pt x="6067" y="3507146"/>
                </a:lnTo>
                <a:lnTo>
                  <a:pt x="0" y="3477132"/>
                </a:lnTo>
                <a:lnTo>
                  <a:pt x="0" y="3168268"/>
                </a:lnTo>
                <a:close/>
              </a:path>
              <a:path w="6858000" h="5100320">
                <a:moveTo>
                  <a:pt x="0" y="3683380"/>
                </a:moveTo>
                <a:lnTo>
                  <a:pt x="6067" y="3653313"/>
                </a:lnTo>
                <a:lnTo>
                  <a:pt x="22615" y="3628770"/>
                </a:lnTo>
                <a:lnTo>
                  <a:pt x="47159" y="3612229"/>
                </a:lnTo>
                <a:lnTo>
                  <a:pt x="77215" y="3606164"/>
                </a:lnTo>
                <a:lnTo>
                  <a:pt x="6780783" y="3606164"/>
                </a:lnTo>
                <a:lnTo>
                  <a:pt x="6810851" y="3612229"/>
                </a:lnTo>
                <a:lnTo>
                  <a:pt x="6835394" y="3628770"/>
                </a:lnTo>
                <a:lnTo>
                  <a:pt x="6851935" y="3653313"/>
                </a:lnTo>
                <a:lnTo>
                  <a:pt x="6858000" y="3683380"/>
                </a:lnTo>
                <a:lnTo>
                  <a:pt x="6858000" y="3992244"/>
                </a:lnTo>
                <a:lnTo>
                  <a:pt x="6851935" y="4022312"/>
                </a:lnTo>
                <a:lnTo>
                  <a:pt x="6835394" y="4046854"/>
                </a:lnTo>
                <a:lnTo>
                  <a:pt x="6810851" y="4063396"/>
                </a:lnTo>
                <a:lnTo>
                  <a:pt x="6780783" y="4069460"/>
                </a:lnTo>
                <a:lnTo>
                  <a:pt x="77215" y="4069460"/>
                </a:lnTo>
                <a:lnTo>
                  <a:pt x="47159" y="4063396"/>
                </a:lnTo>
                <a:lnTo>
                  <a:pt x="22615" y="4046854"/>
                </a:lnTo>
                <a:lnTo>
                  <a:pt x="6067" y="4022312"/>
                </a:lnTo>
                <a:lnTo>
                  <a:pt x="0" y="3992244"/>
                </a:lnTo>
                <a:lnTo>
                  <a:pt x="0" y="3683380"/>
                </a:lnTo>
                <a:close/>
              </a:path>
              <a:path w="6858000" h="5100320">
                <a:moveTo>
                  <a:pt x="0" y="4198531"/>
                </a:moveTo>
                <a:lnTo>
                  <a:pt x="6067" y="4168463"/>
                </a:lnTo>
                <a:lnTo>
                  <a:pt x="22615" y="4143906"/>
                </a:lnTo>
                <a:lnTo>
                  <a:pt x="47159" y="4127348"/>
                </a:lnTo>
                <a:lnTo>
                  <a:pt x="77215" y="4121277"/>
                </a:lnTo>
                <a:lnTo>
                  <a:pt x="6780783" y="4121277"/>
                </a:lnTo>
                <a:lnTo>
                  <a:pt x="6810851" y="4127348"/>
                </a:lnTo>
                <a:lnTo>
                  <a:pt x="6835394" y="4143906"/>
                </a:lnTo>
                <a:lnTo>
                  <a:pt x="6851935" y="4168463"/>
                </a:lnTo>
                <a:lnTo>
                  <a:pt x="6858000" y="4198531"/>
                </a:lnTo>
                <a:lnTo>
                  <a:pt x="6858000" y="4507407"/>
                </a:lnTo>
                <a:lnTo>
                  <a:pt x="6851935" y="4537464"/>
                </a:lnTo>
                <a:lnTo>
                  <a:pt x="6835394" y="4562008"/>
                </a:lnTo>
                <a:lnTo>
                  <a:pt x="6810851" y="4578555"/>
                </a:lnTo>
                <a:lnTo>
                  <a:pt x="6780783" y="4584623"/>
                </a:lnTo>
                <a:lnTo>
                  <a:pt x="77215" y="4584623"/>
                </a:lnTo>
                <a:lnTo>
                  <a:pt x="47159" y="4578555"/>
                </a:lnTo>
                <a:lnTo>
                  <a:pt x="22615" y="4562008"/>
                </a:lnTo>
                <a:lnTo>
                  <a:pt x="6067" y="4537464"/>
                </a:lnTo>
                <a:lnTo>
                  <a:pt x="0" y="4507407"/>
                </a:lnTo>
                <a:lnTo>
                  <a:pt x="0" y="4198531"/>
                </a:lnTo>
                <a:close/>
              </a:path>
              <a:path w="6858000" h="5100320">
                <a:moveTo>
                  <a:pt x="0" y="4713681"/>
                </a:moveTo>
                <a:lnTo>
                  <a:pt x="6067" y="4683624"/>
                </a:lnTo>
                <a:lnTo>
                  <a:pt x="22615" y="4659080"/>
                </a:lnTo>
                <a:lnTo>
                  <a:pt x="47159" y="4642533"/>
                </a:lnTo>
                <a:lnTo>
                  <a:pt x="77215" y="4636465"/>
                </a:lnTo>
                <a:lnTo>
                  <a:pt x="6780783" y="4636465"/>
                </a:lnTo>
                <a:lnTo>
                  <a:pt x="6810851" y="4642533"/>
                </a:lnTo>
                <a:lnTo>
                  <a:pt x="6835394" y="4659080"/>
                </a:lnTo>
                <a:lnTo>
                  <a:pt x="6851935" y="4683624"/>
                </a:lnTo>
                <a:lnTo>
                  <a:pt x="6858000" y="4713681"/>
                </a:lnTo>
                <a:lnTo>
                  <a:pt x="6858000" y="5022557"/>
                </a:lnTo>
                <a:lnTo>
                  <a:pt x="6851935" y="5052621"/>
                </a:lnTo>
                <a:lnTo>
                  <a:pt x="6835394" y="5077169"/>
                </a:lnTo>
                <a:lnTo>
                  <a:pt x="6810851" y="5093718"/>
                </a:lnTo>
                <a:lnTo>
                  <a:pt x="6780783" y="5099786"/>
                </a:lnTo>
                <a:lnTo>
                  <a:pt x="77215" y="5099786"/>
                </a:lnTo>
                <a:lnTo>
                  <a:pt x="47159" y="5093718"/>
                </a:lnTo>
                <a:lnTo>
                  <a:pt x="22615" y="5077169"/>
                </a:lnTo>
                <a:lnTo>
                  <a:pt x="6067" y="5052621"/>
                </a:lnTo>
                <a:lnTo>
                  <a:pt x="0" y="5022557"/>
                </a:lnTo>
                <a:lnTo>
                  <a:pt x="0" y="4713681"/>
                </a:lnTo>
                <a:close/>
              </a:path>
            </a:pathLst>
          </a:custGeom>
          <a:ln w="12700">
            <a:solidFill>
              <a:srgbClr val="BE401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93139" y="1470406"/>
            <a:ext cx="6036945" cy="49580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685">
              <a:lnSpc>
                <a:spcPct val="100000"/>
              </a:lnSpc>
              <a:spcBef>
                <a:spcPts val="105"/>
              </a:spcBef>
            </a:pPr>
            <a:r>
              <a:rPr sz="2000" b="1" spc="15" dirty="0">
                <a:solidFill>
                  <a:srgbClr val="BEBEBE"/>
                </a:solidFill>
                <a:latin typeface="Times New Roman"/>
                <a:cs typeface="Times New Roman"/>
              </a:rPr>
              <a:t>Introduction</a:t>
            </a:r>
            <a:r>
              <a:rPr sz="2000" b="1" spc="-85" dirty="0">
                <a:solidFill>
                  <a:srgbClr val="BEBEBE"/>
                </a:solidFill>
                <a:latin typeface="Times New Roman"/>
                <a:cs typeface="Times New Roman"/>
              </a:rPr>
              <a:t> </a:t>
            </a:r>
            <a:r>
              <a:rPr sz="2000" b="1" spc="20" dirty="0">
                <a:solidFill>
                  <a:srgbClr val="BEBEBE"/>
                </a:solidFill>
                <a:latin typeface="Times New Roman"/>
                <a:cs typeface="Times New Roman"/>
              </a:rPr>
              <a:t>of</a:t>
            </a:r>
            <a:r>
              <a:rPr sz="2000" b="1" spc="-50" dirty="0">
                <a:solidFill>
                  <a:srgbClr val="BEBEBE"/>
                </a:solidFill>
                <a:latin typeface="Times New Roman"/>
                <a:cs typeface="Times New Roman"/>
              </a:rPr>
              <a:t> </a:t>
            </a:r>
            <a:r>
              <a:rPr sz="2000" b="1" spc="-175" dirty="0">
                <a:solidFill>
                  <a:srgbClr val="BEBEBE"/>
                </a:solidFill>
                <a:latin typeface="Times New Roman"/>
                <a:cs typeface="Times New Roman"/>
              </a:rPr>
              <a:t>LAN;</a:t>
            </a:r>
            <a:r>
              <a:rPr sz="2000" b="1" spc="-120" dirty="0">
                <a:solidFill>
                  <a:srgbClr val="BEBEBE"/>
                </a:solidFill>
                <a:latin typeface="Times New Roman"/>
                <a:cs typeface="Times New Roman"/>
              </a:rPr>
              <a:t> </a:t>
            </a:r>
            <a:r>
              <a:rPr sz="2000" b="1" spc="-135" dirty="0">
                <a:solidFill>
                  <a:srgbClr val="BEBEBE"/>
                </a:solidFill>
                <a:latin typeface="Times New Roman"/>
                <a:cs typeface="Times New Roman"/>
              </a:rPr>
              <a:t>MAN;WAN;</a:t>
            </a:r>
            <a:r>
              <a:rPr sz="2000" b="1" spc="-140" dirty="0">
                <a:solidFill>
                  <a:srgbClr val="BEBEBE"/>
                </a:solidFill>
                <a:latin typeface="Times New Roman"/>
                <a:cs typeface="Times New Roman"/>
              </a:rPr>
              <a:t> </a:t>
            </a:r>
            <a:r>
              <a:rPr sz="2000" b="1" spc="-130" dirty="0">
                <a:solidFill>
                  <a:srgbClr val="BEBEBE"/>
                </a:solidFill>
                <a:latin typeface="Times New Roman"/>
                <a:cs typeface="Times New Roman"/>
              </a:rPr>
              <a:t>PAN,</a:t>
            </a:r>
            <a:r>
              <a:rPr sz="2000" b="1" spc="-210" dirty="0">
                <a:solidFill>
                  <a:srgbClr val="BEBEBE"/>
                </a:solidFill>
                <a:latin typeface="Times New Roman"/>
                <a:cs typeface="Times New Roman"/>
              </a:rPr>
              <a:t> </a:t>
            </a:r>
            <a:r>
              <a:rPr sz="2000" b="1" spc="25" dirty="0">
                <a:solidFill>
                  <a:srgbClr val="BEBEBE"/>
                </a:solidFill>
                <a:latin typeface="Times New Roman"/>
                <a:cs typeface="Times New Roman"/>
              </a:rPr>
              <a:t>Ad-hoc</a:t>
            </a:r>
            <a:r>
              <a:rPr sz="2000" b="1" spc="-50" dirty="0">
                <a:solidFill>
                  <a:srgbClr val="BEBEBE"/>
                </a:solidFill>
                <a:latin typeface="Times New Roman"/>
                <a:cs typeface="Times New Roman"/>
              </a:rPr>
              <a:t> </a:t>
            </a:r>
            <a:r>
              <a:rPr sz="2000" b="1" spc="-5" dirty="0">
                <a:solidFill>
                  <a:srgbClr val="BEBEBE"/>
                </a:solidFill>
                <a:latin typeface="Times New Roman"/>
                <a:cs typeface="Times New Roman"/>
              </a:rPr>
              <a:t>Network</a:t>
            </a:r>
            <a:endParaRPr sz="2000">
              <a:latin typeface="Times New Roman"/>
              <a:cs typeface="Times New Roman"/>
            </a:endParaRPr>
          </a:p>
          <a:p>
            <a:pPr marL="19685">
              <a:lnSpc>
                <a:spcPct val="100000"/>
              </a:lnSpc>
              <a:spcBef>
                <a:spcPts val="1655"/>
              </a:spcBef>
            </a:pPr>
            <a:r>
              <a:rPr sz="2000" b="1" spc="5" dirty="0">
                <a:solidFill>
                  <a:srgbClr val="BEBEBE"/>
                </a:solidFill>
                <a:latin typeface="Times New Roman"/>
                <a:cs typeface="Times New Roman"/>
              </a:rPr>
              <a:t>Topologies</a:t>
            </a:r>
            <a:endParaRPr sz="2000">
              <a:latin typeface="Times New Roman"/>
              <a:cs typeface="Times New Roman"/>
            </a:endParaRPr>
          </a:p>
          <a:p>
            <a:pPr marL="19685" marR="3536315">
              <a:lnSpc>
                <a:spcPct val="169000"/>
              </a:lnSpc>
            </a:pPr>
            <a:r>
              <a:rPr sz="2000" b="1" spc="-35" dirty="0">
                <a:solidFill>
                  <a:srgbClr val="BEBEBE"/>
                </a:solidFill>
                <a:latin typeface="Times New Roman"/>
                <a:cs typeface="Times New Roman"/>
              </a:rPr>
              <a:t>Ne</a:t>
            </a:r>
            <a:r>
              <a:rPr sz="2000" b="1" spc="25" dirty="0">
                <a:solidFill>
                  <a:srgbClr val="BEBEBE"/>
                </a:solidFill>
                <a:latin typeface="Times New Roman"/>
                <a:cs typeface="Times New Roman"/>
              </a:rPr>
              <a:t>t</a:t>
            </a:r>
            <a:r>
              <a:rPr sz="2000" b="1" dirty="0">
                <a:solidFill>
                  <a:srgbClr val="BEBEBE"/>
                </a:solidFill>
                <a:latin typeface="Times New Roman"/>
                <a:cs typeface="Times New Roman"/>
              </a:rPr>
              <a:t>w</a:t>
            </a:r>
            <a:r>
              <a:rPr sz="2000" b="1" spc="5" dirty="0">
                <a:solidFill>
                  <a:srgbClr val="BEBEBE"/>
                </a:solidFill>
                <a:latin typeface="Times New Roman"/>
                <a:cs typeface="Times New Roman"/>
              </a:rPr>
              <a:t>o</a:t>
            </a:r>
            <a:r>
              <a:rPr sz="2000" b="1" spc="10" dirty="0">
                <a:solidFill>
                  <a:srgbClr val="BEBEBE"/>
                </a:solidFill>
                <a:latin typeface="Times New Roman"/>
                <a:cs typeface="Times New Roman"/>
              </a:rPr>
              <a:t>r</a:t>
            </a:r>
            <a:r>
              <a:rPr sz="2000" b="1" spc="15" dirty="0">
                <a:solidFill>
                  <a:srgbClr val="BEBEBE"/>
                </a:solidFill>
                <a:latin typeface="Times New Roman"/>
                <a:cs typeface="Times New Roman"/>
              </a:rPr>
              <a:t>k</a:t>
            </a:r>
            <a:r>
              <a:rPr sz="2000" b="1" spc="-140" dirty="0">
                <a:solidFill>
                  <a:srgbClr val="BEBEBE"/>
                </a:solidFill>
                <a:latin typeface="Times New Roman"/>
                <a:cs typeface="Times New Roman"/>
              </a:rPr>
              <a:t> </a:t>
            </a:r>
            <a:r>
              <a:rPr sz="2000" b="1" spc="-50" dirty="0">
                <a:solidFill>
                  <a:srgbClr val="BEBEBE"/>
                </a:solidFill>
                <a:latin typeface="Times New Roman"/>
                <a:cs typeface="Times New Roman"/>
              </a:rPr>
              <a:t>Arc</a:t>
            </a:r>
            <a:r>
              <a:rPr sz="2000" b="1" spc="25" dirty="0">
                <a:solidFill>
                  <a:srgbClr val="BEBEBE"/>
                </a:solidFill>
                <a:latin typeface="Times New Roman"/>
                <a:cs typeface="Times New Roman"/>
              </a:rPr>
              <a:t>hit</a:t>
            </a:r>
            <a:r>
              <a:rPr sz="2000" b="1" spc="20" dirty="0">
                <a:solidFill>
                  <a:srgbClr val="BEBEBE"/>
                </a:solidFill>
                <a:latin typeface="Times New Roman"/>
                <a:cs typeface="Times New Roman"/>
              </a:rPr>
              <a:t>e</a:t>
            </a:r>
            <a:r>
              <a:rPr sz="2000" b="1" spc="35" dirty="0">
                <a:solidFill>
                  <a:srgbClr val="BEBEBE"/>
                </a:solidFill>
                <a:latin typeface="Times New Roman"/>
                <a:cs typeface="Times New Roman"/>
              </a:rPr>
              <a:t>c</a:t>
            </a:r>
            <a:r>
              <a:rPr sz="2000" b="1" spc="15" dirty="0">
                <a:solidFill>
                  <a:srgbClr val="BEBEBE"/>
                </a:solidFill>
                <a:latin typeface="Times New Roman"/>
                <a:cs typeface="Times New Roman"/>
              </a:rPr>
              <a:t>t</a:t>
            </a:r>
            <a:r>
              <a:rPr sz="2000" b="1" spc="-15" dirty="0">
                <a:solidFill>
                  <a:srgbClr val="BEBEBE"/>
                </a:solidFill>
                <a:latin typeface="Times New Roman"/>
                <a:cs typeface="Times New Roman"/>
              </a:rPr>
              <a:t>ures  </a:t>
            </a:r>
            <a:r>
              <a:rPr sz="2000" b="1" spc="-185" dirty="0">
                <a:solidFill>
                  <a:srgbClr val="BEBEBE"/>
                </a:solidFill>
                <a:latin typeface="Times New Roman"/>
                <a:cs typeface="Times New Roman"/>
              </a:rPr>
              <a:t>O</a:t>
            </a:r>
            <a:r>
              <a:rPr sz="2000" b="1" spc="-140" dirty="0">
                <a:solidFill>
                  <a:srgbClr val="BEBEBE"/>
                </a:solidFill>
                <a:latin typeface="Times New Roman"/>
                <a:cs typeface="Times New Roman"/>
              </a:rPr>
              <a:t>S</a:t>
            </a:r>
            <a:r>
              <a:rPr sz="2000" b="1" spc="-50" dirty="0">
                <a:solidFill>
                  <a:srgbClr val="BEBEBE"/>
                </a:solidFill>
                <a:latin typeface="Times New Roman"/>
                <a:cs typeface="Times New Roman"/>
              </a:rPr>
              <a:t>I </a:t>
            </a:r>
            <a:r>
              <a:rPr sz="2000" b="1" spc="5" dirty="0">
                <a:solidFill>
                  <a:srgbClr val="BEBEBE"/>
                </a:solidFill>
                <a:latin typeface="Times New Roman"/>
                <a:cs typeface="Times New Roman"/>
              </a:rPr>
              <a:t>Mo</a:t>
            </a:r>
            <a:r>
              <a:rPr sz="2000" b="1" spc="35" dirty="0">
                <a:solidFill>
                  <a:srgbClr val="BEBEBE"/>
                </a:solidFill>
                <a:latin typeface="Times New Roman"/>
                <a:cs typeface="Times New Roman"/>
              </a:rPr>
              <a:t>del</a:t>
            </a:r>
            <a:endParaRPr sz="2000">
              <a:latin typeface="Times New Roman"/>
              <a:cs typeface="Times New Roman"/>
            </a:endParaRPr>
          </a:p>
          <a:p>
            <a:pPr marL="19685">
              <a:lnSpc>
                <a:spcPct val="100000"/>
              </a:lnSpc>
              <a:spcBef>
                <a:spcPts val="1660"/>
              </a:spcBef>
            </a:pPr>
            <a:r>
              <a:rPr sz="2000" b="1" spc="-195" dirty="0">
                <a:solidFill>
                  <a:srgbClr val="BEBEBE"/>
                </a:solidFill>
                <a:latin typeface="Times New Roman"/>
                <a:cs typeface="Times New Roman"/>
              </a:rPr>
              <a:t>TC</a:t>
            </a:r>
            <a:r>
              <a:rPr sz="2000" b="1" spc="-165" dirty="0">
                <a:solidFill>
                  <a:srgbClr val="BEBEBE"/>
                </a:solidFill>
                <a:latin typeface="Times New Roman"/>
                <a:cs typeface="Times New Roman"/>
              </a:rPr>
              <a:t>P</a:t>
            </a:r>
            <a:r>
              <a:rPr sz="2000" b="1" spc="105" dirty="0">
                <a:solidFill>
                  <a:srgbClr val="BEBEBE"/>
                </a:solidFill>
                <a:latin typeface="Times New Roman"/>
                <a:cs typeface="Times New Roman"/>
              </a:rPr>
              <a:t>/IP</a:t>
            </a:r>
            <a:r>
              <a:rPr sz="2000" b="1" spc="-75" dirty="0">
                <a:solidFill>
                  <a:srgbClr val="BEBEBE"/>
                </a:solidFill>
                <a:latin typeface="Times New Roman"/>
                <a:cs typeface="Times New Roman"/>
              </a:rPr>
              <a:t> </a:t>
            </a:r>
            <a:r>
              <a:rPr sz="2000" b="1" spc="25" dirty="0">
                <a:solidFill>
                  <a:srgbClr val="BEBEBE"/>
                </a:solidFill>
                <a:latin typeface="Times New Roman"/>
                <a:cs typeface="Times New Roman"/>
              </a:rPr>
              <a:t>Model</a:t>
            </a:r>
            <a:endParaRPr sz="2000">
              <a:latin typeface="Times New Roman"/>
              <a:cs typeface="Times New Roman"/>
            </a:endParaRPr>
          </a:p>
          <a:p>
            <a:pPr marL="19685" marR="3486785">
              <a:lnSpc>
                <a:spcPts val="4060"/>
              </a:lnSpc>
              <a:spcBef>
                <a:spcPts val="405"/>
              </a:spcBef>
            </a:pPr>
            <a:r>
              <a:rPr sz="2000" b="1" spc="5" dirty="0">
                <a:solidFill>
                  <a:srgbClr val="BEBEBE"/>
                </a:solidFill>
                <a:latin typeface="Times New Roman"/>
                <a:cs typeface="Times New Roman"/>
              </a:rPr>
              <a:t>Design</a:t>
            </a:r>
            <a:r>
              <a:rPr sz="2000" b="1" spc="-85" dirty="0">
                <a:solidFill>
                  <a:srgbClr val="BEBEBE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BEBEBE"/>
                </a:solidFill>
                <a:latin typeface="Times New Roman"/>
                <a:cs typeface="Times New Roman"/>
              </a:rPr>
              <a:t>issues</a:t>
            </a:r>
            <a:r>
              <a:rPr sz="2000" b="1" spc="-75" dirty="0">
                <a:solidFill>
                  <a:srgbClr val="BEBEBE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BEBEBE"/>
                </a:solidFill>
                <a:latin typeface="Times New Roman"/>
                <a:cs typeface="Times New Roman"/>
              </a:rPr>
              <a:t>for</a:t>
            </a:r>
            <a:r>
              <a:rPr sz="2000" b="1" spc="-80" dirty="0">
                <a:solidFill>
                  <a:srgbClr val="BEBEBE"/>
                </a:solidFill>
                <a:latin typeface="Times New Roman"/>
                <a:cs typeface="Times New Roman"/>
              </a:rPr>
              <a:t> </a:t>
            </a:r>
            <a:r>
              <a:rPr sz="2000" b="1" spc="-100" dirty="0">
                <a:solidFill>
                  <a:srgbClr val="BEBEBE"/>
                </a:solidFill>
                <a:latin typeface="Times New Roman"/>
                <a:cs typeface="Times New Roman"/>
              </a:rPr>
              <a:t>Layers </a:t>
            </a:r>
            <a:r>
              <a:rPr sz="2000" b="1" spc="-484" dirty="0">
                <a:solidFill>
                  <a:srgbClr val="BEBEBE"/>
                </a:solidFill>
                <a:latin typeface="Times New Roman"/>
                <a:cs typeface="Times New Roman"/>
              </a:rPr>
              <a:t> </a:t>
            </a:r>
            <a:r>
              <a:rPr sz="2000" b="1" spc="-370" dirty="0">
                <a:solidFill>
                  <a:srgbClr val="FF0000"/>
                </a:solidFill>
                <a:latin typeface="Times New Roman"/>
                <a:cs typeface="Times New Roman"/>
              </a:rPr>
              <a:t>T</a:t>
            </a:r>
            <a:r>
              <a:rPr sz="20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ransmissio</a:t>
            </a:r>
            <a:r>
              <a:rPr sz="200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n</a:t>
            </a:r>
            <a:r>
              <a:rPr sz="2000" b="1" spc="-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spc="-15" dirty="0">
                <a:solidFill>
                  <a:srgbClr val="FF0000"/>
                </a:solidFill>
                <a:latin typeface="Times New Roman"/>
                <a:cs typeface="Times New Roman"/>
              </a:rPr>
              <a:t>M</a:t>
            </a:r>
            <a:r>
              <a:rPr sz="20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e</a:t>
            </a:r>
            <a:r>
              <a:rPr sz="2000" b="1" spc="30" dirty="0">
                <a:solidFill>
                  <a:srgbClr val="FF0000"/>
                </a:solidFill>
                <a:latin typeface="Times New Roman"/>
                <a:cs typeface="Times New Roman"/>
              </a:rPr>
              <a:t>di</a:t>
            </a:r>
            <a:r>
              <a:rPr sz="2000" b="1" spc="-30" dirty="0">
                <a:solidFill>
                  <a:srgbClr val="FF0000"/>
                </a:solidFill>
                <a:latin typeface="Times New Roman"/>
                <a:cs typeface="Times New Roman"/>
              </a:rPr>
              <a:t>ums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05"/>
              </a:spcBef>
            </a:pPr>
            <a:r>
              <a:rPr sz="1800" spc="-55" dirty="0">
                <a:latin typeface="Times New Roman"/>
                <a:cs typeface="Times New Roman"/>
              </a:rPr>
              <a:t>Net</a:t>
            </a:r>
            <a:r>
              <a:rPr sz="1800" spc="-145" dirty="0">
                <a:latin typeface="Times New Roman"/>
                <a:cs typeface="Times New Roman"/>
              </a:rPr>
              <a:t>w</a:t>
            </a:r>
            <a:r>
              <a:rPr sz="1800" spc="-35" dirty="0">
                <a:latin typeface="Times New Roman"/>
                <a:cs typeface="Times New Roman"/>
              </a:rPr>
              <a:t>o</a:t>
            </a:r>
            <a:r>
              <a:rPr sz="1800" spc="-20" dirty="0">
                <a:latin typeface="Times New Roman"/>
                <a:cs typeface="Times New Roman"/>
              </a:rPr>
              <a:t>r</a:t>
            </a:r>
            <a:r>
              <a:rPr sz="1800" spc="-114" dirty="0">
                <a:latin typeface="Times New Roman"/>
                <a:cs typeface="Times New Roman"/>
              </a:rPr>
              <a:t>k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spc="-105" dirty="0">
                <a:latin typeface="Times New Roman"/>
                <a:cs typeface="Times New Roman"/>
              </a:rPr>
              <a:t>D</a:t>
            </a:r>
            <a:r>
              <a:rPr sz="1800" spc="-90" dirty="0">
                <a:latin typeface="Times New Roman"/>
                <a:cs typeface="Times New Roman"/>
              </a:rPr>
              <a:t>e</a:t>
            </a:r>
            <a:r>
              <a:rPr sz="1800" spc="-110" dirty="0">
                <a:latin typeface="Times New Roman"/>
                <a:cs typeface="Times New Roman"/>
              </a:rPr>
              <a:t>vices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spc="-240" dirty="0">
                <a:latin typeface="Times New Roman"/>
                <a:cs typeface="Times New Roman"/>
              </a:rPr>
              <a:t>M</a:t>
            </a:r>
            <a:r>
              <a:rPr sz="1800" spc="-114" dirty="0">
                <a:latin typeface="Times New Roman"/>
                <a:cs typeface="Times New Roman"/>
              </a:rPr>
              <a:t>a</a:t>
            </a:r>
            <a:r>
              <a:rPr sz="1800" spc="-100" dirty="0">
                <a:latin typeface="Times New Roman"/>
                <a:cs typeface="Times New Roman"/>
              </a:rPr>
              <a:t>n</a:t>
            </a:r>
            <a:r>
              <a:rPr sz="1800" spc="-50" dirty="0">
                <a:latin typeface="Times New Roman"/>
                <a:cs typeface="Times New Roman"/>
              </a:rPr>
              <a:t>c</a:t>
            </a:r>
            <a:r>
              <a:rPr sz="1800" spc="-110" dirty="0">
                <a:latin typeface="Times New Roman"/>
                <a:cs typeface="Times New Roman"/>
              </a:rPr>
              <a:t>hes</a:t>
            </a:r>
            <a:r>
              <a:rPr sz="1800" spc="-10" dirty="0">
                <a:latin typeface="Times New Roman"/>
                <a:cs typeface="Times New Roman"/>
              </a:rPr>
              <a:t>ter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spc="-110" dirty="0">
                <a:latin typeface="Times New Roman"/>
                <a:cs typeface="Times New Roman"/>
              </a:rPr>
              <a:t>an</a:t>
            </a:r>
            <a:r>
              <a:rPr sz="1800" spc="-80" dirty="0">
                <a:latin typeface="Times New Roman"/>
                <a:cs typeface="Times New Roman"/>
              </a:rPr>
              <a:t>d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110" dirty="0">
                <a:latin typeface="Times New Roman"/>
                <a:cs typeface="Times New Roman"/>
              </a:rPr>
              <a:t>D</a:t>
            </a:r>
            <a:r>
              <a:rPr sz="1800" spc="-85" dirty="0">
                <a:latin typeface="Times New Roman"/>
                <a:cs typeface="Times New Roman"/>
              </a:rPr>
              <a:t>iffe</a:t>
            </a:r>
            <a:r>
              <a:rPr sz="1800" spc="-95" dirty="0">
                <a:latin typeface="Times New Roman"/>
                <a:cs typeface="Times New Roman"/>
              </a:rPr>
              <a:t>r</a:t>
            </a:r>
            <a:r>
              <a:rPr sz="1800" spc="-50" dirty="0">
                <a:latin typeface="Times New Roman"/>
                <a:cs typeface="Times New Roman"/>
              </a:rPr>
              <a:t>en</a:t>
            </a:r>
            <a:r>
              <a:rPr sz="1800" spc="-25" dirty="0">
                <a:latin typeface="Times New Roman"/>
                <a:cs typeface="Times New Roman"/>
              </a:rPr>
              <a:t>t</a:t>
            </a:r>
            <a:r>
              <a:rPr sz="1800" spc="-100" dirty="0">
                <a:latin typeface="Times New Roman"/>
                <a:cs typeface="Times New Roman"/>
              </a:rPr>
              <a:t>ial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spc="-240" dirty="0">
                <a:latin typeface="Times New Roman"/>
                <a:cs typeface="Times New Roman"/>
              </a:rPr>
              <a:t>M</a:t>
            </a:r>
            <a:r>
              <a:rPr sz="1800" spc="-114" dirty="0">
                <a:latin typeface="Times New Roman"/>
                <a:cs typeface="Times New Roman"/>
              </a:rPr>
              <a:t>a</a:t>
            </a:r>
            <a:r>
              <a:rPr sz="1800" spc="-100" dirty="0">
                <a:latin typeface="Times New Roman"/>
                <a:cs typeface="Times New Roman"/>
              </a:rPr>
              <a:t>n</a:t>
            </a:r>
            <a:r>
              <a:rPr sz="1800" spc="-50" dirty="0">
                <a:latin typeface="Times New Roman"/>
                <a:cs typeface="Times New Roman"/>
              </a:rPr>
              <a:t>c</a:t>
            </a:r>
            <a:r>
              <a:rPr sz="1800" spc="-110" dirty="0">
                <a:latin typeface="Times New Roman"/>
                <a:cs typeface="Times New Roman"/>
              </a:rPr>
              <a:t>hes</a:t>
            </a:r>
            <a:r>
              <a:rPr sz="1800" spc="-10" dirty="0">
                <a:latin typeface="Times New Roman"/>
                <a:cs typeface="Times New Roman"/>
              </a:rPr>
              <a:t>ter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spc="-190" dirty="0">
                <a:latin typeface="Times New Roman"/>
                <a:cs typeface="Times New Roman"/>
              </a:rPr>
              <a:t>E</a:t>
            </a:r>
            <a:r>
              <a:rPr sz="1800" spc="-100" dirty="0">
                <a:latin typeface="Times New Roman"/>
                <a:cs typeface="Times New Roman"/>
              </a:rPr>
              <a:t>n</a:t>
            </a:r>
            <a:r>
              <a:rPr sz="1800" spc="-85" dirty="0">
                <a:latin typeface="Times New Roman"/>
                <a:cs typeface="Times New Roman"/>
              </a:rPr>
              <a:t>c</a:t>
            </a:r>
            <a:r>
              <a:rPr sz="1800" spc="-80" dirty="0">
                <a:latin typeface="Times New Roman"/>
                <a:cs typeface="Times New Roman"/>
              </a:rPr>
              <a:t>o</a:t>
            </a:r>
            <a:r>
              <a:rPr sz="1800" spc="-75" dirty="0">
                <a:latin typeface="Times New Roman"/>
                <a:cs typeface="Times New Roman"/>
              </a:rPr>
              <a:t>d</a:t>
            </a:r>
            <a:r>
              <a:rPr sz="1800" spc="-85" dirty="0">
                <a:latin typeface="Times New Roman"/>
                <a:cs typeface="Times New Roman"/>
              </a:rPr>
              <a:t>ings;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spc="-90" dirty="0">
                <a:latin typeface="Times New Roman"/>
                <a:cs typeface="Times New Roman"/>
              </a:rPr>
              <a:t>IEEE802.11:</a:t>
            </a:r>
            <a:r>
              <a:rPr sz="1800" spc="-120" dirty="0">
                <a:latin typeface="Times New Roman"/>
                <a:cs typeface="Times New Roman"/>
              </a:rPr>
              <a:t> </a:t>
            </a:r>
            <a:r>
              <a:rPr sz="1800" spc="-90" dirty="0">
                <a:latin typeface="Times New Roman"/>
                <a:cs typeface="Times New Roman"/>
              </a:rPr>
              <a:t>Frequency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95" dirty="0">
                <a:latin typeface="Times New Roman"/>
                <a:cs typeface="Times New Roman"/>
              </a:rPr>
              <a:t>Hopping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145" dirty="0">
                <a:latin typeface="Times New Roman"/>
                <a:cs typeface="Times New Roman"/>
              </a:rPr>
              <a:t>(FHSS)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100" dirty="0">
                <a:latin typeface="Times New Roman"/>
                <a:cs typeface="Times New Roman"/>
              </a:rPr>
              <a:t>and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60" dirty="0">
                <a:latin typeface="Times New Roman"/>
                <a:cs typeface="Times New Roman"/>
              </a:rPr>
              <a:t>Direct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105" dirty="0">
                <a:latin typeface="Times New Roman"/>
                <a:cs typeface="Times New Roman"/>
              </a:rPr>
              <a:t>Sequence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155" dirty="0">
                <a:latin typeface="Times New Roman"/>
                <a:cs typeface="Times New Roman"/>
              </a:rPr>
              <a:t>(DSSS)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688974"/>
            <a:ext cx="494919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5" dirty="0"/>
              <a:t>Transmission</a:t>
            </a:r>
            <a:r>
              <a:rPr sz="4000" spc="-75" dirty="0"/>
              <a:t> </a:t>
            </a:r>
            <a:r>
              <a:rPr sz="4000" spc="-40" dirty="0"/>
              <a:t>Mediums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993444" y="1358239"/>
            <a:ext cx="2395855" cy="144335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86385" indent="-274320">
              <a:lnSpc>
                <a:spcPct val="100000"/>
              </a:lnSpc>
              <a:spcBef>
                <a:spcPts val="70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140" dirty="0">
                <a:latin typeface="Times New Roman"/>
                <a:cs typeface="Times New Roman"/>
              </a:rPr>
              <a:t>C</a:t>
            </a:r>
            <a:r>
              <a:rPr sz="2600" spc="-535" dirty="0">
                <a:latin typeface="Times New Roman"/>
                <a:cs typeface="Times New Roman"/>
              </a:rPr>
              <a:t>A</a:t>
            </a:r>
            <a:r>
              <a:rPr sz="2600" spc="-130" dirty="0">
                <a:latin typeface="Times New Roman"/>
                <a:cs typeface="Times New Roman"/>
              </a:rPr>
              <a:t>T</a:t>
            </a:r>
            <a:r>
              <a:rPr sz="2600" spc="-114" dirty="0">
                <a:latin typeface="Times New Roman"/>
                <a:cs typeface="Times New Roman"/>
              </a:rPr>
              <a:t>5</a:t>
            </a:r>
            <a:r>
              <a:rPr sz="2600" spc="110" dirty="0">
                <a:latin typeface="Times New Roman"/>
                <a:cs typeface="Times New Roman"/>
              </a:rPr>
              <a:t>,</a:t>
            </a:r>
            <a:r>
              <a:rPr sz="2600" spc="-175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5</a:t>
            </a:r>
            <a:r>
              <a:rPr sz="2600" spc="-155" dirty="0">
                <a:latin typeface="Times New Roman"/>
                <a:cs typeface="Times New Roman"/>
              </a:rPr>
              <a:t>e</a:t>
            </a:r>
            <a:r>
              <a:rPr sz="2600" spc="110" dirty="0">
                <a:latin typeface="Times New Roman"/>
                <a:cs typeface="Times New Roman"/>
              </a:rPr>
              <a:t>,</a:t>
            </a:r>
            <a:r>
              <a:rPr sz="2600" spc="-175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6</a:t>
            </a:r>
            <a:endParaRPr sz="2600">
              <a:latin typeface="Times New Roman"/>
              <a:cs typeface="Times New Roman"/>
            </a:endParaRPr>
          </a:p>
          <a:p>
            <a:pPr marL="286385" indent="-274320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125" dirty="0">
                <a:latin typeface="Times New Roman"/>
                <a:cs typeface="Times New Roman"/>
              </a:rPr>
              <a:t>OFC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45" dirty="0">
                <a:latin typeface="Times New Roman"/>
                <a:cs typeface="Times New Roman"/>
              </a:rPr>
              <a:t>and</a:t>
            </a:r>
            <a:endParaRPr sz="2600">
              <a:latin typeface="Times New Roman"/>
              <a:cs typeface="Times New Roman"/>
            </a:endParaRPr>
          </a:p>
          <a:p>
            <a:pPr marL="361315" indent="-349250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361315" algn="l"/>
                <a:tab pos="361950" algn="l"/>
              </a:tabLst>
            </a:pPr>
            <a:r>
              <a:rPr sz="2600" spc="-150" dirty="0">
                <a:latin typeface="Times New Roman"/>
                <a:cs typeface="Times New Roman"/>
              </a:rPr>
              <a:t>Radi</a:t>
            </a:r>
            <a:r>
              <a:rPr sz="2600" spc="-155" dirty="0">
                <a:latin typeface="Times New Roman"/>
                <a:cs typeface="Times New Roman"/>
              </a:rPr>
              <a:t>o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380" dirty="0">
                <a:latin typeface="Times New Roman"/>
                <a:cs typeface="Times New Roman"/>
              </a:rPr>
              <a:t>S</a:t>
            </a:r>
            <a:r>
              <a:rPr sz="2600" spc="-125" dirty="0">
                <a:latin typeface="Times New Roman"/>
                <a:cs typeface="Times New Roman"/>
              </a:rPr>
              <a:t>pe</a:t>
            </a:r>
            <a:r>
              <a:rPr sz="2600" spc="-130" dirty="0">
                <a:latin typeface="Times New Roman"/>
                <a:cs typeface="Times New Roman"/>
              </a:rPr>
              <a:t>c</a:t>
            </a:r>
            <a:r>
              <a:rPr sz="2600" spc="30" dirty="0">
                <a:latin typeface="Times New Roman"/>
                <a:cs typeface="Times New Roman"/>
              </a:rPr>
              <a:t>t</a:t>
            </a:r>
            <a:r>
              <a:rPr sz="2600" spc="90" dirty="0">
                <a:latin typeface="Times New Roman"/>
                <a:cs typeface="Times New Roman"/>
              </a:rPr>
              <a:t>r</a:t>
            </a:r>
            <a:r>
              <a:rPr sz="2600" spc="-50" dirty="0">
                <a:latin typeface="Times New Roman"/>
                <a:cs typeface="Times New Roman"/>
              </a:rPr>
              <a:t>um,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88974"/>
            <a:ext cx="633158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95" dirty="0"/>
              <a:t>Common</a:t>
            </a:r>
            <a:r>
              <a:rPr sz="4000" spc="-25" dirty="0"/>
              <a:t> </a:t>
            </a:r>
            <a:r>
              <a:rPr sz="4000" spc="-75" dirty="0"/>
              <a:t>network</a:t>
            </a:r>
            <a:r>
              <a:rPr sz="4000" dirty="0"/>
              <a:t> </a:t>
            </a:r>
            <a:r>
              <a:rPr sz="4000" spc="-30" dirty="0"/>
              <a:t>cable</a:t>
            </a:r>
            <a:r>
              <a:rPr sz="4000" dirty="0"/>
              <a:t> </a:t>
            </a:r>
            <a:r>
              <a:rPr sz="4000" spc="-40" dirty="0"/>
              <a:t>types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35940" y="1705482"/>
            <a:ext cx="1879600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5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155" dirty="0">
                <a:latin typeface="Times New Roman"/>
                <a:cs typeface="Times New Roman"/>
              </a:rPr>
              <a:t>Coaxia</a:t>
            </a:r>
            <a:r>
              <a:rPr sz="2600" spc="-90" dirty="0">
                <a:latin typeface="Times New Roman"/>
                <a:cs typeface="Times New Roman"/>
              </a:rPr>
              <a:t>l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65" dirty="0">
                <a:latin typeface="Times New Roman"/>
                <a:cs typeface="Times New Roman"/>
              </a:rPr>
              <a:t>ca</a:t>
            </a:r>
            <a:r>
              <a:rPr sz="2600" spc="-225" dirty="0">
                <a:latin typeface="Times New Roman"/>
                <a:cs typeface="Times New Roman"/>
              </a:rPr>
              <a:t>b</a:t>
            </a:r>
            <a:r>
              <a:rPr sz="2600" spc="-105" dirty="0">
                <a:latin typeface="Times New Roman"/>
                <a:cs typeface="Times New Roman"/>
              </a:rPr>
              <a:t>le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3595496"/>
            <a:ext cx="1714500" cy="819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6385" marR="5080" indent="-274320">
              <a:lnSpc>
                <a:spcPct val="100000"/>
              </a:lnSpc>
              <a:spcBef>
                <a:spcPts val="10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125" dirty="0">
                <a:latin typeface="Times New Roman"/>
                <a:cs typeface="Times New Roman"/>
              </a:rPr>
              <a:t>Unshielded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-85" dirty="0">
                <a:latin typeface="Times New Roman"/>
                <a:cs typeface="Times New Roman"/>
              </a:rPr>
              <a:t>twisted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105" dirty="0">
                <a:latin typeface="Times New Roman"/>
                <a:cs typeface="Times New Roman"/>
              </a:rPr>
              <a:t>pair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5409387"/>
            <a:ext cx="1597660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120" dirty="0">
                <a:latin typeface="Times New Roman"/>
                <a:cs typeface="Times New Roman"/>
              </a:rPr>
              <a:t>Fiber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o</a:t>
            </a:r>
            <a:r>
              <a:rPr sz="2600" spc="-125" dirty="0">
                <a:latin typeface="Times New Roman"/>
                <a:cs typeface="Times New Roman"/>
              </a:rPr>
              <a:t>p</a:t>
            </a:r>
            <a:r>
              <a:rPr sz="2600" spc="-80" dirty="0">
                <a:latin typeface="Times New Roman"/>
                <a:cs typeface="Times New Roman"/>
              </a:rPr>
              <a:t>tic</a:t>
            </a:r>
            <a:endParaRPr sz="2600">
              <a:latin typeface="Times New Roman"/>
              <a:cs typeface="Times New Roman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200400" y="1620837"/>
            <a:ext cx="4191000" cy="5237480"/>
            <a:chOff x="3200400" y="1620837"/>
            <a:chExt cx="4191000" cy="523748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52800" y="1620837"/>
              <a:ext cx="4038600" cy="190341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52800" y="2819272"/>
              <a:ext cx="3436874" cy="228130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00400" y="4724400"/>
              <a:ext cx="3810000" cy="213359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88974"/>
            <a:ext cx="411416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40" dirty="0"/>
              <a:t>UTP</a:t>
            </a:r>
            <a:r>
              <a:rPr sz="4000" spc="-65" dirty="0"/>
              <a:t> </a:t>
            </a:r>
            <a:r>
              <a:rPr sz="4000" spc="-30" dirty="0"/>
              <a:t>characteristics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459740" y="1629892"/>
            <a:ext cx="5607685" cy="183959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70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125" dirty="0">
                <a:latin typeface="Times New Roman"/>
                <a:cs typeface="Times New Roman"/>
              </a:rPr>
              <a:t>Unshielded</a:t>
            </a:r>
            <a:endParaRPr sz="260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150" dirty="0">
                <a:latin typeface="Times New Roman"/>
                <a:cs typeface="Times New Roman"/>
              </a:rPr>
              <a:t>Twisted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70" dirty="0">
                <a:latin typeface="Times New Roman"/>
                <a:cs typeface="Times New Roman"/>
              </a:rPr>
              <a:t>(why?)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14" dirty="0">
                <a:latin typeface="Times New Roman"/>
                <a:cs typeface="Times New Roman"/>
              </a:rPr>
              <a:t>pairs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of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insulated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00" dirty="0">
                <a:latin typeface="Times New Roman"/>
                <a:cs typeface="Times New Roman"/>
              </a:rPr>
              <a:t>conductors</a:t>
            </a:r>
            <a:endParaRPr sz="2600">
              <a:latin typeface="Times New Roman"/>
              <a:cs typeface="Times New Roman"/>
            </a:endParaRPr>
          </a:p>
          <a:p>
            <a:pPr marL="286385" marR="3355975" indent="-274320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145" dirty="0">
                <a:latin typeface="Times New Roman"/>
                <a:cs typeface="Times New Roman"/>
              </a:rPr>
              <a:t>C</a:t>
            </a:r>
            <a:r>
              <a:rPr sz="2600" spc="-180" dirty="0">
                <a:latin typeface="Times New Roman"/>
                <a:cs typeface="Times New Roman"/>
              </a:rPr>
              <a:t>o</a:t>
            </a:r>
            <a:r>
              <a:rPr sz="2600" spc="-270" dirty="0">
                <a:latin typeface="Times New Roman"/>
                <a:cs typeface="Times New Roman"/>
              </a:rPr>
              <a:t>v</a:t>
            </a:r>
            <a:r>
              <a:rPr sz="2600" spc="-40" dirty="0">
                <a:latin typeface="Times New Roman"/>
                <a:cs typeface="Times New Roman"/>
              </a:rPr>
              <a:t>e</a:t>
            </a:r>
            <a:r>
              <a:rPr sz="2600" spc="-55" dirty="0">
                <a:latin typeface="Times New Roman"/>
                <a:cs typeface="Times New Roman"/>
              </a:rPr>
              <a:t>r</a:t>
            </a:r>
            <a:r>
              <a:rPr sz="2600" spc="-105" dirty="0">
                <a:latin typeface="Times New Roman"/>
                <a:cs typeface="Times New Roman"/>
              </a:rPr>
              <a:t>ed</a:t>
            </a:r>
            <a:r>
              <a:rPr sz="2600" spc="-95" dirty="0">
                <a:latin typeface="Times New Roman"/>
                <a:cs typeface="Times New Roman"/>
              </a:rPr>
              <a:t> </a:t>
            </a:r>
            <a:r>
              <a:rPr sz="2600" spc="-190" dirty="0">
                <a:latin typeface="Times New Roman"/>
                <a:cs typeface="Times New Roman"/>
              </a:rPr>
              <a:t>b</a:t>
            </a:r>
            <a:r>
              <a:rPr sz="2600" spc="-145" dirty="0">
                <a:latin typeface="Times New Roman"/>
                <a:cs typeface="Times New Roman"/>
              </a:rPr>
              <a:t>y  </a:t>
            </a:r>
            <a:r>
              <a:rPr sz="2600" spc="-140" dirty="0">
                <a:latin typeface="Times New Roman"/>
                <a:cs typeface="Times New Roman"/>
              </a:rPr>
              <a:t>insul</a:t>
            </a:r>
            <a:r>
              <a:rPr sz="2600" spc="-195" dirty="0">
                <a:latin typeface="Times New Roman"/>
                <a:cs typeface="Times New Roman"/>
              </a:rPr>
              <a:t>a</a:t>
            </a:r>
            <a:r>
              <a:rPr sz="2600" spc="-105" dirty="0">
                <a:latin typeface="Times New Roman"/>
                <a:cs typeface="Times New Roman"/>
              </a:rPr>
              <a:t>ting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65" dirty="0">
                <a:latin typeface="Times New Roman"/>
                <a:cs typeface="Times New Roman"/>
              </a:rPr>
              <a:t>she</a:t>
            </a:r>
            <a:r>
              <a:rPr sz="2600" spc="-195" dirty="0">
                <a:latin typeface="Times New Roman"/>
                <a:cs typeface="Times New Roman"/>
              </a:rPr>
              <a:t>a</a:t>
            </a:r>
            <a:r>
              <a:rPr sz="2600" spc="-65" dirty="0">
                <a:latin typeface="Times New Roman"/>
                <a:cs typeface="Times New Roman"/>
              </a:rPr>
              <a:t>th</a:t>
            </a:r>
            <a:endParaRPr sz="26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86200" y="2913126"/>
            <a:ext cx="5027549" cy="373532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88974"/>
            <a:ext cx="320357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40" dirty="0"/>
              <a:t>UTP</a:t>
            </a:r>
            <a:r>
              <a:rPr sz="4000" spc="-55" dirty="0"/>
              <a:t> </a:t>
            </a:r>
            <a:r>
              <a:rPr sz="4000" spc="-45" dirty="0"/>
              <a:t>categories</a:t>
            </a:r>
            <a:endParaRPr sz="40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42912" y="1705038"/>
          <a:ext cx="8272780" cy="4668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6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3494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270"/>
                        </a:spcBef>
                      </a:pPr>
                      <a:r>
                        <a:rPr sz="2600" dirty="0">
                          <a:latin typeface="Arial MT"/>
                          <a:cs typeface="Arial MT"/>
                        </a:rPr>
                        <a:t>Category</a:t>
                      </a:r>
                      <a:r>
                        <a:rPr sz="26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600" dirty="0">
                          <a:latin typeface="Arial MT"/>
                          <a:cs typeface="Arial MT"/>
                        </a:rPr>
                        <a:t>1</a:t>
                      </a:r>
                      <a:endParaRPr sz="2600">
                        <a:latin typeface="Arial MT"/>
                        <a:cs typeface="Arial MT"/>
                      </a:endParaRPr>
                    </a:p>
                  </a:txBody>
                  <a:tcPr marL="0" marR="0" marT="16129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270"/>
                        </a:spcBef>
                      </a:pPr>
                      <a:r>
                        <a:rPr sz="2600" spc="-30" dirty="0">
                          <a:latin typeface="Arial MT"/>
                          <a:cs typeface="Arial MT"/>
                        </a:rPr>
                        <a:t>Voice</a:t>
                      </a:r>
                      <a:r>
                        <a:rPr sz="26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600" dirty="0">
                          <a:latin typeface="Arial MT"/>
                          <a:cs typeface="Arial MT"/>
                        </a:rPr>
                        <a:t>only</a:t>
                      </a:r>
                      <a:r>
                        <a:rPr sz="26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600" spc="-25" dirty="0">
                          <a:latin typeface="Arial MT"/>
                          <a:cs typeface="Arial MT"/>
                        </a:rPr>
                        <a:t>(Telephone)</a:t>
                      </a:r>
                      <a:endParaRPr sz="2600">
                        <a:latin typeface="Arial MT"/>
                        <a:cs typeface="Arial MT"/>
                      </a:endParaRPr>
                    </a:p>
                  </a:txBody>
                  <a:tcPr marL="0" marR="0" marT="161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5076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270"/>
                        </a:spcBef>
                      </a:pPr>
                      <a:r>
                        <a:rPr sz="2600" dirty="0">
                          <a:latin typeface="Arial MT"/>
                          <a:cs typeface="Arial MT"/>
                        </a:rPr>
                        <a:t>Category</a:t>
                      </a:r>
                      <a:r>
                        <a:rPr sz="26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600" dirty="0">
                          <a:latin typeface="Arial MT"/>
                          <a:cs typeface="Arial MT"/>
                        </a:rPr>
                        <a:t>2</a:t>
                      </a:r>
                      <a:endParaRPr sz="2600">
                        <a:latin typeface="Arial MT"/>
                        <a:cs typeface="Arial MT"/>
                      </a:endParaRPr>
                    </a:p>
                  </a:txBody>
                  <a:tcPr marL="0" marR="0" marT="16129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270"/>
                        </a:spcBef>
                      </a:pPr>
                      <a:r>
                        <a:rPr sz="2600" dirty="0">
                          <a:latin typeface="Arial MT"/>
                          <a:cs typeface="Arial MT"/>
                        </a:rPr>
                        <a:t>Data</a:t>
                      </a:r>
                      <a:r>
                        <a:rPr sz="26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600" dirty="0">
                          <a:latin typeface="Arial MT"/>
                          <a:cs typeface="Arial MT"/>
                        </a:rPr>
                        <a:t>to</a:t>
                      </a:r>
                      <a:r>
                        <a:rPr sz="26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600" dirty="0">
                          <a:latin typeface="Arial MT"/>
                          <a:cs typeface="Arial MT"/>
                        </a:rPr>
                        <a:t>4</a:t>
                      </a:r>
                      <a:r>
                        <a:rPr sz="26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600" dirty="0">
                          <a:latin typeface="Arial MT"/>
                          <a:cs typeface="Arial MT"/>
                        </a:rPr>
                        <a:t>Mbps</a:t>
                      </a:r>
                      <a:r>
                        <a:rPr sz="26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600" dirty="0">
                          <a:latin typeface="Arial MT"/>
                          <a:cs typeface="Arial MT"/>
                        </a:rPr>
                        <a:t>(Localtalk)</a:t>
                      </a:r>
                      <a:endParaRPr sz="2600">
                        <a:latin typeface="Arial MT"/>
                        <a:cs typeface="Arial MT"/>
                      </a:endParaRPr>
                    </a:p>
                  </a:txBody>
                  <a:tcPr marL="0" marR="0" marT="161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66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275"/>
                        </a:spcBef>
                      </a:pPr>
                      <a:r>
                        <a:rPr sz="2600" dirty="0">
                          <a:latin typeface="Arial MT"/>
                          <a:cs typeface="Arial MT"/>
                        </a:rPr>
                        <a:t>Category</a:t>
                      </a:r>
                      <a:r>
                        <a:rPr sz="26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600" dirty="0">
                          <a:latin typeface="Arial MT"/>
                          <a:cs typeface="Arial MT"/>
                        </a:rPr>
                        <a:t>3</a:t>
                      </a:r>
                      <a:endParaRPr sz="2600">
                        <a:latin typeface="Arial MT"/>
                        <a:cs typeface="Arial MT"/>
                      </a:endParaRPr>
                    </a:p>
                  </a:txBody>
                  <a:tcPr marL="0" marR="0" marT="16192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275"/>
                        </a:spcBef>
                      </a:pPr>
                      <a:r>
                        <a:rPr sz="2600" dirty="0">
                          <a:latin typeface="Arial MT"/>
                          <a:cs typeface="Arial MT"/>
                        </a:rPr>
                        <a:t>Data</a:t>
                      </a:r>
                      <a:r>
                        <a:rPr sz="26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600" dirty="0">
                          <a:latin typeface="Arial MT"/>
                          <a:cs typeface="Arial MT"/>
                        </a:rPr>
                        <a:t>to</a:t>
                      </a:r>
                      <a:r>
                        <a:rPr sz="26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600" dirty="0">
                          <a:latin typeface="Arial MT"/>
                          <a:cs typeface="Arial MT"/>
                        </a:rPr>
                        <a:t>10Mbps</a:t>
                      </a:r>
                      <a:r>
                        <a:rPr sz="26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600" dirty="0">
                          <a:latin typeface="Arial MT"/>
                          <a:cs typeface="Arial MT"/>
                        </a:rPr>
                        <a:t>(Ethernet)</a:t>
                      </a:r>
                      <a:endParaRPr sz="2600">
                        <a:latin typeface="Arial MT"/>
                        <a:cs typeface="Arial MT"/>
                      </a:endParaRPr>
                    </a:p>
                  </a:txBody>
                  <a:tcPr marL="0" marR="0" marT="161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494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270"/>
                        </a:spcBef>
                      </a:pPr>
                      <a:r>
                        <a:rPr sz="2600" dirty="0">
                          <a:latin typeface="Arial MT"/>
                          <a:cs typeface="Arial MT"/>
                        </a:rPr>
                        <a:t>Category</a:t>
                      </a:r>
                      <a:r>
                        <a:rPr sz="26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600" dirty="0">
                          <a:latin typeface="Arial MT"/>
                          <a:cs typeface="Arial MT"/>
                        </a:rPr>
                        <a:t>4</a:t>
                      </a:r>
                      <a:endParaRPr sz="2600">
                        <a:latin typeface="Arial MT"/>
                        <a:cs typeface="Arial MT"/>
                      </a:endParaRPr>
                    </a:p>
                  </a:txBody>
                  <a:tcPr marL="0" marR="0" marT="16129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270"/>
                        </a:spcBef>
                      </a:pPr>
                      <a:r>
                        <a:rPr sz="2600" dirty="0">
                          <a:latin typeface="Arial MT"/>
                          <a:cs typeface="Arial MT"/>
                        </a:rPr>
                        <a:t>Data</a:t>
                      </a:r>
                      <a:r>
                        <a:rPr sz="26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600" dirty="0">
                          <a:latin typeface="Arial MT"/>
                          <a:cs typeface="Arial MT"/>
                        </a:rPr>
                        <a:t>to</a:t>
                      </a:r>
                      <a:r>
                        <a:rPr sz="26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600" dirty="0">
                          <a:latin typeface="Arial MT"/>
                          <a:cs typeface="Arial MT"/>
                        </a:rPr>
                        <a:t>20Mbps</a:t>
                      </a:r>
                      <a:r>
                        <a:rPr sz="26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600" spc="-50" dirty="0">
                          <a:latin typeface="Arial MT"/>
                          <a:cs typeface="Arial MT"/>
                        </a:rPr>
                        <a:t>(Token</a:t>
                      </a:r>
                      <a:r>
                        <a:rPr sz="26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600" dirty="0">
                          <a:latin typeface="Arial MT"/>
                          <a:cs typeface="Arial MT"/>
                        </a:rPr>
                        <a:t>ring)</a:t>
                      </a:r>
                      <a:endParaRPr sz="2600">
                        <a:latin typeface="Arial MT"/>
                        <a:cs typeface="Arial MT"/>
                      </a:endParaRPr>
                    </a:p>
                  </a:txBody>
                  <a:tcPr marL="0" marR="0" marT="161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63168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600" dirty="0">
                          <a:latin typeface="Arial MT"/>
                          <a:cs typeface="Arial MT"/>
                        </a:rPr>
                        <a:t>Category</a:t>
                      </a:r>
                      <a:r>
                        <a:rPr sz="26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600" dirty="0">
                          <a:latin typeface="Arial MT"/>
                          <a:cs typeface="Arial MT"/>
                        </a:rPr>
                        <a:t>5</a:t>
                      </a:r>
                      <a:endParaRPr sz="2600">
                        <a:latin typeface="Arial MT"/>
                        <a:cs typeface="Arial MT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dirty="0">
                          <a:latin typeface="Arial MT"/>
                          <a:cs typeface="Arial MT"/>
                        </a:rPr>
                        <a:t>Category</a:t>
                      </a:r>
                      <a:r>
                        <a:rPr sz="26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600" dirty="0">
                          <a:latin typeface="Arial MT"/>
                          <a:cs typeface="Arial MT"/>
                        </a:rPr>
                        <a:t>5e</a:t>
                      </a:r>
                      <a:endParaRPr sz="26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600" dirty="0">
                          <a:latin typeface="Arial MT"/>
                          <a:cs typeface="Arial MT"/>
                        </a:rPr>
                        <a:t>Data</a:t>
                      </a:r>
                      <a:r>
                        <a:rPr sz="26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600" dirty="0">
                          <a:latin typeface="Arial MT"/>
                          <a:cs typeface="Arial MT"/>
                        </a:rPr>
                        <a:t>to</a:t>
                      </a:r>
                      <a:r>
                        <a:rPr sz="26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600" dirty="0">
                          <a:latin typeface="Arial MT"/>
                          <a:cs typeface="Arial MT"/>
                        </a:rPr>
                        <a:t>100Mbps</a:t>
                      </a:r>
                      <a:r>
                        <a:rPr sz="26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600" dirty="0">
                          <a:latin typeface="Arial MT"/>
                          <a:cs typeface="Arial MT"/>
                        </a:rPr>
                        <a:t>(Fast</a:t>
                      </a:r>
                      <a:r>
                        <a:rPr sz="26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600" dirty="0">
                          <a:latin typeface="Arial MT"/>
                          <a:cs typeface="Arial MT"/>
                        </a:rPr>
                        <a:t>Ethernet)</a:t>
                      </a:r>
                      <a:endParaRPr sz="2600">
                        <a:latin typeface="Arial MT"/>
                        <a:cs typeface="Arial MT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dirty="0">
                          <a:latin typeface="Arial MT"/>
                          <a:cs typeface="Arial MT"/>
                        </a:rPr>
                        <a:t>Data</a:t>
                      </a:r>
                      <a:r>
                        <a:rPr sz="26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600" dirty="0">
                          <a:latin typeface="Arial MT"/>
                          <a:cs typeface="Arial MT"/>
                        </a:rPr>
                        <a:t>to</a:t>
                      </a:r>
                      <a:r>
                        <a:rPr sz="26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600" dirty="0">
                          <a:latin typeface="Arial MT"/>
                          <a:cs typeface="Arial MT"/>
                        </a:rPr>
                        <a:t>1000Mbps</a:t>
                      </a:r>
                      <a:r>
                        <a:rPr sz="26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600" dirty="0">
                          <a:latin typeface="Arial MT"/>
                          <a:cs typeface="Arial MT"/>
                        </a:rPr>
                        <a:t>(Gigabit</a:t>
                      </a:r>
                      <a:r>
                        <a:rPr sz="26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600" dirty="0">
                          <a:latin typeface="Arial MT"/>
                          <a:cs typeface="Arial MT"/>
                        </a:rPr>
                        <a:t>Ethernet)</a:t>
                      </a:r>
                      <a:endParaRPr sz="26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5012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275"/>
                        </a:spcBef>
                      </a:pPr>
                      <a:r>
                        <a:rPr sz="2600" dirty="0">
                          <a:latin typeface="Arial MT"/>
                          <a:cs typeface="Arial MT"/>
                        </a:rPr>
                        <a:t>Category</a:t>
                      </a:r>
                      <a:r>
                        <a:rPr sz="26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600" dirty="0">
                          <a:latin typeface="Arial MT"/>
                          <a:cs typeface="Arial MT"/>
                        </a:rPr>
                        <a:t>6</a:t>
                      </a:r>
                      <a:endParaRPr sz="2600">
                        <a:latin typeface="Arial MT"/>
                        <a:cs typeface="Arial MT"/>
                      </a:endParaRPr>
                    </a:p>
                  </a:txBody>
                  <a:tcPr marL="0" marR="0" marT="16192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275"/>
                        </a:spcBef>
                      </a:pPr>
                      <a:r>
                        <a:rPr sz="2600" dirty="0">
                          <a:latin typeface="Arial MT"/>
                          <a:cs typeface="Arial MT"/>
                        </a:rPr>
                        <a:t>Data</a:t>
                      </a:r>
                      <a:r>
                        <a:rPr sz="26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600" dirty="0">
                          <a:latin typeface="Arial MT"/>
                          <a:cs typeface="Arial MT"/>
                        </a:rPr>
                        <a:t>to 2500Mbps</a:t>
                      </a:r>
                      <a:r>
                        <a:rPr sz="26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600" dirty="0">
                          <a:latin typeface="Arial MT"/>
                          <a:cs typeface="Arial MT"/>
                        </a:rPr>
                        <a:t>(Gigabit</a:t>
                      </a:r>
                      <a:r>
                        <a:rPr sz="26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600" dirty="0">
                          <a:latin typeface="Arial MT"/>
                          <a:cs typeface="Arial MT"/>
                        </a:rPr>
                        <a:t>Ethernet)</a:t>
                      </a:r>
                      <a:endParaRPr sz="2600">
                        <a:latin typeface="Arial MT"/>
                        <a:cs typeface="Arial MT"/>
                      </a:endParaRPr>
                    </a:p>
                  </a:txBody>
                  <a:tcPr marL="0" marR="0" marT="161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8300" y="816610"/>
            <a:ext cx="52578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45" dirty="0"/>
              <a:t>Categories</a:t>
            </a:r>
            <a:r>
              <a:rPr sz="4000" spc="-30" dirty="0"/>
              <a:t> </a:t>
            </a:r>
            <a:r>
              <a:rPr sz="4000" spc="-55" dirty="0"/>
              <a:t>of</a:t>
            </a:r>
            <a:r>
              <a:rPr sz="4000" dirty="0"/>
              <a:t> </a:t>
            </a:r>
            <a:r>
              <a:rPr sz="4000" spc="-20" dirty="0"/>
              <a:t>UTP: </a:t>
            </a:r>
            <a:r>
              <a:rPr sz="4000" spc="-190" dirty="0"/>
              <a:t>CAT</a:t>
            </a:r>
            <a:r>
              <a:rPr sz="4000" spc="-15" dirty="0"/>
              <a:t> </a:t>
            </a:r>
            <a:r>
              <a:rPr sz="4000" spc="-5" dirty="0"/>
              <a:t>5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35940" y="1895678"/>
            <a:ext cx="7302500" cy="2312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7020" indent="-274320">
              <a:lnSpc>
                <a:spcPts val="3110"/>
              </a:lnSpc>
              <a:spcBef>
                <a:spcPts val="105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110" dirty="0">
                <a:latin typeface="Times New Roman"/>
                <a:cs typeface="Times New Roman"/>
              </a:rPr>
              <a:t>1</a:t>
            </a:r>
            <a:r>
              <a:rPr sz="2600" spc="-125" dirty="0">
                <a:latin typeface="Times New Roman"/>
                <a:cs typeface="Times New Roman"/>
              </a:rPr>
              <a:t>0</a:t>
            </a:r>
            <a:r>
              <a:rPr sz="2600" spc="-110" dirty="0">
                <a:latin typeface="Times New Roman"/>
                <a:cs typeface="Times New Roman"/>
              </a:rPr>
              <a:t>0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320" dirty="0">
                <a:latin typeface="Times New Roman"/>
                <a:cs typeface="Times New Roman"/>
              </a:rPr>
              <a:t>M</a:t>
            </a:r>
            <a:r>
              <a:rPr sz="2600" spc="-175" dirty="0">
                <a:latin typeface="Times New Roman"/>
                <a:cs typeface="Times New Roman"/>
              </a:rPr>
              <a:t>Hz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210" dirty="0">
                <a:latin typeface="Times New Roman"/>
                <a:cs typeface="Times New Roman"/>
              </a:rPr>
              <a:t>Ban</a:t>
            </a:r>
            <a:r>
              <a:rPr sz="2600" spc="-254" dirty="0">
                <a:latin typeface="Times New Roman"/>
                <a:cs typeface="Times New Roman"/>
              </a:rPr>
              <a:t>d</a:t>
            </a:r>
            <a:r>
              <a:rPr sz="2600" spc="-100" dirty="0">
                <a:latin typeface="Times New Roman"/>
                <a:cs typeface="Times New Roman"/>
              </a:rPr>
              <a:t>width</a:t>
            </a:r>
            <a:endParaRPr sz="2600">
              <a:latin typeface="Times New Roman"/>
              <a:cs typeface="Times New Roman"/>
            </a:endParaRPr>
          </a:p>
          <a:p>
            <a:pPr marL="287020" indent="-274320">
              <a:lnSpc>
                <a:spcPts val="3095"/>
              </a:lnSpc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110" dirty="0">
                <a:latin typeface="Times New Roman"/>
                <a:cs typeface="Times New Roman"/>
              </a:rPr>
              <a:t>2</a:t>
            </a:r>
            <a:r>
              <a:rPr sz="2600" spc="-125" dirty="0">
                <a:latin typeface="Times New Roman"/>
                <a:cs typeface="Times New Roman"/>
              </a:rPr>
              <a:t>4</a:t>
            </a:r>
            <a:r>
              <a:rPr sz="2600" dirty="0">
                <a:latin typeface="Times New Roman"/>
                <a:cs typeface="Times New Roman"/>
              </a:rPr>
              <a:t>.0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260" dirty="0">
                <a:latin typeface="Times New Roman"/>
                <a:cs typeface="Times New Roman"/>
              </a:rPr>
              <a:t>dB</a:t>
            </a:r>
            <a:r>
              <a:rPr sz="2600" spc="-265" dirty="0">
                <a:latin typeface="Times New Roman"/>
                <a:cs typeface="Times New Roman"/>
              </a:rPr>
              <a:t> </a:t>
            </a:r>
            <a:r>
              <a:rPr sz="2600" spc="-95" dirty="0">
                <a:latin typeface="Times New Roman"/>
                <a:cs typeface="Times New Roman"/>
              </a:rPr>
              <a:t>Att</a:t>
            </a:r>
            <a:r>
              <a:rPr sz="2600" spc="-105" dirty="0">
                <a:latin typeface="Times New Roman"/>
                <a:cs typeface="Times New Roman"/>
              </a:rPr>
              <a:t>e</a:t>
            </a:r>
            <a:r>
              <a:rPr sz="2600" spc="-110" dirty="0">
                <a:latin typeface="Times New Roman"/>
                <a:cs typeface="Times New Roman"/>
              </a:rPr>
              <a:t>n</a:t>
            </a:r>
            <a:r>
              <a:rPr sz="2600" spc="-125" dirty="0">
                <a:latin typeface="Times New Roman"/>
                <a:cs typeface="Times New Roman"/>
              </a:rPr>
              <a:t>u</a:t>
            </a:r>
            <a:r>
              <a:rPr sz="2600" spc="-235" dirty="0">
                <a:latin typeface="Times New Roman"/>
                <a:cs typeface="Times New Roman"/>
              </a:rPr>
              <a:t>a</a:t>
            </a:r>
            <a:r>
              <a:rPr sz="2600" spc="-80" dirty="0">
                <a:latin typeface="Times New Roman"/>
                <a:cs typeface="Times New Roman"/>
              </a:rPr>
              <a:t>tion</a:t>
            </a:r>
            <a:endParaRPr sz="2600">
              <a:latin typeface="Times New Roman"/>
              <a:cs typeface="Times New Roman"/>
            </a:endParaRPr>
          </a:p>
          <a:p>
            <a:pPr marL="287020" indent="-274320">
              <a:lnSpc>
                <a:spcPts val="3095"/>
              </a:lnSpc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110" dirty="0">
                <a:latin typeface="Times New Roman"/>
                <a:cs typeface="Times New Roman"/>
              </a:rPr>
              <a:t>1</a:t>
            </a:r>
            <a:r>
              <a:rPr sz="2600" spc="-125" dirty="0">
                <a:latin typeface="Times New Roman"/>
                <a:cs typeface="Times New Roman"/>
              </a:rPr>
              <a:t>0</a:t>
            </a:r>
            <a:r>
              <a:rPr sz="2600" spc="-110" dirty="0">
                <a:latin typeface="Times New Roman"/>
                <a:cs typeface="Times New Roman"/>
              </a:rPr>
              <a:t>0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oh</a:t>
            </a:r>
            <a:r>
              <a:rPr sz="2600" spc="-195" dirty="0">
                <a:latin typeface="Times New Roman"/>
                <a:cs typeface="Times New Roman"/>
              </a:rPr>
              <a:t>m</a:t>
            </a:r>
            <a:r>
              <a:rPr sz="2600" spc="-200" dirty="0">
                <a:latin typeface="Times New Roman"/>
                <a:cs typeface="Times New Roman"/>
              </a:rPr>
              <a:t>s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55" dirty="0">
                <a:latin typeface="Times New Roman"/>
                <a:cs typeface="Times New Roman"/>
              </a:rPr>
              <a:t>Im</a:t>
            </a:r>
            <a:r>
              <a:rPr sz="2600" spc="-150" dirty="0">
                <a:latin typeface="Times New Roman"/>
                <a:cs typeface="Times New Roman"/>
              </a:rPr>
              <a:t>p</a:t>
            </a:r>
            <a:r>
              <a:rPr sz="2600" spc="-140" dirty="0">
                <a:latin typeface="Times New Roman"/>
                <a:cs typeface="Times New Roman"/>
              </a:rPr>
              <a:t>ed</a:t>
            </a:r>
            <a:r>
              <a:rPr sz="2600" spc="-145" dirty="0">
                <a:latin typeface="Times New Roman"/>
                <a:cs typeface="Times New Roman"/>
              </a:rPr>
              <a:t>a</a:t>
            </a:r>
            <a:r>
              <a:rPr sz="2600" spc="-140" dirty="0">
                <a:latin typeface="Times New Roman"/>
                <a:cs typeface="Times New Roman"/>
              </a:rPr>
              <a:t>nc</a:t>
            </a:r>
            <a:r>
              <a:rPr sz="2600" spc="-100" dirty="0">
                <a:latin typeface="Times New Roman"/>
                <a:cs typeface="Times New Roman"/>
              </a:rPr>
              <a:t>e</a:t>
            </a:r>
            <a:endParaRPr sz="2600">
              <a:latin typeface="Times New Roman"/>
              <a:cs typeface="Times New Roman"/>
            </a:endParaRPr>
          </a:p>
          <a:p>
            <a:pPr marL="287020" indent="-274320">
              <a:lnSpc>
                <a:spcPts val="3095"/>
              </a:lnSpc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140" dirty="0">
                <a:latin typeface="Times New Roman"/>
                <a:cs typeface="Times New Roman"/>
              </a:rPr>
              <a:t>Used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95" dirty="0">
                <a:latin typeface="Times New Roman"/>
                <a:cs typeface="Times New Roman"/>
              </a:rPr>
              <a:t>for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35" dirty="0">
                <a:latin typeface="Times New Roman"/>
                <a:cs typeface="Times New Roman"/>
              </a:rPr>
              <a:t>high-speed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130" dirty="0">
                <a:latin typeface="Times New Roman"/>
                <a:cs typeface="Times New Roman"/>
              </a:rPr>
              <a:t>data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30" dirty="0">
                <a:latin typeface="Times New Roman"/>
                <a:cs typeface="Times New Roman"/>
              </a:rPr>
              <a:t>transmission</a:t>
            </a:r>
            <a:endParaRPr sz="2600">
              <a:latin typeface="Times New Roman"/>
              <a:cs typeface="Times New Roman"/>
            </a:endParaRPr>
          </a:p>
          <a:p>
            <a:pPr marL="286385" marR="5080" indent="-274320">
              <a:lnSpc>
                <a:spcPct val="80000"/>
              </a:lnSpc>
              <a:spcBef>
                <a:spcPts val="615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135" dirty="0">
                <a:latin typeface="Times New Roman"/>
                <a:cs typeface="Times New Roman"/>
              </a:rPr>
              <a:t>Used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in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1</a:t>
            </a:r>
            <a:r>
              <a:rPr sz="2600" spc="-125" dirty="0">
                <a:latin typeface="Times New Roman"/>
                <a:cs typeface="Times New Roman"/>
              </a:rPr>
              <a:t>0</a:t>
            </a:r>
            <a:r>
              <a:rPr sz="2600" spc="-204" dirty="0">
                <a:latin typeface="Times New Roman"/>
                <a:cs typeface="Times New Roman"/>
              </a:rPr>
              <a:t>BaseT</a:t>
            </a:r>
            <a:r>
              <a:rPr sz="2600" spc="-95" dirty="0">
                <a:latin typeface="Times New Roman"/>
                <a:cs typeface="Times New Roman"/>
              </a:rPr>
              <a:t> </a:t>
            </a:r>
            <a:r>
              <a:rPr sz="2600" spc="-90" dirty="0">
                <a:latin typeface="Times New Roman"/>
                <a:cs typeface="Times New Roman"/>
              </a:rPr>
              <a:t>(10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200" dirty="0">
                <a:latin typeface="Times New Roman"/>
                <a:cs typeface="Times New Roman"/>
              </a:rPr>
              <a:t>Mb</a:t>
            </a:r>
            <a:r>
              <a:rPr sz="2600" spc="-160" dirty="0">
                <a:latin typeface="Times New Roman"/>
                <a:cs typeface="Times New Roman"/>
              </a:rPr>
              <a:t>p</a:t>
            </a:r>
            <a:r>
              <a:rPr sz="2600" spc="-125" dirty="0">
                <a:latin typeface="Times New Roman"/>
                <a:cs typeface="Times New Roman"/>
              </a:rPr>
              <a:t>s)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95" dirty="0">
                <a:latin typeface="Times New Roman"/>
                <a:cs typeface="Times New Roman"/>
              </a:rPr>
              <a:t>Ethe</a:t>
            </a:r>
            <a:r>
              <a:rPr sz="2600" spc="-5" dirty="0">
                <a:latin typeface="Times New Roman"/>
                <a:cs typeface="Times New Roman"/>
              </a:rPr>
              <a:t>r</a:t>
            </a:r>
            <a:r>
              <a:rPr sz="2600" spc="-110" dirty="0">
                <a:latin typeface="Times New Roman"/>
                <a:cs typeface="Times New Roman"/>
              </a:rPr>
              <a:t>ne</a:t>
            </a:r>
            <a:r>
              <a:rPr sz="2600" spc="35" dirty="0">
                <a:latin typeface="Times New Roman"/>
                <a:cs typeface="Times New Roman"/>
              </a:rPr>
              <a:t>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420" dirty="0">
                <a:latin typeface="Times New Roman"/>
                <a:cs typeface="Times New Roman"/>
              </a:rPr>
              <a:t>&amp;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325" dirty="0">
                <a:latin typeface="Times New Roman"/>
                <a:cs typeface="Times New Roman"/>
              </a:rPr>
              <a:t>F</a:t>
            </a:r>
            <a:r>
              <a:rPr sz="2600" spc="-140" dirty="0">
                <a:latin typeface="Times New Roman"/>
                <a:cs typeface="Times New Roman"/>
              </a:rPr>
              <a:t>as</a:t>
            </a:r>
            <a:r>
              <a:rPr sz="2600" spc="-90" dirty="0">
                <a:latin typeface="Times New Roman"/>
                <a:cs typeface="Times New Roman"/>
              </a:rPr>
              <a:t>t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95" dirty="0">
                <a:latin typeface="Times New Roman"/>
                <a:cs typeface="Times New Roman"/>
              </a:rPr>
              <a:t>Ethe</a:t>
            </a:r>
            <a:r>
              <a:rPr sz="2600" spc="-5" dirty="0">
                <a:latin typeface="Times New Roman"/>
                <a:cs typeface="Times New Roman"/>
              </a:rPr>
              <a:t>r</a:t>
            </a:r>
            <a:r>
              <a:rPr sz="2600" spc="-110" dirty="0">
                <a:latin typeface="Times New Roman"/>
                <a:cs typeface="Times New Roman"/>
              </a:rPr>
              <a:t>ne</a:t>
            </a:r>
            <a:r>
              <a:rPr sz="2600" spc="35" dirty="0">
                <a:latin typeface="Times New Roman"/>
                <a:cs typeface="Times New Roman"/>
              </a:rPr>
              <a:t>t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85" dirty="0">
                <a:latin typeface="Times New Roman"/>
                <a:cs typeface="Times New Roman"/>
              </a:rPr>
              <a:t>(1</a:t>
            </a:r>
            <a:r>
              <a:rPr sz="2600" spc="-114" dirty="0">
                <a:latin typeface="Times New Roman"/>
                <a:cs typeface="Times New Roman"/>
              </a:rPr>
              <a:t>0</a:t>
            </a:r>
            <a:r>
              <a:rPr sz="2600" spc="-75" dirty="0">
                <a:latin typeface="Times New Roman"/>
                <a:cs typeface="Times New Roman"/>
              </a:rPr>
              <a:t>0  </a:t>
            </a:r>
            <a:r>
              <a:rPr sz="2600" spc="-165" dirty="0">
                <a:latin typeface="Times New Roman"/>
                <a:cs typeface="Times New Roman"/>
              </a:rPr>
              <a:t>Mbps)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4500" y="505409"/>
            <a:ext cx="552259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45" dirty="0"/>
              <a:t>Categories</a:t>
            </a:r>
            <a:r>
              <a:rPr sz="4000" spc="-15" dirty="0"/>
              <a:t> </a:t>
            </a:r>
            <a:r>
              <a:rPr sz="4000" spc="-55" dirty="0"/>
              <a:t>of</a:t>
            </a:r>
            <a:r>
              <a:rPr sz="4000" spc="-15" dirty="0"/>
              <a:t> </a:t>
            </a:r>
            <a:r>
              <a:rPr sz="4000" spc="-20" dirty="0"/>
              <a:t>UTP: </a:t>
            </a:r>
            <a:r>
              <a:rPr sz="4000" spc="-190" dirty="0"/>
              <a:t>CAT</a:t>
            </a:r>
            <a:r>
              <a:rPr sz="4000" spc="-15" dirty="0"/>
              <a:t> 5e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35940" y="1286002"/>
            <a:ext cx="7753984" cy="437007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700"/>
              </a:spcBef>
              <a:buClr>
                <a:srgbClr val="D24717"/>
              </a:buClr>
              <a:buSzPct val="85416"/>
              <a:buFont typeface="Segoe UI Symbol"/>
              <a:buChar char="⚫"/>
              <a:tabLst>
                <a:tab pos="286385" algn="l"/>
                <a:tab pos="287020" algn="l"/>
              </a:tabLst>
            </a:pPr>
            <a:r>
              <a:rPr sz="2400" spc="-105" dirty="0">
                <a:latin typeface="Times New Roman"/>
                <a:cs typeface="Times New Roman"/>
              </a:rPr>
              <a:t>150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229" dirty="0">
                <a:latin typeface="Times New Roman"/>
                <a:cs typeface="Times New Roman"/>
              </a:rPr>
              <a:t>M</a:t>
            </a:r>
            <a:r>
              <a:rPr sz="2400" spc="-200" dirty="0">
                <a:latin typeface="Times New Roman"/>
                <a:cs typeface="Times New Roman"/>
              </a:rPr>
              <a:t>H</a:t>
            </a:r>
            <a:r>
              <a:rPr sz="2400" spc="-190" dirty="0">
                <a:latin typeface="Times New Roman"/>
                <a:cs typeface="Times New Roman"/>
              </a:rPr>
              <a:t>z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200" dirty="0">
                <a:latin typeface="Times New Roman"/>
                <a:cs typeface="Times New Roman"/>
              </a:rPr>
              <a:t>Ban</a:t>
            </a:r>
            <a:r>
              <a:rPr sz="2400" spc="-225" dirty="0">
                <a:latin typeface="Times New Roman"/>
                <a:cs typeface="Times New Roman"/>
              </a:rPr>
              <a:t>d</a:t>
            </a:r>
            <a:r>
              <a:rPr sz="2400" spc="-95" dirty="0">
                <a:latin typeface="Times New Roman"/>
                <a:cs typeface="Times New Roman"/>
              </a:rPr>
              <a:t>width</a:t>
            </a:r>
            <a:endParaRPr sz="240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5416"/>
              <a:buFont typeface="Segoe UI Symbol"/>
              <a:buChar char="⚫"/>
              <a:tabLst>
                <a:tab pos="286385" algn="l"/>
                <a:tab pos="287020" algn="l"/>
              </a:tabLst>
            </a:pPr>
            <a:r>
              <a:rPr sz="2400" spc="-105" dirty="0">
                <a:latin typeface="Times New Roman"/>
                <a:cs typeface="Times New Roman"/>
              </a:rPr>
              <a:t>2</a:t>
            </a:r>
            <a:r>
              <a:rPr sz="2400" spc="-100" dirty="0">
                <a:latin typeface="Times New Roman"/>
                <a:cs typeface="Times New Roman"/>
              </a:rPr>
              <a:t>4</a:t>
            </a:r>
            <a:r>
              <a:rPr sz="2400" dirty="0">
                <a:latin typeface="Times New Roman"/>
                <a:cs typeface="Times New Roman"/>
              </a:rPr>
              <a:t>.0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240" dirty="0">
                <a:latin typeface="Times New Roman"/>
                <a:cs typeface="Times New Roman"/>
              </a:rPr>
              <a:t>dB </a:t>
            </a:r>
            <a:r>
              <a:rPr sz="2400" spc="-100" dirty="0">
                <a:latin typeface="Times New Roman"/>
                <a:cs typeface="Times New Roman"/>
              </a:rPr>
              <a:t>At</a:t>
            </a:r>
            <a:r>
              <a:rPr sz="2400" spc="-65" dirty="0">
                <a:latin typeface="Times New Roman"/>
                <a:cs typeface="Times New Roman"/>
              </a:rPr>
              <a:t>t</a:t>
            </a:r>
            <a:r>
              <a:rPr sz="2400" spc="-100" dirty="0">
                <a:latin typeface="Times New Roman"/>
                <a:cs typeface="Times New Roman"/>
              </a:rPr>
              <a:t>enu</a:t>
            </a:r>
            <a:r>
              <a:rPr sz="2400" spc="-215" dirty="0">
                <a:latin typeface="Times New Roman"/>
                <a:cs typeface="Times New Roman"/>
              </a:rPr>
              <a:t>a</a:t>
            </a:r>
            <a:r>
              <a:rPr sz="2400" spc="-75" dirty="0">
                <a:latin typeface="Times New Roman"/>
                <a:cs typeface="Times New Roman"/>
              </a:rPr>
              <a:t>tion</a:t>
            </a:r>
            <a:endParaRPr sz="240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5416"/>
              <a:buFont typeface="Segoe UI Symbol"/>
              <a:buChar char="⚫"/>
              <a:tabLst>
                <a:tab pos="286385" algn="l"/>
                <a:tab pos="287020" algn="l"/>
              </a:tabLst>
            </a:pPr>
            <a:r>
              <a:rPr sz="2400" spc="-105" dirty="0">
                <a:latin typeface="Times New Roman"/>
                <a:cs typeface="Times New Roman"/>
              </a:rPr>
              <a:t>1</a:t>
            </a:r>
            <a:r>
              <a:rPr sz="2400" spc="-100" dirty="0">
                <a:latin typeface="Times New Roman"/>
                <a:cs typeface="Times New Roman"/>
              </a:rPr>
              <a:t>0</a:t>
            </a:r>
            <a:r>
              <a:rPr sz="2400" spc="-105" dirty="0">
                <a:latin typeface="Times New Roman"/>
                <a:cs typeface="Times New Roman"/>
              </a:rPr>
              <a:t>0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45" dirty="0">
                <a:latin typeface="Times New Roman"/>
                <a:cs typeface="Times New Roman"/>
              </a:rPr>
              <a:t>ohms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145" dirty="0">
                <a:latin typeface="Times New Roman"/>
                <a:cs typeface="Times New Roman"/>
              </a:rPr>
              <a:t>Im</a:t>
            </a:r>
            <a:r>
              <a:rPr sz="2400" spc="-125" dirty="0">
                <a:latin typeface="Times New Roman"/>
                <a:cs typeface="Times New Roman"/>
              </a:rPr>
              <a:t>p</a:t>
            </a:r>
            <a:r>
              <a:rPr sz="2400" spc="-120" dirty="0">
                <a:latin typeface="Times New Roman"/>
                <a:cs typeface="Times New Roman"/>
              </a:rPr>
              <a:t>eda</a:t>
            </a:r>
            <a:r>
              <a:rPr sz="2400" spc="-125" dirty="0">
                <a:latin typeface="Times New Roman"/>
                <a:cs typeface="Times New Roman"/>
              </a:rPr>
              <a:t>n</a:t>
            </a:r>
            <a:r>
              <a:rPr sz="2400" spc="-120" dirty="0">
                <a:latin typeface="Times New Roman"/>
                <a:cs typeface="Times New Roman"/>
              </a:rPr>
              <a:t>ce</a:t>
            </a:r>
            <a:endParaRPr sz="240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5416"/>
              <a:buFont typeface="Segoe UI Symbol"/>
              <a:buChar char="⚫"/>
              <a:tabLst>
                <a:tab pos="286385" algn="l"/>
                <a:tab pos="287020" algn="l"/>
              </a:tabLst>
            </a:pPr>
            <a:r>
              <a:rPr sz="2400" spc="-280" dirty="0">
                <a:latin typeface="Times New Roman"/>
                <a:cs typeface="Times New Roman"/>
              </a:rPr>
              <a:t>T</a:t>
            </a:r>
            <a:r>
              <a:rPr sz="2400" spc="-85" dirty="0">
                <a:latin typeface="Times New Roman"/>
                <a:cs typeface="Times New Roman"/>
              </a:rPr>
              <a:t>ra</a:t>
            </a:r>
            <a:r>
              <a:rPr sz="2400" spc="-105" dirty="0">
                <a:latin typeface="Times New Roman"/>
                <a:cs typeface="Times New Roman"/>
              </a:rPr>
              <a:t>n</a:t>
            </a:r>
            <a:r>
              <a:rPr sz="2400" spc="-165" dirty="0">
                <a:latin typeface="Times New Roman"/>
                <a:cs typeface="Times New Roman"/>
              </a:rPr>
              <a:t>sm</a:t>
            </a:r>
            <a:r>
              <a:rPr sz="2400" spc="-90" dirty="0">
                <a:latin typeface="Times New Roman"/>
                <a:cs typeface="Times New Roman"/>
              </a:rPr>
              <a:t>its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spc="-135" dirty="0">
                <a:latin typeface="Times New Roman"/>
                <a:cs typeface="Times New Roman"/>
              </a:rPr>
              <a:t>hi</a:t>
            </a:r>
            <a:r>
              <a:rPr sz="2400" spc="-175" dirty="0">
                <a:latin typeface="Times New Roman"/>
                <a:cs typeface="Times New Roman"/>
              </a:rPr>
              <a:t>g</a:t>
            </a:r>
            <a:r>
              <a:rPr sz="2400" spc="-170" dirty="0">
                <a:latin typeface="Times New Roman"/>
                <a:cs typeface="Times New Roman"/>
              </a:rPr>
              <a:t>h</a:t>
            </a:r>
            <a:r>
              <a:rPr sz="2400" spc="-50" dirty="0">
                <a:latin typeface="Times New Roman"/>
                <a:cs typeface="Times New Roman"/>
              </a:rPr>
              <a:t>-</a:t>
            </a:r>
            <a:r>
              <a:rPr sz="2400" spc="-125" dirty="0">
                <a:latin typeface="Times New Roman"/>
                <a:cs typeface="Times New Roman"/>
              </a:rPr>
              <a:t>s</a:t>
            </a:r>
            <a:r>
              <a:rPr sz="2400" spc="-155" dirty="0">
                <a:latin typeface="Times New Roman"/>
                <a:cs typeface="Times New Roman"/>
              </a:rPr>
              <a:t>p</a:t>
            </a:r>
            <a:r>
              <a:rPr sz="2400" spc="-95" dirty="0">
                <a:latin typeface="Times New Roman"/>
                <a:cs typeface="Times New Roman"/>
              </a:rPr>
              <a:t>eed </a:t>
            </a:r>
            <a:r>
              <a:rPr sz="2400" spc="-155" dirty="0">
                <a:latin typeface="Times New Roman"/>
                <a:cs typeface="Times New Roman"/>
              </a:rPr>
              <a:t>d</a:t>
            </a:r>
            <a:r>
              <a:rPr sz="2400" spc="-160" dirty="0">
                <a:latin typeface="Times New Roman"/>
                <a:cs typeface="Times New Roman"/>
              </a:rPr>
              <a:t>a</a:t>
            </a:r>
            <a:r>
              <a:rPr sz="2400" spc="-80" dirty="0">
                <a:latin typeface="Times New Roman"/>
                <a:cs typeface="Times New Roman"/>
              </a:rPr>
              <a:t>ta</a:t>
            </a:r>
            <a:endParaRPr sz="2400">
              <a:latin typeface="Times New Roman"/>
              <a:cs typeface="Times New Roman"/>
            </a:endParaRPr>
          </a:p>
          <a:p>
            <a:pPr marL="286385" marR="5080" indent="-274320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5416"/>
              <a:buFont typeface="Segoe UI Symbol"/>
              <a:buChar char="⚫"/>
              <a:tabLst>
                <a:tab pos="286385" algn="l"/>
                <a:tab pos="287020" algn="l"/>
              </a:tabLst>
            </a:pPr>
            <a:r>
              <a:rPr sz="2400" spc="-130" dirty="0">
                <a:latin typeface="Times New Roman"/>
                <a:cs typeface="Times New Roman"/>
              </a:rPr>
              <a:t>Used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10" dirty="0">
                <a:latin typeface="Times New Roman"/>
                <a:cs typeface="Times New Roman"/>
              </a:rPr>
              <a:t>in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300" dirty="0">
                <a:latin typeface="Times New Roman"/>
                <a:cs typeface="Times New Roman"/>
              </a:rPr>
              <a:t>F</a:t>
            </a:r>
            <a:r>
              <a:rPr sz="2400" spc="-135" dirty="0">
                <a:latin typeface="Times New Roman"/>
                <a:cs typeface="Times New Roman"/>
              </a:rPr>
              <a:t>as</a:t>
            </a:r>
            <a:r>
              <a:rPr sz="2400" spc="-85" dirty="0">
                <a:latin typeface="Times New Roman"/>
                <a:cs typeface="Times New Roman"/>
              </a:rPr>
              <a:t>t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Ethe</a:t>
            </a:r>
            <a:r>
              <a:rPr sz="2400" spc="5" dirty="0">
                <a:latin typeface="Times New Roman"/>
                <a:cs typeface="Times New Roman"/>
              </a:rPr>
              <a:t>r</a:t>
            </a:r>
            <a:r>
              <a:rPr sz="2400" spc="-55" dirty="0">
                <a:latin typeface="Times New Roman"/>
                <a:cs typeface="Times New Roman"/>
              </a:rPr>
              <a:t>net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75" dirty="0">
                <a:latin typeface="Times New Roman"/>
                <a:cs typeface="Times New Roman"/>
              </a:rPr>
              <a:t>(1</a:t>
            </a:r>
            <a:r>
              <a:rPr sz="2400" spc="-105" dirty="0">
                <a:latin typeface="Times New Roman"/>
                <a:cs typeface="Times New Roman"/>
              </a:rPr>
              <a:t>00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170" dirty="0">
                <a:latin typeface="Times New Roman"/>
                <a:cs typeface="Times New Roman"/>
              </a:rPr>
              <a:t>Mbp</a:t>
            </a:r>
            <a:r>
              <a:rPr sz="2400" spc="-125" dirty="0">
                <a:latin typeface="Times New Roman"/>
                <a:cs typeface="Times New Roman"/>
              </a:rPr>
              <a:t>s</a:t>
            </a:r>
            <a:r>
              <a:rPr sz="2400" spc="-105" dirty="0">
                <a:latin typeface="Times New Roman"/>
                <a:cs typeface="Times New Roman"/>
              </a:rPr>
              <a:t>)</a:t>
            </a:r>
            <a:r>
              <a:rPr sz="2400" spc="100" dirty="0">
                <a:latin typeface="Times New Roman"/>
                <a:cs typeface="Times New Roman"/>
              </a:rPr>
              <a:t>,</a:t>
            </a:r>
            <a:r>
              <a:rPr sz="2400" spc="-175" dirty="0">
                <a:latin typeface="Times New Roman"/>
                <a:cs typeface="Times New Roman"/>
              </a:rPr>
              <a:t> </a:t>
            </a:r>
            <a:r>
              <a:rPr sz="2400" spc="-125" dirty="0">
                <a:latin typeface="Times New Roman"/>
                <a:cs typeface="Times New Roman"/>
              </a:rPr>
              <a:t>Gigabit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45" dirty="0">
                <a:latin typeface="Times New Roman"/>
                <a:cs typeface="Times New Roman"/>
              </a:rPr>
              <a:t>E</a:t>
            </a:r>
            <a:r>
              <a:rPr sz="2400" spc="-80" dirty="0">
                <a:latin typeface="Times New Roman"/>
                <a:cs typeface="Times New Roman"/>
              </a:rPr>
              <a:t>the</a:t>
            </a:r>
            <a:r>
              <a:rPr sz="2400" spc="10" dirty="0">
                <a:latin typeface="Times New Roman"/>
                <a:cs typeface="Times New Roman"/>
              </a:rPr>
              <a:t>r</a:t>
            </a:r>
            <a:r>
              <a:rPr sz="2400" spc="-55" dirty="0">
                <a:latin typeface="Times New Roman"/>
                <a:cs typeface="Times New Roman"/>
              </a:rPr>
              <a:t>net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75" dirty="0">
                <a:latin typeface="Times New Roman"/>
                <a:cs typeface="Times New Roman"/>
              </a:rPr>
              <a:t>(1</a:t>
            </a:r>
            <a:r>
              <a:rPr sz="2400" spc="-105" dirty="0">
                <a:latin typeface="Times New Roman"/>
                <a:cs typeface="Times New Roman"/>
              </a:rPr>
              <a:t>0</a:t>
            </a:r>
            <a:r>
              <a:rPr sz="2400" spc="-100" dirty="0">
                <a:latin typeface="Times New Roman"/>
                <a:cs typeface="Times New Roman"/>
              </a:rPr>
              <a:t>0</a:t>
            </a:r>
            <a:r>
              <a:rPr sz="2400" spc="-105" dirty="0">
                <a:latin typeface="Times New Roman"/>
                <a:cs typeface="Times New Roman"/>
              </a:rPr>
              <a:t>0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170" dirty="0">
                <a:latin typeface="Times New Roman"/>
                <a:cs typeface="Times New Roman"/>
              </a:rPr>
              <a:t>Mbp</a:t>
            </a:r>
            <a:r>
              <a:rPr sz="2400" spc="-120" dirty="0">
                <a:latin typeface="Times New Roman"/>
                <a:cs typeface="Times New Roman"/>
              </a:rPr>
              <a:t>s)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215" dirty="0">
                <a:latin typeface="Times New Roman"/>
                <a:cs typeface="Times New Roman"/>
              </a:rPr>
              <a:t>&amp;  </a:t>
            </a:r>
            <a:r>
              <a:rPr sz="2400" spc="-100" dirty="0">
                <a:latin typeface="Times New Roman"/>
                <a:cs typeface="Times New Roman"/>
              </a:rPr>
              <a:t>155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75" dirty="0">
                <a:latin typeface="Times New Roman"/>
                <a:cs typeface="Times New Roman"/>
              </a:rPr>
              <a:t>Mbps</a:t>
            </a:r>
            <a:r>
              <a:rPr sz="2400" spc="-260" dirty="0">
                <a:latin typeface="Times New Roman"/>
                <a:cs typeface="Times New Roman"/>
              </a:rPr>
              <a:t> </a:t>
            </a:r>
            <a:r>
              <a:rPr sz="2400" spc="-505" dirty="0">
                <a:latin typeface="Times New Roman"/>
                <a:cs typeface="Times New Roman"/>
              </a:rPr>
              <a:t>A</a:t>
            </a:r>
            <a:r>
              <a:rPr sz="2400" spc="-200" dirty="0">
                <a:latin typeface="Times New Roman"/>
                <a:cs typeface="Times New Roman"/>
              </a:rPr>
              <a:t>TM</a:t>
            </a:r>
            <a:endParaRPr sz="240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spcBef>
                <a:spcPts val="605"/>
              </a:spcBef>
              <a:buClr>
                <a:srgbClr val="D24717"/>
              </a:buClr>
              <a:buSzPct val="85416"/>
              <a:buFont typeface="Segoe UI Symbol"/>
              <a:buChar char="⚫"/>
              <a:tabLst>
                <a:tab pos="286385" algn="l"/>
                <a:tab pos="287020" algn="l"/>
              </a:tabLst>
            </a:pPr>
            <a:r>
              <a:rPr sz="2400" spc="-310" dirty="0">
                <a:latin typeface="Times New Roman"/>
                <a:cs typeface="Times New Roman"/>
              </a:rPr>
              <a:t>F</a:t>
            </a:r>
            <a:r>
              <a:rPr sz="2400" spc="-40" dirty="0">
                <a:latin typeface="Times New Roman"/>
                <a:cs typeface="Times New Roman"/>
              </a:rPr>
              <a:t>or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80" dirty="0">
                <a:latin typeface="Times New Roman"/>
                <a:cs typeface="Times New Roman"/>
              </a:rPr>
              <a:t>r</a:t>
            </a:r>
            <a:r>
              <a:rPr sz="2400" spc="-105" dirty="0">
                <a:latin typeface="Times New Roman"/>
                <a:cs typeface="Times New Roman"/>
              </a:rPr>
              <a:t>u</a:t>
            </a:r>
            <a:r>
              <a:rPr sz="2400" spc="-100" dirty="0">
                <a:latin typeface="Times New Roman"/>
                <a:cs typeface="Times New Roman"/>
              </a:rPr>
              <a:t>n</a:t>
            </a:r>
            <a:r>
              <a:rPr sz="2400" spc="-185" dirty="0">
                <a:latin typeface="Times New Roman"/>
                <a:cs typeface="Times New Roman"/>
              </a:rPr>
              <a:t>s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140" dirty="0">
                <a:latin typeface="Times New Roman"/>
                <a:cs typeface="Times New Roman"/>
              </a:rPr>
              <a:t>of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u</a:t>
            </a:r>
            <a:r>
              <a:rPr sz="2400" spc="-105" dirty="0">
                <a:latin typeface="Times New Roman"/>
                <a:cs typeface="Times New Roman"/>
              </a:rPr>
              <a:t>p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15" dirty="0">
                <a:latin typeface="Times New Roman"/>
                <a:cs typeface="Times New Roman"/>
              </a:rPr>
              <a:t>t</a:t>
            </a:r>
            <a:r>
              <a:rPr sz="2400" spc="-105" dirty="0">
                <a:latin typeface="Times New Roman"/>
                <a:cs typeface="Times New Roman"/>
              </a:rPr>
              <a:t>o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9</a:t>
            </a:r>
            <a:r>
              <a:rPr sz="2400" spc="-105" dirty="0">
                <a:latin typeface="Times New Roman"/>
                <a:cs typeface="Times New Roman"/>
              </a:rPr>
              <a:t>0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me</a:t>
            </a:r>
            <a:r>
              <a:rPr sz="2400" spc="-55" dirty="0">
                <a:latin typeface="Times New Roman"/>
                <a:cs typeface="Times New Roman"/>
              </a:rPr>
              <a:t>t</a:t>
            </a:r>
            <a:r>
              <a:rPr sz="2400" spc="-40" dirty="0">
                <a:latin typeface="Times New Roman"/>
                <a:cs typeface="Times New Roman"/>
              </a:rPr>
              <a:t>e</a:t>
            </a:r>
            <a:r>
              <a:rPr sz="2400" spc="15" dirty="0">
                <a:latin typeface="Times New Roman"/>
                <a:cs typeface="Times New Roman"/>
              </a:rPr>
              <a:t>r</a:t>
            </a:r>
            <a:r>
              <a:rPr sz="2400" spc="-185" dirty="0">
                <a:latin typeface="Times New Roman"/>
                <a:cs typeface="Times New Roman"/>
              </a:rPr>
              <a:t>s</a:t>
            </a:r>
            <a:endParaRPr sz="240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5416"/>
              <a:buFont typeface="Segoe UI Symbol"/>
              <a:buChar char="⚫"/>
              <a:tabLst>
                <a:tab pos="286385" algn="l"/>
                <a:tab pos="287020" algn="l"/>
              </a:tabLst>
            </a:pPr>
            <a:r>
              <a:rPr sz="2400" spc="-150" dirty="0">
                <a:latin typeface="Times New Roman"/>
                <a:cs typeface="Times New Roman"/>
              </a:rPr>
              <a:t>Solid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85" dirty="0">
                <a:latin typeface="Times New Roman"/>
                <a:cs typeface="Times New Roman"/>
              </a:rPr>
              <a:t>core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40" dirty="0">
                <a:latin typeface="Times New Roman"/>
                <a:cs typeface="Times New Roman"/>
              </a:rPr>
              <a:t>cable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120" dirty="0">
                <a:latin typeface="Times New Roman"/>
                <a:cs typeface="Times New Roman"/>
              </a:rPr>
              <a:t>ideal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85" dirty="0">
                <a:latin typeface="Times New Roman"/>
                <a:cs typeface="Times New Roman"/>
              </a:rPr>
              <a:t>for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65" dirty="0">
                <a:latin typeface="Times New Roman"/>
                <a:cs typeface="Times New Roman"/>
              </a:rPr>
              <a:t>structural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10" dirty="0">
                <a:latin typeface="Times New Roman"/>
                <a:cs typeface="Times New Roman"/>
              </a:rPr>
              <a:t>installations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155" dirty="0">
                <a:latin typeface="Times New Roman"/>
                <a:cs typeface="Times New Roman"/>
              </a:rPr>
              <a:t>(PVC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spc="-40" dirty="0">
                <a:latin typeface="Times New Roman"/>
                <a:cs typeface="Times New Roman"/>
              </a:rPr>
              <a:t>or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Plenum)</a:t>
            </a:r>
            <a:endParaRPr sz="240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5416"/>
              <a:buFont typeface="Segoe UI Symbol"/>
              <a:buChar char="⚫"/>
              <a:tabLst>
                <a:tab pos="286385" algn="l"/>
                <a:tab pos="287020" algn="l"/>
              </a:tabLst>
            </a:pPr>
            <a:r>
              <a:rPr sz="2400" spc="-204" dirty="0">
                <a:latin typeface="Times New Roman"/>
                <a:cs typeface="Times New Roman"/>
              </a:rPr>
              <a:t>S</a:t>
            </a:r>
            <a:r>
              <a:rPr sz="2400" spc="-110" dirty="0">
                <a:latin typeface="Times New Roman"/>
                <a:cs typeface="Times New Roman"/>
              </a:rPr>
              <a:t>t</a:t>
            </a:r>
            <a:r>
              <a:rPr sz="2400" spc="-85" dirty="0">
                <a:latin typeface="Times New Roman"/>
                <a:cs typeface="Times New Roman"/>
              </a:rPr>
              <a:t>ra</a:t>
            </a:r>
            <a:r>
              <a:rPr sz="2400" spc="-105" dirty="0">
                <a:latin typeface="Times New Roman"/>
                <a:cs typeface="Times New Roman"/>
              </a:rPr>
              <a:t>n</a:t>
            </a:r>
            <a:r>
              <a:rPr sz="2400" spc="-100" dirty="0">
                <a:latin typeface="Times New Roman"/>
                <a:cs typeface="Times New Roman"/>
              </a:rPr>
              <a:t>ded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50" dirty="0">
                <a:latin typeface="Times New Roman"/>
                <a:cs typeface="Times New Roman"/>
              </a:rPr>
              <a:t>ca</a:t>
            </a:r>
            <a:r>
              <a:rPr sz="2400" spc="-200" dirty="0">
                <a:latin typeface="Times New Roman"/>
                <a:cs typeface="Times New Roman"/>
              </a:rPr>
              <a:t>b</a:t>
            </a:r>
            <a:r>
              <a:rPr sz="2400" spc="-75" dirty="0">
                <a:latin typeface="Times New Roman"/>
                <a:cs typeface="Times New Roman"/>
              </a:rPr>
              <a:t>l</a:t>
            </a:r>
            <a:r>
              <a:rPr sz="2400" spc="-114" dirty="0">
                <a:latin typeface="Times New Roman"/>
                <a:cs typeface="Times New Roman"/>
              </a:rPr>
              <a:t>e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20" dirty="0">
                <a:latin typeface="Times New Roman"/>
                <a:cs typeface="Times New Roman"/>
              </a:rPr>
              <a:t>ideal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85" dirty="0">
                <a:latin typeface="Times New Roman"/>
                <a:cs typeface="Times New Roman"/>
              </a:rPr>
              <a:t>for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p</a:t>
            </a:r>
            <a:r>
              <a:rPr sz="2400" spc="-215" dirty="0">
                <a:latin typeface="Times New Roman"/>
                <a:cs typeface="Times New Roman"/>
              </a:rPr>
              <a:t>a</a:t>
            </a:r>
            <a:r>
              <a:rPr sz="2400" spc="-45" dirty="0">
                <a:latin typeface="Times New Roman"/>
                <a:cs typeface="Times New Roman"/>
              </a:rPr>
              <a:t>t</a:t>
            </a:r>
            <a:r>
              <a:rPr sz="2400" spc="-30" dirty="0">
                <a:latin typeface="Times New Roman"/>
                <a:cs typeface="Times New Roman"/>
              </a:rPr>
              <a:t>c</a:t>
            </a:r>
            <a:r>
              <a:rPr sz="2400" spc="-150" dirty="0">
                <a:latin typeface="Times New Roman"/>
                <a:cs typeface="Times New Roman"/>
              </a:rPr>
              <a:t>h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50" dirty="0">
                <a:latin typeface="Times New Roman"/>
                <a:cs typeface="Times New Roman"/>
              </a:rPr>
              <a:t>ca</a:t>
            </a:r>
            <a:r>
              <a:rPr sz="2400" spc="-204" dirty="0">
                <a:latin typeface="Times New Roman"/>
                <a:cs typeface="Times New Roman"/>
              </a:rPr>
              <a:t>b</a:t>
            </a:r>
            <a:r>
              <a:rPr sz="2400" spc="-130" dirty="0">
                <a:latin typeface="Times New Roman"/>
                <a:cs typeface="Times New Roman"/>
              </a:rPr>
              <a:t>les</a:t>
            </a:r>
            <a:endParaRPr sz="240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5416"/>
              <a:buFont typeface="Segoe UI Symbol"/>
              <a:buChar char="⚫"/>
              <a:tabLst>
                <a:tab pos="286385" algn="l"/>
                <a:tab pos="287020" algn="l"/>
              </a:tabLst>
            </a:pPr>
            <a:r>
              <a:rPr sz="2400" spc="-425" dirty="0">
                <a:latin typeface="Times New Roman"/>
                <a:cs typeface="Times New Roman"/>
              </a:rPr>
              <a:t>T</a:t>
            </a:r>
            <a:r>
              <a:rPr sz="2400" spc="-40" dirty="0">
                <a:latin typeface="Times New Roman"/>
                <a:cs typeface="Times New Roman"/>
              </a:rPr>
              <a:t>e</a:t>
            </a:r>
            <a:r>
              <a:rPr sz="2400" spc="40" dirty="0">
                <a:latin typeface="Times New Roman"/>
                <a:cs typeface="Times New Roman"/>
              </a:rPr>
              <a:t>r</a:t>
            </a:r>
            <a:r>
              <a:rPr sz="2400" spc="-130" dirty="0">
                <a:latin typeface="Times New Roman"/>
                <a:cs typeface="Times New Roman"/>
              </a:rPr>
              <a:t>mi</a:t>
            </a:r>
            <a:r>
              <a:rPr sz="2400" spc="-114" dirty="0">
                <a:latin typeface="Times New Roman"/>
                <a:cs typeface="Times New Roman"/>
              </a:rPr>
              <a:t>n</a:t>
            </a:r>
            <a:r>
              <a:rPr sz="2400" spc="-215" dirty="0">
                <a:latin typeface="Times New Roman"/>
                <a:cs typeface="Times New Roman"/>
              </a:rPr>
              <a:t>a</a:t>
            </a:r>
            <a:r>
              <a:rPr sz="2400" spc="-55" dirty="0">
                <a:latin typeface="Times New Roman"/>
                <a:cs typeface="Times New Roman"/>
              </a:rPr>
              <a:t>ted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Times New Roman"/>
                <a:cs typeface="Times New Roman"/>
              </a:rPr>
              <a:t>with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220" dirty="0">
                <a:latin typeface="Times New Roman"/>
                <a:cs typeface="Times New Roman"/>
              </a:rPr>
              <a:t>R</a:t>
            </a:r>
            <a:r>
              <a:rPr sz="2400" spc="-114" dirty="0">
                <a:latin typeface="Times New Roman"/>
                <a:cs typeface="Times New Roman"/>
              </a:rPr>
              <a:t>J</a:t>
            </a:r>
            <a:r>
              <a:rPr sz="2400" spc="-50" dirty="0">
                <a:latin typeface="Times New Roman"/>
                <a:cs typeface="Times New Roman"/>
              </a:rPr>
              <a:t>-</a:t>
            </a:r>
            <a:r>
              <a:rPr sz="2400" spc="-105" dirty="0">
                <a:latin typeface="Times New Roman"/>
                <a:cs typeface="Times New Roman"/>
              </a:rPr>
              <a:t>45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114" dirty="0">
                <a:latin typeface="Times New Roman"/>
                <a:cs typeface="Times New Roman"/>
              </a:rPr>
              <a:t>con</a:t>
            </a:r>
            <a:r>
              <a:rPr sz="2400" spc="-65" dirty="0">
                <a:latin typeface="Times New Roman"/>
                <a:cs typeface="Times New Roman"/>
              </a:rPr>
              <a:t>necto</a:t>
            </a:r>
            <a:r>
              <a:rPr sz="2400" dirty="0">
                <a:latin typeface="Times New Roman"/>
                <a:cs typeface="Times New Roman"/>
              </a:rPr>
              <a:t>r</a:t>
            </a:r>
            <a:r>
              <a:rPr sz="2400" spc="-185" dirty="0">
                <a:latin typeface="Times New Roman"/>
                <a:cs typeface="Times New Roman"/>
              </a:rPr>
              <a:t>s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4500" y="657809"/>
            <a:ext cx="525843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45" dirty="0"/>
              <a:t>Categories</a:t>
            </a:r>
            <a:r>
              <a:rPr sz="4000" spc="-15" dirty="0"/>
              <a:t> </a:t>
            </a:r>
            <a:r>
              <a:rPr sz="4000" spc="-55" dirty="0"/>
              <a:t>of</a:t>
            </a:r>
            <a:r>
              <a:rPr sz="4000" spc="-15" dirty="0"/>
              <a:t> </a:t>
            </a:r>
            <a:r>
              <a:rPr sz="4000" spc="-20" dirty="0"/>
              <a:t>UTP:</a:t>
            </a:r>
            <a:r>
              <a:rPr sz="4000" spc="-15" dirty="0"/>
              <a:t> </a:t>
            </a:r>
            <a:r>
              <a:rPr sz="4000" spc="-190" dirty="0"/>
              <a:t>CAT</a:t>
            </a:r>
            <a:r>
              <a:rPr sz="4000" spc="-20" dirty="0"/>
              <a:t> </a:t>
            </a:r>
            <a:r>
              <a:rPr sz="4000" spc="-5" dirty="0"/>
              <a:t>6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35940" y="1981022"/>
            <a:ext cx="7506970" cy="2159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0"/>
              </a:spcBef>
              <a:buClr>
                <a:srgbClr val="D24717"/>
              </a:buClr>
              <a:buSzPct val="85416"/>
              <a:buFont typeface="Segoe UI Symbol"/>
              <a:buChar char="⚫"/>
              <a:tabLst>
                <a:tab pos="286385" algn="l"/>
                <a:tab pos="287020" algn="l"/>
              </a:tabLst>
            </a:pPr>
            <a:r>
              <a:rPr sz="2400" spc="-100" dirty="0">
                <a:latin typeface="Times New Roman"/>
                <a:cs typeface="Times New Roman"/>
              </a:rPr>
              <a:t>250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229" dirty="0">
                <a:latin typeface="Times New Roman"/>
                <a:cs typeface="Times New Roman"/>
              </a:rPr>
              <a:t>M</a:t>
            </a:r>
            <a:r>
              <a:rPr sz="2400" spc="-195" dirty="0">
                <a:latin typeface="Times New Roman"/>
                <a:cs typeface="Times New Roman"/>
              </a:rPr>
              <a:t>H</a:t>
            </a:r>
            <a:r>
              <a:rPr sz="2400" spc="-190" dirty="0">
                <a:latin typeface="Times New Roman"/>
                <a:cs typeface="Times New Roman"/>
              </a:rPr>
              <a:t>z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95" dirty="0">
                <a:latin typeface="Times New Roman"/>
                <a:cs typeface="Times New Roman"/>
              </a:rPr>
              <a:t>Ban</a:t>
            </a:r>
            <a:r>
              <a:rPr sz="2400" spc="-229" dirty="0">
                <a:latin typeface="Times New Roman"/>
                <a:cs typeface="Times New Roman"/>
              </a:rPr>
              <a:t>d</a:t>
            </a:r>
            <a:r>
              <a:rPr sz="2400" spc="-95" dirty="0">
                <a:latin typeface="Times New Roman"/>
                <a:cs typeface="Times New Roman"/>
              </a:rPr>
              <a:t>width</a:t>
            </a:r>
            <a:endParaRPr sz="240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spcBef>
                <a:spcPts val="25"/>
              </a:spcBef>
              <a:buClr>
                <a:srgbClr val="D24717"/>
              </a:buClr>
              <a:buSzPct val="85416"/>
              <a:buFont typeface="Segoe UI Symbol"/>
              <a:buChar char="⚫"/>
              <a:tabLst>
                <a:tab pos="286385" algn="l"/>
                <a:tab pos="287020" algn="l"/>
              </a:tabLst>
            </a:pPr>
            <a:r>
              <a:rPr sz="2400" spc="-105" dirty="0">
                <a:latin typeface="Times New Roman"/>
                <a:cs typeface="Times New Roman"/>
              </a:rPr>
              <a:t>1</a:t>
            </a:r>
            <a:r>
              <a:rPr sz="2400" spc="-100" dirty="0">
                <a:latin typeface="Times New Roman"/>
                <a:cs typeface="Times New Roman"/>
              </a:rPr>
              <a:t>9</a:t>
            </a:r>
            <a:r>
              <a:rPr sz="2400" dirty="0">
                <a:latin typeface="Times New Roman"/>
                <a:cs typeface="Times New Roman"/>
              </a:rPr>
              <a:t>.8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240" dirty="0">
                <a:latin typeface="Times New Roman"/>
                <a:cs typeface="Times New Roman"/>
              </a:rPr>
              <a:t>dB </a:t>
            </a:r>
            <a:r>
              <a:rPr sz="2400" spc="-100" dirty="0">
                <a:latin typeface="Times New Roman"/>
                <a:cs typeface="Times New Roman"/>
              </a:rPr>
              <a:t>At</a:t>
            </a:r>
            <a:r>
              <a:rPr sz="2400" spc="-65" dirty="0">
                <a:latin typeface="Times New Roman"/>
                <a:cs typeface="Times New Roman"/>
              </a:rPr>
              <a:t>t</a:t>
            </a:r>
            <a:r>
              <a:rPr sz="2400" spc="-100" dirty="0">
                <a:latin typeface="Times New Roman"/>
                <a:cs typeface="Times New Roman"/>
              </a:rPr>
              <a:t>enu</a:t>
            </a:r>
            <a:r>
              <a:rPr sz="2400" spc="-215" dirty="0">
                <a:latin typeface="Times New Roman"/>
                <a:cs typeface="Times New Roman"/>
              </a:rPr>
              <a:t>a</a:t>
            </a:r>
            <a:r>
              <a:rPr sz="2400" spc="-75" dirty="0">
                <a:latin typeface="Times New Roman"/>
                <a:cs typeface="Times New Roman"/>
              </a:rPr>
              <a:t>tion</a:t>
            </a:r>
            <a:endParaRPr sz="240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spcBef>
                <a:spcPts val="25"/>
              </a:spcBef>
              <a:buClr>
                <a:srgbClr val="D24717"/>
              </a:buClr>
              <a:buSzPct val="85416"/>
              <a:buFont typeface="Segoe UI Symbol"/>
              <a:buChar char="⚫"/>
              <a:tabLst>
                <a:tab pos="286385" algn="l"/>
                <a:tab pos="287020" algn="l"/>
              </a:tabLst>
            </a:pPr>
            <a:r>
              <a:rPr sz="2400" spc="-105" dirty="0">
                <a:latin typeface="Times New Roman"/>
                <a:cs typeface="Times New Roman"/>
              </a:rPr>
              <a:t>1</a:t>
            </a:r>
            <a:r>
              <a:rPr sz="2400" spc="-100" dirty="0">
                <a:latin typeface="Times New Roman"/>
                <a:cs typeface="Times New Roman"/>
              </a:rPr>
              <a:t>0</a:t>
            </a:r>
            <a:r>
              <a:rPr sz="2400" spc="-105" dirty="0">
                <a:latin typeface="Times New Roman"/>
                <a:cs typeface="Times New Roman"/>
              </a:rPr>
              <a:t>0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45" dirty="0">
                <a:latin typeface="Times New Roman"/>
                <a:cs typeface="Times New Roman"/>
              </a:rPr>
              <a:t>ohms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145" dirty="0">
                <a:latin typeface="Times New Roman"/>
                <a:cs typeface="Times New Roman"/>
              </a:rPr>
              <a:t>Im</a:t>
            </a:r>
            <a:r>
              <a:rPr sz="2400" spc="-125" dirty="0">
                <a:latin typeface="Times New Roman"/>
                <a:cs typeface="Times New Roman"/>
              </a:rPr>
              <a:t>p</a:t>
            </a:r>
            <a:r>
              <a:rPr sz="2400" spc="-120" dirty="0">
                <a:latin typeface="Times New Roman"/>
                <a:cs typeface="Times New Roman"/>
              </a:rPr>
              <a:t>eda</a:t>
            </a:r>
            <a:r>
              <a:rPr sz="2400" spc="-125" dirty="0">
                <a:latin typeface="Times New Roman"/>
                <a:cs typeface="Times New Roman"/>
              </a:rPr>
              <a:t>n</a:t>
            </a:r>
            <a:r>
              <a:rPr sz="2400" spc="-120" dirty="0">
                <a:latin typeface="Times New Roman"/>
                <a:cs typeface="Times New Roman"/>
              </a:rPr>
              <a:t>ce</a:t>
            </a:r>
            <a:endParaRPr sz="240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spcBef>
                <a:spcPts val="25"/>
              </a:spcBef>
              <a:buClr>
                <a:srgbClr val="D24717"/>
              </a:buClr>
              <a:buSzPct val="85416"/>
              <a:buFont typeface="Segoe UI Symbol"/>
              <a:buChar char="⚫"/>
              <a:tabLst>
                <a:tab pos="286385" algn="l"/>
                <a:tab pos="287020" algn="l"/>
              </a:tabLst>
            </a:pPr>
            <a:r>
              <a:rPr sz="2400" spc="-280" dirty="0">
                <a:latin typeface="Times New Roman"/>
                <a:cs typeface="Times New Roman"/>
              </a:rPr>
              <a:t>T</a:t>
            </a:r>
            <a:r>
              <a:rPr sz="2400" spc="-85" dirty="0">
                <a:latin typeface="Times New Roman"/>
                <a:cs typeface="Times New Roman"/>
              </a:rPr>
              <a:t>ra</a:t>
            </a:r>
            <a:r>
              <a:rPr sz="2400" spc="-105" dirty="0">
                <a:latin typeface="Times New Roman"/>
                <a:cs typeface="Times New Roman"/>
              </a:rPr>
              <a:t>n</a:t>
            </a:r>
            <a:r>
              <a:rPr sz="2400" spc="-165" dirty="0">
                <a:latin typeface="Times New Roman"/>
                <a:cs typeface="Times New Roman"/>
              </a:rPr>
              <a:t>sm</a:t>
            </a:r>
            <a:r>
              <a:rPr sz="2400" spc="-90" dirty="0">
                <a:latin typeface="Times New Roman"/>
                <a:cs typeface="Times New Roman"/>
              </a:rPr>
              <a:t>its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spc="-135" dirty="0">
                <a:latin typeface="Times New Roman"/>
                <a:cs typeface="Times New Roman"/>
              </a:rPr>
              <a:t>hi</a:t>
            </a:r>
            <a:r>
              <a:rPr sz="2400" spc="-175" dirty="0">
                <a:latin typeface="Times New Roman"/>
                <a:cs typeface="Times New Roman"/>
              </a:rPr>
              <a:t>g</a:t>
            </a:r>
            <a:r>
              <a:rPr sz="2400" spc="-170" dirty="0">
                <a:latin typeface="Times New Roman"/>
                <a:cs typeface="Times New Roman"/>
              </a:rPr>
              <a:t>h</a:t>
            </a:r>
            <a:r>
              <a:rPr sz="2400" spc="-50" dirty="0">
                <a:latin typeface="Times New Roman"/>
                <a:cs typeface="Times New Roman"/>
              </a:rPr>
              <a:t>-</a:t>
            </a:r>
            <a:r>
              <a:rPr sz="2400" spc="-125" dirty="0">
                <a:latin typeface="Times New Roman"/>
                <a:cs typeface="Times New Roman"/>
              </a:rPr>
              <a:t>s</a:t>
            </a:r>
            <a:r>
              <a:rPr sz="2400" spc="-155" dirty="0">
                <a:latin typeface="Times New Roman"/>
                <a:cs typeface="Times New Roman"/>
              </a:rPr>
              <a:t>p</a:t>
            </a:r>
            <a:r>
              <a:rPr sz="2400" spc="-95" dirty="0">
                <a:latin typeface="Times New Roman"/>
                <a:cs typeface="Times New Roman"/>
              </a:rPr>
              <a:t>eed </a:t>
            </a:r>
            <a:r>
              <a:rPr sz="2400" spc="-155" dirty="0">
                <a:latin typeface="Times New Roman"/>
                <a:cs typeface="Times New Roman"/>
              </a:rPr>
              <a:t>d</a:t>
            </a:r>
            <a:r>
              <a:rPr sz="2400" spc="-160" dirty="0">
                <a:latin typeface="Times New Roman"/>
                <a:cs typeface="Times New Roman"/>
              </a:rPr>
              <a:t>a</a:t>
            </a:r>
            <a:r>
              <a:rPr sz="2400" spc="-80" dirty="0">
                <a:latin typeface="Times New Roman"/>
                <a:cs typeface="Times New Roman"/>
              </a:rPr>
              <a:t>ta</a:t>
            </a:r>
            <a:endParaRPr sz="2400">
              <a:latin typeface="Times New Roman"/>
              <a:cs typeface="Times New Roman"/>
            </a:endParaRPr>
          </a:p>
          <a:p>
            <a:pPr marL="287020" indent="-274320">
              <a:lnSpc>
                <a:spcPts val="2590"/>
              </a:lnSpc>
              <a:spcBef>
                <a:spcPts val="25"/>
              </a:spcBef>
              <a:buClr>
                <a:srgbClr val="D24717"/>
              </a:buClr>
              <a:buSzPct val="85416"/>
              <a:buFont typeface="Segoe UI Symbol"/>
              <a:buChar char="⚫"/>
              <a:tabLst>
                <a:tab pos="286385" algn="l"/>
                <a:tab pos="287020" algn="l"/>
              </a:tabLst>
            </a:pPr>
            <a:r>
              <a:rPr sz="2400" spc="-130" dirty="0">
                <a:latin typeface="Times New Roman"/>
                <a:cs typeface="Times New Roman"/>
              </a:rPr>
              <a:t>Used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10" dirty="0">
                <a:latin typeface="Times New Roman"/>
                <a:cs typeface="Times New Roman"/>
              </a:rPr>
              <a:t>in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30" dirty="0">
                <a:latin typeface="Times New Roman"/>
                <a:cs typeface="Times New Roman"/>
              </a:rPr>
              <a:t>Gigabit</a:t>
            </a:r>
            <a:r>
              <a:rPr sz="2400" spc="-65" dirty="0">
                <a:latin typeface="Times New Roman"/>
                <a:cs typeface="Times New Roman"/>
              </a:rPr>
              <a:t> Ethernet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(1000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150" dirty="0">
                <a:latin typeface="Times New Roman"/>
                <a:cs typeface="Times New Roman"/>
              </a:rPr>
              <a:t>Mbps)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spc="-390" dirty="0">
                <a:latin typeface="Times New Roman"/>
                <a:cs typeface="Times New Roman"/>
              </a:rPr>
              <a:t>&amp;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10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65" dirty="0">
                <a:latin typeface="Times New Roman"/>
                <a:cs typeface="Times New Roman"/>
              </a:rPr>
              <a:t>Gig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65" dirty="0">
                <a:latin typeface="Times New Roman"/>
                <a:cs typeface="Times New Roman"/>
              </a:rPr>
              <a:t>Ethernet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Times New Roman"/>
                <a:cs typeface="Times New Roman"/>
              </a:rPr>
              <a:t>(10000</a:t>
            </a:r>
            <a:endParaRPr sz="2400">
              <a:latin typeface="Times New Roman"/>
              <a:cs typeface="Times New Roman"/>
            </a:endParaRPr>
          </a:p>
          <a:p>
            <a:pPr marL="286385">
              <a:lnSpc>
                <a:spcPts val="2590"/>
              </a:lnSpc>
            </a:pPr>
            <a:r>
              <a:rPr sz="2400" spc="-150" dirty="0">
                <a:latin typeface="Times New Roman"/>
                <a:cs typeface="Times New Roman"/>
              </a:rPr>
              <a:t>Mbps)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2140" y="324053"/>
            <a:ext cx="703072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5" dirty="0"/>
              <a:t>Comparison</a:t>
            </a:r>
            <a:r>
              <a:rPr spc="-10" dirty="0"/>
              <a:t> </a:t>
            </a:r>
            <a:r>
              <a:rPr spc="-45" dirty="0"/>
              <a:t>between</a:t>
            </a:r>
            <a:r>
              <a:rPr spc="-5" dirty="0"/>
              <a:t> </a:t>
            </a:r>
            <a:r>
              <a:rPr spc="-70" dirty="0"/>
              <a:t>CAT5,5e</a:t>
            </a:r>
            <a:r>
              <a:rPr spc="-20" dirty="0"/>
              <a:t> </a:t>
            </a:r>
            <a:r>
              <a:rPr spc="-15" dirty="0"/>
              <a:t>and</a:t>
            </a:r>
            <a:r>
              <a:rPr spc="-5" dirty="0"/>
              <a:t> </a:t>
            </a:r>
            <a:r>
              <a:rPr dirty="0"/>
              <a:t>6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603250" y="1289050"/>
          <a:ext cx="8248650" cy="48336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67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0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08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08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3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D2471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800" b="1" spc="-18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CAT5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D2471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800" b="1" spc="-13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CAT5e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D2471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800" b="1" spc="-18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CAT6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D247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800" spc="-90" dirty="0">
                          <a:latin typeface="Times New Roman"/>
                          <a:cs typeface="Times New Roman"/>
                        </a:rPr>
                        <a:t>Frequency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CFCC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sz="18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MHz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CFCC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sz="18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MHz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CFCC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5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sz="18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MHz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C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800" spc="-5" dirty="0">
                          <a:latin typeface="Times New Roman"/>
                          <a:cs typeface="Times New Roman"/>
                        </a:rPr>
                        <a:t>Atte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u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tion</a:t>
                      </a:r>
                      <a:r>
                        <a:rPr sz="18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(min.</a:t>
                      </a:r>
                      <a:r>
                        <a:rPr sz="1800" spc="-1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8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sz="18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MHz)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22</a:t>
                      </a: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dB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22</a:t>
                      </a: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dB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9E7"/>
                    </a:solidFill>
                  </a:tcPr>
                </a:tc>
                <a:tc>
                  <a:txBody>
                    <a:bodyPr/>
                    <a:lstStyle/>
                    <a:p>
                      <a:pPr marL="43434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9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.8</a:t>
                      </a:r>
                      <a:r>
                        <a:rPr sz="18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dB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800" spc="-5" dirty="0">
                          <a:latin typeface="Times New Roman"/>
                          <a:cs typeface="Times New Roman"/>
                        </a:rPr>
                        <a:t>Cha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cte</a:t>
                      </a:r>
                      <a:r>
                        <a:rPr sz="1800" spc="4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ist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8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Imped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e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C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sz="18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ohms</a:t>
                      </a:r>
                      <a:r>
                        <a:rPr sz="18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8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15%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C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sz="18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ohms</a:t>
                      </a:r>
                      <a:r>
                        <a:rPr sz="18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8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15%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CFCC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sz="18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ohms</a:t>
                      </a:r>
                      <a:r>
                        <a:rPr sz="18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8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15%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C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8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(min.</a:t>
                      </a:r>
                      <a:r>
                        <a:rPr sz="1800" spc="-1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8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sz="18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MH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z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9E7"/>
                    </a:solidFill>
                  </a:tcPr>
                </a:tc>
                <a:tc>
                  <a:txBody>
                    <a:bodyPr/>
                    <a:lstStyle/>
                    <a:p>
                      <a:pPr marL="43370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3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.3</a:t>
                      </a:r>
                      <a:r>
                        <a:rPr sz="18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dB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9E7"/>
                    </a:solidFill>
                  </a:tcPr>
                </a:tc>
                <a:tc>
                  <a:txBody>
                    <a:bodyPr/>
                    <a:lstStyle/>
                    <a:p>
                      <a:pPr marL="43434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3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5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.3</a:t>
                      </a:r>
                      <a:r>
                        <a:rPr sz="18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dB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9E7"/>
                    </a:solidFill>
                  </a:tcPr>
                </a:tc>
                <a:tc>
                  <a:txBody>
                    <a:bodyPr/>
                    <a:lstStyle/>
                    <a:p>
                      <a:pPr marL="43434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4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4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.3</a:t>
                      </a:r>
                      <a:r>
                        <a:rPr sz="18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dB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-N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8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(min.</a:t>
                      </a:r>
                      <a:r>
                        <a:rPr sz="1800" spc="-1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8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sz="18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MHz)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CFCC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800" spc="-170" dirty="0">
                          <a:latin typeface="Times New Roman"/>
                          <a:cs typeface="Times New Roman"/>
                        </a:rPr>
                        <a:t>NA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CFCC"/>
                    </a:solidFill>
                  </a:tcPr>
                </a:tc>
                <a:tc>
                  <a:txBody>
                    <a:bodyPr/>
                    <a:lstStyle/>
                    <a:p>
                      <a:pPr marL="43434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3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.3</a:t>
                      </a:r>
                      <a:r>
                        <a:rPr sz="18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dB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CFCC"/>
                    </a:solidFill>
                  </a:tcPr>
                </a:tc>
                <a:tc>
                  <a:txBody>
                    <a:bodyPr/>
                    <a:lstStyle/>
                    <a:p>
                      <a:pPr marL="43434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4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.3</a:t>
                      </a:r>
                      <a:r>
                        <a:rPr sz="18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dB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C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L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-FE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8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(min.</a:t>
                      </a:r>
                      <a:r>
                        <a:rPr sz="1800" spc="-1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8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sz="18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MHz)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9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800" spc="-170" dirty="0">
                          <a:latin typeface="Times New Roman"/>
                          <a:cs typeface="Times New Roman"/>
                        </a:rPr>
                        <a:t>NA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9E7"/>
                    </a:solidFill>
                  </a:tcPr>
                </a:tc>
                <a:tc>
                  <a:txBody>
                    <a:bodyPr/>
                    <a:lstStyle/>
                    <a:p>
                      <a:pPr marL="43434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3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.8</a:t>
                      </a:r>
                      <a:r>
                        <a:rPr sz="18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dB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9E7"/>
                    </a:solidFill>
                  </a:tcPr>
                </a:tc>
                <a:tc>
                  <a:txBody>
                    <a:bodyPr/>
                    <a:lstStyle/>
                    <a:p>
                      <a:pPr marL="43434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7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.8</a:t>
                      </a:r>
                      <a:r>
                        <a:rPr sz="18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dB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LFE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8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(min.</a:t>
                      </a:r>
                      <a:r>
                        <a:rPr sz="1800" spc="-1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8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sz="18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MH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z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71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CFCC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800" spc="-170" dirty="0">
                          <a:latin typeface="Times New Roman"/>
                          <a:cs typeface="Times New Roman"/>
                        </a:rPr>
                        <a:t>NA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71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CFCC"/>
                    </a:solidFill>
                  </a:tcPr>
                </a:tc>
                <a:tc>
                  <a:txBody>
                    <a:bodyPr/>
                    <a:lstStyle/>
                    <a:p>
                      <a:pPr marL="43434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.8</a:t>
                      </a:r>
                      <a:r>
                        <a:rPr sz="18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dB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71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CFCC"/>
                    </a:solidFill>
                  </a:tcPr>
                </a:tc>
                <a:tc>
                  <a:txBody>
                    <a:bodyPr/>
                    <a:lstStyle/>
                    <a:p>
                      <a:pPr marL="43434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4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.8</a:t>
                      </a:r>
                      <a:r>
                        <a:rPr sz="18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dB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71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C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AN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8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(min.</a:t>
                      </a:r>
                      <a:r>
                        <a:rPr sz="1800" spc="-1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8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5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sz="18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MH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z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71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800" spc="-40" dirty="0">
                          <a:latin typeface="Times New Roman"/>
                          <a:cs typeface="Times New Roman"/>
                        </a:rPr>
                        <a:t>--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71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800" spc="-40" dirty="0">
                          <a:latin typeface="Times New Roman"/>
                          <a:cs typeface="Times New Roman"/>
                        </a:rPr>
                        <a:t>--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71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9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800" spc="-40" dirty="0">
                          <a:latin typeface="Times New Roman"/>
                          <a:cs typeface="Times New Roman"/>
                        </a:rPr>
                        <a:t>--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71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LFE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8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(min.</a:t>
                      </a:r>
                      <a:r>
                        <a:rPr sz="1800" spc="-1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8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5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sz="18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MHz)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71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C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16</a:t>
                      </a: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dB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71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CFCC"/>
                    </a:solidFill>
                  </a:tcPr>
                </a:tc>
                <a:tc>
                  <a:txBody>
                    <a:bodyPr/>
                    <a:lstStyle/>
                    <a:p>
                      <a:pPr marL="43434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.1</a:t>
                      </a:r>
                      <a:r>
                        <a:rPr sz="18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dB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71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CFCC"/>
                    </a:solidFill>
                  </a:tcPr>
                </a:tc>
                <a:tc>
                  <a:txBody>
                    <a:bodyPr/>
                    <a:lstStyle/>
                    <a:p>
                      <a:pPr marL="43434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.1</a:t>
                      </a:r>
                      <a:r>
                        <a:rPr sz="18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dB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71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C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800" spc="-5" dirty="0">
                          <a:latin typeface="Times New Roman"/>
                          <a:cs typeface="Times New Roman"/>
                        </a:rPr>
                        <a:t>Retu</a:t>
                      </a:r>
                      <a:r>
                        <a:rPr sz="1800" spc="5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8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Loss</a:t>
                      </a:r>
                      <a:r>
                        <a:rPr sz="18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(min.</a:t>
                      </a:r>
                      <a:r>
                        <a:rPr sz="1800" spc="-1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8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100</a:t>
                      </a: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MHz)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71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9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16</a:t>
                      </a:r>
                      <a:r>
                        <a:rPr sz="18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dB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71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9E7"/>
                    </a:solidFill>
                  </a:tcPr>
                </a:tc>
                <a:tc>
                  <a:txBody>
                    <a:bodyPr/>
                    <a:lstStyle/>
                    <a:p>
                      <a:pPr marL="43434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20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18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dB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71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9E7"/>
                    </a:solidFill>
                  </a:tcPr>
                </a:tc>
                <a:tc>
                  <a:txBody>
                    <a:bodyPr/>
                    <a:lstStyle/>
                    <a:p>
                      <a:pPr marL="43434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20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18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dB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71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Del</a:t>
                      </a:r>
                      <a:r>
                        <a:rPr sz="1800" spc="-6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18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k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w</a:t>
                      </a:r>
                      <a:r>
                        <a:rPr sz="1800" spc="-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(max.</a:t>
                      </a:r>
                      <a:r>
                        <a:rPr sz="1800" spc="-1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per</a:t>
                      </a: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0m)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71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CFCC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800" spc="-170" dirty="0">
                          <a:latin typeface="Times New Roman"/>
                          <a:cs typeface="Times New Roman"/>
                        </a:rPr>
                        <a:t>NA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71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CFCC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45</a:t>
                      </a: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ns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71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CFCC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45</a:t>
                      </a: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ns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71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C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Net</a:t>
                      </a:r>
                      <a:r>
                        <a:rPr sz="1800" spc="-60" dirty="0">
                          <a:latin typeface="Times New Roman"/>
                          <a:cs typeface="Times New Roman"/>
                        </a:rPr>
                        <a:t>w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ks</a:t>
                      </a:r>
                      <a:r>
                        <a:rPr sz="18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u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1800" spc="65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ted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71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9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800" spc="-145" dirty="0">
                          <a:latin typeface="Times New Roman"/>
                          <a:cs typeface="Times New Roman"/>
                        </a:rPr>
                        <a:t>100BASE-T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71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9E7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800" spc="-140" dirty="0">
                          <a:latin typeface="Times New Roman"/>
                          <a:cs typeface="Times New Roman"/>
                        </a:rPr>
                        <a:t>1000BASE-T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71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9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800" spc="-145" dirty="0">
                          <a:latin typeface="Times New Roman"/>
                          <a:cs typeface="Times New Roman"/>
                        </a:rPr>
                        <a:t>1000BASE-TX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71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688974"/>
            <a:ext cx="503809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25" dirty="0"/>
              <a:t>OF</a:t>
            </a:r>
            <a:r>
              <a:rPr sz="4000" spc="-20" dirty="0"/>
              <a:t>C</a:t>
            </a:r>
            <a:r>
              <a:rPr sz="4000" spc="35" dirty="0"/>
              <a:t>-</a:t>
            </a:r>
            <a:r>
              <a:rPr sz="4000" spc="15" dirty="0"/>
              <a:t> </a:t>
            </a:r>
            <a:r>
              <a:rPr sz="4000" b="1" spc="-505" dirty="0">
                <a:latin typeface="Arial"/>
                <a:cs typeface="Arial"/>
              </a:rPr>
              <a:t>O</a:t>
            </a:r>
            <a:r>
              <a:rPr sz="4000" b="1" spc="-380" dirty="0">
                <a:latin typeface="Arial"/>
                <a:cs typeface="Arial"/>
              </a:rPr>
              <a:t>p</a:t>
            </a:r>
            <a:r>
              <a:rPr sz="4000" b="1" spc="-165" dirty="0">
                <a:latin typeface="Arial"/>
                <a:cs typeface="Arial"/>
              </a:rPr>
              <a:t>t</a:t>
            </a:r>
            <a:r>
              <a:rPr sz="4000" b="1" spc="-130" dirty="0">
                <a:latin typeface="Arial"/>
                <a:cs typeface="Arial"/>
              </a:rPr>
              <a:t>i</a:t>
            </a:r>
            <a:r>
              <a:rPr sz="4000" b="1" spc="-240" dirty="0">
                <a:latin typeface="Arial"/>
                <a:cs typeface="Arial"/>
              </a:rPr>
              <a:t>c</a:t>
            </a:r>
            <a:r>
              <a:rPr sz="4000" b="1" spc="-225" dirty="0">
                <a:latin typeface="Arial"/>
                <a:cs typeface="Arial"/>
              </a:rPr>
              <a:t>a</a:t>
            </a:r>
            <a:r>
              <a:rPr sz="4000" b="1" spc="-195" dirty="0">
                <a:latin typeface="Arial"/>
                <a:cs typeface="Arial"/>
              </a:rPr>
              <a:t>l</a:t>
            </a:r>
            <a:r>
              <a:rPr sz="4000" b="1" spc="-150" dirty="0">
                <a:latin typeface="Arial"/>
                <a:cs typeface="Arial"/>
              </a:rPr>
              <a:t> </a:t>
            </a:r>
            <a:r>
              <a:rPr sz="4000" b="1" spc="-105" dirty="0">
                <a:latin typeface="Arial"/>
                <a:cs typeface="Arial"/>
              </a:rPr>
              <a:t>f</a:t>
            </a:r>
            <a:r>
              <a:rPr sz="4000" b="1" spc="-160" dirty="0">
                <a:latin typeface="Arial"/>
                <a:cs typeface="Arial"/>
              </a:rPr>
              <a:t>i</a:t>
            </a:r>
            <a:r>
              <a:rPr sz="4000" b="1" spc="-325" dirty="0">
                <a:latin typeface="Arial"/>
                <a:cs typeface="Arial"/>
              </a:rPr>
              <a:t>b</a:t>
            </a:r>
            <a:r>
              <a:rPr sz="4000" b="1" spc="-195" dirty="0">
                <a:latin typeface="Arial"/>
                <a:cs typeface="Arial"/>
              </a:rPr>
              <a:t>er</a:t>
            </a:r>
            <a:r>
              <a:rPr sz="4000" b="1" spc="-100" dirty="0">
                <a:latin typeface="Arial"/>
                <a:cs typeface="Arial"/>
              </a:rPr>
              <a:t> </a:t>
            </a:r>
            <a:r>
              <a:rPr sz="4000" b="1" spc="-240" dirty="0">
                <a:latin typeface="Arial"/>
                <a:cs typeface="Arial"/>
              </a:rPr>
              <a:t>c</a:t>
            </a:r>
            <a:r>
              <a:rPr sz="4000" b="1" spc="-225" dirty="0">
                <a:latin typeface="Arial"/>
                <a:cs typeface="Arial"/>
              </a:rPr>
              <a:t>a</a:t>
            </a:r>
            <a:r>
              <a:rPr sz="4000" b="1" spc="-290" dirty="0">
                <a:latin typeface="Arial"/>
                <a:cs typeface="Arial"/>
              </a:rPr>
              <a:t>b</a:t>
            </a:r>
            <a:r>
              <a:rPr sz="4000" b="1" spc="-170" dirty="0">
                <a:latin typeface="Arial"/>
                <a:cs typeface="Arial"/>
              </a:rPr>
              <a:t>le</a:t>
            </a:r>
            <a:endParaRPr sz="40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3444" y="1433830"/>
            <a:ext cx="7552055" cy="414210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46355" indent="-274320">
              <a:lnSpc>
                <a:spcPct val="100000"/>
              </a:lnSpc>
              <a:spcBef>
                <a:spcPts val="105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225" dirty="0">
                <a:latin typeface="Times New Roman"/>
                <a:cs typeface="Times New Roman"/>
              </a:rPr>
              <a:t>An </a:t>
            </a:r>
            <a:r>
              <a:rPr sz="2600" b="1" spc="30" dirty="0">
                <a:latin typeface="Times New Roman"/>
                <a:cs typeface="Times New Roman"/>
              </a:rPr>
              <a:t>optical </a:t>
            </a:r>
            <a:r>
              <a:rPr sz="2600" b="1" spc="-15" dirty="0">
                <a:latin typeface="Times New Roman"/>
                <a:cs typeface="Times New Roman"/>
              </a:rPr>
              <a:t>fiber </a:t>
            </a:r>
            <a:r>
              <a:rPr sz="2600" b="1" spc="15" dirty="0">
                <a:latin typeface="Times New Roman"/>
                <a:cs typeface="Times New Roman"/>
              </a:rPr>
              <a:t>cable</a:t>
            </a:r>
            <a:r>
              <a:rPr sz="2600" spc="15" dirty="0">
                <a:latin typeface="Times New Roman"/>
                <a:cs typeface="Times New Roman"/>
              </a:rPr>
              <a:t>, </a:t>
            </a:r>
            <a:r>
              <a:rPr sz="2600" spc="-155" dirty="0">
                <a:latin typeface="Times New Roman"/>
                <a:cs typeface="Times New Roman"/>
              </a:rPr>
              <a:t>also </a:t>
            </a:r>
            <a:r>
              <a:rPr sz="2600" spc="-145" dirty="0">
                <a:latin typeface="Times New Roman"/>
                <a:cs typeface="Times New Roman"/>
              </a:rPr>
              <a:t>known </a:t>
            </a:r>
            <a:r>
              <a:rPr sz="2600" spc="-204" dirty="0">
                <a:latin typeface="Times New Roman"/>
                <a:cs typeface="Times New Roman"/>
              </a:rPr>
              <a:t>as </a:t>
            </a:r>
            <a:r>
              <a:rPr sz="2600" b="1" spc="-15" dirty="0">
                <a:latin typeface="Times New Roman"/>
                <a:cs typeface="Times New Roman"/>
              </a:rPr>
              <a:t>fiber </a:t>
            </a:r>
            <a:r>
              <a:rPr sz="2600" b="1" spc="55" dirty="0">
                <a:latin typeface="Times New Roman"/>
                <a:cs typeface="Times New Roman"/>
              </a:rPr>
              <a:t>optic </a:t>
            </a:r>
            <a:r>
              <a:rPr sz="2600" b="1" spc="15" dirty="0">
                <a:latin typeface="Times New Roman"/>
                <a:cs typeface="Times New Roman"/>
              </a:rPr>
              <a:t>cable</a:t>
            </a:r>
            <a:r>
              <a:rPr sz="2600" spc="15" dirty="0">
                <a:latin typeface="Times New Roman"/>
                <a:cs typeface="Times New Roman"/>
              </a:rPr>
              <a:t>,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-165" dirty="0">
                <a:latin typeface="Times New Roman"/>
                <a:cs typeface="Times New Roman"/>
              </a:rPr>
              <a:t>is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60" dirty="0">
                <a:latin typeface="Times New Roman"/>
                <a:cs typeface="Times New Roman"/>
              </a:rPr>
              <a:t>an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80" dirty="0">
                <a:latin typeface="Times New Roman"/>
                <a:cs typeface="Times New Roman"/>
              </a:rPr>
              <a:t>assembly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Times New Roman"/>
                <a:cs typeface="Times New Roman"/>
              </a:rPr>
              <a:t>similar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Times New Roman"/>
                <a:cs typeface="Times New Roman"/>
              </a:rPr>
              <a:t>to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60" dirty="0">
                <a:latin typeface="Times New Roman"/>
                <a:cs typeface="Times New Roman"/>
              </a:rPr>
              <a:t>an</a:t>
            </a:r>
            <a:r>
              <a:rPr sz="2600" spc="-55" dirty="0">
                <a:solidFill>
                  <a:srgbClr val="CC9900"/>
                </a:solidFill>
                <a:latin typeface="Times New Roman"/>
                <a:cs typeface="Times New Roman"/>
              </a:rPr>
              <a:t> </a:t>
            </a:r>
            <a:r>
              <a:rPr sz="2600" u="heavy" spc="-95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Times New Roman"/>
                <a:cs typeface="Times New Roman"/>
                <a:hlinkClick r:id="rId2"/>
              </a:rPr>
              <a:t>electrical</a:t>
            </a:r>
            <a:r>
              <a:rPr sz="2600" u="heavy" spc="-55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Times New Roman"/>
                <a:cs typeface="Times New Roman"/>
                <a:hlinkClick r:id="rId2"/>
              </a:rPr>
              <a:t> </a:t>
            </a:r>
            <a:r>
              <a:rPr sz="2600" u="heavy" spc="-114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Times New Roman"/>
                <a:cs typeface="Times New Roman"/>
                <a:hlinkClick r:id="rId2"/>
              </a:rPr>
              <a:t>cable</a:t>
            </a:r>
            <a:r>
              <a:rPr sz="2600" spc="-114" dirty="0">
                <a:latin typeface="Times New Roman"/>
                <a:cs typeface="Times New Roman"/>
              </a:rPr>
              <a:t>,</a:t>
            </a:r>
            <a:r>
              <a:rPr sz="2600" spc="-180" dirty="0">
                <a:latin typeface="Times New Roman"/>
                <a:cs typeface="Times New Roman"/>
              </a:rPr>
              <a:t> </a:t>
            </a:r>
            <a:r>
              <a:rPr sz="2600" spc="-80" dirty="0">
                <a:latin typeface="Times New Roman"/>
                <a:cs typeface="Times New Roman"/>
              </a:rPr>
              <a:t>but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30" dirty="0">
                <a:latin typeface="Times New Roman"/>
                <a:cs typeface="Times New Roman"/>
              </a:rPr>
              <a:t>containing </a:t>
            </a:r>
            <a:r>
              <a:rPr sz="2600" spc="-125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o</a:t>
            </a:r>
            <a:r>
              <a:rPr sz="2600" spc="-125" dirty="0">
                <a:latin typeface="Times New Roman"/>
                <a:cs typeface="Times New Roman"/>
              </a:rPr>
              <a:t>n</a:t>
            </a:r>
            <a:r>
              <a:rPr sz="2600" spc="-100" dirty="0">
                <a:latin typeface="Times New Roman"/>
                <a:cs typeface="Times New Roman"/>
              </a:rPr>
              <a:t>e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40" dirty="0">
                <a:latin typeface="Times New Roman"/>
                <a:cs typeface="Times New Roman"/>
              </a:rPr>
              <a:t>or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95" dirty="0">
                <a:latin typeface="Times New Roman"/>
                <a:cs typeface="Times New Roman"/>
              </a:rPr>
              <a:t>mo</a:t>
            </a:r>
            <a:r>
              <a:rPr sz="2600" spc="-75" dirty="0">
                <a:latin typeface="Times New Roman"/>
                <a:cs typeface="Times New Roman"/>
              </a:rPr>
              <a:t>r</a:t>
            </a:r>
            <a:r>
              <a:rPr sz="2600" spc="-100" dirty="0">
                <a:latin typeface="Times New Roman"/>
                <a:cs typeface="Times New Roman"/>
              </a:rPr>
              <a:t>e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u="heavy" spc="-110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Times New Roman"/>
                <a:cs typeface="Times New Roman"/>
                <a:hlinkClick r:id="rId3"/>
              </a:rPr>
              <a:t>o</a:t>
            </a:r>
            <a:r>
              <a:rPr sz="2600" u="heavy" spc="-125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Times New Roman"/>
                <a:cs typeface="Times New Roman"/>
                <a:hlinkClick r:id="rId3"/>
              </a:rPr>
              <a:t>p</a:t>
            </a:r>
            <a:r>
              <a:rPr sz="2600" u="heavy" spc="-105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Times New Roman"/>
                <a:cs typeface="Times New Roman"/>
                <a:hlinkClick r:id="rId3"/>
              </a:rPr>
              <a:t>tic</a:t>
            </a:r>
            <a:r>
              <a:rPr sz="2600" u="heavy" spc="-155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Times New Roman"/>
                <a:cs typeface="Times New Roman"/>
                <a:hlinkClick r:id="rId3"/>
              </a:rPr>
              <a:t>a</a:t>
            </a:r>
            <a:r>
              <a:rPr sz="2600" u="heavy" spc="-100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Times New Roman"/>
                <a:cs typeface="Times New Roman"/>
                <a:hlinkClick r:id="rId3"/>
              </a:rPr>
              <a:t>l</a:t>
            </a:r>
            <a:r>
              <a:rPr sz="2600" u="heavy" spc="-55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Times New Roman"/>
                <a:cs typeface="Times New Roman"/>
                <a:hlinkClick r:id="rId3"/>
              </a:rPr>
              <a:t> </a:t>
            </a:r>
            <a:r>
              <a:rPr sz="2600" u="heavy" spc="-110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Times New Roman"/>
                <a:cs typeface="Times New Roman"/>
                <a:hlinkClick r:id="rId3"/>
              </a:rPr>
              <a:t>fibe</a:t>
            </a:r>
            <a:r>
              <a:rPr sz="2600" u="heavy" spc="-55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Times New Roman"/>
                <a:cs typeface="Times New Roman"/>
                <a:hlinkClick r:id="rId3"/>
              </a:rPr>
              <a:t>r</a:t>
            </a:r>
            <a:r>
              <a:rPr sz="2600" u="heavy" spc="-200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Times New Roman"/>
                <a:cs typeface="Times New Roman"/>
                <a:hlinkClick r:id="rId3"/>
              </a:rPr>
              <a:t>s</a:t>
            </a:r>
            <a:r>
              <a:rPr sz="2600" spc="-70" dirty="0">
                <a:solidFill>
                  <a:srgbClr val="CC9900"/>
                </a:solidFill>
                <a:latin typeface="Times New Roman"/>
                <a:cs typeface="Times New Roman"/>
                <a:hlinkClick r:id="rId3"/>
              </a:rPr>
              <a:t> </a:t>
            </a:r>
            <a:r>
              <a:rPr sz="2600" spc="-105" dirty="0">
                <a:latin typeface="Times New Roman"/>
                <a:cs typeface="Times New Roman"/>
              </a:rPr>
              <a:t>th</a:t>
            </a:r>
            <a:r>
              <a:rPr sz="2600" spc="-155" dirty="0">
                <a:latin typeface="Times New Roman"/>
                <a:cs typeface="Times New Roman"/>
              </a:rPr>
              <a:t>a</a:t>
            </a:r>
            <a:r>
              <a:rPr sz="2600" spc="35" dirty="0">
                <a:latin typeface="Times New Roman"/>
                <a:cs typeface="Times New Roman"/>
              </a:rPr>
              <a:t>t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05" dirty="0">
                <a:latin typeface="Times New Roman"/>
                <a:cs typeface="Times New Roman"/>
              </a:rPr>
              <a:t>a</a:t>
            </a:r>
            <a:r>
              <a:rPr sz="2600" spc="-100" dirty="0">
                <a:latin typeface="Times New Roman"/>
                <a:cs typeface="Times New Roman"/>
              </a:rPr>
              <a:t>re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30" dirty="0">
                <a:latin typeface="Times New Roman"/>
                <a:cs typeface="Times New Roman"/>
              </a:rPr>
              <a:t>used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Times New Roman"/>
                <a:cs typeface="Times New Roman"/>
              </a:rPr>
              <a:t>to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ca</a:t>
            </a:r>
            <a:r>
              <a:rPr sz="2600" spc="-50" dirty="0">
                <a:latin typeface="Times New Roman"/>
                <a:cs typeface="Times New Roman"/>
              </a:rPr>
              <a:t>r</a:t>
            </a:r>
            <a:r>
              <a:rPr sz="2600" spc="55" dirty="0">
                <a:latin typeface="Times New Roman"/>
                <a:cs typeface="Times New Roman"/>
              </a:rPr>
              <a:t>r</a:t>
            </a:r>
            <a:r>
              <a:rPr sz="2600" spc="-215" dirty="0">
                <a:latin typeface="Times New Roman"/>
                <a:cs typeface="Times New Roman"/>
              </a:rPr>
              <a:t>y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Times New Roman"/>
                <a:cs typeface="Times New Roman"/>
              </a:rPr>
              <a:t>ligh</a:t>
            </a:r>
            <a:r>
              <a:rPr sz="2600" spc="-95" dirty="0">
                <a:latin typeface="Times New Roman"/>
                <a:cs typeface="Times New Roman"/>
              </a:rPr>
              <a:t>t</a:t>
            </a:r>
            <a:r>
              <a:rPr sz="2600" spc="110" dirty="0">
                <a:latin typeface="Times New Roman"/>
                <a:cs typeface="Times New Roman"/>
              </a:rPr>
              <a:t>.</a:t>
            </a:r>
            <a:endParaRPr sz="2600">
              <a:latin typeface="Times New Roman"/>
              <a:cs typeface="Times New Roman"/>
            </a:endParaRPr>
          </a:p>
          <a:p>
            <a:pPr marL="286385" marR="46990" indent="-274320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130" dirty="0">
                <a:latin typeface="Times New Roman"/>
                <a:cs typeface="Times New Roman"/>
              </a:rPr>
              <a:t>The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14" dirty="0">
                <a:latin typeface="Times New Roman"/>
                <a:cs typeface="Times New Roman"/>
              </a:rPr>
              <a:t>optical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105" dirty="0">
                <a:latin typeface="Times New Roman"/>
                <a:cs typeface="Times New Roman"/>
              </a:rPr>
              <a:t>fiber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05" dirty="0">
                <a:latin typeface="Times New Roman"/>
                <a:cs typeface="Times New Roman"/>
              </a:rPr>
              <a:t>elements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00" dirty="0">
                <a:latin typeface="Times New Roman"/>
                <a:cs typeface="Times New Roman"/>
              </a:rPr>
              <a:t>are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45" dirty="0">
                <a:latin typeface="Times New Roman"/>
                <a:cs typeface="Times New Roman"/>
              </a:rPr>
              <a:t>typically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45" dirty="0">
                <a:latin typeface="Times New Roman"/>
                <a:cs typeface="Times New Roman"/>
              </a:rPr>
              <a:t>individually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114" dirty="0">
                <a:latin typeface="Times New Roman"/>
                <a:cs typeface="Times New Roman"/>
              </a:rPr>
              <a:t>coated </a:t>
            </a:r>
            <a:r>
              <a:rPr sz="2600" spc="-110" dirty="0">
                <a:latin typeface="Times New Roman"/>
                <a:cs typeface="Times New Roman"/>
              </a:rPr>
              <a:t> </a:t>
            </a:r>
            <a:r>
              <a:rPr sz="2600" spc="-100" dirty="0">
                <a:latin typeface="Times New Roman"/>
                <a:cs typeface="Times New Roman"/>
              </a:rPr>
              <a:t>with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Times New Roman"/>
                <a:cs typeface="Times New Roman"/>
              </a:rPr>
              <a:t>plastic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layers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45" dirty="0">
                <a:latin typeface="Times New Roman"/>
                <a:cs typeface="Times New Roman"/>
              </a:rPr>
              <a:t>and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14" dirty="0">
                <a:latin typeface="Times New Roman"/>
                <a:cs typeface="Times New Roman"/>
              </a:rPr>
              <a:t>contained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in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204" dirty="0">
                <a:latin typeface="Times New Roman"/>
                <a:cs typeface="Times New Roman"/>
              </a:rPr>
              <a:t>a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90" dirty="0">
                <a:latin typeface="Times New Roman"/>
                <a:cs typeface="Times New Roman"/>
              </a:rPr>
              <a:t>protective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80" dirty="0">
                <a:latin typeface="Times New Roman"/>
                <a:cs typeface="Times New Roman"/>
              </a:rPr>
              <a:t>tube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Times New Roman"/>
                <a:cs typeface="Times New Roman"/>
              </a:rPr>
              <a:t>suitable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-95" dirty="0">
                <a:latin typeface="Times New Roman"/>
                <a:cs typeface="Times New Roman"/>
              </a:rPr>
              <a:t>for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75" dirty="0">
                <a:latin typeface="Times New Roman"/>
                <a:cs typeface="Times New Roman"/>
              </a:rPr>
              <a:t>the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environment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00" dirty="0">
                <a:latin typeface="Times New Roman"/>
                <a:cs typeface="Times New Roman"/>
              </a:rPr>
              <a:t>where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spc="-75" dirty="0">
                <a:latin typeface="Times New Roman"/>
                <a:cs typeface="Times New Roman"/>
              </a:rPr>
              <a:t>the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cable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14" dirty="0">
                <a:latin typeface="Times New Roman"/>
                <a:cs typeface="Times New Roman"/>
              </a:rPr>
              <a:t>will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14" dirty="0">
                <a:latin typeface="Times New Roman"/>
                <a:cs typeface="Times New Roman"/>
              </a:rPr>
              <a:t>be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deployed.</a:t>
            </a:r>
            <a:endParaRPr sz="2600">
              <a:latin typeface="Times New Roman"/>
              <a:cs typeface="Times New Roman"/>
            </a:endParaRPr>
          </a:p>
          <a:p>
            <a:pPr marL="286385" marR="5080" indent="-274320">
              <a:lnSpc>
                <a:spcPct val="100000"/>
              </a:lnSpc>
              <a:spcBef>
                <a:spcPts val="605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105" dirty="0">
                <a:latin typeface="Times New Roman"/>
                <a:cs typeface="Times New Roman"/>
              </a:rPr>
              <a:t>Different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types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of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cable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00" dirty="0">
                <a:latin typeface="Times New Roman"/>
                <a:cs typeface="Times New Roman"/>
              </a:rPr>
              <a:t>are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30" dirty="0">
                <a:latin typeface="Times New Roman"/>
                <a:cs typeface="Times New Roman"/>
              </a:rPr>
              <a:t>used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95" dirty="0">
                <a:latin typeface="Times New Roman"/>
                <a:cs typeface="Times New Roman"/>
              </a:rPr>
              <a:t>for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00" dirty="0">
                <a:latin typeface="Times New Roman"/>
                <a:cs typeface="Times New Roman"/>
              </a:rPr>
              <a:t>different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14" dirty="0">
                <a:latin typeface="Times New Roman"/>
                <a:cs typeface="Times New Roman"/>
              </a:rPr>
              <a:t>applications, </a:t>
            </a:r>
            <a:r>
              <a:rPr sz="2600" spc="-110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f</a:t>
            </a:r>
            <a:r>
              <a:rPr sz="2600" spc="-190" dirty="0">
                <a:latin typeface="Times New Roman"/>
                <a:cs typeface="Times New Roman"/>
              </a:rPr>
              <a:t>o</a:t>
            </a:r>
            <a:r>
              <a:rPr sz="2600" spc="30" dirty="0">
                <a:latin typeface="Times New Roman"/>
                <a:cs typeface="Times New Roman"/>
              </a:rPr>
              <a:t>r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40" dirty="0">
                <a:latin typeface="Times New Roman"/>
                <a:cs typeface="Times New Roman"/>
              </a:rPr>
              <a:t>examp</a:t>
            </a:r>
            <a:r>
              <a:rPr sz="2600" spc="-85" dirty="0">
                <a:latin typeface="Times New Roman"/>
                <a:cs typeface="Times New Roman"/>
              </a:rPr>
              <a:t>l</a:t>
            </a:r>
            <a:r>
              <a:rPr sz="2600" spc="-100" dirty="0">
                <a:latin typeface="Times New Roman"/>
                <a:cs typeface="Times New Roman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00" dirty="0">
                <a:latin typeface="Times New Roman"/>
                <a:cs typeface="Times New Roman"/>
              </a:rPr>
              <a:t>lo</a:t>
            </a:r>
            <a:r>
              <a:rPr sz="2600" spc="-140" dirty="0">
                <a:latin typeface="Times New Roman"/>
                <a:cs typeface="Times New Roman"/>
              </a:rPr>
              <a:t>n</a:t>
            </a:r>
            <a:r>
              <a:rPr sz="2600" spc="-215" dirty="0">
                <a:latin typeface="Times New Roman"/>
                <a:cs typeface="Times New Roman"/>
              </a:rPr>
              <a:t>g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d</a:t>
            </a:r>
            <a:r>
              <a:rPr sz="2600" spc="-125" dirty="0">
                <a:latin typeface="Times New Roman"/>
                <a:cs typeface="Times New Roman"/>
              </a:rPr>
              <a:t>istan</a:t>
            </a:r>
            <a:r>
              <a:rPr sz="2600" spc="-160" dirty="0">
                <a:latin typeface="Times New Roman"/>
                <a:cs typeface="Times New Roman"/>
              </a:rPr>
              <a:t>c</a:t>
            </a:r>
            <a:r>
              <a:rPr sz="2600" spc="-100" dirty="0">
                <a:latin typeface="Times New Roman"/>
                <a:cs typeface="Times New Roman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u="heavy" spc="-80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Times New Roman"/>
                <a:cs typeface="Times New Roman"/>
                <a:hlinkClick r:id="rId4"/>
              </a:rPr>
              <a:t>tele</a:t>
            </a:r>
            <a:r>
              <a:rPr sz="2600" u="heavy" spc="-114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Times New Roman"/>
                <a:cs typeface="Times New Roman"/>
                <a:hlinkClick r:id="rId4"/>
              </a:rPr>
              <a:t>c</a:t>
            </a:r>
            <a:r>
              <a:rPr sz="2600" u="heavy" spc="-130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Times New Roman"/>
                <a:cs typeface="Times New Roman"/>
                <a:hlinkClick r:id="rId4"/>
              </a:rPr>
              <a:t>om</a:t>
            </a:r>
            <a:r>
              <a:rPr sz="2600" u="heavy" spc="-185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Times New Roman"/>
                <a:cs typeface="Times New Roman"/>
                <a:hlinkClick r:id="rId4"/>
              </a:rPr>
              <a:t>m</a:t>
            </a:r>
            <a:r>
              <a:rPr sz="2600" u="heavy" spc="-110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Times New Roman"/>
                <a:cs typeface="Times New Roman"/>
                <a:hlinkClick r:id="rId4"/>
              </a:rPr>
              <a:t>u</a:t>
            </a:r>
            <a:r>
              <a:rPr sz="2600" u="heavy" spc="-125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Times New Roman"/>
                <a:cs typeface="Times New Roman"/>
                <a:hlinkClick r:id="rId4"/>
              </a:rPr>
              <a:t>n</a:t>
            </a:r>
            <a:r>
              <a:rPr sz="2600" u="heavy" spc="-150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Times New Roman"/>
                <a:cs typeface="Times New Roman"/>
                <a:hlinkClick r:id="rId4"/>
              </a:rPr>
              <a:t>ic</a:t>
            </a:r>
            <a:r>
              <a:rPr sz="2600" u="heavy" spc="-215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Times New Roman"/>
                <a:cs typeface="Times New Roman"/>
                <a:hlinkClick r:id="rId4"/>
              </a:rPr>
              <a:t>a</a:t>
            </a:r>
            <a:r>
              <a:rPr sz="2600" u="heavy" spc="-70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Times New Roman"/>
                <a:cs typeface="Times New Roman"/>
                <a:hlinkClick r:id="rId4"/>
              </a:rPr>
              <a:t>tio</a:t>
            </a:r>
            <a:r>
              <a:rPr sz="2600" u="heavy" spc="-110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Times New Roman"/>
                <a:cs typeface="Times New Roman"/>
                <a:hlinkClick r:id="rId4"/>
              </a:rPr>
              <a:t>n</a:t>
            </a:r>
            <a:r>
              <a:rPr sz="2600" spc="110" dirty="0">
                <a:latin typeface="Times New Roman"/>
                <a:cs typeface="Times New Roman"/>
              </a:rPr>
              <a:t>,</a:t>
            </a:r>
            <a:r>
              <a:rPr sz="2600" spc="-155" dirty="0">
                <a:latin typeface="Times New Roman"/>
                <a:cs typeface="Times New Roman"/>
              </a:rPr>
              <a:t> </a:t>
            </a:r>
            <a:r>
              <a:rPr sz="2600" spc="-40" dirty="0">
                <a:latin typeface="Times New Roman"/>
                <a:cs typeface="Times New Roman"/>
              </a:rPr>
              <a:t>or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50" dirty="0">
                <a:latin typeface="Times New Roman"/>
                <a:cs typeface="Times New Roman"/>
              </a:rPr>
              <a:t>p</a:t>
            </a:r>
            <a:r>
              <a:rPr sz="2600" spc="-60" dirty="0">
                <a:latin typeface="Times New Roman"/>
                <a:cs typeface="Times New Roman"/>
              </a:rPr>
              <a:t>r</a:t>
            </a:r>
            <a:r>
              <a:rPr sz="2600" spc="-190" dirty="0">
                <a:latin typeface="Times New Roman"/>
                <a:cs typeface="Times New Roman"/>
              </a:rPr>
              <a:t>o</a:t>
            </a:r>
            <a:r>
              <a:rPr sz="2600" spc="-150" dirty="0">
                <a:latin typeface="Times New Roman"/>
                <a:cs typeface="Times New Roman"/>
              </a:rPr>
              <a:t>viding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45" dirty="0">
                <a:latin typeface="Times New Roman"/>
                <a:cs typeface="Times New Roman"/>
              </a:rPr>
              <a:t>a  </a:t>
            </a:r>
            <a:r>
              <a:rPr sz="2600" spc="-135" dirty="0">
                <a:latin typeface="Times New Roman"/>
                <a:cs typeface="Times New Roman"/>
              </a:rPr>
              <a:t>high-speed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spc="-130" dirty="0">
                <a:latin typeface="Times New Roman"/>
                <a:cs typeface="Times New Roman"/>
              </a:rPr>
              <a:t>data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connection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between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100" dirty="0">
                <a:latin typeface="Times New Roman"/>
                <a:cs typeface="Times New Roman"/>
              </a:rPr>
              <a:t>different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70" dirty="0">
                <a:latin typeface="Times New Roman"/>
                <a:cs typeface="Times New Roman"/>
              </a:rPr>
              <a:t>parts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of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204" dirty="0">
                <a:latin typeface="Times New Roman"/>
                <a:cs typeface="Times New Roman"/>
              </a:rPr>
              <a:t>a </a:t>
            </a:r>
            <a:r>
              <a:rPr sz="2600" spc="-200" dirty="0">
                <a:latin typeface="Times New Roman"/>
                <a:cs typeface="Times New Roman"/>
              </a:rPr>
              <a:t> </a:t>
            </a:r>
            <a:r>
              <a:rPr sz="2600" spc="-135" dirty="0">
                <a:latin typeface="Times New Roman"/>
                <a:cs typeface="Times New Roman"/>
              </a:rPr>
              <a:t>building.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4500" y="886713"/>
            <a:ext cx="256603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20" dirty="0"/>
              <a:t>Fiber</a:t>
            </a:r>
            <a:r>
              <a:rPr sz="4000" spc="-80" dirty="0"/>
              <a:t> </a:t>
            </a:r>
            <a:r>
              <a:rPr sz="4000" spc="-25" dirty="0"/>
              <a:t>Media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35940" y="2014855"/>
            <a:ext cx="7588884" cy="1525905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286385" marR="702310" indent="-274320">
              <a:lnSpc>
                <a:spcPct val="80000"/>
              </a:lnSpc>
              <a:spcBef>
                <a:spcPts val="725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95" dirty="0">
                <a:latin typeface="Times New Roman"/>
                <a:cs typeface="Times New Roman"/>
              </a:rPr>
              <a:t>Optical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14" dirty="0">
                <a:latin typeface="Times New Roman"/>
                <a:cs typeface="Times New Roman"/>
              </a:rPr>
              <a:t>fibers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35" dirty="0">
                <a:latin typeface="Times New Roman"/>
                <a:cs typeface="Times New Roman"/>
              </a:rPr>
              <a:t>use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light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Times New Roman"/>
                <a:cs typeface="Times New Roman"/>
              </a:rPr>
              <a:t>to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30" dirty="0">
                <a:latin typeface="Times New Roman"/>
                <a:cs typeface="Times New Roman"/>
              </a:rPr>
              <a:t>send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105" dirty="0">
                <a:latin typeface="Times New Roman"/>
                <a:cs typeface="Times New Roman"/>
              </a:rPr>
              <a:t>information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05" dirty="0">
                <a:latin typeface="Times New Roman"/>
                <a:cs typeface="Times New Roman"/>
              </a:rPr>
              <a:t>through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75" dirty="0">
                <a:latin typeface="Times New Roman"/>
                <a:cs typeface="Times New Roman"/>
              </a:rPr>
              <a:t>the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o</a:t>
            </a:r>
            <a:r>
              <a:rPr sz="2600" spc="-125" dirty="0">
                <a:latin typeface="Times New Roman"/>
                <a:cs typeface="Times New Roman"/>
              </a:rPr>
              <a:t>p</a:t>
            </a:r>
            <a:r>
              <a:rPr sz="2600" spc="-105" dirty="0">
                <a:latin typeface="Times New Roman"/>
                <a:cs typeface="Times New Roman"/>
              </a:rPr>
              <a:t>tic</a:t>
            </a:r>
            <a:r>
              <a:rPr sz="2600" spc="-155" dirty="0">
                <a:latin typeface="Times New Roman"/>
                <a:cs typeface="Times New Roman"/>
              </a:rPr>
              <a:t>a</a:t>
            </a:r>
            <a:r>
              <a:rPr sz="2600" spc="-100" dirty="0">
                <a:latin typeface="Times New Roman"/>
                <a:cs typeface="Times New Roman"/>
              </a:rPr>
              <a:t>l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95" dirty="0">
                <a:latin typeface="Times New Roman"/>
                <a:cs typeface="Times New Roman"/>
              </a:rPr>
              <a:t>medium.</a:t>
            </a:r>
            <a:endParaRPr sz="2600">
              <a:latin typeface="Times New Roman"/>
              <a:cs typeface="Times New Roman"/>
            </a:endParaRPr>
          </a:p>
          <a:p>
            <a:pPr marL="287020" indent="-274320">
              <a:lnSpc>
                <a:spcPts val="3085"/>
              </a:lnSpc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80" dirty="0">
                <a:latin typeface="Times New Roman"/>
                <a:cs typeface="Times New Roman"/>
              </a:rPr>
              <a:t>It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uses</a:t>
            </a:r>
            <a:r>
              <a:rPr sz="2600" spc="-75" dirty="0">
                <a:latin typeface="Times New Roman"/>
                <a:cs typeface="Times New Roman"/>
              </a:rPr>
              <a:t> the </a:t>
            </a:r>
            <a:r>
              <a:rPr sz="2600" spc="-110" dirty="0">
                <a:latin typeface="Times New Roman"/>
                <a:cs typeface="Times New Roman"/>
              </a:rPr>
              <a:t>principal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of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75" dirty="0">
                <a:latin typeface="Times New Roman"/>
                <a:cs typeface="Times New Roman"/>
              </a:rPr>
              <a:t>total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80" dirty="0">
                <a:latin typeface="Times New Roman"/>
                <a:cs typeface="Times New Roman"/>
              </a:rPr>
              <a:t>internal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80" dirty="0">
                <a:latin typeface="Times New Roman"/>
                <a:cs typeface="Times New Roman"/>
              </a:rPr>
              <a:t>reflection.</a:t>
            </a:r>
            <a:endParaRPr sz="2600">
              <a:latin typeface="Times New Roman"/>
              <a:cs typeface="Times New Roman"/>
            </a:endParaRPr>
          </a:p>
          <a:p>
            <a:pPr marL="287020" indent="-274320">
              <a:lnSpc>
                <a:spcPts val="3110"/>
              </a:lnSpc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130" dirty="0">
                <a:latin typeface="Times New Roman"/>
                <a:cs typeface="Times New Roman"/>
              </a:rPr>
              <a:t>Modulated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light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30" dirty="0">
                <a:latin typeface="Times New Roman"/>
                <a:cs typeface="Times New Roman"/>
              </a:rPr>
              <a:t>transmissions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00" dirty="0">
                <a:latin typeface="Times New Roman"/>
                <a:cs typeface="Times New Roman"/>
              </a:rPr>
              <a:t>are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30" dirty="0">
                <a:latin typeface="Times New Roman"/>
                <a:cs typeface="Times New Roman"/>
              </a:rPr>
              <a:t>used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Times New Roman"/>
                <a:cs typeface="Times New Roman"/>
              </a:rPr>
              <a:t>to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85" dirty="0">
                <a:latin typeface="Times New Roman"/>
                <a:cs typeface="Times New Roman"/>
              </a:rPr>
              <a:t>transmit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75" dirty="0">
                <a:latin typeface="Times New Roman"/>
                <a:cs typeface="Times New Roman"/>
              </a:rPr>
              <a:t>the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Times New Roman"/>
                <a:cs typeface="Times New Roman"/>
              </a:rPr>
              <a:t>signal.</a:t>
            </a:r>
            <a:endParaRPr sz="26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7983" y="4343400"/>
            <a:ext cx="6548216" cy="166932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4500" y="1115313"/>
            <a:ext cx="508127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0" dirty="0"/>
              <a:t>Total</a:t>
            </a:r>
            <a:r>
              <a:rPr sz="4000" spc="-30" dirty="0"/>
              <a:t> </a:t>
            </a:r>
            <a:r>
              <a:rPr sz="4000" spc="-50" dirty="0"/>
              <a:t>Internal</a:t>
            </a:r>
            <a:r>
              <a:rPr sz="4000" spc="-15" dirty="0"/>
              <a:t> </a:t>
            </a:r>
            <a:r>
              <a:rPr sz="4000" spc="-55" dirty="0"/>
              <a:t>Reflection</a:t>
            </a:r>
            <a:endParaRPr sz="4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2692400"/>
            <a:ext cx="8229600" cy="228196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4500" y="734313"/>
            <a:ext cx="256603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20" dirty="0"/>
              <a:t>Fiber</a:t>
            </a:r>
            <a:r>
              <a:rPr sz="4000" spc="-80" dirty="0"/>
              <a:t> </a:t>
            </a:r>
            <a:r>
              <a:rPr sz="4000" spc="-25" dirty="0"/>
              <a:t>Media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383540" y="1450594"/>
            <a:ext cx="7918450" cy="3953510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286385" marR="759460" indent="-274320">
              <a:lnSpc>
                <a:spcPct val="80000"/>
              </a:lnSpc>
              <a:spcBef>
                <a:spcPts val="725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150" dirty="0">
                <a:latin typeface="Times New Roman"/>
                <a:cs typeface="Times New Roman"/>
              </a:rPr>
              <a:t>Light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Times New Roman"/>
                <a:cs typeface="Times New Roman"/>
              </a:rPr>
              <a:t>travels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05" dirty="0">
                <a:latin typeface="Times New Roman"/>
                <a:cs typeface="Times New Roman"/>
              </a:rPr>
              <a:t>through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75" dirty="0">
                <a:latin typeface="Times New Roman"/>
                <a:cs typeface="Times New Roman"/>
              </a:rPr>
              <a:t>the </a:t>
            </a:r>
            <a:r>
              <a:rPr sz="2600" spc="-114" dirty="0">
                <a:latin typeface="Times New Roman"/>
                <a:cs typeface="Times New Roman"/>
              </a:rPr>
              <a:t>optical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145" dirty="0">
                <a:latin typeface="Times New Roman"/>
                <a:cs typeface="Times New Roman"/>
              </a:rPr>
              <a:t>media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204" dirty="0">
                <a:latin typeface="Times New Roman"/>
                <a:cs typeface="Times New Roman"/>
              </a:rPr>
              <a:t>by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80" dirty="0">
                <a:latin typeface="Times New Roman"/>
                <a:cs typeface="Times New Roman"/>
              </a:rPr>
              <a:t>the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229" dirty="0">
                <a:latin typeface="Times New Roman"/>
                <a:cs typeface="Times New Roman"/>
              </a:rPr>
              <a:t>way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of</a:t>
            </a:r>
            <a:r>
              <a:rPr sz="2600" spc="-75" dirty="0">
                <a:latin typeface="Times New Roman"/>
                <a:cs typeface="Times New Roman"/>
              </a:rPr>
              <a:t> total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-80" dirty="0">
                <a:latin typeface="Times New Roman"/>
                <a:cs typeface="Times New Roman"/>
              </a:rPr>
              <a:t>internal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80" dirty="0">
                <a:latin typeface="Times New Roman"/>
                <a:cs typeface="Times New Roman"/>
              </a:rPr>
              <a:t>reflection.</a:t>
            </a:r>
            <a:endParaRPr sz="2600">
              <a:latin typeface="Times New Roman"/>
              <a:cs typeface="Times New Roman"/>
            </a:endParaRPr>
          </a:p>
          <a:p>
            <a:pPr marL="287020" indent="-274320">
              <a:lnSpc>
                <a:spcPts val="3085"/>
              </a:lnSpc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265" dirty="0">
                <a:latin typeface="Times New Roman"/>
                <a:cs typeface="Times New Roman"/>
              </a:rPr>
              <a:t>M</a:t>
            </a:r>
            <a:r>
              <a:rPr sz="2600" spc="-160" dirty="0">
                <a:latin typeface="Times New Roman"/>
                <a:cs typeface="Times New Roman"/>
              </a:rPr>
              <a:t>o</a:t>
            </a:r>
            <a:r>
              <a:rPr sz="2600" spc="-110" dirty="0">
                <a:latin typeface="Times New Roman"/>
                <a:cs typeface="Times New Roman"/>
              </a:rPr>
              <a:t>d</a:t>
            </a:r>
            <a:r>
              <a:rPr sz="2600" spc="-125" dirty="0">
                <a:latin typeface="Times New Roman"/>
                <a:cs typeface="Times New Roman"/>
              </a:rPr>
              <a:t>ul</a:t>
            </a:r>
            <a:r>
              <a:rPr sz="2600" spc="-215" dirty="0">
                <a:latin typeface="Times New Roman"/>
                <a:cs typeface="Times New Roman"/>
              </a:rPr>
              <a:t>a</a:t>
            </a:r>
            <a:r>
              <a:rPr sz="2600" spc="-80" dirty="0">
                <a:latin typeface="Times New Roman"/>
                <a:cs typeface="Times New Roman"/>
              </a:rPr>
              <a:t>tion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65" dirty="0">
                <a:latin typeface="Times New Roman"/>
                <a:cs typeface="Times New Roman"/>
              </a:rPr>
              <a:t>s</a:t>
            </a:r>
            <a:r>
              <a:rPr sz="2600" spc="-150" dirty="0">
                <a:latin typeface="Times New Roman"/>
                <a:cs typeface="Times New Roman"/>
              </a:rPr>
              <a:t>c</a:t>
            </a:r>
            <a:r>
              <a:rPr sz="2600" spc="-130" dirty="0">
                <a:latin typeface="Times New Roman"/>
                <a:cs typeface="Times New Roman"/>
              </a:rPr>
              <a:t>heme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130" dirty="0">
                <a:latin typeface="Times New Roman"/>
                <a:cs typeface="Times New Roman"/>
              </a:rPr>
              <a:t>used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65" dirty="0">
                <a:latin typeface="Times New Roman"/>
                <a:cs typeface="Times New Roman"/>
              </a:rPr>
              <a:t>is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75" dirty="0">
                <a:latin typeface="Times New Roman"/>
                <a:cs typeface="Times New Roman"/>
              </a:rPr>
              <a:t>in</a:t>
            </a:r>
            <a:r>
              <a:rPr sz="2600" spc="-65" dirty="0">
                <a:latin typeface="Times New Roman"/>
                <a:cs typeface="Times New Roman"/>
              </a:rPr>
              <a:t>t</a:t>
            </a:r>
            <a:r>
              <a:rPr sz="2600" spc="-120" dirty="0">
                <a:latin typeface="Times New Roman"/>
                <a:cs typeface="Times New Roman"/>
              </a:rPr>
              <a:t>ensity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40" dirty="0">
                <a:latin typeface="Times New Roman"/>
                <a:cs typeface="Times New Roman"/>
              </a:rPr>
              <a:t>mo</a:t>
            </a:r>
            <a:r>
              <a:rPr sz="2600" spc="-120" dirty="0">
                <a:latin typeface="Times New Roman"/>
                <a:cs typeface="Times New Roman"/>
              </a:rPr>
              <a:t>d</a:t>
            </a:r>
            <a:r>
              <a:rPr sz="2600" spc="-130" dirty="0">
                <a:latin typeface="Times New Roman"/>
                <a:cs typeface="Times New Roman"/>
              </a:rPr>
              <a:t>ul</a:t>
            </a:r>
            <a:r>
              <a:rPr sz="2600" spc="-185" dirty="0">
                <a:latin typeface="Times New Roman"/>
                <a:cs typeface="Times New Roman"/>
              </a:rPr>
              <a:t>a</a:t>
            </a:r>
            <a:r>
              <a:rPr sz="2600" spc="-70" dirty="0">
                <a:latin typeface="Times New Roman"/>
                <a:cs typeface="Times New Roman"/>
              </a:rPr>
              <a:t>tio</a:t>
            </a:r>
            <a:r>
              <a:rPr sz="2600" spc="-114" dirty="0">
                <a:latin typeface="Times New Roman"/>
                <a:cs typeface="Times New Roman"/>
              </a:rPr>
              <a:t>n</a:t>
            </a:r>
            <a:r>
              <a:rPr sz="2600" spc="110" dirty="0">
                <a:latin typeface="Times New Roman"/>
                <a:cs typeface="Times New Roman"/>
              </a:rPr>
              <a:t>.</a:t>
            </a:r>
            <a:endParaRPr sz="2600">
              <a:latin typeface="Times New Roman"/>
              <a:cs typeface="Times New Roman"/>
            </a:endParaRPr>
          </a:p>
          <a:p>
            <a:pPr marL="287020" indent="-274320">
              <a:lnSpc>
                <a:spcPts val="3110"/>
              </a:lnSpc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395" dirty="0">
                <a:latin typeface="Times New Roman"/>
                <a:cs typeface="Times New Roman"/>
              </a:rPr>
              <a:t>T</a:t>
            </a:r>
            <a:r>
              <a:rPr sz="2600" spc="-240" dirty="0">
                <a:latin typeface="Times New Roman"/>
                <a:cs typeface="Times New Roman"/>
              </a:rPr>
              <a:t>w</a:t>
            </a:r>
            <a:r>
              <a:rPr sz="2600" spc="-110" dirty="0">
                <a:latin typeface="Times New Roman"/>
                <a:cs typeface="Times New Roman"/>
              </a:rPr>
              <a:t>o</a:t>
            </a:r>
            <a:r>
              <a:rPr sz="2600" spc="-65" dirty="0">
                <a:latin typeface="Times New Roman"/>
                <a:cs typeface="Times New Roman"/>
              </a:rPr>
              <a:t> t</a:t>
            </a:r>
            <a:r>
              <a:rPr sz="2600" spc="-130" dirty="0">
                <a:latin typeface="Times New Roman"/>
                <a:cs typeface="Times New Roman"/>
              </a:rPr>
              <a:t>y</a:t>
            </a:r>
            <a:r>
              <a:rPr sz="2600" spc="-135" dirty="0">
                <a:latin typeface="Times New Roman"/>
                <a:cs typeface="Times New Roman"/>
              </a:rPr>
              <a:t>pes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of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Fiber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45" dirty="0">
                <a:latin typeface="Times New Roman"/>
                <a:cs typeface="Times New Roman"/>
              </a:rPr>
              <a:t>medi</a:t>
            </a:r>
            <a:r>
              <a:rPr sz="2600" spc="-125" dirty="0">
                <a:latin typeface="Times New Roman"/>
                <a:cs typeface="Times New Roman"/>
              </a:rPr>
              <a:t>a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35" dirty="0">
                <a:latin typeface="Times New Roman"/>
                <a:cs typeface="Times New Roman"/>
              </a:rPr>
              <a:t>:</a:t>
            </a:r>
            <a:endParaRPr sz="2600">
              <a:latin typeface="Times New Roman"/>
              <a:cs typeface="Times New Roman"/>
            </a:endParaRPr>
          </a:p>
          <a:p>
            <a:pPr marL="802005" lvl="1" indent="-516255">
              <a:lnSpc>
                <a:spcPct val="100000"/>
              </a:lnSpc>
              <a:spcBef>
                <a:spcPts val="100"/>
              </a:spcBef>
              <a:buClr>
                <a:srgbClr val="D24717"/>
              </a:buClr>
              <a:buSzPct val="84090"/>
              <a:buAutoNum type="arabicPeriod"/>
              <a:tabLst>
                <a:tab pos="802005" algn="l"/>
                <a:tab pos="802640" algn="l"/>
              </a:tabLst>
            </a:pPr>
            <a:r>
              <a:rPr sz="2200" spc="-105" dirty="0">
                <a:latin typeface="Times New Roman"/>
                <a:cs typeface="Times New Roman"/>
              </a:rPr>
              <a:t>Multimode</a:t>
            </a:r>
            <a:endParaRPr sz="2200">
              <a:latin typeface="Times New Roman"/>
              <a:cs typeface="Times New Roman"/>
            </a:endParaRPr>
          </a:p>
          <a:p>
            <a:pPr marL="802005" lvl="1" indent="-516255">
              <a:lnSpc>
                <a:spcPts val="2615"/>
              </a:lnSpc>
              <a:spcBef>
                <a:spcPts val="75"/>
              </a:spcBef>
              <a:buClr>
                <a:srgbClr val="D24717"/>
              </a:buClr>
              <a:buSzPct val="84090"/>
              <a:buAutoNum type="arabicPeriod"/>
              <a:tabLst>
                <a:tab pos="802005" algn="l"/>
                <a:tab pos="802640" algn="l"/>
              </a:tabLst>
            </a:pPr>
            <a:r>
              <a:rPr sz="2200" spc="-130" dirty="0">
                <a:latin typeface="Times New Roman"/>
                <a:cs typeface="Times New Roman"/>
              </a:rPr>
              <a:t>Singlemode</a:t>
            </a:r>
            <a:endParaRPr sz="2200">
              <a:latin typeface="Times New Roman"/>
              <a:cs typeface="Times New Roman"/>
            </a:endParaRPr>
          </a:p>
          <a:p>
            <a:pPr marL="286385" marR="247650" indent="-274320">
              <a:lnSpc>
                <a:spcPts val="2500"/>
              </a:lnSpc>
              <a:spcBef>
                <a:spcPts val="575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125" dirty="0">
                <a:latin typeface="Times New Roman"/>
                <a:cs typeface="Times New Roman"/>
              </a:rPr>
              <a:t>Multimode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Fiber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60" dirty="0">
                <a:latin typeface="Times New Roman"/>
                <a:cs typeface="Times New Roman"/>
              </a:rPr>
              <a:t>can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70" dirty="0">
                <a:latin typeface="Times New Roman"/>
                <a:cs typeface="Times New Roman"/>
              </a:rPr>
              <a:t>support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55" dirty="0">
                <a:latin typeface="Times New Roman"/>
                <a:cs typeface="Times New Roman"/>
              </a:rPr>
              <a:t>less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Times New Roman"/>
                <a:cs typeface="Times New Roman"/>
              </a:rPr>
              <a:t>bandwidth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14" dirty="0">
                <a:latin typeface="Times New Roman"/>
                <a:cs typeface="Times New Roman"/>
              </a:rPr>
              <a:t>than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55" dirty="0">
                <a:latin typeface="Times New Roman"/>
                <a:cs typeface="Times New Roman"/>
              </a:rPr>
              <a:t>Singlemode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Fiber.</a:t>
            </a:r>
            <a:endParaRPr sz="2600">
              <a:latin typeface="Times New Roman"/>
              <a:cs typeface="Times New Roman"/>
            </a:endParaRPr>
          </a:p>
          <a:p>
            <a:pPr marL="286385" marR="5080" indent="-274320">
              <a:lnSpc>
                <a:spcPct val="80000"/>
              </a:lnSpc>
              <a:spcBef>
                <a:spcPts val="615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155" dirty="0">
                <a:latin typeface="Times New Roman"/>
                <a:cs typeface="Times New Roman"/>
              </a:rPr>
              <a:t>Singlemode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Fiber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90" dirty="0">
                <a:latin typeface="Times New Roman"/>
                <a:cs typeface="Times New Roman"/>
              </a:rPr>
              <a:t>has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204" dirty="0">
                <a:latin typeface="Times New Roman"/>
                <a:cs typeface="Times New Roman"/>
              </a:rPr>
              <a:t>a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35" dirty="0">
                <a:latin typeface="Times New Roman"/>
                <a:cs typeface="Times New Roman"/>
              </a:rPr>
              <a:t>very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small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95" dirty="0">
                <a:latin typeface="Times New Roman"/>
                <a:cs typeface="Times New Roman"/>
              </a:rPr>
              <a:t>core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45" dirty="0">
                <a:latin typeface="Times New Roman"/>
                <a:cs typeface="Times New Roman"/>
              </a:rPr>
              <a:t>and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90" dirty="0">
                <a:latin typeface="Times New Roman"/>
                <a:cs typeface="Times New Roman"/>
              </a:rPr>
              <a:t>carry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only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one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beam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of </a:t>
            </a:r>
            <a:r>
              <a:rPr sz="2600" spc="-80" dirty="0">
                <a:latin typeface="Times New Roman"/>
                <a:cs typeface="Times New Roman"/>
              </a:rPr>
              <a:t>light. It </a:t>
            </a:r>
            <a:r>
              <a:rPr sz="2600" spc="-160" dirty="0">
                <a:latin typeface="Times New Roman"/>
                <a:cs typeface="Times New Roman"/>
              </a:rPr>
              <a:t>can </a:t>
            </a:r>
            <a:r>
              <a:rPr sz="2600" spc="-75" dirty="0">
                <a:latin typeface="Times New Roman"/>
                <a:cs typeface="Times New Roman"/>
              </a:rPr>
              <a:t>support </a:t>
            </a:r>
            <a:r>
              <a:rPr sz="2600" spc="-155" dirty="0">
                <a:latin typeface="Times New Roman"/>
                <a:cs typeface="Times New Roman"/>
              </a:rPr>
              <a:t>Gbps </a:t>
            </a:r>
            <a:r>
              <a:rPr sz="2600" spc="-130" dirty="0">
                <a:latin typeface="Times New Roman"/>
                <a:cs typeface="Times New Roman"/>
              </a:rPr>
              <a:t>data </a:t>
            </a:r>
            <a:r>
              <a:rPr sz="2600" spc="-95" dirty="0">
                <a:latin typeface="Times New Roman"/>
                <a:cs typeface="Times New Roman"/>
              </a:rPr>
              <a:t>rates </a:t>
            </a:r>
            <a:r>
              <a:rPr sz="2600" spc="-135" dirty="0">
                <a:latin typeface="Times New Roman"/>
                <a:cs typeface="Times New Roman"/>
              </a:rPr>
              <a:t>over </a:t>
            </a:r>
            <a:r>
              <a:rPr sz="2600" spc="270" dirty="0">
                <a:latin typeface="Times New Roman"/>
                <a:cs typeface="Times New Roman"/>
              </a:rPr>
              <a:t>&gt; </a:t>
            </a:r>
            <a:r>
              <a:rPr sz="2600" spc="-114" dirty="0">
                <a:latin typeface="Times New Roman"/>
                <a:cs typeface="Times New Roman"/>
              </a:rPr>
              <a:t>100 </a:t>
            </a:r>
            <a:r>
              <a:rPr sz="2600" spc="-215" dirty="0">
                <a:latin typeface="Times New Roman"/>
                <a:cs typeface="Times New Roman"/>
              </a:rPr>
              <a:t>Km</a:t>
            </a:r>
            <a:r>
              <a:rPr sz="2600" spc="-210" dirty="0">
                <a:latin typeface="Times New Roman"/>
                <a:cs typeface="Times New Roman"/>
              </a:rPr>
              <a:t> </a:t>
            </a:r>
            <a:r>
              <a:rPr sz="2600" spc="-85" dirty="0">
                <a:latin typeface="Times New Roman"/>
                <a:cs typeface="Times New Roman"/>
              </a:rPr>
              <a:t>without 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Times New Roman"/>
                <a:cs typeface="Times New Roman"/>
              </a:rPr>
              <a:t>usi</a:t>
            </a:r>
            <a:r>
              <a:rPr sz="2600" spc="-175" dirty="0">
                <a:latin typeface="Times New Roman"/>
                <a:cs typeface="Times New Roman"/>
              </a:rPr>
              <a:t>n</a:t>
            </a:r>
            <a:r>
              <a:rPr sz="2600" spc="-215" dirty="0">
                <a:latin typeface="Times New Roman"/>
                <a:cs typeface="Times New Roman"/>
              </a:rPr>
              <a:t>g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r</a:t>
            </a:r>
            <a:r>
              <a:rPr sz="2600" spc="-100" dirty="0">
                <a:latin typeface="Times New Roman"/>
                <a:cs typeface="Times New Roman"/>
              </a:rPr>
              <a:t>e</a:t>
            </a:r>
            <a:r>
              <a:rPr sz="2600" spc="-120" dirty="0">
                <a:latin typeface="Times New Roman"/>
                <a:cs typeface="Times New Roman"/>
              </a:rPr>
              <a:t>p</a:t>
            </a:r>
            <a:r>
              <a:rPr sz="2600" spc="-150" dirty="0">
                <a:latin typeface="Times New Roman"/>
                <a:cs typeface="Times New Roman"/>
              </a:rPr>
              <a:t>e</a:t>
            </a:r>
            <a:r>
              <a:rPr sz="2600" spc="-180" dirty="0">
                <a:latin typeface="Times New Roman"/>
                <a:cs typeface="Times New Roman"/>
              </a:rPr>
              <a:t>a</a:t>
            </a:r>
            <a:r>
              <a:rPr sz="2600" spc="-10" dirty="0">
                <a:latin typeface="Times New Roman"/>
                <a:cs typeface="Times New Roman"/>
              </a:rPr>
              <a:t>te</a:t>
            </a:r>
            <a:r>
              <a:rPr sz="2600" spc="30" dirty="0">
                <a:latin typeface="Times New Roman"/>
                <a:cs typeface="Times New Roman"/>
              </a:rPr>
              <a:t>r</a:t>
            </a:r>
            <a:r>
              <a:rPr sz="2600" spc="-250" dirty="0">
                <a:latin typeface="Times New Roman"/>
                <a:cs typeface="Times New Roman"/>
              </a:rPr>
              <a:t>s</a:t>
            </a:r>
            <a:r>
              <a:rPr sz="2600" spc="110" dirty="0">
                <a:latin typeface="Times New Roman"/>
                <a:cs typeface="Times New Roman"/>
              </a:rPr>
              <a:t>.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4500" y="505409"/>
            <a:ext cx="590042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0" dirty="0"/>
              <a:t>Single</a:t>
            </a:r>
            <a:r>
              <a:rPr sz="4000" spc="-20" dirty="0"/>
              <a:t> and</a:t>
            </a:r>
            <a:r>
              <a:rPr sz="4000" spc="-25" dirty="0"/>
              <a:t> </a:t>
            </a:r>
            <a:r>
              <a:rPr sz="4000" spc="-55" dirty="0"/>
              <a:t>Multimode</a:t>
            </a:r>
            <a:r>
              <a:rPr sz="4000" spc="-10" dirty="0"/>
              <a:t> </a:t>
            </a:r>
            <a:r>
              <a:rPr sz="4000" spc="-20" dirty="0"/>
              <a:t>Fiber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35940" y="1450594"/>
            <a:ext cx="6939280" cy="18529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5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200" dirty="0">
                <a:latin typeface="Times New Roman"/>
                <a:cs typeface="Times New Roman"/>
              </a:rPr>
              <a:t>Sin</a:t>
            </a:r>
            <a:r>
              <a:rPr sz="2600" spc="-240" dirty="0">
                <a:latin typeface="Times New Roman"/>
                <a:cs typeface="Times New Roman"/>
              </a:rPr>
              <a:t>g</a:t>
            </a:r>
            <a:r>
              <a:rPr sz="2600" spc="-80" dirty="0">
                <a:latin typeface="Times New Roman"/>
                <a:cs typeface="Times New Roman"/>
              </a:rPr>
              <a:t>l</a:t>
            </a:r>
            <a:r>
              <a:rPr sz="2600" spc="-120" dirty="0">
                <a:latin typeface="Times New Roman"/>
                <a:cs typeface="Times New Roman"/>
              </a:rPr>
              <a:t>e</a:t>
            </a:r>
            <a:r>
              <a:rPr sz="2600" spc="-55" dirty="0">
                <a:latin typeface="Times New Roman"/>
                <a:cs typeface="Times New Roman"/>
              </a:rPr>
              <a:t>-</a:t>
            </a:r>
            <a:r>
              <a:rPr sz="2600" spc="-140" dirty="0">
                <a:latin typeface="Times New Roman"/>
                <a:cs typeface="Times New Roman"/>
              </a:rPr>
              <a:t>mo</a:t>
            </a:r>
            <a:r>
              <a:rPr sz="2600" spc="-120" dirty="0">
                <a:latin typeface="Times New Roman"/>
                <a:cs typeface="Times New Roman"/>
              </a:rPr>
              <a:t>d</a:t>
            </a:r>
            <a:r>
              <a:rPr sz="2600" spc="-100" dirty="0">
                <a:latin typeface="Times New Roman"/>
                <a:cs typeface="Times New Roman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05" dirty="0">
                <a:latin typeface="Times New Roman"/>
                <a:cs typeface="Times New Roman"/>
              </a:rPr>
              <a:t>fiber</a:t>
            </a:r>
            <a:endParaRPr sz="2600">
              <a:latin typeface="Times New Roman"/>
              <a:cs typeface="Times New Roman"/>
            </a:endParaRPr>
          </a:p>
          <a:p>
            <a:pPr marL="561340" lvl="1" indent="-275590">
              <a:lnSpc>
                <a:spcPct val="100000"/>
              </a:lnSpc>
              <a:spcBef>
                <a:spcPts val="95"/>
              </a:spcBef>
              <a:buClr>
                <a:srgbClr val="D24717"/>
              </a:buClr>
              <a:buSzPct val="84090"/>
              <a:buFont typeface="Segoe UI Symbol"/>
              <a:buChar char="⚫"/>
              <a:tabLst>
                <a:tab pos="561340" algn="l"/>
                <a:tab pos="561975" algn="l"/>
              </a:tabLst>
            </a:pPr>
            <a:r>
              <a:rPr sz="2200" spc="-180" dirty="0">
                <a:latin typeface="Times New Roman"/>
                <a:cs typeface="Times New Roman"/>
              </a:rPr>
              <a:t>C</a:t>
            </a:r>
            <a:r>
              <a:rPr sz="2200" spc="-114" dirty="0">
                <a:latin typeface="Times New Roman"/>
                <a:cs typeface="Times New Roman"/>
              </a:rPr>
              <a:t>a</a:t>
            </a:r>
            <a:r>
              <a:rPr sz="2200" spc="65" dirty="0">
                <a:latin typeface="Times New Roman"/>
                <a:cs typeface="Times New Roman"/>
              </a:rPr>
              <a:t>rr</a:t>
            </a:r>
            <a:r>
              <a:rPr sz="2200" spc="-125" dirty="0">
                <a:latin typeface="Times New Roman"/>
                <a:cs typeface="Times New Roman"/>
              </a:rPr>
              <a:t>ies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spc="-110" dirty="0">
                <a:latin typeface="Times New Roman"/>
                <a:cs typeface="Times New Roman"/>
              </a:rPr>
              <a:t>ligh</a:t>
            </a:r>
            <a:r>
              <a:rPr sz="2200" spc="-75" dirty="0">
                <a:latin typeface="Times New Roman"/>
                <a:cs typeface="Times New Roman"/>
              </a:rPr>
              <a:t>t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spc="-120" dirty="0">
                <a:latin typeface="Times New Roman"/>
                <a:cs typeface="Times New Roman"/>
              </a:rPr>
              <a:t>pulses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spc="-175" dirty="0">
                <a:latin typeface="Times New Roman"/>
                <a:cs typeface="Times New Roman"/>
              </a:rPr>
              <a:t>a</a:t>
            </a:r>
            <a:r>
              <a:rPr sz="2200" spc="-114" dirty="0">
                <a:latin typeface="Times New Roman"/>
                <a:cs typeface="Times New Roman"/>
              </a:rPr>
              <a:t>lon</a:t>
            </a:r>
            <a:r>
              <a:rPr sz="2200" spc="-130" dirty="0">
                <a:latin typeface="Times New Roman"/>
                <a:cs typeface="Times New Roman"/>
              </a:rPr>
              <a:t>g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125" dirty="0">
                <a:latin typeface="Times New Roman"/>
                <a:cs typeface="Times New Roman"/>
              </a:rPr>
              <a:t>single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spc="-145" dirty="0">
                <a:latin typeface="Times New Roman"/>
                <a:cs typeface="Times New Roman"/>
              </a:rPr>
              <a:t>p</a:t>
            </a:r>
            <a:r>
              <a:rPr sz="2200" spc="-150" dirty="0">
                <a:latin typeface="Times New Roman"/>
                <a:cs typeface="Times New Roman"/>
              </a:rPr>
              <a:t>a</a:t>
            </a:r>
            <a:r>
              <a:rPr sz="2200" spc="-55" dirty="0">
                <a:latin typeface="Times New Roman"/>
                <a:cs typeface="Times New Roman"/>
              </a:rPr>
              <a:t>th</a:t>
            </a:r>
            <a:endParaRPr sz="2200">
              <a:latin typeface="Times New Roman"/>
              <a:cs typeface="Times New Roman"/>
            </a:endParaRPr>
          </a:p>
          <a:p>
            <a:pPr marL="561340" lvl="1" indent="-275590">
              <a:lnSpc>
                <a:spcPts val="2615"/>
              </a:lnSpc>
              <a:spcBef>
                <a:spcPts val="75"/>
              </a:spcBef>
              <a:buClr>
                <a:srgbClr val="D24717"/>
              </a:buClr>
              <a:buSzPct val="84090"/>
              <a:buFont typeface="Segoe UI Symbol"/>
              <a:buChar char="⚫"/>
              <a:tabLst>
                <a:tab pos="561340" algn="l"/>
                <a:tab pos="561975" algn="l"/>
              </a:tabLst>
            </a:pPr>
            <a:r>
              <a:rPr sz="2200" spc="-140" dirty="0">
                <a:latin typeface="Times New Roman"/>
                <a:cs typeface="Times New Roman"/>
              </a:rPr>
              <a:t>Us</a:t>
            </a:r>
            <a:r>
              <a:rPr sz="2200" spc="-120" dirty="0">
                <a:latin typeface="Times New Roman"/>
                <a:cs typeface="Times New Roman"/>
              </a:rPr>
              <a:t>e</a:t>
            </a:r>
            <a:r>
              <a:rPr sz="2200" spc="-170" dirty="0">
                <a:latin typeface="Times New Roman"/>
                <a:cs typeface="Times New Roman"/>
              </a:rPr>
              <a:t>s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spc="-240" dirty="0">
                <a:latin typeface="Times New Roman"/>
                <a:cs typeface="Times New Roman"/>
              </a:rPr>
              <a:t>L</a:t>
            </a:r>
            <a:r>
              <a:rPr sz="2200" spc="-114" dirty="0">
                <a:latin typeface="Times New Roman"/>
                <a:cs typeface="Times New Roman"/>
              </a:rPr>
              <a:t>ase</a:t>
            </a:r>
            <a:r>
              <a:rPr sz="2200" spc="-85" dirty="0">
                <a:latin typeface="Times New Roman"/>
                <a:cs typeface="Times New Roman"/>
              </a:rPr>
              <a:t>r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spc="-245" dirty="0">
                <a:latin typeface="Times New Roman"/>
                <a:cs typeface="Times New Roman"/>
              </a:rPr>
              <a:t>L</a:t>
            </a:r>
            <a:r>
              <a:rPr sz="2200" spc="-105" dirty="0">
                <a:latin typeface="Times New Roman"/>
                <a:cs typeface="Times New Roman"/>
              </a:rPr>
              <a:t>ight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spc="-114" dirty="0">
                <a:latin typeface="Times New Roman"/>
                <a:cs typeface="Times New Roman"/>
              </a:rPr>
              <a:t>Source</a:t>
            </a:r>
            <a:endParaRPr sz="2200">
              <a:latin typeface="Times New Roman"/>
              <a:cs typeface="Times New Roman"/>
            </a:endParaRPr>
          </a:p>
          <a:p>
            <a:pPr marL="287020" indent="-274320">
              <a:lnSpc>
                <a:spcPts val="3095"/>
              </a:lnSpc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265" dirty="0">
                <a:latin typeface="Times New Roman"/>
                <a:cs typeface="Times New Roman"/>
              </a:rPr>
              <a:t>M</a:t>
            </a:r>
            <a:r>
              <a:rPr sz="2600" spc="-160" dirty="0">
                <a:latin typeface="Times New Roman"/>
                <a:cs typeface="Times New Roman"/>
              </a:rPr>
              <a:t>u</a:t>
            </a:r>
            <a:r>
              <a:rPr sz="2600" spc="-95" dirty="0">
                <a:latin typeface="Times New Roman"/>
                <a:cs typeface="Times New Roman"/>
              </a:rPr>
              <a:t>ltimo</a:t>
            </a:r>
            <a:r>
              <a:rPr sz="2600" spc="-125" dirty="0">
                <a:latin typeface="Times New Roman"/>
                <a:cs typeface="Times New Roman"/>
              </a:rPr>
              <a:t>d</a:t>
            </a:r>
            <a:r>
              <a:rPr sz="2600" spc="-100" dirty="0">
                <a:latin typeface="Times New Roman"/>
                <a:cs typeface="Times New Roman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05" dirty="0">
                <a:latin typeface="Times New Roman"/>
                <a:cs typeface="Times New Roman"/>
              </a:rPr>
              <a:t>fiber</a:t>
            </a:r>
            <a:endParaRPr sz="2600">
              <a:latin typeface="Times New Roman"/>
              <a:cs typeface="Times New Roman"/>
            </a:endParaRPr>
          </a:p>
          <a:p>
            <a:pPr marL="561340" lvl="1" indent="-275590">
              <a:lnSpc>
                <a:spcPct val="100000"/>
              </a:lnSpc>
              <a:spcBef>
                <a:spcPts val="100"/>
              </a:spcBef>
              <a:buClr>
                <a:srgbClr val="D24717"/>
              </a:buClr>
              <a:buSzPct val="84090"/>
              <a:buFont typeface="Segoe UI Symbol"/>
              <a:buChar char="⚫"/>
              <a:tabLst>
                <a:tab pos="561340" algn="l"/>
                <a:tab pos="561975" algn="l"/>
              </a:tabLst>
            </a:pPr>
            <a:r>
              <a:rPr sz="2200" spc="-195" dirty="0">
                <a:latin typeface="Times New Roman"/>
                <a:cs typeface="Times New Roman"/>
              </a:rPr>
              <a:t>Many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120" dirty="0">
                <a:latin typeface="Times New Roman"/>
                <a:cs typeface="Times New Roman"/>
              </a:rPr>
              <a:t>pulses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-130" dirty="0">
                <a:latin typeface="Times New Roman"/>
                <a:cs typeface="Times New Roman"/>
              </a:rPr>
              <a:t>of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105" dirty="0">
                <a:latin typeface="Times New Roman"/>
                <a:cs typeface="Times New Roman"/>
              </a:rPr>
              <a:t>light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-90" dirty="0">
                <a:latin typeface="Times New Roman"/>
                <a:cs typeface="Times New Roman"/>
              </a:rPr>
              <a:t>generated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180" dirty="0">
                <a:latin typeface="Times New Roman"/>
                <a:cs typeface="Times New Roman"/>
              </a:rPr>
              <a:t>by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-195" dirty="0">
                <a:latin typeface="Times New Roman"/>
                <a:cs typeface="Times New Roman"/>
              </a:rPr>
              <a:t>LED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-100" dirty="0">
                <a:latin typeface="Times New Roman"/>
                <a:cs typeface="Times New Roman"/>
              </a:rPr>
              <a:t>travel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85" dirty="0">
                <a:latin typeface="Times New Roman"/>
                <a:cs typeface="Times New Roman"/>
              </a:rPr>
              <a:t>at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spc="-85" dirty="0">
                <a:latin typeface="Times New Roman"/>
                <a:cs typeface="Times New Roman"/>
              </a:rPr>
              <a:t>different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140" dirty="0">
                <a:latin typeface="Times New Roman"/>
                <a:cs typeface="Times New Roman"/>
              </a:rPr>
              <a:t>angles</a:t>
            </a:r>
            <a:endParaRPr sz="22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3702336"/>
            <a:ext cx="7315200" cy="298310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4500" y="734313"/>
            <a:ext cx="256603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20" dirty="0"/>
              <a:t>Fiber</a:t>
            </a:r>
            <a:r>
              <a:rPr sz="4000" spc="-80" dirty="0"/>
              <a:t> </a:t>
            </a:r>
            <a:r>
              <a:rPr sz="4000" spc="-25" dirty="0"/>
              <a:t>Media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35940" y="1526794"/>
            <a:ext cx="8066405" cy="27063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7020" indent="-274320">
              <a:lnSpc>
                <a:spcPts val="3110"/>
              </a:lnSpc>
              <a:spcBef>
                <a:spcPts val="105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130" dirty="0">
                <a:latin typeface="Times New Roman"/>
                <a:cs typeface="Times New Roman"/>
              </a:rPr>
              <a:t>The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Times New Roman"/>
                <a:cs typeface="Times New Roman"/>
              </a:rPr>
              <a:t>bandwidth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of</a:t>
            </a:r>
            <a:r>
              <a:rPr sz="2600" spc="-75" dirty="0">
                <a:latin typeface="Times New Roman"/>
                <a:cs typeface="Times New Roman"/>
              </a:rPr>
              <a:t> the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05" dirty="0">
                <a:latin typeface="Times New Roman"/>
                <a:cs typeface="Times New Roman"/>
              </a:rPr>
              <a:t>fiber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165" dirty="0">
                <a:latin typeface="Times New Roman"/>
                <a:cs typeface="Times New Roman"/>
              </a:rPr>
              <a:t>is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00" dirty="0">
                <a:latin typeface="Times New Roman"/>
                <a:cs typeface="Times New Roman"/>
              </a:rPr>
              <a:t>limited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due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40" dirty="0">
                <a:latin typeface="Times New Roman"/>
                <a:cs typeface="Times New Roman"/>
              </a:rPr>
              <a:t>to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75" dirty="0">
                <a:latin typeface="Times New Roman"/>
                <a:cs typeface="Times New Roman"/>
              </a:rPr>
              <a:t>the </a:t>
            </a:r>
            <a:r>
              <a:rPr sz="2600" spc="-110" dirty="0">
                <a:latin typeface="Times New Roman"/>
                <a:cs typeface="Times New Roman"/>
              </a:rPr>
              <a:t>dispersion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90" dirty="0">
                <a:latin typeface="Times New Roman"/>
                <a:cs typeface="Times New Roman"/>
              </a:rPr>
              <a:t>effect.</a:t>
            </a:r>
            <a:endParaRPr sz="2600">
              <a:latin typeface="Times New Roman"/>
              <a:cs typeface="Times New Roman"/>
            </a:endParaRPr>
          </a:p>
          <a:p>
            <a:pPr marL="287020" indent="-274320">
              <a:lnSpc>
                <a:spcPts val="3095"/>
              </a:lnSpc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125" dirty="0">
                <a:latin typeface="Times New Roman"/>
                <a:cs typeface="Times New Roman"/>
              </a:rPr>
              <a:t>Distance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55" dirty="0">
                <a:latin typeface="Times New Roman"/>
                <a:cs typeface="Times New Roman"/>
              </a:rPr>
              <a:t>Bandwidth</a:t>
            </a:r>
            <a:r>
              <a:rPr sz="2600" spc="-85" dirty="0">
                <a:latin typeface="Times New Roman"/>
                <a:cs typeface="Times New Roman"/>
              </a:rPr>
              <a:t> product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of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204" dirty="0">
                <a:latin typeface="Times New Roman"/>
                <a:cs typeface="Times New Roman"/>
              </a:rPr>
              <a:t>a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05" dirty="0">
                <a:latin typeface="Times New Roman"/>
                <a:cs typeface="Times New Roman"/>
              </a:rPr>
              <a:t>fiber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60" dirty="0">
                <a:latin typeface="Times New Roman"/>
                <a:cs typeface="Times New Roman"/>
              </a:rPr>
              <a:t>is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Times New Roman"/>
                <a:cs typeface="Times New Roman"/>
              </a:rPr>
              <a:t>almost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204" dirty="0">
                <a:latin typeface="Times New Roman"/>
                <a:cs typeface="Times New Roman"/>
              </a:rPr>
              <a:t>a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85" dirty="0">
                <a:latin typeface="Times New Roman"/>
                <a:cs typeface="Times New Roman"/>
              </a:rPr>
              <a:t>constant.</a:t>
            </a:r>
            <a:endParaRPr sz="2600">
              <a:latin typeface="Times New Roman"/>
              <a:cs typeface="Times New Roman"/>
            </a:endParaRPr>
          </a:p>
          <a:p>
            <a:pPr marL="286385" marR="1011555" indent="-274320">
              <a:lnSpc>
                <a:spcPts val="2500"/>
              </a:lnSpc>
              <a:spcBef>
                <a:spcPts val="585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120" dirty="0">
                <a:latin typeface="Times New Roman"/>
                <a:cs typeface="Times New Roman"/>
              </a:rPr>
              <a:t>Fiber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95" dirty="0">
                <a:latin typeface="Times New Roman"/>
                <a:cs typeface="Times New Roman"/>
              </a:rPr>
              <a:t>optic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60" dirty="0">
                <a:latin typeface="Times New Roman"/>
                <a:cs typeface="Times New Roman"/>
              </a:rPr>
              <a:t>cables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Times New Roman"/>
                <a:cs typeface="Times New Roman"/>
              </a:rPr>
              <a:t>consist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of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00" dirty="0">
                <a:latin typeface="Times New Roman"/>
                <a:cs typeface="Times New Roman"/>
              </a:rPr>
              <a:t>multiple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14" dirty="0">
                <a:latin typeface="Times New Roman"/>
                <a:cs typeface="Times New Roman"/>
              </a:rPr>
              <a:t>fibers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40" dirty="0">
                <a:latin typeface="Times New Roman"/>
                <a:cs typeface="Times New Roman"/>
              </a:rPr>
              <a:t>packed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30" dirty="0">
                <a:latin typeface="Times New Roman"/>
                <a:cs typeface="Times New Roman"/>
              </a:rPr>
              <a:t>inside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-90" dirty="0">
                <a:latin typeface="Times New Roman"/>
                <a:cs typeface="Times New Roman"/>
              </a:rPr>
              <a:t>protective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35" dirty="0">
                <a:latin typeface="Times New Roman"/>
                <a:cs typeface="Times New Roman"/>
              </a:rPr>
              <a:t>covering.</a:t>
            </a:r>
            <a:endParaRPr sz="2600">
              <a:latin typeface="Times New Roman"/>
              <a:cs typeface="Times New Roman"/>
            </a:endParaRPr>
          </a:p>
          <a:p>
            <a:pPr marL="287020" indent="-274320">
              <a:lnSpc>
                <a:spcPts val="3100"/>
              </a:lnSpc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dirty="0">
                <a:latin typeface="Times New Roman"/>
                <a:cs typeface="Times New Roman"/>
              </a:rPr>
              <a:t>62.5/125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60" dirty="0">
                <a:latin typeface="Times New Roman"/>
                <a:cs typeface="Times New Roman"/>
              </a:rPr>
              <a:t>µm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30" dirty="0">
                <a:latin typeface="Times New Roman"/>
                <a:cs typeface="Times New Roman"/>
              </a:rPr>
              <a:t>(850/1310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105" dirty="0">
                <a:latin typeface="Times New Roman"/>
                <a:cs typeface="Times New Roman"/>
              </a:rPr>
              <a:t>nm)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multimode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fiber</a:t>
            </a:r>
            <a:endParaRPr sz="2600">
              <a:latin typeface="Times New Roman"/>
              <a:cs typeface="Times New Roman"/>
            </a:endParaRPr>
          </a:p>
          <a:p>
            <a:pPr marL="287020" indent="-274320">
              <a:lnSpc>
                <a:spcPts val="3095"/>
              </a:lnSpc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110" dirty="0">
                <a:latin typeface="Times New Roman"/>
                <a:cs typeface="Times New Roman"/>
              </a:rPr>
              <a:t>5</a:t>
            </a:r>
            <a:r>
              <a:rPr sz="2600" spc="-125" dirty="0">
                <a:latin typeface="Times New Roman"/>
                <a:cs typeface="Times New Roman"/>
              </a:rPr>
              <a:t>0</a:t>
            </a:r>
            <a:r>
              <a:rPr sz="2600" spc="65" dirty="0">
                <a:latin typeface="Times New Roman"/>
                <a:cs typeface="Times New Roman"/>
              </a:rPr>
              <a:t>/125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spc="-160" dirty="0">
                <a:latin typeface="Times New Roman"/>
                <a:cs typeface="Times New Roman"/>
              </a:rPr>
              <a:t>µm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85" dirty="0">
                <a:latin typeface="Times New Roman"/>
                <a:cs typeface="Times New Roman"/>
              </a:rPr>
              <a:t>(8</a:t>
            </a:r>
            <a:r>
              <a:rPr sz="2600" spc="-110" dirty="0">
                <a:latin typeface="Times New Roman"/>
                <a:cs typeface="Times New Roman"/>
              </a:rPr>
              <a:t>5</a:t>
            </a:r>
            <a:r>
              <a:rPr sz="2600" spc="60" dirty="0">
                <a:latin typeface="Times New Roman"/>
                <a:cs typeface="Times New Roman"/>
              </a:rPr>
              <a:t>0/1</a:t>
            </a:r>
            <a:r>
              <a:rPr sz="2600" spc="55" dirty="0">
                <a:latin typeface="Times New Roman"/>
                <a:cs typeface="Times New Roman"/>
              </a:rPr>
              <a:t>3</a:t>
            </a:r>
            <a:r>
              <a:rPr sz="2600" spc="-110" dirty="0">
                <a:latin typeface="Times New Roman"/>
                <a:cs typeface="Times New Roman"/>
              </a:rPr>
              <a:t>10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spc="-105" dirty="0">
                <a:latin typeface="Times New Roman"/>
                <a:cs typeface="Times New Roman"/>
              </a:rPr>
              <a:t>nm)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85" dirty="0">
                <a:latin typeface="Times New Roman"/>
                <a:cs typeface="Times New Roman"/>
              </a:rPr>
              <a:t>m</a:t>
            </a:r>
            <a:r>
              <a:rPr sz="2600" spc="-65" dirty="0">
                <a:latin typeface="Times New Roman"/>
                <a:cs typeface="Times New Roman"/>
              </a:rPr>
              <a:t>ul</a:t>
            </a:r>
            <a:r>
              <a:rPr sz="2600" spc="-60" dirty="0">
                <a:latin typeface="Times New Roman"/>
                <a:cs typeface="Times New Roman"/>
              </a:rPr>
              <a:t>t</a:t>
            </a:r>
            <a:r>
              <a:rPr sz="2600" spc="-125" dirty="0">
                <a:latin typeface="Times New Roman"/>
                <a:cs typeface="Times New Roman"/>
              </a:rPr>
              <a:t>imo</a:t>
            </a:r>
            <a:r>
              <a:rPr sz="2600" spc="-135" dirty="0">
                <a:latin typeface="Times New Roman"/>
                <a:cs typeface="Times New Roman"/>
              </a:rPr>
              <a:t>d</a:t>
            </a:r>
            <a:r>
              <a:rPr sz="2600" spc="-100" dirty="0">
                <a:latin typeface="Times New Roman"/>
                <a:cs typeface="Times New Roman"/>
              </a:rPr>
              <a:t>e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30" dirty="0">
                <a:latin typeface="Times New Roman"/>
                <a:cs typeface="Times New Roman"/>
              </a:rPr>
              <a:t>fib</a:t>
            </a:r>
            <a:r>
              <a:rPr sz="2600" spc="-170" dirty="0">
                <a:latin typeface="Times New Roman"/>
                <a:cs typeface="Times New Roman"/>
              </a:rPr>
              <a:t>e</a:t>
            </a:r>
            <a:r>
              <a:rPr sz="2600" spc="30" dirty="0">
                <a:latin typeface="Times New Roman"/>
                <a:cs typeface="Times New Roman"/>
              </a:rPr>
              <a:t>r</a:t>
            </a:r>
            <a:endParaRPr sz="2600">
              <a:latin typeface="Times New Roman"/>
              <a:cs typeface="Times New Roman"/>
            </a:endParaRPr>
          </a:p>
          <a:p>
            <a:pPr marL="287020" indent="-274320">
              <a:lnSpc>
                <a:spcPts val="3110"/>
              </a:lnSpc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110" dirty="0">
                <a:latin typeface="Times New Roman"/>
                <a:cs typeface="Times New Roman"/>
              </a:rPr>
              <a:t>10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60" dirty="0">
                <a:latin typeface="Times New Roman"/>
                <a:cs typeface="Times New Roman"/>
              </a:rPr>
              <a:t>µm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85" dirty="0">
                <a:latin typeface="Times New Roman"/>
                <a:cs typeface="Times New Roman"/>
              </a:rPr>
              <a:t>(1</a:t>
            </a:r>
            <a:r>
              <a:rPr sz="2600" spc="-114" dirty="0">
                <a:latin typeface="Times New Roman"/>
                <a:cs typeface="Times New Roman"/>
              </a:rPr>
              <a:t>3</a:t>
            </a:r>
            <a:r>
              <a:rPr sz="2600" spc="-110" dirty="0">
                <a:latin typeface="Times New Roman"/>
                <a:cs typeface="Times New Roman"/>
              </a:rPr>
              <a:t>10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05" dirty="0">
                <a:latin typeface="Times New Roman"/>
                <a:cs typeface="Times New Roman"/>
              </a:rPr>
              <a:t>nm)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40" dirty="0">
                <a:latin typeface="Times New Roman"/>
                <a:cs typeface="Times New Roman"/>
              </a:rPr>
              <a:t>singl</a:t>
            </a:r>
            <a:r>
              <a:rPr sz="2600" spc="-165" dirty="0">
                <a:latin typeface="Times New Roman"/>
                <a:cs typeface="Times New Roman"/>
              </a:rPr>
              <a:t>e</a:t>
            </a:r>
            <a:r>
              <a:rPr sz="2600" spc="-55" dirty="0">
                <a:latin typeface="Times New Roman"/>
                <a:cs typeface="Times New Roman"/>
              </a:rPr>
              <a:t>-</a:t>
            </a:r>
            <a:r>
              <a:rPr sz="2600" spc="-140" dirty="0">
                <a:latin typeface="Times New Roman"/>
                <a:cs typeface="Times New Roman"/>
              </a:rPr>
              <a:t>mo</a:t>
            </a:r>
            <a:r>
              <a:rPr sz="2600" spc="-120" dirty="0">
                <a:latin typeface="Times New Roman"/>
                <a:cs typeface="Times New Roman"/>
              </a:rPr>
              <a:t>d</a:t>
            </a:r>
            <a:r>
              <a:rPr sz="2600" spc="-100" dirty="0">
                <a:latin typeface="Times New Roman"/>
                <a:cs typeface="Times New Roman"/>
              </a:rPr>
              <a:t>e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05" dirty="0">
                <a:latin typeface="Times New Roman"/>
                <a:cs typeface="Times New Roman"/>
              </a:rPr>
              <a:t>fiber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4500" y="581609"/>
            <a:ext cx="366395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35" dirty="0"/>
              <a:t>Fiber-Optic</a:t>
            </a:r>
            <a:r>
              <a:rPr sz="4000" spc="-45" dirty="0"/>
              <a:t> </a:t>
            </a:r>
            <a:r>
              <a:rPr sz="4000" spc="-35" dirty="0"/>
              <a:t>Cable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35940" y="1526794"/>
            <a:ext cx="5906770" cy="8159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7020" indent="-274320">
              <a:lnSpc>
                <a:spcPts val="3110"/>
              </a:lnSpc>
              <a:spcBef>
                <a:spcPts val="105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110" dirty="0">
                <a:latin typeface="Times New Roman"/>
                <a:cs typeface="Times New Roman"/>
              </a:rPr>
              <a:t>Cont</a:t>
            </a:r>
            <a:r>
              <a:rPr sz="2600" spc="-114" dirty="0">
                <a:latin typeface="Times New Roman"/>
                <a:cs typeface="Times New Roman"/>
              </a:rPr>
              <a:t>a</a:t>
            </a:r>
            <a:r>
              <a:rPr sz="2600" spc="-145" dirty="0">
                <a:latin typeface="Times New Roman"/>
                <a:cs typeface="Times New Roman"/>
              </a:rPr>
              <a:t>ins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05" dirty="0">
                <a:latin typeface="Times New Roman"/>
                <a:cs typeface="Times New Roman"/>
              </a:rPr>
              <a:t>one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40" dirty="0">
                <a:latin typeface="Times New Roman"/>
                <a:cs typeface="Times New Roman"/>
              </a:rPr>
              <a:t>or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40" dirty="0">
                <a:latin typeface="Times New Roman"/>
                <a:cs typeface="Times New Roman"/>
              </a:rPr>
              <a:t>s</a:t>
            </a:r>
            <a:r>
              <a:rPr sz="2600" spc="-195" dirty="0">
                <a:latin typeface="Times New Roman"/>
                <a:cs typeface="Times New Roman"/>
              </a:rPr>
              <a:t>e</a:t>
            </a:r>
            <a:r>
              <a:rPr sz="2600" spc="-270" dirty="0">
                <a:latin typeface="Times New Roman"/>
                <a:cs typeface="Times New Roman"/>
              </a:rPr>
              <a:t>v</a:t>
            </a:r>
            <a:r>
              <a:rPr sz="2600" spc="-95" dirty="0">
                <a:latin typeface="Times New Roman"/>
                <a:cs typeface="Times New Roman"/>
              </a:rPr>
              <a:t>eral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65" dirty="0">
                <a:latin typeface="Times New Roman"/>
                <a:cs typeface="Times New Roman"/>
              </a:rPr>
              <a:t>gl</a:t>
            </a:r>
            <a:r>
              <a:rPr sz="2600" spc="-204" dirty="0">
                <a:latin typeface="Times New Roman"/>
                <a:cs typeface="Times New Roman"/>
              </a:rPr>
              <a:t>a</a:t>
            </a:r>
            <a:r>
              <a:rPr sz="2600" spc="-200" dirty="0">
                <a:latin typeface="Times New Roman"/>
                <a:cs typeface="Times New Roman"/>
              </a:rPr>
              <a:t>ss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fibe</a:t>
            </a:r>
            <a:r>
              <a:rPr sz="2600" spc="-45" dirty="0">
                <a:latin typeface="Times New Roman"/>
                <a:cs typeface="Times New Roman"/>
              </a:rPr>
              <a:t>r</a:t>
            </a:r>
            <a:r>
              <a:rPr sz="2600" spc="-200" dirty="0">
                <a:latin typeface="Times New Roman"/>
                <a:cs typeface="Times New Roman"/>
              </a:rPr>
              <a:t>s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229" dirty="0">
                <a:latin typeface="Times New Roman"/>
                <a:cs typeface="Times New Roman"/>
              </a:rPr>
              <a:t>a</a:t>
            </a:r>
            <a:r>
              <a:rPr sz="2600" spc="35" dirty="0">
                <a:latin typeface="Times New Roman"/>
                <a:cs typeface="Times New Roman"/>
              </a:rPr>
              <a:t>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95" dirty="0">
                <a:latin typeface="Times New Roman"/>
                <a:cs typeface="Times New Roman"/>
              </a:rPr>
              <a:t>its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Times New Roman"/>
                <a:cs typeface="Times New Roman"/>
              </a:rPr>
              <a:t>c</a:t>
            </a:r>
            <a:r>
              <a:rPr sz="2600" spc="-150" dirty="0">
                <a:latin typeface="Times New Roman"/>
                <a:cs typeface="Times New Roman"/>
              </a:rPr>
              <a:t>o</a:t>
            </a:r>
            <a:r>
              <a:rPr sz="2600" spc="5" dirty="0">
                <a:latin typeface="Times New Roman"/>
                <a:cs typeface="Times New Roman"/>
              </a:rPr>
              <a:t>r</a:t>
            </a:r>
            <a:r>
              <a:rPr sz="2600" spc="-100" dirty="0">
                <a:latin typeface="Times New Roman"/>
                <a:cs typeface="Times New Roman"/>
              </a:rPr>
              <a:t>e</a:t>
            </a:r>
            <a:endParaRPr sz="2600">
              <a:latin typeface="Times New Roman"/>
              <a:cs typeface="Times New Roman"/>
            </a:endParaRPr>
          </a:p>
          <a:p>
            <a:pPr marL="287020" indent="-274320">
              <a:lnSpc>
                <a:spcPts val="3110"/>
              </a:lnSpc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120" dirty="0">
                <a:latin typeface="Times New Roman"/>
                <a:cs typeface="Times New Roman"/>
              </a:rPr>
              <a:t>Surrounding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75" dirty="0">
                <a:latin typeface="Times New Roman"/>
                <a:cs typeface="Times New Roman"/>
              </a:rPr>
              <a:t>the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14" dirty="0">
                <a:latin typeface="Times New Roman"/>
                <a:cs typeface="Times New Roman"/>
              </a:rPr>
              <a:t>fibers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65" dirty="0">
                <a:latin typeface="Times New Roman"/>
                <a:cs typeface="Times New Roman"/>
              </a:rPr>
              <a:t>is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204" dirty="0">
                <a:latin typeface="Times New Roman"/>
                <a:cs typeface="Times New Roman"/>
              </a:rPr>
              <a:t>a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layer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130" dirty="0">
                <a:latin typeface="Times New Roman"/>
                <a:cs typeface="Times New Roman"/>
              </a:rPr>
              <a:t>called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45" dirty="0">
                <a:latin typeface="Times New Roman"/>
                <a:cs typeface="Times New Roman"/>
              </a:rPr>
              <a:t>cladding</a:t>
            </a:r>
            <a:endParaRPr sz="26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30692" y="3276600"/>
            <a:ext cx="5736907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4500" y="353009"/>
            <a:ext cx="367601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25" dirty="0"/>
              <a:t>Fiber</a:t>
            </a:r>
            <a:r>
              <a:rPr sz="4000" spc="-10" dirty="0"/>
              <a:t> </a:t>
            </a:r>
            <a:r>
              <a:rPr sz="4000" spc="-45" dirty="0"/>
              <a:t>Optic</a:t>
            </a:r>
            <a:r>
              <a:rPr sz="4000" spc="-20" dirty="0"/>
              <a:t> </a:t>
            </a:r>
            <a:r>
              <a:rPr sz="4000" spc="-35" dirty="0"/>
              <a:t>Cable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917244" y="1154938"/>
            <a:ext cx="47853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0"/>
              </a:spcBef>
              <a:buClr>
                <a:srgbClr val="D24717"/>
              </a:buClr>
              <a:buSzPct val="85416"/>
              <a:buFont typeface="Segoe UI Symbol"/>
              <a:buChar char="⚫"/>
              <a:tabLst>
                <a:tab pos="286385" algn="l"/>
                <a:tab pos="287020" algn="l"/>
              </a:tabLst>
            </a:pPr>
            <a:r>
              <a:rPr sz="2400" spc="-110" dirty="0">
                <a:latin typeface="Times New Roman"/>
                <a:cs typeface="Times New Roman"/>
              </a:rPr>
              <a:t>FO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60" dirty="0">
                <a:latin typeface="Times New Roman"/>
                <a:cs typeface="Times New Roman"/>
              </a:rPr>
              <a:t>Ca</a:t>
            </a:r>
            <a:r>
              <a:rPr sz="2400" spc="-175" dirty="0">
                <a:latin typeface="Times New Roman"/>
                <a:cs typeface="Times New Roman"/>
              </a:rPr>
              <a:t>b</a:t>
            </a:r>
            <a:r>
              <a:rPr sz="2400" spc="-75" dirty="0">
                <a:latin typeface="Times New Roman"/>
                <a:cs typeface="Times New Roman"/>
              </a:rPr>
              <a:t>l</a:t>
            </a:r>
            <a:r>
              <a:rPr sz="2400" spc="-114" dirty="0">
                <a:latin typeface="Times New Roman"/>
                <a:cs typeface="Times New Roman"/>
              </a:rPr>
              <a:t>e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215" dirty="0">
                <a:latin typeface="Times New Roman"/>
                <a:cs typeface="Times New Roman"/>
              </a:rPr>
              <a:t>m</a:t>
            </a:r>
            <a:r>
              <a:rPr sz="2400" spc="-204" dirty="0">
                <a:latin typeface="Times New Roman"/>
                <a:cs typeface="Times New Roman"/>
              </a:rPr>
              <a:t>a</a:t>
            </a:r>
            <a:r>
              <a:rPr sz="2400" spc="-200" dirty="0">
                <a:latin typeface="Times New Roman"/>
                <a:cs typeface="Times New Roman"/>
              </a:rPr>
              <a:t>y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180" dirty="0">
                <a:latin typeface="Times New Roman"/>
                <a:cs typeface="Times New Roman"/>
              </a:rPr>
              <a:t>h</a:t>
            </a:r>
            <a:r>
              <a:rPr sz="2400" spc="-229" dirty="0">
                <a:latin typeface="Times New Roman"/>
                <a:cs typeface="Times New Roman"/>
              </a:rPr>
              <a:t>a</a:t>
            </a:r>
            <a:r>
              <a:rPr sz="2400" spc="-254" dirty="0">
                <a:latin typeface="Times New Roman"/>
                <a:cs typeface="Times New Roman"/>
              </a:rPr>
              <a:t>v</a:t>
            </a:r>
            <a:r>
              <a:rPr sz="2400" spc="-95" dirty="0">
                <a:latin typeface="Times New Roman"/>
                <a:cs typeface="Times New Roman"/>
              </a:rPr>
              <a:t>e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1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35" dirty="0">
                <a:latin typeface="Times New Roman"/>
                <a:cs typeface="Times New Roman"/>
              </a:rPr>
              <a:t>to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75" dirty="0">
                <a:latin typeface="Times New Roman"/>
                <a:cs typeface="Times New Roman"/>
              </a:rPr>
              <a:t>o</a:t>
            </a:r>
            <a:r>
              <a:rPr sz="2400" spc="-254" dirty="0">
                <a:latin typeface="Times New Roman"/>
                <a:cs typeface="Times New Roman"/>
              </a:rPr>
              <a:t>v</a:t>
            </a:r>
            <a:r>
              <a:rPr sz="2400" spc="-35" dirty="0">
                <a:latin typeface="Times New Roman"/>
                <a:cs typeface="Times New Roman"/>
              </a:rPr>
              <a:t>er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1</a:t>
            </a:r>
            <a:r>
              <a:rPr sz="2400" spc="-100" dirty="0">
                <a:latin typeface="Times New Roman"/>
                <a:cs typeface="Times New Roman"/>
              </a:rPr>
              <a:t>0</a:t>
            </a:r>
            <a:r>
              <a:rPr sz="2400" spc="-105" dirty="0">
                <a:latin typeface="Times New Roman"/>
                <a:cs typeface="Times New Roman"/>
              </a:rPr>
              <a:t>00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fibe</a:t>
            </a:r>
            <a:r>
              <a:rPr sz="2400" spc="-40" dirty="0">
                <a:latin typeface="Times New Roman"/>
                <a:cs typeface="Times New Roman"/>
              </a:rPr>
              <a:t>r</a:t>
            </a:r>
            <a:r>
              <a:rPr sz="2400" spc="-185" dirty="0">
                <a:latin typeface="Times New Roman"/>
                <a:cs typeface="Times New Roman"/>
              </a:rPr>
              <a:t>s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533650" y="2000186"/>
            <a:ext cx="4152900" cy="4389755"/>
            <a:chOff x="2533650" y="2000186"/>
            <a:chExt cx="4152900" cy="438975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90800" y="2057463"/>
              <a:ext cx="4038600" cy="427507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562225" y="2028761"/>
              <a:ext cx="4095750" cy="4332605"/>
            </a:xfrm>
            <a:custGeom>
              <a:avLst/>
              <a:gdLst/>
              <a:ahLst/>
              <a:cxnLst/>
              <a:rect l="l" t="t" r="r" b="b"/>
              <a:pathLst>
                <a:path w="4095750" h="4332605">
                  <a:moveTo>
                    <a:pt x="0" y="4332351"/>
                  </a:moveTo>
                  <a:lnTo>
                    <a:pt x="4095750" y="4332351"/>
                  </a:lnTo>
                  <a:lnTo>
                    <a:pt x="4095750" y="0"/>
                  </a:lnTo>
                  <a:lnTo>
                    <a:pt x="0" y="0"/>
                  </a:lnTo>
                  <a:lnTo>
                    <a:pt x="0" y="4332351"/>
                  </a:lnTo>
                  <a:close/>
                </a:path>
              </a:pathLst>
            </a:custGeom>
            <a:ln w="571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688974"/>
            <a:ext cx="3456304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60" dirty="0"/>
              <a:t>Radio</a:t>
            </a:r>
            <a:r>
              <a:rPr sz="4000" spc="-50" dirty="0"/>
              <a:t> Spectrum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993444" y="1433830"/>
            <a:ext cx="7335520" cy="2952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332105" indent="-274320">
              <a:lnSpc>
                <a:spcPct val="100000"/>
              </a:lnSpc>
              <a:spcBef>
                <a:spcPts val="105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130" dirty="0">
                <a:latin typeface="Times New Roman"/>
                <a:cs typeface="Times New Roman"/>
              </a:rPr>
              <a:t>The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b="1" spc="-55" dirty="0">
                <a:latin typeface="Times New Roman"/>
                <a:cs typeface="Times New Roman"/>
              </a:rPr>
              <a:t>ra</a:t>
            </a:r>
            <a:r>
              <a:rPr sz="2600" b="1" spc="-70" dirty="0">
                <a:latin typeface="Times New Roman"/>
                <a:cs typeface="Times New Roman"/>
              </a:rPr>
              <a:t>d</a:t>
            </a:r>
            <a:r>
              <a:rPr sz="2600" b="1" spc="70" dirty="0">
                <a:latin typeface="Times New Roman"/>
                <a:cs typeface="Times New Roman"/>
              </a:rPr>
              <a:t>io</a:t>
            </a:r>
            <a:r>
              <a:rPr sz="2600" b="1" spc="-65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spect</a:t>
            </a:r>
            <a:r>
              <a:rPr sz="2600" b="1" spc="65" dirty="0">
                <a:latin typeface="Times New Roman"/>
                <a:cs typeface="Times New Roman"/>
              </a:rPr>
              <a:t>r</a:t>
            </a:r>
            <a:r>
              <a:rPr sz="2600" b="1" spc="-30" dirty="0">
                <a:latin typeface="Times New Roman"/>
                <a:cs typeface="Times New Roman"/>
              </a:rPr>
              <a:t>um</a:t>
            </a:r>
            <a:r>
              <a:rPr sz="2600" b="1" spc="-60" dirty="0">
                <a:latin typeface="Times New Roman"/>
                <a:cs typeface="Times New Roman"/>
              </a:rPr>
              <a:t> </a:t>
            </a:r>
            <a:r>
              <a:rPr sz="2600" spc="-165" dirty="0">
                <a:latin typeface="Times New Roman"/>
                <a:cs typeface="Times New Roman"/>
              </a:rPr>
              <a:t>is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20" dirty="0">
                <a:latin typeface="Times New Roman"/>
                <a:cs typeface="Times New Roman"/>
              </a:rPr>
              <a:t>t</a:t>
            </a:r>
            <a:r>
              <a:rPr sz="2600" spc="-130" dirty="0">
                <a:latin typeface="Times New Roman"/>
                <a:cs typeface="Times New Roman"/>
              </a:rPr>
              <a:t>he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05" dirty="0">
                <a:latin typeface="Times New Roman"/>
                <a:cs typeface="Times New Roman"/>
              </a:rPr>
              <a:t>pa</a:t>
            </a:r>
            <a:r>
              <a:rPr sz="2600" spc="15" dirty="0">
                <a:latin typeface="Times New Roman"/>
                <a:cs typeface="Times New Roman"/>
              </a:rPr>
              <a:t>r</a:t>
            </a:r>
            <a:r>
              <a:rPr sz="2600" spc="35" dirty="0">
                <a:latin typeface="Times New Roman"/>
                <a:cs typeface="Times New Roman"/>
              </a:rPr>
              <a:t>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of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75" dirty="0">
                <a:latin typeface="Times New Roman"/>
                <a:cs typeface="Times New Roman"/>
              </a:rPr>
              <a:t>the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u="heavy" spc="-110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Times New Roman"/>
                <a:cs typeface="Times New Roman"/>
                <a:hlinkClick r:id="rId2"/>
              </a:rPr>
              <a:t>ele</a:t>
            </a:r>
            <a:r>
              <a:rPr sz="2600" u="heavy" spc="-135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Times New Roman"/>
                <a:cs typeface="Times New Roman"/>
                <a:hlinkClick r:id="rId2"/>
              </a:rPr>
              <a:t>c</a:t>
            </a:r>
            <a:r>
              <a:rPr sz="2600" u="heavy" spc="30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Times New Roman"/>
                <a:cs typeface="Times New Roman"/>
                <a:hlinkClick r:id="rId2"/>
              </a:rPr>
              <a:t>t</a:t>
            </a:r>
            <a:r>
              <a:rPr sz="2600" u="heavy" spc="10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Times New Roman"/>
                <a:cs typeface="Times New Roman"/>
                <a:hlinkClick r:id="rId2"/>
              </a:rPr>
              <a:t>r</a:t>
            </a:r>
            <a:r>
              <a:rPr sz="2600" u="heavy" spc="-175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Times New Roman"/>
                <a:cs typeface="Times New Roman"/>
                <a:hlinkClick r:id="rId2"/>
              </a:rPr>
              <a:t>oma</a:t>
            </a:r>
            <a:r>
              <a:rPr sz="2600" u="heavy" spc="-170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Times New Roman"/>
                <a:cs typeface="Times New Roman"/>
                <a:hlinkClick r:id="rId2"/>
              </a:rPr>
              <a:t>g</a:t>
            </a:r>
            <a:r>
              <a:rPr sz="2600" u="heavy" spc="-65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Times New Roman"/>
                <a:cs typeface="Times New Roman"/>
                <a:hlinkClick r:id="rId2"/>
              </a:rPr>
              <a:t>ne</a:t>
            </a:r>
            <a:r>
              <a:rPr sz="2600" u="heavy" spc="-55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Times New Roman"/>
                <a:cs typeface="Times New Roman"/>
                <a:hlinkClick r:id="rId2"/>
              </a:rPr>
              <a:t>t</a:t>
            </a:r>
            <a:r>
              <a:rPr sz="2600" u="heavy" spc="-125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Times New Roman"/>
                <a:cs typeface="Times New Roman"/>
                <a:hlinkClick r:id="rId2"/>
              </a:rPr>
              <a:t>ic </a:t>
            </a:r>
            <a:r>
              <a:rPr sz="2600" spc="-100" dirty="0">
                <a:solidFill>
                  <a:srgbClr val="CC9900"/>
                </a:solidFill>
                <a:latin typeface="Times New Roman"/>
                <a:cs typeface="Times New Roman"/>
              </a:rPr>
              <a:t> </a:t>
            </a:r>
            <a:r>
              <a:rPr sz="2600" u="heavy" spc="-140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Times New Roman"/>
                <a:cs typeface="Times New Roman"/>
                <a:hlinkClick r:id="rId2"/>
              </a:rPr>
              <a:t>spe</a:t>
            </a:r>
            <a:r>
              <a:rPr sz="2600" u="heavy" spc="-155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Times New Roman"/>
                <a:cs typeface="Times New Roman"/>
                <a:hlinkClick r:id="rId2"/>
              </a:rPr>
              <a:t>c</a:t>
            </a:r>
            <a:r>
              <a:rPr sz="2600" u="heavy" spc="30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Times New Roman"/>
                <a:cs typeface="Times New Roman"/>
                <a:hlinkClick r:id="rId2"/>
              </a:rPr>
              <a:t>t</a:t>
            </a:r>
            <a:r>
              <a:rPr sz="2600" u="heavy" spc="90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Times New Roman"/>
                <a:cs typeface="Times New Roman"/>
                <a:hlinkClick r:id="rId2"/>
              </a:rPr>
              <a:t>r</a:t>
            </a:r>
            <a:r>
              <a:rPr sz="2600" u="heavy" spc="-130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Times New Roman"/>
                <a:cs typeface="Times New Roman"/>
                <a:hlinkClick r:id="rId2"/>
              </a:rPr>
              <a:t>um</a:t>
            </a:r>
            <a:r>
              <a:rPr sz="2600" spc="-55" dirty="0">
                <a:solidFill>
                  <a:srgbClr val="CC9900"/>
                </a:solidFill>
                <a:latin typeface="Times New Roman"/>
                <a:cs typeface="Times New Roman"/>
                <a:hlinkClick r:id="rId2"/>
              </a:rPr>
              <a:t> </a:t>
            </a:r>
            <a:r>
              <a:rPr sz="2600" spc="-80" dirty="0">
                <a:latin typeface="Times New Roman"/>
                <a:cs typeface="Times New Roman"/>
              </a:rPr>
              <a:t>f</a:t>
            </a:r>
            <a:r>
              <a:rPr sz="2600" spc="-110" dirty="0">
                <a:latin typeface="Times New Roman"/>
                <a:cs typeface="Times New Roman"/>
              </a:rPr>
              <a:t>r</a:t>
            </a:r>
            <a:r>
              <a:rPr sz="2600" spc="-130" dirty="0">
                <a:latin typeface="Times New Roman"/>
                <a:cs typeface="Times New Roman"/>
              </a:rPr>
              <a:t>om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3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u="heavy" spc="-175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Times New Roman"/>
                <a:cs typeface="Times New Roman"/>
                <a:hlinkClick r:id="rId3"/>
              </a:rPr>
              <a:t>Hz</a:t>
            </a:r>
            <a:r>
              <a:rPr sz="2600" spc="-70" dirty="0">
                <a:solidFill>
                  <a:srgbClr val="CC9900"/>
                </a:solidFill>
                <a:latin typeface="Times New Roman"/>
                <a:cs typeface="Times New Roman"/>
                <a:hlinkClick r:id="rId3"/>
              </a:rPr>
              <a:t> </a:t>
            </a:r>
            <a:r>
              <a:rPr sz="2600" spc="-35" dirty="0">
                <a:latin typeface="Times New Roman"/>
                <a:cs typeface="Times New Roman"/>
              </a:rPr>
              <a:t>to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30</a:t>
            </a:r>
            <a:r>
              <a:rPr sz="2600" spc="-125" dirty="0">
                <a:latin typeface="Times New Roman"/>
                <a:cs typeface="Times New Roman"/>
              </a:rPr>
              <a:t>0</a:t>
            </a:r>
            <a:r>
              <a:rPr sz="2600" spc="-110" dirty="0">
                <a:latin typeface="Times New Roman"/>
                <a:cs typeface="Times New Roman"/>
              </a:rPr>
              <a:t>0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u="heavy" spc="-175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Times New Roman"/>
                <a:cs typeface="Times New Roman"/>
                <a:hlinkClick r:id="rId3"/>
              </a:rPr>
              <a:t>GHz</a:t>
            </a:r>
            <a:r>
              <a:rPr sz="2600" spc="-70" dirty="0">
                <a:solidFill>
                  <a:srgbClr val="CC9900"/>
                </a:solidFill>
                <a:latin typeface="Times New Roman"/>
                <a:cs typeface="Times New Roman"/>
                <a:hlinkClick r:id="rId3"/>
              </a:rPr>
              <a:t> </a:t>
            </a:r>
            <a:r>
              <a:rPr sz="2600" spc="-80" dirty="0">
                <a:latin typeface="Times New Roman"/>
                <a:cs typeface="Times New Roman"/>
              </a:rPr>
              <a:t>(3</a:t>
            </a:r>
            <a:r>
              <a:rPr sz="2600" spc="-395" dirty="0">
                <a:latin typeface="Times New Roman"/>
                <a:cs typeface="Times New Roman"/>
              </a:rPr>
              <a:t> </a:t>
            </a:r>
            <a:r>
              <a:rPr sz="2600" u="heavy" spc="-175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Times New Roman"/>
                <a:cs typeface="Times New Roman"/>
                <a:hlinkClick r:id="rId4"/>
              </a:rPr>
              <a:t>TH</a:t>
            </a:r>
            <a:r>
              <a:rPr sz="2600" u="heavy" spc="-125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Times New Roman"/>
                <a:cs typeface="Times New Roman"/>
                <a:hlinkClick r:id="rId4"/>
              </a:rPr>
              <a:t>z</a:t>
            </a:r>
            <a:r>
              <a:rPr sz="2600" spc="25" dirty="0">
                <a:latin typeface="Times New Roman"/>
                <a:cs typeface="Times New Roman"/>
              </a:rPr>
              <a:t>).</a:t>
            </a:r>
            <a:endParaRPr sz="2600">
              <a:latin typeface="Times New Roman"/>
              <a:cs typeface="Times New Roman"/>
            </a:endParaRPr>
          </a:p>
          <a:p>
            <a:pPr marL="286385" marR="5080" indent="-274320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114" dirty="0">
                <a:latin typeface="Times New Roman"/>
                <a:cs typeface="Times New Roman"/>
              </a:rPr>
              <a:t>Electromagnetic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204" dirty="0">
                <a:latin typeface="Times New Roman"/>
                <a:cs typeface="Times New Roman"/>
              </a:rPr>
              <a:t>waves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in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14" dirty="0">
                <a:latin typeface="Times New Roman"/>
                <a:cs typeface="Times New Roman"/>
              </a:rPr>
              <a:t>this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Times New Roman"/>
                <a:cs typeface="Times New Roman"/>
              </a:rPr>
              <a:t>frequency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95" dirty="0">
                <a:latin typeface="Times New Roman"/>
                <a:cs typeface="Times New Roman"/>
              </a:rPr>
              <a:t>range,</a:t>
            </a:r>
            <a:r>
              <a:rPr sz="2600" spc="-170" dirty="0">
                <a:latin typeface="Times New Roman"/>
                <a:cs typeface="Times New Roman"/>
              </a:rPr>
              <a:t> </a:t>
            </a:r>
            <a:r>
              <a:rPr sz="2600" spc="-130" dirty="0">
                <a:latin typeface="Times New Roman"/>
                <a:cs typeface="Times New Roman"/>
              </a:rPr>
              <a:t>called</a:t>
            </a:r>
            <a:r>
              <a:rPr sz="2600" spc="-65" dirty="0">
                <a:solidFill>
                  <a:srgbClr val="CC9900"/>
                </a:solidFill>
                <a:latin typeface="Times New Roman"/>
                <a:cs typeface="Times New Roman"/>
              </a:rPr>
              <a:t> </a:t>
            </a:r>
            <a:r>
              <a:rPr sz="2600" u="heavy" spc="-110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Times New Roman"/>
                <a:cs typeface="Times New Roman"/>
                <a:hlinkClick r:id="rId5"/>
              </a:rPr>
              <a:t>radio </a:t>
            </a:r>
            <a:r>
              <a:rPr sz="2600" spc="-635" dirty="0">
                <a:solidFill>
                  <a:srgbClr val="CC9900"/>
                </a:solidFill>
                <a:latin typeface="Times New Roman"/>
                <a:cs typeface="Times New Roman"/>
              </a:rPr>
              <a:t> </a:t>
            </a:r>
            <a:r>
              <a:rPr sz="2600" u="heavy" spc="-155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Times New Roman"/>
                <a:cs typeface="Times New Roman"/>
                <a:hlinkClick r:id="rId5"/>
              </a:rPr>
              <a:t>waves</a:t>
            </a:r>
            <a:r>
              <a:rPr sz="2600" spc="-155" dirty="0">
                <a:latin typeface="Times New Roman"/>
                <a:cs typeface="Times New Roman"/>
              </a:rPr>
              <a:t>,</a:t>
            </a:r>
            <a:r>
              <a:rPr sz="2600" spc="-180" dirty="0">
                <a:latin typeface="Times New Roman"/>
                <a:cs typeface="Times New Roman"/>
              </a:rPr>
              <a:t> </a:t>
            </a:r>
            <a:r>
              <a:rPr sz="2600" spc="-100" dirty="0">
                <a:latin typeface="Times New Roman"/>
                <a:cs typeface="Times New Roman"/>
              </a:rPr>
              <a:t>are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00" dirty="0">
                <a:latin typeface="Times New Roman"/>
                <a:cs typeface="Times New Roman"/>
              </a:rPr>
              <a:t>extremely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40" dirty="0">
                <a:latin typeface="Times New Roman"/>
                <a:cs typeface="Times New Roman"/>
              </a:rPr>
              <a:t>widely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130" dirty="0">
                <a:latin typeface="Times New Roman"/>
                <a:cs typeface="Times New Roman"/>
              </a:rPr>
              <a:t>used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in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85" dirty="0">
                <a:latin typeface="Times New Roman"/>
                <a:cs typeface="Times New Roman"/>
              </a:rPr>
              <a:t>modern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30" dirty="0">
                <a:latin typeface="Times New Roman"/>
                <a:cs typeface="Times New Roman"/>
              </a:rPr>
              <a:t>technology, </a:t>
            </a:r>
            <a:r>
              <a:rPr sz="2600" spc="-125" dirty="0">
                <a:latin typeface="Times New Roman"/>
                <a:cs typeface="Times New Roman"/>
              </a:rPr>
              <a:t> </a:t>
            </a:r>
            <a:r>
              <a:rPr sz="2600" spc="-105" dirty="0">
                <a:latin typeface="Times New Roman"/>
                <a:cs typeface="Times New Roman"/>
              </a:rPr>
              <a:t>pa</a:t>
            </a:r>
            <a:r>
              <a:rPr sz="2600" spc="15" dirty="0">
                <a:latin typeface="Times New Roman"/>
                <a:cs typeface="Times New Roman"/>
              </a:rPr>
              <a:t>r</a:t>
            </a:r>
            <a:r>
              <a:rPr sz="2600" spc="-80" dirty="0">
                <a:latin typeface="Times New Roman"/>
                <a:cs typeface="Times New Roman"/>
              </a:rPr>
              <a:t>tic</a:t>
            </a:r>
            <a:r>
              <a:rPr sz="2600" spc="-135" dirty="0">
                <a:latin typeface="Times New Roman"/>
                <a:cs typeface="Times New Roman"/>
              </a:rPr>
              <a:t>u</a:t>
            </a:r>
            <a:r>
              <a:rPr sz="2600" spc="-105" dirty="0">
                <a:latin typeface="Times New Roman"/>
                <a:cs typeface="Times New Roman"/>
              </a:rPr>
              <a:t>lar</a:t>
            </a:r>
            <a:r>
              <a:rPr sz="2600" spc="-130" dirty="0">
                <a:latin typeface="Times New Roman"/>
                <a:cs typeface="Times New Roman"/>
              </a:rPr>
              <a:t>l</a:t>
            </a:r>
            <a:r>
              <a:rPr sz="2600" spc="-215" dirty="0">
                <a:latin typeface="Times New Roman"/>
                <a:cs typeface="Times New Roman"/>
              </a:rPr>
              <a:t>y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in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u="heavy" spc="-80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Times New Roman"/>
                <a:cs typeface="Times New Roman"/>
                <a:hlinkClick r:id="rId6"/>
              </a:rPr>
              <a:t>tele</a:t>
            </a:r>
            <a:r>
              <a:rPr sz="2600" u="heavy" spc="-114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Times New Roman"/>
                <a:cs typeface="Times New Roman"/>
                <a:hlinkClick r:id="rId6"/>
              </a:rPr>
              <a:t>c</a:t>
            </a:r>
            <a:r>
              <a:rPr sz="2600" u="heavy" spc="-130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Times New Roman"/>
                <a:cs typeface="Times New Roman"/>
                <a:hlinkClick r:id="rId6"/>
              </a:rPr>
              <a:t>om</a:t>
            </a:r>
            <a:r>
              <a:rPr sz="2600" u="heavy" spc="-185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Times New Roman"/>
                <a:cs typeface="Times New Roman"/>
                <a:hlinkClick r:id="rId6"/>
              </a:rPr>
              <a:t>m</a:t>
            </a:r>
            <a:r>
              <a:rPr sz="2600" u="heavy" spc="-110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Times New Roman"/>
                <a:cs typeface="Times New Roman"/>
                <a:hlinkClick r:id="rId6"/>
              </a:rPr>
              <a:t>u</a:t>
            </a:r>
            <a:r>
              <a:rPr sz="2600" u="heavy" spc="-125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Times New Roman"/>
                <a:cs typeface="Times New Roman"/>
                <a:hlinkClick r:id="rId6"/>
              </a:rPr>
              <a:t>n</a:t>
            </a:r>
            <a:r>
              <a:rPr sz="2600" u="heavy" spc="-150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Times New Roman"/>
                <a:cs typeface="Times New Roman"/>
                <a:hlinkClick r:id="rId6"/>
              </a:rPr>
              <a:t>ic</a:t>
            </a:r>
            <a:r>
              <a:rPr sz="2600" u="heavy" spc="-215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Times New Roman"/>
                <a:cs typeface="Times New Roman"/>
                <a:hlinkClick r:id="rId6"/>
              </a:rPr>
              <a:t>a</a:t>
            </a:r>
            <a:r>
              <a:rPr sz="2600" u="heavy" spc="-70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Times New Roman"/>
                <a:cs typeface="Times New Roman"/>
                <a:hlinkClick r:id="rId6"/>
              </a:rPr>
              <a:t>tio</a:t>
            </a:r>
            <a:r>
              <a:rPr sz="2600" u="heavy" spc="-110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Times New Roman"/>
                <a:cs typeface="Times New Roman"/>
                <a:hlinkClick r:id="rId6"/>
              </a:rPr>
              <a:t>n</a:t>
            </a:r>
            <a:r>
              <a:rPr sz="2600" spc="110" dirty="0">
                <a:latin typeface="Times New Roman"/>
                <a:cs typeface="Times New Roman"/>
              </a:rPr>
              <a:t>.</a:t>
            </a:r>
            <a:endParaRPr sz="2600">
              <a:latin typeface="Times New Roman"/>
              <a:cs typeface="Times New Roman"/>
            </a:endParaRPr>
          </a:p>
          <a:p>
            <a:pPr marL="286385" marR="481965" indent="-274320">
              <a:lnSpc>
                <a:spcPct val="100000"/>
              </a:lnSpc>
              <a:spcBef>
                <a:spcPts val="605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90" dirty="0">
                <a:latin typeface="Times New Roman"/>
                <a:cs typeface="Times New Roman"/>
              </a:rPr>
              <a:t>Coor</a:t>
            </a:r>
            <a:r>
              <a:rPr sz="2600" spc="-95" dirty="0">
                <a:latin typeface="Times New Roman"/>
                <a:cs typeface="Times New Roman"/>
              </a:rPr>
              <a:t>d</a:t>
            </a:r>
            <a:r>
              <a:rPr sz="2600" spc="-140" dirty="0">
                <a:latin typeface="Times New Roman"/>
                <a:cs typeface="Times New Roman"/>
              </a:rPr>
              <a:t>in</a:t>
            </a:r>
            <a:r>
              <a:rPr sz="2600" spc="-190" dirty="0">
                <a:latin typeface="Times New Roman"/>
                <a:cs typeface="Times New Roman"/>
              </a:rPr>
              <a:t>a</a:t>
            </a:r>
            <a:r>
              <a:rPr sz="2600" spc="-55" dirty="0">
                <a:latin typeface="Times New Roman"/>
                <a:cs typeface="Times New Roman"/>
              </a:rPr>
              <a:t>ted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190" dirty="0">
                <a:latin typeface="Times New Roman"/>
                <a:cs typeface="Times New Roman"/>
              </a:rPr>
              <a:t>b</a:t>
            </a:r>
            <a:r>
              <a:rPr sz="2600" spc="-215" dirty="0">
                <a:latin typeface="Times New Roman"/>
                <a:cs typeface="Times New Roman"/>
              </a:rPr>
              <a:t>y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215" dirty="0">
                <a:latin typeface="Times New Roman"/>
                <a:cs typeface="Times New Roman"/>
              </a:rPr>
              <a:t>a</a:t>
            </a:r>
            <a:r>
              <a:rPr sz="2600" spc="-110" dirty="0">
                <a:latin typeface="Times New Roman"/>
                <a:cs typeface="Times New Roman"/>
              </a:rPr>
              <a:t>n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75" dirty="0">
                <a:latin typeface="Times New Roman"/>
                <a:cs typeface="Times New Roman"/>
              </a:rPr>
              <a:t>in</a:t>
            </a:r>
            <a:r>
              <a:rPr sz="2600" spc="-70" dirty="0">
                <a:latin typeface="Times New Roman"/>
                <a:cs typeface="Times New Roman"/>
              </a:rPr>
              <a:t>t</a:t>
            </a:r>
            <a:r>
              <a:rPr sz="2600" spc="-40" dirty="0">
                <a:latin typeface="Times New Roman"/>
                <a:cs typeface="Times New Roman"/>
              </a:rPr>
              <a:t>e</a:t>
            </a:r>
            <a:r>
              <a:rPr sz="2600" spc="40" dirty="0">
                <a:latin typeface="Times New Roman"/>
                <a:cs typeface="Times New Roman"/>
              </a:rPr>
              <a:t>r</a:t>
            </a:r>
            <a:r>
              <a:rPr sz="2600" spc="-165" dirty="0">
                <a:latin typeface="Times New Roman"/>
                <a:cs typeface="Times New Roman"/>
              </a:rPr>
              <a:t>n</a:t>
            </a:r>
            <a:r>
              <a:rPr sz="2600" spc="-180" dirty="0">
                <a:latin typeface="Times New Roman"/>
                <a:cs typeface="Times New Roman"/>
              </a:rPr>
              <a:t>a</a:t>
            </a:r>
            <a:r>
              <a:rPr sz="2600" spc="-70" dirty="0">
                <a:latin typeface="Times New Roman"/>
                <a:cs typeface="Times New Roman"/>
              </a:rPr>
              <a:t>tio</a:t>
            </a:r>
            <a:r>
              <a:rPr sz="2600" spc="-114" dirty="0">
                <a:latin typeface="Times New Roman"/>
                <a:cs typeface="Times New Roman"/>
              </a:rPr>
              <a:t>n</a:t>
            </a:r>
            <a:r>
              <a:rPr sz="2600" spc="-190" dirty="0">
                <a:latin typeface="Times New Roman"/>
                <a:cs typeface="Times New Roman"/>
              </a:rPr>
              <a:t>a</a:t>
            </a:r>
            <a:r>
              <a:rPr sz="2600" spc="-114" dirty="0">
                <a:latin typeface="Times New Roman"/>
                <a:cs typeface="Times New Roman"/>
              </a:rPr>
              <a:t>l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b</a:t>
            </a:r>
            <a:r>
              <a:rPr sz="2600" spc="-130" dirty="0">
                <a:latin typeface="Times New Roman"/>
                <a:cs typeface="Times New Roman"/>
              </a:rPr>
              <a:t>o</a:t>
            </a:r>
            <a:r>
              <a:rPr sz="2600" spc="-155" dirty="0">
                <a:latin typeface="Times New Roman"/>
                <a:cs typeface="Times New Roman"/>
              </a:rPr>
              <a:t>d</a:t>
            </a:r>
            <a:r>
              <a:rPr sz="2600" spc="-490" dirty="0">
                <a:latin typeface="Times New Roman"/>
                <a:cs typeface="Times New Roman"/>
              </a:rPr>
              <a:t>y</a:t>
            </a:r>
            <a:r>
              <a:rPr sz="2600" spc="110" dirty="0">
                <a:latin typeface="Times New Roman"/>
                <a:cs typeface="Times New Roman"/>
              </a:rPr>
              <a:t>,</a:t>
            </a:r>
            <a:r>
              <a:rPr sz="2600" spc="-170" dirty="0">
                <a:latin typeface="Times New Roman"/>
                <a:cs typeface="Times New Roman"/>
              </a:rPr>
              <a:t> </a:t>
            </a:r>
            <a:r>
              <a:rPr sz="2600" spc="-75" dirty="0">
                <a:latin typeface="Times New Roman"/>
                <a:cs typeface="Times New Roman"/>
              </a:rPr>
              <a:t>the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u="heavy" spc="-120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Times New Roman"/>
                <a:cs typeface="Times New Roman"/>
                <a:hlinkClick r:id="rId7"/>
              </a:rPr>
              <a:t>I</a:t>
            </a:r>
            <a:r>
              <a:rPr sz="2600" u="heavy" spc="-190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Times New Roman"/>
                <a:cs typeface="Times New Roman"/>
                <a:hlinkClick r:id="rId7"/>
              </a:rPr>
              <a:t>n</a:t>
            </a:r>
            <a:r>
              <a:rPr sz="2600" u="heavy" spc="-10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Times New Roman"/>
                <a:cs typeface="Times New Roman"/>
                <a:hlinkClick r:id="rId7"/>
              </a:rPr>
              <a:t>te</a:t>
            </a:r>
            <a:r>
              <a:rPr sz="2600" u="heavy" spc="55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Times New Roman"/>
                <a:cs typeface="Times New Roman"/>
                <a:hlinkClick r:id="rId7"/>
              </a:rPr>
              <a:t>r</a:t>
            </a:r>
            <a:r>
              <a:rPr sz="2600" u="heavy" spc="-165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Times New Roman"/>
                <a:cs typeface="Times New Roman"/>
                <a:hlinkClick r:id="rId7"/>
              </a:rPr>
              <a:t>n</a:t>
            </a:r>
            <a:r>
              <a:rPr sz="2600" u="heavy" spc="-180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Times New Roman"/>
                <a:cs typeface="Times New Roman"/>
                <a:hlinkClick r:id="rId7"/>
              </a:rPr>
              <a:t>a</a:t>
            </a:r>
            <a:r>
              <a:rPr sz="2600" u="heavy" spc="-70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Times New Roman"/>
                <a:cs typeface="Times New Roman"/>
                <a:hlinkClick r:id="rId7"/>
              </a:rPr>
              <a:t>tio</a:t>
            </a:r>
            <a:r>
              <a:rPr sz="2600" u="heavy" spc="-114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Times New Roman"/>
                <a:cs typeface="Times New Roman"/>
                <a:hlinkClick r:id="rId7"/>
              </a:rPr>
              <a:t>n</a:t>
            </a:r>
            <a:r>
              <a:rPr sz="2600" u="heavy" spc="-140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Times New Roman"/>
                <a:cs typeface="Times New Roman"/>
                <a:hlinkClick r:id="rId7"/>
              </a:rPr>
              <a:t>al </a:t>
            </a:r>
            <a:r>
              <a:rPr sz="2600" spc="-110" dirty="0">
                <a:solidFill>
                  <a:srgbClr val="CC9900"/>
                </a:solidFill>
                <a:latin typeface="Times New Roman"/>
                <a:cs typeface="Times New Roman"/>
              </a:rPr>
              <a:t> </a:t>
            </a:r>
            <a:r>
              <a:rPr sz="2600" u="heavy" spc="-145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Times New Roman"/>
                <a:cs typeface="Times New Roman"/>
                <a:hlinkClick r:id="rId7"/>
              </a:rPr>
              <a:t>Telecommunication</a:t>
            </a:r>
            <a:r>
              <a:rPr sz="2600" u="heavy" spc="-75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Times New Roman"/>
                <a:cs typeface="Times New Roman"/>
                <a:hlinkClick r:id="rId7"/>
              </a:rPr>
              <a:t> </a:t>
            </a:r>
            <a:r>
              <a:rPr sz="2600" u="heavy" spc="-120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Times New Roman"/>
                <a:cs typeface="Times New Roman"/>
                <a:hlinkClick r:id="rId7"/>
              </a:rPr>
              <a:t>Union</a:t>
            </a:r>
            <a:r>
              <a:rPr sz="2600" spc="-70" dirty="0">
                <a:solidFill>
                  <a:srgbClr val="CC9900"/>
                </a:solidFill>
                <a:latin typeface="Times New Roman"/>
                <a:cs typeface="Times New Roman"/>
                <a:hlinkClick r:id="rId7"/>
              </a:rPr>
              <a:t> </a:t>
            </a:r>
            <a:r>
              <a:rPr sz="2600" spc="-114" dirty="0">
                <a:latin typeface="Times New Roman"/>
                <a:cs typeface="Times New Roman"/>
              </a:rPr>
              <a:t>(ITU)</a:t>
            </a:r>
            <a:endParaRPr sz="26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09600" y="4542234"/>
            <a:ext cx="7980947" cy="191928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688974"/>
            <a:ext cx="347662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45" dirty="0"/>
              <a:t>Frequency</a:t>
            </a:r>
            <a:r>
              <a:rPr sz="4000" spc="-40" dirty="0"/>
              <a:t> </a:t>
            </a:r>
            <a:r>
              <a:rPr sz="4000" spc="-25" dirty="0"/>
              <a:t>Band</a:t>
            </a:r>
            <a:endParaRPr sz="4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1462532"/>
            <a:ext cx="7772400" cy="445617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688974"/>
            <a:ext cx="154749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45" dirty="0"/>
              <a:t>Out</a:t>
            </a:r>
            <a:r>
              <a:rPr sz="4000" spc="-35" dirty="0"/>
              <a:t>line</a:t>
            </a:r>
            <a:endParaRPr sz="4000"/>
          </a:p>
        </p:txBody>
      </p:sp>
      <p:sp>
        <p:nvSpPr>
          <p:cNvPr id="3" name="object 3"/>
          <p:cNvSpPr/>
          <p:nvPr/>
        </p:nvSpPr>
        <p:spPr>
          <a:xfrm>
            <a:off x="914400" y="1450594"/>
            <a:ext cx="6858000" cy="5100320"/>
          </a:xfrm>
          <a:custGeom>
            <a:avLst/>
            <a:gdLst/>
            <a:ahLst/>
            <a:cxnLst/>
            <a:rect l="l" t="t" r="r" b="b"/>
            <a:pathLst>
              <a:path w="6858000" h="5100320">
                <a:moveTo>
                  <a:pt x="0" y="77215"/>
                </a:moveTo>
                <a:lnTo>
                  <a:pt x="6067" y="47148"/>
                </a:lnTo>
                <a:lnTo>
                  <a:pt x="22615" y="22605"/>
                </a:lnTo>
                <a:lnTo>
                  <a:pt x="47159" y="6064"/>
                </a:lnTo>
                <a:lnTo>
                  <a:pt x="77215" y="0"/>
                </a:lnTo>
                <a:lnTo>
                  <a:pt x="6780783" y="0"/>
                </a:lnTo>
                <a:lnTo>
                  <a:pt x="6810851" y="6064"/>
                </a:lnTo>
                <a:lnTo>
                  <a:pt x="6835394" y="22606"/>
                </a:lnTo>
                <a:lnTo>
                  <a:pt x="6851935" y="47148"/>
                </a:lnTo>
                <a:lnTo>
                  <a:pt x="6858000" y="77215"/>
                </a:lnTo>
                <a:lnTo>
                  <a:pt x="6858000" y="386079"/>
                </a:lnTo>
                <a:lnTo>
                  <a:pt x="6851935" y="416147"/>
                </a:lnTo>
                <a:lnTo>
                  <a:pt x="6835394" y="440689"/>
                </a:lnTo>
                <a:lnTo>
                  <a:pt x="6810851" y="457231"/>
                </a:lnTo>
                <a:lnTo>
                  <a:pt x="6780783" y="463295"/>
                </a:lnTo>
                <a:lnTo>
                  <a:pt x="77215" y="463295"/>
                </a:lnTo>
                <a:lnTo>
                  <a:pt x="47159" y="457231"/>
                </a:lnTo>
                <a:lnTo>
                  <a:pt x="22615" y="440689"/>
                </a:lnTo>
                <a:lnTo>
                  <a:pt x="6067" y="416147"/>
                </a:lnTo>
                <a:lnTo>
                  <a:pt x="0" y="386079"/>
                </a:lnTo>
                <a:lnTo>
                  <a:pt x="0" y="77215"/>
                </a:lnTo>
                <a:close/>
              </a:path>
              <a:path w="6858000" h="5100320">
                <a:moveTo>
                  <a:pt x="0" y="592454"/>
                </a:moveTo>
                <a:lnTo>
                  <a:pt x="6067" y="562387"/>
                </a:lnTo>
                <a:lnTo>
                  <a:pt x="22615" y="537844"/>
                </a:lnTo>
                <a:lnTo>
                  <a:pt x="47159" y="521303"/>
                </a:lnTo>
                <a:lnTo>
                  <a:pt x="77215" y="515238"/>
                </a:lnTo>
                <a:lnTo>
                  <a:pt x="6780783" y="515238"/>
                </a:lnTo>
                <a:lnTo>
                  <a:pt x="6810851" y="521303"/>
                </a:lnTo>
                <a:lnTo>
                  <a:pt x="6835394" y="537845"/>
                </a:lnTo>
                <a:lnTo>
                  <a:pt x="6851935" y="562387"/>
                </a:lnTo>
                <a:lnTo>
                  <a:pt x="6858000" y="592454"/>
                </a:lnTo>
                <a:lnTo>
                  <a:pt x="6858000" y="901318"/>
                </a:lnTo>
                <a:lnTo>
                  <a:pt x="6851935" y="931386"/>
                </a:lnTo>
                <a:lnTo>
                  <a:pt x="6835394" y="955928"/>
                </a:lnTo>
                <a:lnTo>
                  <a:pt x="6810851" y="972470"/>
                </a:lnTo>
                <a:lnTo>
                  <a:pt x="6780783" y="978534"/>
                </a:lnTo>
                <a:lnTo>
                  <a:pt x="77215" y="978534"/>
                </a:lnTo>
                <a:lnTo>
                  <a:pt x="47159" y="972470"/>
                </a:lnTo>
                <a:lnTo>
                  <a:pt x="22615" y="955928"/>
                </a:lnTo>
                <a:lnTo>
                  <a:pt x="6067" y="931386"/>
                </a:lnTo>
                <a:lnTo>
                  <a:pt x="0" y="901318"/>
                </a:lnTo>
                <a:lnTo>
                  <a:pt x="0" y="592454"/>
                </a:lnTo>
                <a:close/>
              </a:path>
              <a:path w="6858000" h="5100320">
                <a:moveTo>
                  <a:pt x="0" y="1107566"/>
                </a:moveTo>
                <a:lnTo>
                  <a:pt x="6067" y="1077499"/>
                </a:lnTo>
                <a:lnTo>
                  <a:pt x="22615" y="1052956"/>
                </a:lnTo>
                <a:lnTo>
                  <a:pt x="47159" y="1036415"/>
                </a:lnTo>
                <a:lnTo>
                  <a:pt x="77215" y="1030351"/>
                </a:lnTo>
                <a:lnTo>
                  <a:pt x="6780783" y="1030351"/>
                </a:lnTo>
                <a:lnTo>
                  <a:pt x="6810851" y="1036415"/>
                </a:lnTo>
                <a:lnTo>
                  <a:pt x="6835394" y="1052957"/>
                </a:lnTo>
                <a:lnTo>
                  <a:pt x="6851935" y="1077499"/>
                </a:lnTo>
                <a:lnTo>
                  <a:pt x="6858000" y="1107566"/>
                </a:lnTo>
                <a:lnTo>
                  <a:pt x="6858000" y="1416430"/>
                </a:lnTo>
                <a:lnTo>
                  <a:pt x="6851935" y="1446498"/>
                </a:lnTo>
                <a:lnTo>
                  <a:pt x="6835394" y="1471040"/>
                </a:lnTo>
                <a:lnTo>
                  <a:pt x="6810851" y="1487582"/>
                </a:lnTo>
                <a:lnTo>
                  <a:pt x="6780783" y="1493646"/>
                </a:lnTo>
                <a:lnTo>
                  <a:pt x="77215" y="1493646"/>
                </a:lnTo>
                <a:lnTo>
                  <a:pt x="47159" y="1487582"/>
                </a:lnTo>
                <a:lnTo>
                  <a:pt x="22615" y="1471040"/>
                </a:lnTo>
                <a:lnTo>
                  <a:pt x="6067" y="1446498"/>
                </a:lnTo>
                <a:lnTo>
                  <a:pt x="0" y="1416430"/>
                </a:lnTo>
                <a:lnTo>
                  <a:pt x="0" y="1107566"/>
                </a:lnTo>
                <a:close/>
              </a:path>
              <a:path w="6858000" h="5100320">
                <a:moveTo>
                  <a:pt x="0" y="1622678"/>
                </a:moveTo>
                <a:lnTo>
                  <a:pt x="6067" y="1592665"/>
                </a:lnTo>
                <a:lnTo>
                  <a:pt x="22615" y="1568116"/>
                </a:lnTo>
                <a:lnTo>
                  <a:pt x="47159" y="1551545"/>
                </a:lnTo>
                <a:lnTo>
                  <a:pt x="77215" y="1545463"/>
                </a:lnTo>
                <a:lnTo>
                  <a:pt x="6780783" y="1545463"/>
                </a:lnTo>
                <a:lnTo>
                  <a:pt x="6810851" y="1551545"/>
                </a:lnTo>
                <a:lnTo>
                  <a:pt x="6835394" y="1568116"/>
                </a:lnTo>
                <a:lnTo>
                  <a:pt x="6851935" y="1592665"/>
                </a:lnTo>
                <a:lnTo>
                  <a:pt x="6858000" y="1622678"/>
                </a:lnTo>
                <a:lnTo>
                  <a:pt x="6858000" y="1931542"/>
                </a:lnTo>
                <a:lnTo>
                  <a:pt x="6851935" y="1961630"/>
                </a:lnTo>
                <a:lnTo>
                  <a:pt x="6835394" y="1986216"/>
                </a:lnTo>
                <a:lnTo>
                  <a:pt x="6810851" y="2002801"/>
                </a:lnTo>
                <a:lnTo>
                  <a:pt x="6780783" y="2008885"/>
                </a:lnTo>
                <a:lnTo>
                  <a:pt x="77215" y="2008885"/>
                </a:lnTo>
                <a:lnTo>
                  <a:pt x="47159" y="2002801"/>
                </a:lnTo>
                <a:lnTo>
                  <a:pt x="22615" y="1986216"/>
                </a:lnTo>
                <a:lnTo>
                  <a:pt x="6067" y="1961630"/>
                </a:lnTo>
                <a:lnTo>
                  <a:pt x="0" y="1931542"/>
                </a:lnTo>
                <a:lnTo>
                  <a:pt x="0" y="1622678"/>
                </a:lnTo>
                <a:close/>
              </a:path>
              <a:path w="6858000" h="5100320">
                <a:moveTo>
                  <a:pt x="0" y="2137917"/>
                </a:moveTo>
                <a:lnTo>
                  <a:pt x="6067" y="2107850"/>
                </a:lnTo>
                <a:lnTo>
                  <a:pt x="22615" y="2083307"/>
                </a:lnTo>
                <a:lnTo>
                  <a:pt x="47159" y="2066766"/>
                </a:lnTo>
                <a:lnTo>
                  <a:pt x="77215" y="2060702"/>
                </a:lnTo>
                <a:lnTo>
                  <a:pt x="6780783" y="2060702"/>
                </a:lnTo>
                <a:lnTo>
                  <a:pt x="6810851" y="2066766"/>
                </a:lnTo>
                <a:lnTo>
                  <a:pt x="6835394" y="2083308"/>
                </a:lnTo>
                <a:lnTo>
                  <a:pt x="6851935" y="2107850"/>
                </a:lnTo>
                <a:lnTo>
                  <a:pt x="6858000" y="2137917"/>
                </a:lnTo>
                <a:lnTo>
                  <a:pt x="6858000" y="2446781"/>
                </a:lnTo>
                <a:lnTo>
                  <a:pt x="6851935" y="2476849"/>
                </a:lnTo>
                <a:lnTo>
                  <a:pt x="6835394" y="2501391"/>
                </a:lnTo>
                <a:lnTo>
                  <a:pt x="6810851" y="2517933"/>
                </a:lnTo>
                <a:lnTo>
                  <a:pt x="6780783" y="2523997"/>
                </a:lnTo>
                <a:lnTo>
                  <a:pt x="77215" y="2523997"/>
                </a:lnTo>
                <a:lnTo>
                  <a:pt x="47159" y="2517933"/>
                </a:lnTo>
                <a:lnTo>
                  <a:pt x="22615" y="2501391"/>
                </a:lnTo>
                <a:lnTo>
                  <a:pt x="6067" y="2476849"/>
                </a:lnTo>
                <a:lnTo>
                  <a:pt x="0" y="2446781"/>
                </a:lnTo>
                <a:lnTo>
                  <a:pt x="0" y="2137917"/>
                </a:lnTo>
                <a:close/>
              </a:path>
              <a:path w="6858000" h="5100320">
                <a:moveTo>
                  <a:pt x="0" y="2653029"/>
                </a:moveTo>
                <a:lnTo>
                  <a:pt x="6067" y="2622962"/>
                </a:lnTo>
                <a:lnTo>
                  <a:pt x="22615" y="2598419"/>
                </a:lnTo>
                <a:lnTo>
                  <a:pt x="47159" y="2581878"/>
                </a:lnTo>
                <a:lnTo>
                  <a:pt x="77215" y="2575813"/>
                </a:lnTo>
                <a:lnTo>
                  <a:pt x="6780783" y="2575813"/>
                </a:lnTo>
                <a:lnTo>
                  <a:pt x="6810851" y="2581878"/>
                </a:lnTo>
                <a:lnTo>
                  <a:pt x="6835394" y="2598419"/>
                </a:lnTo>
                <a:lnTo>
                  <a:pt x="6851935" y="2622962"/>
                </a:lnTo>
                <a:lnTo>
                  <a:pt x="6858000" y="2653029"/>
                </a:lnTo>
                <a:lnTo>
                  <a:pt x="6858000" y="2961893"/>
                </a:lnTo>
                <a:lnTo>
                  <a:pt x="6851935" y="2991961"/>
                </a:lnTo>
                <a:lnTo>
                  <a:pt x="6835394" y="3016504"/>
                </a:lnTo>
                <a:lnTo>
                  <a:pt x="6810851" y="3033045"/>
                </a:lnTo>
                <a:lnTo>
                  <a:pt x="6780783" y="3039110"/>
                </a:lnTo>
                <a:lnTo>
                  <a:pt x="77215" y="3039110"/>
                </a:lnTo>
                <a:lnTo>
                  <a:pt x="47159" y="3033045"/>
                </a:lnTo>
                <a:lnTo>
                  <a:pt x="22615" y="3016504"/>
                </a:lnTo>
                <a:lnTo>
                  <a:pt x="6067" y="2991961"/>
                </a:lnTo>
                <a:lnTo>
                  <a:pt x="0" y="2961893"/>
                </a:lnTo>
                <a:lnTo>
                  <a:pt x="0" y="2653029"/>
                </a:lnTo>
                <a:close/>
              </a:path>
              <a:path w="6858000" h="5100320">
                <a:moveTo>
                  <a:pt x="0" y="3168268"/>
                </a:moveTo>
                <a:lnTo>
                  <a:pt x="6067" y="3138181"/>
                </a:lnTo>
                <a:lnTo>
                  <a:pt x="22615" y="3113595"/>
                </a:lnTo>
                <a:lnTo>
                  <a:pt x="47159" y="3097010"/>
                </a:lnTo>
                <a:lnTo>
                  <a:pt x="77215" y="3090925"/>
                </a:lnTo>
                <a:lnTo>
                  <a:pt x="6780783" y="3090925"/>
                </a:lnTo>
                <a:lnTo>
                  <a:pt x="6810851" y="3097010"/>
                </a:lnTo>
                <a:lnTo>
                  <a:pt x="6835394" y="3113595"/>
                </a:lnTo>
                <a:lnTo>
                  <a:pt x="6851935" y="3138181"/>
                </a:lnTo>
                <a:lnTo>
                  <a:pt x="6858000" y="3168268"/>
                </a:lnTo>
                <a:lnTo>
                  <a:pt x="6858000" y="3477132"/>
                </a:lnTo>
                <a:lnTo>
                  <a:pt x="6851935" y="3507146"/>
                </a:lnTo>
                <a:lnTo>
                  <a:pt x="6835394" y="3531695"/>
                </a:lnTo>
                <a:lnTo>
                  <a:pt x="6810851" y="3548266"/>
                </a:lnTo>
                <a:lnTo>
                  <a:pt x="6780783" y="3554349"/>
                </a:lnTo>
                <a:lnTo>
                  <a:pt x="77215" y="3554349"/>
                </a:lnTo>
                <a:lnTo>
                  <a:pt x="47159" y="3548266"/>
                </a:lnTo>
                <a:lnTo>
                  <a:pt x="22615" y="3531695"/>
                </a:lnTo>
                <a:lnTo>
                  <a:pt x="6067" y="3507146"/>
                </a:lnTo>
                <a:lnTo>
                  <a:pt x="0" y="3477132"/>
                </a:lnTo>
                <a:lnTo>
                  <a:pt x="0" y="3168268"/>
                </a:lnTo>
                <a:close/>
              </a:path>
              <a:path w="6858000" h="5100320">
                <a:moveTo>
                  <a:pt x="0" y="3683380"/>
                </a:moveTo>
                <a:lnTo>
                  <a:pt x="6067" y="3653313"/>
                </a:lnTo>
                <a:lnTo>
                  <a:pt x="22615" y="3628770"/>
                </a:lnTo>
                <a:lnTo>
                  <a:pt x="47159" y="3612229"/>
                </a:lnTo>
                <a:lnTo>
                  <a:pt x="77215" y="3606164"/>
                </a:lnTo>
                <a:lnTo>
                  <a:pt x="6780783" y="3606164"/>
                </a:lnTo>
                <a:lnTo>
                  <a:pt x="6810851" y="3612229"/>
                </a:lnTo>
                <a:lnTo>
                  <a:pt x="6835394" y="3628770"/>
                </a:lnTo>
                <a:lnTo>
                  <a:pt x="6851935" y="3653313"/>
                </a:lnTo>
                <a:lnTo>
                  <a:pt x="6858000" y="3683380"/>
                </a:lnTo>
                <a:lnTo>
                  <a:pt x="6858000" y="3992244"/>
                </a:lnTo>
                <a:lnTo>
                  <a:pt x="6851935" y="4022312"/>
                </a:lnTo>
                <a:lnTo>
                  <a:pt x="6835394" y="4046854"/>
                </a:lnTo>
                <a:lnTo>
                  <a:pt x="6810851" y="4063396"/>
                </a:lnTo>
                <a:lnTo>
                  <a:pt x="6780783" y="4069460"/>
                </a:lnTo>
                <a:lnTo>
                  <a:pt x="77215" y="4069460"/>
                </a:lnTo>
                <a:lnTo>
                  <a:pt x="47159" y="4063396"/>
                </a:lnTo>
                <a:lnTo>
                  <a:pt x="22615" y="4046854"/>
                </a:lnTo>
                <a:lnTo>
                  <a:pt x="6067" y="4022312"/>
                </a:lnTo>
                <a:lnTo>
                  <a:pt x="0" y="3992244"/>
                </a:lnTo>
                <a:lnTo>
                  <a:pt x="0" y="3683380"/>
                </a:lnTo>
                <a:close/>
              </a:path>
              <a:path w="6858000" h="5100320">
                <a:moveTo>
                  <a:pt x="0" y="4198531"/>
                </a:moveTo>
                <a:lnTo>
                  <a:pt x="6067" y="4168463"/>
                </a:lnTo>
                <a:lnTo>
                  <a:pt x="22615" y="4143906"/>
                </a:lnTo>
                <a:lnTo>
                  <a:pt x="47159" y="4127348"/>
                </a:lnTo>
                <a:lnTo>
                  <a:pt x="77215" y="4121277"/>
                </a:lnTo>
                <a:lnTo>
                  <a:pt x="6780783" y="4121277"/>
                </a:lnTo>
                <a:lnTo>
                  <a:pt x="6810851" y="4127348"/>
                </a:lnTo>
                <a:lnTo>
                  <a:pt x="6835394" y="4143906"/>
                </a:lnTo>
                <a:lnTo>
                  <a:pt x="6851935" y="4168463"/>
                </a:lnTo>
                <a:lnTo>
                  <a:pt x="6858000" y="4198531"/>
                </a:lnTo>
                <a:lnTo>
                  <a:pt x="6858000" y="4507407"/>
                </a:lnTo>
                <a:lnTo>
                  <a:pt x="6851935" y="4537464"/>
                </a:lnTo>
                <a:lnTo>
                  <a:pt x="6835394" y="4562008"/>
                </a:lnTo>
                <a:lnTo>
                  <a:pt x="6810851" y="4578555"/>
                </a:lnTo>
                <a:lnTo>
                  <a:pt x="6780783" y="4584623"/>
                </a:lnTo>
                <a:lnTo>
                  <a:pt x="77215" y="4584623"/>
                </a:lnTo>
                <a:lnTo>
                  <a:pt x="47159" y="4578555"/>
                </a:lnTo>
                <a:lnTo>
                  <a:pt x="22615" y="4562008"/>
                </a:lnTo>
                <a:lnTo>
                  <a:pt x="6067" y="4537464"/>
                </a:lnTo>
                <a:lnTo>
                  <a:pt x="0" y="4507407"/>
                </a:lnTo>
                <a:lnTo>
                  <a:pt x="0" y="4198531"/>
                </a:lnTo>
                <a:close/>
              </a:path>
              <a:path w="6858000" h="5100320">
                <a:moveTo>
                  <a:pt x="0" y="4713681"/>
                </a:moveTo>
                <a:lnTo>
                  <a:pt x="6067" y="4683624"/>
                </a:lnTo>
                <a:lnTo>
                  <a:pt x="22615" y="4659080"/>
                </a:lnTo>
                <a:lnTo>
                  <a:pt x="47159" y="4642533"/>
                </a:lnTo>
                <a:lnTo>
                  <a:pt x="77215" y="4636465"/>
                </a:lnTo>
                <a:lnTo>
                  <a:pt x="6780783" y="4636465"/>
                </a:lnTo>
                <a:lnTo>
                  <a:pt x="6810851" y="4642533"/>
                </a:lnTo>
                <a:lnTo>
                  <a:pt x="6835394" y="4659080"/>
                </a:lnTo>
                <a:lnTo>
                  <a:pt x="6851935" y="4683624"/>
                </a:lnTo>
                <a:lnTo>
                  <a:pt x="6858000" y="4713681"/>
                </a:lnTo>
                <a:lnTo>
                  <a:pt x="6858000" y="5022557"/>
                </a:lnTo>
                <a:lnTo>
                  <a:pt x="6851935" y="5052621"/>
                </a:lnTo>
                <a:lnTo>
                  <a:pt x="6835394" y="5077169"/>
                </a:lnTo>
                <a:lnTo>
                  <a:pt x="6810851" y="5093718"/>
                </a:lnTo>
                <a:lnTo>
                  <a:pt x="6780783" y="5099786"/>
                </a:lnTo>
                <a:lnTo>
                  <a:pt x="77215" y="5099786"/>
                </a:lnTo>
                <a:lnTo>
                  <a:pt x="47159" y="5093718"/>
                </a:lnTo>
                <a:lnTo>
                  <a:pt x="22615" y="5077169"/>
                </a:lnTo>
                <a:lnTo>
                  <a:pt x="6067" y="5052621"/>
                </a:lnTo>
                <a:lnTo>
                  <a:pt x="0" y="5022557"/>
                </a:lnTo>
                <a:lnTo>
                  <a:pt x="0" y="4713681"/>
                </a:lnTo>
                <a:close/>
              </a:path>
            </a:pathLst>
          </a:custGeom>
          <a:ln w="12700">
            <a:solidFill>
              <a:srgbClr val="BE401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93139" y="1470406"/>
            <a:ext cx="6036945" cy="49580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685">
              <a:lnSpc>
                <a:spcPct val="100000"/>
              </a:lnSpc>
              <a:spcBef>
                <a:spcPts val="105"/>
              </a:spcBef>
            </a:pPr>
            <a:r>
              <a:rPr sz="2000" b="1" spc="15" dirty="0">
                <a:solidFill>
                  <a:srgbClr val="BEBEBE"/>
                </a:solidFill>
                <a:latin typeface="Times New Roman"/>
                <a:cs typeface="Times New Roman"/>
              </a:rPr>
              <a:t>Introduction</a:t>
            </a:r>
            <a:r>
              <a:rPr sz="2000" b="1" spc="-85" dirty="0">
                <a:solidFill>
                  <a:srgbClr val="BEBEBE"/>
                </a:solidFill>
                <a:latin typeface="Times New Roman"/>
                <a:cs typeface="Times New Roman"/>
              </a:rPr>
              <a:t> </a:t>
            </a:r>
            <a:r>
              <a:rPr sz="2000" b="1" spc="20" dirty="0">
                <a:solidFill>
                  <a:srgbClr val="BEBEBE"/>
                </a:solidFill>
                <a:latin typeface="Times New Roman"/>
                <a:cs typeface="Times New Roman"/>
              </a:rPr>
              <a:t>of</a:t>
            </a:r>
            <a:r>
              <a:rPr sz="2000" b="1" spc="-50" dirty="0">
                <a:solidFill>
                  <a:srgbClr val="BEBEBE"/>
                </a:solidFill>
                <a:latin typeface="Times New Roman"/>
                <a:cs typeface="Times New Roman"/>
              </a:rPr>
              <a:t> </a:t>
            </a:r>
            <a:r>
              <a:rPr sz="2000" b="1" spc="-175" dirty="0">
                <a:solidFill>
                  <a:srgbClr val="BEBEBE"/>
                </a:solidFill>
                <a:latin typeface="Times New Roman"/>
                <a:cs typeface="Times New Roman"/>
              </a:rPr>
              <a:t>LAN;</a:t>
            </a:r>
            <a:r>
              <a:rPr sz="2000" b="1" spc="-120" dirty="0">
                <a:solidFill>
                  <a:srgbClr val="BEBEBE"/>
                </a:solidFill>
                <a:latin typeface="Times New Roman"/>
                <a:cs typeface="Times New Roman"/>
              </a:rPr>
              <a:t> </a:t>
            </a:r>
            <a:r>
              <a:rPr sz="2000" b="1" spc="-135" dirty="0">
                <a:solidFill>
                  <a:srgbClr val="BEBEBE"/>
                </a:solidFill>
                <a:latin typeface="Times New Roman"/>
                <a:cs typeface="Times New Roman"/>
              </a:rPr>
              <a:t>MAN;WAN;</a:t>
            </a:r>
            <a:r>
              <a:rPr sz="2000" b="1" spc="-140" dirty="0">
                <a:solidFill>
                  <a:srgbClr val="BEBEBE"/>
                </a:solidFill>
                <a:latin typeface="Times New Roman"/>
                <a:cs typeface="Times New Roman"/>
              </a:rPr>
              <a:t> </a:t>
            </a:r>
            <a:r>
              <a:rPr sz="2000" b="1" spc="-130" dirty="0">
                <a:solidFill>
                  <a:srgbClr val="BEBEBE"/>
                </a:solidFill>
                <a:latin typeface="Times New Roman"/>
                <a:cs typeface="Times New Roman"/>
              </a:rPr>
              <a:t>PAN,</a:t>
            </a:r>
            <a:r>
              <a:rPr sz="2000" b="1" spc="-210" dirty="0">
                <a:solidFill>
                  <a:srgbClr val="BEBEBE"/>
                </a:solidFill>
                <a:latin typeface="Times New Roman"/>
                <a:cs typeface="Times New Roman"/>
              </a:rPr>
              <a:t> </a:t>
            </a:r>
            <a:r>
              <a:rPr sz="2000" b="1" spc="25" dirty="0">
                <a:solidFill>
                  <a:srgbClr val="BEBEBE"/>
                </a:solidFill>
                <a:latin typeface="Times New Roman"/>
                <a:cs typeface="Times New Roman"/>
              </a:rPr>
              <a:t>Ad-hoc</a:t>
            </a:r>
            <a:r>
              <a:rPr sz="2000" b="1" spc="-50" dirty="0">
                <a:solidFill>
                  <a:srgbClr val="BEBEBE"/>
                </a:solidFill>
                <a:latin typeface="Times New Roman"/>
                <a:cs typeface="Times New Roman"/>
              </a:rPr>
              <a:t> </a:t>
            </a:r>
            <a:r>
              <a:rPr sz="2000" b="1" spc="-5" dirty="0">
                <a:solidFill>
                  <a:srgbClr val="BEBEBE"/>
                </a:solidFill>
                <a:latin typeface="Times New Roman"/>
                <a:cs typeface="Times New Roman"/>
              </a:rPr>
              <a:t>Network</a:t>
            </a:r>
            <a:endParaRPr sz="2000">
              <a:latin typeface="Times New Roman"/>
              <a:cs typeface="Times New Roman"/>
            </a:endParaRPr>
          </a:p>
          <a:p>
            <a:pPr marL="19685">
              <a:lnSpc>
                <a:spcPct val="100000"/>
              </a:lnSpc>
              <a:spcBef>
                <a:spcPts val="1655"/>
              </a:spcBef>
            </a:pPr>
            <a:r>
              <a:rPr sz="2000" b="1" spc="5" dirty="0">
                <a:solidFill>
                  <a:srgbClr val="BEBEBE"/>
                </a:solidFill>
                <a:latin typeface="Times New Roman"/>
                <a:cs typeface="Times New Roman"/>
              </a:rPr>
              <a:t>Topologies</a:t>
            </a:r>
            <a:endParaRPr sz="2000">
              <a:latin typeface="Times New Roman"/>
              <a:cs typeface="Times New Roman"/>
            </a:endParaRPr>
          </a:p>
          <a:p>
            <a:pPr marL="19685" marR="3536315">
              <a:lnSpc>
                <a:spcPct val="169000"/>
              </a:lnSpc>
            </a:pPr>
            <a:r>
              <a:rPr sz="2000" b="1" spc="-35" dirty="0">
                <a:solidFill>
                  <a:srgbClr val="BEBEBE"/>
                </a:solidFill>
                <a:latin typeface="Times New Roman"/>
                <a:cs typeface="Times New Roman"/>
              </a:rPr>
              <a:t>Ne</a:t>
            </a:r>
            <a:r>
              <a:rPr sz="2000" b="1" spc="25" dirty="0">
                <a:solidFill>
                  <a:srgbClr val="BEBEBE"/>
                </a:solidFill>
                <a:latin typeface="Times New Roman"/>
                <a:cs typeface="Times New Roman"/>
              </a:rPr>
              <a:t>t</a:t>
            </a:r>
            <a:r>
              <a:rPr sz="2000" b="1" dirty="0">
                <a:solidFill>
                  <a:srgbClr val="BEBEBE"/>
                </a:solidFill>
                <a:latin typeface="Times New Roman"/>
                <a:cs typeface="Times New Roman"/>
              </a:rPr>
              <a:t>w</a:t>
            </a:r>
            <a:r>
              <a:rPr sz="2000" b="1" spc="5" dirty="0">
                <a:solidFill>
                  <a:srgbClr val="BEBEBE"/>
                </a:solidFill>
                <a:latin typeface="Times New Roman"/>
                <a:cs typeface="Times New Roman"/>
              </a:rPr>
              <a:t>o</a:t>
            </a:r>
            <a:r>
              <a:rPr sz="2000" b="1" spc="10" dirty="0">
                <a:solidFill>
                  <a:srgbClr val="BEBEBE"/>
                </a:solidFill>
                <a:latin typeface="Times New Roman"/>
                <a:cs typeface="Times New Roman"/>
              </a:rPr>
              <a:t>r</a:t>
            </a:r>
            <a:r>
              <a:rPr sz="2000" b="1" spc="15" dirty="0">
                <a:solidFill>
                  <a:srgbClr val="BEBEBE"/>
                </a:solidFill>
                <a:latin typeface="Times New Roman"/>
                <a:cs typeface="Times New Roman"/>
              </a:rPr>
              <a:t>k</a:t>
            </a:r>
            <a:r>
              <a:rPr sz="2000" b="1" spc="-140" dirty="0">
                <a:solidFill>
                  <a:srgbClr val="BEBEBE"/>
                </a:solidFill>
                <a:latin typeface="Times New Roman"/>
                <a:cs typeface="Times New Roman"/>
              </a:rPr>
              <a:t> </a:t>
            </a:r>
            <a:r>
              <a:rPr sz="2000" b="1" spc="-50" dirty="0">
                <a:solidFill>
                  <a:srgbClr val="BEBEBE"/>
                </a:solidFill>
                <a:latin typeface="Times New Roman"/>
                <a:cs typeface="Times New Roman"/>
              </a:rPr>
              <a:t>Arc</a:t>
            </a:r>
            <a:r>
              <a:rPr sz="2000" b="1" spc="25" dirty="0">
                <a:solidFill>
                  <a:srgbClr val="BEBEBE"/>
                </a:solidFill>
                <a:latin typeface="Times New Roman"/>
                <a:cs typeface="Times New Roman"/>
              </a:rPr>
              <a:t>hit</a:t>
            </a:r>
            <a:r>
              <a:rPr sz="2000" b="1" spc="20" dirty="0">
                <a:solidFill>
                  <a:srgbClr val="BEBEBE"/>
                </a:solidFill>
                <a:latin typeface="Times New Roman"/>
                <a:cs typeface="Times New Roman"/>
              </a:rPr>
              <a:t>e</a:t>
            </a:r>
            <a:r>
              <a:rPr sz="2000" b="1" spc="35" dirty="0">
                <a:solidFill>
                  <a:srgbClr val="BEBEBE"/>
                </a:solidFill>
                <a:latin typeface="Times New Roman"/>
                <a:cs typeface="Times New Roman"/>
              </a:rPr>
              <a:t>c</a:t>
            </a:r>
            <a:r>
              <a:rPr sz="2000" b="1" spc="15" dirty="0">
                <a:solidFill>
                  <a:srgbClr val="BEBEBE"/>
                </a:solidFill>
                <a:latin typeface="Times New Roman"/>
                <a:cs typeface="Times New Roman"/>
              </a:rPr>
              <a:t>t</a:t>
            </a:r>
            <a:r>
              <a:rPr sz="2000" b="1" spc="-15" dirty="0">
                <a:solidFill>
                  <a:srgbClr val="BEBEBE"/>
                </a:solidFill>
                <a:latin typeface="Times New Roman"/>
                <a:cs typeface="Times New Roman"/>
              </a:rPr>
              <a:t>ures  </a:t>
            </a:r>
            <a:r>
              <a:rPr sz="2000" b="1" spc="-185" dirty="0">
                <a:solidFill>
                  <a:srgbClr val="BEBEBE"/>
                </a:solidFill>
                <a:latin typeface="Times New Roman"/>
                <a:cs typeface="Times New Roman"/>
              </a:rPr>
              <a:t>O</a:t>
            </a:r>
            <a:r>
              <a:rPr sz="2000" b="1" spc="-140" dirty="0">
                <a:solidFill>
                  <a:srgbClr val="BEBEBE"/>
                </a:solidFill>
                <a:latin typeface="Times New Roman"/>
                <a:cs typeface="Times New Roman"/>
              </a:rPr>
              <a:t>S</a:t>
            </a:r>
            <a:r>
              <a:rPr sz="2000" b="1" spc="-50" dirty="0">
                <a:solidFill>
                  <a:srgbClr val="BEBEBE"/>
                </a:solidFill>
                <a:latin typeface="Times New Roman"/>
                <a:cs typeface="Times New Roman"/>
              </a:rPr>
              <a:t>I </a:t>
            </a:r>
            <a:r>
              <a:rPr sz="2000" b="1" spc="5" dirty="0">
                <a:solidFill>
                  <a:srgbClr val="BEBEBE"/>
                </a:solidFill>
                <a:latin typeface="Times New Roman"/>
                <a:cs typeface="Times New Roman"/>
              </a:rPr>
              <a:t>Mo</a:t>
            </a:r>
            <a:r>
              <a:rPr sz="2000" b="1" spc="35" dirty="0">
                <a:solidFill>
                  <a:srgbClr val="BEBEBE"/>
                </a:solidFill>
                <a:latin typeface="Times New Roman"/>
                <a:cs typeface="Times New Roman"/>
              </a:rPr>
              <a:t>del</a:t>
            </a:r>
            <a:endParaRPr sz="2000">
              <a:latin typeface="Times New Roman"/>
              <a:cs typeface="Times New Roman"/>
            </a:endParaRPr>
          </a:p>
          <a:p>
            <a:pPr marL="19685">
              <a:lnSpc>
                <a:spcPct val="100000"/>
              </a:lnSpc>
              <a:spcBef>
                <a:spcPts val="1660"/>
              </a:spcBef>
            </a:pPr>
            <a:r>
              <a:rPr sz="2000" b="1" spc="-195" dirty="0">
                <a:solidFill>
                  <a:srgbClr val="BEBEBE"/>
                </a:solidFill>
                <a:latin typeface="Times New Roman"/>
                <a:cs typeface="Times New Roman"/>
              </a:rPr>
              <a:t>TC</a:t>
            </a:r>
            <a:r>
              <a:rPr sz="2000" b="1" spc="-165" dirty="0">
                <a:solidFill>
                  <a:srgbClr val="BEBEBE"/>
                </a:solidFill>
                <a:latin typeface="Times New Roman"/>
                <a:cs typeface="Times New Roman"/>
              </a:rPr>
              <a:t>P</a:t>
            </a:r>
            <a:r>
              <a:rPr sz="2000" b="1" spc="105" dirty="0">
                <a:solidFill>
                  <a:srgbClr val="BEBEBE"/>
                </a:solidFill>
                <a:latin typeface="Times New Roman"/>
                <a:cs typeface="Times New Roman"/>
              </a:rPr>
              <a:t>/IP</a:t>
            </a:r>
            <a:r>
              <a:rPr sz="2000" b="1" spc="-75" dirty="0">
                <a:solidFill>
                  <a:srgbClr val="BEBEBE"/>
                </a:solidFill>
                <a:latin typeface="Times New Roman"/>
                <a:cs typeface="Times New Roman"/>
              </a:rPr>
              <a:t> </a:t>
            </a:r>
            <a:r>
              <a:rPr sz="2000" b="1" spc="25" dirty="0">
                <a:solidFill>
                  <a:srgbClr val="BEBEBE"/>
                </a:solidFill>
                <a:latin typeface="Times New Roman"/>
                <a:cs typeface="Times New Roman"/>
              </a:rPr>
              <a:t>Model</a:t>
            </a:r>
            <a:endParaRPr sz="2000">
              <a:latin typeface="Times New Roman"/>
              <a:cs typeface="Times New Roman"/>
            </a:endParaRPr>
          </a:p>
          <a:p>
            <a:pPr marL="19685">
              <a:lnSpc>
                <a:spcPct val="100000"/>
              </a:lnSpc>
              <a:spcBef>
                <a:spcPts val="1655"/>
              </a:spcBef>
            </a:pPr>
            <a:r>
              <a:rPr sz="2000" b="1" spc="5" dirty="0">
                <a:solidFill>
                  <a:srgbClr val="BEBEBE"/>
                </a:solidFill>
                <a:latin typeface="Times New Roman"/>
                <a:cs typeface="Times New Roman"/>
              </a:rPr>
              <a:t>Design</a:t>
            </a:r>
            <a:r>
              <a:rPr sz="2000" b="1" spc="-80" dirty="0">
                <a:solidFill>
                  <a:srgbClr val="BEBEBE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BEBEBE"/>
                </a:solidFill>
                <a:latin typeface="Times New Roman"/>
                <a:cs typeface="Times New Roman"/>
              </a:rPr>
              <a:t>issues</a:t>
            </a:r>
            <a:r>
              <a:rPr sz="2000" b="1" spc="-70" dirty="0">
                <a:solidFill>
                  <a:srgbClr val="BEBEBE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BEBEBE"/>
                </a:solidFill>
                <a:latin typeface="Times New Roman"/>
                <a:cs typeface="Times New Roman"/>
              </a:rPr>
              <a:t>for</a:t>
            </a:r>
            <a:r>
              <a:rPr sz="2000" b="1" spc="-75" dirty="0">
                <a:solidFill>
                  <a:srgbClr val="BEBEBE"/>
                </a:solidFill>
                <a:latin typeface="Times New Roman"/>
                <a:cs typeface="Times New Roman"/>
              </a:rPr>
              <a:t> </a:t>
            </a:r>
            <a:r>
              <a:rPr sz="2000" b="1" spc="-100" dirty="0">
                <a:solidFill>
                  <a:srgbClr val="BEBEBE"/>
                </a:solidFill>
                <a:latin typeface="Times New Roman"/>
                <a:cs typeface="Times New Roman"/>
              </a:rPr>
              <a:t>Layers</a:t>
            </a:r>
            <a:endParaRPr sz="2000">
              <a:latin typeface="Times New Roman"/>
              <a:cs typeface="Times New Roman"/>
            </a:endParaRPr>
          </a:p>
          <a:p>
            <a:pPr marL="19685" marR="3543935">
              <a:lnSpc>
                <a:spcPct val="169000"/>
              </a:lnSpc>
              <a:spcBef>
                <a:spcPts val="5"/>
              </a:spcBef>
            </a:pPr>
            <a:r>
              <a:rPr sz="2000" b="1" spc="-370" dirty="0">
                <a:solidFill>
                  <a:srgbClr val="BEBEBE"/>
                </a:solidFill>
                <a:latin typeface="Times New Roman"/>
                <a:cs typeface="Times New Roman"/>
              </a:rPr>
              <a:t>T</a:t>
            </a:r>
            <a:r>
              <a:rPr sz="2000" b="1" spc="-20" dirty="0">
                <a:solidFill>
                  <a:srgbClr val="BEBEBE"/>
                </a:solidFill>
                <a:latin typeface="Times New Roman"/>
                <a:cs typeface="Times New Roman"/>
              </a:rPr>
              <a:t>ransmissio</a:t>
            </a:r>
            <a:r>
              <a:rPr sz="2000" b="1" spc="15" dirty="0">
                <a:solidFill>
                  <a:srgbClr val="BEBEBE"/>
                </a:solidFill>
                <a:latin typeface="Times New Roman"/>
                <a:cs typeface="Times New Roman"/>
              </a:rPr>
              <a:t>n</a:t>
            </a:r>
            <a:r>
              <a:rPr sz="2000" b="1" spc="-85" dirty="0">
                <a:solidFill>
                  <a:srgbClr val="BEBEBE"/>
                </a:solidFill>
                <a:latin typeface="Times New Roman"/>
                <a:cs typeface="Times New Roman"/>
              </a:rPr>
              <a:t> </a:t>
            </a:r>
            <a:r>
              <a:rPr sz="2000" b="1" spc="-15" dirty="0">
                <a:solidFill>
                  <a:srgbClr val="BEBEBE"/>
                </a:solidFill>
                <a:latin typeface="Times New Roman"/>
                <a:cs typeface="Times New Roman"/>
              </a:rPr>
              <a:t>M</a:t>
            </a:r>
            <a:r>
              <a:rPr sz="2000" b="1" spc="-20" dirty="0">
                <a:solidFill>
                  <a:srgbClr val="BEBEBE"/>
                </a:solidFill>
                <a:latin typeface="Times New Roman"/>
                <a:cs typeface="Times New Roman"/>
              </a:rPr>
              <a:t>e</a:t>
            </a:r>
            <a:r>
              <a:rPr sz="2000" b="1" spc="30" dirty="0">
                <a:solidFill>
                  <a:srgbClr val="BEBEBE"/>
                </a:solidFill>
                <a:latin typeface="Times New Roman"/>
                <a:cs typeface="Times New Roman"/>
              </a:rPr>
              <a:t>di</a:t>
            </a:r>
            <a:r>
              <a:rPr sz="2000" b="1" spc="-25" dirty="0">
                <a:solidFill>
                  <a:srgbClr val="BEBEBE"/>
                </a:solidFill>
                <a:latin typeface="Times New Roman"/>
                <a:cs typeface="Times New Roman"/>
              </a:rPr>
              <a:t>ums  </a:t>
            </a:r>
            <a:r>
              <a:rPr sz="20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Network</a:t>
            </a:r>
            <a:r>
              <a:rPr sz="2000" b="1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Devices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14"/>
              </a:spcBef>
            </a:pPr>
            <a:r>
              <a:rPr sz="1800" spc="-240" dirty="0">
                <a:latin typeface="Times New Roman"/>
                <a:cs typeface="Times New Roman"/>
              </a:rPr>
              <a:t>M</a:t>
            </a:r>
            <a:r>
              <a:rPr sz="1800" spc="-114" dirty="0">
                <a:latin typeface="Times New Roman"/>
                <a:cs typeface="Times New Roman"/>
              </a:rPr>
              <a:t>a</a:t>
            </a:r>
            <a:r>
              <a:rPr sz="1800" spc="-100" dirty="0">
                <a:latin typeface="Times New Roman"/>
                <a:cs typeface="Times New Roman"/>
              </a:rPr>
              <a:t>n</a:t>
            </a:r>
            <a:r>
              <a:rPr sz="1800" spc="-50" dirty="0">
                <a:latin typeface="Times New Roman"/>
                <a:cs typeface="Times New Roman"/>
              </a:rPr>
              <a:t>c</a:t>
            </a:r>
            <a:r>
              <a:rPr sz="1800" spc="-110" dirty="0">
                <a:latin typeface="Times New Roman"/>
                <a:cs typeface="Times New Roman"/>
              </a:rPr>
              <a:t>hes</a:t>
            </a:r>
            <a:r>
              <a:rPr sz="1800" spc="-10" dirty="0">
                <a:latin typeface="Times New Roman"/>
                <a:cs typeface="Times New Roman"/>
              </a:rPr>
              <a:t>ter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spc="-110" dirty="0">
                <a:latin typeface="Times New Roman"/>
                <a:cs typeface="Times New Roman"/>
              </a:rPr>
              <a:t>an</a:t>
            </a:r>
            <a:r>
              <a:rPr sz="1800" spc="-80" dirty="0">
                <a:latin typeface="Times New Roman"/>
                <a:cs typeface="Times New Roman"/>
              </a:rPr>
              <a:t>d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110" dirty="0">
                <a:latin typeface="Times New Roman"/>
                <a:cs typeface="Times New Roman"/>
              </a:rPr>
              <a:t>D</a:t>
            </a:r>
            <a:r>
              <a:rPr sz="1800" spc="-85" dirty="0">
                <a:latin typeface="Times New Roman"/>
                <a:cs typeface="Times New Roman"/>
              </a:rPr>
              <a:t>iffe</a:t>
            </a:r>
            <a:r>
              <a:rPr sz="1800" spc="-95" dirty="0">
                <a:latin typeface="Times New Roman"/>
                <a:cs typeface="Times New Roman"/>
              </a:rPr>
              <a:t>r</a:t>
            </a:r>
            <a:r>
              <a:rPr sz="1800" spc="-50" dirty="0">
                <a:latin typeface="Times New Roman"/>
                <a:cs typeface="Times New Roman"/>
              </a:rPr>
              <a:t>en</a:t>
            </a:r>
            <a:r>
              <a:rPr sz="1800" spc="-25" dirty="0">
                <a:latin typeface="Times New Roman"/>
                <a:cs typeface="Times New Roman"/>
              </a:rPr>
              <a:t>t</a:t>
            </a:r>
            <a:r>
              <a:rPr sz="1800" spc="-100" dirty="0">
                <a:latin typeface="Times New Roman"/>
                <a:cs typeface="Times New Roman"/>
              </a:rPr>
              <a:t>ial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spc="-240" dirty="0">
                <a:latin typeface="Times New Roman"/>
                <a:cs typeface="Times New Roman"/>
              </a:rPr>
              <a:t>M</a:t>
            </a:r>
            <a:r>
              <a:rPr sz="1800" spc="-114" dirty="0">
                <a:latin typeface="Times New Roman"/>
                <a:cs typeface="Times New Roman"/>
              </a:rPr>
              <a:t>a</a:t>
            </a:r>
            <a:r>
              <a:rPr sz="1800" spc="-100" dirty="0">
                <a:latin typeface="Times New Roman"/>
                <a:cs typeface="Times New Roman"/>
              </a:rPr>
              <a:t>n</a:t>
            </a:r>
            <a:r>
              <a:rPr sz="1800" spc="-50" dirty="0">
                <a:latin typeface="Times New Roman"/>
                <a:cs typeface="Times New Roman"/>
              </a:rPr>
              <a:t>c</a:t>
            </a:r>
            <a:r>
              <a:rPr sz="1800" spc="-110" dirty="0">
                <a:latin typeface="Times New Roman"/>
                <a:cs typeface="Times New Roman"/>
              </a:rPr>
              <a:t>hes</a:t>
            </a:r>
            <a:r>
              <a:rPr sz="1800" spc="-10" dirty="0">
                <a:latin typeface="Times New Roman"/>
                <a:cs typeface="Times New Roman"/>
              </a:rPr>
              <a:t>ter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spc="-190" dirty="0">
                <a:latin typeface="Times New Roman"/>
                <a:cs typeface="Times New Roman"/>
              </a:rPr>
              <a:t>E</a:t>
            </a:r>
            <a:r>
              <a:rPr sz="1800" spc="-100" dirty="0">
                <a:latin typeface="Times New Roman"/>
                <a:cs typeface="Times New Roman"/>
              </a:rPr>
              <a:t>n</a:t>
            </a:r>
            <a:r>
              <a:rPr sz="1800" spc="-85" dirty="0">
                <a:latin typeface="Times New Roman"/>
                <a:cs typeface="Times New Roman"/>
              </a:rPr>
              <a:t>c</a:t>
            </a:r>
            <a:r>
              <a:rPr sz="1800" spc="-80" dirty="0">
                <a:latin typeface="Times New Roman"/>
                <a:cs typeface="Times New Roman"/>
              </a:rPr>
              <a:t>o</a:t>
            </a:r>
            <a:r>
              <a:rPr sz="1800" spc="-75" dirty="0">
                <a:latin typeface="Times New Roman"/>
                <a:cs typeface="Times New Roman"/>
              </a:rPr>
              <a:t>d</a:t>
            </a:r>
            <a:r>
              <a:rPr sz="1800" spc="-85" dirty="0">
                <a:latin typeface="Times New Roman"/>
                <a:cs typeface="Times New Roman"/>
              </a:rPr>
              <a:t>ings;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spc="-90" dirty="0">
                <a:latin typeface="Times New Roman"/>
                <a:cs typeface="Times New Roman"/>
              </a:rPr>
              <a:t>IEEE802.11:</a:t>
            </a:r>
            <a:r>
              <a:rPr sz="1800" spc="-120" dirty="0">
                <a:latin typeface="Times New Roman"/>
                <a:cs typeface="Times New Roman"/>
              </a:rPr>
              <a:t> </a:t>
            </a:r>
            <a:r>
              <a:rPr sz="1800" spc="-90" dirty="0">
                <a:latin typeface="Times New Roman"/>
                <a:cs typeface="Times New Roman"/>
              </a:rPr>
              <a:t>Frequency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95" dirty="0">
                <a:latin typeface="Times New Roman"/>
                <a:cs typeface="Times New Roman"/>
              </a:rPr>
              <a:t>Hopping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145" dirty="0">
                <a:latin typeface="Times New Roman"/>
                <a:cs typeface="Times New Roman"/>
              </a:rPr>
              <a:t>(FHSS)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100" dirty="0">
                <a:latin typeface="Times New Roman"/>
                <a:cs typeface="Times New Roman"/>
              </a:rPr>
              <a:t>and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60" dirty="0">
                <a:latin typeface="Times New Roman"/>
                <a:cs typeface="Times New Roman"/>
              </a:rPr>
              <a:t>Direct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105" dirty="0">
                <a:latin typeface="Times New Roman"/>
                <a:cs typeface="Times New Roman"/>
              </a:rPr>
              <a:t>Sequence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155" dirty="0">
                <a:latin typeface="Times New Roman"/>
                <a:cs typeface="Times New Roman"/>
              </a:rPr>
              <a:t>(DSSS)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Devices</a:t>
            </a:r>
            <a:r>
              <a:rPr spc="-15" dirty="0"/>
              <a:t> and</a:t>
            </a:r>
            <a:r>
              <a:rPr spc="-25" dirty="0"/>
              <a:t> the</a:t>
            </a:r>
            <a:r>
              <a:rPr spc="5" dirty="0"/>
              <a:t> </a:t>
            </a:r>
            <a:r>
              <a:rPr spc="-50" dirty="0"/>
              <a:t>layers</a:t>
            </a:r>
            <a:r>
              <a:rPr spc="-5" dirty="0"/>
              <a:t> </a:t>
            </a:r>
            <a:r>
              <a:rPr spc="-50" dirty="0"/>
              <a:t>at</a:t>
            </a:r>
            <a:r>
              <a:rPr spc="-10" dirty="0"/>
              <a:t> </a:t>
            </a:r>
            <a:r>
              <a:rPr spc="-45" dirty="0"/>
              <a:t>which</a:t>
            </a:r>
            <a:r>
              <a:rPr spc="-10" dirty="0"/>
              <a:t> </a:t>
            </a:r>
            <a:r>
              <a:rPr spc="-65" dirty="0"/>
              <a:t>they </a:t>
            </a:r>
            <a:r>
              <a:rPr spc="-885" dirty="0"/>
              <a:t> </a:t>
            </a:r>
            <a:r>
              <a:rPr spc="-40" dirty="0"/>
              <a:t>operate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519112" y="1814512"/>
          <a:ext cx="8272780" cy="41751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382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600" dirty="0">
                          <a:latin typeface="Arial MT"/>
                          <a:cs typeface="Arial MT"/>
                        </a:rPr>
                        <a:t>Layer</a:t>
                      </a:r>
                      <a:endParaRPr sz="2600">
                        <a:latin typeface="Arial MT"/>
                        <a:cs typeface="Arial MT"/>
                      </a:endParaRPr>
                    </a:p>
                  </a:txBody>
                  <a:tcPr marL="0" marR="0" marT="3746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2471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600" dirty="0">
                          <a:latin typeface="Arial MT"/>
                          <a:cs typeface="Arial MT"/>
                        </a:rPr>
                        <a:t>Name</a:t>
                      </a:r>
                      <a:r>
                        <a:rPr sz="26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6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26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600" dirty="0">
                          <a:latin typeface="Arial MT"/>
                          <a:cs typeface="Arial MT"/>
                        </a:rPr>
                        <a:t>Layer</a:t>
                      </a:r>
                      <a:endParaRPr sz="2600">
                        <a:latin typeface="Arial MT"/>
                        <a:cs typeface="Arial MT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2471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600" dirty="0">
                          <a:latin typeface="Arial MT"/>
                          <a:cs typeface="Arial MT"/>
                        </a:rPr>
                        <a:t>Device</a:t>
                      </a:r>
                      <a:endParaRPr sz="2600">
                        <a:latin typeface="Arial MT"/>
                        <a:cs typeface="Arial MT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247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0324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600" dirty="0">
                          <a:latin typeface="Arial MT"/>
                          <a:cs typeface="Arial MT"/>
                        </a:rPr>
                        <a:t>3</a:t>
                      </a:r>
                      <a:endParaRPr sz="2600">
                        <a:latin typeface="Arial MT"/>
                        <a:cs typeface="Arial MT"/>
                      </a:endParaRPr>
                    </a:p>
                  </a:txBody>
                  <a:tcPr marL="0" marR="0" marT="3746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600" dirty="0">
                          <a:latin typeface="Arial MT"/>
                          <a:cs typeface="Arial MT"/>
                        </a:rPr>
                        <a:t>Network</a:t>
                      </a:r>
                      <a:endParaRPr sz="2600">
                        <a:latin typeface="Arial MT"/>
                        <a:cs typeface="Arial MT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marR="31115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600" dirty="0">
                          <a:latin typeface="Arial MT"/>
                          <a:cs typeface="Arial MT"/>
                        </a:rPr>
                        <a:t>Routers,</a:t>
                      </a:r>
                      <a:r>
                        <a:rPr sz="26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600" dirty="0">
                          <a:latin typeface="Arial MT"/>
                          <a:cs typeface="Arial MT"/>
                        </a:rPr>
                        <a:t>layer</a:t>
                      </a:r>
                      <a:r>
                        <a:rPr sz="26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600" dirty="0">
                          <a:latin typeface="Arial MT"/>
                          <a:cs typeface="Arial MT"/>
                        </a:rPr>
                        <a:t>3 </a:t>
                      </a:r>
                      <a:r>
                        <a:rPr sz="2600" spc="-70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600" dirty="0">
                          <a:latin typeface="Arial MT"/>
                          <a:cs typeface="Arial MT"/>
                        </a:rPr>
                        <a:t>switches</a:t>
                      </a:r>
                      <a:endParaRPr sz="2600">
                        <a:latin typeface="Arial MT"/>
                        <a:cs typeface="Arial MT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0172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600" dirty="0">
                          <a:latin typeface="Arial MT"/>
                          <a:cs typeface="Arial MT"/>
                        </a:rPr>
                        <a:t>2</a:t>
                      </a:r>
                      <a:endParaRPr sz="26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600" dirty="0">
                          <a:latin typeface="Arial MT"/>
                          <a:cs typeface="Arial MT"/>
                        </a:rPr>
                        <a:t>Data</a:t>
                      </a:r>
                      <a:r>
                        <a:rPr sz="26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600" dirty="0">
                          <a:latin typeface="Arial MT"/>
                          <a:cs typeface="Arial MT"/>
                        </a:rPr>
                        <a:t>Link</a:t>
                      </a:r>
                      <a:endParaRPr sz="26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marR="57340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600" dirty="0">
                          <a:latin typeface="Arial MT"/>
                          <a:cs typeface="Arial MT"/>
                        </a:rPr>
                        <a:t>Switches, </a:t>
                      </a:r>
                      <a:r>
                        <a:rPr sz="26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600" spc="-5" dirty="0">
                          <a:latin typeface="Arial MT"/>
                          <a:cs typeface="Arial MT"/>
                        </a:rPr>
                        <a:t>bridges,</a:t>
                      </a:r>
                      <a:r>
                        <a:rPr sz="2600" spc="-6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600" spc="-15" dirty="0">
                          <a:latin typeface="Arial MT"/>
                          <a:cs typeface="Arial MT"/>
                        </a:rPr>
                        <a:t>NIC’s</a:t>
                      </a:r>
                      <a:endParaRPr sz="26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03376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600" dirty="0">
                          <a:latin typeface="Arial MT"/>
                          <a:cs typeface="Arial MT"/>
                        </a:rPr>
                        <a:t>1</a:t>
                      </a:r>
                      <a:endParaRPr sz="26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600" dirty="0">
                          <a:latin typeface="Arial MT"/>
                          <a:cs typeface="Arial MT"/>
                        </a:rPr>
                        <a:t>Physical</a:t>
                      </a:r>
                      <a:endParaRPr sz="26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600" dirty="0">
                          <a:latin typeface="Arial MT"/>
                          <a:cs typeface="Arial MT"/>
                        </a:rPr>
                        <a:t>Hubs,</a:t>
                      </a:r>
                      <a:r>
                        <a:rPr sz="26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600" dirty="0">
                          <a:latin typeface="Arial MT"/>
                          <a:cs typeface="Arial MT"/>
                        </a:rPr>
                        <a:t>Repeaters</a:t>
                      </a:r>
                      <a:endParaRPr sz="26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688974"/>
            <a:ext cx="3707129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70" dirty="0"/>
              <a:t>Network</a:t>
            </a:r>
            <a:r>
              <a:rPr sz="4000" spc="-50" dirty="0"/>
              <a:t> </a:t>
            </a:r>
            <a:r>
              <a:rPr sz="4000" spc="-20" dirty="0"/>
              <a:t>Devices: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993444" y="1358239"/>
            <a:ext cx="1793239" cy="238823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86385" indent="-274320">
              <a:lnSpc>
                <a:spcPct val="100000"/>
              </a:lnSpc>
              <a:spcBef>
                <a:spcPts val="70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145" dirty="0">
                <a:latin typeface="Times New Roman"/>
                <a:cs typeface="Times New Roman"/>
              </a:rPr>
              <a:t>Bridge</a:t>
            </a:r>
            <a:endParaRPr sz="2600">
              <a:latin typeface="Times New Roman"/>
              <a:cs typeface="Times New Roman"/>
            </a:endParaRPr>
          </a:p>
          <a:p>
            <a:pPr marL="286385" indent="-274320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145" dirty="0">
                <a:latin typeface="Times New Roman"/>
                <a:cs typeface="Times New Roman"/>
              </a:rPr>
              <a:t>Switch</a:t>
            </a:r>
            <a:endParaRPr sz="2600">
              <a:latin typeface="Times New Roman"/>
              <a:cs typeface="Times New Roman"/>
            </a:endParaRPr>
          </a:p>
          <a:p>
            <a:pPr marL="286385" indent="-274320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80" dirty="0">
                <a:latin typeface="Times New Roman"/>
                <a:cs typeface="Times New Roman"/>
              </a:rPr>
              <a:t>Router</a:t>
            </a:r>
            <a:endParaRPr sz="2600">
              <a:latin typeface="Times New Roman"/>
              <a:cs typeface="Times New Roman"/>
            </a:endParaRPr>
          </a:p>
          <a:p>
            <a:pPr marL="286385" indent="-274320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254" dirty="0">
                <a:latin typeface="Times New Roman"/>
                <a:cs typeface="Times New Roman"/>
              </a:rPr>
              <a:t>B</a:t>
            </a:r>
            <a:r>
              <a:rPr sz="2600" spc="-145" dirty="0">
                <a:latin typeface="Times New Roman"/>
                <a:cs typeface="Times New Roman"/>
              </a:rPr>
              <a:t>r</a:t>
            </a:r>
            <a:r>
              <a:rPr sz="2600" spc="-110" dirty="0">
                <a:latin typeface="Times New Roman"/>
                <a:cs typeface="Times New Roman"/>
              </a:rPr>
              <a:t>o</a:t>
            </a:r>
            <a:r>
              <a:rPr sz="2600" spc="-125" dirty="0">
                <a:latin typeface="Times New Roman"/>
                <a:cs typeface="Times New Roman"/>
              </a:rPr>
              <a:t>u</a:t>
            </a:r>
            <a:r>
              <a:rPr sz="2600" spc="-10" dirty="0">
                <a:latin typeface="Times New Roman"/>
                <a:cs typeface="Times New Roman"/>
              </a:rPr>
              <a:t>ter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45" dirty="0">
                <a:latin typeface="Times New Roman"/>
                <a:cs typeface="Times New Roman"/>
              </a:rPr>
              <a:t>and</a:t>
            </a:r>
            <a:endParaRPr sz="2600">
              <a:latin typeface="Times New Roman"/>
              <a:cs typeface="Times New Roman"/>
            </a:endParaRPr>
          </a:p>
          <a:p>
            <a:pPr marL="286385" indent="-274320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235" dirty="0">
                <a:latin typeface="Times New Roman"/>
                <a:cs typeface="Times New Roman"/>
              </a:rPr>
              <a:t>Ac</a:t>
            </a:r>
            <a:r>
              <a:rPr sz="2600" spc="-190" dirty="0">
                <a:latin typeface="Times New Roman"/>
                <a:cs typeface="Times New Roman"/>
              </a:rPr>
              <a:t>c</a:t>
            </a:r>
            <a:r>
              <a:rPr sz="2600" spc="-165" dirty="0">
                <a:latin typeface="Times New Roman"/>
                <a:cs typeface="Times New Roman"/>
              </a:rPr>
              <a:t>ess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245" dirty="0">
                <a:latin typeface="Times New Roman"/>
                <a:cs typeface="Times New Roman"/>
              </a:rPr>
              <a:t>P</a:t>
            </a:r>
            <a:r>
              <a:rPr sz="2600" spc="-80" dirty="0">
                <a:latin typeface="Times New Roman"/>
                <a:cs typeface="Times New Roman"/>
              </a:rPr>
              <a:t>oint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85640" y="454863"/>
            <a:ext cx="113601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10" dirty="0">
                <a:solidFill>
                  <a:srgbClr val="585858"/>
                </a:solidFill>
              </a:rPr>
              <a:t>Hubs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304291" y="1665477"/>
            <a:ext cx="7602220" cy="462788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356870" marR="568960" indent="-344805">
              <a:lnSpc>
                <a:spcPts val="2950"/>
              </a:lnSpc>
              <a:spcBef>
                <a:spcPts val="535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2800" spc="-365" dirty="0">
                <a:latin typeface="Times New Roman"/>
                <a:cs typeface="Times New Roman"/>
              </a:rPr>
              <a:t>A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spc="-150" dirty="0">
                <a:latin typeface="Times New Roman"/>
                <a:cs typeface="Times New Roman"/>
              </a:rPr>
              <a:t>hub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spc="-150" dirty="0">
                <a:latin typeface="Times New Roman"/>
                <a:cs typeface="Times New Roman"/>
              </a:rPr>
              <a:t>i</a:t>
            </a:r>
            <a:r>
              <a:rPr sz="2800" spc="-215" dirty="0">
                <a:latin typeface="Times New Roman"/>
                <a:cs typeface="Times New Roman"/>
              </a:rPr>
              <a:t>s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spc="-150" dirty="0">
                <a:latin typeface="Times New Roman"/>
                <a:cs typeface="Times New Roman"/>
              </a:rPr>
              <a:t>us</a:t>
            </a:r>
            <a:r>
              <a:rPr sz="2800" spc="-145" dirty="0">
                <a:latin typeface="Times New Roman"/>
                <a:cs typeface="Times New Roman"/>
              </a:rPr>
              <a:t>e</a:t>
            </a:r>
            <a:r>
              <a:rPr sz="2800" spc="-120" dirty="0">
                <a:latin typeface="Times New Roman"/>
                <a:cs typeface="Times New Roman"/>
              </a:rPr>
              <a:t>d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spc="-240" dirty="0">
                <a:latin typeface="Times New Roman"/>
                <a:cs typeface="Times New Roman"/>
              </a:rPr>
              <a:t>a</a:t>
            </a:r>
            <a:r>
              <a:rPr sz="2800" spc="-204" dirty="0">
                <a:latin typeface="Times New Roman"/>
                <a:cs typeface="Times New Roman"/>
              </a:rPr>
              <a:t>s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spc="-225" dirty="0">
                <a:latin typeface="Times New Roman"/>
                <a:cs typeface="Times New Roman"/>
              </a:rPr>
              <a:t>a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spc="-180" dirty="0">
                <a:latin typeface="Times New Roman"/>
                <a:cs typeface="Times New Roman"/>
              </a:rPr>
              <a:t>c</a:t>
            </a:r>
            <a:r>
              <a:rPr sz="2800" spc="-110" dirty="0">
                <a:latin typeface="Times New Roman"/>
                <a:cs typeface="Times New Roman"/>
              </a:rPr>
              <a:t>e</a:t>
            </a:r>
            <a:r>
              <a:rPr sz="2800" spc="-145" dirty="0">
                <a:latin typeface="Times New Roman"/>
                <a:cs typeface="Times New Roman"/>
              </a:rPr>
              <a:t>n</a:t>
            </a:r>
            <a:r>
              <a:rPr sz="2800" spc="20" dirty="0">
                <a:latin typeface="Times New Roman"/>
                <a:cs typeface="Times New Roman"/>
              </a:rPr>
              <a:t>t</a:t>
            </a:r>
            <a:r>
              <a:rPr sz="2800" spc="15" dirty="0">
                <a:latin typeface="Times New Roman"/>
                <a:cs typeface="Times New Roman"/>
              </a:rPr>
              <a:t>r</a:t>
            </a:r>
            <a:r>
              <a:rPr sz="2800" spc="-240" dirty="0">
                <a:latin typeface="Times New Roman"/>
                <a:cs typeface="Times New Roman"/>
              </a:rPr>
              <a:t>a</a:t>
            </a:r>
            <a:r>
              <a:rPr sz="2800" spc="-110" dirty="0">
                <a:latin typeface="Times New Roman"/>
                <a:cs typeface="Times New Roman"/>
              </a:rPr>
              <a:t>l</a:t>
            </a:r>
            <a:r>
              <a:rPr sz="2800" spc="-130" dirty="0">
                <a:latin typeface="Times New Roman"/>
                <a:cs typeface="Times New Roman"/>
              </a:rPr>
              <a:t> </a:t>
            </a:r>
            <a:r>
              <a:rPr sz="2800" spc="-95" dirty="0">
                <a:latin typeface="Times New Roman"/>
                <a:cs typeface="Times New Roman"/>
              </a:rPr>
              <a:t>point </a:t>
            </a:r>
            <a:r>
              <a:rPr sz="2800" spc="-165" dirty="0">
                <a:latin typeface="Times New Roman"/>
                <a:cs typeface="Times New Roman"/>
              </a:rPr>
              <a:t>of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spc="-135" dirty="0">
                <a:latin typeface="Times New Roman"/>
                <a:cs typeface="Times New Roman"/>
              </a:rPr>
              <a:t>co</a:t>
            </a:r>
            <a:r>
              <a:rPr sz="2800" spc="-140" dirty="0">
                <a:latin typeface="Times New Roman"/>
                <a:cs typeface="Times New Roman"/>
              </a:rPr>
              <a:t>n</a:t>
            </a:r>
            <a:r>
              <a:rPr sz="2800" spc="-135" dirty="0">
                <a:latin typeface="Times New Roman"/>
                <a:cs typeface="Times New Roman"/>
              </a:rPr>
              <a:t>ne</a:t>
            </a:r>
            <a:r>
              <a:rPr sz="2800" spc="-125" dirty="0">
                <a:latin typeface="Times New Roman"/>
                <a:cs typeface="Times New Roman"/>
              </a:rPr>
              <a:t>c</a:t>
            </a:r>
            <a:r>
              <a:rPr sz="2800" spc="20" dirty="0">
                <a:latin typeface="Times New Roman"/>
                <a:cs typeface="Times New Roman"/>
              </a:rPr>
              <a:t>t</a:t>
            </a:r>
            <a:r>
              <a:rPr sz="2800" spc="-130" dirty="0">
                <a:latin typeface="Times New Roman"/>
                <a:cs typeface="Times New Roman"/>
              </a:rPr>
              <a:t>ion</a:t>
            </a:r>
            <a:r>
              <a:rPr sz="2800" spc="-305" dirty="0">
                <a:latin typeface="Times New Roman"/>
                <a:cs typeface="Times New Roman"/>
              </a:rPr>
              <a:t> </a:t>
            </a:r>
            <a:r>
              <a:rPr sz="2800" spc="-190" dirty="0">
                <a:latin typeface="Times New Roman"/>
                <a:cs typeface="Times New Roman"/>
              </a:rPr>
              <a:t>am</a:t>
            </a:r>
            <a:r>
              <a:rPr sz="2800" spc="-150" dirty="0">
                <a:latin typeface="Times New Roman"/>
                <a:cs typeface="Times New Roman"/>
              </a:rPr>
              <a:t>o</a:t>
            </a:r>
            <a:r>
              <a:rPr sz="2800" spc="-135" dirty="0">
                <a:latin typeface="Times New Roman"/>
                <a:cs typeface="Times New Roman"/>
              </a:rPr>
              <a:t>ng  </a:t>
            </a:r>
            <a:r>
              <a:rPr sz="2800" spc="-145" dirty="0">
                <a:latin typeface="Times New Roman"/>
                <a:cs typeface="Times New Roman"/>
              </a:rPr>
              <a:t>me</a:t>
            </a:r>
            <a:r>
              <a:rPr sz="2800" spc="-110" dirty="0">
                <a:latin typeface="Times New Roman"/>
                <a:cs typeface="Times New Roman"/>
              </a:rPr>
              <a:t>d</a:t>
            </a:r>
            <a:r>
              <a:rPr sz="2800" spc="-180" dirty="0">
                <a:latin typeface="Times New Roman"/>
                <a:cs typeface="Times New Roman"/>
              </a:rPr>
              <a:t>ia</a:t>
            </a:r>
            <a:r>
              <a:rPr sz="2800" spc="-210" dirty="0">
                <a:latin typeface="Times New Roman"/>
                <a:cs typeface="Times New Roman"/>
              </a:rPr>
              <a:t> </a:t>
            </a:r>
            <a:r>
              <a:rPr sz="2800" spc="-175" dirty="0">
                <a:latin typeface="Times New Roman"/>
                <a:cs typeface="Times New Roman"/>
              </a:rPr>
              <a:t>segm</a:t>
            </a:r>
            <a:r>
              <a:rPr sz="2800" spc="-140" dirty="0">
                <a:latin typeface="Times New Roman"/>
                <a:cs typeface="Times New Roman"/>
              </a:rPr>
              <a:t>e</a:t>
            </a:r>
            <a:r>
              <a:rPr sz="2800" spc="-55" dirty="0">
                <a:latin typeface="Times New Roman"/>
                <a:cs typeface="Times New Roman"/>
              </a:rPr>
              <a:t>n</a:t>
            </a:r>
            <a:r>
              <a:rPr sz="2800" spc="-45" dirty="0">
                <a:latin typeface="Times New Roman"/>
                <a:cs typeface="Times New Roman"/>
              </a:rPr>
              <a:t>t</a:t>
            </a:r>
            <a:r>
              <a:rPr sz="2800" spc="-275" dirty="0">
                <a:latin typeface="Times New Roman"/>
                <a:cs typeface="Times New Roman"/>
              </a:rPr>
              <a:t>s</a:t>
            </a:r>
            <a:r>
              <a:rPr sz="2800" spc="114" dirty="0">
                <a:latin typeface="Times New Roman"/>
                <a:cs typeface="Times New Roman"/>
              </a:rPr>
              <a:t>.</a:t>
            </a:r>
            <a:endParaRPr sz="2800">
              <a:latin typeface="Times New Roman"/>
              <a:cs typeface="Times New Roman"/>
            </a:endParaRPr>
          </a:p>
          <a:p>
            <a:pPr marL="356870" marR="624840" indent="-344805">
              <a:lnSpc>
                <a:spcPts val="2890"/>
              </a:lnSpc>
              <a:spcBef>
                <a:spcPts val="5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2800" spc="-175" dirty="0">
                <a:latin typeface="Times New Roman"/>
                <a:cs typeface="Times New Roman"/>
              </a:rPr>
              <a:t>Cables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130" dirty="0">
                <a:latin typeface="Times New Roman"/>
                <a:cs typeface="Times New Roman"/>
              </a:rPr>
              <a:t>from</a:t>
            </a:r>
            <a:r>
              <a:rPr sz="2800" spc="-125" dirty="0">
                <a:latin typeface="Times New Roman"/>
                <a:cs typeface="Times New Roman"/>
              </a:rPr>
              <a:t> </a:t>
            </a:r>
            <a:r>
              <a:rPr sz="2800" spc="-114" dirty="0">
                <a:latin typeface="Times New Roman"/>
                <a:cs typeface="Times New Roman"/>
              </a:rPr>
              <a:t>network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spc="-175" dirty="0">
                <a:latin typeface="Times New Roman"/>
                <a:cs typeface="Times New Roman"/>
              </a:rPr>
              <a:t>devices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spc="-145" dirty="0">
                <a:latin typeface="Times New Roman"/>
                <a:cs typeface="Times New Roman"/>
              </a:rPr>
              <a:t>plug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spc="-130" dirty="0">
                <a:latin typeface="Times New Roman"/>
                <a:cs typeface="Times New Roman"/>
              </a:rPr>
              <a:t>in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spc="-50" dirty="0">
                <a:latin typeface="Times New Roman"/>
                <a:cs typeface="Times New Roman"/>
              </a:rPr>
              <a:t>to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spc="-85" dirty="0">
                <a:latin typeface="Times New Roman"/>
                <a:cs typeface="Times New Roman"/>
              </a:rPr>
              <a:t>the </a:t>
            </a:r>
            <a:r>
              <a:rPr sz="2800" spc="-60" dirty="0">
                <a:latin typeface="Times New Roman"/>
                <a:cs typeface="Times New Roman"/>
              </a:rPr>
              <a:t>ports</a:t>
            </a:r>
            <a:r>
              <a:rPr sz="2800" spc="-200" dirty="0">
                <a:latin typeface="Times New Roman"/>
                <a:cs typeface="Times New Roman"/>
              </a:rPr>
              <a:t> </a:t>
            </a:r>
            <a:r>
              <a:rPr sz="2800" spc="-120" dirty="0">
                <a:latin typeface="Times New Roman"/>
                <a:cs typeface="Times New Roman"/>
              </a:rPr>
              <a:t>on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85" dirty="0">
                <a:latin typeface="Times New Roman"/>
                <a:cs typeface="Times New Roman"/>
              </a:rPr>
              <a:t>th</a:t>
            </a:r>
            <a:r>
              <a:rPr sz="2800" spc="-90" dirty="0">
                <a:latin typeface="Times New Roman"/>
                <a:cs typeface="Times New Roman"/>
              </a:rPr>
              <a:t>e</a:t>
            </a:r>
            <a:r>
              <a:rPr sz="2800" spc="-215" dirty="0">
                <a:latin typeface="Times New Roman"/>
                <a:cs typeface="Times New Roman"/>
              </a:rPr>
              <a:t> </a:t>
            </a:r>
            <a:r>
              <a:rPr sz="2800" spc="-150" dirty="0">
                <a:latin typeface="Times New Roman"/>
                <a:cs typeface="Times New Roman"/>
              </a:rPr>
              <a:t>hu</a:t>
            </a:r>
            <a:r>
              <a:rPr sz="2800" spc="-325" dirty="0">
                <a:latin typeface="Times New Roman"/>
                <a:cs typeface="Times New Roman"/>
              </a:rPr>
              <a:t>b</a:t>
            </a:r>
            <a:r>
              <a:rPr sz="2800" spc="114" dirty="0">
                <a:latin typeface="Times New Roman"/>
                <a:cs typeface="Times New Roman"/>
              </a:rPr>
              <a:t>.</a:t>
            </a:r>
            <a:endParaRPr sz="2800">
              <a:latin typeface="Times New Roman"/>
              <a:cs typeface="Times New Roman"/>
            </a:endParaRPr>
          </a:p>
          <a:p>
            <a:pPr marL="356870" indent="-344805">
              <a:lnSpc>
                <a:spcPts val="3065"/>
              </a:lnSpc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2800" spc="-445" dirty="0">
                <a:latin typeface="Times New Roman"/>
                <a:cs typeface="Times New Roman"/>
              </a:rPr>
              <a:t>T</a:t>
            </a:r>
            <a:r>
              <a:rPr sz="2800" spc="-265" dirty="0">
                <a:latin typeface="Times New Roman"/>
                <a:cs typeface="Times New Roman"/>
              </a:rPr>
              <a:t>y</a:t>
            </a:r>
            <a:r>
              <a:rPr sz="2800" spc="-140" dirty="0">
                <a:latin typeface="Times New Roman"/>
                <a:cs typeface="Times New Roman"/>
              </a:rPr>
              <a:t>p</a:t>
            </a:r>
            <a:r>
              <a:rPr sz="2800" spc="-130" dirty="0">
                <a:latin typeface="Times New Roman"/>
                <a:cs typeface="Times New Roman"/>
              </a:rPr>
              <a:t>e</a:t>
            </a:r>
            <a:r>
              <a:rPr sz="2800" spc="-215" dirty="0">
                <a:latin typeface="Times New Roman"/>
                <a:cs typeface="Times New Roman"/>
              </a:rPr>
              <a:t>s</a:t>
            </a:r>
            <a:r>
              <a:rPr sz="2800" spc="-160" dirty="0">
                <a:latin typeface="Times New Roman"/>
                <a:cs typeface="Times New Roman"/>
              </a:rPr>
              <a:t> </a:t>
            </a:r>
            <a:r>
              <a:rPr sz="2800" spc="-165" dirty="0">
                <a:latin typeface="Times New Roman"/>
                <a:cs typeface="Times New Roman"/>
              </a:rPr>
              <a:t>of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spc="-160" dirty="0">
                <a:latin typeface="Times New Roman"/>
                <a:cs typeface="Times New Roman"/>
              </a:rPr>
              <a:t>H</a:t>
            </a:r>
            <a:r>
              <a:rPr sz="2800" spc="-175" dirty="0">
                <a:latin typeface="Times New Roman"/>
                <a:cs typeface="Times New Roman"/>
              </a:rPr>
              <a:t>U</a:t>
            </a:r>
            <a:r>
              <a:rPr sz="2800" spc="-420" dirty="0">
                <a:latin typeface="Times New Roman"/>
                <a:cs typeface="Times New Roman"/>
              </a:rPr>
              <a:t>BS</a:t>
            </a:r>
            <a:r>
              <a:rPr sz="2800" spc="-160" dirty="0">
                <a:latin typeface="Times New Roman"/>
                <a:cs typeface="Times New Roman"/>
              </a:rPr>
              <a:t> </a:t>
            </a:r>
            <a:r>
              <a:rPr sz="2800" spc="35" dirty="0">
                <a:latin typeface="Times New Roman"/>
                <a:cs typeface="Times New Roman"/>
              </a:rPr>
              <a:t>:</a:t>
            </a:r>
            <a:endParaRPr sz="2800">
              <a:latin typeface="Times New Roman"/>
              <a:cs typeface="Times New Roman"/>
            </a:endParaRPr>
          </a:p>
          <a:p>
            <a:pPr marL="756285" lvl="1" indent="-287020">
              <a:lnSpc>
                <a:spcPts val="2645"/>
              </a:lnSpc>
              <a:buFont typeface="Arial MT"/>
              <a:buChar char="–"/>
              <a:tabLst>
                <a:tab pos="756920" algn="l"/>
                <a:tab pos="5339715" algn="l"/>
              </a:tabLst>
            </a:pPr>
            <a:r>
              <a:rPr sz="2400" spc="-310" dirty="0">
                <a:latin typeface="Times New Roman"/>
                <a:cs typeface="Times New Roman"/>
              </a:rPr>
              <a:t>A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b="1" spc="30" dirty="0">
                <a:latin typeface="Times New Roman"/>
                <a:cs typeface="Times New Roman"/>
              </a:rPr>
              <a:t>p</a:t>
            </a:r>
            <a:r>
              <a:rPr sz="2400" b="1" spc="-110" dirty="0">
                <a:latin typeface="Times New Roman"/>
                <a:cs typeface="Times New Roman"/>
              </a:rPr>
              <a:t>a</a:t>
            </a:r>
            <a:r>
              <a:rPr sz="2400" b="1" spc="-75" dirty="0">
                <a:latin typeface="Times New Roman"/>
                <a:cs typeface="Times New Roman"/>
              </a:rPr>
              <a:t>ss</a:t>
            </a:r>
            <a:r>
              <a:rPr sz="2400" b="1" spc="-25" dirty="0">
                <a:latin typeface="Times New Roman"/>
                <a:cs typeface="Times New Roman"/>
              </a:rPr>
              <a:t>i</a:t>
            </a:r>
            <a:r>
              <a:rPr sz="2400" b="1" spc="-65" dirty="0">
                <a:latin typeface="Times New Roman"/>
                <a:cs typeface="Times New Roman"/>
              </a:rPr>
              <a:t>v</a:t>
            </a:r>
            <a:r>
              <a:rPr sz="2400" b="1" spc="60" dirty="0">
                <a:latin typeface="Times New Roman"/>
                <a:cs typeface="Times New Roman"/>
              </a:rPr>
              <a:t>e</a:t>
            </a:r>
            <a:r>
              <a:rPr sz="2400" b="1" spc="-90" dirty="0">
                <a:latin typeface="Times New Roman"/>
                <a:cs typeface="Times New Roman"/>
              </a:rPr>
              <a:t> </a:t>
            </a:r>
            <a:r>
              <a:rPr sz="2400" b="1" spc="5" dirty="0">
                <a:latin typeface="Times New Roman"/>
                <a:cs typeface="Times New Roman"/>
              </a:rPr>
              <a:t>hub</a:t>
            </a:r>
            <a:r>
              <a:rPr sz="2400" b="1" spc="-80" dirty="0">
                <a:latin typeface="Times New Roman"/>
                <a:cs typeface="Times New Roman"/>
              </a:rPr>
              <a:t> </a:t>
            </a:r>
            <a:r>
              <a:rPr sz="2400" spc="-150" dirty="0">
                <a:latin typeface="Times New Roman"/>
                <a:cs typeface="Times New Roman"/>
              </a:rPr>
              <a:t>is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spc="-130" dirty="0">
                <a:latin typeface="Times New Roman"/>
                <a:cs typeface="Times New Roman"/>
              </a:rPr>
              <a:t>j</a:t>
            </a:r>
            <a:r>
              <a:rPr sz="2400" spc="-110" dirty="0">
                <a:latin typeface="Times New Roman"/>
                <a:cs typeface="Times New Roman"/>
              </a:rPr>
              <a:t>u</a:t>
            </a:r>
            <a:r>
              <a:rPr sz="2400" spc="-195" dirty="0">
                <a:latin typeface="Times New Roman"/>
                <a:cs typeface="Times New Roman"/>
              </a:rPr>
              <a:t>s</a:t>
            </a:r>
            <a:r>
              <a:rPr sz="2400" spc="30" dirty="0">
                <a:latin typeface="Times New Roman"/>
                <a:cs typeface="Times New Roman"/>
              </a:rPr>
              <a:t>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190" dirty="0">
                <a:latin typeface="Times New Roman"/>
                <a:cs typeface="Times New Roman"/>
              </a:rPr>
              <a:t>a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85" dirty="0">
                <a:latin typeface="Times New Roman"/>
                <a:cs typeface="Times New Roman"/>
              </a:rPr>
              <a:t>c</a:t>
            </a:r>
            <a:r>
              <a:rPr sz="2400" spc="-135" dirty="0">
                <a:latin typeface="Times New Roman"/>
                <a:cs typeface="Times New Roman"/>
              </a:rPr>
              <a:t>onne</a:t>
            </a:r>
            <a:r>
              <a:rPr sz="2400" spc="-185" dirty="0">
                <a:latin typeface="Times New Roman"/>
                <a:cs typeface="Times New Roman"/>
              </a:rPr>
              <a:t>c</a:t>
            </a:r>
            <a:r>
              <a:rPr sz="2400" spc="-15" dirty="0">
                <a:latin typeface="Times New Roman"/>
                <a:cs typeface="Times New Roman"/>
              </a:rPr>
              <a:t>t</a:t>
            </a:r>
            <a:r>
              <a:rPr sz="2400" spc="-135" dirty="0">
                <a:latin typeface="Times New Roman"/>
                <a:cs typeface="Times New Roman"/>
              </a:rPr>
              <a:t>o</a:t>
            </a:r>
            <a:r>
              <a:rPr sz="2400" spc="-229" dirty="0">
                <a:latin typeface="Times New Roman"/>
                <a:cs typeface="Times New Roman"/>
              </a:rPr>
              <a:t>r</a:t>
            </a:r>
            <a:r>
              <a:rPr sz="2400" spc="100" dirty="0">
                <a:latin typeface="Times New Roman"/>
                <a:cs typeface="Times New Roman"/>
              </a:rPr>
              <a:t>.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75" dirty="0">
                <a:latin typeface="Times New Roman"/>
                <a:cs typeface="Times New Roman"/>
              </a:rPr>
              <a:t>It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110" dirty="0">
                <a:latin typeface="Times New Roman"/>
                <a:cs typeface="Times New Roman"/>
              </a:rPr>
              <a:t>conn</a:t>
            </a:r>
            <a:r>
              <a:rPr sz="2400" spc="-75" dirty="0">
                <a:latin typeface="Times New Roman"/>
                <a:cs typeface="Times New Roman"/>
              </a:rPr>
              <a:t>ec</a:t>
            </a:r>
            <a:r>
              <a:rPr sz="2400" spc="-60" dirty="0">
                <a:latin typeface="Times New Roman"/>
                <a:cs typeface="Times New Roman"/>
              </a:rPr>
              <a:t>t</a:t>
            </a:r>
            <a:r>
              <a:rPr sz="2400" spc="-185" dirty="0">
                <a:latin typeface="Times New Roman"/>
                <a:cs typeface="Times New Roman"/>
              </a:rPr>
              <a:t>s</a:t>
            </a:r>
            <a:r>
              <a:rPr sz="2400" spc="-114" dirty="0">
                <a:latin typeface="Times New Roman"/>
                <a:cs typeface="Times New Roman"/>
              </a:rPr>
              <a:t> </a:t>
            </a:r>
            <a:r>
              <a:rPr sz="2400" spc="-70" dirty="0">
                <a:latin typeface="Times New Roman"/>
                <a:cs typeface="Times New Roman"/>
              </a:rPr>
              <a:t>the</a:t>
            </a:r>
            <a:r>
              <a:rPr sz="2400" spc="-160" dirty="0">
                <a:latin typeface="Times New Roman"/>
                <a:cs typeface="Times New Roman"/>
              </a:rPr>
              <a:t> </a:t>
            </a:r>
            <a:r>
              <a:rPr sz="2400" spc="-155" dirty="0">
                <a:latin typeface="Times New Roman"/>
                <a:cs typeface="Times New Roman"/>
              </a:rPr>
              <a:t>w</a:t>
            </a:r>
            <a:r>
              <a:rPr sz="2400" spc="-130" dirty="0">
                <a:latin typeface="Times New Roman"/>
                <a:cs typeface="Times New Roman"/>
              </a:rPr>
              <a:t>i</a:t>
            </a:r>
            <a:r>
              <a:rPr sz="2400" spc="-10" dirty="0">
                <a:latin typeface="Times New Roman"/>
                <a:cs typeface="Times New Roman"/>
              </a:rPr>
              <a:t>r</a:t>
            </a:r>
            <a:r>
              <a:rPr sz="2400" spc="-110" dirty="0">
                <a:latin typeface="Times New Roman"/>
                <a:cs typeface="Times New Roman"/>
              </a:rPr>
              <a:t>e</a:t>
            </a:r>
            <a:r>
              <a:rPr sz="2400" spc="-185" dirty="0">
                <a:latin typeface="Times New Roman"/>
                <a:cs typeface="Times New Roman"/>
              </a:rPr>
              <a:t>s</a:t>
            </a:r>
            <a:endParaRPr sz="2400">
              <a:latin typeface="Times New Roman"/>
              <a:cs typeface="Times New Roman"/>
            </a:endParaRPr>
          </a:p>
          <a:p>
            <a:pPr marL="756285">
              <a:lnSpc>
                <a:spcPts val="2765"/>
              </a:lnSpc>
            </a:pPr>
            <a:r>
              <a:rPr sz="2400" spc="-145" dirty="0">
                <a:latin typeface="Times New Roman"/>
                <a:cs typeface="Times New Roman"/>
              </a:rPr>
              <a:t>coming</a:t>
            </a:r>
            <a:r>
              <a:rPr sz="2400" spc="-135" dirty="0">
                <a:latin typeface="Times New Roman"/>
                <a:cs typeface="Times New Roman"/>
              </a:rPr>
              <a:t> </a:t>
            </a:r>
            <a:r>
              <a:rPr sz="2400" spc="-125" dirty="0">
                <a:latin typeface="Times New Roman"/>
                <a:cs typeface="Times New Roman"/>
              </a:rPr>
              <a:t>from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spc="-114" dirty="0">
                <a:latin typeface="Times New Roman"/>
                <a:cs typeface="Times New Roman"/>
              </a:rPr>
              <a:t>different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10" dirty="0">
                <a:latin typeface="Times New Roman"/>
                <a:cs typeface="Times New Roman"/>
              </a:rPr>
              <a:t>branches.</a:t>
            </a:r>
            <a:endParaRPr sz="2400">
              <a:latin typeface="Times New Roman"/>
              <a:cs typeface="Times New Roman"/>
            </a:endParaRPr>
          </a:p>
          <a:p>
            <a:pPr marL="756285" marR="464820" lvl="1" indent="-287020">
              <a:lnSpc>
                <a:spcPct val="104200"/>
              </a:lnSpc>
              <a:spcBef>
                <a:spcPts val="155"/>
              </a:spcBef>
              <a:buFont typeface="Arial MT"/>
              <a:buChar char="–"/>
              <a:tabLst>
                <a:tab pos="756920" algn="l"/>
              </a:tabLst>
            </a:pPr>
            <a:r>
              <a:rPr sz="2400" spc="-120" dirty="0">
                <a:latin typeface="Times New Roman"/>
                <a:cs typeface="Times New Roman"/>
              </a:rPr>
              <a:t>The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spc="-150" dirty="0">
                <a:latin typeface="Times New Roman"/>
                <a:cs typeface="Times New Roman"/>
              </a:rPr>
              <a:t>signal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spc="-170" dirty="0">
                <a:latin typeface="Times New Roman"/>
                <a:cs typeface="Times New Roman"/>
              </a:rPr>
              <a:t>pass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spc="-110" dirty="0">
                <a:latin typeface="Times New Roman"/>
                <a:cs typeface="Times New Roman"/>
              </a:rPr>
              <a:t>through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190" dirty="0">
                <a:latin typeface="Times New Roman"/>
                <a:cs typeface="Times New Roman"/>
              </a:rPr>
              <a:t>a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spc="-170" dirty="0">
                <a:latin typeface="Times New Roman"/>
                <a:cs typeface="Times New Roman"/>
              </a:rPr>
              <a:t>passive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30" dirty="0">
                <a:latin typeface="Times New Roman"/>
                <a:cs typeface="Times New Roman"/>
              </a:rPr>
              <a:t>hub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spc="-80" dirty="0">
                <a:latin typeface="Times New Roman"/>
                <a:cs typeface="Times New Roman"/>
              </a:rPr>
              <a:t>without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regeneration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5" dirty="0">
                <a:latin typeface="Times New Roman"/>
                <a:cs typeface="Times New Roman"/>
              </a:rPr>
              <a:t>o</a:t>
            </a:r>
            <a:r>
              <a:rPr sz="2400" spc="-30" dirty="0">
                <a:latin typeface="Times New Roman"/>
                <a:cs typeface="Times New Roman"/>
              </a:rPr>
              <a:t>r</a:t>
            </a:r>
            <a:r>
              <a:rPr sz="2400" spc="-110" dirty="0">
                <a:latin typeface="Times New Roman"/>
                <a:cs typeface="Times New Roman"/>
              </a:rPr>
              <a:t> </a:t>
            </a:r>
            <a:r>
              <a:rPr sz="2400" spc="-204" dirty="0">
                <a:latin typeface="Times New Roman"/>
                <a:cs typeface="Times New Roman"/>
              </a:rPr>
              <a:t>a</a:t>
            </a:r>
            <a:r>
              <a:rPr sz="2400" spc="-160" dirty="0">
                <a:latin typeface="Times New Roman"/>
                <a:cs typeface="Times New Roman"/>
              </a:rPr>
              <a:t>m</a:t>
            </a:r>
            <a:r>
              <a:rPr sz="2400" spc="-125" dirty="0">
                <a:latin typeface="Times New Roman"/>
                <a:cs typeface="Times New Roman"/>
              </a:rPr>
              <a:t>p</a:t>
            </a:r>
            <a:r>
              <a:rPr sz="2400" spc="-90" dirty="0">
                <a:latin typeface="Times New Roman"/>
                <a:cs typeface="Times New Roman"/>
              </a:rPr>
              <a:t>l</a:t>
            </a:r>
            <a:r>
              <a:rPr sz="2400" spc="-130" dirty="0">
                <a:latin typeface="Times New Roman"/>
                <a:cs typeface="Times New Roman"/>
              </a:rPr>
              <a:t>i</a:t>
            </a:r>
            <a:r>
              <a:rPr sz="2400" spc="-195" dirty="0">
                <a:latin typeface="Times New Roman"/>
                <a:cs typeface="Times New Roman"/>
              </a:rPr>
              <a:t>f</a:t>
            </a:r>
            <a:r>
              <a:rPr sz="2400" spc="-130" dirty="0">
                <a:latin typeface="Times New Roman"/>
                <a:cs typeface="Times New Roman"/>
              </a:rPr>
              <a:t>i</a:t>
            </a:r>
            <a:r>
              <a:rPr sz="2400" spc="-160" dirty="0">
                <a:latin typeface="Times New Roman"/>
                <a:cs typeface="Times New Roman"/>
              </a:rPr>
              <a:t>c</a:t>
            </a:r>
            <a:r>
              <a:rPr sz="2400" spc="-229" dirty="0">
                <a:latin typeface="Times New Roman"/>
                <a:cs typeface="Times New Roman"/>
              </a:rPr>
              <a:t>a</a:t>
            </a:r>
            <a:r>
              <a:rPr sz="2400" spc="10" dirty="0">
                <a:latin typeface="Times New Roman"/>
                <a:cs typeface="Times New Roman"/>
              </a:rPr>
              <a:t>t</a:t>
            </a:r>
            <a:r>
              <a:rPr sz="2400" spc="-130" dirty="0">
                <a:latin typeface="Times New Roman"/>
                <a:cs typeface="Times New Roman"/>
              </a:rPr>
              <a:t>i</a:t>
            </a:r>
            <a:r>
              <a:rPr sz="2400" spc="-105" dirty="0">
                <a:latin typeface="Times New Roman"/>
                <a:cs typeface="Times New Roman"/>
              </a:rPr>
              <a:t>o</a:t>
            </a:r>
            <a:r>
              <a:rPr sz="2400" spc="-120" dirty="0">
                <a:latin typeface="Times New Roman"/>
                <a:cs typeface="Times New Roman"/>
              </a:rPr>
              <a:t>n</a:t>
            </a:r>
            <a:r>
              <a:rPr sz="2400" spc="10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756285" lvl="1" indent="-287020">
              <a:lnSpc>
                <a:spcPct val="100000"/>
              </a:lnSpc>
              <a:spcBef>
                <a:spcPts val="305"/>
              </a:spcBef>
              <a:buFont typeface="Arial MT"/>
              <a:buChar char="–"/>
              <a:tabLst>
                <a:tab pos="756920" algn="l"/>
              </a:tabLst>
            </a:pPr>
            <a:r>
              <a:rPr sz="2400" spc="-114" dirty="0">
                <a:latin typeface="Times New Roman"/>
                <a:cs typeface="Times New Roman"/>
              </a:rPr>
              <a:t>Con</a:t>
            </a:r>
            <a:r>
              <a:rPr sz="2400" spc="-95" dirty="0">
                <a:latin typeface="Times New Roman"/>
                <a:cs typeface="Times New Roman"/>
              </a:rPr>
              <a:t>n</a:t>
            </a:r>
            <a:r>
              <a:rPr sz="2400" spc="-70" dirty="0">
                <a:latin typeface="Times New Roman"/>
                <a:cs typeface="Times New Roman"/>
              </a:rPr>
              <a:t>ect</a:t>
            </a:r>
            <a:r>
              <a:rPr sz="2400" spc="-114" dirty="0">
                <a:latin typeface="Times New Roman"/>
                <a:cs typeface="Times New Roman"/>
              </a:rPr>
              <a:t> </a:t>
            </a:r>
            <a:r>
              <a:rPr sz="2400" spc="-204" dirty="0">
                <a:latin typeface="Times New Roman"/>
                <a:cs typeface="Times New Roman"/>
              </a:rPr>
              <a:t>s</a:t>
            </a:r>
            <a:r>
              <a:rPr sz="2400" spc="-160" dirty="0">
                <a:latin typeface="Times New Roman"/>
                <a:cs typeface="Times New Roman"/>
              </a:rPr>
              <a:t>e</a:t>
            </a:r>
            <a:r>
              <a:rPr sz="2400" spc="-280" dirty="0">
                <a:latin typeface="Times New Roman"/>
                <a:cs typeface="Times New Roman"/>
              </a:rPr>
              <a:t>v</a:t>
            </a:r>
            <a:r>
              <a:rPr sz="2400" spc="-125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r</a:t>
            </a:r>
            <a:r>
              <a:rPr sz="2400" spc="-215" dirty="0">
                <a:latin typeface="Times New Roman"/>
                <a:cs typeface="Times New Roman"/>
              </a:rPr>
              <a:t>a</a:t>
            </a:r>
            <a:r>
              <a:rPr sz="2400" spc="-90" dirty="0">
                <a:latin typeface="Times New Roman"/>
                <a:cs typeface="Times New Roman"/>
              </a:rPr>
              <a:t>l </a:t>
            </a:r>
            <a:r>
              <a:rPr sz="2400" spc="-110" dirty="0">
                <a:latin typeface="Times New Roman"/>
                <a:cs typeface="Times New Roman"/>
              </a:rPr>
              <a:t>ne</a:t>
            </a:r>
            <a:r>
              <a:rPr sz="2400" spc="10" dirty="0">
                <a:latin typeface="Times New Roman"/>
                <a:cs typeface="Times New Roman"/>
              </a:rPr>
              <a:t>t</a:t>
            </a:r>
            <a:r>
              <a:rPr sz="2400" spc="-240" dirty="0">
                <a:latin typeface="Times New Roman"/>
                <a:cs typeface="Times New Roman"/>
              </a:rPr>
              <a:t>w</a:t>
            </a:r>
            <a:r>
              <a:rPr sz="2400" spc="-110" dirty="0">
                <a:latin typeface="Times New Roman"/>
                <a:cs typeface="Times New Roman"/>
              </a:rPr>
              <a:t>o</a:t>
            </a:r>
            <a:r>
              <a:rPr sz="2400" spc="10" dirty="0">
                <a:latin typeface="Times New Roman"/>
                <a:cs typeface="Times New Roman"/>
              </a:rPr>
              <a:t>r</a:t>
            </a:r>
            <a:r>
              <a:rPr sz="2400" spc="-160" dirty="0">
                <a:latin typeface="Times New Roman"/>
                <a:cs typeface="Times New Roman"/>
              </a:rPr>
              <a:t>k</a:t>
            </a:r>
            <a:r>
              <a:rPr sz="2400" spc="-130" dirty="0">
                <a:latin typeface="Times New Roman"/>
                <a:cs typeface="Times New Roman"/>
              </a:rPr>
              <a:t>i</a:t>
            </a:r>
            <a:r>
              <a:rPr sz="2400" spc="-110" dirty="0">
                <a:latin typeface="Times New Roman"/>
                <a:cs typeface="Times New Roman"/>
              </a:rPr>
              <a:t>n</a:t>
            </a:r>
            <a:r>
              <a:rPr sz="2400" spc="-200" dirty="0">
                <a:latin typeface="Times New Roman"/>
                <a:cs typeface="Times New Roman"/>
              </a:rPr>
              <a:t>g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spc="-145" dirty="0">
                <a:latin typeface="Times New Roman"/>
                <a:cs typeface="Times New Roman"/>
              </a:rPr>
              <a:t>ca</a:t>
            </a:r>
            <a:r>
              <a:rPr sz="2400" spc="-200" dirty="0">
                <a:latin typeface="Times New Roman"/>
                <a:cs typeface="Times New Roman"/>
              </a:rPr>
              <a:t>b</a:t>
            </a:r>
            <a:r>
              <a:rPr sz="2400" spc="-125" dirty="0">
                <a:latin typeface="Times New Roman"/>
                <a:cs typeface="Times New Roman"/>
              </a:rPr>
              <a:t>le</a:t>
            </a:r>
            <a:r>
              <a:rPr sz="2400" spc="-130" dirty="0">
                <a:latin typeface="Times New Roman"/>
                <a:cs typeface="Times New Roman"/>
              </a:rPr>
              <a:t>s</a:t>
            </a:r>
            <a:r>
              <a:rPr sz="2400" spc="-110" dirty="0">
                <a:latin typeface="Times New Roman"/>
                <a:cs typeface="Times New Roman"/>
              </a:rPr>
              <a:t> </a:t>
            </a:r>
            <a:r>
              <a:rPr sz="2400" spc="10" dirty="0">
                <a:latin typeface="Times New Roman"/>
                <a:cs typeface="Times New Roman"/>
              </a:rPr>
              <a:t>t</a:t>
            </a:r>
            <a:r>
              <a:rPr sz="2400" spc="-110" dirty="0">
                <a:latin typeface="Times New Roman"/>
                <a:cs typeface="Times New Roman"/>
              </a:rPr>
              <a:t>o</a:t>
            </a:r>
            <a:r>
              <a:rPr sz="2400" spc="-220" dirty="0">
                <a:latin typeface="Times New Roman"/>
                <a:cs typeface="Times New Roman"/>
              </a:rPr>
              <a:t>g</a:t>
            </a:r>
            <a:r>
              <a:rPr sz="2400" spc="-110" dirty="0">
                <a:latin typeface="Times New Roman"/>
                <a:cs typeface="Times New Roman"/>
              </a:rPr>
              <a:t>e</a:t>
            </a:r>
            <a:r>
              <a:rPr sz="2400" spc="10" dirty="0">
                <a:latin typeface="Times New Roman"/>
                <a:cs typeface="Times New Roman"/>
              </a:rPr>
              <a:t>t</a:t>
            </a:r>
            <a:r>
              <a:rPr sz="2400" spc="-160" dirty="0">
                <a:latin typeface="Times New Roman"/>
                <a:cs typeface="Times New Roman"/>
              </a:rPr>
              <a:t>h</a:t>
            </a:r>
            <a:r>
              <a:rPr sz="2400" spc="-110" dirty="0">
                <a:latin typeface="Times New Roman"/>
                <a:cs typeface="Times New Roman"/>
              </a:rPr>
              <a:t>e</a:t>
            </a:r>
            <a:r>
              <a:rPr sz="2400" spc="25" dirty="0">
                <a:latin typeface="Times New Roman"/>
                <a:cs typeface="Times New Roman"/>
              </a:rPr>
              <a:t>r</a:t>
            </a:r>
            <a:endParaRPr sz="2400">
              <a:latin typeface="Times New Roman"/>
              <a:cs typeface="Times New Roman"/>
            </a:endParaRPr>
          </a:p>
          <a:p>
            <a:pPr marL="756285" marR="101600" lvl="1" indent="-287020">
              <a:lnSpc>
                <a:spcPct val="104200"/>
              </a:lnSpc>
              <a:spcBef>
                <a:spcPts val="300"/>
              </a:spcBef>
              <a:buFont typeface="Arial MT"/>
              <a:buChar char="–"/>
              <a:tabLst>
                <a:tab pos="756920" algn="l"/>
              </a:tabLst>
            </a:pPr>
            <a:r>
              <a:rPr sz="2400" b="1" spc="-20" dirty="0">
                <a:latin typeface="Times New Roman"/>
                <a:cs typeface="Times New Roman"/>
              </a:rPr>
              <a:t>Active hubs </a:t>
            </a:r>
            <a:r>
              <a:rPr sz="2400" b="1" dirty="0">
                <a:latin typeface="Times New Roman"/>
                <a:cs typeface="Times New Roman"/>
              </a:rPr>
              <a:t>or </a:t>
            </a:r>
            <a:r>
              <a:rPr sz="2400" b="1" spc="5" dirty="0">
                <a:latin typeface="Times New Roman"/>
                <a:cs typeface="Times New Roman"/>
              </a:rPr>
              <a:t>Multiport </a:t>
            </a:r>
            <a:r>
              <a:rPr sz="2400" b="1" spc="-25" dirty="0">
                <a:latin typeface="Times New Roman"/>
                <a:cs typeface="Times New Roman"/>
              </a:rPr>
              <a:t>repeaters- </a:t>
            </a:r>
            <a:r>
              <a:rPr sz="2400" spc="-160" dirty="0">
                <a:latin typeface="Times New Roman"/>
                <a:cs typeface="Times New Roman"/>
              </a:rPr>
              <a:t>They </a:t>
            </a:r>
            <a:r>
              <a:rPr sz="2400" spc="-100" dirty="0">
                <a:latin typeface="Times New Roman"/>
                <a:cs typeface="Times New Roman"/>
              </a:rPr>
              <a:t>regenerate </a:t>
            </a:r>
            <a:r>
              <a:rPr sz="2400" spc="-50" dirty="0">
                <a:latin typeface="Times New Roman"/>
                <a:cs typeface="Times New Roman"/>
              </a:rPr>
              <a:t>or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160" dirty="0">
                <a:latin typeface="Times New Roman"/>
                <a:cs typeface="Times New Roman"/>
              </a:rPr>
              <a:t>am</a:t>
            </a:r>
            <a:r>
              <a:rPr sz="2400" spc="-125" dirty="0">
                <a:latin typeface="Times New Roman"/>
                <a:cs typeface="Times New Roman"/>
              </a:rPr>
              <a:t>p</a:t>
            </a:r>
            <a:r>
              <a:rPr sz="2400" spc="-130" dirty="0">
                <a:latin typeface="Times New Roman"/>
                <a:cs typeface="Times New Roman"/>
              </a:rPr>
              <a:t>lif</a:t>
            </a:r>
            <a:r>
              <a:rPr sz="2400" spc="-210" dirty="0">
                <a:latin typeface="Times New Roman"/>
                <a:cs typeface="Times New Roman"/>
              </a:rPr>
              <a:t>y</a:t>
            </a:r>
            <a:r>
              <a:rPr sz="2400" spc="-70" dirty="0">
                <a:latin typeface="Times New Roman"/>
                <a:cs typeface="Times New Roman"/>
              </a:rPr>
              <a:t> the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spc="-150" dirty="0">
                <a:latin typeface="Times New Roman"/>
                <a:cs typeface="Times New Roman"/>
              </a:rPr>
              <a:t>si</a:t>
            </a:r>
            <a:r>
              <a:rPr sz="2400" spc="-145" dirty="0">
                <a:latin typeface="Times New Roman"/>
                <a:cs typeface="Times New Roman"/>
              </a:rPr>
              <a:t>gnal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spc="-150" dirty="0">
                <a:latin typeface="Times New Roman"/>
                <a:cs typeface="Times New Roman"/>
              </a:rPr>
              <a:t>b</a:t>
            </a:r>
            <a:r>
              <a:rPr sz="2400" spc="-125" dirty="0">
                <a:latin typeface="Times New Roman"/>
                <a:cs typeface="Times New Roman"/>
              </a:rPr>
              <a:t>e</a:t>
            </a:r>
            <a:r>
              <a:rPr sz="2400" spc="-204" dirty="0">
                <a:latin typeface="Times New Roman"/>
                <a:cs typeface="Times New Roman"/>
              </a:rPr>
              <a:t>f</a:t>
            </a:r>
            <a:r>
              <a:rPr sz="2400" spc="-125" dirty="0">
                <a:latin typeface="Times New Roman"/>
                <a:cs typeface="Times New Roman"/>
              </a:rPr>
              <a:t>o</a:t>
            </a:r>
            <a:r>
              <a:rPr sz="2400" spc="-25" dirty="0">
                <a:latin typeface="Times New Roman"/>
                <a:cs typeface="Times New Roman"/>
              </a:rPr>
              <a:t>r</a:t>
            </a:r>
            <a:r>
              <a:rPr sz="2400" spc="-95" dirty="0">
                <a:latin typeface="Times New Roman"/>
                <a:cs typeface="Times New Roman"/>
              </a:rPr>
              <a:t>e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spc="10" dirty="0">
                <a:latin typeface="Times New Roman"/>
                <a:cs typeface="Times New Roman"/>
              </a:rPr>
              <a:t>t</a:t>
            </a:r>
            <a:r>
              <a:rPr sz="2400" spc="-160" dirty="0">
                <a:latin typeface="Times New Roman"/>
                <a:cs typeface="Times New Roman"/>
              </a:rPr>
              <a:t>h</a:t>
            </a:r>
            <a:r>
              <a:rPr sz="2400" spc="-145" dirty="0">
                <a:latin typeface="Times New Roman"/>
                <a:cs typeface="Times New Roman"/>
              </a:rPr>
              <a:t>e</a:t>
            </a:r>
            <a:r>
              <a:rPr sz="2400" spc="-200" dirty="0">
                <a:latin typeface="Times New Roman"/>
                <a:cs typeface="Times New Roman"/>
              </a:rPr>
              <a:t>y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204" dirty="0">
                <a:latin typeface="Times New Roman"/>
                <a:cs typeface="Times New Roman"/>
              </a:rPr>
              <a:t>a</a:t>
            </a:r>
            <a:r>
              <a:rPr sz="2400" spc="-10" dirty="0">
                <a:latin typeface="Times New Roman"/>
                <a:cs typeface="Times New Roman"/>
              </a:rPr>
              <a:t>r</a:t>
            </a:r>
            <a:r>
              <a:rPr sz="2400" spc="-95" dirty="0">
                <a:latin typeface="Times New Roman"/>
                <a:cs typeface="Times New Roman"/>
              </a:rPr>
              <a:t>e</a:t>
            </a:r>
            <a:r>
              <a:rPr sz="2400" spc="-11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r</a:t>
            </a:r>
            <a:r>
              <a:rPr sz="2400" spc="-125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tr</a:t>
            </a:r>
            <a:r>
              <a:rPr sz="2400" spc="-215" dirty="0">
                <a:latin typeface="Times New Roman"/>
                <a:cs typeface="Times New Roman"/>
              </a:rPr>
              <a:t>a</a:t>
            </a:r>
            <a:r>
              <a:rPr sz="2400" spc="-125" dirty="0">
                <a:latin typeface="Times New Roman"/>
                <a:cs typeface="Times New Roman"/>
              </a:rPr>
              <a:t>n</a:t>
            </a:r>
            <a:r>
              <a:rPr sz="2400" spc="-204" dirty="0">
                <a:latin typeface="Times New Roman"/>
                <a:cs typeface="Times New Roman"/>
              </a:rPr>
              <a:t>s</a:t>
            </a:r>
            <a:r>
              <a:rPr sz="2400" spc="-170" dirty="0">
                <a:latin typeface="Times New Roman"/>
                <a:cs typeface="Times New Roman"/>
              </a:rPr>
              <a:t>m</a:t>
            </a:r>
            <a:r>
              <a:rPr sz="2400" spc="-145" dirty="0">
                <a:latin typeface="Times New Roman"/>
                <a:cs typeface="Times New Roman"/>
              </a:rPr>
              <a:t>i</a:t>
            </a:r>
            <a:r>
              <a:rPr sz="2400" dirty="0">
                <a:latin typeface="Times New Roman"/>
                <a:cs typeface="Times New Roman"/>
              </a:rPr>
              <a:t>tt</a:t>
            </a:r>
            <a:r>
              <a:rPr sz="2400" spc="-125" dirty="0">
                <a:latin typeface="Times New Roman"/>
                <a:cs typeface="Times New Roman"/>
              </a:rPr>
              <a:t>ed</a:t>
            </a:r>
            <a:r>
              <a:rPr sz="2400" spc="10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6076" y="247268"/>
            <a:ext cx="1905000" cy="141795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62141" y="427346"/>
            <a:ext cx="1264795" cy="118047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68526" y="282955"/>
            <a:ext cx="221043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0" dirty="0">
                <a:solidFill>
                  <a:srgbClr val="585858"/>
                </a:solidFill>
              </a:rPr>
              <a:t>Repeaters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112572" y="1049528"/>
            <a:ext cx="4187825" cy="80581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358140" marR="5080" indent="-346075">
              <a:lnSpc>
                <a:spcPts val="2900"/>
              </a:lnSpc>
              <a:spcBef>
                <a:spcPts val="480"/>
              </a:spcBef>
              <a:buFont typeface="Arial MT"/>
              <a:buChar char="•"/>
              <a:tabLst>
                <a:tab pos="356870" algn="l"/>
                <a:tab pos="357505" algn="l"/>
                <a:tab pos="692150" algn="l"/>
                <a:tab pos="2024380" algn="l"/>
                <a:tab pos="2373630" algn="l"/>
                <a:tab pos="2672080" algn="l"/>
                <a:tab pos="3705860" algn="l"/>
              </a:tabLst>
            </a:pPr>
            <a:r>
              <a:rPr sz="2700" spc="-350" dirty="0">
                <a:latin typeface="Times New Roman"/>
                <a:cs typeface="Times New Roman"/>
              </a:rPr>
              <a:t>A	</a:t>
            </a:r>
            <a:r>
              <a:rPr sz="2700" spc="-15" dirty="0">
                <a:latin typeface="Times New Roman"/>
                <a:cs typeface="Times New Roman"/>
              </a:rPr>
              <a:t>r</a:t>
            </a:r>
            <a:r>
              <a:rPr sz="2700" spc="-125" dirty="0">
                <a:latin typeface="Times New Roman"/>
                <a:cs typeface="Times New Roman"/>
              </a:rPr>
              <a:t>e</a:t>
            </a:r>
            <a:r>
              <a:rPr sz="2700" spc="-130" dirty="0">
                <a:latin typeface="Times New Roman"/>
                <a:cs typeface="Times New Roman"/>
              </a:rPr>
              <a:t>p</a:t>
            </a:r>
            <a:r>
              <a:rPr sz="2700" spc="-125" dirty="0">
                <a:latin typeface="Times New Roman"/>
                <a:cs typeface="Times New Roman"/>
              </a:rPr>
              <a:t>e</a:t>
            </a:r>
            <a:r>
              <a:rPr sz="2700" spc="-254" dirty="0">
                <a:latin typeface="Times New Roman"/>
                <a:cs typeface="Times New Roman"/>
              </a:rPr>
              <a:t>a</a:t>
            </a:r>
            <a:r>
              <a:rPr sz="2700" spc="25" dirty="0">
                <a:latin typeface="Times New Roman"/>
                <a:cs typeface="Times New Roman"/>
              </a:rPr>
              <a:t>t</a:t>
            </a:r>
            <a:r>
              <a:rPr sz="2700" spc="-125" dirty="0">
                <a:latin typeface="Times New Roman"/>
                <a:cs typeface="Times New Roman"/>
              </a:rPr>
              <a:t>e</a:t>
            </a:r>
            <a:r>
              <a:rPr sz="2700" spc="30" dirty="0">
                <a:latin typeface="Times New Roman"/>
                <a:cs typeface="Times New Roman"/>
              </a:rPr>
              <a:t>r</a:t>
            </a:r>
            <a:r>
              <a:rPr sz="2700" dirty="0">
                <a:latin typeface="Times New Roman"/>
                <a:cs typeface="Times New Roman"/>
              </a:rPr>
              <a:t>	</a:t>
            </a:r>
            <a:r>
              <a:rPr sz="2700" spc="-140" dirty="0">
                <a:latin typeface="Times New Roman"/>
                <a:cs typeface="Times New Roman"/>
              </a:rPr>
              <a:t>i</a:t>
            </a:r>
            <a:r>
              <a:rPr sz="2700" spc="-200" dirty="0">
                <a:latin typeface="Times New Roman"/>
                <a:cs typeface="Times New Roman"/>
              </a:rPr>
              <a:t>s</a:t>
            </a:r>
            <a:r>
              <a:rPr sz="2700" dirty="0">
                <a:latin typeface="Times New Roman"/>
                <a:cs typeface="Times New Roman"/>
              </a:rPr>
              <a:t>	</a:t>
            </a:r>
            <a:r>
              <a:rPr sz="2700" spc="-215" dirty="0">
                <a:latin typeface="Times New Roman"/>
                <a:cs typeface="Times New Roman"/>
              </a:rPr>
              <a:t>a</a:t>
            </a:r>
            <a:r>
              <a:rPr sz="2700" dirty="0">
                <a:latin typeface="Times New Roman"/>
                <a:cs typeface="Times New Roman"/>
              </a:rPr>
              <a:t>	</a:t>
            </a:r>
            <a:r>
              <a:rPr sz="2700" spc="-130" dirty="0">
                <a:latin typeface="Times New Roman"/>
                <a:cs typeface="Times New Roman"/>
              </a:rPr>
              <a:t>d</a:t>
            </a:r>
            <a:r>
              <a:rPr sz="2700" spc="-160" dirty="0">
                <a:latin typeface="Times New Roman"/>
                <a:cs typeface="Times New Roman"/>
              </a:rPr>
              <a:t>e</a:t>
            </a:r>
            <a:r>
              <a:rPr sz="2700" spc="-240" dirty="0">
                <a:latin typeface="Times New Roman"/>
                <a:cs typeface="Times New Roman"/>
              </a:rPr>
              <a:t>v</a:t>
            </a:r>
            <a:r>
              <a:rPr sz="2700" spc="-114" dirty="0">
                <a:latin typeface="Times New Roman"/>
                <a:cs typeface="Times New Roman"/>
              </a:rPr>
              <a:t>i</a:t>
            </a:r>
            <a:r>
              <a:rPr sz="2700" spc="-195" dirty="0">
                <a:latin typeface="Times New Roman"/>
                <a:cs typeface="Times New Roman"/>
              </a:rPr>
              <a:t>c</a:t>
            </a:r>
            <a:r>
              <a:rPr sz="2700" spc="-105" dirty="0">
                <a:latin typeface="Times New Roman"/>
                <a:cs typeface="Times New Roman"/>
              </a:rPr>
              <a:t>e</a:t>
            </a:r>
            <a:r>
              <a:rPr sz="2700" dirty="0">
                <a:latin typeface="Times New Roman"/>
                <a:cs typeface="Times New Roman"/>
              </a:rPr>
              <a:t>	</a:t>
            </a:r>
            <a:r>
              <a:rPr sz="2700" spc="25" dirty="0">
                <a:latin typeface="Times New Roman"/>
                <a:cs typeface="Times New Roman"/>
              </a:rPr>
              <a:t>t</a:t>
            </a:r>
            <a:r>
              <a:rPr sz="2700" spc="-204" dirty="0">
                <a:latin typeface="Times New Roman"/>
                <a:cs typeface="Times New Roman"/>
              </a:rPr>
              <a:t>h</a:t>
            </a:r>
            <a:r>
              <a:rPr sz="2700" spc="-225" dirty="0">
                <a:latin typeface="Times New Roman"/>
                <a:cs typeface="Times New Roman"/>
              </a:rPr>
              <a:t>a</a:t>
            </a:r>
            <a:r>
              <a:rPr sz="2700" spc="35" dirty="0">
                <a:latin typeface="Times New Roman"/>
                <a:cs typeface="Times New Roman"/>
              </a:rPr>
              <a:t>t  </a:t>
            </a:r>
            <a:r>
              <a:rPr sz="2700" spc="-135" dirty="0">
                <a:latin typeface="Times New Roman"/>
                <a:cs typeface="Times New Roman"/>
              </a:rPr>
              <a:t>P</a:t>
            </a:r>
            <a:r>
              <a:rPr sz="2700" spc="-190" dirty="0">
                <a:latin typeface="Times New Roman"/>
                <a:cs typeface="Times New Roman"/>
              </a:rPr>
              <a:t>H</a:t>
            </a:r>
            <a:r>
              <a:rPr sz="2700" spc="-550" dirty="0">
                <a:latin typeface="Times New Roman"/>
                <a:cs typeface="Times New Roman"/>
              </a:rPr>
              <a:t>Y</a:t>
            </a:r>
            <a:r>
              <a:rPr sz="2700" spc="-395" dirty="0">
                <a:latin typeface="Times New Roman"/>
                <a:cs typeface="Times New Roman"/>
              </a:rPr>
              <a:t>S</a:t>
            </a:r>
            <a:r>
              <a:rPr sz="2700" spc="-220" dirty="0">
                <a:latin typeface="Times New Roman"/>
                <a:cs typeface="Times New Roman"/>
              </a:rPr>
              <a:t>I</a:t>
            </a:r>
            <a:r>
              <a:rPr sz="2700" spc="-160" dirty="0">
                <a:latin typeface="Times New Roman"/>
                <a:cs typeface="Times New Roman"/>
              </a:rPr>
              <a:t>C</a:t>
            </a:r>
            <a:r>
              <a:rPr sz="2700" spc="-355" dirty="0">
                <a:latin typeface="Times New Roman"/>
                <a:cs typeface="Times New Roman"/>
              </a:rPr>
              <a:t>A</a:t>
            </a:r>
            <a:r>
              <a:rPr sz="2700" spc="-300" dirty="0">
                <a:latin typeface="Times New Roman"/>
                <a:cs typeface="Times New Roman"/>
              </a:rPr>
              <a:t>L</a:t>
            </a:r>
            <a:r>
              <a:rPr sz="2700" spc="-75" dirty="0">
                <a:latin typeface="Times New Roman"/>
                <a:cs typeface="Times New Roman"/>
              </a:rPr>
              <a:t> </a:t>
            </a:r>
            <a:r>
              <a:rPr sz="2700" spc="-165" dirty="0">
                <a:latin typeface="Times New Roman"/>
                <a:cs typeface="Times New Roman"/>
              </a:rPr>
              <a:t>l</a:t>
            </a:r>
            <a:r>
              <a:rPr sz="2700" spc="-375" dirty="0">
                <a:latin typeface="Times New Roman"/>
                <a:cs typeface="Times New Roman"/>
              </a:rPr>
              <a:t>a</a:t>
            </a:r>
            <a:r>
              <a:rPr sz="2700" spc="-320" dirty="0">
                <a:latin typeface="Times New Roman"/>
                <a:cs typeface="Times New Roman"/>
              </a:rPr>
              <a:t>y</a:t>
            </a:r>
            <a:r>
              <a:rPr sz="2700" spc="-170" dirty="0">
                <a:latin typeface="Times New Roman"/>
                <a:cs typeface="Times New Roman"/>
              </a:rPr>
              <a:t>e</a:t>
            </a:r>
            <a:r>
              <a:rPr sz="2700" spc="-280" dirty="0">
                <a:latin typeface="Times New Roman"/>
                <a:cs typeface="Times New Roman"/>
              </a:rPr>
              <a:t>r</a:t>
            </a:r>
            <a:r>
              <a:rPr sz="2700" spc="110" dirty="0">
                <a:latin typeface="Times New Roman"/>
                <a:cs typeface="Times New Roman"/>
              </a:rPr>
              <a:t>.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09896" y="1049528"/>
            <a:ext cx="291147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64615" algn="l"/>
                <a:tab pos="2096135" algn="l"/>
                <a:tab pos="2507615" algn="l"/>
              </a:tabLst>
            </a:pPr>
            <a:r>
              <a:rPr sz="2700" spc="-140" dirty="0">
                <a:latin typeface="Times New Roman"/>
                <a:cs typeface="Times New Roman"/>
              </a:rPr>
              <a:t>op</a:t>
            </a:r>
            <a:r>
              <a:rPr sz="2700" spc="-135" dirty="0">
                <a:latin typeface="Times New Roman"/>
                <a:cs typeface="Times New Roman"/>
              </a:rPr>
              <a:t>e</a:t>
            </a:r>
            <a:r>
              <a:rPr sz="2700" spc="-5" dirty="0">
                <a:latin typeface="Times New Roman"/>
                <a:cs typeface="Times New Roman"/>
              </a:rPr>
              <a:t>r</a:t>
            </a:r>
            <a:r>
              <a:rPr sz="2700" spc="-265" dirty="0">
                <a:latin typeface="Times New Roman"/>
                <a:cs typeface="Times New Roman"/>
              </a:rPr>
              <a:t>a</a:t>
            </a:r>
            <a:r>
              <a:rPr sz="2700" spc="10" dirty="0">
                <a:latin typeface="Times New Roman"/>
                <a:cs typeface="Times New Roman"/>
              </a:rPr>
              <a:t>t</a:t>
            </a:r>
            <a:r>
              <a:rPr sz="2700" spc="-135" dirty="0">
                <a:latin typeface="Times New Roman"/>
                <a:cs typeface="Times New Roman"/>
              </a:rPr>
              <a:t>e</a:t>
            </a:r>
            <a:r>
              <a:rPr sz="2700" spc="-210" dirty="0">
                <a:latin typeface="Times New Roman"/>
                <a:cs typeface="Times New Roman"/>
              </a:rPr>
              <a:t>s</a:t>
            </a:r>
            <a:r>
              <a:rPr sz="2700" dirty="0">
                <a:latin typeface="Times New Roman"/>
                <a:cs typeface="Times New Roman"/>
              </a:rPr>
              <a:t>	</a:t>
            </a:r>
            <a:r>
              <a:rPr sz="2700" spc="-130" dirty="0">
                <a:latin typeface="Times New Roman"/>
                <a:cs typeface="Times New Roman"/>
              </a:rPr>
              <a:t>on</a:t>
            </a:r>
            <a:r>
              <a:rPr sz="2700" spc="-125" dirty="0">
                <a:latin typeface="Times New Roman"/>
                <a:cs typeface="Times New Roman"/>
              </a:rPr>
              <a:t>l</a:t>
            </a:r>
            <a:r>
              <a:rPr sz="2700" spc="-225" dirty="0">
                <a:latin typeface="Times New Roman"/>
                <a:cs typeface="Times New Roman"/>
              </a:rPr>
              <a:t>y</a:t>
            </a:r>
            <a:r>
              <a:rPr sz="2700" dirty="0">
                <a:latin typeface="Times New Roman"/>
                <a:cs typeface="Times New Roman"/>
              </a:rPr>
              <a:t>	</a:t>
            </a:r>
            <a:r>
              <a:rPr sz="2700" spc="-150" dirty="0">
                <a:latin typeface="Times New Roman"/>
                <a:cs typeface="Times New Roman"/>
              </a:rPr>
              <a:t>a</a:t>
            </a:r>
            <a:r>
              <a:rPr sz="2700" spc="-70" dirty="0">
                <a:latin typeface="Times New Roman"/>
                <a:cs typeface="Times New Roman"/>
              </a:rPr>
              <a:t>t</a:t>
            </a:r>
            <a:r>
              <a:rPr sz="2700" dirty="0">
                <a:latin typeface="Times New Roman"/>
                <a:cs typeface="Times New Roman"/>
              </a:rPr>
              <a:t>	</a:t>
            </a:r>
            <a:r>
              <a:rPr sz="2700" spc="-50" dirty="0">
                <a:latin typeface="Times New Roman"/>
                <a:cs typeface="Times New Roman"/>
              </a:rPr>
              <a:t>t</a:t>
            </a:r>
            <a:r>
              <a:rPr sz="2700" spc="-80" dirty="0">
                <a:latin typeface="Times New Roman"/>
                <a:cs typeface="Times New Roman"/>
              </a:rPr>
              <a:t>h</a:t>
            </a:r>
            <a:r>
              <a:rPr sz="2700" spc="-105" dirty="0">
                <a:latin typeface="Times New Roman"/>
                <a:cs typeface="Times New Roman"/>
              </a:rPr>
              <a:t>e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0380" y="1843532"/>
            <a:ext cx="7931150" cy="3205480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368935" marR="151130" indent="-344805">
              <a:lnSpc>
                <a:spcPts val="3100"/>
              </a:lnSpc>
              <a:spcBef>
                <a:spcPts val="320"/>
              </a:spcBef>
              <a:buFont typeface="Arial MT"/>
              <a:buChar char="•"/>
              <a:tabLst>
                <a:tab pos="368935" algn="l"/>
                <a:tab pos="369570" algn="l"/>
              </a:tabLst>
            </a:pPr>
            <a:r>
              <a:rPr sz="2700" spc="-350" dirty="0">
                <a:latin typeface="Times New Roman"/>
                <a:cs typeface="Times New Roman"/>
              </a:rPr>
              <a:t>A</a:t>
            </a:r>
            <a:r>
              <a:rPr sz="2700" spc="-60" dirty="0">
                <a:latin typeface="Times New Roman"/>
                <a:cs typeface="Times New Roman"/>
              </a:rPr>
              <a:t> </a:t>
            </a:r>
            <a:r>
              <a:rPr sz="2700" spc="-90" dirty="0">
                <a:latin typeface="Times New Roman"/>
                <a:cs typeface="Times New Roman"/>
              </a:rPr>
              <a:t>repeater</a:t>
            </a:r>
            <a:r>
              <a:rPr sz="2700" spc="-85" dirty="0">
                <a:latin typeface="Times New Roman"/>
                <a:cs typeface="Times New Roman"/>
              </a:rPr>
              <a:t> </a:t>
            </a:r>
            <a:r>
              <a:rPr sz="2700" spc="-175" dirty="0">
                <a:latin typeface="Times New Roman"/>
                <a:cs typeface="Times New Roman"/>
              </a:rPr>
              <a:t>can</a:t>
            </a:r>
            <a:r>
              <a:rPr sz="2700" spc="-90" dirty="0">
                <a:latin typeface="Times New Roman"/>
                <a:cs typeface="Times New Roman"/>
              </a:rPr>
              <a:t> </a:t>
            </a:r>
            <a:r>
              <a:rPr sz="2700" spc="-125" dirty="0">
                <a:latin typeface="Times New Roman"/>
                <a:cs typeface="Times New Roman"/>
              </a:rPr>
              <a:t>be</a:t>
            </a:r>
            <a:r>
              <a:rPr sz="2700" spc="-60" dirty="0">
                <a:latin typeface="Times New Roman"/>
                <a:cs typeface="Times New Roman"/>
              </a:rPr>
              <a:t> </a:t>
            </a:r>
            <a:r>
              <a:rPr sz="2700" spc="-150" dirty="0">
                <a:latin typeface="Times New Roman"/>
                <a:cs typeface="Times New Roman"/>
              </a:rPr>
              <a:t>used</a:t>
            </a:r>
            <a:r>
              <a:rPr sz="2700" spc="-45" dirty="0">
                <a:latin typeface="Times New Roman"/>
                <a:cs typeface="Times New Roman"/>
              </a:rPr>
              <a:t> </a:t>
            </a:r>
            <a:r>
              <a:rPr sz="2700" spc="-55" dirty="0">
                <a:latin typeface="Times New Roman"/>
                <a:cs typeface="Times New Roman"/>
              </a:rPr>
              <a:t>to</a:t>
            </a:r>
            <a:r>
              <a:rPr sz="2700" spc="-114" dirty="0">
                <a:latin typeface="Times New Roman"/>
                <a:cs typeface="Times New Roman"/>
              </a:rPr>
              <a:t> </a:t>
            </a:r>
            <a:r>
              <a:rPr sz="2700" spc="-145" dirty="0">
                <a:latin typeface="Times New Roman"/>
                <a:cs typeface="Times New Roman"/>
              </a:rPr>
              <a:t>increase</a:t>
            </a:r>
            <a:r>
              <a:rPr sz="2700" spc="-55" dirty="0">
                <a:latin typeface="Times New Roman"/>
                <a:cs typeface="Times New Roman"/>
              </a:rPr>
              <a:t> </a:t>
            </a:r>
            <a:r>
              <a:rPr sz="2700" spc="-85" dirty="0">
                <a:latin typeface="Times New Roman"/>
                <a:cs typeface="Times New Roman"/>
              </a:rPr>
              <a:t>the</a:t>
            </a:r>
            <a:r>
              <a:rPr sz="2700" spc="-80" dirty="0">
                <a:latin typeface="Times New Roman"/>
                <a:cs typeface="Times New Roman"/>
              </a:rPr>
              <a:t> </a:t>
            </a:r>
            <a:r>
              <a:rPr sz="2700" spc="-125" dirty="0">
                <a:latin typeface="Times New Roman"/>
                <a:cs typeface="Times New Roman"/>
              </a:rPr>
              <a:t>length</a:t>
            </a:r>
            <a:r>
              <a:rPr sz="2700" spc="-110" dirty="0">
                <a:latin typeface="Times New Roman"/>
                <a:cs typeface="Times New Roman"/>
              </a:rPr>
              <a:t> </a:t>
            </a:r>
            <a:r>
              <a:rPr sz="2700" spc="-160" dirty="0">
                <a:latin typeface="Times New Roman"/>
                <a:cs typeface="Times New Roman"/>
              </a:rPr>
              <a:t>of</a:t>
            </a:r>
            <a:r>
              <a:rPr sz="2700" spc="-40" dirty="0">
                <a:latin typeface="Times New Roman"/>
                <a:cs typeface="Times New Roman"/>
              </a:rPr>
              <a:t> </a:t>
            </a:r>
            <a:r>
              <a:rPr sz="2700" spc="-85" dirty="0">
                <a:latin typeface="Times New Roman"/>
                <a:cs typeface="Times New Roman"/>
              </a:rPr>
              <a:t>the</a:t>
            </a:r>
            <a:r>
              <a:rPr sz="2700" spc="185" dirty="0">
                <a:latin typeface="Times New Roman"/>
                <a:cs typeface="Times New Roman"/>
              </a:rPr>
              <a:t> </a:t>
            </a:r>
            <a:r>
              <a:rPr sz="2700" spc="-110" dirty="0">
                <a:latin typeface="Times New Roman"/>
                <a:cs typeface="Times New Roman"/>
              </a:rPr>
              <a:t>network </a:t>
            </a:r>
            <a:r>
              <a:rPr sz="2700" spc="-660" dirty="0">
                <a:latin typeface="Times New Roman"/>
                <a:cs typeface="Times New Roman"/>
              </a:rPr>
              <a:t> </a:t>
            </a:r>
            <a:r>
              <a:rPr sz="2700" spc="-215" dirty="0">
                <a:latin typeface="Times New Roman"/>
                <a:cs typeface="Times New Roman"/>
              </a:rPr>
              <a:t>by</a:t>
            </a:r>
            <a:r>
              <a:rPr sz="2700" spc="-100" dirty="0">
                <a:latin typeface="Times New Roman"/>
                <a:cs typeface="Times New Roman"/>
              </a:rPr>
              <a:t> </a:t>
            </a:r>
            <a:r>
              <a:rPr sz="2700" spc="-130" dirty="0">
                <a:latin typeface="Times New Roman"/>
                <a:cs typeface="Times New Roman"/>
              </a:rPr>
              <a:t>eliminating</a:t>
            </a:r>
            <a:r>
              <a:rPr sz="2700" spc="-100" dirty="0">
                <a:latin typeface="Times New Roman"/>
                <a:cs typeface="Times New Roman"/>
              </a:rPr>
              <a:t> </a:t>
            </a:r>
            <a:r>
              <a:rPr sz="2700" spc="-80" dirty="0">
                <a:latin typeface="Times New Roman"/>
                <a:cs typeface="Times New Roman"/>
              </a:rPr>
              <a:t>the</a:t>
            </a:r>
            <a:r>
              <a:rPr sz="2700" spc="-40" dirty="0">
                <a:latin typeface="Times New Roman"/>
                <a:cs typeface="Times New Roman"/>
              </a:rPr>
              <a:t> </a:t>
            </a:r>
            <a:r>
              <a:rPr sz="2700" spc="-145" dirty="0">
                <a:latin typeface="Times New Roman"/>
                <a:cs typeface="Times New Roman"/>
              </a:rPr>
              <a:t>effect</a:t>
            </a:r>
            <a:r>
              <a:rPr sz="2700" spc="-110" dirty="0">
                <a:latin typeface="Times New Roman"/>
                <a:cs typeface="Times New Roman"/>
              </a:rPr>
              <a:t> </a:t>
            </a:r>
            <a:r>
              <a:rPr sz="2700" spc="-155" dirty="0">
                <a:latin typeface="Times New Roman"/>
                <a:cs typeface="Times New Roman"/>
              </a:rPr>
              <a:t>of</a:t>
            </a:r>
            <a:r>
              <a:rPr sz="2700" spc="-50" dirty="0">
                <a:latin typeface="Times New Roman"/>
                <a:cs typeface="Times New Roman"/>
              </a:rPr>
              <a:t> </a:t>
            </a:r>
            <a:r>
              <a:rPr sz="2700" spc="-110" dirty="0">
                <a:latin typeface="Times New Roman"/>
                <a:cs typeface="Times New Roman"/>
              </a:rPr>
              <a:t>attenuation</a:t>
            </a:r>
            <a:r>
              <a:rPr sz="2700" spc="-80" dirty="0">
                <a:latin typeface="Times New Roman"/>
                <a:cs typeface="Times New Roman"/>
              </a:rPr>
              <a:t> </a:t>
            </a:r>
            <a:r>
              <a:rPr sz="2700" spc="-114" dirty="0">
                <a:latin typeface="Times New Roman"/>
                <a:cs typeface="Times New Roman"/>
              </a:rPr>
              <a:t>on</a:t>
            </a:r>
            <a:r>
              <a:rPr sz="2700" spc="-45" dirty="0">
                <a:latin typeface="Times New Roman"/>
                <a:cs typeface="Times New Roman"/>
              </a:rPr>
              <a:t> </a:t>
            </a:r>
            <a:r>
              <a:rPr sz="2700" spc="-80" dirty="0">
                <a:latin typeface="Times New Roman"/>
                <a:cs typeface="Times New Roman"/>
              </a:rPr>
              <a:t>the</a:t>
            </a:r>
            <a:r>
              <a:rPr sz="2700" spc="-265" dirty="0">
                <a:latin typeface="Times New Roman"/>
                <a:cs typeface="Times New Roman"/>
              </a:rPr>
              <a:t> </a:t>
            </a:r>
            <a:r>
              <a:rPr sz="2700" spc="-125" dirty="0">
                <a:latin typeface="Times New Roman"/>
                <a:cs typeface="Times New Roman"/>
              </a:rPr>
              <a:t>signal.</a:t>
            </a:r>
            <a:endParaRPr sz="2700">
              <a:latin typeface="Times New Roman"/>
              <a:cs typeface="Times New Roman"/>
            </a:endParaRPr>
          </a:p>
          <a:p>
            <a:pPr marL="368935" marR="101600" indent="-344805">
              <a:lnSpc>
                <a:spcPts val="3110"/>
              </a:lnSpc>
              <a:spcBef>
                <a:spcPts val="285"/>
              </a:spcBef>
              <a:buFont typeface="Arial MT"/>
              <a:buChar char="•"/>
              <a:tabLst>
                <a:tab pos="368935" algn="l"/>
                <a:tab pos="369570" algn="l"/>
                <a:tab pos="6380480" algn="l"/>
              </a:tabLst>
            </a:pPr>
            <a:r>
              <a:rPr sz="2700" spc="-80" dirty="0">
                <a:latin typeface="Times New Roman"/>
                <a:cs typeface="Times New Roman"/>
              </a:rPr>
              <a:t>It </a:t>
            </a:r>
            <a:r>
              <a:rPr sz="2700" spc="-130" dirty="0">
                <a:latin typeface="Times New Roman"/>
                <a:cs typeface="Times New Roman"/>
              </a:rPr>
              <a:t>c</a:t>
            </a:r>
            <a:r>
              <a:rPr sz="2700" spc="-165" dirty="0">
                <a:latin typeface="Times New Roman"/>
                <a:cs typeface="Times New Roman"/>
              </a:rPr>
              <a:t>o</a:t>
            </a:r>
            <a:r>
              <a:rPr sz="2700" spc="-130" dirty="0">
                <a:latin typeface="Times New Roman"/>
                <a:cs typeface="Times New Roman"/>
              </a:rPr>
              <a:t>nn</a:t>
            </a:r>
            <a:r>
              <a:rPr sz="2700" spc="-125" dirty="0">
                <a:latin typeface="Times New Roman"/>
                <a:cs typeface="Times New Roman"/>
              </a:rPr>
              <a:t>e</a:t>
            </a:r>
            <a:r>
              <a:rPr sz="2700" spc="-75" dirty="0">
                <a:latin typeface="Times New Roman"/>
                <a:cs typeface="Times New Roman"/>
              </a:rPr>
              <a:t>c</a:t>
            </a:r>
            <a:r>
              <a:rPr sz="2700" spc="-70" dirty="0">
                <a:latin typeface="Times New Roman"/>
                <a:cs typeface="Times New Roman"/>
              </a:rPr>
              <a:t>t</a:t>
            </a:r>
            <a:r>
              <a:rPr sz="2700" spc="-210" dirty="0">
                <a:latin typeface="Times New Roman"/>
                <a:cs typeface="Times New Roman"/>
              </a:rPr>
              <a:t>s</a:t>
            </a:r>
            <a:r>
              <a:rPr sz="2700" spc="-75" dirty="0">
                <a:latin typeface="Times New Roman"/>
                <a:cs typeface="Times New Roman"/>
              </a:rPr>
              <a:t> </a:t>
            </a:r>
            <a:r>
              <a:rPr sz="2700" spc="25" dirty="0">
                <a:latin typeface="Times New Roman"/>
                <a:cs typeface="Times New Roman"/>
              </a:rPr>
              <a:t>t</a:t>
            </a:r>
            <a:r>
              <a:rPr sz="2700" spc="-260" dirty="0">
                <a:latin typeface="Times New Roman"/>
                <a:cs typeface="Times New Roman"/>
              </a:rPr>
              <a:t>w</a:t>
            </a:r>
            <a:r>
              <a:rPr sz="2700" spc="-114" dirty="0">
                <a:latin typeface="Times New Roman"/>
                <a:cs typeface="Times New Roman"/>
              </a:rPr>
              <a:t>o</a:t>
            </a:r>
            <a:r>
              <a:rPr sz="2700" spc="-85" dirty="0">
                <a:latin typeface="Times New Roman"/>
                <a:cs typeface="Times New Roman"/>
              </a:rPr>
              <a:t> </a:t>
            </a:r>
            <a:r>
              <a:rPr sz="2700" spc="-145" dirty="0">
                <a:latin typeface="Times New Roman"/>
                <a:cs typeface="Times New Roman"/>
              </a:rPr>
              <a:t>s</a:t>
            </a:r>
            <a:r>
              <a:rPr sz="2700" spc="-175" dirty="0">
                <a:latin typeface="Times New Roman"/>
                <a:cs typeface="Times New Roman"/>
              </a:rPr>
              <a:t>e</a:t>
            </a:r>
            <a:r>
              <a:rPr sz="2700" spc="-130" dirty="0">
                <a:latin typeface="Times New Roman"/>
                <a:cs typeface="Times New Roman"/>
              </a:rPr>
              <a:t>gments</a:t>
            </a:r>
            <a:r>
              <a:rPr sz="2700" spc="-80" dirty="0">
                <a:latin typeface="Times New Roman"/>
                <a:cs typeface="Times New Roman"/>
              </a:rPr>
              <a:t> </a:t>
            </a:r>
            <a:r>
              <a:rPr sz="2700" spc="-160" dirty="0">
                <a:latin typeface="Times New Roman"/>
                <a:cs typeface="Times New Roman"/>
              </a:rPr>
              <a:t>of</a:t>
            </a:r>
            <a:r>
              <a:rPr sz="2700" spc="-60" dirty="0">
                <a:latin typeface="Times New Roman"/>
                <a:cs typeface="Times New Roman"/>
              </a:rPr>
              <a:t> </a:t>
            </a:r>
            <a:r>
              <a:rPr sz="2700" spc="-50" dirty="0">
                <a:latin typeface="Times New Roman"/>
                <a:cs typeface="Times New Roman"/>
              </a:rPr>
              <a:t>t</a:t>
            </a:r>
            <a:r>
              <a:rPr sz="2700" spc="-80" dirty="0">
                <a:latin typeface="Times New Roman"/>
                <a:cs typeface="Times New Roman"/>
              </a:rPr>
              <a:t>h</a:t>
            </a:r>
            <a:r>
              <a:rPr sz="2700" spc="-105" dirty="0">
                <a:latin typeface="Times New Roman"/>
                <a:cs typeface="Times New Roman"/>
              </a:rPr>
              <a:t>e</a:t>
            </a:r>
            <a:r>
              <a:rPr sz="2700" spc="-40" dirty="0">
                <a:latin typeface="Times New Roman"/>
                <a:cs typeface="Times New Roman"/>
              </a:rPr>
              <a:t> </a:t>
            </a:r>
            <a:r>
              <a:rPr sz="2700" spc="-170" dirty="0">
                <a:latin typeface="Times New Roman"/>
                <a:cs typeface="Times New Roman"/>
              </a:rPr>
              <a:t>same</a:t>
            </a:r>
            <a:r>
              <a:rPr sz="2700" spc="-85" dirty="0">
                <a:latin typeface="Times New Roman"/>
                <a:cs typeface="Times New Roman"/>
              </a:rPr>
              <a:t> </a:t>
            </a:r>
            <a:r>
              <a:rPr sz="2700" spc="-130" dirty="0">
                <a:latin typeface="Times New Roman"/>
                <a:cs typeface="Times New Roman"/>
              </a:rPr>
              <a:t>n</a:t>
            </a:r>
            <a:r>
              <a:rPr sz="2700" spc="-125" dirty="0">
                <a:latin typeface="Times New Roman"/>
                <a:cs typeface="Times New Roman"/>
              </a:rPr>
              <a:t>e</a:t>
            </a:r>
            <a:r>
              <a:rPr sz="2700" spc="25" dirty="0">
                <a:latin typeface="Times New Roman"/>
                <a:cs typeface="Times New Roman"/>
              </a:rPr>
              <a:t>t</a:t>
            </a:r>
            <a:r>
              <a:rPr sz="2700" spc="-260" dirty="0">
                <a:latin typeface="Times New Roman"/>
                <a:cs typeface="Times New Roman"/>
              </a:rPr>
              <a:t>w</a:t>
            </a:r>
            <a:r>
              <a:rPr sz="2700" spc="-130" dirty="0">
                <a:latin typeface="Times New Roman"/>
                <a:cs typeface="Times New Roman"/>
              </a:rPr>
              <a:t>o</a:t>
            </a:r>
            <a:r>
              <a:rPr sz="2700" spc="10" dirty="0">
                <a:latin typeface="Times New Roman"/>
                <a:cs typeface="Times New Roman"/>
              </a:rPr>
              <a:t>r</a:t>
            </a:r>
            <a:r>
              <a:rPr sz="2700" spc="-30" dirty="0">
                <a:latin typeface="Times New Roman"/>
                <a:cs typeface="Times New Roman"/>
              </a:rPr>
              <a:t>k,</a:t>
            </a:r>
            <a:r>
              <a:rPr sz="2700" dirty="0">
                <a:latin typeface="Times New Roman"/>
                <a:cs typeface="Times New Roman"/>
              </a:rPr>
              <a:t>	</a:t>
            </a:r>
            <a:r>
              <a:rPr sz="2700" spc="-215" dirty="0">
                <a:latin typeface="Times New Roman"/>
                <a:cs typeface="Times New Roman"/>
              </a:rPr>
              <a:t>o</a:t>
            </a:r>
            <a:r>
              <a:rPr sz="2700" spc="-285" dirty="0">
                <a:latin typeface="Times New Roman"/>
                <a:cs typeface="Times New Roman"/>
              </a:rPr>
              <a:t>v</a:t>
            </a:r>
            <a:r>
              <a:rPr sz="2700" spc="-125" dirty="0">
                <a:latin typeface="Times New Roman"/>
                <a:cs typeface="Times New Roman"/>
              </a:rPr>
              <a:t>e</a:t>
            </a:r>
            <a:r>
              <a:rPr sz="2700" spc="10" dirty="0">
                <a:latin typeface="Times New Roman"/>
                <a:cs typeface="Times New Roman"/>
              </a:rPr>
              <a:t>r</a:t>
            </a:r>
            <a:r>
              <a:rPr sz="2700" spc="-130" dirty="0">
                <a:latin typeface="Times New Roman"/>
                <a:cs typeface="Times New Roman"/>
              </a:rPr>
              <a:t>c</a:t>
            </a:r>
            <a:r>
              <a:rPr sz="2700" spc="-165" dirty="0">
                <a:latin typeface="Times New Roman"/>
                <a:cs typeface="Times New Roman"/>
              </a:rPr>
              <a:t>o</a:t>
            </a:r>
            <a:r>
              <a:rPr sz="2700" spc="-170" dirty="0">
                <a:latin typeface="Times New Roman"/>
                <a:cs typeface="Times New Roman"/>
              </a:rPr>
              <a:t>m</a:t>
            </a:r>
            <a:r>
              <a:rPr sz="2700" spc="-155" dirty="0">
                <a:latin typeface="Times New Roman"/>
                <a:cs typeface="Times New Roman"/>
              </a:rPr>
              <a:t>i</a:t>
            </a:r>
            <a:r>
              <a:rPr sz="2700" spc="-130" dirty="0">
                <a:latin typeface="Times New Roman"/>
                <a:cs typeface="Times New Roman"/>
              </a:rPr>
              <a:t>n</a:t>
            </a:r>
            <a:r>
              <a:rPr sz="2700" spc="-150" dirty="0">
                <a:latin typeface="Times New Roman"/>
                <a:cs typeface="Times New Roman"/>
              </a:rPr>
              <a:t>g  </a:t>
            </a:r>
            <a:r>
              <a:rPr sz="2700" spc="-80" dirty="0">
                <a:latin typeface="Times New Roman"/>
                <a:cs typeface="Times New Roman"/>
              </a:rPr>
              <a:t>the</a:t>
            </a:r>
            <a:r>
              <a:rPr sz="2700" spc="-40" dirty="0">
                <a:latin typeface="Times New Roman"/>
                <a:cs typeface="Times New Roman"/>
              </a:rPr>
              <a:t> </a:t>
            </a:r>
            <a:r>
              <a:rPr sz="2700" spc="-130" dirty="0">
                <a:latin typeface="Times New Roman"/>
                <a:cs typeface="Times New Roman"/>
              </a:rPr>
              <a:t>distance</a:t>
            </a:r>
            <a:r>
              <a:rPr sz="2700" spc="-110" dirty="0">
                <a:latin typeface="Times New Roman"/>
                <a:cs typeface="Times New Roman"/>
              </a:rPr>
              <a:t> </a:t>
            </a:r>
            <a:r>
              <a:rPr sz="2700" spc="-120" dirty="0">
                <a:latin typeface="Times New Roman"/>
                <a:cs typeface="Times New Roman"/>
              </a:rPr>
              <a:t>limitations</a:t>
            </a:r>
            <a:r>
              <a:rPr sz="2700" spc="-105" dirty="0">
                <a:latin typeface="Times New Roman"/>
                <a:cs typeface="Times New Roman"/>
              </a:rPr>
              <a:t> </a:t>
            </a:r>
            <a:r>
              <a:rPr sz="2700" spc="-160" dirty="0">
                <a:latin typeface="Times New Roman"/>
                <a:cs typeface="Times New Roman"/>
              </a:rPr>
              <a:t>of</a:t>
            </a:r>
            <a:r>
              <a:rPr sz="2700" spc="-55" dirty="0">
                <a:latin typeface="Times New Roman"/>
                <a:cs typeface="Times New Roman"/>
              </a:rPr>
              <a:t> </a:t>
            </a:r>
            <a:r>
              <a:rPr sz="2700" spc="-80" dirty="0">
                <a:latin typeface="Times New Roman"/>
                <a:cs typeface="Times New Roman"/>
              </a:rPr>
              <a:t>the</a:t>
            </a:r>
            <a:r>
              <a:rPr sz="2700" spc="-40" dirty="0">
                <a:latin typeface="Times New Roman"/>
                <a:cs typeface="Times New Roman"/>
              </a:rPr>
              <a:t> </a:t>
            </a:r>
            <a:r>
              <a:rPr sz="2700" spc="-130" dirty="0">
                <a:latin typeface="Times New Roman"/>
                <a:cs typeface="Times New Roman"/>
              </a:rPr>
              <a:t>transmission</a:t>
            </a:r>
            <a:r>
              <a:rPr sz="2700" spc="-425" dirty="0">
                <a:latin typeface="Times New Roman"/>
                <a:cs typeface="Times New Roman"/>
              </a:rPr>
              <a:t> </a:t>
            </a:r>
            <a:r>
              <a:rPr sz="2700" spc="-110" dirty="0">
                <a:latin typeface="Times New Roman"/>
                <a:cs typeface="Times New Roman"/>
              </a:rPr>
              <a:t>media.</a:t>
            </a:r>
            <a:endParaRPr sz="2700">
              <a:latin typeface="Times New Roman"/>
              <a:cs typeface="Times New Roman"/>
            </a:endParaRPr>
          </a:p>
          <a:p>
            <a:pPr marL="352425" indent="-340360">
              <a:lnSpc>
                <a:spcPts val="2995"/>
              </a:lnSpc>
              <a:buFont typeface="Arial MT"/>
              <a:buChar char="•"/>
              <a:tabLst>
                <a:tab pos="352425" algn="l"/>
                <a:tab pos="353060" algn="l"/>
              </a:tabLst>
            </a:pPr>
            <a:r>
              <a:rPr sz="2700" spc="-350" dirty="0">
                <a:latin typeface="Times New Roman"/>
                <a:cs typeface="Times New Roman"/>
              </a:rPr>
              <a:t>A</a:t>
            </a:r>
            <a:r>
              <a:rPr sz="2700" spc="-60" dirty="0">
                <a:latin typeface="Times New Roman"/>
                <a:cs typeface="Times New Roman"/>
              </a:rPr>
              <a:t> </a:t>
            </a:r>
            <a:r>
              <a:rPr sz="2700" spc="-80" dirty="0">
                <a:latin typeface="Times New Roman"/>
                <a:cs typeface="Times New Roman"/>
              </a:rPr>
              <a:t>repeater</a:t>
            </a:r>
            <a:r>
              <a:rPr sz="2700" spc="5" dirty="0">
                <a:latin typeface="Times New Roman"/>
                <a:cs typeface="Times New Roman"/>
              </a:rPr>
              <a:t> </a:t>
            </a:r>
            <a:r>
              <a:rPr sz="2700" spc="-125" dirty="0">
                <a:latin typeface="Times New Roman"/>
                <a:cs typeface="Times New Roman"/>
              </a:rPr>
              <a:t>forwards</a:t>
            </a:r>
            <a:r>
              <a:rPr sz="2700" spc="-15" dirty="0">
                <a:latin typeface="Times New Roman"/>
                <a:cs typeface="Times New Roman"/>
              </a:rPr>
              <a:t> </a:t>
            </a:r>
            <a:r>
              <a:rPr sz="2700" spc="-145" dirty="0">
                <a:latin typeface="Times New Roman"/>
                <a:cs typeface="Times New Roman"/>
              </a:rPr>
              <a:t>every</a:t>
            </a:r>
            <a:r>
              <a:rPr sz="2700" spc="-25" dirty="0">
                <a:latin typeface="Times New Roman"/>
                <a:cs typeface="Times New Roman"/>
              </a:rPr>
              <a:t> </a:t>
            </a:r>
            <a:r>
              <a:rPr sz="2700" spc="-135" dirty="0">
                <a:latin typeface="Times New Roman"/>
                <a:cs typeface="Times New Roman"/>
              </a:rPr>
              <a:t>frame</a:t>
            </a:r>
            <a:r>
              <a:rPr sz="2700" spc="-30" dirty="0">
                <a:latin typeface="Times New Roman"/>
                <a:cs typeface="Times New Roman"/>
              </a:rPr>
              <a:t> </a:t>
            </a:r>
            <a:r>
              <a:rPr sz="2700" spc="-50" dirty="0">
                <a:latin typeface="Times New Roman"/>
                <a:cs typeface="Times New Roman"/>
              </a:rPr>
              <a:t>it</a:t>
            </a:r>
            <a:r>
              <a:rPr sz="2700" spc="-60" dirty="0">
                <a:latin typeface="Times New Roman"/>
                <a:cs typeface="Times New Roman"/>
              </a:rPr>
              <a:t> </a:t>
            </a:r>
            <a:r>
              <a:rPr sz="2700" spc="-200" dirty="0">
                <a:latin typeface="Times New Roman"/>
                <a:cs typeface="Times New Roman"/>
              </a:rPr>
              <a:t>has</a:t>
            </a:r>
            <a:r>
              <a:rPr sz="2700" spc="-35" dirty="0">
                <a:latin typeface="Times New Roman"/>
                <a:cs typeface="Times New Roman"/>
              </a:rPr>
              <a:t> </a:t>
            </a:r>
            <a:r>
              <a:rPr sz="2700" spc="-114" dirty="0">
                <a:latin typeface="Times New Roman"/>
                <a:cs typeface="Times New Roman"/>
              </a:rPr>
              <a:t>no</a:t>
            </a:r>
            <a:r>
              <a:rPr sz="2700" spc="-40" dirty="0">
                <a:latin typeface="Times New Roman"/>
                <a:cs typeface="Times New Roman"/>
              </a:rPr>
              <a:t> </a:t>
            </a:r>
            <a:r>
              <a:rPr sz="2700" spc="-100" dirty="0">
                <a:latin typeface="Times New Roman"/>
                <a:cs typeface="Times New Roman"/>
              </a:rPr>
              <a:t>filtering</a:t>
            </a:r>
            <a:r>
              <a:rPr sz="2700" spc="20" dirty="0">
                <a:latin typeface="Times New Roman"/>
                <a:cs typeface="Times New Roman"/>
              </a:rPr>
              <a:t> </a:t>
            </a:r>
            <a:r>
              <a:rPr sz="2700" spc="-145" dirty="0">
                <a:latin typeface="Times New Roman"/>
                <a:cs typeface="Times New Roman"/>
              </a:rPr>
              <a:t>capability.</a:t>
            </a:r>
            <a:endParaRPr sz="2700">
              <a:latin typeface="Times New Roman"/>
              <a:cs typeface="Times New Roman"/>
            </a:endParaRPr>
          </a:p>
          <a:p>
            <a:pPr marL="368935" indent="-344805">
              <a:lnSpc>
                <a:spcPts val="3095"/>
              </a:lnSpc>
              <a:buFont typeface="Arial MT"/>
              <a:buChar char="•"/>
              <a:tabLst>
                <a:tab pos="368935" algn="l"/>
                <a:tab pos="369570" algn="l"/>
              </a:tabLst>
            </a:pPr>
            <a:r>
              <a:rPr sz="2700" spc="-350" dirty="0">
                <a:latin typeface="Times New Roman"/>
                <a:cs typeface="Times New Roman"/>
              </a:rPr>
              <a:t>A</a:t>
            </a:r>
            <a:r>
              <a:rPr sz="2700" spc="-65" dirty="0">
                <a:latin typeface="Times New Roman"/>
                <a:cs typeface="Times New Roman"/>
              </a:rPr>
              <a:t> </a:t>
            </a:r>
            <a:r>
              <a:rPr sz="2700" spc="-5" dirty="0">
                <a:latin typeface="Times New Roman"/>
                <a:cs typeface="Times New Roman"/>
              </a:rPr>
              <a:t>r</a:t>
            </a:r>
            <a:r>
              <a:rPr sz="2700" spc="-110" dirty="0">
                <a:latin typeface="Times New Roman"/>
                <a:cs typeface="Times New Roman"/>
              </a:rPr>
              <a:t>ep</a:t>
            </a:r>
            <a:r>
              <a:rPr sz="2700" spc="-114" dirty="0">
                <a:latin typeface="Times New Roman"/>
                <a:cs typeface="Times New Roman"/>
              </a:rPr>
              <a:t>e</a:t>
            </a:r>
            <a:r>
              <a:rPr sz="2700" spc="-240" dirty="0">
                <a:latin typeface="Times New Roman"/>
                <a:cs typeface="Times New Roman"/>
              </a:rPr>
              <a:t>a</a:t>
            </a:r>
            <a:r>
              <a:rPr sz="2700" spc="-15" dirty="0">
                <a:latin typeface="Times New Roman"/>
                <a:cs typeface="Times New Roman"/>
              </a:rPr>
              <a:t>ter</a:t>
            </a:r>
            <a:r>
              <a:rPr sz="2700" dirty="0">
                <a:latin typeface="Times New Roman"/>
                <a:cs typeface="Times New Roman"/>
              </a:rPr>
              <a:t> </a:t>
            </a:r>
            <a:r>
              <a:rPr sz="2700" spc="-170" dirty="0">
                <a:latin typeface="Times New Roman"/>
                <a:cs typeface="Times New Roman"/>
              </a:rPr>
              <a:t>is</a:t>
            </a:r>
            <a:r>
              <a:rPr sz="2700" spc="-55" dirty="0">
                <a:latin typeface="Times New Roman"/>
                <a:cs typeface="Times New Roman"/>
              </a:rPr>
              <a:t> </a:t>
            </a:r>
            <a:r>
              <a:rPr sz="2700" spc="-215" dirty="0">
                <a:latin typeface="Times New Roman"/>
                <a:cs typeface="Times New Roman"/>
              </a:rPr>
              <a:t>a</a:t>
            </a:r>
            <a:r>
              <a:rPr sz="2700" spc="-60" dirty="0">
                <a:latin typeface="Times New Roman"/>
                <a:cs typeface="Times New Roman"/>
              </a:rPr>
              <a:t> </a:t>
            </a:r>
            <a:r>
              <a:rPr sz="2700" spc="-5" dirty="0">
                <a:latin typeface="Times New Roman"/>
                <a:cs typeface="Times New Roman"/>
              </a:rPr>
              <a:t>r</a:t>
            </a:r>
            <a:r>
              <a:rPr sz="2700" spc="-135" dirty="0">
                <a:latin typeface="Times New Roman"/>
                <a:cs typeface="Times New Roman"/>
              </a:rPr>
              <a:t>egen</a:t>
            </a:r>
            <a:r>
              <a:rPr sz="2700" spc="-140" dirty="0">
                <a:latin typeface="Times New Roman"/>
                <a:cs typeface="Times New Roman"/>
              </a:rPr>
              <a:t>e</a:t>
            </a:r>
            <a:r>
              <a:rPr sz="2700" spc="-85" dirty="0">
                <a:latin typeface="Times New Roman"/>
                <a:cs typeface="Times New Roman"/>
              </a:rPr>
              <a:t>r</a:t>
            </a:r>
            <a:r>
              <a:rPr sz="2700" spc="-140" dirty="0">
                <a:latin typeface="Times New Roman"/>
                <a:cs typeface="Times New Roman"/>
              </a:rPr>
              <a:t>a</a:t>
            </a:r>
            <a:r>
              <a:rPr sz="2700" spc="45" dirty="0">
                <a:latin typeface="Times New Roman"/>
                <a:cs typeface="Times New Roman"/>
              </a:rPr>
              <a:t>t</a:t>
            </a:r>
            <a:r>
              <a:rPr sz="2700" spc="-114" dirty="0">
                <a:latin typeface="Times New Roman"/>
                <a:cs typeface="Times New Roman"/>
              </a:rPr>
              <a:t>o</a:t>
            </a:r>
            <a:r>
              <a:rPr sz="2700" spc="-220" dirty="0">
                <a:latin typeface="Times New Roman"/>
                <a:cs typeface="Times New Roman"/>
              </a:rPr>
              <a:t>r</a:t>
            </a:r>
            <a:r>
              <a:rPr sz="2700" spc="110" dirty="0">
                <a:latin typeface="Times New Roman"/>
                <a:cs typeface="Times New Roman"/>
              </a:rPr>
              <a:t>,</a:t>
            </a:r>
            <a:r>
              <a:rPr sz="2700" spc="-100" dirty="0">
                <a:latin typeface="Times New Roman"/>
                <a:cs typeface="Times New Roman"/>
              </a:rPr>
              <a:t> </a:t>
            </a:r>
            <a:r>
              <a:rPr sz="2700" spc="-65" dirty="0">
                <a:latin typeface="Times New Roman"/>
                <a:cs typeface="Times New Roman"/>
              </a:rPr>
              <a:t>not</a:t>
            </a:r>
            <a:r>
              <a:rPr sz="2700" spc="-55" dirty="0">
                <a:latin typeface="Times New Roman"/>
                <a:cs typeface="Times New Roman"/>
              </a:rPr>
              <a:t> </a:t>
            </a:r>
            <a:r>
              <a:rPr sz="2700" spc="-160" dirty="0">
                <a:latin typeface="Times New Roman"/>
                <a:cs typeface="Times New Roman"/>
              </a:rPr>
              <a:t>a</a:t>
            </a:r>
            <a:r>
              <a:rPr sz="2700" spc="-175" dirty="0">
                <a:latin typeface="Times New Roman"/>
                <a:cs typeface="Times New Roman"/>
              </a:rPr>
              <a:t>n</a:t>
            </a:r>
            <a:r>
              <a:rPr sz="2700" spc="-45" dirty="0">
                <a:latin typeface="Times New Roman"/>
                <a:cs typeface="Times New Roman"/>
              </a:rPr>
              <a:t> </a:t>
            </a:r>
            <a:r>
              <a:rPr sz="2700" spc="-150" dirty="0">
                <a:latin typeface="Times New Roman"/>
                <a:cs typeface="Times New Roman"/>
              </a:rPr>
              <a:t>amplifie</a:t>
            </a:r>
            <a:r>
              <a:rPr sz="2700" spc="-215" dirty="0">
                <a:latin typeface="Times New Roman"/>
                <a:cs typeface="Times New Roman"/>
              </a:rPr>
              <a:t>r</a:t>
            </a:r>
            <a:r>
              <a:rPr sz="2700" spc="110" dirty="0">
                <a:latin typeface="Times New Roman"/>
                <a:cs typeface="Times New Roman"/>
              </a:rPr>
              <a:t>.</a:t>
            </a:r>
            <a:endParaRPr sz="2700">
              <a:latin typeface="Times New Roman"/>
              <a:cs typeface="Times New Roman"/>
            </a:endParaRPr>
          </a:p>
          <a:p>
            <a:pPr marL="368935" marR="215900" indent="-344805">
              <a:lnSpc>
                <a:spcPts val="2900"/>
              </a:lnSpc>
              <a:spcBef>
                <a:spcPts val="254"/>
              </a:spcBef>
              <a:buFont typeface="Arial MT"/>
              <a:buChar char="•"/>
              <a:tabLst>
                <a:tab pos="368935" algn="l"/>
                <a:tab pos="369570" algn="l"/>
                <a:tab pos="6964045" algn="l"/>
              </a:tabLst>
            </a:pPr>
            <a:r>
              <a:rPr sz="2700" spc="-155" dirty="0">
                <a:latin typeface="Times New Roman"/>
                <a:cs typeface="Times New Roman"/>
              </a:rPr>
              <a:t>Repe</a:t>
            </a:r>
            <a:r>
              <a:rPr sz="2700" spc="-165" dirty="0">
                <a:latin typeface="Times New Roman"/>
                <a:cs typeface="Times New Roman"/>
              </a:rPr>
              <a:t>a</a:t>
            </a:r>
            <a:r>
              <a:rPr sz="2700" spc="-15" dirty="0">
                <a:latin typeface="Times New Roman"/>
                <a:cs typeface="Times New Roman"/>
              </a:rPr>
              <a:t>te</a:t>
            </a:r>
            <a:r>
              <a:rPr sz="2700" spc="35" dirty="0">
                <a:latin typeface="Times New Roman"/>
                <a:cs typeface="Times New Roman"/>
              </a:rPr>
              <a:t>r</a:t>
            </a:r>
            <a:r>
              <a:rPr sz="2700" spc="-210" dirty="0">
                <a:latin typeface="Times New Roman"/>
                <a:cs typeface="Times New Roman"/>
              </a:rPr>
              <a:t>s</a:t>
            </a:r>
            <a:r>
              <a:rPr sz="2700" dirty="0">
                <a:latin typeface="Times New Roman"/>
                <a:cs typeface="Times New Roman"/>
              </a:rPr>
              <a:t> </a:t>
            </a:r>
            <a:r>
              <a:rPr sz="2700" spc="-165" dirty="0">
                <a:latin typeface="Times New Roman"/>
                <a:cs typeface="Times New Roman"/>
              </a:rPr>
              <a:t>can</a:t>
            </a:r>
            <a:r>
              <a:rPr sz="2700" spc="-50" dirty="0">
                <a:latin typeface="Times New Roman"/>
                <a:cs typeface="Times New Roman"/>
              </a:rPr>
              <a:t> </a:t>
            </a:r>
            <a:r>
              <a:rPr sz="2700" spc="-105" dirty="0">
                <a:latin typeface="Times New Roman"/>
                <a:cs typeface="Times New Roman"/>
              </a:rPr>
              <a:t>connect</a:t>
            </a:r>
            <a:r>
              <a:rPr sz="2700" spc="-25" dirty="0">
                <a:latin typeface="Times New Roman"/>
                <a:cs typeface="Times New Roman"/>
              </a:rPr>
              <a:t> </a:t>
            </a:r>
            <a:r>
              <a:rPr sz="2700" spc="-145" dirty="0">
                <a:latin typeface="Times New Roman"/>
                <a:cs typeface="Times New Roman"/>
              </a:rPr>
              <a:t>s</a:t>
            </a:r>
            <a:r>
              <a:rPr sz="2700" spc="-175" dirty="0">
                <a:latin typeface="Times New Roman"/>
                <a:cs typeface="Times New Roman"/>
              </a:rPr>
              <a:t>e</a:t>
            </a:r>
            <a:r>
              <a:rPr sz="2700" spc="-125" dirty="0">
                <a:latin typeface="Times New Roman"/>
                <a:cs typeface="Times New Roman"/>
              </a:rPr>
              <a:t>gmen</a:t>
            </a:r>
            <a:r>
              <a:rPr sz="2700" spc="-55" dirty="0">
                <a:latin typeface="Times New Roman"/>
                <a:cs typeface="Times New Roman"/>
              </a:rPr>
              <a:t>t</a:t>
            </a:r>
            <a:r>
              <a:rPr sz="2700" spc="-210" dirty="0">
                <a:latin typeface="Times New Roman"/>
                <a:cs typeface="Times New Roman"/>
              </a:rPr>
              <a:t>s</a:t>
            </a:r>
            <a:r>
              <a:rPr sz="2700" spc="-15" dirty="0">
                <a:latin typeface="Times New Roman"/>
                <a:cs typeface="Times New Roman"/>
              </a:rPr>
              <a:t> </a:t>
            </a:r>
            <a:r>
              <a:rPr sz="2700" spc="-50" dirty="0">
                <a:latin typeface="Times New Roman"/>
                <a:cs typeface="Times New Roman"/>
              </a:rPr>
              <a:t>t</a:t>
            </a:r>
            <a:r>
              <a:rPr sz="2700" spc="-80" dirty="0">
                <a:latin typeface="Times New Roman"/>
                <a:cs typeface="Times New Roman"/>
              </a:rPr>
              <a:t>h</a:t>
            </a:r>
            <a:r>
              <a:rPr sz="2700" spc="-240" dirty="0">
                <a:latin typeface="Times New Roman"/>
                <a:cs typeface="Times New Roman"/>
              </a:rPr>
              <a:t>a</a:t>
            </a:r>
            <a:r>
              <a:rPr sz="2700" spc="35" dirty="0">
                <a:latin typeface="Times New Roman"/>
                <a:cs typeface="Times New Roman"/>
              </a:rPr>
              <a:t>t</a:t>
            </a:r>
            <a:r>
              <a:rPr sz="2700" spc="-40" dirty="0">
                <a:latin typeface="Times New Roman"/>
                <a:cs typeface="Times New Roman"/>
              </a:rPr>
              <a:t> </a:t>
            </a:r>
            <a:r>
              <a:rPr sz="2700" spc="-204" dirty="0">
                <a:latin typeface="Times New Roman"/>
                <a:cs typeface="Times New Roman"/>
              </a:rPr>
              <a:t>h</a:t>
            </a:r>
            <a:r>
              <a:rPr sz="2700" spc="-265" dirty="0">
                <a:latin typeface="Times New Roman"/>
                <a:cs typeface="Times New Roman"/>
              </a:rPr>
              <a:t>a</a:t>
            </a:r>
            <a:r>
              <a:rPr sz="2700" spc="-275" dirty="0">
                <a:latin typeface="Times New Roman"/>
                <a:cs typeface="Times New Roman"/>
              </a:rPr>
              <a:t>v</a:t>
            </a:r>
            <a:r>
              <a:rPr sz="2700" spc="-105" dirty="0">
                <a:latin typeface="Times New Roman"/>
                <a:cs typeface="Times New Roman"/>
              </a:rPr>
              <a:t>e</a:t>
            </a:r>
            <a:r>
              <a:rPr sz="2700" spc="-45" dirty="0">
                <a:latin typeface="Times New Roman"/>
                <a:cs typeface="Times New Roman"/>
              </a:rPr>
              <a:t> </a:t>
            </a:r>
            <a:r>
              <a:rPr sz="2700" spc="-50" dirty="0">
                <a:latin typeface="Times New Roman"/>
                <a:cs typeface="Times New Roman"/>
              </a:rPr>
              <a:t>t</a:t>
            </a:r>
            <a:r>
              <a:rPr sz="2700" spc="-80" dirty="0">
                <a:latin typeface="Times New Roman"/>
                <a:cs typeface="Times New Roman"/>
              </a:rPr>
              <a:t>h</a:t>
            </a:r>
            <a:r>
              <a:rPr sz="2700" spc="-105" dirty="0">
                <a:latin typeface="Times New Roman"/>
                <a:cs typeface="Times New Roman"/>
              </a:rPr>
              <a:t>e</a:t>
            </a:r>
            <a:r>
              <a:rPr sz="2700" spc="-45" dirty="0">
                <a:latin typeface="Times New Roman"/>
                <a:cs typeface="Times New Roman"/>
              </a:rPr>
              <a:t> </a:t>
            </a:r>
            <a:r>
              <a:rPr sz="2700" spc="-170" dirty="0">
                <a:latin typeface="Times New Roman"/>
                <a:cs typeface="Times New Roman"/>
              </a:rPr>
              <a:t>same</a:t>
            </a:r>
            <a:r>
              <a:rPr sz="2700" dirty="0">
                <a:latin typeface="Times New Roman"/>
                <a:cs typeface="Times New Roman"/>
              </a:rPr>
              <a:t>	</a:t>
            </a:r>
            <a:r>
              <a:rPr sz="2700" spc="-185" dirty="0">
                <a:latin typeface="Times New Roman"/>
                <a:cs typeface="Times New Roman"/>
              </a:rPr>
              <a:t>ac</a:t>
            </a:r>
            <a:r>
              <a:rPr sz="2700" spc="-175" dirty="0">
                <a:latin typeface="Times New Roman"/>
                <a:cs typeface="Times New Roman"/>
              </a:rPr>
              <a:t>c</a:t>
            </a:r>
            <a:r>
              <a:rPr sz="2700" spc="-165" dirty="0">
                <a:latin typeface="Times New Roman"/>
                <a:cs typeface="Times New Roman"/>
              </a:rPr>
              <a:t>e</a:t>
            </a:r>
            <a:r>
              <a:rPr sz="2700" spc="-155" dirty="0">
                <a:latin typeface="Times New Roman"/>
                <a:cs typeface="Times New Roman"/>
              </a:rPr>
              <a:t>s</a:t>
            </a:r>
            <a:r>
              <a:rPr sz="2700" spc="-160" dirty="0">
                <a:latin typeface="Times New Roman"/>
                <a:cs typeface="Times New Roman"/>
              </a:rPr>
              <a:t>s  </a:t>
            </a:r>
            <a:r>
              <a:rPr sz="2700" spc="-80" dirty="0">
                <a:latin typeface="Times New Roman"/>
                <a:cs typeface="Times New Roman"/>
              </a:rPr>
              <a:t>method.</a:t>
            </a:r>
            <a:r>
              <a:rPr sz="2700" spc="-130" dirty="0">
                <a:latin typeface="Times New Roman"/>
                <a:cs typeface="Times New Roman"/>
              </a:rPr>
              <a:t> </a:t>
            </a:r>
            <a:r>
              <a:rPr sz="2700" spc="-120" dirty="0">
                <a:latin typeface="Times New Roman"/>
                <a:cs typeface="Times New Roman"/>
              </a:rPr>
              <a:t>(CSMA/CD,</a:t>
            </a:r>
            <a:r>
              <a:rPr sz="2700" spc="-434" dirty="0">
                <a:latin typeface="Times New Roman"/>
                <a:cs typeface="Times New Roman"/>
              </a:rPr>
              <a:t> </a:t>
            </a:r>
            <a:r>
              <a:rPr sz="2700" spc="-204" dirty="0">
                <a:latin typeface="Times New Roman"/>
                <a:cs typeface="Times New Roman"/>
              </a:rPr>
              <a:t>Token</a:t>
            </a:r>
            <a:r>
              <a:rPr sz="2700" spc="-35" dirty="0">
                <a:latin typeface="Times New Roman"/>
                <a:cs typeface="Times New Roman"/>
              </a:rPr>
              <a:t> </a:t>
            </a:r>
            <a:r>
              <a:rPr sz="2700" spc="-160" dirty="0">
                <a:latin typeface="Times New Roman"/>
                <a:cs typeface="Times New Roman"/>
              </a:rPr>
              <a:t>Passing,</a:t>
            </a:r>
            <a:r>
              <a:rPr sz="2700" spc="-125" dirty="0">
                <a:latin typeface="Times New Roman"/>
                <a:cs typeface="Times New Roman"/>
              </a:rPr>
              <a:t> </a:t>
            </a:r>
            <a:r>
              <a:rPr sz="2700" spc="-120" dirty="0">
                <a:latin typeface="Times New Roman"/>
                <a:cs typeface="Times New Roman"/>
              </a:rPr>
              <a:t>Polling,</a:t>
            </a:r>
            <a:r>
              <a:rPr sz="2700" spc="-150" dirty="0">
                <a:latin typeface="Times New Roman"/>
                <a:cs typeface="Times New Roman"/>
              </a:rPr>
              <a:t> </a:t>
            </a:r>
            <a:r>
              <a:rPr sz="2700" spc="-40" dirty="0">
                <a:latin typeface="Times New Roman"/>
                <a:cs typeface="Times New Roman"/>
              </a:rPr>
              <a:t>etc.)</a:t>
            </a:r>
            <a:endParaRPr sz="27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19800" y="5105400"/>
            <a:ext cx="2844800" cy="160020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195317" y="6478930"/>
            <a:ext cx="1644014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O</a:t>
            </a:r>
            <a:r>
              <a:rPr sz="1800" spc="-65" dirty="0">
                <a:latin typeface="Times New Roman"/>
                <a:cs typeface="Times New Roman"/>
              </a:rPr>
              <a:t>ptic</a:t>
            </a:r>
            <a:r>
              <a:rPr sz="1800" spc="-90" dirty="0">
                <a:latin typeface="Times New Roman"/>
                <a:cs typeface="Times New Roman"/>
              </a:rPr>
              <a:t> </a:t>
            </a:r>
            <a:r>
              <a:rPr sz="1800" spc="-150" dirty="0">
                <a:latin typeface="Times New Roman"/>
                <a:cs typeface="Times New Roman"/>
              </a:rPr>
              <a:t>f</a:t>
            </a:r>
            <a:r>
              <a:rPr sz="1800" spc="-110" dirty="0">
                <a:latin typeface="Times New Roman"/>
                <a:cs typeface="Times New Roman"/>
              </a:rPr>
              <a:t>i</a:t>
            </a:r>
            <a:r>
              <a:rPr sz="1800" spc="-114" dirty="0">
                <a:latin typeface="Times New Roman"/>
                <a:cs typeface="Times New Roman"/>
              </a:rPr>
              <a:t>b</a:t>
            </a:r>
            <a:r>
              <a:rPr sz="1800" spc="-85" dirty="0">
                <a:latin typeface="Times New Roman"/>
                <a:cs typeface="Times New Roman"/>
              </a:rPr>
              <a:t>e</a:t>
            </a:r>
            <a:r>
              <a:rPr sz="1800" spc="20" dirty="0">
                <a:latin typeface="Times New Roman"/>
                <a:cs typeface="Times New Roman"/>
              </a:rPr>
              <a:t>r</a:t>
            </a:r>
            <a:r>
              <a:rPr sz="1800" spc="-90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Times New Roman"/>
                <a:cs typeface="Times New Roman"/>
              </a:rPr>
              <a:t>r</a:t>
            </a:r>
            <a:r>
              <a:rPr sz="1800" spc="-95" dirty="0">
                <a:latin typeface="Times New Roman"/>
                <a:cs typeface="Times New Roman"/>
              </a:rPr>
              <a:t>e</a:t>
            </a:r>
            <a:r>
              <a:rPr sz="1800" spc="-100" dirty="0">
                <a:latin typeface="Times New Roman"/>
                <a:cs typeface="Times New Roman"/>
              </a:rPr>
              <a:t>p</a:t>
            </a:r>
            <a:r>
              <a:rPr sz="1800" spc="-95" dirty="0">
                <a:latin typeface="Times New Roman"/>
                <a:cs typeface="Times New Roman"/>
              </a:rPr>
              <a:t>e</a:t>
            </a:r>
            <a:r>
              <a:rPr sz="1800" spc="-180" dirty="0">
                <a:latin typeface="Times New Roman"/>
                <a:cs typeface="Times New Roman"/>
              </a:rPr>
              <a:t>a</a:t>
            </a:r>
            <a:r>
              <a:rPr sz="1800" dirty="0">
                <a:latin typeface="Times New Roman"/>
                <a:cs typeface="Times New Roman"/>
              </a:rPr>
              <a:t>t</a:t>
            </a:r>
            <a:r>
              <a:rPr sz="1800" spc="-95" dirty="0">
                <a:latin typeface="Times New Roman"/>
                <a:cs typeface="Times New Roman"/>
              </a:rPr>
              <a:t>e</a:t>
            </a:r>
            <a:r>
              <a:rPr sz="1800" spc="20" dirty="0">
                <a:latin typeface="Times New Roman"/>
                <a:cs typeface="Times New Roman"/>
              </a:rPr>
              <a:t>r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88694" y="1091311"/>
            <a:ext cx="43497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696363"/>
                </a:solidFill>
                <a:latin typeface="Times New Roman"/>
                <a:cs typeface="Times New Roman"/>
              </a:rPr>
              <a:t>R</a:t>
            </a:r>
            <a:r>
              <a:rPr sz="2000" spc="-10" dirty="0">
                <a:solidFill>
                  <a:srgbClr val="696363"/>
                </a:solidFill>
                <a:latin typeface="Times New Roman"/>
                <a:cs typeface="Times New Roman"/>
              </a:rPr>
              <a:t>e</a:t>
            </a:r>
            <a:r>
              <a:rPr sz="2000" dirty="0">
                <a:solidFill>
                  <a:srgbClr val="696363"/>
                </a:solidFill>
                <a:latin typeface="Times New Roman"/>
                <a:cs typeface="Times New Roman"/>
              </a:rPr>
              <a:t>p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910604" y="1131723"/>
            <a:ext cx="4124960" cy="281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185"/>
              </a:lnSpc>
            </a:pPr>
            <a:r>
              <a:rPr sz="2000" spc="-5" dirty="0">
                <a:solidFill>
                  <a:srgbClr val="696363"/>
                </a:solidFill>
                <a:latin typeface="Times New Roman"/>
                <a:cs typeface="Times New Roman"/>
              </a:rPr>
              <a:t>eater</a:t>
            </a:r>
            <a:r>
              <a:rPr sz="2000" spc="-45" dirty="0">
                <a:solidFill>
                  <a:srgbClr val="696363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696363"/>
                </a:solidFill>
                <a:latin typeface="Times New Roman"/>
                <a:cs typeface="Times New Roman"/>
              </a:rPr>
              <a:t>connecting</a:t>
            </a:r>
            <a:r>
              <a:rPr sz="2000" spc="-50" dirty="0">
                <a:solidFill>
                  <a:srgbClr val="696363"/>
                </a:solidFill>
                <a:latin typeface="Times New Roman"/>
                <a:cs typeface="Times New Roman"/>
              </a:rPr>
              <a:t> </a:t>
            </a:r>
            <a:r>
              <a:rPr sz="2000" spc="-15" dirty="0">
                <a:solidFill>
                  <a:srgbClr val="696363"/>
                </a:solidFill>
                <a:latin typeface="Times New Roman"/>
                <a:cs typeface="Times New Roman"/>
              </a:rPr>
              <a:t>two</a:t>
            </a:r>
            <a:r>
              <a:rPr sz="2000" spc="-50" dirty="0">
                <a:solidFill>
                  <a:srgbClr val="696363"/>
                </a:solidFill>
                <a:latin typeface="Times New Roman"/>
                <a:cs typeface="Times New Roman"/>
              </a:rPr>
              <a:t> </a:t>
            </a:r>
            <a:r>
              <a:rPr sz="2000" spc="-15" dirty="0">
                <a:solidFill>
                  <a:srgbClr val="696363"/>
                </a:solidFill>
                <a:latin typeface="Times New Roman"/>
                <a:cs typeface="Times New Roman"/>
              </a:rPr>
              <a:t>segments</a:t>
            </a:r>
            <a:r>
              <a:rPr sz="2000" spc="-65" dirty="0">
                <a:solidFill>
                  <a:srgbClr val="696363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696363"/>
                </a:solidFill>
                <a:latin typeface="Times New Roman"/>
                <a:cs typeface="Times New Roman"/>
              </a:rPr>
              <a:t>of</a:t>
            </a:r>
            <a:r>
              <a:rPr sz="2000" spc="-10" dirty="0">
                <a:solidFill>
                  <a:srgbClr val="696363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696363"/>
                </a:solidFill>
                <a:latin typeface="Times New Roman"/>
                <a:cs typeface="Times New Roman"/>
              </a:rPr>
              <a:t>a</a:t>
            </a:r>
            <a:r>
              <a:rPr sz="2000" spc="165" dirty="0">
                <a:solidFill>
                  <a:srgbClr val="696363"/>
                </a:solidFill>
                <a:latin typeface="Times New Roman"/>
                <a:cs typeface="Times New Roman"/>
              </a:rPr>
              <a:t> </a:t>
            </a:r>
            <a:r>
              <a:rPr sz="2000" spc="-15" dirty="0">
                <a:solidFill>
                  <a:srgbClr val="696363"/>
                </a:solidFill>
                <a:latin typeface="Times New Roman"/>
                <a:cs typeface="Times New Roman"/>
              </a:rPr>
              <a:t>LAN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28800" y="457200"/>
            <a:ext cx="5638800" cy="234289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95400" y="3276549"/>
            <a:ext cx="6781800" cy="324204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509009" y="6509410"/>
            <a:ext cx="205486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Times New Roman"/>
                <a:cs typeface="Times New Roman"/>
              </a:rPr>
              <a:t>Func</a:t>
            </a:r>
            <a:r>
              <a:rPr sz="1800" i="1" spc="5" dirty="0">
                <a:latin typeface="Times New Roman"/>
                <a:cs typeface="Times New Roman"/>
              </a:rPr>
              <a:t>t</a:t>
            </a:r>
            <a:r>
              <a:rPr sz="1800" i="1" dirty="0">
                <a:latin typeface="Times New Roman"/>
                <a:cs typeface="Times New Roman"/>
              </a:rPr>
              <a:t>ion</a:t>
            </a:r>
            <a:r>
              <a:rPr sz="1800" i="1" spc="-20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of a</a:t>
            </a:r>
            <a:r>
              <a:rPr sz="1800" i="1" spc="-130" dirty="0">
                <a:latin typeface="Times New Roman"/>
                <a:cs typeface="Times New Roman"/>
              </a:rPr>
              <a:t> </a:t>
            </a:r>
            <a:r>
              <a:rPr sz="1800" i="1" spc="-90" dirty="0">
                <a:latin typeface="Times New Roman"/>
                <a:cs typeface="Times New Roman"/>
              </a:rPr>
              <a:t>r</a:t>
            </a:r>
            <a:r>
              <a:rPr sz="1800" i="1" spc="-10" dirty="0">
                <a:latin typeface="Times New Roman"/>
                <a:cs typeface="Times New Roman"/>
              </a:rPr>
              <a:t>e</a:t>
            </a:r>
            <a:r>
              <a:rPr sz="1800" i="1" spc="-15" dirty="0">
                <a:latin typeface="Times New Roman"/>
                <a:cs typeface="Times New Roman"/>
              </a:rPr>
              <a:t>p</a:t>
            </a:r>
            <a:r>
              <a:rPr sz="1800" i="1" spc="-10" dirty="0">
                <a:latin typeface="Times New Roman"/>
                <a:cs typeface="Times New Roman"/>
              </a:rPr>
              <a:t>e</a:t>
            </a:r>
            <a:r>
              <a:rPr sz="1800" i="1" spc="-15" dirty="0">
                <a:latin typeface="Times New Roman"/>
                <a:cs typeface="Times New Roman"/>
              </a:rPr>
              <a:t>a</a:t>
            </a:r>
            <a:r>
              <a:rPr sz="1800" i="1" spc="-10" dirty="0">
                <a:latin typeface="Times New Roman"/>
                <a:cs typeface="Times New Roman"/>
              </a:rPr>
              <a:t>te</a:t>
            </a:r>
            <a:r>
              <a:rPr sz="1800" i="1" dirty="0">
                <a:latin typeface="Times New Roman"/>
                <a:cs typeface="Times New Roman"/>
              </a:rPr>
              <a:t>r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688974"/>
            <a:ext cx="1932939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40" dirty="0"/>
              <a:t>Switches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993444" y="1433830"/>
            <a:ext cx="7499350" cy="37452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5080" indent="-274320">
              <a:lnSpc>
                <a:spcPct val="100000"/>
              </a:lnSpc>
              <a:spcBef>
                <a:spcPts val="105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  <a:tab pos="2894330" algn="l"/>
              </a:tabLst>
            </a:pPr>
            <a:r>
              <a:rPr sz="2600" spc="-335" dirty="0">
                <a:latin typeface="Times New Roman"/>
                <a:cs typeface="Times New Roman"/>
              </a:rPr>
              <a:t>A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b="1" spc="25" dirty="0">
                <a:latin typeface="Times New Roman"/>
                <a:cs typeface="Times New Roman"/>
              </a:rPr>
              <a:t>network</a:t>
            </a:r>
            <a:r>
              <a:rPr sz="2600" b="1" spc="-75" dirty="0">
                <a:latin typeface="Times New Roman"/>
                <a:cs typeface="Times New Roman"/>
              </a:rPr>
              <a:t> </a:t>
            </a:r>
            <a:r>
              <a:rPr sz="2600" b="1" spc="20" dirty="0">
                <a:latin typeface="Times New Roman"/>
                <a:cs typeface="Times New Roman"/>
              </a:rPr>
              <a:t>switch	</a:t>
            </a:r>
            <a:r>
              <a:rPr sz="2600" spc="-165" dirty="0">
                <a:latin typeface="Times New Roman"/>
                <a:cs typeface="Times New Roman"/>
              </a:rPr>
              <a:t>is </a:t>
            </a:r>
            <a:r>
              <a:rPr sz="2600" spc="-204" dirty="0">
                <a:latin typeface="Times New Roman"/>
                <a:cs typeface="Times New Roman"/>
              </a:rPr>
              <a:t>a</a:t>
            </a:r>
            <a:r>
              <a:rPr sz="2600" spc="-200" dirty="0">
                <a:solidFill>
                  <a:srgbClr val="CC9900"/>
                </a:solidFill>
                <a:latin typeface="Times New Roman"/>
                <a:cs typeface="Times New Roman"/>
              </a:rPr>
              <a:t> </a:t>
            </a:r>
            <a:r>
              <a:rPr sz="2600" u="heavy" spc="-90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Times New Roman"/>
                <a:cs typeface="Times New Roman"/>
                <a:hlinkClick r:id="rId2"/>
              </a:rPr>
              <a:t>computer </a:t>
            </a:r>
            <a:r>
              <a:rPr sz="2600" u="heavy" spc="-114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Times New Roman"/>
                <a:cs typeface="Times New Roman"/>
                <a:hlinkClick r:id="rId2"/>
              </a:rPr>
              <a:t>networking </a:t>
            </a:r>
            <a:r>
              <a:rPr sz="2600" u="heavy" spc="-145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Times New Roman"/>
                <a:cs typeface="Times New Roman"/>
                <a:hlinkClick r:id="rId2"/>
              </a:rPr>
              <a:t>device</a:t>
            </a:r>
            <a:r>
              <a:rPr sz="2600" spc="-145" dirty="0">
                <a:solidFill>
                  <a:srgbClr val="CC9900"/>
                </a:solidFill>
                <a:latin typeface="Times New Roman"/>
                <a:cs typeface="Times New Roman"/>
                <a:hlinkClick r:id="rId2"/>
              </a:rPr>
              <a:t> </a:t>
            </a:r>
            <a:r>
              <a:rPr sz="2600" spc="-85" dirty="0">
                <a:latin typeface="Times New Roman"/>
                <a:cs typeface="Times New Roman"/>
              </a:rPr>
              <a:t>that 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connects </a:t>
            </a:r>
            <a:r>
              <a:rPr sz="2600" spc="-150" dirty="0">
                <a:latin typeface="Times New Roman"/>
                <a:cs typeface="Times New Roman"/>
              </a:rPr>
              <a:t>devices </a:t>
            </a:r>
            <a:r>
              <a:rPr sz="2600" spc="-75" dirty="0">
                <a:latin typeface="Times New Roman"/>
                <a:cs typeface="Times New Roman"/>
              </a:rPr>
              <a:t>together </a:t>
            </a:r>
            <a:r>
              <a:rPr sz="2600" spc="-110" dirty="0">
                <a:latin typeface="Times New Roman"/>
                <a:cs typeface="Times New Roman"/>
              </a:rPr>
              <a:t>on </a:t>
            </a:r>
            <a:r>
              <a:rPr sz="2600" spc="-204" dirty="0">
                <a:latin typeface="Times New Roman"/>
                <a:cs typeface="Times New Roman"/>
              </a:rPr>
              <a:t>a</a:t>
            </a:r>
            <a:r>
              <a:rPr sz="2600" spc="-200" dirty="0">
                <a:solidFill>
                  <a:srgbClr val="CC9900"/>
                </a:solidFill>
                <a:latin typeface="Times New Roman"/>
                <a:cs typeface="Times New Roman"/>
              </a:rPr>
              <a:t> </a:t>
            </a:r>
            <a:r>
              <a:rPr sz="2600" u="heavy" spc="-90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Times New Roman"/>
                <a:cs typeface="Times New Roman"/>
                <a:hlinkClick r:id="rId3"/>
              </a:rPr>
              <a:t>computer </a:t>
            </a:r>
            <a:r>
              <a:rPr sz="2600" u="heavy" spc="-95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Times New Roman"/>
                <a:cs typeface="Times New Roman"/>
                <a:hlinkClick r:id="rId3"/>
              </a:rPr>
              <a:t>network</a:t>
            </a:r>
            <a:r>
              <a:rPr sz="2600" spc="-95" dirty="0">
                <a:solidFill>
                  <a:srgbClr val="CC9900"/>
                </a:solidFill>
                <a:latin typeface="Times New Roman"/>
                <a:cs typeface="Times New Roman"/>
                <a:hlinkClick r:id="rId3"/>
              </a:rPr>
              <a:t> </a:t>
            </a:r>
            <a:r>
              <a:rPr sz="2600" spc="-200" dirty="0">
                <a:latin typeface="Times New Roman"/>
                <a:cs typeface="Times New Roman"/>
              </a:rPr>
              <a:t>by</a:t>
            </a:r>
            <a:r>
              <a:rPr sz="2600" spc="-195" dirty="0">
                <a:latin typeface="Times New Roman"/>
                <a:cs typeface="Times New Roman"/>
              </a:rPr>
              <a:t> </a:t>
            </a:r>
            <a:r>
              <a:rPr sz="2600" spc="-155" dirty="0">
                <a:latin typeface="Times New Roman"/>
                <a:cs typeface="Times New Roman"/>
              </a:rPr>
              <a:t>using </a:t>
            </a:r>
            <a:r>
              <a:rPr sz="2600" spc="-150" dirty="0">
                <a:solidFill>
                  <a:srgbClr val="CC9900"/>
                </a:solidFill>
                <a:latin typeface="Times New Roman"/>
                <a:cs typeface="Times New Roman"/>
              </a:rPr>
              <a:t> </a:t>
            </a:r>
            <a:r>
              <a:rPr sz="2600" u="heavy" spc="-120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Times New Roman"/>
                <a:cs typeface="Times New Roman"/>
                <a:hlinkClick r:id="rId4"/>
              </a:rPr>
              <a:t>packet</a:t>
            </a:r>
            <a:r>
              <a:rPr sz="2600" u="heavy" spc="-65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Times New Roman"/>
                <a:cs typeface="Times New Roman"/>
                <a:hlinkClick r:id="rId4"/>
              </a:rPr>
              <a:t> </a:t>
            </a:r>
            <a:r>
              <a:rPr sz="2600" u="heavy" spc="-135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Times New Roman"/>
                <a:cs typeface="Times New Roman"/>
                <a:hlinkClick r:id="rId4"/>
              </a:rPr>
              <a:t>switching</a:t>
            </a:r>
            <a:r>
              <a:rPr sz="2600" spc="-55" dirty="0">
                <a:solidFill>
                  <a:srgbClr val="CC9900"/>
                </a:solidFill>
                <a:latin typeface="Times New Roman"/>
                <a:cs typeface="Times New Roman"/>
                <a:hlinkClick r:id="rId4"/>
              </a:rPr>
              <a:t> </a:t>
            </a:r>
            <a:r>
              <a:rPr sz="2600" spc="-35" dirty="0">
                <a:latin typeface="Times New Roman"/>
                <a:cs typeface="Times New Roman"/>
              </a:rPr>
              <a:t>to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00" dirty="0">
                <a:latin typeface="Times New Roman"/>
                <a:cs typeface="Times New Roman"/>
              </a:rPr>
              <a:t>receive,</a:t>
            </a:r>
            <a:r>
              <a:rPr sz="2600" spc="-180" dirty="0">
                <a:latin typeface="Times New Roman"/>
                <a:cs typeface="Times New Roman"/>
              </a:rPr>
              <a:t> </a:t>
            </a:r>
            <a:r>
              <a:rPr sz="2600" spc="-95" dirty="0">
                <a:latin typeface="Times New Roman"/>
                <a:cs typeface="Times New Roman"/>
              </a:rPr>
              <a:t>process,</a:t>
            </a:r>
            <a:r>
              <a:rPr sz="2600" spc="-180" dirty="0">
                <a:latin typeface="Times New Roman"/>
                <a:cs typeface="Times New Roman"/>
              </a:rPr>
              <a:t> </a:t>
            </a:r>
            <a:r>
              <a:rPr sz="2600" spc="-145" dirty="0">
                <a:latin typeface="Times New Roman"/>
                <a:cs typeface="Times New Roman"/>
              </a:rPr>
              <a:t>and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05" dirty="0">
                <a:latin typeface="Times New Roman"/>
                <a:cs typeface="Times New Roman"/>
              </a:rPr>
              <a:t>forward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30" dirty="0">
                <a:latin typeface="Times New Roman"/>
                <a:cs typeface="Times New Roman"/>
              </a:rPr>
              <a:t>data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Times New Roman"/>
                <a:cs typeface="Times New Roman"/>
              </a:rPr>
              <a:t>to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75" dirty="0">
                <a:latin typeface="Times New Roman"/>
                <a:cs typeface="Times New Roman"/>
              </a:rPr>
              <a:t>the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-105" dirty="0">
                <a:latin typeface="Times New Roman"/>
                <a:cs typeface="Times New Roman"/>
              </a:rPr>
              <a:t>des</a:t>
            </a:r>
            <a:r>
              <a:rPr sz="2600" spc="-80" dirty="0">
                <a:latin typeface="Times New Roman"/>
                <a:cs typeface="Times New Roman"/>
              </a:rPr>
              <a:t>t</a:t>
            </a:r>
            <a:r>
              <a:rPr sz="2600" spc="-140" dirty="0">
                <a:latin typeface="Times New Roman"/>
                <a:cs typeface="Times New Roman"/>
              </a:rPr>
              <a:t>in</a:t>
            </a:r>
            <a:r>
              <a:rPr sz="2600" spc="-190" dirty="0">
                <a:latin typeface="Times New Roman"/>
                <a:cs typeface="Times New Roman"/>
              </a:rPr>
              <a:t>a</a:t>
            </a:r>
            <a:r>
              <a:rPr sz="2600" spc="-80" dirty="0">
                <a:latin typeface="Times New Roman"/>
                <a:cs typeface="Times New Roman"/>
              </a:rPr>
              <a:t>tion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d</a:t>
            </a:r>
            <a:r>
              <a:rPr sz="2600" spc="-140" dirty="0">
                <a:latin typeface="Times New Roman"/>
                <a:cs typeface="Times New Roman"/>
              </a:rPr>
              <a:t>e</a:t>
            </a:r>
            <a:r>
              <a:rPr sz="2600" spc="-160" dirty="0">
                <a:latin typeface="Times New Roman"/>
                <a:cs typeface="Times New Roman"/>
              </a:rPr>
              <a:t>vi</a:t>
            </a:r>
            <a:r>
              <a:rPr sz="2600" spc="-190" dirty="0">
                <a:latin typeface="Times New Roman"/>
                <a:cs typeface="Times New Roman"/>
              </a:rPr>
              <a:t>c</a:t>
            </a:r>
            <a:r>
              <a:rPr sz="2600" spc="-150" dirty="0">
                <a:latin typeface="Times New Roman"/>
                <a:cs typeface="Times New Roman"/>
              </a:rPr>
              <a:t>e</a:t>
            </a:r>
            <a:r>
              <a:rPr sz="2600" spc="110" dirty="0">
                <a:latin typeface="Times New Roman"/>
                <a:cs typeface="Times New Roman"/>
              </a:rPr>
              <a:t>.</a:t>
            </a:r>
            <a:endParaRPr sz="2600">
              <a:latin typeface="Times New Roman"/>
              <a:cs typeface="Times New Roman"/>
            </a:endParaRPr>
          </a:p>
          <a:p>
            <a:pPr marL="286385" marR="537845" indent="-274320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125" dirty="0">
                <a:latin typeface="Times New Roman"/>
                <a:cs typeface="Times New Roman"/>
              </a:rPr>
              <a:t>Unli</a:t>
            </a:r>
            <a:r>
              <a:rPr sz="2600" spc="-180" dirty="0">
                <a:latin typeface="Times New Roman"/>
                <a:cs typeface="Times New Roman"/>
              </a:rPr>
              <a:t>k</a:t>
            </a:r>
            <a:r>
              <a:rPr sz="2600" spc="-100" dirty="0">
                <a:latin typeface="Times New Roman"/>
                <a:cs typeface="Times New Roman"/>
              </a:rPr>
              <a:t>e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55" dirty="0">
                <a:latin typeface="Times New Roman"/>
                <a:cs typeface="Times New Roman"/>
              </a:rPr>
              <a:t>less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155" dirty="0">
                <a:latin typeface="Times New Roman"/>
                <a:cs typeface="Times New Roman"/>
              </a:rPr>
              <a:t>a</a:t>
            </a:r>
            <a:r>
              <a:rPr sz="2600" spc="-210" dirty="0">
                <a:latin typeface="Times New Roman"/>
                <a:cs typeface="Times New Roman"/>
              </a:rPr>
              <a:t>d</a:t>
            </a:r>
            <a:r>
              <a:rPr sz="2600" spc="-260" dirty="0">
                <a:latin typeface="Times New Roman"/>
                <a:cs typeface="Times New Roman"/>
              </a:rPr>
              <a:t>v</a:t>
            </a:r>
            <a:r>
              <a:rPr sz="2600" spc="-165" dirty="0">
                <a:latin typeface="Times New Roman"/>
                <a:cs typeface="Times New Roman"/>
              </a:rPr>
              <a:t>anc</a:t>
            </a:r>
            <a:r>
              <a:rPr sz="2600" spc="-105" dirty="0">
                <a:latin typeface="Times New Roman"/>
                <a:cs typeface="Times New Roman"/>
              </a:rPr>
              <a:t>ed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u="heavy" spc="-65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Times New Roman"/>
                <a:cs typeface="Times New Roman"/>
                <a:hlinkClick r:id="rId5"/>
              </a:rPr>
              <a:t>ne</a:t>
            </a:r>
            <a:r>
              <a:rPr sz="2600" u="heavy" spc="-55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Times New Roman"/>
                <a:cs typeface="Times New Roman"/>
                <a:hlinkClick r:id="rId5"/>
              </a:rPr>
              <a:t>t</a:t>
            </a:r>
            <a:r>
              <a:rPr sz="2600" u="heavy" spc="-240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Times New Roman"/>
                <a:cs typeface="Times New Roman"/>
                <a:hlinkClick r:id="rId5"/>
              </a:rPr>
              <a:t>w</a:t>
            </a:r>
            <a:r>
              <a:rPr sz="2600" u="heavy" spc="-40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Times New Roman"/>
                <a:cs typeface="Times New Roman"/>
                <a:hlinkClick r:id="rId5"/>
              </a:rPr>
              <a:t>or</a:t>
            </a:r>
            <a:r>
              <a:rPr sz="2600" u="heavy" spc="-160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Times New Roman"/>
                <a:cs typeface="Times New Roman"/>
                <a:hlinkClick r:id="rId5"/>
              </a:rPr>
              <a:t>k</a:t>
            </a:r>
            <a:r>
              <a:rPr sz="2600" u="heavy" spc="-65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Times New Roman"/>
                <a:cs typeface="Times New Roman"/>
                <a:hlinkClick r:id="rId5"/>
              </a:rPr>
              <a:t> </a:t>
            </a:r>
            <a:r>
              <a:rPr sz="2600" u="heavy" spc="-160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Times New Roman"/>
                <a:cs typeface="Times New Roman"/>
                <a:hlinkClick r:id="rId5"/>
              </a:rPr>
              <a:t>hub</a:t>
            </a:r>
            <a:r>
              <a:rPr sz="2600" u="heavy" spc="-130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Times New Roman"/>
                <a:cs typeface="Times New Roman"/>
                <a:hlinkClick r:id="rId5"/>
              </a:rPr>
              <a:t>s</a:t>
            </a:r>
            <a:r>
              <a:rPr sz="2600" spc="110" dirty="0">
                <a:latin typeface="Times New Roman"/>
                <a:cs typeface="Times New Roman"/>
              </a:rPr>
              <a:t>,</a:t>
            </a:r>
            <a:r>
              <a:rPr sz="2600" spc="-180" dirty="0">
                <a:latin typeface="Times New Roman"/>
                <a:cs typeface="Times New Roman"/>
              </a:rPr>
              <a:t> </a:t>
            </a:r>
            <a:r>
              <a:rPr sz="2600" spc="-204" dirty="0">
                <a:latin typeface="Times New Roman"/>
                <a:cs typeface="Times New Roman"/>
              </a:rPr>
              <a:t>a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65" dirty="0">
                <a:latin typeface="Times New Roman"/>
                <a:cs typeface="Times New Roman"/>
              </a:rPr>
              <a:t>ne</a:t>
            </a:r>
            <a:r>
              <a:rPr sz="2600" spc="-50" dirty="0">
                <a:latin typeface="Times New Roman"/>
                <a:cs typeface="Times New Roman"/>
              </a:rPr>
              <a:t>t</a:t>
            </a:r>
            <a:r>
              <a:rPr sz="2600" spc="-240" dirty="0">
                <a:latin typeface="Times New Roman"/>
                <a:cs typeface="Times New Roman"/>
              </a:rPr>
              <a:t>w</a:t>
            </a:r>
            <a:r>
              <a:rPr sz="2600" spc="-80" dirty="0">
                <a:latin typeface="Times New Roman"/>
                <a:cs typeface="Times New Roman"/>
              </a:rPr>
              <a:t>ork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250" dirty="0">
                <a:latin typeface="Times New Roman"/>
                <a:cs typeface="Times New Roman"/>
              </a:rPr>
              <a:t>s</a:t>
            </a:r>
            <a:r>
              <a:rPr sz="2600" spc="-95" dirty="0">
                <a:latin typeface="Times New Roman"/>
                <a:cs typeface="Times New Roman"/>
              </a:rPr>
              <a:t>wit</a:t>
            </a:r>
            <a:r>
              <a:rPr sz="2600" spc="-60" dirty="0">
                <a:latin typeface="Times New Roman"/>
                <a:cs typeface="Times New Roman"/>
              </a:rPr>
              <a:t>c</a:t>
            </a:r>
            <a:r>
              <a:rPr sz="2600" spc="-110" dirty="0">
                <a:latin typeface="Times New Roman"/>
                <a:cs typeface="Times New Roman"/>
              </a:rPr>
              <a:t>h  </a:t>
            </a:r>
            <a:r>
              <a:rPr sz="2600" spc="-120" dirty="0">
                <a:latin typeface="Times New Roman"/>
                <a:cs typeface="Times New Roman"/>
              </a:rPr>
              <a:t>f</a:t>
            </a:r>
            <a:r>
              <a:rPr sz="2600" spc="-190" dirty="0">
                <a:latin typeface="Times New Roman"/>
                <a:cs typeface="Times New Roman"/>
              </a:rPr>
              <a:t>o</a:t>
            </a:r>
            <a:r>
              <a:rPr sz="2600" spc="-40" dirty="0">
                <a:latin typeface="Times New Roman"/>
                <a:cs typeface="Times New Roman"/>
              </a:rPr>
              <a:t>r</a:t>
            </a:r>
            <a:r>
              <a:rPr sz="2600" spc="-95" dirty="0">
                <a:latin typeface="Times New Roman"/>
                <a:cs typeface="Times New Roman"/>
              </a:rPr>
              <a:t>w</a:t>
            </a:r>
            <a:r>
              <a:rPr sz="2600" spc="-130" dirty="0">
                <a:latin typeface="Times New Roman"/>
                <a:cs typeface="Times New Roman"/>
              </a:rPr>
              <a:t>ard</a:t>
            </a:r>
            <a:r>
              <a:rPr sz="2600" spc="-114" dirty="0">
                <a:latin typeface="Times New Roman"/>
                <a:cs typeface="Times New Roman"/>
              </a:rPr>
              <a:t>s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Times New Roman"/>
                <a:cs typeface="Times New Roman"/>
              </a:rPr>
              <a:t>d</a:t>
            </a:r>
            <a:r>
              <a:rPr sz="2600" spc="-235" dirty="0">
                <a:latin typeface="Times New Roman"/>
                <a:cs typeface="Times New Roman"/>
              </a:rPr>
              <a:t>a</a:t>
            </a:r>
            <a:r>
              <a:rPr sz="2600" spc="-85" dirty="0">
                <a:latin typeface="Times New Roman"/>
                <a:cs typeface="Times New Roman"/>
              </a:rPr>
              <a:t>ta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o</a:t>
            </a:r>
            <a:r>
              <a:rPr sz="2600" spc="-125" dirty="0">
                <a:latin typeface="Times New Roman"/>
                <a:cs typeface="Times New Roman"/>
              </a:rPr>
              <a:t>n</a:t>
            </a:r>
            <a:r>
              <a:rPr sz="2600" spc="-155" dirty="0">
                <a:latin typeface="Times New Roman"/>
                <a:cs typeface="Times New Roman"/>
              </a:rPr>
              <a:t>l</a:t>
            </a:r>
            <a:r>
              <a:rPr sz="2600" spc="-215" dirty="0">
                <a:latin typeface="Times New Roman"/>
                <a:cs typeface="Times New Roman"/>
              </a:rPr>
              <a:t>y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Times New Roman"/>
                <a:cs typeface="Times New Roman"/>
              </a:rPr>
              <a:t>to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45" dirty="0">
                <a:latin typeface="Times New Roman"/>
                <a:cs typeface="Times New Roman"/>
              </a:rPr>
              <a:t>t</a:t>
            </a:r>
            <a:r>
              <a:rPr sz="2600" spc="-95" dirty="0">
                <a:latin typeface="Times New Roman"/>
                <a:cs typeface="Times New Roman"/>
              </a:rPr>
              <a:t>h</a:t>
            </a:r>
            <a:r>
              <a:rPr sz="2600" spc="-100" dirty="0">
                <a:latin typeface="Times New Roman"/>
                <a:cs typeface="Times New Roman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d</a:t>
            </a:r>
            <a:r>
              <a:rPr sz="2600" spc="-145" dirty="0">
                <a:latin typeface="Times New Roman"/>
                <a:cs typeface="Times New Roman"/>
              </a:rPr>
              <a:t>e</a:t>
            </a:r>
            <a:r>
              <a:rPr sz="2600" spc="-160" dirty="0">
                <a:latin typeface="Times New Roman"/>
                <a:cs typeface="Times New Roman"/>
              </a:rPr>
              <a:t>vi</a:t>
            </a:r>
            <a:r>
              <a:rPr sz="2600" spc="-195" dirty="0">
                <a:latin typeface="Times New Roman"/>
                <a:cs typeface="Times New Roman"/>
              </a:rPr>
              <a:t>c</a:t>
            </a:r>
            <a:r>
              <a:rPr sz="2600" spc="-150" dirty="0">
                <a:latin typeface="Times New Roman"/>
                <a:cs typeface="Times New Roman"/>
              </a:rPr>
              <a:t>es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105" dirty="0">
                <a:latin typeface="Times New Roman"/>
                <a:cs typeface="Times New Roman"/>
              </a:rPr>
              <a:t>th</a:t>
            </a:r>
            <a:r>
              <a:rPr sz="2600" spc="-155" dirty="0">
                <a:latin typeface="Times New Roman"/>
                <a:cs typeface="Times New Roman"/>
              </a:rPr>
              <a:t>a</a:t>
            </a:r>
            <a:r>
              <a:rPr sz="2600" spc="35" dirty="0">
                <a:latin typeface="Times New Roman"/>
                <a:cs typeface="Times New Roman"/>
              </a:rPr>
              <a:t>t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ne</a:t>
            </a:r>
            <a:r>
              <a:rPr sz="2600" spc="-105" dirty="0">
                <a:latin typeface="Times New Roman"/>
                <a:cs typeface="Times New Roman"/>
              </a:rPr>
              <a:t>ed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Times New Roman"/>
                <a:cs typeface="Times New Roman"/>
              </a:rPr>
              <a:t>to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r</a:t>
            </a:r>
            <a:r>
              <a:rPr sz="2600" spc="-125" dirty="0">
                <a:latin typeface="Times New Roman"/>
                <a:cs typeface="Times New Roman"/>
              </a:rPr>
              <a:t>e</a:t>
            </a:r>
            <a:r>
              <a:rPr sz="2600" spc="-135" dirty="0">
                <a:latin typeface="Times New Roman"/>
                <a:cs typeface="Times New Roman"/>
              </a:rPr>
              <a:t>c</a:t>
            </a:r>
            <a:r>
              <a:rPr sz="2600" spc="-130" dirty="0">
                <a:latin typeface="Times New Roman"/>
                <a:cs typeface="Times New Roman"/>
              </a:rPr>
              <a:t>ei</a:t>
            </a:r>
            <a:r>
              <a:rPr sz="2600" spc="-235" dirty="0">
                <a:latin typeface="Times New Roman"/>
                <a:cs typeface="Times New Roman"/>
              </a:rPr>
              <a:t>v</a:t>
            </a:r>
            <a:r>
              <a:rPr sz="2600" spc="-100" dirty="0">
                <a:latin typeface="Times New Roman"/>
                <a:cs typeface="Times New Roman"/>
              </a:rPr>
              <a:t>e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Times New Roman"/>
                <a:cs typeface="Times New Roman"/>
              </a:rPr>
              <a:t>it,  </a:t>
            </a:r>
            <a:r>
              <a:rPr sz="2600" spc="-70" dirty="0">
                <a:latin typeface="Times New Roman"/>
                <a:cs typeface="Times New Roman"/>
              </a:rPr>
              <a:t>rather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than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130" dirty="0">
                <a:latin typeface="Times New Roman"/>
                <a:cs typeface="Times New Roman"/>
              </a:rPr>
              <a:t>broadcasting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75" dirty="0">
                <a:latin typeface="Times New Roman"/>
                <a:cs typeface="Times New Roman"/>
              </a:rPr>
              <a:t>the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65" dirty="0">
                <a:latin typeface="Times New Roman"/>
                <a:cs typeface="Times New Roman"/>
              </a:rPr>
              <a:t>same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35" dirty="0">
                <a:latin typeface="Times New Roman"/>
                <a:cs typeface="Times New Roman"/>
              </a:rPr>
              <a:t>data</a:t>
            </a:r>
            <a:r>
              <a:rPr sz="2600" spc="-65" dirty="0">
                <a:latin typeface="Times New Roman"/>
                <a:cs typeface="Times New Roman"/>
              </a:rPr>
              <a:t> out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of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45" dirty="0">
                <a:latin typeface="Times New Roman"/>
                <a:cs typeface="Times New Roman"/>
              </a:rPr>
              <a:t>each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of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95" dirty="0">
                <a:latin typeface="Times New Roman"/>
                <a:cs typeface="Times New Roman"/>
              </a:rPr>
              <a:t>its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Times New Roman"/>
                <a:cs typeface="Times New Roman"/>
              </a:rPr>
              <a:t>ports.</a:t>
            </a:r>
            <a:endParaRPr sz="2600">
              <a:latin typeface="Times New Roman"/>
              <a:cs typeface="Times New Roman"/>
            </a:endParaRPr>
          </a:p>
          <a:p>
            <a:pPr marL="286385" indent="-274320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80" dirty="0">
                <a:latin typeface="Times New Roman"/>
                <a:cs typeface="Times New Roman"/>
              </a:rPr>
              <a:t>It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uses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95" dirty="0">
                <a:latin typeface="Times New Roman"/>
                <a:cs typeface="Times New Roman"/>
              </a:rPr>
              <a:t>Ethe</a:t>
            </a:r>
            <a:r>
              <a:rPr sz="2600" dirty="0">
                <a:latin typeface="Times New Roman"/>
                <a:cs typeface="Times New Roman"/>
              </a:rPr>
              <a:t>r</a:t>
            </a:r>
            <a:r>
              <a:rPr sz="2600" spc="-60" dirty="0">
                <a:latin typeface="Times New Roman"/>
                <a:cs typeface="Times New Roman"/>
              </a:rPr>
              <a:t>net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180" dirty="0">
                <a:latin typeface="Times New Roman"/>
                <a:cs typeface="Times New Roman"/>
              </a:rPr>
              <a:t>(M</a:t>
            </a:r>
            <a:r>
              <a:rPr sz="2600" spc="-470" dirty="0">
                <a:latin typeface="Times New Roman"/>
                <a:cs typeface="Times New Roman"/>
              </a:rPr>
              <a:t>A</a:t>
            </a:r>
            <a:r>
              <a:rPr sz="2600" spc="-135" dirty="0">
                <a:latin typeface="Times New Roman"/>
                <a:cs typeface="Times New Roman"/>
              </a:rPr>
              <a:t>C</a:t>
            </a:r>
            <a:r>
              <a:rPr sz="2600" spc="-265" dirty="0">
                <a:latin typeface="Times New Roman"/>
                <a:cs typeface="Times New Roman"/>
              </a:rPr>
              <a:t> </a:t>
            </a:r>
            <a:r>
              <a:rPr sz="2600" spc="-200" dirty="0">
                <a:latin typeface="Times New Roman"/>
                <a:cs typeface="Times New Roman"/>
              </a:rPr>
              <a:t>Ad</a:t>
            </a:r>
            <a:r>
              <a:rPr sz="2600" spc="-170" dirty="0">
                <a:latin typeface="Times New Roman"/>
                <a:cs typeface="Times New Roman"/>
              </a:rPr>
              <a:t>d</a:t>
            </a:r>
            <a:r>
              <a:rPr sz="2600" spc="5" dirty="0">
                <a:latin typeface="Times New Roman"/>
                <a:cs typeface="Times New Roman"/>
              </a:rPr>
              <a:t>r</a:t>
            </a:r>
            <a:r>
              <a:rPr sz="2600" spc="-140" dirty="0">
                <a:latin typeface="Times New Roman"/>
                <a:cs typeface="Times New Roman"/>
              </a:rPr>
              <a:t>ess)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45" dirty="0">
                <a:latin typeface="Times New Roman"/>
                <a:cs typeface="Times New Roman"/>
              </a:rPr>
              <a:t>ad</a:t>
            </a:r>
            <a:r>
              <a:rPr sz="2600" spc="-160" dirty="0">
                <a:latin typeface="Times New Roman"/>
                <a:cs typeface="Times New Roman"/>
              </a:rPr>
              <a:t>d</a:t>
            </a:r>
            <a:r>
              <a:rPr sz="2600" spc="5" dirty="0">
                <a:latin typeface="Times New Roman"/>
                <a:cs typeface="Times New Roman"/>
              </a:rPr>
              <a:t>r</a:t>
            </a:r>
            <a:r>
              <a:rPr sz="2600" spc="-170" dirty="0">
                <a:latin typeface="Times New Roman"/>
                <a:cs typeface="Times New Roman"/>
              </a:rPr>
              <a:t>es</a:t>
            </a:r>
            <a:r>
              <a:rPr sz="2600" spc="-210" dirty="0">
                <a:latin typeface="Times New Roman"/>
                <a:cs typeface="Times New Roman"/>
              </a:rPr>
              <a:t>s</a:t>
            </a:r>
            <a:r>
              <a:rPr sz="2600" spc="110" dirty="0">
                <a:latin typeface="Times New Roman"/>
                <a:cs typeface="Times New Roman"/>
              </a:rPr>
              <a:t>.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688974"/>
            <a:ext cx="598678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u="heavy" spc="-45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hlinkClick r:id="rId2"/>
              </a:rPr>
              <a:t>Store</a:t>
            </a:r>
            <a:r>
              <a:rPr sz="4000" u="heavy" spc="-15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hlinkClick r:id="rId2"/>
              </a:rPr>
              <a:t> </a:t>
            </a:r>
            <a:r>
              <a:rPr sz="4000" u="heavy" spc="-25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hlinkClick r:id="rId2"/>
              </a:rPr>
              <a:t>and</a:t>
            </a:r>
            <a:r>
              <a:rPr sz="4000" u="heavy" spc="-10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hlinkClick r:id="rId2"/>
              </a:rPr>
              <a:t> </a:t>
            </a:r>
            <a:r>
              <a:rPr sz="4000" u="heavy" spc="-50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hlinkClick r:id="rId2"/>
              </a:rPr>
              <a:t>Forward</a:t>
            </a:r>
            <a:r>
              <a:rPr sz="4000" u="heavy" spc="-10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hlinkClick r:id="rId2"/>
              </a:rPr>
              <a:t> </a:t>
            </a:r>
            <a:r>
              <a:rPr sz="4000" u="heavy" spc="-40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hlinkClick r:id="rId2"/>
              </a:rPr>
              <a:t>Switches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993444" y="1433830"/>
            <a:ext cx="7521575" cy="38220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208915" indent="-274320">
              <a:lnSpc>
                <a:spcPct val="100000"/>
              </a:lnSpc>
              <a:spcBef>
                <a:spcPts val="105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125" dirty="0">
                <a:latin typeface="Times New Roman"/>
                <a:cs typeface="Times New Roman"/>
              </a:rPr>
              <a:t>Do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Times New Roman"/>
                <a:cs typeface="Times New Roman"/>
              </a:rPr>
              <a:t>error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40" dirty="0">
                <a:latin typeface="Times New Roman"/>
                <a:cs typeface="Times New Roman"/>
              </a:rPr>
              <a:t>checking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on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each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Times New Roman"/>
                <a:cs typeface="Times New Roman"/>
              </a:rPr>
              <a:t>frame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90" dirty="0">
                <a:latin typeface="Times New Roman"/>
                <a:cs typeface="Times New Roman"/>
              </a:rPr>
              <a:t>after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75" dirty="0">
                <a:latin typeface="Times New Roman"/>
                <a:cs typeface="Times New Roman"/>
              </a:rPr>
              <a:t>the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70" dirty="0">
                <a:latin typeface="Times New Roman"/>
                <a:cs typeface="Times New Roman"/>
              </a:rPr>
              <a:t>entire </a:t>
            </a:r>
            <a:r>
              <a:rPr sz="2600" spc="-125" dirty="0">
                <a:latin typeface="Times New Roman"/>
                <a:cs typeface="Times New Roman"/>
              </a:rPr>
              <a:t>frame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90" dirty="0">
                <a:latin typeface="Times New Roman"/>
                <a:cs typeface="Times New Roman"/>
              </a:rPr>
              <a:t>has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-95" dirty="0">
                <a:latin typeface="Times New Roman"/>
                <a:cs typeface="Times New Roman"/>
              </a:rPr>
              <a:t>arrived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80" dirty="0">
                <a:latin typeface="Times New Roman"/>
                <a:cs typeface="Times New Roman"/>
              </a:rPr>
              <a:t>into</a:t>
            </a:r>
            <a:r>
              <a:rPr sz="2600" spc="-75" dirty="0">
                <a:latin typeface="Times New Roman"/>
                <a:cs typeface="Times New Roman"/>
              </a:rPr>
              <a:t> the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Times New Roman"/>
                <a:cs typeface="Times New Roman"/>
              </a:rPr>
              <a:t>switch</a:t>
            </a:r>
            <a:endParaRPr sz="2600">
              <a:latin typeface="Times New Roman"/>
              <a:cs typeface="Times New Roman"/>
            </a:endParaRPr>
          </a:p>
          <a:p>
            <a:pPr marL="286385" marR="21590" indent="-274320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190" dirty="0">
                <a:latin typeface="Times New Roman"/>
                <a:cs typeface="Times New Roman"/>
              </a:rPr>
              <a:t>If</a:t>
            </a:r>
            <a:r>
              <a:rPr sz="2600" spc="-75" dirty="0">
                <a:latin typeface="Times New Roman"/>
                <a:cs typeface="Times New Roman"/>
              </a:rPr>
              <a:t> the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Times New Roman"/>
                <a:cs typeface="Times New Roman"/>
              </a:rPr>
              <a:t>error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40" dirty="0">
                <a:latin typeface="Times New Roman"/>
                <a:cs typeface="Times New Roman"/>
              </a:rPr>
              <a:t>checking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algorithm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90" dirty="0">
                <a:latin typeface="Times New Roman"/>
                <a:cs typeface="Times New Roman"/>
              </a:rPr>
              <a:t>determines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65" dirty="0">
                <a:latin typeface="Times New Roman"/>
                <a:cs typeface="Times New Roman"/>
              </a:rPr>
              <a:t>there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65" dirty="0">
                <a:latin typeface="Times New Roman"/>
                <a:cs typeface="Times New Roman"/>
              </a:rPr>
              <a:t>is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no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40" dirty="0">
                <a:latin typeface="Times New Roman"/>
                <a:cs typeface="Times New Roman"/>
              </a:rPr>
              <a:t>error,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-75" dirty="0">
                <a:latin typeface="Times New Roman"/>
                <a:cs typeface="Times New Roman"/>
              </a:rPr>
              <a:t>the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30" dirty="0">
                <a:latin typeface="Times New Roman"/>
                <a:cs typeface="Times New Roman"/>
              </a:rPr>
              <a:t>switch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40" dirty="0">
                <a:latin typeface="Times New Roman"/>
                <a:cs typeface="Times New Roman"/>
              </a:rPr>
              <a:t>looks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in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95" dirty="0">
                <a:latin typeface="Times New Roman"/>
                <a:cs typeface="Times New Roman"/>
              </a:rPr>
              <a:t>its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305" dirty="0">
                <a:latin typeface="Times New Roman"/>
                <a:cs typeface="Times New Roman"/>
              </a:rPr>
              <a:t>MAC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35" dirty="0">
                <a:latin typeface="Times New Roman"/>
                <a:cs typeface="Times New Roman"/>
              </a:rPr>
              <a:t>address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table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95" dirty="0">
                <a:latin typeface="Times New Roman"/>
                <a:cs typeface="Times New Roman"/>
              </a:rPr>
              <a:t>for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75" dirty="0">
                <a:latin typeface="Times New Roman"/>
                <a:cs typeface="Times New Roman"/>
              </a:rPr>
              <a:t>the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Times New Roman"/>
                <a:cs typeface="Times New Roman"/>
              </a:rPr>
              <a:t>port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Times New Roman"/>
                <a:cs typeface="Times New Roman"/>
              </a:rPr>
              <a:t>to 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whi</a:t>
            </a:r>
            <a:r>
              <a:rPr sz="2600" spc="-95" dirty="0">
                <a:latin typeface="Times New Roman"/>
                <a:cs typeface="Times New Roman"/>
              </a:rPr>
              <a:t>c</a:t>
            </a:r>
            <a:r>
              <a:rPr sz="2600" spc="-160" dirty="0">
                <a:latin typeface="Times New Roman"/>
                <a:cs typeface="Times New Roman"/>
              </a:rPr>
              <a:t>h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Times New Roman"/>
                <a:cs typeface="Times New Roman"/>
              </a:rPr>
              <a:t>to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200" dirty="0">
                <a:latin typeface="Times New Roman"/>
                <a:cs typeface="Times New Roman"/>
              </a:rPr>
              <a:t>f</a:t>
            </a:r>
            <a:r>
              <a:rPr sz="2600" spc="-60" dirty="0">
                <a:latin typeface="Times New Roman"/>
                <a:cs typeface="Times New Roman"/>
              </a:rPr>
              <a:t>or</a:t>
            </a:r>
            <a:r>
              <a:rPr sz="2600" spc="-130" dirty="0">
                <a:latin typeface="Times New Roman"/>
                <a:cs typeface="Times New Roman"/>
              </a:rPr>
              <a:t>w</a:t>
            </a:r>
            <a:r>
              <a:rPr sz="2600" spc="-95" dirty="0">
                <a:latin typeface="Times New Roman"/>
                <a:cs typeface="Times New Roman"/>
              </a:rPr>
              <a:t>ar</a:t>
            </a:r>
            <a:r>
              <a:rPr sz="2600" spc="-110" dirty="0">
                <a:latin typeface="Times New Roman"/>
                <a:cs typeface="Times New Roman"/>
              </a:rPr>
              <a:t>d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75" dirty="0">
                <a:latin typeface="Times New Roman"/>
                <a:cs typeface="Times New Roman"/>
              </a:rPr>
              <a:t>the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Times New Roman"/>
                <a:cs typeface="Times New Roman"/>
              </a:rPr>
              <a:t>d</a:t>
            </a:r>
            <a:r>
              <a:rPr sz="2600" spc="-114" dirty="0">
                <a:latin typeface="Times New Roman"/>
                <a:cs typeface="Times New Roman"/>
              </a:rPr>
              <a:t>estin</a:t>
            </a:r>
            <a:r>
              <a:rPr sz="2600" spc="-170" dirty="0">
                <a:latin typeface="Times New Roman"/>
                <a:cs typeface="Times New Roman"/>
              </a:rPr>
              <a:t>a</a:t>
            </a:r>
            <a:r>
              <a:rPr sz="2600" spc="-80" dirty="0">
                <a:latin typeface="Times New Roman"/>
                <a:cs typeface="Times New Roman"/>
              </a:rPr>
              <a:t>tion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d</a:t>
            </a:r>
            <a:r>
              <a:rPr sz="2600" spc="-140" dirty="0">
                <a:latin typeface="Times New Roman"/>
                <a:cs typeface="Times New Roman"/>
              </a:rPr>
              <a:t>e</a:t>
            </a:r>
            <a:r>
              <a:rPr sz="2600" spc="-160" dirty="0">
                <a:latin typeface="Times New Roman"/>
                <a:cs typeface="Times New Roman"/>
              </a:rPr>
              <a:t>vi</a:t>
            </a:r>
            <a:r>
              <a:rPr sz="2600" spc="-190" dirty="0">
                <a:latin typeface="Times New Roman"/>
                <a:cs typeface="Times New Roman"/>
              </a:rPr>
              <a:t>c</a:t>
            </a:r>
            <a:r>
              <a:rPr sz="2600" spc="-100" dirty="0">
                <a:latin typeface="Times New Roman"/>
                <a:cs typeface="Times New Roman"/>
              </a:rPr>
              <a:t>e</a:t>
            </a:r>
            <a:endParaRPr sz="2600">
              <a:latin typeface="Times New Roman"/>
              <a:cs typeface="Times New Roman"/>
            </a:endParaRPr>
          </a:p>
          <a:p>
            <a:pPr marL="286385" indent="-274320">
              <a:lnSpc>
                <a:spcPct val="100000"/>
              </a:lnSpc>
              <a:spcBef>
                <a:spcPts val="605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165" dirty="0">
                <a:latin typeface="Times New Roman"/>
                <a:cs typeface="Times New Roman"/>
              </a:rPr>
              <a:t>High</a:t>
            </a:r>
            <a:r>
              <a:rPr sz="2600" spc="-145" dirty="0">
                <a:latin typeface="Times New Roman"/>
                <a:cs typeface="Times New Roman"/>
              </a:rPr>
              <a:t>l</a:t>
            </a:r>
            <a:r>
              <a:rPr sz="2600" spc="-215" dirty="0">
                <a:latin typeface="Times New Roman"/>
                <a:cs typeface="Times New Roman"/>
              </a:rPr>
              <a:t>y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r</a:t>
            </a:r>
            <a:r>
              <a:rPr sz="2600" spc="-125" dirty="0">
                <a:latin typeface="Times New Roman"/>
                <a:cs typeface="Times New Roman"/>
              </a:rPr>
              <a:t>elia</a:t>
            </a:r>
            <a:r>
              <a:rPr sz="2600" spc="-215" dirty="0">
                <a:latin typeface="Times New Roman"/>
                <a:cs typeface="Times New Roman"/>
              </a:rPr>
              <a:t>b</a:t>
            </a:r>
            <a:r>
              <a:rPr sz="2600" spc="-80" dirty="0">
                <a:latin typeface="Times New Roman"/>
                <a:cs typeface="Times New Roman"/>
              </a:rPr>
              <a:t>l</a:t>
            </a:r>
            <a:r>
              <a:rPr sz="2600" spc="-120" dirty="0">
                <a:latin typeface="Times New Roman"/>
                <a:cs typeface="Times New Roman"/>
              </a:rPr>
              <a:t>e</a:t>
            </a:r>
            <a:r>
              <a:rPr sz="2600" spc="-95" dirty="0">
                <a:latin typeface="Times New Roman"/>
                <a:cs typeface="Times New Roman"/>
              </a:rPr>
              <a:t> </a:t>
            </a:r>
            <a:r>
              <a:rPr sz="2600" spc="-130" dirty="0">
                <a:latin typeface="Times New Roman"/>
                <a:cs typeface="Times New Roman"/>
              </a:rPr>
              <a:t>be</a:t>
            </a:r>
            <a:r>
              <a:rPr sz="2600" spc="-140" dirty="0">
                <a:latin typeface="Times New Roman"/>
                <a:cs typeface="Times New Roman"/>
              </a:rPr>
              <a:t>c</a:t>
            </a:r>
            <a:r>
              <a:rPr sz="2600" spc="-150" dirty="0">
                <a:latin typeface="Times New Roman"/>
                <a:cs typeface="Times New Roman"/>
              </a:rPr>
              <a:t>a</a:t>
            </a:r>
            <a:r>
              <a:rPr sz="2600" spc="-175" dirty="0">
                <a:latin typeface="Times New Roman"/>
                <a:cs typeface="Times New Roman"/>
              </a:rPr>
              <a:t>u</a:t>
            </a:r>
            <a:r>
              <a:rPr sz="2600" spc="-150" dirty="0">
                <a:latin typeface="Times New Roman"/>
                <a:cs typeface="Times New Roman"/>
              </a:rPr>
              <a:t>se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d</a:t>
            </a:r>
            <a:r>
              <a:rPr sz="2600" spc="-125" dirty="0">
                <a:latin typeface="Times New Roman"/>
                <a:cs typeface="Times New Roman"/>
              </a:rPr>
              <a:t>o</a:t>
            </a:r>
            <a:r>
              <a:rPr sz="2600" spc="-135" dirty="0">
                <a:latin typeface="Times New Roman"/>
                <a:cs typeface="Times New Roman"/>
              </a:rPr>
              <a:t>esn</a:t>
            </a:r>
            <a:r>
              <a:rPr sz="2600" spc="-254" dirty="0">
                <a:latin typeface="Times New Roman"/>
                <a:cs typeface="Times New Roman"/>
              </a:rPr>
              <a:t>’</a:t>
            </a:r>
            <a:r>
              <a:rPr sz="2600" spc="35" dirty="0">
                <a:latin typeface="Times New Roman"/>
                <a:cs typeface="Times New Roman"/>
              </a:rPr>
              <a:t>t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f</a:t>
            </a:r>
            <a:r>
              <a:rPr sz="2600" spc="-190" dirty="0">
                <a:latin typeface="Times New Roman"/>
                <a:cs typeface="Times New Roman"/>
              </a:rPr>
              <a:t>o</a:t>
            </a:r>
            <a:r>
              <a:rPr sz="2600" spc="-40" dirty="0">
                <a:latin typeface="Times New Roman"/>
                <a:cs typeface="Times New Roman"/>
              </a:rPr>
              <a:t>r</a:t>
            </a:r>
            <a:r>
              <a:rPr sz="2600" spc="-95" dirty="0">
                <a:latin typeface="Times New Roman"/>
                <a:cs typeface="Times New Roman"/>
              </a:rPr>
              <a:t>w</a:t>
            </a:r>
            <a:r>
              <a:rPr sz="2600" spc="-90" dirty="0">
                <a:latin typeface="Times New Roman"/>
                <a:cs typeface="Times New Roman"/>
              </a:rPr>
              <a:t>ar</a:t>
            </a:r>
            <a:r>
              <a:rPr sz="2600" spc="-110" dirty="0">
                <a:latin typeface="Times New Roman"/>
                <a:cs typeface="Times New Roman"/>
              </a:rPr>
              <a:t>d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80" dirty="0">
                <a:latin typeface="Times New Roman"/>
                <a:cs typeface="Times New Roman"/>
              </a:rPr>
              <a:t>b</a:t>
            </a:r>
            <a:r>
              <a:rPr sz="2600" spc="-170" dirty="0">
                <a:latin typeface="Times New Roman"/>
                <a:cs typeface="Times New Roman"/>
              </a:rPr>
              <a:t>a</a:t>
            </a:r>
            <a:r>
              <a:rPr sz="2600" spc="-110" dirty="0">
                <a:latin typeface="Times New Roman"/>
                <a:cs typeface="Times New Roman"/>
              </a:rPr>
              <a:t>d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200" dirty="0">
                <a:latin typeface="Times New Roman"/>
                <a:cs typeface="Times New Roman"/>
              </a:rPr>
              <a:t>f</a:t>
            </a:r>
            <a:r>
              <a:rPr sz="2600" spc="-130" dirty="0">
                <a:latin typeface="Times New Roman"/>
                <a:cs typeface="Times New Roman"/>
              </a:rPr>
              <a:t>rames</a:t>
            </a:r>
            <a:endParaRPr sz="2600">
              <a:latin typeface="Times New Roman"/>
              <a:cs typeface="Times New Roman"/>
            </a:endParaRPr>
          </a:p>
          <a:p>
            <a:pPr marL="286385" marR="5080" indent="-274320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180" dirty="0">
                <a:latin typeface="Times New Roman"/>
                <a:cs typeface="Times New Roman"/>
              </a:rPr>
              <a:t>Sl</a:t>
            </a:r>
            <a:r>
              <a:rPr sz="2600" spc="-300" dirty="0">
                <a:latin typeface="Times New Roman"/>
                <a:cs typeface="Times New Roman"/>
              </a:rPr>
              <a:t>o</a:t>
            </a:r>
            <a:r>
              <a:rPr sz="2600" spc="-240" dirty="0">
                <a:latin typeface="Times New Roman"/>
                <a:cs typeface="Times New Roman"/>
              </a:rPr>
              <a:t>w</a:t>
            </a:r>
            <a:r>
              <a:rPr sz="2600" spc="-35" dirty="0">
                <a:latin typeface="Times New Roman"/>
                <a:cs typeface="Times New Roman"/>
              </a:rPr>
              <a:t>er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than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Times New Roman"/>
                <a:cs typeface="Times New Roman"/>
              </a:rPr>
              <a:t>o</a:t>
            </a:r>
            <a:r>
              <a:rPr sz="2600" spc="-50" dirty="0">
                <a:latin typeface="Times New Roman"/>
                <a:cs typeface="Times New Roman"/>
              </a:rPr>
              <a:t>ther</a:t>
            </a:r>
            <a:r>
              <a:rPr sz="2600" spc="-65" dirty="0">
                <a:latin typeface="Times New Roman"/>
                <a:cs typeface="Times New Roman"/>
              </a:rPr>
              <a:t> t</a:t>
            </a:r>
            <a:r>
              <a:rPr sz="2600" spc="-130" dirty="0">
                <a:latin typeface="Times New Roman"/>
                <a:cs typeface="Times New Roman"/>
              </a:rPr>
              <a:t>y</a:t>
            </a:r>
            <a:r>
              <a:rPr sz="2600" spc="-135" dirty="0">
                <a:latin typeface="Times New Roman"/>
                <a:cs typeface="Times New Roman"/>
              </a:rPr>
              <a:t>pes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of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245" dirty="0">
                <a:latin typeface="Times New Roman"/>
                <a:cs typeface="Times New Roman"/>
              </a:rPr>
              <a:t>s</a:t>
            </a:r>
            <a:r>
              <a:rPr sz="2600" spc="-95" dirty="0">
                <a:latin typeface="Times New Roman"/>
                <a:cs typeface="Times New Roman"/>
              </a:rPr>
              <a:t>wit</a:t>
            </a:r>
            <a:r>
              <a:rPr sz="2600" spc="-60" dirty="0">
                <a:latin typeface="Times New Roman"/>
                <a:cs typeface="Times New Roman"/>
              </a:rPr>
              <a:t>c</a:t>
            </a:r>
            <a:r>
              <a:rPr sz="2600" spc="-155" dirty="0">
                <a:latin typeface="Times New Roman"/>
                <a:cs typeface="Times New Roman"/>
              </a:rPr>
              <a:t>hes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35" dirty="0">
                <a:latin typeface="Times New Roman"/>
                <a:cs typeface="Times New Roman"/>
              </a:rPr>
              <a:t>bec</a:t>
            </a:r>
            <a:r>
              <a:rPr sz="2600" spc="-160" dirty="0">
                <a:latin typeface="Times New Roman"/>
                <a:cs typeface="Times New Roman"/>
              </a:rPr>
              <a:t>aus</a:t>
            </a:r>
            <a:r>
              <a:rPr sz="2600" spc="-155" dirty="0">
                <a:latin typeface="Times New Roman"/>
                <a:cs typeface="Times New Roman"/>
              </a:rPr>
              <a:t>e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45" dirty="0">
                <a:latin typeface="Times New Roman"/>
                <a:cs typeface="Times New Roman"/>
              </a:rPr>
              <a:t>it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14" dirty="0">
                <a:latin typeface="Times New Roman"/>
                <a:cs typeface="Times New Roman"/>
              </a:rPr>
              <a:t>hol</a:t>
            </a:r>
            <a:r>
              <a:rPr sz="2600" spc="-150" dirty="0">
                <a:latin typeface="Times New Roman"/>
                <a:cs typeface="Times New Roman"/>
              </a:rPr>
              <a:t>d</a:t>
            </a:r>
            <a:r>
              <a:rPr sz="2600" spc="-200" dirty="0">
                <a:latin typeface="Times New Roman"/>
                <a:cs typeface="Times New Roman"/>
              </a:rPr>
              <a:t>s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on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25" dirty="0">
                <a:latin typeface="Times New Roman"/>
                <a:cs typeface="Times New Roman"/>
              </a:rPr>
              <a:t>t</a:t>
            </a:r>
            <a:r>
              <a:rPr sz="2600" spc="-75" dirty="0">
                <a:latin typeface="Times New Roman"/>
                <a:cs typeface="Times New Roman"/>
              </a:rPr>
              <a:t>o  </a:t>
            </a:r>
            <a:r>
              <a:rPr sz="2600" spc="-145" dirty="0">
                <a:latin typeface="Times New Roman"/>
                <a:cs typeface="Times New Roman"/>
              </a:rPr>
              <a:t>each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Times New Roman"/>
                <a:cs typeface="Times New Roman"/>
              </a:rPr>
              <a:t>frame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85" dirty="0">
                <a:latin typeface="Times New Roman"/>
                <a:cs typeface="Times New Roman"/>
              </a:rPr>
              <a:t>until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45" dirty="0">
                <a:latin typeface="Times New Roman"/>
                <a:cs typeface="Times New Roman"/>
              </a:rPr>
              <a:t>it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65" dirty="0">
                <a:latin typeface="Times New Roman"/>
                <a:cs typeface="Times New Roman"/>
              </a:rPr>
              <a:t>is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completely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received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Times New Roman"/>
                <a:cs typeface="Times New Roman"/>
              </a:rPr>
              <a:t>to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35" dirty="0">
                <a:latin typeface="Times New Roman"/>
                <a:cs typeface="Times New Roman"/>
              </a:rPr>
              <a:t>check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95" dirty="0">
                <a:latin typeface="Times New Roman"/>
                <a:cs typeface="Times New Roman"/>
              </a:rPr>
              <a:t>for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40" dirty="0">
                <a:latin typeface="Times New Roman"/>
                <a:cs typeface="Times New Roman"/>
              </a:rPr>
              <a:t>errors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-155" dirty="0">
                <a:latin typeface="Times New Roman"/>
                <a:cs typeface="Times New Roman"/>
              </a:rPr>
              <a:t>be</a:t>
            </a:r>
            <a:r>
              <a:rPr sz="2600" spc="-120" dirty="0">
                <a:latin typeface="Times New Roman"/>
                <a:cs typeface="Times New Roman"/>
              </a:rPr>
              <a:t>f</a:t>
            </a:r>
            <a:r>
              <a:rPr sz="2600" spc="-45" dirty="0">
                <a:latin typeface="Times New Roman"/>
                <a:cs typeface="Times New Roman"/>
              </a:rPr>
              <a:t>o</a:t>
            </a:r>
            <a:r>
              <a:rPr sz="2600" spc="-60" dirty="0">
                <a:latin typeface="Times New Roman"/>
                <a:cs typeface="Times New Roman"/>
              </a:rPr>
              <a:t>r</a:t>
            </a:r>
            <a:r>
              <a:rPr sz="2600" spc="-100" dirty="0">
                <a:latin typeface="Times New Roman"/>
                <a:cs typeface="Times New Roman"/>
              </a:rPr>
              <a:t>e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f</a:t>
            </a:r>
            <a:r>
              <a:rPr sz="2600" spc="-190" dirty="0">
                <a:latin typeface="Times New Roman"/>
                <a:cs typeface="Times New Roman"/>
              </a:rPr>
              <a:t>o</a:t>
            </a:r>
            <a:r>
              <a:rPr sz="2600" spc="-40" dirty="0">
                <a:latin typeface="Times New Roman"/>
                <a:cs typeface="Times New Roman"/>
              </a:rPr>
              <a:t>r</a:t>
            </a:r>
            <a:r>
              <a:rPr sz="2600" spc="-95" dirty="0">
                <a:latin typeface="Times New Roman"/>
                <a:cs typeface="Times New Roman"/>
              </a:rPr>
              <a:t>w</a:t>
            </a:r>
            <a:r>
              <a:rPr sz="2600" spc="-105" dirty="0">
                <a:latin typeface="Times New Roman"/>
                <a:cs typeface="Times New Roman"/>
              </a:rPr>
              <a:t>ardi</a:t>
            </a:r>
            <a:r>
              <a:rPr sz="2600" spc="-135" dirty="0">
                <a:latin typeface="Times New Roman"/>
                <a:cs typeface="Times New Roman"/>
              </a:rPr>
              <a:t>n</a:t>
            </a:r>
            <a:r>
              <a:rPr sz="2600" spc="-215" dirty="0">
                <a:latin typeface="Times New Roman"/>
                <a:cs typeface="Times New Roman"/>
              </a:rPr>
              <a:t>g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688974"/>
            <a:ext cx="41529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u="heavy" spc="-25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hlinkClick r:id="rId2"/>
              </a:rPr>
              <a:t>Cut</a:t>
            </a:r>
            <a:r>
              <a:rPr sz="4000" u="heavy" spc="-35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hlinkClick r:id="rId2"/>
              </a:rPr>
              <a:t> </a:t>
            </a:r>
            <a:r>
              <a:rPr sz="4000" u="heavy" spc="-40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hlinkClick r:id="rId2"/>
              </a:rPr>
              <a:t>Through</a:t>
            </a:r>
            <a:r>
              <a:rPr sz="4000" u="heavy" spc="-15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hlinkClick r:id="rId2"/>
              </a:rPr>
              <a:t> </a:t>
            </a:r>
            <a:r>
              <a:rPr sz="4000" u="heavy" spc="-55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hlinkClick r:id="rId2"/>
              </a:rPr>
              <a:t>Switch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993444" y="1404874"/>
            <a:ext cx="7562850" cy="3831590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286385" marR="68580" indent="-274320">
              <a:lnSpc>
                <a:spcPts val="2810"/>
              </a:lnSpc>
              <a:spcBef>
                <a:spcPts val="455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325" dirty="0">
                <a:latin typeface="Times New Roman"/>
                <a:cs typeface="Times New Roman"/>
              </a:rPr>
              <a:t>F</a:t>
            </a:r>
            <a:r>
              <a:rPr sz="2600" spc="-95" dirty="0">
                <a:latin typeface="Times New Roman"/>
                <a:cs typeface="Times New Roman"/>
              </a:rPr>
              <a:t>aste</a:t>
            </a:r>
            <a:r>
              <a:rPr sz="2600" spc="-80" dirty="0">
                <a:latin typeface="Times New Roman"/>
                <a:cs typeface="Times New Roman"/>
              </a:rPr>
              <a:t>r </a:t>
            </a:r>
            <a:r>
              <a:rPr sz="2600" spc="-110" dirty="0">
                <a:latin typeface="Times New Roman"/>
                <a:cs typeface="Times New Roman"/>
              </a:rPr>
              <a:t>than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80" dirty="0">
                <a:latin typeface="Times New Roman"/>
                <a:cs typeface="Times New Roman"/>
              </a:rPr>
              <a:t>st</a:t>
            </a:r>
            <a:r>
              <a:rPr sz="2600" spc="-125" dirty="0">
                <a:latin typeface="Times New Roman"/>
                <a:cs typeface="Times New Roman"/>
              </a:rPr>
              <a:t>o</a:t>
            </a:r>
            <a:r>
              <a:rPr sz="2600" spc="5" dirty="0">
                <a:latin typeface="Times New Roman"/>
                <a:cs typeface="Times New Roman"/>
              </a:rPr>
              <a:t>r</a:t>
            </a:r>
            <a:r>
              <a:rPr sz="2600" spc="-100" dirty="0">
                <a:latin typeface="Times New Roman"/>
                <a:cs typeface="Times New Roman"/>
              </a:rPr>
              <a:t>e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45" dirty="0">
                <a:latin typeface="Times New Roman"/>
                <a:cs typeface="Times New Roman"/>
              </a:rPr>
              <a:t>and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85" dirty="0">
                <a:latin typeface="Times New Roman"/>
                <a:cs typeface="Times New Roman"/>
              </a:rPr>
              <a:t>for</a:t>
            </a:r>
            <a:r>
              <a:rPr sz="2600" spc="-185" dirty="0">
                <a:latin typeface="Times New Roman"/>
                <a:cs typeface="Times New Roman"/>
              </a:rPr>
              <a:t>w</a:t>
            </a:r>
            <a:r>
              <a:rPr sz="2600" spc="-95" dirty="0">
                <a:latin typeface="Times New Roman"/>
                <a:cs typeface="Times New Roman"/>
              </a:rPr>
              <a:t>ar</a:t>
            </a:r>
            <a:r>
              <a:rPr sz="2600" spc="-110" dirty="0">
                <a:latin typeface="Times New Roman"/>
                <a:cs typeface="Times New Roman"/>
              </a:rPr>
              <a:t>d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35" dirty="0">
                <a:latin typeface="Times New Roman"/>
                <a:cs typeface="Times New Roman"/>
              </a:rPr>
              <a:t>bec</a:t>
            </a:r>
            <a:r>
              <a:rPr sz="2600" spc="-160" dirty="0">
                <a:latin typeface="Times New Roman"/>
                <a:cs typeface="Times New Roman"/>
              </a:rPr>
              <a:t>aus</a:t>
            </a:r>
            <a:r>
              <a:rPr sz="2600" spc="-155" dirty="0">
                <a:latin typeface="Times New Roman"/>
                <a:cs typeface="Times New Roman"/>
              </a:rPr>
              <a:t>e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d</a:t>
            </a:r>
            <a:r>
              <a:rPr sz="2600" spc="-125" dirty="0">
                <a:latin typeface="Times New Roman"/>
                <a:cs typeface="Times New Roman"/>
              </a:rPr>
              <a:t>o</a:t>
            </a:r>
            <a:r>
              <a:rPr sz="2600" spc="-135" dirty="0">
                <a:latin typeface="Times New Roman"/>
                <a:cs typeface="Times New Roman"/>
              </a:rPr>
              <a:t>esn</a:t>
            </a:r>
            <a:r>
              <a:rPr sz="2600" spc="-250" dirty="0">
                <a:latin typeface="Times New Roman"/>
                <a:cs typeface="Times New Roman"/>
              </a:rPr>
              <a:t>’</a:t>
            </a:r>
            <a:r>
              <a:rPr sz="2600" spc="35" dirty="0">
                <a:latin typeface="Times New Roman"/>
                <a:cs typeface="Times New Roman"/>
              </a:rPr>
              <a:t>t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90" dirty="0">
                <a:latin typeface="Times New Roman"/>
                <a:cs typeface="Times New Roman"/>
              </a:rPr>
              <a:t>perf</a:t>
            </a:r>
            <a:r>
              <a:rPr sz="2600" spc="-130" dirty="0">
                <a:latin typeface="Times New Roman"/>
                <a:cs typeface="Times New Roman"/>
              </a:rPr>
              <a:t>o</a:t>
            </a:r>
            <a:r>
              <a:rPr sz="2600" spc="100" dirty="0">
                <a:latin typeface="Times New Roman"/>
                <a:cs typeface="Times New Roman"/>
              </a:rPr>
              <a:t>r</a:t>
            </a:r>
            <a:r>
              <a:rPr sz="2600" spc="-150" dirty="0">
                <a:latin typeface="Times New Roman"/>
                <a:cs typeface="Times New Roman"/>
              </a:rPr>
              <a:t>m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40" dirty="0">
                <a:latin typeface="Times New Roman"/>
                <a:cs typeface="Times New Roman"/>
              </a:rPr>
              <a:t>e</a:t>
            </a:r>
            <a:r>
              <a:rPr sz="2600" spc="20" dirty="0">
                <a:latin typeface="Times New Roman"/>
                <a:cs typeface="Times New Roman"/>
              </a:rPr>
              <a:t>r</a:t>
            </a:r>
            <a:r>
              <a:rPr sz="2600" spc="5" dirty="0">
                <a:latin typeface="Times New Roman"/>
                <a:cs typeface="Times New Roman"/>
              </a:rPr>
              <a:t>r</a:t>
            </a:r>
            <a:r>
              <a:rPr sz="2600" spc="-35" dirty="0">
                <a:latin typeface="Times New Roman"/>
                <a:cs typeface="Times New Roman"/>
              </a:rPr>
              <a:t>or  </a:t>
            </a:r>
            <a:r>
              <a:rPr sz="2600" spc="-120" dirty="0">
                <a:latin typeface="Times New Roman"/>
                <a:cs typeface="Times New Roman"/>
              </a:rPr>
              <a:t>c</a:t>
            </a:r>
            <a:r>
              <a:rPr sz="2600" spc="-140" dirty="0">
                <a:latin typeface="Times New Roman"/>
                <a:cs typeface="Times New Roman"/>
              </a:rPr>
              <a:t>he</a:t>
            </a:r>
            <a:r>
              <a:rPr sz="2600" spc="-100" dirty="0">
                <a:latin typeface="Times New Roman"/>
                <a:cs typeface="Times New Roman"/>
              </a:rPr>
              <a:t>c</a:t>
            </a:r>
            <a:r>
              <a:rPr sz="2600" spc="-155" dirty="0">
                <a:latin typeface="Times New Roman"/>
                <a:cs typeface="Times New Roman"/>
              </a:rPr>
              <a:t>king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on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35" dirty="0">
                <a:latin typeface="Times New Roman"/>
                <a:cs typeface="Times New Roman"/>
              </a:rPr>
              <a:t>frames</a:t>
            </a:r>
            <a:endParaRPr sz="2600">
              <a:latin typeface="Times New Roman"/>
              <a:cs typeface="Times New Roman"/>
            </a:endParaRPr>
          </a:p>
          <a:p>
            <a:pPr marL="286385" marR="5080" indent="-274320">
              <a:lnSpc>
                <a:spcPts val="2810"/>
              </a:lnSpc>
              <a:spcBef>
                <a:spcPts val="60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165" dirty="0">
                <a:latin typeface="Times New Roman"/>
                <a:cs typeface="Times New Roman"/>
              </a:rPr>
              <a:t>Reads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135" dirty="0">
                <a:latin typeface="Times New Roman"/>
                <a:cs typeface="Times New Roman"/>
              </a:rPr>
              <a:t>address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05" dirty="0">
                <a:latin typeface="Times New Roman"/>
                <a:cs typeface="Times New Roman"/>
              </a:rPr>
              <a:t>information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95" dirty="0">
                <a:latin typeface="Times New Roman"/>
                <a:cs typeface="Times New Roman"/>
              </a:rPr>
              <a:t>for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45" dirty="0">
                <a:latin typeface="Times New Roman"/>
                <a:cs typeface="Times New Roman"/>
              </a:rPr>
              <a:t>each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Times New Roman"/>
                <a:cs typeface="Times New Roman"/>
              </a:rPr>
              <a:t>frame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204" dirty="0">
                <a:latin typeface="Times New Roman"/>
                <a:cs typeface="Times New Roman"/>
              </a:rPr>
              <a:t>as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75" dirty="0">
                <a:latin typeface="Times New Roman"/>
                <a:cs typeface="Times New Roman"/>
              </a:rPr>
              <a:t>the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40" dirty="0">
                <a:latin typeface="Times New Roman"/>
                <a:cs typeface="Times New Roman"/>
              </a:rPr>
              <a:t>frames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50" dirty="0">
                <a:latin typeface="Times New Roman"/>
                <a:cs typeface="Times New Roman"/>
              </a:rPr>
              <a:t>enter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-75" dirty="0">
                <a:latin typeface="Times New Roman"/>
                <a:cs typeface="Times New Roman"/>
              </a:rPr>
              <a:t>the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30" dirty="0">
                <a:latin typeface="Times New Roman"/>
                <a:cs typeface="Times New Roman"/>
              </a:rPr>
              <a:t>switch</a:t>
            </a:r>
            <a:endParaRPr sz="2600">
              <a:latin typeface="Times New Roman"/>
              <a:cs typeface="Times New Roman"/>
            </a:endParaRPr>
          </a:p>
          <a:p>
            <a:pPr marL="286385" marR="188595" indent="-274320">
              <a:lnSpc>
                <a:spcPts val="2810"/>
              </a:lnSpc>
              <a:spcBef>
                <a:spcPts val="595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114" dirty="0">
                <a:latin typeface="Times New Roman"/>
                <a:cs typeface="Times New Roman"/>
              </a:rPr>
              <a:t>After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40" dirty="0">
                <a:latin typeface="Times New Roman"/>
                <a:cs typeface="Times New Roman"/>
              </a:rPr>
              <a:t>looking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up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75" dirty="0">
                <a:latin typeface="Times New Roman"/>
                <a:cs typeface="Times New Roman"/>
              </a:rPr>
              <a:t>the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Times New Roman"/>
                <a:cs typeface="Times New Roman"/>
              </a:rPr>
              <a:t>port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of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75" dirty="0">
                <a:latin typeface="Times New Roman"/>
                <a:cs typeface="Times New Roman"/>
              </a:rPr>
              <a:t>the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105" dirty="0">
                <a:latin typeface="Times New Roman"/>
                <a:cs typeface="Times New Roman"/>
              </a:rPr>
              <a:t>destination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14" dirty="0">
                <a:latin typeface="Times New Roman"/>
                <a:cs typeface="Times New Roman"/>
              </a:rPr>
              <a:t>device,</a:t>
            </a:r>
            <a:r>
              <a:rPr sz="2600" spc="-180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Times New Roman"/>
                <a:cs typeface="Times New Roman"/>
              </a:rPr>
              <a:t>frame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65" dirty="0">
                <a:latin typeface="Times New Roman"/>
                <a:cs typeface="Times New Roman"/>
              </a:rPr>
              <a:t>is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-105" dirty="0">
                <a:latin typeface="Times New Roman"/>
                <a:cs typeface="Times New Roman"/>
              </a:rPr>
              <a:t>forwarded</a:t>
            </a:r>
            <a:endParaRPr sz="2600">
              <a:latin typeface="Times New Roman"/>
              <a:cs typeface="Times New Roman"/>
            </a:endParaRPr>
          </a:p>
          <a:p>
            <a:pPr marL="286385" indent="-274320">
              <a:lnSpc>
                <a:spcPct val="100000"/>
              </a:lnSpc>
              <a:spcBef>
                <a:spcPts val="245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335" dirty="0">
                <a:latin typeface="Times New Roman"/>
                <a:cs typeface="Times New Roman"/>
              </a:rPr>
              <a:t>F</a:t>
            </a:r>
            <a:r>
              <a:rPr sz="2600" spc="-60" dirty="0">
                <a:latin typeface="Times New Roman"/>
                <a:cs typeface="Times New Roman"/>
              </a:rPr>
              <a:t>or</a:t>
            </a:r>
            <a:r>
              <a:rPr sz="2600" spc="-130" dirty="0">
                <a:latin typeface="Times New Roman"/>
                <a:cs typeface="Times New Roman"/>
              </a:rPr>
              <a:t>ward</a:t>
            </a:r>
            <a:r>
              <a:rPr sz="2600" spc="-114" dirty="0">
                <a:latin typeface="Times New Roman"/>
                <a:cs typeface="Times New Roman"/>
              </a:rPr>
              <a:t>s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bad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35" dirty="0">
                <a:latin typeface="Times New Roman"/>
                <a:cs typeface="Times New Roman"/>
              </a:rPr>
              <a:t>frames</a:t>
            </a:r>
            <a:endParaRPr sz="2600">
              <a:latin typeface="Times New Roman"/>
              <a:cs typeface="Times New Roman"/>
            </a:endParaRPr>
          </a:p>
          <a:p>
            <a:pPr marL="560705" marR="582295" lvl="1" indent="-228600" algn="just">
              <a:lnSpc>
                <a:spcPts val="2590"/>
              </a:lnSpc>
              <a:spcBef>
                <a:spcPts val="455"/>
              </a:spcBef>
              <a:buClr>
                <a:srgbClr val="9B2C1F"/>
              </a:buClr>
              <a:buSzPct val="85416"/>
              <a:buFont typeface="Segoe UI Symbol"/>
              <a:buChar char="⚫"/>
              <a:tabLst>
                <a:tab pos="561340" algn="l"/>
              </a:tabLst>
            </a:pPr>
            <a:r>
              <a:rPr sz="2400" spc="-105" dirty="0">
                <a:latin typeface="Times New Roman"/>
                <a:cs typeface="Times New Roman"/>
              </a:rPr>
              <a:t>Performance </a:t>
            </a:r>
            <a:r>
              <a:rPr sz="2400" spc="-110" dirty="0">
                <a:latin typeface="Times New Roman"/>
                <a:cs typeface="Times New Roman"/>
              </a:rPr>
              <a:t>penalty </a:t>
            </a:r>
            <a:r>
              <a:rPr sz="2400" spc="-135" dirty="0">
                <a:latin typeface="Times New Roman"/>
                <a:cs typeface="Times New Roman"/>
              </a:rPr>
              <a:t>because </a:t>
            </a:r>
            <a:r>
              <a:rPr sz="2400" spc="-140" dirty="0">
                <a:latin typeface="Times New Roman"/>
                <a:cs typeface="Times New Roman"/>
              </a:rPr>
              <a:t>bad </a:t>
            </a:r>
            <a:r>
              <a:rPr sz="2400" spc="-130" dirty="0">
                <a:latin typeface="Times New Roman"/>
                <a:cs typeface="Times New Roman"/>
              </a:rPr>
              <a:t>frames </a:t>
            </a:r>
            <a:r>
              <a:rPr sz="2400" spc="-125" dirty="0">
                <a:latin typeface="Times New Roman"/>
                <a:cs typeface="Times New Roman"/>
              </a:rPr>
              <a:t>can’t </a:t>
            </a:r>
            <a:r>
              <a:rPr sz="2400" spc="-110" dirty="0">
                <a:latin typeface="Times New Roman"/>
                <a:cs typeface="Times New Roman"/>
              </a:rPr>
              <a:t>be </a:t>
            </a:r>
            <a:r>
              <a:rPr sz="2400" spc="-120" dirty="0">
                <a:latin typeface="Times New Roman"/>
                <a:cs typeface="Times New Roman"/>
              </a:rPr>
              <a:t>used </a:t>
            </a:r>
            <a:r>
              <a:rPr sz="2400" spc="-140" dirty="0">
                <a:latin typeface="Times New Roman"/>
                <a:cs typeface="Times New Roman"/>
              </a:rPr>
              <a:t>and </a:t>
            </a:r>
            <a:r>
              <a:rPr sz="2400" spc="-135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Times New Roman"/>
                <a:cs typeface="Times New Roman"/>
              </a:rPr>
              <a:t>replacement </a:t>
            </a:r>
            <a:r>
              <a:rPr sz="2400" spc="-130" dirty="0">
                <a:latin typeface="Times New Roman"/>
                <a:cs typeface="Times New Roman"/>
              </a:rPr>
              <a:t>frames </a:t>
            </a:r>
            <a:r>
              <a:rPr sz="2400" spc="-105" dirty="0">
                <a:latin typeface="Times New Roman"/>
                <a:cs typeface="Times New Roman"/>
              </a:rPr>
              <a:t>must </a:t>
            </a:r>
            <a:r>
              <a:rPr sz="2400" spc="-110" dirty="0">
                <a:latin typeface="Times New Roman"/>
                <a:cs typeface="Times New Roman"/>
              </a:rPr>
              <a:t>be </a:t>
            </a:r>
            <a:r>
              <a:rPr sz="2400" spc="-90" dirty="0">
                <a:latin typeface="Times New Roman"/>
                <a:cs typeface="Times New Roman"/>
              </a:rPr>
              <a:t>sent </a:t>
            </a:r>
            <a:r>
              <a:rPr sz="2400" spc="-135" dirty="0">
                <a:latin typeface="Times New Roman"/>
                <a:cs typeface="Times New Roman"/>
              </a:rPr>
              <a:t>which </a:t>
            </a:r>
            <a:r>
              <a:rPr sz="2400" spc="-100" dirty="0">
                <a:latin typeface="Times New Roman"/>
                <a:cs typeface="Times New Roman"/>
              </a:rPr>
              <a:t>creates </a:t>
            </a:r>
            <a:r>
              <a:rPr sz="2400" spc="-110" dirty="0">
                <a:latin typeface="Times New Roman"/>
                <a:cs typeface="Times New Roman"/>
              </a:rPr>
              <a:t>additional </a:t>
            </a:r>
            <a:r>
              <a:rPr sz="2400" spc="-105" dirty="0">
                <a:latin typeface="Times New Roman"/>
                <a:cs typeface="Times New Roman"/>
              </a:rPr>
              <a:t> traffic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688974"/>
            <a:ext cx="694055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60" dirty="0"/>
              <a:t>Unmanaged/Intelligent</a:t>
            </a:r>
            <a:r>
              <a:rPr sz="4000" spc="40" dirty="0"/>
              <a:t> </a:t>
            </a:r>
            <a:r>
              <a:rPr sz="4000" spc="-30" dirty="0"/>
              <a:t>switches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993444" y="1837689"/>
            <a:ext cx="7306309" cy="2715260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286385" marR="709930" indent="-274320">
              <a:lnSpc>
                <a:spcPts val="2810"/>
              </a:lnSpc>
              <a:spcBef>
                <a:spcPts val="455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155" dirty="0">
                <a:latin typeface="Times New Roman"/>
                <a:cs typeface="Times New Roman"/>
              </a:rPr>
              <a:t>Unmanaged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–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135" dirty="0">
                <a:latin typeface="Times New Roman"/>
                <a:cs typeface="Times New Roman"/>
              </a:rPr>
              <a:t>provides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260" dirty="0">
                <a:latin typeface="Times New Roman"/>
                <a:cs typeface="Times New Roman"/>
              </a:rPr>
              <a:t>LAN’s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00" dirty="0">
                <a:latin typeface="Times New Roman"/>
                <a:cs typeface="Times New Roman"/>
              </a:rPr>
              <a:t>with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40" dirty="0">
                <a:latin typeface="Times New Roman"/>
                <a:cs typeface="Times New Roman"/>
              </a:rPr>
              <a:t>all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75" dirty="0">
                <a:latin typeface="Times New Roman"/>
                <a:cs typeface="Times New Roman"/>
              </a:rPr>
              <a:t>the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benefits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of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-250" dirty="0">
                <a:latin typeface="Times New Roman"/>
                <a:cs typeface="Times New Roman"/>
              </a:rPr>
              <a:t>s</a:t>
            </a:r>
            <a:r>
              <a:rPr sz="2600" spc="-95" dirty="0">
                <a:latin typeface="Times New Roman"/>
                <a:cs typeface="Times New Roman"/>
              </a:rPr>
              <a:t>wit</a:t>
            </a:r>
            <a:r>
              <a:rPr sz="2600" spc="-60" dirty="0">
                <a:latin typeface="Times New Roman"/>
                <a:cs typeface="Times New Roman"/>
              </a:rPr>
              <a:t>c</a:t>
            </a:r>
            <a:r>
              <a:rPr sz="2600" spc="-135" dirty="0">
                <a:latin typeface="Times New Roman"/>
                <a:cs typeface="Times New Roman"/>
              </a:rPr>
              <a:t>hin</a:t>
            </a:r>
            <a:r>
              <a:rPr sz="2600" spc="-450" dirty="0">
                <a:latin typeface="Times New Roman"/>
                <a:cs typeface="Times New Roman"/>
              </a:rPr>
              <a:t>g</a:t>
            </a:r>
            <a:r>
              <a:rPr sz="2600" spc="110" dirty="0">
                <a:latin typeface="Times New Roman"/>
                <a:cs typeface="Times New Roman"/>
              </a:rPr>
              <a:t>.</a:t>
            </a:r>
            <a:r>
              <a:rPr sz="2600" spc="-170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Fine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in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small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65" dirty="0">
                <a:latin typeface="Times New Roman"/>
                <a:cs typeface="Times New Roman"/>
              </a:rPr>
              <a:t>ne</a:t>
            </a:r>
            <a:r>
              <a:rPr sz="2600" spc="-55" dirty="0">
                <a:latin typeface="Times New Roman"/>
                <a:cs typeface="Times New Roman"/>
              </a:rPr>
              <a:t>t</a:t>
            </a:r>
            <a:r>
              <a:rPr sz="2600" spc="-240" dirty="0">
                <a:latin typeface="Times New Roman"/>
                <a:cs typeface="Times New Roman"/>
              </a:rPr>
              <a:t>w</a:t>
            </a:r>
            <a:r>
              <a:rPr sz="2600" spc="-110" dirty="0">
                <a:latin typeface="Times New Roman"/>
                <a:cs typeface="Times New Roman"/>
              </a:rPr>
              <a:t>orks</a:t>
            </a: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Clr>
                <a:srgbClr val="D24717"/>
              </a:buClr>
              <a:buFont typeface="Segoe UI Symbol"/>
              <a:buChar char="⚫"/>
            </a:pPr>
            <a:endParaRPr sz="3450">
              <a:latin typeface="Times New Roman"/>
              <a:cs typeface="Times New Roman"/>
            </a:endParaRPr>
          </a:p>
          <a:p>
            <a:pPr marL="286385" marR="5080" indent="-274320">
              <a:lnSpc>
                <a:spcPct val="90000"/>
              </a:lnSpc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100" dirty="0">
                <a:latin typeface="Times New Roman"/>
                <a:cs typeface="Times New Roman"/>
              </a:rPr>
              <a:t>Intelligent </a:t>
            </a:r>
            <a:r>
              <a:rPr sz="2600" spc="-135" dirty="0">
                <a:latin typeface="Times New Roman"/>
                <a:cs typeface="Times New Roman"/>
              </a:rPr>
              <a:t>switches </a:t>
            </a:r>
            <a:r>
              <a:rPr sz="2600" spc="-105" dirty="0">
                <a:latin typeface="Times New Roman"/>
                <a:cs typeface="Times New Roman"/>
              </a:rPr>
              <a:t>tracks </a:t>
            </a:r>
            <a:r>
              <a:rPr sz="2600" spc="-145" dirty="0">
                <a:latin typeface="Times New Roman"/>
                <a:cs typeface="Times New Roman"/>
              </a:rPr>
              <a:t>and </a:t>
            </a:r>
            <a:r>
              <a:rPr sz="2600" spc="-50" dirty="0">
                <a:latin typeface="Times New Roman"/>
                <a:cs typeface="Times New Roman"/>
              </a:rPr>
              <a:t>reports </a:t>
            </a:r>
            <a:r>
              <a:rPr sz="2600" spc="-254" dirty="0">
                <a:latin typeface="Times New Roman"/>
                <a:cs typeface="Times New Roman"/>
              </a:rPr>
              <a:t>LAN</a:t>
            </a:r>
            <a:r>
              <a:rPr sz="2600" spc="-250" dirty="0">
                <a:latin typeface="Times New Roman"/>
                <a:cs typeface="Times New Roman"/>
              </a:rPr>
              <a:t> </a:t>
            </a:r>
            <a:r>
              <a:rPr sz="2600" spc="-105" dirty="0">
                <a:latin typeface="Times New Roman"/>
                <a:cs typeface="Times New Roman"/>
              </a:rPr>
              <a:t>performance </a:t>
            </a:r>
            <a:r>
              <a:rPr sz="2600" spc="-100" dirty="0">
                <a:latin typeface="Times New Roman"/>
                <a:cs typeface="Times New Roman"/>
              </a:rPr>
              <a:t> statistics. </a:t>
            </a:r>
            <a:r>
              <a:rPr sz="2600" spc="-200" dirty="0">
                <a:latin typeface="Times New Roman"/>
                <a:cs typeface="Times New Roman"/>
              </a:rPr>
              <a:t>Have </a:t>
            </a:r>
            <a:r>
              <a:rPr sz="2600" spc="-204" dirty="0">
                <a:latin typeface="Times New Roman"/>
                <a:cs typeface="Times New Roman"/>
              </a:rPr>
              <a:t>a </a:t>
            </a:r>
            <a:r>
              <a:rPr sz="2600" spc="-145" dirty="0">
                <a:latin typeface="Times New Roman"/>
                <a:cs typeface="Times New Roman"/>
              </a:rPr>
              <a:t>database </a:t>
            </a:r>
            <a:r>
              <a:rPr sz="2600" spc="-260" dirty="0">
                <a:latin typeface="Times New Roman"/>
                <a:cs typeface="Times New Roman"/>
              </a:rPr>
              <a:t>ASIC</a:t>
            </a:r>
            <a:r>
              <a:rPr sz="2600" spc="-254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(application </a:t>
            </a:r>
            <a:r>
              <a:rPr sz="2600" spc="-150" dirty="0">
                <a:latin typeface="Times New Roman"/>
                <a:cs typeface="Times New Roman"/>
              </a:rPr>
              <a:t>specific </a:t>
            </a:r>
            <a:r>
              <a:rPr sz="2600" spc="-145" dirty="0">
                <a:latin typeface="Times New Roman"/>
                <a:cs typeface="Times New Roman"/>
              </a:rPr>
              <a:t> </a:t>
            </a:r>
            <a:r>
              <a:rPr sz="2600" spc="-95" dirty="0">
                <a:latin typeface="Times New Roman"/>
                <a:cs typeface="Times New Roman"/>
              </a:rPr>
              <a:t>inte</a:t>
            </a:r>
            <a:r>
              <a:rPr sz="2600" spc="-100" dirty="0">
                <a:latin typeface="Times New Roman"/>
                <a:cs typeface="Times New Roman"/>
              </a:rPr>
              <a:t>g</a:t>
            </a:r>
            <a:r>
              <a:rPr sz="2600" spc="-80" dirty="0">
                <a:latin typeface="Times New Roman"/>
                <a:cs typeface="Times New Roman"/>
              </a:rPr>
              <a:t>r</a:t>
            </a:r>
            <a:r>
              <a:rPr sz="2600" spc="-125" dirty="0">
                <a:latin typeface="Times New Roman"/>
                <a:cs typeface="Times New Roman"/>
              </a:rPr>
              <a:t>a</a:t>
            </a:r>
            <a:r>
              <a:rPr sz="2600" spc="-60" dirty="0">
                <a:latin typeface="Times New Roman"/>
                <a:cs typeface="Times New Roman"/>
              </a:rPr>
              <a:t>ted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95" dirty="0">
                <a:latin typeface="Times New Roman"/>
                <a:cs typeface="Times New Roman"/>
              </a:rPr>
              <a:t>circ</a:t>
            </a:r>
            <a:r>
              <a:rPr sz="2600" spc="-140" dirty="0">
                <a:latin typeface="Times New Roman"/>
                <a:cs typeface="Times New Roman"/>
              </a:rPr>
              <a:t>u</a:t>
            </a:r>
            <a:r>
              <a:rPr sz="2600" spc="-50" dirty="0">
                <a:latin typeface="Times New Roman"/>
                <a:cs typeface="Times New Roman"/>
              </a:rPr>
              <a:t>it)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on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05" dirty="0">
                <a:latin typeface="Times New Roman"/>
                <a:cs typeface="Times New Roman"/>
              </a:rPr>
              <a:t>board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Times New Roman"/>
                <a:cs typeface="Times New Roman"/>
              </a:rPr>
              <a:t>to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65" dirty="0">
                <a:latin typeface="Times New Roman"/>
                <a:cs typeface="Times New Roman"/>
              </a:rPr>
              <a:t>c</a:t>
            </a:r>
            <a:r>
              <a:rPr sz="2600" spc="-110" dirty="0">
                <a:latin typeface="Times New Roman"/>
                <a:cs typeface="Times New Roman"/>
              </a:rPr>
              <a:t>olle</a:t>
            </a:r>
            <a:r>
              <a:rPr sz="2600" spc="-145" dirty="0">
                <a:latin typeface="Times New Roman"/>
                <a:cs typeface="Times New Roman"/>
              </a:rPr>
              <a:t>c</a:t>
            </a:r>
            <a:r>
              <a:rPr sz="2600" spc="35" dirty="0">
                <a:latin typeface="Times New Roman"/>
                <a:cs typeface="Times New Roman"/>
              </a:rPr>
              <a:t>t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45" dirty="0">
                <a:latin typeface="Times New Roman"/>
                <a:cs typeface="Times New Roman"/>
              </a:rPr>
              <a:t>and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65" dirty="0">
                <a:latin typeface="Times New Roman"/>
                <a:cs typeface="Times New Roman"/>
              </a:rPr>
              <a:t>sto</a:t>
            </a:r>
            <a:r>
              <a:rPr sz="2600" spc="-85" dirty="0">
                <a:latin typeface="Times New Roman"/>
                <a:cs typeface="Times New Roman"/>
              </a:rPr>
              <a:t>r</a:t>
            </a:r>
            <a:r>
              <a:rPr sz="2600" spc="-100" dirty="0">
                <a:latin typeface="Times New Roman"/>
                <a:cs typeface="Times New Roman"/>
              </a:rPr>
              <a:t>e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65" dirty="0">
                <a:latin typeface="Times New Roman"/>
                <a:cs typeface="Times New Roman"/>
              </a:rPr>
              <a:t>d</a:t>
            </a:r>
            <a:r>
              <a:rPr sz="2600" spc="-185" dirty="0">
                <a:latin typeface="Times New Roman"/>
                <a:cs typeface="Times New Roman"/>
              </a:rPr>
              <a:t>a</a:t>
            </a:r>
            <a:r>
              <a:rPr sz="2600" spc="-85" dirty="0">
                <a:latin typeface="Times New Roman"/>
                <a:cs typeface="Times New Roman"/>
              </a:rPr>
              <a:t>ta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40" dirty="0">
                <a:latin typeface="Times New Roman"/>
                <a:cs typeface="Times New Roman"/>
              </a:rPr>
              <a:t>whi</a:t>
            </a:r>
            <a:r>
              <a:rPr sz="2600" spc="-120" dirty="0">
                <a:latin typeface="Times New Roman"/>
                <a:cs typeface="Times New Roman"/>
              </a:rPr>
              <a:t>c</a:t>
            </a:r>
            <a:r>
              <a:rPr sz="2600" spc="-110" dirty="0">
                <a:latin typeface="Times New Roman"/>
                <a:cs typeface="Times New Roman"/>
              </a:rPr>
              <a:t>h  </a:t>
            </a:r>
            <a:r>
              <a:rPr sz="2600" spc="-260" dirty="0">
                <a:latin typeface="Times New Roman"/>
                <a:cs typeface="Times New Roman"/>
              </a:rPr>
              <a:t>y</a:t>
            </a:r>
            <a:r>
              <a:rPr sz="2600" spc="-110" dirty="0">
                <a:latin typeface="Times New Roman"/>
                <a:cs typeface="Times New Roman"/>
              </a:rPr>
              <a:t>ou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40" dirty="0">
                <a:latin typeface="Times New Roman"/>
                <a:cs typeface="Times New Roman"/>
              </a:rPr>
              <a:t>vi</a:t>
            </a:r>
            <a:r>
              <a:rPr sz="2600" spc="-200" dirty="0">
                <a:latin typeface="Times New Roman"/>
                <a:cs typeface="Times New Roman"/>
              </a:rPr>
              <a:t>e</a:t>
            </a:r>
            <a:r>
              <a:rPr sz="2600" spc="-145" dirty="0">
                <a:latin typeface="Times New Roman"/>
                <a:cs typeface="Times New Roman"/>
              </a:rPr>
              <a:t>w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Times New Roman"/>
                <a:cs typeface="Times New Roman"/>
              </a:rPr>
              <a:t>th</a:t>
            </a:r>
            <a:r>
              <a:rPr sz="2600" spc="-50" dirty="0">
                <a:latin typeface="Times New Roman"/>
                <a:cs typeface="Times New Roman"/>
              </a:rPr>
              <a:t>r</a:t>
            </a:r>
            <a:r>
              <a:rPr sz="2600" spc="-110" dirty="0">
                <a:latin typeface="Times New Roman"/>
                <a:cs typeface="Times New Roman"/>
              </a:rPr>
              <a:t>o</a:t>
            </a:r>
            <a:r>
              <a:rPr sz="2600" spc="-125" dirty="0">
                <a:latin typeface="Times New Roman"/>
                <a:cs typeface="Times New Roman"/>
              </a:rPr>
              <a:t>u</a:t>
            </a:r>
            <a:r>
              <a:rPr sz="2600" spc="-190" dirty="0">
                <a:latin typeface="Times New Roman"/>
                <a:cs typeface="Times New Roman"/>
              </a:rPr>
              <a:t>gh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204" dirty="0">
                <a:latin typeface="Times New Roman"/>
                <a:cs typeface="Times New Roman"/>
              </a:rPr>
              <a:t>a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35" dirty="0">
                <a:latin typeface="Times New Roman"/>
                <a:cs typeface="Times New Roman"/>
              </a:rPr>
              <a:t>s</a:t>
            </a:r>
            <a:r>
              <a:rPr sz="2600" spc="-185" dirty="0">
                <a:latin typeface="Times New Roman"/>
                <a:cs typeface="Times New Roman"/>
              </a:rPr>
              <a:t>o</a:t>
            </a:r>
            <a:r>
              <a:rPr sz="2600" spc="-85" dirty="0">
                <a:latin typeface="Times New Roman"/>
                <a:cs typeface="Times New Roman"/>
              </a:rPr>
              <a:t>f</a:t>
            </a:r>
            <a:r>
              <a:rPr sz="2600" spc="-80" dirty="0">
                <a:latin typeface="Times New Roman"/>
                <a:cs typeface="Times New Roman"/>
              </a:rPr>
              <a:t>t</a:t>
            </a:r>
            <a:r>
              <a:rPr sz="2600" spc="-170" dirty="0">
                <a:latin typeface="Times New Roman"/>
                <a:cs typeface="Times New Roman"/>
              </a:rPr>
              <a:t>w</a:t>
            </a:r>
            <a:r>
              <a:rPr sz="2600" spc="-105" dirty="0">
                <a:latin typeface="Times New Roman"/>
                <a:cs typeface="Times New Roman"/>
              </a:rPr>
              <a:t>a</a:t>
            </a:r>
            <a:r>
              <a:rPr sz="2600" spc="-100" dirty="0">
                <a:latin typeface="Times New Roman"/>
                <a:cs typeface="Times New Roman"/>
              </a:rPr>
              <a:t>re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80" dirty="0">
                <a:latin typeface="Times New Roman"/>
                <a:cs typeface="Times New Roman"/>
              </a:rPr>
              <a:t>inter</a:t>
            </a:r>
            <a:r>
              <a:rPr sz="2600" spc="-90" dirty="0">
                <a:latin typeface="Times New Roman"/>
                <a:cs typeface="Times New Roman"/>
              </a:rPr>
              <a:t>f</a:t>
            </a:r>
            <a:r>
              <a:rPr sz="2600" spc="-185" dirty="0">
                <a:latin typeface="Times New Roman"/>
                <a:cs typeface="Times New Roman"/>
              </a:rPr>
              <a:t>a</a:t>
            </a:r>
            <a:r>
              <a:rPr sz="2600" spc="-190" dirty="0">
                <a:latin typeface="Times New Roman"/>
                <a:cs typeface="Times New Roman"/>
              </a:rPr>
              <a:t>c</a:t>
            </a:r>
            <a:r>
              <a:rPr sz="2600" spc="-100" dirty="0">
                <a:latin typeface="Times New Roman"/>
                <a:cs typeface="Times New Roman"/>
              </a:rPr>
              <a:t>e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7244" y="171703"/>
            <a:ext cx="60712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548255" algn="l"/>
              </a:tabLst>
            </a:pPr>
            <a:r>
              <a:rPr spc="-45" dirty="0"/>
              <a:t>Comparison	</a:t>
            </a:r>
            <a:r>
              <a:rPr spc="-50" dirty="0"/>
              <a:t>of</a:t>
            </a:r>
            <a:r>
              <a:rPr spc="-25" dirty="0"/>
              <a:t> </a:t>
            </a:r>
            <a:r>
              <a:rPr dirty="0"/>
              <a:t>Hub</a:t>
            </a:r>
            <a:r>
              <a:rPr spc="-20" dirty="0"/>
              <a:t> </a:t>
            </a:r>
            <a:r>
              <a:rPr spc="-15" dirty="0"/>
              <a:t>and</a:t>
            </a:r>
            <a:r>
              <a:rPr spc="-40" dirty="0"/>
              <a:t> </a:t>
            </a:r>
            <a:r>
              <a:rPr spc="-45" dirty="0"/>
              <a:t>Switch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5773" y="804418"/>
          <a:ext cx="9131935" cy="60540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364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946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881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1932">
                <a:tc>
                  <a:txBody>
                    <a:bodyPr/>
                    <a:lstStyle/>
                    <a:p>
                      <a:pPr algn="ctr">
                        <a:lnSpc>
                          <a:spcPts val="2150"/>
                        </a:lnSpc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Bas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1800" b="1" spc="-4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for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800" b="1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Comparison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D2471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Hub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1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D24717"/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Switch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1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D247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276">
                <a:tc>
                  <a:txBody>
                    <a:bodyPr/>
                    <a:lstStyle/>
                    <a:p>
                      <a:pPr marL="89535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600" b="1" spc="-9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Layer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1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4717"/>
                    </a:solidFill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1600" spc="-40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si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l</a:t>
                      </a:r>
                      <a:r>
                        <a:rPr sz="16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l</a:t>
                      </a:r>
                      <a:r>
                        <a:rPr sz="1600" spc="-5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spc="-35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spc="-145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. </a:t>
                      </a:r>
                      <a:r>
                        <a:rPr sz="1600" spc="-1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L</a:t>
                      </a:r>
                      <a:r>
                        <a:rPr sz="1600" spc="-6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spc="-35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er</a:t>
                      </a:r>
                      <a:r>
                        <a:rPr sz="16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16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vi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ces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1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CFCC"/>
                    </a:solidFill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ta</a:t>
                      </a: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L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nk</a:t>
                      </a:r>
                      <a:r>
                        <a:rPr sz="16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L</a:t>
                      </a:r>
                      <a:r>
                        <a:rPr sz="1600" spc="-6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spc="-35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spc="-145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600" spc="-11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L</a:t>
                      </a:r>
                      <a:r>
                        <a:rPr sz="1600" spc="-6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spc="-35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er</a:t>
                      </a:r>
                      <a:r>
                        <a:rPr sz="16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2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1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C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9027">
                <a:tc>
                  <a:txBody>
                    <a:bodyPr/>
                    <a:lstStyle/>
                    <a:p>
                      <a:pPr marL="63055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Function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1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4717"/>
                    </a:solidFill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ts val="1910"/>
                        </a:lnSpc>
                      </a:pPr>
                      <a:r>
                        <a:rPr sz="1600" spc="-204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16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conne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net</a:t>
                      </a:r>
                      <a:r>
                        <a:rPr sz="1600" spc="-60" dirty="0">
                          <a:latin typeface="Times New Roman"/>
                          <a:cs typeface="Times New Roman"/>
                        </a:rPr>
                        <a:t>w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ork</a:t>
                      </a:r>
                      <a:r>
                        <a:rPr sz="16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6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pe</a:t>
                      </a:r>
                      <a:r>
                        <a:rPr sz="1600" spc="35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son</a:t>
                      </a:r>
                      <a:r>
                        <a:rPr sz="1600" spc="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l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65405" marR="73660">
                        <a:lnSpc>
                          <a:spcPts val="2240"/>
                        </a:lnSpc>
                        <a:spcBef>
                          <a:spcPts val="95"/>
                        </a:spcBef>
                      </a:pPr>
                      <a:r>
                        <a:rPr sz="1600" spc="-60" dirty="0">
                          <a:latin typeface="Times New Roman"/>
                          <a:cs typeface="Times New Roman"/>
                        </a:rPr>
                        <a:t>computers</a:t>
                      </a:r>
                      <a:r>
                        <a:rPr sz="16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5" dirty="0">
                          <a:latin typeface="Times New Roman"/>
                          <a:cs typeface="Times New Roman"/>
                        </a:rPr>
                        <a:t>together,</a:t>
                      </a:r>
                      <a:r>
                        <a:rPr sz="1600" spc="-1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80" dirty="0">
                          <a:latin typeface="Times New Roman"/>
                          <a:cs typeface="Times New Roman"/>
                        </a:rPr>
                        <a:t>they</a:t>
                      </a:r>
                      <a:r>
                        <a:rPr sz="16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0" dirty="0">
                          <a:latin typeface="Times New Roman"/>
                          <a:cs typeface="Times New Roman"/>
                        </a:rPr>
                        <a:t>can</a:t>
                      </a:r>
                      <a:r>
                        <a:rPr sz="16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75" dirty="0">
                          <a:latin typeface="Times New Roman"/>
                          <a:cs typeface="Times New Roman"/>
                        </a:rPr>
                        <a:t>be</a:t>
                      </a:r>
                      <a:r>
                        <a:rPr sz="16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75" dirty="0">
                          <a:latin typeface="Times New Roman"/>
                          <a:cs typeface="Times New Roman"/>
                        </a:rPr>
                        <a:t>joined </a:t>
                      </a:r>
                      <a:r>
                        <a:rPr sz="1600" spc="-3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th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ough</a:t>
                      </a:r>
                      <a:r>
                        <a:rPr sz="16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centr</a:t>
                      </a:r>
                      <a:r>
                        <a:rPr sz="1600" spc="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l</a:t>
                      </a:r>
                      <a:r>
                        <a:rPr sz="16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hu</a:t>
                      </a:r>
                      <a:r>
                        <a:rPr sz="1600" spc="-95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.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9E7"/>
                    </a:solidFill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ts val="1910"/>
                        </a:lnSpc>
                      </a:pPr>
                      <a:r>
                        <a:rPr sz="1600" spc="-5" dirty="0">
                          <a:latin typeface="Times New Roman"/>
                          <a:cs typeface="Times New Roman"/>
                        </a:rPr>
                        <a:t>All</a:t>
                      </a: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w</a:t>
                      </a:r>
                      <a:r>
                        <a:rPr sz="16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6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conne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ultiple</a:t>
                      </a:r>
                      <a:r>
                        <a:rPr sz="16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1600" spc="-3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vi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ce</a:t>
                      </a:r>
                      <a:r>
                        <a:rPr sz="16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an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16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po</a:t>
                      </a:r>
                      <a:r>
                        <a:rPr sz="1600" spc="6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6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can</a:t>
                      </a:r>
                      <a:r>
                        <a:rPr sz="16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be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6540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spc="-90" dirty="0">
                          <a:latin typeface="Times New Roman"/>
                          <a:cs typeface="Times New Roman"/>
                        </a:rPr>
                        <a:t>manage,Vlan</a:t>
                      </a:r>
                      <a:r>
                        <a:rPr sz="16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0" dirty="0">
                          <a:latin typeface="Times New Roman"/>
                          <a:cs typeface="Times New Roman"/>
                        </a:rPr>
                        <a:t>can</a:t>
                      </a:r>
                      <a:r>
                        <a:rPr sz="16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60" dirty="0">
                          <a:latin typeface="Times New Roman"/>
                          <a:cs typeface="Times New Roman"/>
                        </a:rPr>
                        <a:t>create</a:t>
                      </a:r>
                      <a:r>
                        <a:rPr sz="16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65" dirty="0">
                          <a:latin typeface="Times New Roman"/>
                          <a:cs typeface="Times New Roman"/>
                        </a:rPr>
                        <a:t>security</a:t>
                      </a:r>
                      <a:r>
                        <a:rPr sz="16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0" dirty="0">
                          <a:latin typeface="Times New Roman"/>
                          <a:cs typeface="Times New Roman"/>
                        </a:rPr>
                        <a:t>also</a:t>
                      </a:r>
                      <a:r>
                        <a:rPr sz="16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0" dirty="0">
                          <a:latin typeface="Times New Roman"/>
                          <a:cs typeface="Times New Roman"/>
                        </a:rPr>
                        <a:t>can</a:t>
                      </a:r>
                      <a:r>
                        <a:rPr sz="16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0" dirty="0">
                          <a:latin typeface="Times New Roman"/>
                          <a:cs typeface="Times New Roman"/>
                        </a:rPr>
                        <a:t>apply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4363">
                <a:tc>
                  <a:txBody>
                    <a:bodyPr/>
                    <a:lstStyle/>
                    <a:p>
                      <a:pPr marR="240665" algn="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b="1" spc="-23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13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rans</a:t>
                      </a:r>
                      <a:r>
                        <a:rPr sz="1600" b="1" spc="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16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ion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1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4717"/>
                    </a:solidFill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Elect</a:t>
                      </a:r>
                      <a:r>
                        <a:rPr sz="1600" spc="35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cal</a:t>
                      </a:r>
                      <a:r>
                        <a:rPr sz="16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ig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nal</a:t>
                      </a:r>
                      <a:r>
                        <a:rPr sz="16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sz="16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5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1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CFCC"/>
                    </a:solidFill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600" spc="-90" dirty="0">
                          <a:latin typeface="Times New Roman"/>
                          <a:cs typeface="Times New Roman"/>
                        </a:rPr>
                        <a:t>Frame</a:t>
                      </a:r>
                      <a:r>
                        <a:rPr sz="16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95" dirty="0">
                          <a:latin typeface="Times New Roman"/>
                          <a:cs typeface="Times New Roman"/>
                        </a:rPr>
                        <a:t>(L2</a:t>
                      </a:r>
                      <a:r>
                        <a:rPr sz="16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85" dirty="0">
                          <a:latin typeface="Times New Roman"/>
                          <a:cs typeface="Times New Roman"/>
                        </a:rPr>
                        <a:t>Switch)</a:t>
                      </a:r>
                      <a:r>
                        <a:rPr sz="16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90" dirty="0">
                          <a:latin typeface="Times New Roman"/>
                          <a:cs typeface="Times New Roman"/>
                        </a:rPr>
                        <a:t>Frame</a:t>
                      </a:r>
                      <a:r>
                        <a:rPr sz="16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265" dirty="0">
                          <a:latin typeface="Times New Roman"/>
                          <a:cs typeface="Times New Roman"/>
                        </a:rPr>
                        <a:t>&amp;</a:t>
                      </a:r>
                      <a:r>
                        <a:rPr sz="1600" spc="-1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85" dirty="0">
                          <a:latin typeface="Times New Roman"/>
                          <a:cs typeface="Times New Roman"/>
                        </a:rPr>
                        <a:t>Packet</a:t>
                      </a:r>
                      <a:r>
                        <a:rPr sz="16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95" dirty="0">
                          <a:latin typeface="Times New Roman"/>
                          <a:cs typeface="Times New Roman"/>
                        </a:rPr>
                        <a:t>(L3</a:t>
                      </a:r>
                      <a:r>
                        <a:rPr sz="16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75" dirty="0">
                          <a:latin typeface="Times New Roman"/>
                          <a:cs typeface="Times New Roman"/>
                        </a:rPr>
                        <a:t>switch)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1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C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600" b="1" spc="-3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Ports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1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4717"/>
                    </a:solidFill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600" spc="35" dirty="0">
                          <a:latin typeface="Times New Roman"/>
                          <a:cs typeface="Times New Roman"/>
                        </a:rPr>
                        <a:t>4/12</a:t>
                      </a:r>
                      <a:r>
                        <a:rPr sz="16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35" dirty="0">
                          <a:latin typeface="Times New Roman"/>
                          <a:cs typeface="Times New Roman"/>
                        </a:rPr>
                        <a:t>ports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1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9E7"/>
                    </a:solidFill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600" spc="-5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wit</a:t>
                      </a:r>
                      <a:r>
                        <a:rPr sz="1600" spc="30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16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6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ulti</a:t>
                      </a:r>
                      <a:r>
                        <a:rPr sz="16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po</a:t>
                      </a:r>
                      <a:r>
                        <a:rPr sz="1600" spc="6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6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1600" spc="35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dg</a:t>
                      </a:r>
                      <a:r>
                        <a:rPr sz="1600" spc="-4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600" spc="-1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24</a:t>
                      </a:r>
                      <a:r>
                        <a:rPr sz="1600" spc="5" dirty="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48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po</a:t>
                      </a:r>
                      <a:r>
                        <a:rPr sz="1600" spc="6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1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marL="51371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1600" b="1" spc="-1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vice</a:t>
                      </a:r>
                      <a:r>
                        <a:rPr sz="1600" b="1" spc="-24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229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ype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1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4717"/>
                    </a:solidFill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600" spc="-35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as</a:t>
                      </a:r>
                      <a:r>
                        <a:rPr sz="1600" spc="5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600" spc="-45" dirty="0">
                          <a:latin typeface="Times New Roman"/>
                          <a:cs typeface="Times New Roman"/>
                        </a:rPr>
                        <a:t>v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vi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ce</a:t>
                      </a:r>
                      <a:r>
                        <a:rPr sz="16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W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thout</a:t>
                      </a:r>
                      <a:r>
                        <a:rPr sz="16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oft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w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e)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1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CFCC"/>
                    </a:solidFill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600" spc="-5" dirty="0">
                          <a:latin typeface="Times New Roman"/>
                          <a:cs typeface="Times New Roman"/>
                        </a:rPr>
                        <a:t>Act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600" spc="-45" dirty="0">
                          <a:latin typeface="Times New Roman"/>
                          <a:cs typeface="Times New Roman"/>
                        </a:rPr>
                        <a:t>v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vi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ce</a:t>
                      </a:r>
                      <a:r>
                        <a:rPr sz="16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W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th</a:t>
                      </a:r>
                      <a:r>
                        <a:rPr sz="16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oft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w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e)</a:t>
                      </a: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&amp;</a:t>
                      </a:r>
                      <a:r>
                        <a:rPr sz="16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Net</a:t>
                      </a:r>
                      <a:r>
                        <a:rPr sz="1600" spc="-55" dirty="0">
                          <a:latin typeface="Times New Roman"/>
                          <a:cs typeface="Times New Roman"/>
                        </a:rPr>
                        <a:t>w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orking</a:t>
                      </a:r>
                      <a:r>
                        <a:rPr sz="16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vi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ce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1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C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57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Used</a:t>
                      </a:r>
                      <a:r>
                        <a:rPr sz="1400" b="1" spc="-7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in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25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4717"/>
                    </a:solidFill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600" spc="-165" dirty="0">
                          <a:latin typeface="Times New Roman"/>
                          <a:cs typeface="Times New Roman"/>
                        </a:rPr>
                        <a:t>LAN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1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9E7"/>
                    </a:solidFill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600" spc="-165" dirty="0">
                          <a:latin typeface="Times New Roman"/>
                          <a:cs typeface="Times New Roman"/>
                        </a:rPr>
                        <a:t>LAN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1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9432">
                <a:tc>
                  <a:txBody>
                    <a:bodyPr/>
                    <a:lstStyle/>
                    <a:p>
                      <a:pPr marR="177800" algn="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600" b="1" spc="-13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ran</a:t>
                      </a:r>
                      <a:r>
                        <a:rPr sz="1600" b="1" spc="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600" b="1" spc="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ssion</a:t>
                      </a:r>
                      <a:r>
                        <a:rPr sz="1600" b="1" spc="-4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Mo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1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4717"/>
                    </a:solidFill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1600" spc="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l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duplex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1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CFCC"/>
                    </a:solidFill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600" spc="-45" dirty="0">
                          <a:latin typeface="Times New Roman"/>
                          <a:cs typeface="Times New Roman"/>
                        </a:rPr>
                        <a:t>Half/Full</a:t>
                      </a:r>
                      <a:r>
                        <a:rPr sz="16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70" dirty="0">
                          <a:latin typeface="Times New Roman"/>
                          <a:cs typeface="Times New Roman"/>
                        </a:rPr>
                        <a:t>duplex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1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C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marR="215900" algn="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600" b="1" spc="-2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Broadcast</a:t>
                      </a:r>
                      <a:r>
                        <a:rPr sz="16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Domain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1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4717"/>
                    </a:solidFill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Hub</a:t>
                      </a:r>
                      <a:r>
                        <a:rPr sz="16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has</a:t>
                      </a:r>
                      <a:r>
                        <a:rPr sz="16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one</a:t>
                      </a:r>
                      <a:r>
                        <a:rPr sz="16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oadca</a:t>
                      </a:r>
                      <a:r>
                        <a:rPr sz="1600" spc="5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6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Doma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n.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1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9E7"/>
                    </a:solidFill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600" spc="-5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wit</a:t>
                      </a:r>
                      <a:r>
                        <a:rPr sz="1600" spc="30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16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as</a:t>
                      </a:r>
                      <a:r>
                        <a:rPr sz="16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one</a:t>
                      </a:r>
                      <a:r>
                        <a:rPr sz="16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oadca</a:t>
                      </a:r>
                      <a:r>
                        <a:rPr sz="1600" spc="5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6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doma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n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1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475816">
                <a:tc>
                  <a:txBody>
                    <a:bodyPr/>
                    <a:lstStyle/>
                    <a:p>
                      <a:pPr marL="57150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600" b="1" spc="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Definition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1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4717"/>
                    </a:solidFill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ts val="1910"/>
                        </a:lnSpc>
                      </a:pPr>
                      <a:r>
                        <a:rPr sz="16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6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elect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onic</a:t>
                      </a:r>
                      <a:r>
                        <a:rPr sz="16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vi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ce</a:t>
                      </a:r>
                      <a:r>
                        <a:rPr sz="16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th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6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connects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65405" marR="161925">
                        <a:lnSpc>
                          <a:spcPts val="2240"/>
                        </a:lnSpc>
                        <a:spcBef>
                          <a:spcPts val="100"/>
                        </a:spcBef>
                      </a:pPr>
                      <a:r>
                        <a:rPr sz="1600" spc="-5" dirty="0"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600" spc="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spc="-40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16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net</a:t>
                      </a:r>
                      <a:r>
                        <a:rPr sz="1600" spc="-55" dirty="0">
                          <a:latin typeface="Times New Roman"/>
                          <a:cs typeface="Times New Roman"/>
                        </a:rPr>
                        <a:t>w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ork</a:t>
                      </a:r>
                      <a:r>
                        <a:rPr sz="16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vi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ce</a:t>
                      </a:r>
                      <a:r>
                        <a:rPr sz="16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together</a:t>
                      </a:r>
                      <a:r>
                        <a:rPr sz="16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so</a:t>
                      </a:r>
                      <a:r>
                        <a:rPr sz="16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th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  d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vi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ces</a:t>
                      </a:r>
                      <a:r>
                        <a:rPr sz="16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can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ex</a:t>
                      </a:r>
                      <a:r>
                        <a:rPr sz="1600" spc="30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hange</a:t>
                      </a:r>
                      <a:r>
                        <a:rPr sz="16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ta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CFCC"/>
                    </a:solidFill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ts val="191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net</a:t>
                      </a:r>
                      <a:r>
                        <a:rPr sz="1600" spc="-55" dirty="0">
                          <a:latin typeface="Times New Roman"/>
                          <a:cs typeface="Times New Roman"/>
                        </a:rPr>
                        <a:t>w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ork</a:t>
                      </a:r>
                      <a:r>
                        <a:rPr sz="16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35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wit</a:t>
                      </a:r>
                      <a:r>
                        <a:rPr sz="1600" spc="30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16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6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computer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net</a:t>
                      </a:r>
                      <a:r>
                        <a:rPr sz="1600" spc="-55" dirty="0">
                          <a:latin typeface="Times New Roman"/>
                          <a:cs typeface="Times New Roman"/>
                        </a:rPr>
                        <a:t>w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orking</a:t>
                      </a:r>
                      <a:r>
                        <a:rPr sz="16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vi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ce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65405" marR="346710">
                        <a:lnSpc>
                          <a:spcPct val="114999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th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6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6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used</a:t>
                      </a:r>
                      <a:r>
                        <a:rPr sz="16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6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connect</a:t>
                      </a:r>
                      <a:r>
                        <a:rPr sz="16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600" spc="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spc="-40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16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vi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ces</a:t>
                      </a:r>
                      <a:r>
                        <a:rPr sz="16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together</a:t>
                      </a:r>
                      <a:r>
                        <a:rPr sz="16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sz="16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a  computer</a:t>
                      </a:r>
                      <a:r>
                        <a:rPr sz="16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net</a:t>
                      </a:r>
                      <a:r>
                        <a:rPr sz="1600" spc="-55" dirty="0">
                          <a:latin typeface="Times New Roman"/>
                          <a:cs typeface="Times New Roman"/>
                        </a:rPr>
                        <a:t>w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ork.</a:t>
                      </a:r>
                      <a:r>
                        <a:rPr sz="1600" spc="-2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35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wit</a:t>
                      </a:r>
                      <a:r>
                        <a:rPr sz="1600" spc="30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16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6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conside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ed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e  a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1600" spc="-35" dirty="0">
                          <a:latin typeface="Times New Roman"/>
                          <a:cs typeface="Times New Roman"/>
                        </a:rPr>
                        <a:t>v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anced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than</a:t>
                      </a:r>
                      <a:r>
                        <a:rPr sz="16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hub</a:t>
                      </a:r>
                      <a:r>
                        <a:rPr sz="16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5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ecau</a:t>
                      </a:r>
                      <a:r>
                        <a:rPr sz="1600" spc="5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35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wit</a:t>
                      </a:r>
                      <a:r>
                        <a:rPr sz="1600" spc="30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16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will</a:t>
                      </a:r>
                      <a:r>
                        <a:rPr sz="16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sz="16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send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6540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5" dirty="0"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600" spc="5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g</a:t>
                      </a: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6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vi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ce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th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6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needs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equest</a:t>
                      </a:r>
                      <a:r>
                        <a:rPr sz="16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C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949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600" b="1" spc="-1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Speed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1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4717"/>
                    </a:solidFill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600" spc="-105" dirty="0">
                          <a:latin typeface="Times New Roman"/>
                          <a:cs typeface="Times New Roman"/>
                        </a:rPr>
                        <a:t>10Mbps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1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9E7"/>
                    </a:solidFill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10</a:t>
                      </a:r>
                      <a:r>
                        <a:rPr sz="1600" spc="5" dirty="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100</a:t>
                      </a:r>
                      <a:r>
                        <a:rPr sz="16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Mbps,</a:t>
                      </a:r>
                      <a:r>
                        <a:rPr sz="1600" spc="-1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16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Gbps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1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8856">
                <a:tc>
                  <a:txBody>
                    <a:bodyPr/>
                    <a:lstStyle/>
                    <a:p>
                      <a:pPr marL="59436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Collisions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8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4717"/>
                    </a:solidFill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600" spc="-5" dirty="0">
                          <a:latin typeface="Times New Roman"/>
                          <a:cs typeface="Times New Roman"/>
                        </a:rPr>
                        <a:t>Col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l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sions</a:t>
                      </a:r>
                      <a:r>
                        <a:rPr sz="16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occur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6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setups</a:t>
                      </a:r>
                      <a:r>
                        <a:rPr sz="16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us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ng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hub</a:t>
                      </a:r>
                      <a:r>
                        <a:rPr sz="1600" spc="-3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.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8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CFCC"/>
                    </a:solidFill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No</a:t>
                      </a:r>
                      <a:r>
                        <a:rPr sz="16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coll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sions</a:t>
                      </a:r>
                      <a:r>
                        <a:rPr sz="16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occur</a:t>
                      </a:r>
                      <a:r>
                        <a:rPr sz="16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6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5" dirty="0"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ul</a:t>
                      </a:r>
                      <a:r>
                        <a:rPr sz="1600" spc="10" dirty="0">
                          <a:latin typeface="Times New Roman"/>
                          <a:cs typeface="Times New Roman"/>
                        </a:rPr>
                        <a:t>l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-duplex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35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wit</a:t>
                      </a:r>
                      <a:r>
                        <a:rPr sz="1600" spc="30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h.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8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C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6293">
                <a:tc>
                  <a:txBody>
                    <a:bodyPr/>
                    <a:lstStyle/>
                    <a:p>
                      <a:pPr marL="432434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b="1" spc="-1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dr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ss</a:t>
                      </a:r>
                      <a:r>
                        <a:rPr sz="1600" b="1" spc="-4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Us</a:t>
                      </a:r>
                      <a:r>
                        <a:rPr sz="16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ed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8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D24717"/>
                    </a:solidFill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U</a:t>
                      </a:r>
                      <a:r>
                        <a:rPr sz="1600" spc="5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es</a:t>
                      </a: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600" spc="-8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6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add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ess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8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F7E9E7"/>
                    </a:solidFill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U</a:t>
                      </a:r>
                      <a:r>
                        <a:rPr sz="1600" spc="5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es</a:t>
                      </a: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600" spc="-8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6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add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ess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8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F7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2891" y="544779"/>
            <a:ext cx="163639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35" dirty="0"/>
              <a:t>Bridges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378053" y="1164082"/>
            <a:ext cx="637603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spc="5" dirty="0">
                <a:latin typeface="Times New Roman"/>
                <a:cs typeface="Times New Roman"/>
              </a:rPr>
              <a:t>O</a:t>
            </a:r>
            <a:r>
              <a:rPr sz="2400" spc="-105" dirty="0">
                <a:latin typeface="Times New Roman"/>
                <a:cs typeface="Times New Roman"/>
              </a:rPr>
              <a:t>p</a:t>
            </a:r>
            <a:r>
              <a:rPr sz="2400" spc="-120" dirty="0">
                <a:latin typeface="Times New Roman"/>
                <a:cs typeface="Times New Roman"/>
              </a:rPr>
              <a:t>e</a:t>
            </a:r>
            <a:r>
              <a:rPr sz="2400" spc="10" dirty="0">
                <a:latin typeface="Times New Roman"/>
                <a:cs typeface="Times New Roman"/>
              </a:rPr>
              <a:t>r</a:t>
            </a:r>
            <a:r>
              <a:rPr sz="2400" spc="-229" dirty="0">
                <a:latin typeface="Times New Roman"/>
                <a:cs typeface="Times New Roman"/>
              </a:rPr>
              <a:t>a</a:t>
            </a:r>
            <a:r>
              <a:rPr sz="2400" spc="10" dirty="0">
                <a:latin typeface="Times New Roman"/>
                <a:cs typeface="Times New Roman"/>
              </a:rPr>
              <a:t>t</a:t>
            </a:r>
            <a:r>
              <a:rPr sz="2400" spc="-110" dirty="0">
                <a:latin typeface="Times New Roman"/>
                <a:cs typeface="Times New Roman"/>
              </a:rPr>
              <a:t>e</a:t>
            </a:r>
            <a:r>
              <a:rPr sz="2400" spc="-185" dirty="0">
                <a:latin typeface="Times New Roman"/>
                <a:cs typeface="Times New Roman"/>
              </a:rPr>
              <a:t>s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10" dirty="0">
                <a:latin typeface="Times New Roman"/>
                <a:cs typeface="Times New Roman"/>
              </a:rPr>
              <a:t>in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20" dirty="0">
                <a:latin typeface="Times New Roman"/>
                <a:cs typeface="Times New Roman"/>
              </a:rPr>
              <a:t>b</a:t>
            </a:r>
            <a:r>
              <a:rPr sz="2400" spc="-75" dirty="0">
                <a:latin typeface="Times New Roman"/>
                <a:cs typeface="Times New Roman"/>
              </a:rPr>
              <a:t>oth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70" dirty="0">
                <a:latin typeface="Times New Roman"/>
                <a:cs typeface="Times New Roman"/>
              </a:rPr>
              <a:t>the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210" dirty="0">
                <a:latin typeface="Times New Roman"/>
                <a:cs typeface="Times New Roman"/>
              </a:rPr>
              <a:t>PH</a:t>
            </a:r>
            <a:r>
              <a:rPr sz="2400" spc="-335" dirty="0">
                <a:latin typeface="Times New Roman"/>
                <a:cs typeface="Times New Roman"/>
              </a:rPr>
              <a:t>Y</a:t>
            </a:r>
            <a:r>
              <a:rPr sz="2400" spc="-245" dirty="0">
                <a:latin typeface="Times New Roman"/>
                <a:cs typeface="Times New Roman"/>
              </a:rPr>
              <a:t>SICAL</a:t>
            </a:r>
            <a:r>
              <a:rPr sz="2400" spc="-110" dirty="0">
                <a:latin typeface="Times New Roman"/>
                <a:cs typeface="Times New Roman"/>
              </a:rPr>
              <a:t> </a:t>
            </a:r>
            <a:r>
              <a:rPr sz="2400" spc="-135" dirty="0">
                <a:latin typeface="Times New Roman"/>
                <a:cs typeface="Times New Roman"/>
              </a:rPr>
              <a:t>an</a:t>
            </a:r>
            <a:r>
              <a:rPr sz="2400" spc="-140" dirty="0">
                <a:latin typeface="Times New Roman"/>
                <a:cs typeface="Times New Roman"/>
              </a:rPr>
              <a:t>d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70" dirty="0">
                <a:latin typeface="Times New Roman"/>
                <a:cs typeface="Times New Roman"/>
              </a:rPr>
              <a:t>the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55" dirty="0">
                <a:latin typeface="Times New Roman"/>
                <a:cs typeface="Times New Roman"/>
              </a:rPr>
              <a:t>d</a:t>
            </a:r>
            <a:r>
              <a:rPr sz="2400" spc="-185" dirty="0">
                <a:latin typeface="Times New Roman"/>
                <a:cs typeface="Times New Roman"/>
              </a:rPr>
              <a:t>a</a:t>
            </a:r>
            <a:r>
              <a:rPr sz="2400" spc="10" dirty="0">
                <a:latin typeface="Times New Roman"/>
                <a:cs typeface="Times New Roman"/>
              </a:rPr>
              <a:t>t</a:t>
            </a:r>
            <a:r>
              <a:rPr sz="2400" spc="-190" dirty="0">
                <a:latin typeface="Times New Roman"/>
                <a:cs typeface="Times New Roman"/>
              </a:rPr>
              <a:t>a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li</a:t>
            </a:r>
            <a:r>
              <a:rPr sz="2400" spc="-150" dirty="0">
                <a:latin typeface="Times New Roman"/>
                <a:cs typeface="Times New Roman"/>
              </a:rPr>
              <a:t>n</a:t>
            </a:r>
            <a:r>
              <a:rPr sz="2400" spc="25" dirty="0">
                <a:latin typeface="Times New Roman"/>
                <a:cs typeface="Times New Roman"/>
              </a:rPr>
              <a:t>k</a:t>
            </a:r>
            <a:r>
              <a:rPr sz="2400" spc="-160" dirty="0">
                <a:latin typeface="Times New Roman"/>
                <a:cs typeface="Times New Roman"/>
              </a:rPr>
              <a:t>l</a:t>
            </a:r>
            <a:r>
              <a:rPr sz="2400" spc="-335" dirty="0">
                <a:latin typeface="Times New Roman"/>
                <a:cs typeface="Times New Roman"/>
              </a:rPr>
              <a:t>a</a:t>
            </a:r>
            <a:r>
              <a:rPr sz="2400" spc="-305" dirty="0">
                <a:latin typeface="Times New Roman"/>
                <a:cs typeface="Times New Roman"/>
              </a:rPr>
              <a:t>y</a:t>
            </a:r>
            <a:r>
              <a:rPr sz="2400" spc="-160" dirty="0">
                <a:latin typeface="Times New Roman"/>
                <a:cs typeface="Times New Roman"/>
              </a:rPr>
              <a:t>e</a:t>
            </a:r>
            <a:r>
              <a:rPr sz="2400" spc="-250" dirty="0">
                <a:latin typeface="Times New Roman"/>
                <a:cs typeface="Times New Roman"/>
              </a:rPr>
              <a:t>r</a:t>
            </a:r>
            <a:r>
              <a:rPr sz="2400" spc="10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Font typeface="Arial MT"/>
              <a:buChar char="•"/>
              <a:tabLst>
                <a:tab pos="354965" algn="l"/>
                <a:tab pos="355600" algn="l"/>
                <a:tab pos="868680" algn="l"/>
              </a:tabLst>
            </a:pPr>
            <a:r>
              <a:rPr sz="2400" spc="-245" dirty="0">
                <a:latin typeface="Times New Roman"/>
                <a:cs typeface="Times New Roman"/>
              </a:rPr>
              <a:t>As	</a:t>
            </a:r>
            <a:r>
              <a:rPr sz="2400" spc="-190" dirty="0"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80769" y="1529841"/>
            <a:ext cx="5147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515110" algn="l"/>
                <a:tab pos="2368550" algn="l"/>
                <a:tab pos="3533140" algn="l"/>
                <a:tab pos="3905250" algn="l"/>
              </a:tabLst>
            </a:pPr>
            <a:r>
              <a:rPr sz="2400" spc="-254" dirty="0">
                <a:latin typeface="Times New Roman"/>
                <a:cs typeface="Times New Roman"/>
              </a:rPr>
              <a:t>PHYSICAL	</a:t>
            </a:r>
            <a:r>
              <a:rPr sz="2400" spc="-160" dirty="0">
                <a:latin typeface="Times New Roman"/>
                <a:cs typeface="Times New Roman"/>
              </a:rPr>
              <a:t>layer	</a:t>
            </a:r>
            <a:r>
              <a:rPr sz="2400" spc="-114" dirty="0">
                <a:latin typeface="Times New Roman"/>
                <a:cs typeface="Times New Roman"/>
              </a:rPr>
              <a:t>device,	</a:t>
            </a:r>
            <a:r>
              <a:rPr sz="2400" spc="-45" dirty="0">
                <a:latin typeface="Times New Roman"/>
                <a:cs typeface="Times New Roman"/>
              </a:rPr>
              <a:t>it	</a:t>
            </a:r>
            <a:r>
              <a:rPr sz="2400" spc="-120" dirty="0">
                <a:latin typeface="Times New Roman"/>
                <a:cs typeface="Times New Roman"/>
              </a:rPr>
              <a:t>regenerates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304278" y="1529841"/>
            <a:ext cx="12858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5320" algn="l"/>
              </a:tabLst>
            </a:pPr>
            <a:r>
              <a:rPr sz="2400" spc="25" dirty="0">
                <a:latin typeface="Times New Roman"/>
                <a:cs typeface="Times New Roman"/>
              </a:rPr>
              <a:t>t</a:t>
            </a:r>
            <a:r>
              <a:rPr sz="2400" spc="-170" dirty="0">
                <a:latin typeface="Times New Roman"/>
                <a:cs typeface="Times New Roman"/>
              </a:rPr>
              <a:t>h</a:t>
            </a:r>
            <a:r>
              <a:rPr sz="2400" spc="-95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50" dirty="0">
                <a:latin typeface="Times New Roman"/>
                <a:cs typeface="Times New Roman"/>
              </a:rPr>
              <a:t>sign</a:t>
            </a:r>
            <a:r>
              <a:rPr sz="2400" spc="-145" dirty="0">
                <a:latin typeface="Times New Roman"/>
                <a:cs typeface="Times New Roman"/>
              </a:rPr>
              <a:t>al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20953" y="1895297"/>
            <a:ext cx="121221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45" dirty="0">
                <a:latin typeface="Times New Roman"/>
                <a:cs typeface="Times New Roman"/>
              </a:rPr>
              <a:t>it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</a:t>
            </a:r>
            <a:r>
              <a:rPr sz="2400" spc="-110" dirty="0">
                <a:latin typeface="Times New Roman"/>
                <a:cs typeface="Times New Roman"/>
              </a:rPr>
              <a:t>ec</a:t>
            </a:r>
            <a:r>
              <a:rPr sz="2400" spc="-120" dirty="0">
                <a:latin typeface="Times New Roman"/>
                <a:cs typeface="Times New Roman"/>
              </a:rPr>
              <a:t>e</a:t>
            </a:r>
            <a:r>
              <a:rPr sz="2400" spc="-114" dirty="0">
                <a:latin typeface="Times New Roman"/>
                <a:cs typeface="Times New Roman"/>
              </a:rPr>
              <a:t>i</a:t>
            </a:r>
            <a:r>
              <a:rPr sz="2400" spc="-260" dirty="0">
                <a:latin typeface="Times New Roman"/>
                <a:cs typeface="Times New Roman"/>
              </a:rPr>
              <a:t>v</a:t>
            </a:r>
            <a:r>
              <a:rPr sz="2400" spc="-150" dirty="0">
                <a:latin typeface="Times New Roman"/>
                <a:cs typeface="Times New Roman"/>
              </a:rPr>
              <a:t>e</a:t>
            </a:r>
            <a:r>
              <a:rPr sz="2400" spc="-180" dirty="0">
                <a:latin typeface="Times New Roman"/>
                <a:cs typeface="Times New Roman"/>
              </a:rPr>
              <a:t>s</a:t>
            </a:r>
            <a:r>
              <a:rPr sz="2400" spc="10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78053" y="2261742"/>
            <a:ext cx="52019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  <a:tab pos="355600" algn="l"/>
                <a:tab pos="893444" algn="l"/>
                <a:tab pos="1262380" algn="l"/>
                <a:tab pos="2080895" algn="l"/>
                <a:tab pos="2778760" algn="l"/>
                <a:tab pos="3656965" algn="l"/>
                <a:tab pos="4842510" algn="l"/>
              </a:tabLst>
            </a:pPr>
            <a:r>
              <a:rPr sz="2400" spc="-310" dirty="0">
                <a:latin typeface="Times New Roman"/>
                <a:cs typeface="Times New Roman"/>
              </a:rPr>
              <a:t>A</a:t>
            </a:r>
            <a:r>
              <a:rPr sz="2400" spc="-185" dirty="0">
                <a:latin typeface="Times New Roman"/>
                <a:cs typeface="Times New Roman"/>
              </a:rPr>
              <a:t>s	</a:t>
            </a:r>
            <a:r>
              <a:rPr sz="2400" spc="-190" dirty="0">
                <a:latin typeface="Times New Roman"/>
                <a:cs typeface="Times New Roman"/>
              </a:rPr>
              <a:t>a	</a:t>
            </a:r>
            <a:r>
              <a:rPr sz="2400" spc="-105" dirty="0">
                <a:latin typeface="Times New Roman"/>
                <a:cs typeface="Times New Roman"/>
              </a:rPr>
              <a:t>d</a:t>
            </a:r>
            <a:r>
              <a:rPr sz="2400" spc="-265" dirty="0">
                <a:latin typeface="Times New Roman"/>
                <a:cs typeface="Times New Roman"/>
              </a:rPr>
              <a:t>a</a:t>
            </a:r>
            <a:r>
              <a:rPr sz="2400" spc="-25" dirty="0">
                <a:latin typeface="Times New Roman"/>
                <a:cs typeface="Times New Roman"/>
              </a:rPr>
              <a:t>t</a:t>
            </a:r>
            <a:r>
              <a:rPr sz="2400" spc="-190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90" dirty="0">
                <a:latin typeface="Times New Roman"/>
                <a:cs typeface="Times New Roman"/>
              </a:rPr>
              <a:t>li</a:t>
            </a:r>
            <a:r>
              <a:rPr sz="2400" spc="-150" dirty="0">
                <a:latin typeface="Times New Roman"/>
                <a:cs typeface="Times New Roman"/>
              </a:rPr>
              <a:t>nk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20" dirty="0">
                <a:latin typeface="Times New Roman"/>
                <a:cs typeface="Times New Roman"/>
              </a:rPr>
              <a:t>l</a:t>
            </a:r>
            <a:r>
              <a:rPr sz="2400" spc="-325" dirty="0">
                <a:latin typeface="Times New Roman"/>
                <a:cs typeface="Times New Roman"/>
              </a:rPr>
              <a:t>a</a:t>
            </a:r>
            <a:r>
              <a:rPr sz="2400" spc="-265" dirty="0">
                <a:latin typeface="Times New Roman"/>
                <a:cs typeface="Times New Roman"/>
              </a:rPr>
              <a:t>y</a:t>
            </a:r>
            <a:r>
              <a:rPr sz="2400" spc="-45" dirty="0">
                <a:latin typeface="Times New Roman"/>
                <a:cs typeface="Times New Roman"/>
              </a:rPr>
              <a:t>e</a:t>
            </a:r>
            <a:r>
              <a:rPr sz="2400" spc="-30" dirty="0">
                <a:latin typeface="Times New Roman"/>
                <a:cs typeface="Times New Roman"/>
              </a:rPr>
              <a:t>r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5" dirty="0">
                <a:latin typeface="Times New Roman"/>
                <a:cs typeface="Times New Roman"/>
              </a:rPr>
              <a:t>d</a:t>
            </a:r>
            <a:r>
              <a:rPr sz="2400" spc="-170" dirty="0">
                <a:latin typeface="Times New Roman"/>
                <a:cs typeface="Times New Roman"/>
              </a:rPr>
              <a:t>e</a:t>
            </a:r>
            <a:r>
              <a:rPr sz="2400" spc="-135" dirty="0">
                <a:latin typeface="Times New Roman"/>
                <a:cs typeface="Times New Roman"/>
              </a:rPr>
              <a:t>vic</a:t>
            </a:r>
            <a:r>
              <a:rPr sz="2400" spc="-204" dirty="0">
                <a:latin typeface="Times New Roman"/>
                <a:cs typeface="Times New Roman"/>
              </a:rPr>
              <a:t>e</a:t>
            </a:r>
            <a:r>
              <a:rPr sz="2400" spc="100" dirty="0">
                <a:latin typeface="Times New Roman"/>
                <a:cs typeface="Times New Roman"/>
              </a:rPr>
              <a:t>,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70" dirty="0">
                <a:latin typeface="Times New Roman"/>
                <a:cs typeface="Times New Roman"/>
              </a:rPr>
              <a:t>the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880608" y="2261742"/>
            <a:ext cx="24377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00455" algn="l"/>
                <a:tab pos="1789430" algn="l"/>
              </a:tabLst>
            </a:pPr>
            <a:r>
              <a:rPr sz="2400" spc="-125" dirty="0">
                <a:latin typeface="Times New Roman"/>
                <a:cs typeface="Times New Roman"/>
              </a:rPr>
              <a:t>b</a:t>
            </a:r>
            <a:r>
              <a:rPr sz="2400" spc="60" dirty="0">
                <a:latin typeface="Times New Roman"/>
                <a:cs typeface="Times New Roman"/>
              </a:rPr>
              <a:t>r</a:t>
            </a:r>
            <a:r>
              <a:rPr sz="2400" spc="-110" dirty="0">
                <a:latin typeface="Times New Roman"/>
                <a:cs typeface="Times New Roman"/>
              </a:rPr>
              <a:t>id</a:t>
            </a:r>
            <a:r>
              <a:rPr sz="2400" spc="-245" dirty="0">
                <a:latin typeface="Times New Roman"/>
                <a:cs typeface="Times New Roman"/>
              </a:rPr>
              <a:t>g</a:t>
            </a:r>
            <a:r>
              <a:rPr sz="2400" spc="-95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55" dirty="0">
                <a:latin typeface="Times New Roman"/>
                <a:cs typeface="Times New Roman"/>
              </a:rPr>
              <a:t>c</a:t>
            </a:r>
            <a:r>
              <a:rPr sz="2400" spc="-145" dirty="0">
                <a:latin typeface="Times New Roman"/>
                <a:cs typeface="Times New Roman"/>
              </a:rPr>
              <a:t>a</a:t>
            </a:r>
            <a:r>
              <a:rPr sz="2400" spc="-155" dirty="0">
                <a:latin typeface="Times New Roman"/>
                <a:cs typeface="Times New Roman"/>
              </a:rPr>
              <a:t>n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0" dirty="0">
                <a:latin typeface="Times New Roman"/>
                <a:cs typeface="Times New Roman"/>
              </a:rPr>
              <a:t>c</a:t>
            </a:r>
            <a:r>
              <a:rPr sz="2400" spc="-170" dirty="0">
                <a:latin typeface="Times New Roman"/>
                <a:cs typeface="Times New Roman"/>
              </a:rPr>
              <a:t>h</a:t>
            </a:r>
            <a:r>
              <a:rPr sz="2400" spc="-120" dirty="0">
                <a:latin typeface="Times New Roman"/>
                <a:cs typeface="Times New Roman"/>
              </a:rPr>
              <a:t>e</a:t>
            </a:r>
            <a:r>
              <a:rPr sz="2400" spc="-80" dirty="0">
                <a:latin typeface="Times New Roman"/>
                <a:cs typeface="Times New Roman"/>
              </a:rPr>
              <a:t>c</a:t>
            </a:r>
            <a:r>
              <a:rPr sz="2400" spc="-150" dirty="0">
                <a:latin typeface="Times New Roman"/>
                <a:cs typeface="Times New Roman"/>
              </a:rPr>
              <a:t>k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91769" y="2627503"/>
            <a:ext cx="8206740" cy="3775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1630" marR="5080" indent="1270">
              <a:lnSpc>
                <a:spcPct val="100000"/>
              </a:lnSpc>
              <a:spcBef>
                <a:spcPts val="100"/>
              </a:spcBef>
              <a:tabLst>
                <a:tab pos="4828540" algn="l"/>
                <a:tab pos="5501005" algn="l"/>
              </a:tabLst>
            </a:pPr>
            <a:r>
              <a:rPr sz="2400" spc="25" dirty="0">
                <a:latin typeface="Times New Roman"/>
                <a:cs typeface="Times New Roman"/>
              </a:rPr>
              <a:t>t</a:t>
            </a:r>
            <a:r>
              <a:rPr sz="2400" spc="-170" dirty="0">
                <a:latin typeface="Times New Roman"/>
                <a:cs typeface="Times New Roman"/>
              </a:rPr>
              <a:t>h</a:t>
            </a:r>
            <a:r>
              <a:rPr sz="2400" spc="-95" dirty="0">
                <a:latin typeface="Times New Roman"/>
                <a:cs typeface="Times New Roman"/>
              </a:rPr>
              <a:t>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210" dirty="0">
                <a:latin typeface="Times New Roman"/>
                <a:cs typeface="Times New Roman"/>
              </a:rPr>
              <a:t>PH</a:t>
            </a:r>
            <a:r>
              <a:rPr sz="2400" spc="-335" dirty="0">
                <a:latin typeface="Times New Roman"/>
                <a:cs typeface="Times New Roman"/>
              </a:rPr>
              <a:t>Y</a:t>
            </a:r>
            <a:r>
              <a:rPr sz="2400" spc="-240" dirty="0">
                <a:latin typeface="Times New Roman"/>
                <a:cs typeface="Times New Roman"/>
              </a:rPr>
              <a:t>SICA</a:t>
            </a:r>
            <a:r>
              <a:rPr sz="2400" spc="-275" dirty="0">
                <a:latin typeface="Times New Roman"/>
                <a:cs typeface="Times New Roman"/>
              </a:rPr>
              <a:t>L</a:t>
            </a:r>
            <a:r>
              <a:rPr sz="2400" spc="120" dirty="0">
                <a:latin typeface="Times New Roman"/>
                <a:cs typeface="Times New Roman"/>
              </a:rPr>
              <a:t>/M</a:t>
            </a:r>
            <a:r>
              <a:rPr sz="2400" spc="-445" dirty="0">
                <a:latin typeface="Times New Roman"/>
                <a:cs typeface="Times New Roman"/>
              </a:rPr>
              <a:t>A</a:t>
            </a:r>
            <a:r>
              <a:rPr sz="2400" spc="-125" dirty="0">
                <a:latin typeface="Times New Roman"/>
                <a:cs typeface="Times New Roman"/>
              </a:rPr>
              <a:t>C</a:t>
            </a:r>
            <a:r>
              <a:rPr sz="2400" spc="-375" dirty="0">
                <a:latin typeface="Times New Roman"/>
                <a:cs typeface="Times New Roman"/>
              </a:rPr>
              <a:t> </a:t>
            </a:r>
            <a:r>
              <a:rPr sz="2400" spc="-204" dirty="0">
                <a:latin typeface="Times New Roman"/>
                <a:cs typeface="Times New Roman"/>
              </a:rPr>
              <a:t>a</a:t>
            </a:r>
            <a:r>
              <a:rPr sz="2400" spc="-105" dirty="0">
                <a:latin typeface="Times New Roman"/>
                <a:cs typeface="Times New Roman"/>
              </a:rPr>
              <a:t>d</a:t>
            </a:r>
            <a:r>
              <a:rPr sz="2400" spc="-120" dirty="0">
                <a:latin typeface="Times New Roman"/>
                <a:cs typeface="Times New Roman"/>
              </a:rPr>
              <a:t>d</a:t>
            </a:r>
            <a:r>
              <a:rPr sz="2400" spc="-10" dirty="0">
                <a:latin typeface="Times New Roman"/>
                <a:cs typeface="Times New Roman"/>
              </a:rPr>
              <a:t>r</a:t>
            </a:r>
            <a:r>
              <a:rPr sz="2400" spc="-110" dirty="0">
                <a:latin typeface="Times New Roman"/>
                <a:cs typeface="Times New Roman"/>
              </a:rPr>
              <a:t>e</a:t>
            </a:r>
            <a:r>
              <a:rPr sz="2400" spc="-185" dirty="0">
                <a:latin typeface="Times New Roman"/>
                <a:cs typeface="Times New Roman"/>
              </a:rPr>
              <a:t>s</a:t>
            </a:r>
            <a:r>
              <a:rPr sz="2400" spc="-200" dirty="0">
                <a:latin typeface="Times New Roman"/>
                <a:cs typeface="Times New Roman"/>
              </a:rPr>
              <a:t>s</a:t>
            </a:r>
            <a:r>
              <a:rPr sz="2400" spc="-110" dirty="0">
                <a:latin typeface="Times New Roman"/>
                <a:cs typeface="Times New Roman"/>
              </a:rPr>
              <a:t>e</a:t>
            </a:r>
            <a:r>
              <a:rPr sz="2400" spc="-204" dirty="0">
                <a:latin typeface="Times New Roman"/>
                <a:cs typeface="Times New Roman"/>
              </a:rPr>
              <a:t>s</a:t>
            </a:r>
            <a:r>
              <a:rPr sz="2400" spc="-70" dirty="0">
                <a:latin typeface="Times New Roman"/>
                <a:cs typeface="Times New Roman"/>
              </a:rPr>
              <a:t>(</a:t>
            </a:r>
            <a:r>
              <a:rPr sz="2400" spc="-204" dirty="0">
                <a:latin typeface="Times New Roman"/>
                <a:cs typeface="Times New Roman"/>
              </a:rPr>
              <a:t>s</a:t>
            </a:r>
            <a:r>
              <a:rPr sz="2400" spc="-105" dirty="0">
                <a:latin typeface="Times New Roman"/>
                <a:cs typeface="Times New Roman"/>
              </a:rPr>
              <a:t>o</a:t>
            </a:r>
            <a:r>
              <a:rPr sz="2400" spc="-135" dirty="0">
                <a:latin typeface="Times New Roman"/>
                <a:cs typeface="Times New Roman"/>
              </a:rPr>
              <a:t>u</a:t>
            </a:r>
            <a:r>
              <a:rPr sz="2400" spc="10" dirty="0">
                <a:latin typeface="Times New Roman"/>
                <a:cs typeface="Times New Roman"/>
              </a:rPr>
              <a:t>r</a:t>
            </a:r>
            <a:r>
              <a:rPr sz="2400" spc="-170" dirty="0">
                <a:latin typeface="Times New Roman"/>
                <a:cs typeface="Times New Roman"/>
              </a:rPr>
              <a:t>c</a:t>
            </a:r>
            <a:r>
              <a:rPr sz="2400" spc="-95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35" dirty="0">
                <a:latin typeface="Times New Roman"/>
                <a:cs typeface="Times New Roman"/>
              </a:rPr>
              <a:t>an</a:t>
            </a:r>
            <a:r>
              <a:rPr sz="2400" spc="-140" dirty="0">
                <a:latin typeface="Times New Roman"/>
                <a:cs typeface="Times New Roman"/>
              </a:rPr>
              <a:t>d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5" dirty="0">
                <a:latin typeface="Times New Roman"/>
                <a:cs typeface="Times New Roman"/>
              </a:rPr>
              <a:t>d</a:t>
            </a:r>
            <a:r>
              <a:rPr sz="2400" spc="-120" dirty="0">
                <a:latin typeface="Times New Roman"/>
                <a:cs typeface="Times New Roman"/>
              </a:rPr>
              <a:t>e</a:t>
            </a:r>
            <a:r>
              <a:rPr sz="2400" spc="-90" dirty="0">
                <a:latin typeface="Times New Roman"/>
                <a:cs typeface="Times New Roman"/>
              </a:rPr>
              <a:t>st</a:t>
            </a:r>
            <a:r>
              <a:rPr sz="2400" spc="-130" dirty="0">
                <a:latin typeface="Times New Roman"/>
                <a:cs typeface="Times New Roman"/>
              </a:rPr>
              <a:t>i</a:t>
            </a:r>
            <a:r>
              <a:rPr sz="2400" spc="-155" dirty="0">
                <a:latin typeface="Times New Roman"/>
                <a:cs typeface="Times New Roman"/>
              </a:rPr>
              <a:t>n</a:t>
            </a:r>
            <a:r>
              <a:rPr sz="2400" spc="-185" dirty="0">
                <a:latin typeface="Times New Roman"/>
                <a:cs typeface="Times New Roman"/>
              </a:rPr>
              <a:t>a</a:t>
            </a:r>
            <a:r>
              <a:rPr sz="2400" spc="10" dirty="0">
                <a:latin typeface="Times New Roman"/>
                <a:cs typeface="Times New Roman"/>
              </a:rPr>
              <a:t>t</a:t>
            </a:r>
            <a:r>
              <a:rPr sz="2400" spc="-130" dirty="0">
                <a:latin typeface="Times New Roman"/>
                <a:cs typeface="Times New Roman"/>
              </a:rPr>
              <a:t>i</a:t>
            </a:r>
            <a:r>
              <a:rPr sz="2400" spc="-105" dirty="0">
                <a:latin typeface="Times New Roman"/>
                <a:cs typeface="Times New Roman"/>
              </a:rPr>
              <a:t>o</a:t>
            </a:r>
            <a:r>
              <a:rPr sz="2400" spc="-120" dirty="0">
                <a:latin typeface="Times New Roman"/>
                <a:cs typeface="Times New Roman"/>
              </a:rPr>
              <a:t>n</a:t>
            </a:r>
            <a:r>
              <a:rPr sz="2400" spc="-50" dirty="0">
                <a:latin typeface="Times New Roman"/>
                <a:cs typeface="Times New Roman"/>
              </a:rPr>
              <a:t>)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114" dirty="0">
                <a:latin typeface="Times New Roman"/>
                <a:cs typeface="Times New Roman"/>
              </a:rPr>
              <a:t>con</a:t>
            </a:r>
            <a:r>
              <a:rPr sz="2400" spc="-85" dirty="0">
                <a:latin typeface="Times New Roman"/>
                <a:cs typeface="Times New Roman"/>
              </a:rPr>
              <a:t>tai</a:t>
            </a:r>
            <a:r>
              <a:rPr sz="2400" spc="-135" dirty="0">
                <a:latin typeface="Times New Roman"/>
                <a:cs typeface="Times New Roman"/>
              </a:rPr>
              <a:t>n</a:t>
            </a:r>
            <a:r>
              <a:rPr sz="2400" spc="-100" dirty="0">
                <a:latin typeface="Times New Roman"/>
                <a:cs typeface="Times New Roman"/>
              </a:rPr>
              <a:t>ed</a:t>
            </a:r>
            <a:r>
              <a:rPr sz="2400" spc="-110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in  </a:t>
            </a:r>
            <a:r>
              <a:rPr sz="2400" spc="-70" dirty="0">
                <a:latin typeface="Times New Roman"/>
                <a:cs typeface="Times New Roman"/>
              </a:rPr>
              <a:t>the</a:t>
            </a:r>
            <a:r>
              <a:rPr sz="2400" spc="-295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frame.</a:t>
            </a: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spc="-310" dirty="0">
                <a:latin typeface="Times New Roman"/>
                <a:cs typeface="Times New Roman"/>
              </a:rPr>
              <a:t>A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Times New Roman"/>
                <a:cs typeface="Times New Roman"/>
              </a:rPr>
              <a:t>bridge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spc="-175" dirty="0">
                <a:latin typeface="Times New Roman"/>
                <a:cs typeface="Times New Roman"/>
              </a:rPr>
              <a:t>has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190" dirty="0">
                <a:latin typeface="Times New Roman"/>
                <a:cs typeface="Times New Roman"/>
              </a:rPr>
              <a:t>a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table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20" dirty="0">
                <a:latin typeface="Times New Roman"/>
                <a:cs typeface="Times New Roman"/>
              </a:rPr>
              <a:t>used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10" dirty="0">
                <a:latin typeface="Times New Roman"/>
                <a:cs typeface="Times New Roman"/>
              </a:rPr>
              <a:t>in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filtering</a:t>
            </a:r>
            <a:r>
              <a:rPr sz="2400" spc="-305" dirty="0">
                <a:latin typeface="Times New Roman"/>
                <a:cs typeface="Times New Roman"/>
              </a:rPr>
              <a:t> </a:t>
            </a:r>
            <a:r>
              <a:rPr sz="2400" spc="-110" dirty="0">
                <a:latin typeface="Times New Roman"/>
                <a:cs typeface="Times New Roman"/>
              </a:rPr>
              <a:t>decisions.</a:t>
            </a:r>
            <a:endParaRPr sz="2400">
              <a:latin typeface="Times New Roman"/>
              <a:cs typeface="Times New Roman"/>
            </a:endParaRPr>
          </a:p>
          <a:p>
            <a:pPr marL="355600" marR="266700" indent="-342900">
              <a:lnSpc>
                <a:spcPct val="100000"/>
              </a:lnSpc>
              <a:spcBef>
                <a:spcPts val="994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spc="-80" dirty="0">
                <a:latin typeface="Times New Roman"/>
                <a:cs typeface="Times New Roman"/>
              </a:rPr>
              <a:t>It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spc="-155" dirty="0">
                <a:latin typeface="Times New Roman"/>
                <a:cs typeface="Times New Roman"/>
              </a:rPr>
              <a:t>can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20" dirty="0">
                <a:latin typeface="Times New Roman"/>
                <a:cs typeface="Times New Roman"/>
              </a:rPr>
              <a:t>check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spc="-70" dirty="0">
                <a:latin typeface="Times New Roman"/>
                <a:cs typeface="Times New Roman"/>
              </a:rPr>
              <a:t>the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destination</a:t>
            </a:r>
            <a:r>
              <a:rPr sz="2400" spc="-125" dirty="0">
                <a:latin typeface="Times New Roman"/>
                <a:cs typeface="Times New Roman"/>
              </a:rPr>
              <a:t> </a:t>
            </a:r>
            <a:r>
              <a:rPr sz="2400" spc="-130" dirty="0">
                <a:latin typeface="Times New Roman"/>
                <a:cs typeface="Times New Roman"/>
              </a:rPr>
              <a:t>address</a:t>
            </a:r>
            <a:r>
              <a:rPr sz="2400" spc="-140" dirty="0">
                <a:latin typeface="Times New Roman"/>
                <a:cs typeface="Times New Roman"/>
              </a:rPr>
              <a:t> </a:t>
            </a:r>
            <a:r>
              <a:rPr sz="2400" spc="-135" dirty="0">
                <a:latin typeface="Times New Roman"/>
                <a:cs typeface="Times New Roman"/>
              </a:rPr>
              <a:t>of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spc="-190" dirty="0">
                <a:latin typeface="Times New Roman"/>
                <a:cs typeface="Times New Roman"/>
              </a:rPr>
              <a:t>a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30" dirty="0">
                <a:latin typeface="Times New Roman"/>
                <a:cs typeface="Times New Roman"/>
              </a:rPr>
              <a:t>frame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35" dirty="0">
                <a:latin typeface="Times New Roman"/>
                <a:cs typeface="Times New Roman"/>
              </a:rPr>
              <a:t>and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10" dirty="0">
                <a:latin typeface="Times New Roman"/>
                <a:cs typeface="Times New Roman"/>
              </a:rPr>
              <a:t>decide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50" dirty="0">
                <a:latin typeface="Times New Roman"/>
                <a:cs typeface="Times New Roman"/>
              </a:rPr>
              <a:t>if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70" dirty="0">
                <a:latin typeface="Times New Roman"/>
                <a:cs typeface="Times New Roman"/>
              </a:rPr>
              <a:t>the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30" dirty="0">
                <a:latin typeface="Times New Roman"/>
                <a:cs typeface="Times New Roman"/>
              </a:rPr>
              <a:t>frame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150" dirty="0">
                <a:latin typeface="Times New Roman"/>
                <a:cs typeface="Times New Roman"/>
              </a:rPr>
              <a:t>s</a:t>
            </a:r>
            <a:r>
              <a:rPr sz="2400" spc="-185" dirty="0">
                <a:latin typeface="Times New Roman"/>
                <a:cs typeface="Times New Roman"/>
              </a:rPr>
              <a:t>h</a:t>
            </a:r>
            <a:r>
              <a:rPr sz="2400" spc="-105" dirty="0">
                <a:latin typeface="Times New Roman"/>
                <a:cs typeface="Times New Roman"/>
              </a:rPr>
              <a:t>o</a:t>
            </a:r>
            <a:r>
              <a:rPr sz="2400" spc="-100" dirty="0">
                <a:latin typeface="Times New Roman"/>
                <a:cs typeface="Times New Roman"/>
              </a:rPr>
              <a:t>u</a:t>
            </a:r>
            <a:r>
              <a:rPr sz="2400" spc="-75" dirty="0">
                <a:latin typeface="Times New Roman"/>
                <a:cs typeface="Times New Roman"/>
              </a:rPr>
              <a:t>l</a:t>
            </a:r>
            <a:r>
              <a:rPr sz="2400" spc="-125" dirty="0">
                <a:latin typeface="Times New Roman"/>
                <a:cs typeface="Times New Roman"/>
              </a:rPr>
              <a:t>d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spc="-110" dirty="0">
                <a:latin typeface="Times New Roman"/>
                <a:cs typeface="Times New Roman"/>
              </a:rPr>
              <a:t>be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95" dirty="0">
                <a:latin typeface="Times New Roman"/>
                <a:cs typeface="Times New Roman"/>
              </a:rPr>
              <a:t>f</a:t>
            </a:r>
            <a:r>
              <a:rPr sz="2400" spc="-45" dirty="0">
                <a:latin typeface="Times New Roman"/>
                <a:cs typeface="Times New Roman"/>
              </a:rPr>
              <a:t>o</a:t>
            </a:r>
            <a:r>
              <a:rPr sz="2400" spc="-50" dirty="0">
                <a:latin typeface="Times New Roman"/>
                <a:cs typeface="Times New Roman"/>
              </a:rPr>
              <a:t>r</a:t>
            </a:r>
            <a:r>
              <a:rPr sz="2400" spc="-180" dirty="0">
                <a:latin typeface="Times New Roman"/>
                <a:cs typeface="Times New Roman"/>
              </a:rPr>
              <a:t>w</a:t>
            </a:r>
            <a:r>
              <a:rPr sz="2400" spc="-204" dirty="0">
                <a:latin typeface="Times New Roman"/>
                <a:cs typeface="Times New Roman"/>
              </a:rPr>
              <a:t>a</a:t>
            </a:r>
            <a:r>
              <a:rPr sz="2400" spc="10" dirty="0">
                <a:latin typeface="Times New Roman"/>
                <a:cs typeface="Times New Roman"/>
              </a:rPr>
              <a:t>r</a:t>
            </a:r>
            <a:r>
              <a:rPr sz="2400" spc="-105" dirty="0">
                <a:latin typeface="Times New Roman"/>
                <a:cs typeface="Times New Roman"/>
              </a:rPr>
              <a:t>d</a:t>
            </a:r>
            <a:r>
              <a:rPr sz="2400" spc="-120" dirty="0">
                <a:latin typeface="Times New Roman"/>
                <a:cs typeface="Times New Roman"/>
              </a:rPr>
              <a:t>e</a:t>
            </a:r>
            <a:r>
              <a:rPr sz="2400" spc="-105" dirty="0">
                <a:latin typeface="Times New Roman"/>
                <a:cs typeface="Times New Roman"/>
              </a:rPr>
              <a:t>d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30" dirty="0">
                <a:latin typeface="Times New Roman"/>
                <a:cs typeface="Times New Roman"/>
              </a:rPr>
              <a:t>or</a:t>
            </a:r>
            <a:r>
              <a:rPr sz="2400" spc="-300" dirty="0">
                <a:latin typeface="Times New Roman"/>
                <a:cs typeface="Times New Roman"/>
              </a:rPr>
              <a:t> </a:t>
            </a:r>
            <a:r>
              <a:rPr sz="2400" spc="-45" dirty="0">
                <a:latin typeface="Times New Roman"/>
                <a:cs typeface="Times New Roman"/>
              </a:rPr>
              <a:t>d</a:t>
            </a:r>
            <a:r>
              <a:rPr sz="2400" spc="-75" dirty="0">
                <a:latin typeface="Times New Roman"/>
                <a:cs typeface="Times New Roman"/>
              </a:rPr>
              <a:t>r</a:t>
            </a:r>
            <a:r>
              <a:rPr sz="2400" spc="-105" dirty="0">
                <a:latin typeface="Times New Roman"/>
                <a:cs typeface="Times New Roman"/>
              </a:rPr>
              <a:t>o</a:t>
            </a:r>
            <a:r>
              <a:rPr sz="2400" spc="-120" dirty="0">
                <a:latin typeface="Times New Roman"/>
                <a:cs typeface="Times New Roman"/>
              </a:rPr>
              <a:t>p</a:t>
            </a:r>
            <a:r>
              <a:rPr sz="2400" spc="-105" dirty="0">
                <a:latin typeface="Times New Roman"/>
                <a:cs typeface="Times New Roman"/>
              </a:rPr>
              <a:t>p</a:t>
            </a:r>
            <a:r>
              <a:rPr sz="2400" spc="-120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d.</a:t>
            </a: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1595"/>
              </a:spcBef>
              <a:buFont typeface="Arial MT"/>
              <a:buChar char="•"/>
              <a:tabLst>
                <a:tab pos="354965" algn="l"/>
                <a:tab pos="355600" algn="l"/>
                <a:tab pos="6671309" algn="l"/>
              </a:tabLst>
            </a:pPr>
            <a:r>
              <a:rPr sz="2400" spc="-180" dirty="0">
                <a:latin typeface="Times New Roman"/>
                <a:cs typeface="Times New Roman"/>
              </a:rPr>
              <a:t>If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70" dirty="0">
                <a:latin typeface="Times New Roman"/>
                <a:cs typeface="Times New Roman"/>
              </a:rPr>
              <a:t>the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95" dirty="0">
                <a:latin typeface="Times New Roman"/>
                <a:cs typeface="Times New Roman"/>
              </a:rPr>
              <a:t>f</a:t>
            </a:r>
            <a:r>
              <a:rPr sz="2400" spc="10" dirty="0">
                <a:latin typeface="Times New Roman"/>
                <a:cs typeface="Times New Roman"/>
              </a:rPr>
              <a:t>r</a:t>
            </a:r>
            <a:r>
              <a:rPr sz="2400" spc="-204" dirty="0">
                <a:latin typeface="Times New Roman"/>
                <a:cs typeface="Times New Roman"/>
              </a:rPr>
              <a:t>a</a:t>
            </a:r>
            <a:r>
              <a:rPr sz="2400" spc="-160" dirty="0">
                <a:latin typeface="Times New Roman"/>
                <a:cs typeface="Times New Roman"/>
              </a:rPr>
              <a:t>m</a:t>
            </a:r>
            <a:r>
              <a:rPr sz="2400" spc="-95" dirty="0">
                <a:latin typeface="Times New Roman"/>
                <a:cs typeface="Times New Roman"/>
              </a:rPr>
              <a:t>e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150" dirty="0">
                <a:latin typeface="Times New Roman"/>
                <a:cs typeface="Times New Roman"/>
              </a:rPr>
              <a:t>is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35" dirty="0">
                <a:latin typeface="Times New Roman"/>
                <a:cs typeface="Times New Roman"/>
              </a:rPr>
              <a:t>to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spc="-110" dirty="0">
                <a:latin typeface="Times New Roman"/>
                <a:cs typeface="Times New Roman"/>
              </a:rPr>
              <a:t>be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95" dirty="0">
                <a:latin typeface="Times New Roman"/>
                <a:cs typeface="Times New Roman"/>
              </a:rPr>
              <a:t>f</a:t>
            </a:r>
            <a:r>
              <a:rPr sz="2400" spc="-45" dirty="0">
                <a:latin typeface="Times New Roman"/>
                <a:cs typeface="Times New Roman"/>
              </a:rPr>
              <a:t>o</a:t>
            </a:r>
            <a:r>
              <a:rPr sz="2400" spc="-50" dirty="0">
                <a:latin typeface="Times New Roman"/>
                <a:cs typeface="Times New Roman"/>
              </a:rPr>
              <a:t>r</a:t>
            </a:r>
            <a:r>
              <a:rPr sz="2400" spc="-180" dirty="0">
                <a:latin typeface="Times New Roman"/>
                <a:cs typeface="Times New Roman"/>
              </a:rPr>
              <a:t>w</a:t>
            </a:r>
            <a:r>
              <a:rPr sz="2400" spc="-204" dirty="0">
                <a:latin typeface="Times New Roman"/>
                <a:cs typeface="Times New Roman"/>
              </a:rPr>
              <a:t>a</a:t>
            </a:r>
            <a:r>
              <a:rPr sz="2400" spc="10" dirty="0">
                <a:latin typeface="Times New Roman"/>
                <a:cs typeface="Times New Roman"/>
              </a:rPr>
              <a:t>r</a:t>
            </a:r>
            <a:r>
              <a:rPr sz="2400" spc="-105" dirty="0">
                <a:latin typeface="Times New Roman"/>
                <a:cs typeface="Times New Roman"/>
              </a:rPr>
              <a:t>d</a:t>
            </a:r>
            <a:r>
              <a:rPr sz="2400" spc="-120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d,</a:t>
            </a:r>
            <a:r>
              <a:rPr sz="2400" spc="-180" dirty="0">
                <a:latin typeface="Times New Roman"/>
                <a:cs typeface="Times New Roman"/>
              </a:rPr>
              <a:t> </a:t>
            </a:r>
            <a:r>
              <a:rPr sz="2400" spc="-70" dirty="0">
                <a:latin typeface="Times New Roman"/>
                <a:cs typeface="Times New Roman"/>
              </a:rPr>
              <a:t>the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30" dirty="0">
                <a:latin typeface="Times New Roman"/>
                <a:cs typeface="Times New Roman"/>
              </a:rPr>
              <a:t>deci</a:t>
            </a:r>
            <a:r>
              <a:rPr sz="2400" spc="-120" dirty="0">
                <a:latin typeface="Times New Roman"/>
                <a:cs typeface="Times New Roman"/>
              </a:rPr>
              <a:t>s</a:t>
            </a:r>
            <a:r>
              <a:rPr sz="2400" spc="-110" dirty="0">
                <a:latin typeface="Times New Roman"/>
                <a:cs typeface="Times New Roman"/>
              </a:rPr>
              <a:t>ion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70" dirty="0">
                <a:latin typeface="Times New Roman"/>
                <a:cs typeface="Times New Roman"/>
              </a:rPr>
              <a:t>m</a:t>
            </a:r>
            <a:r>
              <a:rPr sz="2400" spc="-160" dirty="0">
                <a:latin typeface="Times New Roman"/>
                <a:cs typeface="Times New Roman"/>
              </a:rPr>
              <a:t>u</a:t>
            </a:r>
            <a:r>
              <a:rPr sz="2400" spc="-120" dirty="0">
                <a:latin typeface="Times New Roman"/>
                <a:cs typeface="Times New Roman"/>
              </a:rPr>
              <a:t>s</a:t>
            </a:r>
            <a:r>
              <a:rPr sz="2400" spc="240" dirty="0">
                <a:latin typeface="Times New Roman"/>
                <a:cs typeface="Times New Roman"/>
              </a:rPr>
              <a:t>t</a:t>
            </a:r>
            <a:r>
              <a:rPr sz="2400" spc="-125" dirty="0">
                <a:latin typeface="Times New Roman"/>
                <a:cs typeface="Times New Roman"/>
              </a:rPr>
              <a:t>s</a:t>
            </a:r>
            <a:r>
              <a:rPr sz="2400" spc="-155" dirty="0">
                <a:latin typeface="Times New Roman"/>
                <a:cs typeface="Times New Roman"/>
              </a:rPr>
              <a:t>p</a:t>
            </a:r>
            <a:r>
              <a:rPr sz="2400" spc="-150" dirty="0">
                <a:latin typeface="Times New Roman"/>
                <a:cs typeface="Times New Roman"/>
              </a:rPr>
              <a:t>ecify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70" dirty="0">
                <a:latin typeface="Times New Roman"/>
                <a:cs typeface="Times New Roman"/>
              </a:rPr>
              <a:t>the</a:t>
            </a:r>
            <a:r>
              <a:rPr sz="2400" spc="-180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p</a:t>
            </a:r>
            <a:r>
              <a:rPr sz="2400" spc="-100" dirty="0">
                <a:latin typeface="Times New Roman"/>
                <a:cs typeface="Times New Roman"/>
              </a:rPr>
              <a:t>o</a:t>
            </a:r>
            <a:r>
              <a:rPr sz="2400" spc="105" dirty="0">
                <a:latin typeface="Times New Roman"/>
                <a:cs typeface="Times New Roman"/>
              </a:rPr>
              <a:t>r</a:t>
            </a:r>
            <a:r>
              <a:rPr sz="2400" spc="65" dirty="0">
                <a:latin typeface="Times New Roman"/>
                <a:cs typeface="Times New Roman"/>
              </a:rPr>
              <a:t>t.</a:t>
            </a: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101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spc="-310" dirty="0">
                <a:latin typeface="Times New Roman"/>
                <a:cs typeface="Times New Roman"/>
              </a:rPr>
              <a:t>A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Times New Roman"/>
                <a:cs typeface="Times New Roman"/>
              </a:rPr>
              <a:t>bridge </a:t>
            </a:r>
            <a:r>
              <a:rPr sz="2400" spc="-175" dirty="0">
                <a:latin typeface="Times New Roman"/>
                <a:cs typeface="Times New Roman"/>
              </a:rPr>
              <a:t>has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190" dirty="0">
                <a:latin typeface="Times New Roman"/>
                <a:cs typeface="Times New Roman"/>
              </a:rPr>
              <a:t>a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table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75" dirty="0">
                <a:latin typeface="Times New Roman"/>
                <a:cs typeface="Times New Roman"/>
              </a:rPr>
              <a:t>that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spc="-160" dirty="0">
                <a:latin typeface="Times New Roman"/>
                <a:cs typeface="Times New Roman"/>
              </a:rPr>
              <a:t>maps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spc="-125" dirty="0">
                <a:latin typeface="Times New Roman"/>
                <a:cs typeface="Times New Roman"/>
              </a:rPr>
              <a:t>address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spc="-35" dirty="0">
                <a:latin typeface="Times New Roman"/>
                <a:cs typeface="Times New Roman"/>
              </a:rPr>
              <a:t>to</a:t>
            </a:r>
            <a:r>
              <a:rPr sz="2400" spc="-295" dirty="0">
                <a:latin typeface="Times New Roman"/>
                <a:cs typeface="Times New Roman"/>
              </a:rPr>
              <a:t> </a:t>
            </a:r>
            <a:r>
              <a:rPr sz="2400" spc="-35" dirty="0">
                <a:latin typeface="Times New Roman"/>
                <a:cs typeface="Times New Roman"/>
              </a:rPr>
              <a:t>ports.</a:t>
            </a:r>
            <a:endParaRPr sz="2400">
              <a:latin typeface="Times New Roman"/>
              <a:cs typeface="Times New Roman"/>
            </a:endParaRPr>
          </a:p>
          <a:p>
            <a:pPr marL="355600" marR="86360" indent="-342900">
              <a:lnSpc>
                <a:spcPct val="10000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spc="-125" dirty="0">
                <a:latin typeface="Times New Roman"/>
                <a:cs typeface="Times New Roman"/>
              </a:rPr>
              <a:t>Limit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35" dirty="0">
                <a:latin typeface="Times New Roman"/>
                <a:cs typeface="Times New Roman"/>
              </a:rPr>
              <a:t>or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70" dirty="0">
                <a:latin typeface="Times New Roman"/>
                <a:cs typeface="Times New Roman"/>
              </a:rPr>
              <a:t>filter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spc="-130" dirty="0">
                <a:latin typeface="Times New Roman"/>
                <a:cs typeface="Times New Roman"/>
              </a:rPr>
              <a:t>traffic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spc="-135" dirty="0">
                <a:latin typeface="Times New Roman"/>
                <a:cs typeface="Times New Roman"/>
              </a:rPr>
              <a:t>keeping</a:t>
            </a:r>
            <a:r>
              <a:rPr sz="2400" spc="-120" dirty="0">
                <a:latin typeface="Times New Roman"/>
                <a:cs typeface="Times New Roman"/>
              </a:rPr>
              <a:t> </a:t>
            </a:r>
            <a:r>
              <a:rPr sz="2400" spc="-130" dirty="0">
                <a:latin typeface="Times New Roman"/>
                <a:cs typeface="Times New Roman"/>
              </a:rPr>
              <a:t>local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30" dirty="0">
                <a:latin typeface="Times New Roman"/>
                <a:cs typeface="Times New Roman"/>
              </a:rPr>
              <a:t>traffic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30" dirty="0">
                <a:latin typeface="Times New Roman"/>
                <a:cs typeface="Times New Roman"/>
              </a:rPr>
              <a:t>local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10" dirty="0">
                <a:latin typeface="Times New Roman"/>
                <a:cs typeface="Times New Roman"/>
              </a:rPr>
              <a:t>yet</a:t>
            </a:r>
            <a:r>
              <a:rPr sz="2400" spc="-145" dirty="0">
                <a:latin typeface="Times New Roman"/>
                <a:cs typeface="Times New Roman"/>
              </a:rPr>
              <a:t> </a:t>
            </a:r>
            <a:r>
              <a:rPr sz="2400" spc="-140" dirty="0">
                <a:latin typeface="Times New Roman"/>
                <a:cs typeface="Times New Roman"/>
              </a:rPr>
              <a:t>allow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connectivity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35" dirty="0">
                <a:latin typeface="Times New Roman"/>
                <a:cs typeface="Times New Roman"/>
              </a:rPr>
              <a:t>to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60" dirty="0">
                <a:latin typeface="Times New Roman"/>
                <a:cs typeface="Times New Roman"/>
              </a:rPr>
              <a:t>other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70" dirty="0">
                <a:latin typeface="Times New Roman"/>
                <a:cs typeface="Times New Roman"/>
              </a:rPr>
              <a:t>parts</a:t>
            </a:r>
            <a:r>
              <a:rPr sz="2400" spc="-265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(segments).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8273" y="838263"/>
            <a:ext cx="8089140" cy="5034465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182114" y="1123315"/>
            <a:ext cx="28035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solidFill>
                  <a:srgbClr val="696363"/>
                </a:solidFill>
                <a:latin typeface="Times New Roman"/>
                <a:cs typeface="Times New Roman"/>
              </a:rPr>
              <a:t>A</a:t>
            </a:r>
            <a:r>
              <a:rPr sz="1800" i="1" spc="-40" dirty="0">
                <a:solidFill>
                  <a:srgbClr val="696363"/>
                </a:solidFill>
                <a:latin typeface="Times New Roman"/>
                <a:cs typeface="Times New Roman"/>
              </a:rPr>
              <a:t> </a:t>
            </a:r>
            <a:r>
              <a:rPr sz="1800" i="1" dirty="0">
                <a:solidFill>
                  <a:srgbClr val="696363"/>
                </a:solidFill>
                <a:latin typeface="Times New Roman"/>
                <a:cs typeface="Times New Roman"/>
              </a:rPr>
              <a:t>bridge</a:t>
            </a:r>
            <a:r>
              <a:rPr sz="1800" i="1" spc="5" dirty="0">
                <a:solidFill>
                  <a:srgbClr val="696363"/>
                </a:solidFill>
                <a:latin typeface="Times New Roman"/>
                <a:cs typeface="Times New Roman"/>
              </a:rPr>
              <a:t> </a:t>
            </a:r>
            <a:r>
              <a:rPr sz="1800" i="1" dirty="0">
                <a:solidFill>
                  <a:srgbClr val="696363"/>
                </a:solidFill>
                <a:latin typeface="Times New Roman"/>
                <a:cs typeface="Times New Roman"/>
              </a:rPr>
              <a:t>conn</a:t>
            </a:r>
            <a:r>
              <a:rPr sz="1800" i="1" spc="5" dirty="0">
                <a:solidFill>
                  <a:srgbClr val="696363"/>
                </a:solidFill>
                <a:latin typeface="Times New Roman"/>
                <a:cs typeface="Times New Roman"/>
              </a:rPr>
              <a:t>e</a:t>
            </a:r>
            <a:r>
              <a:rPr sz="1800" i="1" dirty="0">
                <a:solidFill>
                  <a:srgbClr val="696363"/>
                </a:solidFill>
                <a:latin typeface="Times New Roman"/>
                <a:cs typeface="Times New Roman"/>
              </a:rPr>
              <a:t>c</a:t>
            </a:r>
            <a:r>
              <a:rPr sz="1800" i="1" spc="5" dirty="0">
                <a:solidFill>
                  <a:srgbClr val="696363"/>
                </a:solidFill>
                <a:latin typeface="Times New Roman"/>
                <a:cs typeface="Times New Roman"/>
              </a:rPr>
              <a:t>t</a:t>
            </a:r>
            <a:r>
              <a:rPr sz="1800" i="1" dirty="0">
                <a:solidFill>
                  <a:srgbClr val="696363"/>
                </a:solidFill>
                <a:latin typeface="Times New Roman"/>
                <a:cs typeface="Times New Roman"/>
              </a:rPr>
              <a:t>ing</a:t>
            </a:r>
            <a:r>
              <a:rPr sz="1800" i="1" spc="-30" dirty="0">
                <a:solidFill>
                  <a:srgbClr val="696363"/>
                </a:solidFill>
                <a:latin typeface="Times New Roman"/>
                <a:cs typeface="Times New Roman"/>
              </a:rPr>
              <a:t> </a:t>
            </a:r>
            <a:r>
              <a:rPr sz="1800" i="1" dirty="0">
                <a:solidFill>
                  <a:srgbClr val="696363"/>
                </a:solidFill>
                <a:latin typeface="Times New Roman"/>
                <a:cs typeface="Times New Roman"/>
              </a:rPr>
              <a:t>two</a:t>
            </a:r>
            <a:r>
              <a:rPr sz="1800" i="1" spc="-190" dirty="0">
                <a:solidFill>
                  <a:srgbClr val="696363"/>
                </a:solidFill>
                <a:latin typeface="Times New Roman"/>
                <a:cs typeface="Times New Roman"/>
              </a:rPr>
              <a:t> </a:t>
            </a:r>
            <a:r>
              <a:rPr sz="1800" i="1" spc="-5" dirty="0">
                <a:solidFill>
                  <a:srgbClr val="696363"/>
                </a:solidFill>
                <a:latin typeface="Times New Roman"/>
                <a:cs typeface="Times New Roman"/>
              </a:rPr>
              <a:t>LANs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48764" y="6314643"/>
            <a:ext cx="54819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35" dirty="0">
                <a:latin typeface="Times New Roman"/>
                <a:cs typeface="Times New Roman"/>
              </a:rPr>
              <a:t>A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85" dirty="0">
                <a:latin typeface="Times New Roman"/>
                <a:cs typeface="Times New Roman"/>
              </a:rPr>
              <a:t>bridge</a:t>
            </a:r>
            <a:r>
              <a:rPr sz="1800" spc="-105" dirty="0">
                <a:latin typeface="Times New Roman"/>
                <a:cs typeface="Times New Roman"/>
              </a:rPr>
              <a:t> </a:t>
            </a:r>
            <a:r>
              <a:rPr sz="1800" spc="-90" dirty="0">
                <a:latin typeface="Times New Roman"/>
                <a:cs typeface="Times New Roman"/>
              </a:rPr>
              <a:t>does </a:t>
            </a:r>
            <a:r>
              <a:rPr sz="1800" spc="-45" dirty="0">
                <a:latin typeface="Times New Roman"/>
                <a:cs typeface="Times New Roman"/>
              </a:rPr>
              <a:t>not </a:t>
            </a:r>
            <a:r>
              <a:rPr sz="1800" spc="-114" dirty="0">
                <a:latin typeface="Times New Roman"/>
                <a:cs typeface="Times New Roman"/>
              </a:rPr>
              <a:t>change</a:t>
            </a:r>
            <a:r>
              <a:rPr sz="1800" spc="-85" dirty="0">
                <a:latin typeface="Times New Roman"/>
                <a:cs typeface="Times New Roman"/>
              </a:rPr>
              <a:t> </a:t>
            </a:r>
            <a:r>
              <a:rPr sz="1800" spc="-55" dirty="0">
                <a:latin typeface="Times New Roman"/>
                <a:cs typeface="Times New Roman"/>
              </a:rPr>
              <a:t>the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spc="-125" dirty="0">
                <a:latin typeface="Times New Roman"/>
                <a:cs typeface="Times New Roman"/>
              </a:rPr>
              <a:t>physical</a:t>
            </a:r>
            <a:r>
              <a:rPr sz="1800" spc="-110" dirty="0">
                <a:latin typeface="Times New Roman"/>
                <a:cs typeface="Times New Roman"/>
              </a:rPr>
              <a:t> </a:t>
            </a:r>
            <a:r>
              <a:rPr sz="1800" spc="-150" dirty="0">
                <a:latin typeface="Times New Roman"/>
                <a:cs typeface="Times New Roman"/>
              </a:rPr>
              <a:t>(MAC)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spc="-105" dirty="0">
                <a:latin typeface="Times New Roman"/>
                <a:cs typeface="Times New Roman"/>
              </a:rPr>
              <a:t>addresses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spc="-85" dirty="0">
                <a:latin typeface="Times New Roman"/>
                <a:cs typeface="Times New Roman"/>
              </a:rPr>
              <a:t>in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spc="-145" dirty="0">
                <a:latin typeface="Times New Roman"/>
                <a:cs typeface="Times New Roman"/>
              </a:rPr>
              <a:t>a</a:t>
            </a:r>
            <a:r>
              <a:rPr sz="1800" spc="310" dirty="0">
                <a:latin typeface="Times New Roman"/>
                <a:cs typeface="Times New Roman"/>
              </a:rPr>
              <a:t> </a:t>
            </a:r>
            <a:r>
              <a:rPr sz="1800" spc="-80" dirty="0">
                <a:latin typeface="Times New Roman"/>
                <a:cs typeface="Times New Roman"/>
              </a:rPr>
              <a:t>frame.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05557" y="0"/>
            <a:ext cx="3472179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225" dirty="0">
                <a:solidFill>
                  <a:srgbClr val="585858"/>
                </a:solidFill>
                <a:latin typeface="Times New Roman"/>
                <a:cs typeface="Times New Roman"/>
              </a:rPr>
              <a:t>H</a:t>
            </a:r>
            <a:r>
              <a:rPr sz="4000" spc="-290" dirty="0">
                <a:solidFill>
                  <a:srgbClr val="585858"/>
                </a:solidFill>
                <a:latin typeface="Times New Roman"/>
                <a:cs typeface="Times New Roman"/>
              </a:rPr>
              <a:t>o</a:t>
            </a:r>
            <a:r>
              <a:rPr sz="4000" spc="-225" dirty="0">
                <a:solidFill>
                  <a:srgbClr val="585858"/>
                </a:solidFill>
                <a:latin typeface="Times New Roman"/>
                <a:cs typeface="Times New Roman"/>
              </a:rPr>
              <a:t>w</a:t>
            </a:r>
            <a:r>
              <a:rPr sz="4000" spc="-105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4000" spc="-395" dirty="0">
                <a:solidFill>
                  <a:srgbClr val="585858"/>
                </a:solidFill>
                <a:latin typeface="Times New Roman"/>
                <a:cs typeface="Times New Roman"/>
              </a:rPr>
              <a:t>B</a:t>
            </a:r>
            <a:r>
              <a:rPr sz="4000" spc="-114" dirty="0">
                <a:solidFill>
                  <a:srgbClr val="585858"/>
                </a:solidFill>
                <a:latin typeface="Times New Roman"/>
                <a:cs typeface="Times New Roman"/>
              </a:rPr>
              <a:t>r</a:t>
            </a:r>
            <a:r>
              <a:rPr sz="4000" spc="-240" dirty="0">
                <a:solidFill>
                  <a:srgbClr val="585858"/>
                </a:solidFill>
                <a:latin typeface="Times New Roman"/>
                <a:cs typeface="Times New Roman"/>
              </a:rPr>
              <a:t>idge</a:t>
            </a:r>
            <a:r>
              <a:rPr sz="4000" spc="40" dirty="0">
                <a:solidFill>
                  <a:srgbClr val="585858"/>
                </a:solidFill>
                <a:latin typeface="Times New Roman"/>
                <a:cs typeface="Times New Roman"/>
              </a:rPr>
              <a:t>s</a:t>
            </a:r>
            <a:r>
              <a:rPr sz="4000" spc="-575" dirty="0">
                <a:solidFill>
                  <a:srgbClr val="585858"/>
                </a:solidFill>
                <a:latin typeface="Times New Roman"/>
                <a:cs typeface="Times New Roman"/>
              </a:rPr>
              <a:t>W</a:t>
            </a:r>
            <a:r>
              <a:rPr sz="4000" spc="-80" dirty="0">
                <a:solidFill>
                  <a:srgbClr val="585858"/>
                </a:solidFill>
                <a:latin typeface="Times New Roman"/>
                <a:cs typeface="Times New Roman"/>
              </a:rPr>
              <a:t>o</a:t>
            </a:r>
            <a:r>
              <a:rPr sz="4000" spc="-70" dirty="0">
                <a:solidFill>
                  <a:srgbClr val="585858"/>
                </a:solidFill>
                <a:latin typeface="Times New Roman"/>
                <a:cs typeface="Times New Roman"/>
              </a:rPr>
              <a:t>r</a:t>
            </a:r>
            <a:r>
              <a:rPr sz="4000" spc="-250" dirty="0">
                <a:solidFill>
                  <a:srgbClr val="585858"/>
                </a:solidFill>
                <a:latin typeface="Times New Roman"/>
                <a:cs typeface="Times New Roman"/>
              </a:rPr>
              <a:t>k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36244" y="850391"/>
            <a:ext cx="7930515" cy="772160"/>
          </a:xfrm>
          <a:custGeom>
            <a:avLst/>
            <a:gdLst/>
            <a:ahLst/>
            <a:cxnLst/>
            <a:rect l="l" t="t" r="r" b="b"/>
            <a:pathLst>
              <a:path w="7930515" h="772160">
                <a:moveTo>
                  <a:pt x="7801813" y="0"/>
                </a:moveTo>
                <a:lnTo>
                  <a:pt x="128701" y="0"/>
                </a:lnTo>
                <a:lnTo>
                  <a:pt x="78604" y="10118"/>
                </a:lnTo>
                <a:lnTo>
                  <a:pt x="37695" y="37703"/>
                </a:lnTo>
                <a:lnTo>
                  <a:pt x="10113" y="78599"/>
                </a:lnTo>
                <a:lnTo>
                  <a:pt x="0" y="128650"/>
                </a:lnTo>
                <a:lnTo>
                  <a:pt x="0" y="643509"/>
                </a:lnTo>
                <a:lnTo>
                  <a:pt x="10113" y="693614"/>
                </a:lnTo>
                <a:lnTo>
                  <a:pt x="37695" y="734504"/>
                </a:lnTo>
                <a:lnTo>
                  <a:pt x="78604" y="762059"/>
                </a:lnTo>
                <a:lnTo>
                  <a:pt x="128701" y="772160"/>
                </a:lnTo>
                <a:lnTo>
                  <a:pt x="7801813" y="772160"/>
                </a:lnTo>
                <a:lnTo>
                  <a:pt x="7851918" y="762059"/>
                </a:lnTo>
                <a:lnTo>
                  <a:pt x="7892808" y="734504"/>
                </a:lnTo>
                <a:lnTo>
                  <a:pt x="7920363" y="693614"/>
                </a:lnTo>
                <a:lnTo>
                  <a:pt x="7930464" y="643509"/>
                </a:lnTo>
                <a:lnTo>
                  <a:pt x="7930464" y="128650"/>
                </a:lnTo>
                <a:lnTo>
                  <a:pt x="7920363" y="78599"/>
                </a:lnTo>
                <a:lnTo>
                  <a:pt x="7892808" y="37703"/>
                </a:lnTo>
                <a:lnTo>
                  <a:pt x="7851918" y="10118"/>
                </a:lnTo>
                <a:lnTo>
                  <a:pt x="7801813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87120" y="688715"/>
            <a:ext cx="7303134" cy="2471420"/>
          </a:xfrm>
          <a:prstGeom prst="rect">
            <a:avLst/>
          </a:prstGeom>
        </p:spPr>
        <p:txBody>
          <a:bodyPr vert="horz" wrap="square" lIns="0" tIns="2209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40"/>
              </a:spcBef>
            </a:pPr>
            <a:r>
              <a:rPr sz="3300" spc="-320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3300" spc="-105" dirty="0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sz="3300" spc="-190" dirty="0">
                <a:solidFill>
                  <a:srgbClr val="FFFFFF"/>
                </a:solidFill>
                <a:latin typeface="Times New Roman"/>
                <a:cs typeface="Times New Roman"/>
              </a:rPr>
              <a:t>idges</a:t>
            </a:r>
            <a:r>
              <a:rPr sz="3300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300" spc="-325" dirty="0">
                <a:solidFill>
                  <a:srgbClr val="FFFFFF"/>
                </a:solidFill>
                <a:latin typeface="Times New Roman"/>
                <a:cs typeface="Times New Roman"/>
              </a:rPr>
              <a:t>w</a:t>
            </a:r>
            <a:r>
              <a:rPr sz="3300" spc="-100" dirty="0">
                <a:solidFill>
                  <a:srgbClr val="FFFFFF"/>
                </a:solidFill>
                <a:latin typeface="Times New Roman"/>
                <a:cs typeface="Times New Roman"/>
              </a:rPr>
              <a:t>or</a:t>
            </a:r>
            <a:r>
              <a:rPr sz="3300" spc="-114" dirty="0">
                <a:solidFill>
                  <a:srgbClr val="FFFFFF"/>
                </a:solidFill>
                <a:latin typeface="Times New Roman"/>
                <a:cs typeface="Times New Roman"/>
              </a:rPr>
              <a:t>k</a:t>
            </a:r>
            <a:r>
              <a:rPr sz="33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300" spc="-305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3300" spc="45" dirty="0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sz="3300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300" spc="-95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33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300" spc="-215" dirty="0">
                <a:solidFill>
                  <a:srgbClr val="FFFFFF"/>
                </a:solidFill>
                <a:latin typeface="Times New Roman"/>
                <a:cs typeface="Times New Roman"/>
              </a:rPr>
              <a:t>Media</a:t>
            </a:r>
            <a:r>
              <a:rPr sz="3300" spc="-3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300" spc="-254" dirty="0">
                <a:solidFill>
                  <a:srgbClr val="FFFFFF"/>
                </a:solidFill>
                <a:latin typeface="Times New Roman"/>
                <a:cs typeface="Times New Roman"/>
              </a:rPr>
              <a:t>Acces</a:t>
            </a:r>
            <a:r>
              <a:rPr sz="3300" spc="-200" dirty="0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sz="3300" spc="-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300" spc="-85" dirty="0">
                <a:solidFill>
                  <a:srgbClr val="FFFFFF"/>
                </a:solidFill>
                <a:latin typeface="Times New Roman"/>
                <a:cs typeface="Times New Roman"/>
              </a:rPr>
              <a:t>Cont</a:t>
            </a:r>
            <a:r>
              <a:rPr sz="3300" spc="-100" dirty="0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sz="3300" spc="-140" dirty="0">
                <a:solidFill>
                  <a:srgbClr val="FFFFFF"/>
                </a:solidFill>
                <a:latin typeface="Times New Roman"/>
                <a:cs typeface="Times New Roman"/>
              </a:rPr>
              <a:t>ol</a:t>
            </a:r>
            <a:endParaRPr sz="3300">
              <a:latin typeface="Times New Roman"/>
              <a:cs typeface="Times New Roman"/>
            </a:endParaRPr>
          </a:p>
          <a:p>
            <a:pPr marL="329565" indent="-229235">
              <a:lnSpc>
                <a:spcPct val="100000"/>
              </a:lnSpc>
              <a:spcBef>
                <a:spcPts val="1295"/>
              </a:spcBef>
              <a:buChar char="•"/>
              <a:tabLst>
                <a:tab pos="330200" algn="l"/>
                <a:tab pos="6414770" algn="l"/>
              </a:tabLst>
            </a:pPr>
            <a:r>
              <a:rPr sz="2600" spc="-120" dirty="0">
                <a:latin typeface="Times New Roman"/>
                <a:cs typeface="Times New Roman"/>
              </a:rPr>
              <a:t>Routing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table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65" dirty="0">
                <a:latin typeface="Times New Roman"/>
                <a:cs typeface="Times New Roman"/>
              </a:rPr>
              <a:t>is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95" dirty="0">
                <a:latin typeface="Times New Roman"/>
                <a:cs typeface="Times New Roman"/>
              </a:rPr>
              <a:t>built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Times New Roman"/>
                <a:cs typeface="Times New Roman"/>
              </a:rPr>
              <a:t>to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75" dirty="0">
                <a:latin typeface="Times New Roman"/>
                <a:cs typeface="Times New Roman"/>
              </a:rPr>
              <a:t>record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75" dirty="0">
                <a:latin typeface="Times New Roman"/>
                <a:cs typeface="Times New Roman"/>
              </a:rPr>
              <a:t>the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Times New Roman"/>
                <a:cs typeface="Times New Roman"/>
              </a:rPr>
              <a:t>segment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85" dirty="0">
                <a:latin typeface="Times New Roman"/>
                <a:cs typeface="Times New Roman"/>
              </a:rPr>
              <a:t>no.</a:t>
            </a:r>
            <a:r>
              <a:rPr sz="2600" spc="-160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of	</a:t>
            </a:r>
            <a:r>
              <a:rPr sz="2600" spc="-135" dirty="0">
                <a:latin typeface="Times New Roman"/>
                <a:cs typeface="Times New Roman"/>
              </a:rPr>
              <a:t>address</a:t>
            </a:r>
            <a:endParaRPr sz="2600">
              <a:latin typeface="Times New Roman"/>
              <a:cs typeface="Times New Roman"/>
            </a:endParaRPr>
          </a:p>
          <a:p>
            <a:pPr marL="329565" marR="48260" indent="-228600">
              <a:lnSpc>
                <a:spcPts val="2690"/>
              </a:lnSpc>
              <a:spcBef>
                <a:spcPts val="605"/>
              </a:spcBef>
              <a:buChar char="•"/>
              <a:tabLst>
                <a:tab pos="330200" algn="l"/>
                <a:tab pos="6465570" algn="l"/>
              </a:tabLst>
            </a:pPr>
            <a:r>
              <a:rPr sz="2600" spc="-190" dirty="0">
                <a:latin typeface="Times New Roman"/>
                <a:cs typeface="Times New Roman"/>
              </a:rPr>
              <a:t>If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00" dirty="0">
                <a:latin typeface="Times New Roman"/>
                <a:cs typeface="Times New Roman"/>
              </a:rPr>
              <a:t>des</a:t>
            </a:r>
            <a:r>
              <a:rPr sz="2600" spc="-80" dirty="0">
                <a:latin typeface="Times New Roman"/>
                <a:cs typeface="Times New Roman"/>
              </a:rPr>
              <a:t>t</a:t>
            </a:r>
            <a:r>
              <a:rPr sz="2600" spc="-140" dirty="0">
                <a:latin typeface="Times New Roman"/>
                <a:cs typeface="Times New Roman"/>
              </a:rPr>
              <a:t>in</a:t>
            </a:r>
            <a:r>
              <a:rPr sz="2600" spc="-190" dirty="0">
                <a:latin typeface="Times New Roman"/>
                <a:cs typeface="Times New Roman"/>
              </a:rPr>
              <a:t>a</a:t>
            </a:r>
            <a:r>
              <a:rPr sz="2600" spc="-75" dirty="0">
                <a:latin typeface="Times New Roman"/>
                <a:cs typeface="Times New Roman"/>
              </a:rPr>
              <a:t>tion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a</a:t>
            </a:r>
            <a:r>
              <a:rPr sz="2600" spc="-175" dirty="0">
                <a:latin typeface="Times New Roman"/>
                <a:cs typeface="Times New Roman"/>
              </a:rPr>
              <a:t>d</a:t>
            </a:r>
            <a:r>
              <a:rPr sz="2600" spc="-45" dirty="0">
                <a:latin typeface="Times New Roman"/>
                <a:cs typeface="Times New Roman"/>
              </a:rPr>
              <a:t>d</a:t>
            </a:r>
            <a:r>
              <a:rPr sz="2600" spc="-60" dirty="0">
                <a:latin typeface="Times New Roman"/>
                <a:cs typeface="Times New Roman"/>
              </a:rPr>
              <a:t>r</a:t>
            </a:r>
            <a:r>
              <a:rPr sz="2600" spc="-165" dirty="0">
                <a:latin typeface="Times New Roman"/>
                <a:cs typeface="Times New Roman"/>
              </a:rPr>
              <a:t>ess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165" dirty="0">
                <a:latin typeface="Times New Roman"/>
                <a:cs typeface="Times New Roman"/>
              </a:rPr>
              <a:t>is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in</a:t>
            </a:r>
            <a:r>
              <a:rPr sz="2600" spc="-75" dirty="0">
                <a:latin typeface="Times New Roman"/>
                <a:cs typeface="Times New Roman"/>
              </a:rPr>
              <a:t> the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90" dirty="0">
                <a:latin typeface="Times New Roman"/>
                <a:cs typeface="Times New Roman"/>
              </a:rPr>
              <a:t>s</a:t>
            </a:r>
            <a:r>
              <a:rPr sz="2600" spc="-225" dirty="0">
                <a:latin typeface="Times New Roman"/>
                <a:cs typeface="Times New Roman"/>
              </a:rPr>
              <a:t>a</a:t>
            </a:r>
            <a:r>
              <a:rPr sz="2600" spc="-165" dirty="0">
                <a:latin typeface="Times New Roman"/>
                <a:cs typeface="Times New Roman"/>
              </a:rPr>
              <a:t>m</a:t>
            </a:r>
            <a:r>
              <a:rPr sz="2600" spc="-90" dirty="0">
                <a:latin typeface="Times New Roman"/>
                <a:cs typeface="Times New Roman"/>
              </a:rPr>
              <a:t>e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160" dirty="0">
                <a:latin typeface="Times New Roman"/>
                <a:cs typeface="Times New Roman"/>
              </a:rPr>
              <a:t>se</a:t>
            </a:r>
            <a:r>
              <a:rPr sz="2600" spc="-200" dirty="0">
                <a:latin typeface="Times New Roman"/>
                <a:cs typeface="Times New Roman"/>
              </a:rPr>
              <a:t>g</a:t>
            </a:r>
            <a:r>
              <a:rPr sz="2600" spc="-130" dirty="0">
                <a:latin typeface="Times New Roman"/>
                <a:cs typeface="Times New Roman"/>
              </a:rPr>
              <a:t>me</a:t>
            </a:r>
            <a:r>
              <a:rPr sz="2600" spc="-120" dirty="0">
                <a:latin typeface="Times New Roman"/>
                <a:cs typeface="Times New Roman"/>
              </a:rPr>
              <a:t>n</a:t>
            </a:r>
            <a:r>
              <a:rPr sz="2600" spc="35" dirty="0">
                <a:latin typeface="Times New Roman"/>
                <a:cs typeface="Times New Roman"/>
              </a:rPr>
              <a:t>t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220" dirty="0">
                <a:latin typeface="Times New Roman"/>
                <a:cs typeface="Times New Roman"/>
              </a:rPr>
              <a:t>a</a:t>
            </a:r>
            <a:r>
              <a:rPr sz="2600" spc="-190" dirty="0">
                <a:latin typeface="Times New Roman"/>
                <a:cs typeface="Times New Roman"/>
              </a:rPr>
              <a:t>s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75" dirty="0">
                <a:latin typeface="Times New Roman"/>
                <a:cs typeface="Times New Roman"/>
              </a:rPr>
              <a:t>the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35" dirty="0">
                <a:latin typeface="Times New Roman"/>
                <a:cs typeface="Times New Roman"/>
              </a:rPr>
              <a:t>so</a:t>
            </a:r>
            <a:r>
              <a:rPr sz="2600" spc="-160" dirty="0">
                <a:latin typeface="Times New Roman"/>
                <a:cs typeface="Times New Roman"/>
              </a:rPr>
              <a:t>u</a:t>
            </a:r>
            <a:r>
              <a:rPr sz="2600" spc="-70" dirty="0">
                <a:latin typeface="Times New Roman"/>
                <a:cs typeface="Times New Roman"/>
              </a:rPr>
              <a:t>rce  </a:t>
            </a:r>
            <a:r>
              <a:rPr sz="2600" spc="-145" dirty="0">
                <a:latin typeface="Times New Roman"/>
                <a:cs typeface="Times New Roman"/>
              </a:rPr>
              <a:t>ad</a:t>
            </a:r>
            <a:r>
              <a:rPr sz="2600" spc="-160" dirty="0">
                <a:latin typeface="Times New Roman"/>
                <a:cs typeface="Times New Roman"/>
              </a:rPr>
              <a:t>d</a:t>
            </a:r>
            <a:r>
              <a:rPr sz="2600" spc="5" dirty="0">
                <a:latin typeface="Times New Roman"/>
                <a:cs typeface="Times New Roman"/>
              </a:rPr>
              <a:t>r</a:t>
            </a:r>
            <a:r>
              <a:rPr sz="2600" spc="-100" dirty="0">
                <a:latin typeface="Times New Roman"/>
                <a:cs typeface="Times New Roman"/>
              </a:rPr>
              <a:t>ess,</a:t>
            </a:r>
            <a:r>
              <a:rPr sz="2600" spc="-180" dirty="0">
                <a:latin typeface="Times New Roman"/>
                <a:cs typeface="Times New Roman"/>
              </a:rPr>
              <a:t> </a:t>
            </a:r>
            <a:r>
              <a:rPr sz="2600" spc="-95" dirty="0">
                <a:latin typeface="Times New Roman"/>
                <a:cs typeface="Times New Roman"/>
              </a:rPr>
              <a:t>stop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85" dirty="0">
                <a:latin typeface="Times New Roman"/>
                <a:cs typeface="Times New Roman"/>
              </a:rPr>
              <a:t>transmit</a:t>
            </a:r>
            <a:endParaRPr sz="2600">
              <a:latin typeface="Times New Roman"/>
              <a:cs typeface="Times New Roman"/>
            </a:endParaRPr>
          </a:p>
          <a:p>
            <a:pPr marL="329565" indent="-229235">
              <a:lnSpc>
                <a:spcPct val="100000"/>
              </a:lnSpc>
              <a:spcBef>
                <a:spcPts val="135"/>
              </a:spcBef>
              <a:buChar char="•"/>
              <a:tabLst>
                <a:tab pos="330200" algn="l"/>
              </a:tabLst>
            </a:pPr>
            <a:r>
              <a:rPr sz="2600" spc="-55" dirty="0">
                <a:latin typeface="Times New Roman"/>
                <a:cs typeface="Times New Roman"/>
              </a:rPr>
              <a:t>Oth</a:t>
            </a:r>
            <a:r>
              <a:rPr sz="2600" spc="-60" dirty="0">
                <a:latin typeface="Times New Roman"/>
                <a:cs typeface="Times New Roman"/>
              </a:rPr>
              <a:t>e</a:t>
            </a:r>
            <a:r>
              <a:rPr sz="2600" spc="-100" dirty="0">
                <a:latin typeface="Times New Roman"/>
                <a:cs typeface="Times New Roman"/>
              </a:rPr>
              <a:t>rw</a:t>
            </a:r>
            <a:r>
              <a:rPr sz="2600" spc="-45" dirty="0">
                <a:latin typeface="Times New Roman"/>
                <a:cs typeface="Times New Roman"/>
              </a:rPr>
              <a:t>i</a:t>
            </a:r>
            <a:r>
              <a:rPr sz="2600" spc="-140" dirty="0">
                <a:latin typeface="Times New Roman"/>
                <a:cs typeface="Times New Roman"/>
              </a:rPr>
              <a:t>s</a:t>
            </a:r>
            <a:r>
              <a:rPr sz="2600" spc="-210" dirty="0">
                <a:latin typeface="Times New Roman"/>
                <a:cs typeface="Times New Roman"/>
              </a:rPr>
              <a:t>e</a:t>
            </a:r>
            <a:r>
              <a:rPr sz="2600" spc="110" dirty="0">
                <a:latin typeface="Times New Roman"/>
                <a:cs typeface="Times New Roman"/>
              </a:rPr>
              <a:t>,</a:t>
            </a:r>
            <a:r>
              <a:rPr sz="2600" spc="-190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f</a:t>
            </a:r>
            <a:r>
              <a:rPr sz="2600" spc="-190" dirty="0">
                <a:latin typeface="Times New Roman"/>
                <a:cs typeface="Times New Roman"/>
              </a:rPr>
              <a:t>o</a:t>
            </a:r>
            <a:r>
              <a:rPr sz="2600" spc="-40" dirty="0">
                <a:latin typeface="Times New Roman"/>
                <a:cs typeface="Times New Roman"/>
              </a:rPr>
              <a:t>r</a:t>
            </a:r>
            <a:r>
              <a:rPr sz="2600" spc="-100" dirty="0">
                <a:latin typeface="Times New Roman"/>
                <a:cs typeface="Times New Roman"/>
              </a:rPr>
              <a:t>w</a:t>
            </a:r>
            <a:r>
              <a:rPr sz="2600" spc="-95" dirty="0">
                <a:latin typeface="Times New Roman"/>
                <a:cs typeface="Times New Roman"/>
              </a:rPr>
              <a:t>ar</a:t>
            </a:r>
            <a:r>
              <a:rPr sz="2600" spc="-110" dirty="0">
                <a:latin typeface="Times New Roman"/>
                <a:cs typeface="Times New Roman"/>
              </a:rPr>
              <a:t>d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Times New Roman"/>
                <a:cs typeface="Times New Roman"/>
              </a:rPr>
              <a:t>to</a:t>
            </a:r>
            <a:r>
              <a:rPr sz="2600" spc="-75" dirty="0">
                <a:latin typeface="Times New Roman"/>
                <a:cs typeface="Times New Roman"/>
              </a:rPr>
              <a:t> the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45" dirty="0">
                <a:latin typeface="Times New Roman"/>
                <a:cs typeface="Times New Roman"/>
              </a:rPr>
              <a:t>o</a:t>
            </a:r>
            <a:r>
              <a:rPr sz="2600" spc="-40" dirty="0">
                <a:latin typeface="Times New Roman"/>
                <a:cs typeface="Times New Roman"/>
              </a:rPr>
              <a:t>t</a:t>
            </a:r>
            <a:r>
              <a:rPr sz="2600" spc="-80" dirty="0">
                <a:latin typeface="Times New Roman"/>
                <a:cs typeface="Times New Roman"/>
              </a:rPr>
              <a:t>her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segment</a:t>
            </a:r>
            <a:endParaRPr sz="26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04775" y="3962400"/>
            <a:ext cx="5934448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08150" y="0"/>
            <a:ext cx="465455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235" dirty="0">
                <a:solidFill>
                  <a:srgbClr val="585858"/>
                </a:solidFill>
                <a:latin typeface="Times New Roman"/>
                <a:cs typeface="Times New Roman"/>
              </a:rPr>
              <a:t>C</a:t>
            </a:r>
            <a:r>
              <a:rPr sz="4000" spc="-275" dirty="0">
                <a:solidFill>
                  <a:srgbClr val="585858"/>
                </a:solidFill>
                <a:latin typeface="Times New Roman"/>
                <a:cs typeface="Times New Roman"/>
              </a:rPr>
              <a:t>h</a:t>
            </a:r>
            <a:r>
              <a:rPr sz="4000" spc="-345" dirty="0">
                <a:solidFill>
                  <a:srgbClr val="585858"/>
                </a:solidFill>
                <a:latin typeface="Times New Roman"/>
                <a:cs typeface="Times New Roman"/>
              </a:rPr>
              <a:t>a</a:t>
            </a:r>
            <a:r>
              <a:rPr sz="4000" spc="15" dirty="0">
                <a:solidFill>
                  <a:srgbClr val="585858"/>
                </a:solidFill>
                <a:latin typeface="Times New Roman"/>
                <a:cs typeface="Times New Roman"/>
              </a:rPr>
              <a:t>r</a:t>
            </a:r>
            <a:r>
              <a:rPr sz="4000" spc="-345" dirty="0">
                <a:solidFill>
                  <a:srgbClr val="585858"/>
                </a:solidFill>
                <a:latin typeface="Times New Roman"/>
                <a:cs typeface="Times New Roman"/>
              </a:rPr>
              <a:t>a</a:t>
            </a:r>
            <a:r>
              <a:rPr sz="4000" spc="-270" dirty="0">
                <a:solidFill>
                  <a:srgbClr val="585858"/>
                </a:solidFill>
                <a:latin typeface="Times New Roman"/>
                <a:cs typeface="Times New Roman"/>
              </a:rPr>
              <a:t>c</a:t>
            </a:r>
            <a:r>
              <a:rPr sz="4000" spc="25" dirty="0">
                <a:solidFill>
                  <a:srgbClr val="585858"/>
                </a:solidFill>
                <a:latin typeface="Times New Roman"/>
                <a:cs typeface="Times New Roman"/>
              </a:rPr>
              <a:t>t</a:t>
            </a:r>
            <a:r>
              <a:rPr sz="4000" spc="-185" dirty="0">
                <a:solidFill>
                  <a:srgbClr val="585858"/>
                </a:solidFill>
                <a:latin typeface="Times New Roman"/>
                <a:cs typeface="Times New Roman"/>
              </a:rPr>
              <a:t>e</a:t>
            </a:r>
            <a:r>
              <a:rPr sz="4000" spc="95" dirty="0">
                <a:solidFill>
                  <a:srgbClr val="585858"/>
                </a:solidFill>
                <a:latin typeface="Times New Roman"/>
                <a:cs typeface="Times New Roman"/>
              </a:rPr>
              <a:t>r</a:t>
            </a:r>
            <a:r>
              <a:rPr sz="4000" spc="-229" dirty="0">
                <a:solidFill>
                  <a:srgbClr val="585858"/>
                </a:solidFill>
                <a:latin typeface="Times New Roman"/>
                <a:cs typeface="Times New Roman"/>
              </a:rPr>
              <a:t>i</a:t>
            </a:r>
            <a:r>
              <a:rPr sz="4000" spc="-340" dirty="0">
                <a:solidFill>
                  <a:srgbClr val="585858"/>
                </a:solidFill>
                <a:latin typeface="Times New Roman"/>
                <a:cs typeface="Times New Roman"/>
              </a:rPr>
              <a:t>s</a:t>
            </a:r>
            <a:r>
              <a:rPr sz="4000" spc="25" dirty="0">
                <a:solidFill>
                  <a:srgbClr val="585858"/>
                </a:solidFill>
                <a:latin typeface="Times New Roman"/>
                <a:cs typeface="Times New Roman"/>
              </a:rPr>
              <a:t>t</a:t>
            </a:r>
            <a:r>
              <a:rPr sz="4000" spc="-229" dirty="0">
                <a:solidFill>
                  <a:srgbClr val="585858"/>
                </a:solidFill>
                <a:latin typeface="Times New Roman"/>
                <a:cs typeface="Times New Roman"/>
              </a:rPr>
              <a:t>i</a:t>
            </a:r>
            <a:r>
              <a:rPr sz="4000" spc="-270" dirty="0">
                <a:solidFill>
                  <a:srgbClr val="585858"/>
                </a:solidFill>
                <a:latin typeface="Times New Roman"/>
                <a:cs typeface="Times New Roman"/>
              </a:rPr>
              <a:t>c</a:t>
            </a:r>
            <a:r>
              <a:rPr sz="4000" spc="-310" dirty="0">
                <a:solidFill>
                  <a:srgbClr val="585858"/>
                </a:solidFill>
                <a:latin typeface="Times New Roman"/>
                <a:cs typeface="Times New Roman"/>
              </a:rPr>
              <a:t>s</a:t>
            </a:r>
            <a:r>
              <a:rPr sz="4000" spc="-70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4000" spc="-275" dirty="0">
                <a:solidFill>
                  <a:srgbClr val="585858"/>
                </a:solidFill>
                <a:latin typeface="Times New Roman"/>
                <a:cs typeface="Times New Roman"/>
              </a:rPr>
              <a:t>o</a:t>
            </a:r>
            <a:r>
              <a:rPr sz="4000" spc="-190" dirty="0">
                <a:solidFill>
                  <a:srgbClr val="585858"/>
                </a:solidFill>
                <a:latin typeface="Times New Roman"/>
                <a:cs typeface="Times New Roman"/>
              </a:rPr>
              <a:t>f</a:t>
            </a:r>
            <a:r>
              <a:rPr sz="4000" spc="-50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4000" spc="-395" dirty="0">
                <a:solidFill>
                  <a:srgbClr val="585858"/>
                </a:solidFill>
                <a:latin typeface="Times New Roman"/>
                <a:cs typeface="Times New Roman"/>
              </a:rPr>
              <a:t>B</a:t>
            </a:r>
            <a:r>
              <a:rPr sz="4000" spc="-140" dirty="0">
                <a:solidFill>
                  <a:srgbClr val="585858"/>
                </a:solidFill>
                <a:latin typeface="Times New Roman"/>
                <a:cs typeface="Times New Roman"/>
              </a:rPr>
              <a:t>r</a:t>
            </a:r>
            <a:r>
              <a:rPr sz="4000" spc="-220" dirty="0">
                <a:solidFill>
                  <a:srgbClr val="585858"/>
                </a:solidFill>
                <a:latin typeface="Times New Roman"/>
                <a:cs typeface="Times New Roman"/>
              </a:rPr>
              <a:t>i</a:t>
            </a:r>
            <a:r>
              <a:rPr sz="4000" spc="-254" dirty="0">
                <a:solidFill>
                  <a:srgbClr val="585858"/>
                </a:solidFill>
                <a:latin typeface="Times New Roman"/>
                <a:cs typeface="Times New Roman"/>
              </a:rPr>
              <a:t>d</a:t>
            </a:r>
            <a:r>
              <a:rPr sz="4000" spc="-275" dirty="0">
                <a:solidFill>
                  <a:srgbClr val="585858"/>
                </a:solidFill>
                <a:latin typeface="Times New Roman"/>
                <a:cs typeface="Times New Roman"/>
              </a:rPr>
              <a:t>g</a:t>
            </a:r>
            <a:r>
              <a:rPr sz="4000" spc="-170" dirty="0">
                <a:solidFill>
                  <a:srgbClr val="585858"/>
                </a:solidFill>
                <a:latin typeface="Times New Roman"/>
                <a:cs typeface="Times New Roman"/>
              </a:rPr>
              <a:t>e</a:t>
            </a:r>
            <a:r>
              <a:rPr sz="4000" spc="-310" dirty="0">
                <a:solidFill>
                  <a:srgbClr val="585858"/>
                </a:solidFill>
                <a:latin typeface="Times New Roman"/>
                <a:cs typeface="Times New Roman"/>
              </a:rPr>
              <a:t>s</a:t>
            </a:r>
            <a:endParaRPr sz="400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243072" y="905383"/>
            <a:ext cx="5649595" cy="1186815"/>
            <a:chOff x="3243072" y="905383"/>
            <a:chExt cx="5649595" cy="1186815"/>
          </a:xfrm>
        </p:grpSpPr>
        <p:sp>
          <p:nvSpPr>
            <p:cNvPr id="4" name="object 4"/>
            <p:cNvSpPr/>
            <p:nvPr/>
          </p:nvSpPr>
          <p:spPr>
            <a:xfrm>
              <a:off x="3249422" y="911733"/>
              <a:ext cx="5636895" cy="1174115"/>
            </a:xfrm>
            <a:custGeom>
              <a:avLst/>
              <a:gdLst/>
              <a:ahLst/>
              <a:cxnLst/>
              <a:rect l="l" t="t" r="r" b="b"/>
              <a:pathLst>
                <a:path w="5636895" h="1174114">
                  <a:moveTo>
                    <a:pt x="5441060" y="0"/>
                  </a:moveTo>
                  <a:lnTo>
                    <a:pt x="0" y="0"/>
                  </a:lnTo>
                  <a:lnTo>
                    <a:pt x="0" y="1173988"/>
                  </a:lnTo>
                  <a:lnTo>
                    <a:pt x="5441060" y="1173988"/>
                  </a:lnTo>
                  <a:lnTo>
                    <a:pt x="5485931" y="1168819"/>
                  </a:lnTo>
                  <a:lnTo>
                    <a:pt x="5527124" y="1154097"/>
                  </a:lnTo>
                  <a:lnTo>
                    <a:pt x="5563461" y="1131000"/>
                  </a:lnTo>
                  <a:lnTo>
                    <a:pt x="5593770" y="1100705"/>
                  </a:lnTo>
                  <a:lnTo>
                    <a:pt x="5616874" y="1064390"/>
                  </a:lnTo>
                  <a:lnTo>
                    <a:pt x="5631598" y="1023231"/>
                  </a:lnTo>
                  <a:lnTo>
                    <a:pt x="5636768" y="978407"/>
                  </a:lnTo>
                  <a:lnTo>
                    <a:pt x="5636768" y="195706"/>
                  </a:lnTo>
                  <a:lnTo>
                    <a:pt x="5631598" y="150836"/>
                  </a:lnTo>
                  <a:lnTo>
                    <a:pt x="5616874" y="109643"/>
                  </a:lnTo>
                  <a:lnTo>
                    <a:pt x="5593770" y="73306"/>
                  </a:lnTo>
                  <a:lnTo>
                    <a:pt x="5563461" y="42997"/>
                  </a:lnTo>
                  <a:lnTo>
                    <a:pt x="5527124" y="19893"/>
                  </a:lnTo>
                  <a:lnTo>
                    <a:pt x="5485931" y="5169"/>
                  </a:lnTo>
                  <a:lnTo>
                    <a:pt x="5441060" y="0"/>
                  </a:lnTo>
                  <a:close/>
                </a:path>
              </a:pathLst>
            </a:custGeom>
            <a:solidFill>
              <a:srgbClr val="EECFCC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249422" y="911733"/>
              <a:ext cx="5636895" cy="1174115"/>
            </a:xfrm>
            <a:custGeom>
              <a:avLst/>
              <a:gdLst/>
              <a:ahLst/>
              <a:cxnLst/>
              <a:rect l="l" t="t" r="r" b="b"/>
              <a:pathLst>
                <a:path w="5636895" h="1174114">
                  <a:moveTo>
                    <a:pt x="5636768" y="195706"/>
                  </a:moveTo>
                  <a:lnTo>
                    <a:pt x="5636768" y="978407"/>
                  </a:lnTo>
                  <a:lnTo>
                    <a:pt x="5631598" y="1023231"/>
                  </a:lnTo>
                  <a:lnTo>
                    <a:pt x="5616874" y="1064390"/>
                  </a:lnTo>
                  <a:lnTo>
                    <a:pt x="5593770" y="1100705"/>
                  </a:lnTo>
                  <a:lnTo>
                    <a:pt x="5563461" y="1131000"/>
                  </a:lnTo>
                  <a:lnTo>
                    <a:pt x="5527124" y="1154097"/>
                  </a:lnTo>
                  <a:lnTo>
                    <a:pt x="5485931" y="1168819"/>
                  </a:lnTo>
                  <a:lnTo>
                    <a:pt x="5441060" y="1173988"/>
                  </a:lnTo>
                  <a:lnTo>
                    <a:pt x="0" y="1173988"/>
                  </a:lnTo>
                  <a:lnTo>
                    <a:pt x="0" y="0"/>
                  </a:lnTo>
                  <a:lnTo>
                    <a:pt x="5441060" y="0"/>
                  </a:lnTo>
                  <a:lnTo>
                    <a:pt x="5485931" y="5169"/>
                  </a:lnTo>
                  <a:lnTo>
                    <a:pt x="5527124" y="19893"/>
                  </a:lnTo>
                  <a:lnTo>
                    <a:pt x="5563461" y="42997"/>
                  </a:lnTo>
                  <a:lnTo>
                    <a:pt x="5593770" y="73306"/>
                  </a:lnTo>
                  <a:lnTo>
                    <a:pt x="5616874" y="109643"/>
                  </a:lnTo>
                  <a:lnTo>
                    <a:pt x="5631598" y="150836"/>
                  </a:lnTo>
                  <a:lnTo>
                    <a:pt x="5636768" y="195706"/>
                  </a:lnTo>
                  <a:close/>
                </a:path>
              </a:pathLst>
            </a:custGeom>
            <a:ln w="12700">
              <a:solidFill>
                <a:srgbClr val="EECF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305936" y="933653"/>
            <a:ext cx="5238115" cy="1047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785" indent="-172720">
              <a:lnSpc>
                <a:spcPts val="2010"/>
              </a:lnSpc>
              <a:spcBef>
                <a:spcPts val="100"/>
              </a:spcBef>
              <a:buChar char="•"/>
              <a:tabLst>
                <a:tab pos="185420" algn="l"/>
              </a:tabLst>
            </a:pPr>
            <a:r>
              <a:rPr sz="1800" spc="-90" dirty="0">
                <a:latin typeface="Times New Roman"/>
                <a:cs typeface="Times New Roman"/>
              </a:rPr>
              <a:t>Contains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75" dirty="0">
                <a:latin typeface="Times New Roman"/>
                <a:cs typeface="Times New Roman"/>
              </a:rPr>
              <a:t>one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Times New Roman"/>
                <a:cs typeface="Times New Roman"/>
              </a:rPr>
              <a:t>entry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45" dirty="0">
                <a:latin typeface="Times New Roman"/>
                <a:cs typeface="Times New Roman"/>
              </a:rPr>
              <a:t>per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70" dirty="0">
                <a:latin typeface="Times New Roman"/>
                <a:cs typeface="Times New Roman"/>
              </a:rPr>
              <a:t>station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spc="-105" dirty="0">
                <a:latin typeface="Times New Roman"/>
                <a:cs typeface="Times New Roman"/>
              </a:rPr>
              <a:t>of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65" dirty="0">
                <a:latin typeface="Times New Roman"/>
                <a:cs typeface="Times New Roman"/>
              </a:rPr>
              <a:t>network </a:t>
            </a:r>
            <a:r>
              <a:rPr sz="1800" spc="-25" dirty="0">
                <a:latin typeface="Times New Roman"/>
                <a:cs typeface="Times New Roman"/>
              </a:rPr>
              <a:t>to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100" dirty="0">
                <a:latin typeface="Times New Roman"/>
                <a:cs typeface="Times New Roman"/>
              </a:rPr>
              <a:t>which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70" dirty="0">
                <a:latin typeface="Times New Roman"/>
                <a:cs typeface="Times New Roman"/>
              </a:rPr>
              <a:t>bridge</a:t>
            </a:r>
            <a:r>
              <a:rPr sz="1800" spc="355" dirty="0">
                <a:latin typeface="Times New Roman"/>
                <a:cs typeface="Times New Roman"/>
              </a:rPr>
              <a:t> </a:t>
            </a:r>
            <a:r>
              <a:rPr sz="1800" spc="-114" dirty="0">
                <a:latin typeface="Times New Roman"/>
                <a:cs typeface="Times New Roman"/>
              </a:rPr>
              <a:t>is</a:t>
            </a:r>
            <a:endParaRPr sz="1800">
              <a:latin typeface="Times New Roman"/>
              <a:cs typeface="Times New Roman"/>
            </a:endParaRPr>
          </a:p>
          <a:p>
            <a:pPr marL="184785">
              <a:lnSpc>
                <a:spcPts val="2010"/>
              </a:lnSpc>
            </a:pPr>
            <a:r>
              <a:rPr sz="1800" spc="-55" dirty="0">
                <a:latin typeface="Times New Roman"/>
                <a:cs typeface="Times New Roman"/>
              </a:rPr>
              <a:t>connected.</a:t>
            </a:r>
            <a:endParaRPr sz="1800">
              <a:latin typeface="Times New Roman"/>
              <a:cs typeface="Times New Roman"/>
            </a:endParaRPr>
          </a:p>
          <a:p>
            <a:pPr marL="184785" marR="134620" indent="-172720">
              <a:lnSpc>
                <a:spcPts val="1860"/>
              </a:lnSpc>
              <a:spcBef>
                <a:spcPts val="315"/>
              </a:spcBef>
              <a:buChar char="•"/>
              <a:tabLst>
                <a:tab pos="185420" algn="l"/>
              </a:tabLst>
            </a:pPr>
            <a:r>
              <a:rPr sz="1800" spc="-135" dirty="0">
                <a:latin typeface="Times New Roman"/>
                <a:cs typeface="Times New Roman"/>
              </a:rPr>
              <a:t>Is </a:t>
            </a:r>
            <a:r>
              <a:rPr sz="1800" spc="-90" dirty="0">
                <a:latin typeface="Times New Roman"/>
                <a:cs typeface="Times New Roman"/>
              </a:rPr>
              <a:t>used </a:t>
            </a:r>
            <a:r>
              <a:rPr sz="1800" spc="-25" dirty="0">
                <a:latin typeface="Times New Roman"/>
                <a:cs typeface="Times New Roman"/>
              </a:rPr>
              <a:t>to </a:t>
            </a:r>
            <a:r>
              <a:rPr sz="1800" spc="-55" dirty="0">
                <a:latin typeface="Times New Roman"/>
                <a:cs typeface="Times New Roman"/>
              </a:rPr>
              <a:t>determine the </a:t>
            </a:r>
            <a:r>
              <a:rPr sz="1800" spc="-65" dirty="0">
                <a:latin typeface="Times New Roman"/>
                <a:cs typeface="Times New Roman"/>
              </a:rPr>
              <a:t>network </a:t>
            </a:r>
            <a:r>
              <a:rPr sz="1800" spc="-105" dirty="0">
                <a:latin typeface="Times New Roman"/>
                <a:cs typeface="Times New Roman"/>
              </a:rPr>
              <a:t>of </a:t>
            </a:r>
            <a:r>
              <a:rPr sz="1800" spc="-75" dirty="0">
                <a:latin typeface="Times New Roman"/>
                <a:cs typeface="Times New Roman"/>
              </a:rPr>
              <a:t>destination </a:t>
            </a:r>
            <a:r>
              <a:rPr sz="1800" spc="-70" dirty="0">
                <a:latin typeface="Times New Roman"/>
                <a:cs typeface="Times New Roman"/>
              </a:rPr>
              <a:t>station </a:t>
            </a:r>
            <a:r>
              <a:rPr sz="1800" spc="-105" dirty="0">
                <a:latin typeface="Times New Roman"/>
                <a:cs typeface="Times New Roman"/>
              </a:rPr>
              <a:t>of</a:t>
            </a:r>
            <a:r>
              <a:rPr sz="1800" spc="-100" dirty="0">
                <a:latin typeface="Times New Roman"/>
                <a:cs typeface="Times New Roman"/>
              </a:rPr>
              <a:t> </a:t>
            </a:r>
            <a:r>
              <a:rPr sz="1800" spc="-145" dirty="0">
                <a:latin typeface="Times New Roman"/>
                <a:cs typeface="Times New Roman"/>
              </a:rPr>
              <a:t>a </a:t>
            </a:r>
            <a:r>
              <a:rPr sz="1800" spc="-434" dirty="0">
                <a:latin typeface="Times New Roman"/>
                <a:cs typeface="Times New Roman"/>
              </a:rPr>
              <a:t> </a:t>
            </a:r>
            <a:r>
              <a:rPr sz="1800" spc="10" dirty="0">
                <a:latin typeface="Times New Roman"/>
                <a:cs typeface="Times New Roman"/>
              </a:rPr>
              <a:t>r</a:t>
            </a:r>
            <a:r>
              <a:rPr sz="1800" spc="-85" dirty="0">
                <a:latin typeface="Times New Roman"/>
                <a:cs typeface="Times New Roman"/>
              </a:rPr>
              <a:t>ecei</a:t>
            </a:r>
            <a:r>
              <a:rPr sz="1800" spc="-190" dirty="0">
                <a:latin typeface="Times New Roman"/>
                <a:cs typeface="Times New Roman"/>
              </a:rPr>
              <a:t>v</a:t>
            </a:r>
            <a:r>
              <a:rPr sz="1800" spc="-75" dirty="0">
                <a:latin typeface="Times New Roman"/>
                <a:cs typeface="Times New Roman"/>
              </a:rPr>
              <a:t>ed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spc="-114" dirty="0">
                <a:latin typeface="Times New Roman"/>
                <a:cs typeface="Times New Roman"/>
              </a:rPr>
              <a:t>p</a:t>
            </a:r>
            <a:r>
              <a:rPr sz="1800" spc="-100" dirty="0">
                <a:latin typeface="Times New Roman"/>
                <a:cs typeface="Times New Roman"/>
              </a:rPr>
              <a:t>a</a:t>
            </a:r>
            <a:r>
              <a:rPr sz="1800" spc="-75" dirty="0">
                <a:latin typeface="Times New Roman"/>
                <a:cs typeface="Times New Roman"/>
              </a:rPr>
              <a:t>c</a:t>
            </a:r>
            <a:r>
              <a:rPr sz="1800" spc="-135" dirty="0">
                <a:latin typeface="Times New Roman"/>
                <a:cs typeface="Times New Roman"/>
              </a:rPr>
              <a:t>k</a:t>
            </a:r>
            <a:r>
              <a:rPr sz="1800" spc="10" dirty="0">
                <a:latin typeface="Times New Roman"/>
                <a:cs typeface="Times New Roman"/>
              </a:rPr>
              <a:t>et.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9811" y="731519"/>
            <a:ext cx="3289300" cy="1661160"/>
            <a:chOff x="19811" y="731519"/>
            <a:chExt cx="3289300" cy="166116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811" y="731519"/>
              <a:ext cx="3288791" cy="158496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4152" y="772667"/>
              <a:ext cx="2478024" cy="1620012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78738" y="765047"/>
              <a:ext cx="3171190" cy="1467485"/>
            </a:xfrm>
            <a:custGeom>
              <a:avLst/>
              <a:gdLst/>
              <a:ahLst/>
              <a:cxnLst/>
              <a:rect l="l" t="t" r="r" b="b"/>
              <a:pathLst>
                <a:path w="3171190" h="1467485">
                  <a:moveTo>
                    <a:pt x="2926081" y="0"/>
                  </a:moveTo>
                  <a:lnTo>
                    <a:pt x="244577" y="0"/>
                  </a:lnTo>
                  <a:lnTo>
                    <a:pt x="195286" y="4967"/>
                  </a:lnTo>
                  <a:lnTo>
                    <a:pt x="149376" y="19216"/>
                  </a:lnTo>
                  <a:lnTo>
                    <a:pt x="107831" y="41764"/>
                  </a:lnTo>
                  <a:lnTo>
                    <a:pt x="71634" y="71628"/>
                  </a:lnTo>
                  <a:lnTo>
                    <a:pt x="41769" y="107825"/>
                  </a:lnTo>
                  <a:lnTo>
                    <a:pt x="19220" y="149375"/>
                  </a:lnTo>
                  <a:lnTo>
                    <a:pt x="4968" y="195295"/>
                  </a:lnTo>
                  <a:lnTo>
                    <a:pt x="0" y="244601"/>
                  </a:lnTo>
                  <a:lnTo>
                    <a:pt x="0" y="1222882"/>
                  </a:lnTo>
                  <a:lnTo>
                    <a:pt x="4968" y="1272153"/>
                  </a:lnTo>
                  <a:lnTo>
                    <a:pt x="19220" y="1318055"/>
                  </a:lnTo>
                  <a:lnTo>
                    <a:pt x="41769" y="1359603"/>
                  </a:lnTo>
                  <a:lnTo>
                    <a:pt x="71634" y="1395809"/>
                  </a:lnTo>
                  <a:lnTo>
                    <a:pt x="107831" y="1425687"/>
                  </a:lnTo>
                  <a:lnTo>
                    <a:pt x="149376" y="1448250"/>
                  </a:lnTo>
                  <a:lnTo>
                    <a:pt x="195286" y="1462511"/>
                  </a:lnTo>
                  <a:lnTo>
                    <a:pt x="244577" y="1467485"/>
                  </a:lnTo>
                  <a:lnTo>
                    <a:pt x="2926081" y="1467485"/>
                  </a:lnTo>
                  <a:lnTo>
                    <a:pt x="2975388" y="1462511"/>
                  </a:lnTo>
                  <a:lnTo>
                    <a:pt x="3021307" y="1448250"/>
                  </a:lnTo>
                  <a:lnTo>
                    <a:pt x="3062857" y="1425687"/>
                  </a:lnTo>
                  <a:lnTo>
                    <a:pt x="3099055" y="1395809"/>
                  </a:lnTo>
                  <a:lnTo>
                    <a:pt x="3128919" y="1359603"/>
                  </a:lnTo>
                  <a:lnTo>
                    <a:pt x="3151466" y="1318055"/>
                  </a:lnTo>
                  <a:lnTo>
                    <a:pt x="3165715" y="1272153"/>
                  </a:lnTo>
                  <a:lnTo>
                    <a:pt x="3170683" y="1222882"/>
                  </a:lnTo>
                  <a:lnTo>
                    <a:pt x="3170683" y="244601"/>
                  </a:lnTo>
                  <a:lnTo>
                    <a:pt x="3165715" y="195295"/>
                  </a:lnTo>
                  <a:lnTo>
                    <a:pt x="3151466" y="149375"/>
                  </a:lnTo>
                  <a:lnTo>
                    <a:pt x="3128919" y="107825"/>
                  </a:lnTo>
                  <a:lnTo>
                    <a:pt x="3099055" y="71627"/>
                  </a:lnTo>
                  <a:lnTo>
                    <a:pt x="3062857" y="41764"/>
                  </a:lnTo>
                  <a:lnTo>
                    <a:pt x="3021307" y="19216"/>
                  </a:lnTo>
                  <a:lnTo>
                    <a:pt x="2975388" y="4967"/>
                  </a:lnTo>
                  <a:lnTo>
                    <a:pt x="2926081" y="0"/>
                  </a:lnTo>
                  <a:close/>
                </a:path>
              </a:pathLst>
            </a:custGeom>
            <a:solidFill>
              <a:srgbClr val="D247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8738" y="765047"/>
              <a:ext cx="3171190" cy="1467485"/>
            </a:xfrm>
            <a:custGeom>
              <a:avLst/>
              <a:gdLst/>
              <a:ahLst/>
              <a:cxnLst/>
              <a:rect l="l" t="t" r="r" b="b"/>
              <a:pathLst>
                <a:path w="3171190" h="1467485">
                  <a:moveTo>
                    <a:pt x="0" y="244601"/>
                  </a:moveTo>
                  <a:lnTo>
                    <a:pt x="4968" y="195295"/>
                  </a:lnTo>
                  <a:lnTo>
                    <a:pt x="19220" y="149375"/>
                  </a:lnTo>
                  <a:lnTo>
                    <a:pt x="41769" y="107825"/>
                  </a:lnTo>
                  <a:lnTo>
                    <a:pt x="71634" y="71628"/>
                  </a:lnTo>
                  <a:lnTo>
                    <a:pt x="107831" y="41764"/>
                  </a:lnTo>
                  <a:lnTo>
                    <a:pt x="149376" y="19216"/>
                  </a:lnTo>
                  <a:lnTo>
                    <a:pt x="195286" y="4967"/>
                  </a:lnTo>
                  <a:lnTo>
                    <a:pt x="244577" y="0"/>
                  </a:lnTo>
                  <a:lnTo>
                    <a:pt x="2926081" y="0"/>
                  </a:lnTo>
                  <a:lnTo>
                    <a:pt x="2975388" y="4967"/>
                  </a:lnTo>
                  <a:lnTo>
                    <a:pt x="3021307" y="19216"/>
                  </a:lnTo>
                  <a:lnTo>
                    <a:pt x="3062857" y="41764"/>
                  </a:lnTo>
                  <a:lnTo>
                    <a:pt x="3099055" y="71627"/>
                  </a:lnTo>
                  <a:lnTo>
                    <a:pt x="3128919" y="107825"/>
                  </a:lnTo>
                  <a:lnTo>
                    <a:pt x="3151466" y="149375"/>
                  </a:lnTo>
                  <a:lnTo>
                    <a:pt x="3165715" y="195295"/>
                  </a:lnTo>
                  <a:lnTo>
                    <a:pt x="3170683" y="244601"/>
                  </a:lnTo>
                  <a:lnTo>
                    <a:pt x="3170683" y="1222882"/>
                  </a:lnTo>
                  <a:lnTo>
                    <a:pt x="3165715" y="1272153"/>
                  </a:lnTo>
                  <a:lnTo>
                    <a:pt x="3151466" y="1318055"/>
                  </a:lnTo>
                  <a:lnTo>
                    <a:pt x="3128919" y="1359603"/>
                  </a:lnTo>
                  <a:lnTo>
                    <a:pt x="3099055" y="1395809"/>
                  </a:lnTo>
                  <a:lnTo>
                    <a:pt x="3062857" y="1425687"/>
                  </a:lnTo>
                  <a:lnTo>
                    <a:pt x="3021307" y="1448250"/>
                  </a:lnTo>
                  <a:lnTo>
                    <a:pt x="2975388" y="1462511"/>
                  </a:lnTo>
                  <a:lnTo>
                    <a:pt x="2926081" y="1467485"/>
                  </a:lnTo>
                  <a:lnTo>
                    <a:pt x="244577" y="1467485"/>
                  </a:lnTo>
                  <a:lnTo>
                    <a:pt x="195286" y="1462511"/>
                  </a:lnTo>
                  <a:lnTo>
                    <a:pt x="149376" y="1448250"/>
                  </a:lnTo>
                  <a:lnTo>
                    <a:pt x="107831" y="1425687"/>
                  </a:lnTo>
                  <a:lnTo>
                    <a:pt x="71634" y="1395809"/>
                  </a:lnTo>
                  <a:lnTo>
                    <a:pt x="41769" y="1359603"/>
                  </a:lnTo>
                  <a:lnTo>
                    <a:pt x="19220" y="1318055"/>
                  </a:lnTo>
                  <a:lnTo>
                    <a:pt x="4968" y="1272153"/>
                  </a:lnTo>
                  <a:lnTo>
                    <a:pt x="0" y="1222882"/>
                  </a:lnTo>
                  <a:lnTo>
                    <a:pt x="0" y="244601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771550" y="828293"/>
            <a:ext cx="1783714" cy="1157605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231775" marR="5080" indent="-219710">
              <a:lnSpc>
                <a:spcPts val="4120"/>
              </a:lnSpc>
              <a:spcBef>
                <a:spcPts val="800"/>
              </a:spcBef>
            </a:pPr>
            <a:r>
              <a:rPr sz="4000" b="1" spc="-30" dirty="0">
                <a:solidFill>
                  <a:srgbClr val="FFFFFF"/>
                </a:solidFill>
                <a:latin typeface="Times New Roman"/>
                <a:cs typeface="Times New Roman"/>
              </a:rPr>
              <a:t>Ro</a:t>
            </a:r>
            <a:r>
              <a:rPr sz="4000" b="1" spc="-40" dirty="0">
                <a:solidFill>
                  <a:srgbClr val="FFFFFF"/>
                </a:solidFill>
                <a:latin typeface="Times New Roman"/>
                <a:cs typeface="Times New Roman"/>
              </a:rPr>
              <a:t>u</a:t>
            </a:r>
            <a:r>
              <a:rPr sz="4000" b="1" spc="25" dirty="0">
                <a:solidFill>
                  <a:srgbClr val="FFFFFF"/>
                </a:solidFill>
                <a:latin typeface="Times New Roman"/>
                <a:cs typeface="Times New Roman"/>
              </a:rPr>
              <a:t>ting  </a:t>
            </a:r>
            <a:r>
              <a:rPr sz="4000" b="1" spc="-160" dirty="0">
                <a:solidFill>
                  <a:srgbClr val="FFFFFF"/>
                </a:solidFill>
                <a:latin typeface="Times New Roman"/>
                <a:cs typeface="Times New Roman"/>
              </a:rPr>
              <a:t>Tables</a:t>
            </a:r>
            <a:endParaRPr sz="4000">
              <a:latin typeface="Times New Roman"/>
              <a:cs typeface="Times New Roman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243072" y="2446273"/>
            <a:ext cx="5649595" cy="1186815"/>
            <a:chOff x="3243072" y="2446273"/>
            <a:chExt cx="5649595" cy="1186815"/>
          </a:xfrm>
        </p:grpSpPr>
        <p:sp>
          <p:nvSpPr>
            <p:cNvPr id="14" name="object 14"/>
            <p:cNvSpPr/>
            <p:nvPr/>
          </p:nvSpPr>
          <p:spPr>
            <a:xfrm>
              <a:off x="3249422" y="2452623"/>
              <a:ext cx="5636895" cy="1174115"/>
            </a:xfrm>
            <a:custGeom>
              <a:avLst/>
              <a:gdLst/>
              <a:ahLst/>
              <a:cxnLst/>
              <a:rect l="l" t="t" r="r" b="b"/>
              <a:pathLst>
                <a:path w="5636895" h="1174114">
                  <a:moveTo>
                    <a:pt x="5441060" y="0"/>
                  </a:moveTo>
                  <a:lnTo>
                    <a:pt x="0" y="0"/>
                  </a:lnTo>
                  <a:lnTo>
                    <a:pt x="0" y="1173988"/>
                  </a:lnTo>
                  <a:lnTo>
                    <a:pt x="5441060" y="1173988"/>
                  </a:lnTo>
                  <a:lnTo>
                    <a:pt x="5485931" y="1168818"/>
                  </a:lnTo>
                  <a:lnTo>
                    <a:pt x="5527124" y="1154094"/>
                  </a:lnTo>
                  <a:lnTo>
                    <a:pt x="5563461" y="1130990"/>
                  </a:lnTo>
                  <a:lnTo>
                    <a:pt x="5593770" y="1100681"/>
                  </a:lnTo>
                  <a:lnTo>
                    <a:pt x="5616874" y="1064344"/>
                  </a:lnTo>
                  <a:lnTo>
                    <a:pt x="5631598" y="1023151"/>
                  </a:lnTo>
                  <a:lnTo>
                    <a:pt x="5636768" y="978280"/>
                  </a:lnTo>
                  <a:lnTo>
                    <a:pt x="5636768" y="195706"/>
                  </a:lnTo>
                  <a:lnTo>
                    <a:pt x="5631598" y="150836"/>
                  </a:lnTo>
                  <a:lnTo>
                    <a:pt x="5616874" y="109643"/>
                  </a:lnTo>
                  <a:lnTo>
                    <a:pt x="5593770" y="73306"/>
                  </a:lnTo>
                  <a:lnTo>
                    <a:pt x="5563461" y="42997"/>
                  </a:lnTo>
                  <a:lnTo>
                    <a:pt x="5527124" y="19893"/>
                  </a:lnTo>
                  <a:lnTo>
                    <a:pt x="5485931" y="5169"/>
                  </a:lnTo>
                  <a:lnTo>
                    <a:pt x="5441060" y="0"/>
                  </a:lnTo>
                  <a:close/>
                </a:path>
              </a:pathLst>
            </a:custGeom>
            <a:solidFill>
              <a:srgbClr val="EECFCC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249422" y="2452623"/>
              <a:ext cx="5636895" cy="1174115"/>
            </a:xfrm>
            <a:custGeom>
              <a:avLst/>
              <a:gdLst/>
              <a:ahLst/>
              <a:cxnLst/>
              <a:rect l="l" t="t" r="r" b="b"/>
              <a:pathLst>
                <a:path w="5636895" h="1174114">
                  <a:moveTo>
                    <a:pt x="5636768" y="195706"/>
                  </a:moveTo>
                  <a:lnTo>
                    <a:pt x="5636768" y="978280"/>
                  </a:lnTo>
                  <a:lnTo>
                    <a:pt x="5631598" y="1023151"/>
                  </a:lnTo>
                  <a:lnTo>
                    <a:pt x="5616874" y="1064344"/>
                  </a:lnTo>
                  <a:lnTo>
                    <a:pt x="5593770" y="1100681"/>
                  </a:lnTo>
                  <a:lnTo>
                    <a:pt x="5563461" y="1130990"/>
                  </a:lnTo>
                  <a:lnTo>
                    <a:pt x="5527124" y="1154094"/>
                  </a:lnTo>
                  <a:lnTo>
                    <a:pt x="5485931" y="1168818"/>
                  </a:lnTo>
                  <a:lnTo>
                    <a:pt x="5441060" y="1173988"/>
                  </a:lnTo>
                  <a:lnTo>
                    <a:pt x="0" y="1173988"/>
                  </a:lnTo>
                  <a:lnTo>
                    <a:pt x="0" y="0"/>
                  </a:lnTo>
                  <a:lnTo>
                    <a:pt x="5441060" y="0"/>
                  </a:lnTo>
                  <a:lnTo>
                    <a:pt x="5485931" y="5169"/>
                  </a:lnTo>
                  <a:lnTo>
                    <a:pt x="5527124" y="19893"/>
                  </a:lnTo>
                  <a:lnTo>
                    <a:pt x="5563461" y="42997"/>
                  </a:lnTo>
                  <a:lnTo>
                    <a:pt x="5593770" y="73306"/>
                  </a:lnTo>
                  <a:lnTo>
                    <a:pt x="5616874" y="109643"/>
                  </a:lnTo>
                  <a:lnTo>
                    <a:pt x="5631598" y="150836"/>
                  </a:lnTo>
                  <a:lnTo>
                    <a:pt x="5636768" y="195706"/>
                  </a:lnTo>
                  <a:close/>
                </a:path>
              </a:pathLst>
            </a:custGeom>
            <a:ln w="12700">
              <a:solidFill>
                <a:srgbClr val="EECF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3305936" y="2475357"/>
            <a:ext cx="5126990" cy="1046480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84785" marR="5080" indent="-172720">
              <a:lnSpc>
                <a:spcPts val="1860"/>
              </a:lnSpc>
              <a:spcBef>
                <a:spcPts val="409"/>
              </a:spcBef>
              <a:buChar char="•"/>
              <a:tabLst>
                <a:tab pos="185420" algn="l"/>
              </a:tabLst>
            </a:pPr>
            <a:r>
              <a:rPr sz="1800" spc="-135" dirty="0">
                <a:latin typeface="Times New Roman"/>
                <a:cs typeface="Times New Roman"/>
              </a:rPr>
              <a:t>Is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90" dirty="0">
                <a:latin typeface="Times New Roman"/>
                <a:cs typeface="Times New Roman"/>
              </a:rPr>
              <a:t>used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145" dirty="0">
                <a:latin typeface="Times New Roman"/>
                <a:cs typeface="Times New Roman"/>
              </a:rPr>
              <a:t>by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75" dirty="0">
                <a:latin typeface="Times New Roman"/>
                <a:cs typeface="Times New Roman"/>
              </a:rPr>
              <a:t>bridge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to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105" dirty="0">
                <a:latin typeface="Times New Roman"/>
                <a:cs typeface="Times New Roman"/>
              </a:rPr>
              <a:t>allow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105" dirty="0">
                <a:latin typeface="Times New Roman"/>
                <a:cs typeface="Times New Roman"/>
              </a:rPr>
              <a:t>only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75" dirty="0">
                <a:latin typeface="Times New Roman"/>
                <a:cs typeface="Times New Roman"/>
              </a:rPr>
              <a:t>those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85" dirty="0">
                <a:latin typeface="Times New Roman"/>
                <a:cs typeface="Times New Roman"/>
              </a:rPr>
              <a:t>packets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spc="-75" dirty="0">
                <a:latin typeface="Times New Roman"/>
                <a:cs typeface="Times New Roman"/>
              </a:rPr>
              <a:t>destined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to</a:t>
            </a:r>
            <a:r>
              <a:rPr sz="1800" spc="-55" dirty="0">
                <a:latin typeface="Times New Roman"/>
                <a:cs typeface="Times New Roman"/>
              </a:rPr>
              <a:t> the </a:t>
            </a:r>
            <a:r>
              <a:rPr sz="1800" spc="-434" dirty="0">
                <a:latin typeface="Times New Roman"/>
                <a:cs typeface="Times New Roman"/>
              </a:rPr>
              <a:t> </a:t>
            </a:r>
            <a:r>
              <a:rPr sz="1800" spc="10" dirty="0">
                <a:latin typeface="Times New Roman"/>
                <a:cs typeface="Times New Roman"/>
              </a:rPr>
              <a:t>r</a:t>
            </a:r>
            <a:r>
              <a:rPr sz="1800" spc="-90" dirty="0">
                <a:latin typeface="Times New Roman"/>
                <a:cs typeface="Times New Roman"/>
              </a:rPr>
              <a:t>em</a:t>
            </a:r>
            <a:r>
              <a:rPr sz="1800" spc="-70" dirty="0">
                <a:latin typeface="Times New Roman"/>
                <a:cs typeface="Times New Roman"/>
              </a:rPr>
              <a:t>o</a:t>
            </a:r>
            <a:r>
              <a:rPr sz="1800" spc="-25" dirty="0">
                <a:latin typeface="Times New Roman"/>
                <a:cs typeface="Times New Roman"/>
              </a:rPr>
              <a:t>te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Times New Roman"/>
                <a:cs typeface="Times New Roman"/>
              </a:rPr>
              <a:t>ne</a:t>
            </a:r>
            <a:r>
              <a:rPr sz="1800" spc="-25" dirty="0">
                <a:latin typeface="Times New Roman"/>
                <a:cs typeface="Times New Roman"/>
              </a:rPr>
              <a:t>t</a:t>
            </a:r>
            <a:r>
              <a:rPr sz="1800" spc="-165" dirty="0">
                <a:latin typeface="Times New Roman"/>
                <a:cs typeface="Times New Roman"/>
              </a:rPr>
              <a:t>w</a:t>
            </a:r>
            <a:r>
              <a:rPr sz="1800" spc="-35" dirty="0">
                <a:latin typeface="Times New Roman"/>
                <a:cs typeface="Times New Roman"/>
              </a:rPr>
              <a:t>o</a:t>
            </a:r>
            <a:r>
              <a:rPr sz="1800" spc="-20" dirty="0">
                <a:latin typeface="Times New Roman"/>
                <a:cs typeface="Times New Roman"/>
              </a:rPr>
              <a:t>rk.</a:t>
            </a:r>
            <a:endParaRPr sz="1800">
              <a:latin typeface="Times New Roman"/>
              <a:cs typeface="Times New Roman"/>
            </a:endParaRPr>
          </a:p>
          <a:p>
            <a:pPr marL="184785" marR="335915" indent="-172720">
              <a:lnSpc>
                <a:spcPts val="1860"/>
              </a:lnSpc>
              <a:spcBef>
                <a:spcPts val="300"/>
              </a:spcBef>
              <a:buChar char="•"/>
              <a:tabLst>
                <a:tab pos="185420" algn="l"/>
              </a:tabLst>
            </a:pPr>
            <a:r>
              <a:rPr sz="1800" spc="-100" dirty="0">
                <a:latin typeface="Times New Roman"/>
                <a:cs typeface="Times New Roman"/>
              </a:rPr>
              <a:t>Packets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70" dirty="0">
                <a:latin typeface="Times New Roman"/>
                <a:cs typeface="Times New Roman"/>
              </a:rPr>
              <a:t>are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spc="-60" dirty="0">
                <a:latin typeface="Times New Roman"/>
                <a:cs typeface="Times New Roman"/>
              </a:rPr>
              <a:t>filtered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75" dirty="0">
                <a:latin typeface="Times New Roman"/>
                <a:cs typeface="Times New Roman"/>
              </a:rPr>
              <a:t>with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60" dirty="0">
                <a:latin typeface="Times New Roman"/>
                <a:cs typeface="Times New Roman"/>
              </a:rPr>
              <a:t>respect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to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45" dirty="0">
                <a:latin typeface="Times New Roman"/>
                <a:cs typeface="Times New Roman"/>
              </a:rPr>
              <a:t>their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75" dirty="0">
                <a:latin typeface="Times New Roman"/>
                <a:cs typeface="Times New Roman"/>
              </a:rPr>
              <a:t>destination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spc="-100" dirty="0">
                <a:latin typeface="Times New Roman"/>
                <a:cs typeface="Times New Roman"/>
              </a:rPr>
              <a:t>and </a:t>
            </a:r>
            <a:r>
              <a:rPr sz="1800" spc="-434" dirty="0">
                <a:latin typeface="Times New Roman"/>
                <a:cs typeface="Times New Roman"/>
              </a:rPr>
              <a:t> </a:t>
            </a:r>
            <a:r>
              <a:rPr sz="1800" spc="-125" dirty="0">
                <a:latin typeface="Times New Roman"/>
                <a:cs typeface="Times New Roman"/>
              </a:rPr>
              <a:t>m</a:t>
            </a:r>
            <a:r>
              <a:rPr sz="1800" spc="-40" dirty="0">
                <a:latin typeface="Times New Roman"/>
                <a:cs typeface="Times New Roman"/>
              </a:rPr>
              <a:t>ult</a:t>
            </a:r>
            <a:r>
              <a:rPr sz="1800" spc="-90" dirty="0">
                <a:latin typeface="Times New Roman"/>
                <a:cs typeface="Times New Roman"/>
              </a:rPr>
              <a:t>icast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spc="-110" dirty="0">
                <a:latin typeface="Times New Roman"/>
                <a:cs typeface="Times New Roman"/>
              </a:rPr>
              <a:t>ad</a:t>
            </a:r>
            <a:r>
              <a:rPr sz="1800" spc="-90" dirty="0">
                <a:latin typeface="Times New Roman"/>
                <a:cs typeface="Times New Roman"/>
              </a:rPr>
              <a:t>dresse</a:t>
            </a:r>
            <a:r>
              <a:rPr sz="1800" spc="-125" dirty="0">
                <a:latin typeface="Times New Roman"/>
                <a:cs typeface="Times New Roman"/>
              </a:rPr>
              <a:t>s</a:t>
            </a:r>
            <a:r>
              <a:rPr sz="1800" spc="75" dirty="0">
                <a:latin typeface="Times New Roman"/>
                <a:cs typeface="Times New Roman"/>
              </a:rPr>
              <a:t>.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9811" y="2272283"/>
            <a:ext cx="3289300" cy="1584960"/>
            <a:chOff x="19811" y="2272283"/>
            <a:chExt cx="3289300" cy="1584960"/>
          </a:xfrm>
        </p:grpSpPr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811" y="2272283"/>
              <a:ext cx="3288791" cy="1584959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78738" y="2305811"/>
              <a:ext cx="3171190" cy="1467485"/>
            </a:xfrm>
            <a:custGeom>
              <a:avLst/>
              <a:gdLst/>
              <a:ahLst/>
              <a:cxnLst/>
              <a:rect l="l" t="t" r="r" b="b"/>
              <a:pathLst>
                <a:path w="3171190" h="1467485">
                  <a:moveTo>
                    <a:pt x="2926081" y="0"/>
                  </a:moveTo>
                  <a:lnTo>
                    <a:pt x="244577" y="0"/>
                  </a:lnTo>
                  <a:lnTo>
                    <a:pt x="195286" y="4973"/>
                  </a:lnTo>
                  <a:lnTo>
                    <a:pt x="149376" y="19234"/>
                  </a:lnTo>
                  <a:lnTo>
                    <a:pt x="107831" y="41797"/>
                  </a:lnTo>
                  <a:lnTo>
                    <a:pt x="71634" y="71675"/>
                  </a:lnTo>
                  <a:lnTo>
                    <a:pt x="41769" y="107881"/>
                  </a:lnTo>
                  <a:lnTo>
                    <a:pt x="19220" y="149429"/>
                  </a:lnTo>
                  <a:lnTo>
                    <a:pt x="4968" y="195331"/>
                  </a:lnTo>
                  <a:lnTo>
                    <a:pt x="0" y="244601"/>
                  </a:lnTo>
                  <a:lnTo>
                    <a:pt x="0" y="1222883"/>
                  </a:lnTo>
                  <a:lnTo>
                    <a:pt x="4968" y="1272189"/>
                  </a:lnTo>
                  <a:lnTo>
                    <a:pt x="19220" y="1318109"/>
                  </a:lnTo>
                  <a:lnTo>
                    <a:pt x="41769" y="1359659"/>
                  </a:lnTo>
                  <a:lnTo>
                    <a:pt x="71634" y="1395857"/>
                  </a:lnTo>
                  <a:lnTo>
                    <a:pt x="107831" y="1425720"/>
                  </a:lnTo>
                  <a:lnTo>
                    <a:pt x="149376" y="1448268"/>
                  </a:lnTo>
                  <a:lnTo>
                    <a:pt x="195286" y="1462517"/>
                  </a:lnTo>
                  <a:lnTo>
                    <a:pt x="244577" y="1467485"/>
                  </a:lnTo>
                  <a:lnTo>
                    <a:pt x="2926081" y="1467485"/>
                  </a:lnTo>
                  <a:lnTo>
                    <a:pt x="2975388" y="1462517"/>
                  </a:lnTo>
                  <a:lnTo>
                    <a:pt x="3021307" y="1448268"/>
                  </a:lnTo>
                  <a:lnTo>
                    <a:pt x="3062857" y="1425720"/>
                  </a:lnTo>
                  <a:lnTo>
                    <a:pt x="3099055" y="1395857"/>
                  </a:lnTo>
                  <a:lnTo>
                    <a:pt x="3128919" y="1359659"/>
                  </a:lnTo>
                  <a:lnTo>
                    <a:pt x="3151466" y="1318109"/>
                  </a:lnTo>
                  <a:lnTo>
                    <a:pt x="3165715" y="1272189"/>
                  </a:lnTo>
                  <a:lnTo>
                    <a:pt x="3170683" y="1222883"/>
                  </a:lnTo>
                  <a:lnTo>
                    <a:pt x="3170683" y="244601"/>
                  </a:lnTo>
                  <a:lnTo>
                    <a:pt x="3165715" y="195331"/>
                  </a:lnTo>
                  <a:lnTo>
                    <a:pt x="3151466" y="149429"/>
                  </a:lnTo>
                  <a:lnTo>
                    <a:pt x="3128919" y="107881"/>
                  </a:lnTo>
                  <a:lnTo>
                    <a:pt x="3099055" y="71675"/>
                  </a:lnTo>
                  <a:lnTo>
                    <a:pt x="3062857" y="41797"/>
                  </a:lnTo>
                  <a:lnTo>
                    <a:pt x="3021307" y="19234"/>
                  </a:lnTo>
                  <a:lnTo>
                    <a:pt x="2975388" y="4973"/>
                  </a:lnTo>
                  <a:lnTo>
                    <a:pt x="2926081" y="0"/>
                  </a:lnTo>
                  <a:close/>
                </a:path>
              </a:pathLst>
            </a:custGeom>
            <a:solidFill>
              <a:srgbClr val="D247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8738" y="2305811"/>
              <a:ext cx="3171190" cy="1467485"/>
            </a:xfrm>
            <a:custGeom>
              <a:avLst/>
              <a:gdLst/>
              <a:ahLst/>
              <a:cxnLst/>
              <a:rect l="l" t="t" r="r" b="b"/>
              <a:pathLst>
                <a:path w="3171190" h="1467485">
                  <a:moveTo>
                    <a:pt x="0" y="244601"/>
                  </a:moveTo>
                  <a:lnTo>
                    <a:pt x="4968" y="195331"/>
                  </a:lnTo>
                  <a:lnTo>
                    <a:pt x="19220" y="149429"/>
                  </a:lnTo>
                  <a:lnTo>
                    <a:pt x="41769" y="107881"/>
                  </a:lnTo>
                  <a:lnTo>
                    <a:pt x="71634" y="71675"/>
                  </a:lnTo>
                  <a:lnTo>
                    <a:pt x="107831" y="41797"/>
                  </a:lnTo>
                  <a:lnTo>
                    <a:pt x="149376" y="19234"/>
                  </a:lnTo>
                  <a:lnTo>
                    <a:pt x="195286" y="4973"/>
                  </a:lnTo>
                  <a:lnTo>
                    <a:pt x="244577" y="0"/>
                  </a:lnTo>
                  <a:lnTo>
                    <a:pt x="2926081" y="0"/>
                  </a:lnTo>
                  <a:lnTo>
                    <a:pt x="2975388" y="4973"/>
                  </a:lnTo>
                  <a:lnTo>
                    <a:pt x="3021307" y="19234"/>
                  </a:lnTo>
                  <a:lnTo>
                    <a:pt x="3062857" y="41797"/>
                  </a:lnTo>
                  <a:lnTo>
                    <a:pt x="3099055" y="71675"/>
                  </a:lnTo>
                  <a:lnTo>
                    <a:pt x="3128919" y="107881"/>
                  </a:lnTo>
                  <a:lnTo>
                    <a:pt x="3151466" y="149429"/>
                  </a:lnTo>
                  <a:lnTo>
                    <a:pt x="3165715" y="195331"/>
                  </a:lnTo>
                  <a:lnTo>
                    <a:pt x="3170683" y="244601"/>
                  </a:lnTo>
                  <a:lnTo>
                    <a:pt x="3170683" y="1222883"/>
                  </a:lnTo>
                  <a:lnTo>
                    <a:pt x="3165715" y="1272189"/>
                  </a:lnTo>
                  <a:lnTo>
                    <a:pt x="3151466" y="1318109"/>
                  </a:lnTo>
                  <a:lnTo>
                    <a:pt x="3128919" y="1359659"/>
                  </a:lnTo>
                  <a:lnTo>
                    <a:pt x="3099055" y="1395857"/>
                  </a:lnTo>
                  <a:lnTo>
                    <a:pt x="3062857" y="1425720"/>
                  </a:lnTo>
                  <a:lnTo>
                    <a:pt x="3021307" y="1448268"/>
                  </a:lnTo>
                  <a:lnTo>
                    <a:pt x="2975388" y="1462517"/>
                  </a:lnTo>
                  <a:lnTo>
                    <a:pt x="2926081" y="1467485"/>
                  </a:lnTo>
                  <a:lnTo>
                    <a:pt x="244577" y="1467485"/>
                  </a:lnTo>
                  <a:lnTo>
                    <a:pt x="195286" y="1462517"/>
                  </a:lnTo>
                  <a:lnTo>
                    <a:pt x="149376" y="1448268"/>
                  </a:lnTo>
                  <a:lnTo>
                    <a:pt x="107831" y="1425720"/>
                  </a:lnTo>
                  <a:lnTo>
                    <a:pt x="71634" y="1395857"/>
                  </a:lnTo>
                  <a:lnTo>
                    <a:pt x="41769" y="1359659"/>
                  </a:lnTo>
                  <a:lnTo>
                    <a:pt x="19220" y="1318109"/>
                  </a:lnTo>
                  <a:lnTo>
                    <a:pt x="4968" y="1272189"/>
                  </a:lnTo>
                  <a:lnTo>
                    <a:pt x="0" y="1222883"/>
                  </a:lnTo>
                  <a:lnTo>
                    <a:pt x="0" y="244601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721258" y="2631439"/>
            <a:ext cx="188658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spc="-30" dirty="0">
                <a:solidFill>
                  <a:srgbClr val="FFFFFF"/>
                </a:solidFill>
                <a:latin typeface="Times New Roman"/>
                <a:cs typeface="Times New Roman"/>
              </a:rPr>
              <a:t>Filtering</a:t>
            </a:r>
            <a:endParaRPr sz="4000">
              <a:latin typeface="Times New Roman"/>
              <a:cs typeface="Times New Roman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3243072" y="3987038"/>
            <a:ext cx="5649595" cy="1186815"/>
            <a:chOff x="3243072" y="3987038"/>
            <a:chExt cx="5649595" cy="1186815"/>
          </a:xfrm>
        </p:grpSpPr>
        <p:sp>
          <p:nvSpPr>
            <p:cNvPr id="23" name="object 23"/>
            <p:cNvSpPr/>
            <p:nvPr/>
          </p:nvSpPr>
          <p:spPr>
            <a:xfrm>
              <a:off x="3249422" y="3993388"/>
              <a:ext cx="5636895" cy="1174115"/>
            </a:xfrm>
            <a:custGeom>
              <a:avLst/>
              <a:gdLst/>
              <a:ahLst/>
              <a:cxnLst/>
              <a:rect l="l" t="t" r="r" b="b"/>
              <a:pathLst>
                <a:path w="5636895" h="1174114">
                  <a:moveTo>
                    <a:pt x="5441060" y="0"/>
                  </a:moveTo>
                  <a:lnTo>
                    <a:pt x="0" y="0"/>
                  </a:lnTo>
                  <a:lnTo>
                    <a:pt x="0" y="1173988"/>
                  </a:lnTo>
                  <a:lnTo>
                    <a:pt x="5441060" y="1173988"/>
                  </a:lnTo>
                  <a:lnTo>
                    <a:pt x="5485931" y="1168818"/>
                  </a:lnTo>
                  <a:lnTo>
                    <a:pt x="5527124" y="1154094"/>
                  </a:lnTo>
                  <a:lnTo>
                    <a:pt x="5563461" y="1130990"/>
                  </a:lnTo>
                  <a:lnTo>
                    <a:pt x="5593770" y="1100681"/>
                  </a:lnTo>
                  <a:lnTo>
                    <a:pt x="5616874" y="1064344"/>
                  </a:lnTo>
                  <a:lnTo>
                    <a:pt x="5631598" y="1023151"/>
                  </a:lnTo>
                  <a:lnTo>
                    <a:pt x="5636768" y="978281"/>
                  </a:lnTo>
                  <a:lnTo>
                    <a:pt x="5636768" y="195706"/>
                  </a:lnTo>
                  <a:lnTo>
                    <a:pt x="5631598" y="150836"/>
                  </a:lnTo>
                  <a:lnTo>
                    <a:pt x="5616874" y="109643"/>
                  </a:lnTo>
                  <a:lnTo>
                    <a:pt x="5593770" y="73306"/>
                  </a:lnTo>
                  <a:lnTo>
                    <a:pt x="5563461" y="42997"/>
                  </a:lnTo>
                  <a:lnTo>
                    <a:pt x="5527124" y="19893"/>
                  </a:lnTo>
                  <a:lnTo>
                    <a:pt x="5485931" y="5169"/>
                  </a:lnTo>
                  <a:lnTo>
                    <a:pt x="5441060" y="0"/>
                  </a:lnTo>
                  <a:close/>
                </a:path>
              </a:pathLst>
            </a:custGeom>
            <a:solidFill>
              <a:srgbClr val="EECFCC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249422" y="3993388"/>
              <a:ext cx="5636895" cy="1174115"/>
            </a:xfrm>
            <a:custGeom>
              <a:avLst/>
              <a:gdLst/>
              <a:ahLst/>
              <a:cxnLst/>
              <a:rect l="l" t="t" r="r" b="b"/>
              <a:pathLst>
                <a:path w="5636895" h="1174114">
                  <a:moveTo>
                    <a:pt x="5636768" y="195706"/>
                  </a:moveTo>
                  <a:lnTo>
                    <a:pt x="5636768" y="978281"/>
                  </a:lnTo>
                  <a:lnTo>
                    <a:pt x="5631598" y="1023151"/>
                  </a:lnTo>
                  <a:lnTo>
                    <a:pt x="5616874" y="1064344"/>
                  </a:lnTo>
                  <a:lnTo>
                    <a:pt x="5593770" y="1100681"/>
                  </a:lnTo>
                  <a:lnTo>
                    <a:pt x="5563461" y="1130990"/>
                  </a:lnTo>
                  <a:lnTo>
                    <a:pt x="5527124" y="1154094"/>
                  </a:lnTo>
                  <a:lnTo>
                    <a:pt x="5485931" y="1168818"/>
                  </a:lnTo>
                  <a:lnTo>
                    <a:pt x="5441060" y="1173988"/>
                  </a:lnTo>
                  <a:lnTo>
                    <a:pt x="0" y="1173988"/>
                  </a:lnTo>
                  <a:lnTo>
                    <a:pt x="0" y="0"/>
                  </a:lnTo>
                  <a:lnTo>
                    <a:pt x="5441060" y="0"/>
                  </a:lnTo>
                  <a:lnTo>
                    <a:pt x="5485931" y="5169"/>
                  </a:lnTo>
                  <a:lnTo>
                    <a:pt x="5527124" y="19893"/>
                  </a:lnTo>
                  <a:lnTo>
                    <a:pt x="5563461" y="42997"/>
                  </a:lnTo>
                  <a:lnTo>
                    <a:pt x="5593770" y="73306"/>
                  </a:lnTo>
                  <a:lnTo>
                    <a:pt x="5616874" y="109643"/>
                  </a:lnTo>
                  <a:lnTo>
                    <a:pt x="5631598" y="150836"/>
                  </a:lnTo>
                  <a:lnTo>
                    <a:pt x="5636768" y="195706"/>
                  </a:lnTo>
                  <a:close/>
                </a:path>
              </a:pathLst>
            </a:custGeom>
            <a:ln w="12700">
              <a:solidFill>
                <a:srgbClr val="EECF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3305936" y="4389882"/>
            <a:ext cx="51981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785" indent="-172720">
              <a:lnSpc>
                <a:spcPct val="100000"/>
              </a:lnSpc>
              <a:spcBef>
                <a:spcPts val="100"/>
              </a:spcBef>
              <a:buChar char="•"/>
              <a:tabLst>
                <a:tab pos="185420" algn="l"/>
              </a:tabLst>
            </a:pPr>
            <a:r>
              <a:rPr sz="1800" spc="-55" dirty="0">
                <a:latin typeface="Times New Roman"/>
                <a:cs typeface="Times New Roman"/>
              </a:rPr>
              <a:t>the </a:t>
            </a:r>
            <a:r>
              <a:rPr sz="1800" spc="-85" dirty="0">
                <a:latin typeface="Times New Roman"/>
                <a:cs typeface="Times New Roman"/>
              </a:rPr>
              <a:t>process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spc="-105" dirty="0">
                <a:latin typeface="Times New Roman"/>
                <a:cs typeface="Times New Roman"/>
              </a:rPr>
              <a:t>of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114" dirty="0">
                <a:latin typeface="Times New Roman"/>
                <a:cs typeface="Times New Roman"/>
              </a:rPr>
              <a:t>passing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145" dirty="0">
                <a:latin typeface="Times New Roman"/>
                <a:cs typeface="Times New Roman"/>
              </a:rPr>
              <a:t>a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80" dirty="0">
                <a:latin typeface="Times New Roman"/>
                <a:cs typeface="Times New Roman"/>
              </a:rPr>
              <a:t>packet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spc="-80" dirty="0">
                <a:latin typeface="Times New Roman"/>
                <a:cs typeface="Times New Roman"/>
              </a:rPr>
              <a:t>from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spc="-75" dirty="0">
                <a:latin typeface="Times New Roman"/>
                <a:cs typeface="Times New Roman"/>
              </a:rPr>
              <a:t>one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65" dirty="0">
                <a:latin typeface="Times New Roman"/>
                <a:cs typeface="Times New Roman"/>
              </a:rPr>
              <a:t>network </a:t>
            </a:r>
            <a:r>
              <a:rPr sz="1800" spc="-25" dirty="0">
                <a:latin typeface="Times New Roman"/>
                <a:cs typeface="Times New Roman"/>
              </a:rPr>
              <a:t>to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65" dirty="0">
                <a:latin typeface="Times New Roman"/>
                <a:cs typeface="Times New Roman"/>
              </a:rPr>
              <a:t>another.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19811" y="3813047"/>
            <a:ext cx="3352800" cy="1584960"/>
            <a:chOff x="19811" y="3813047"/>
            <a:chExt cx="3352800" cy="1584960"/>
          </a:xfrm>
        </p:grpSpPr>
        <p:pic>
          <p:nvPicPr>
            <p:cNvPr id="27" name="object 2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9811" y="3813047"/>
              <a:ext cx="3288791" cy="1584960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0103" y="4116323"/>
              <a:ext cx="3302508" cy="1097280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78738" y="3846702"/>
              <a:ext cx="3171190" cy="1467485"/>
            </a:xfrm>
            <a:custGeom>
              <a:avLst/>
              <a:gdLst/>
              <a:ahLst/>
              <a:cxnLst/>
              <a:rect l="l" t="t" r="r" b="b"/>
              <a:pathLst>
                <a:path w="3171190" h="1467485">
                  <a:moveTo>
                    <a:pt x="2926081" y="0"/>
                  </a:moveTo>
                  <a:lnTo>
                    <a:pt x="244577" y="0"/>
                  </a:lnTo>
                  <a:lnTo>
                    <a:pt x="195286" y="4967"/>
                  </a:lnTo>
                  <a:lnTo>
                    <a:pt x="149376" y="19216"/>
                  </a:lnTo>
                  <a:lnTo>
                    <a:pt x="107831" y="41764"/>
                  </a:lnTo>
                  <a:lnTo>
                    <a:pt x="71634" y="71627"/>
                  </a:lnTo>
                  <a:lnTo>
                    <a:pt x="41769" y="107825"/>
                  </a:lnTo>
                  <a:lnTo>
                    <a:pt x="19220" y="149375"/>
                  </a:lnTo>
                  <a:lnTo>
                    <a:pt x="4968" y="195295"/>
                  </a:lnTo>
                  <a:lnTo>
                    <a:pt x="0" y="244602"/>
                  </a:lnTo>
                  <a:lnTo>
                    <a:pt x="0" y="1222883"/>
                  </a:lnTo>
                  <a:lnTo>
                    <a:pt x="4968" y="1272153"/>
                  </a:lnTo>
                  <a:lnTo>
                    <a:pt x="19220" y="1318055"/>
                  </a:lnTo>
                  <a:lnTo>
                    <a:pt x="41769" y="1359603"/>
                  </a:lnTo>
                  <a:lnTo>
                    <a:pt x="71634" y="1395809"/>
                  </a:lnTo>
                  <a:lnTo>
                    <a:pt x="107831" y="1425687"/>
                  </a:lnTo>
                  <a:lnTo>
                    <a:pt x="149376" y="1448250"/>
                  </a:lnTo>
                  <a:lnTo>
                    <a:pt x="195286" y="1462511"/>
                  </a:lnTo>
                  <a:lnTo>
                    <a:pt x="244577" y="1467485"/>
                  </a:lnTo>
                  <a:lnTo>
                    <a:pt x="2926081" y="1467485"/>
                  </a:lnTo>
                  <a:lnTo>
                    <a:pt x="2975388" y="1462511"/>
                  </a:lnTo>
                  <a:lnTo>
                    <a:pt x="3021307" y="1448250"/>
                  </a:lnTo>
                  <a:lnTo>
                    <a:pt x="3062857" y="1425687"/>
                  </a:lnTo>
                  <a:lnTo>
                    <a:pt x="3099055" y="1395809"/>
                  </a:lnTo>
                  <a:lnTo>
                    <a:pt x="3128919" y="1359603"/>
                  </a:lnTo>
                  <a:lnTo>
                    <a:pt x="3151466" y="1318055"/>
                  </a:lnTo>
                  <a:lnTo>
                    <a:pt x="3165715" y="1272153"/>
                  </a:lnTo>
                  <a:lnTo>
                    <a:pt x="3170683" y="1222883"/>
                  </a:lnTo>
                  <a:lnTo>
                    <a:pt x="3170683" y="244602"/>
                  </a:lnTo>
                  <a:lnTo>
                    <a:pt x="3165715" y="195295"/>
                  </a:lnTo>
                  <a:lnTo>
                    <a:pt x="3151466" y="149375"/>
                  </a:lnTo>
                  <a:lnTo>
                    <a:pt x="3128919" y="107825"/>
                  </a:lnTo>
                  <a:lnTo>
                    <a:pt x="3099055" y="71628"/>
                  </a:lnTo>
                  <a:lnTo>
                    <a:pt x="3062857" y="41764"/>
                  </a:lnTo>
                  <a:lnTo>
                    <a:pt x="3021307" y="19216"/>
                  </a:lnTo>
                  <a:lnTo>
                    <a:pt x="2975388" y="4967"/>
                  </a:lnTo>
                  <a:lnTo>
                    <a:pt x="2926081" y="0"/>
                  </a:lnTo>
                  <a:close/>
                </a:path>
              </a:pathLst>
            </a:custGeom>
            <a:solidFill>
              <a:srgbClr val="D247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8738" y="3846702"/>
              <a:ext cx="3171190" cy="1467485"/>
            </a:xfrm>
            <a:custGeom>
              <a:avLst/>
              <a:gdLst/>
              <a:ahLst/>
              <a:cxnLst/>
              <a:rect l="l" t="t" r="r" b="b"/>
              <a:pathLst>
                <a:path w="3171190" h="1467485">
                  <a:moveTo>
                    <a:pt x="0" y="244602"/>
                  </a:moveTo>
                  <a:lnTo>
                    <a:pt x="4968" y="195295"/>
                  </a:lnTo>
                  <a:lnTo>
                    <a:pt x="19220" y="149375"/>
                  </a:lnTo>
                  <a:lnTo>
                    <a:pt x="41769" y="107825"/>
                  </a:lnTo>
                  <a:lnTo>
                    <a:pt x="71634" y="71627"/>
                  </a:lnTo>
                  <a:lnTo>
                    <a:pt x="107831" y="41764"/>
                  </a:lnTo>
                  <a:lnTo>
                    <a:pt x="149376" y="19216"/>
                  </a:lnTo>
                  <a:lnTo>
                    <a:pt x="195286" y="4967"/>
                  </a:lnTo>
                  <a:lnTo>
                    <a:pt x="244577" y="0"/>
                  </a:lnTo>
                  <a:lnTo>
                    <a:pt x="2926081" y="0"/>
                  </a:lnTo>
                  <a:lnTo>
                    <a:pt x="2975388" y="4967"/>
                  </a:lnTo>
                  <a:lnTo>
                    <a:pt x="3021307" y="19216"/>
                  </a:lnTo>
                  <a:lnTo>
                    <a:pt x="3062857" y="41764"/>
                  </a:lnTo>
                  <a:lnTo>
                    <a:pt x="3099055" y="71628"/>
                  </a:lnTo>
                  <a:lnTo>
                    <a:pt x="3128919" y="107825"/>
                  </a:lnTo>
                  <a:lnTo>
                    <a:pt x="3151466" y="149375"/>
                  </a:lnTo>
                  <a:lnTo>
                    <a:pt x="3165715" y="195295"/>
                  </a:lnTo>
                  <a:lnTo>
                    <a:pt x="3170683" y="244602"/>
                  </a:lnTo>
                  <a:lnTo>
                    <a:pt x="3170683" y="1222883"/>
                  </a:lnTo>
                  <a:lnTo>
                    <a:pt x="3165715" y="1272153"/>
                  </a:lnTo>
                  <a:lnTo>
                    <a:pt x="3151466" y="1318055"/>
                  </a:lnTo>
                  <a:lnTo>
                    <a:pt x="3128919" y="1359603"/>
                  </a:lnTo>
                  <a:lnTo>
                    <a:pt x="3099055" y="1395809"/>
                  </a:lnTo>
                  <a:lnTo>
                    <a:pt x="3062857" y="1425687"/>
                  </a:lnTo>
                  <a:lnTo>
                    <a:pt x="3021307" y="1448250"/>
                  </a:lnTo>
                  <a:lnTo>
                    <a:pt x="2975388" y="1462511"/>
                  </a:lnTo>
                  <a:lnTo>
                    <a:pt x="2926081" y="1467485"/>
                  </a:lnTo>
                  <a:lnTo>
                    <a:pt x="244577" y="1467485"/>
                  </a:lnTo>
                  <a:lnTo>
                    <a:pt x="195286" y="1462511"/>
                  </a:lnTo>
                  <a:lnTo>
                    <a:pt x="149376" y="1448250"/>
                  </a:lnTo>
                  <a:lnTo>
                    <a:pt x="107831" y="1425687"/>
                  </a:lnTo>
                  <a:lnTo>
                    <a:pt x="71634" y="1395809"/>
                  </a:lnTo>
                  <a:lnTo>
                    <a:pt x="41769" y="1359603"/>
                  </a:lnTo>
                  <a:lnTo>
                    <a:pt x="19220" y="1318055"/>
                  </a:lnTo>
                  <a:lnTo>
                    <a:pt x="4968" y="1272153"/>
                  </a:lnTo>
                  <a:lnTo>
                    <a:pt x="0" y="1222883"/>
                  </a:lnTo>
                  <a:lnTo>
                    <a:pt x="0" y="244602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387502" y="4172458"/>
            <a:ext cx="255206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spc="-60" dirty="0">
                <a:solidFill>
                  <a:srgbClr val="FFFFFF"/>
                </a:solidFill>
                <a:latin typeface="Times New Roman"/>
                <a:cs typeface="Times New Roman"/>
              </a:rPr>
              <a:t>Forwarding</a:t>
            </a:r>
            <a:endParaRPr sz="4000">
              <a:latin typeface="Times New Roman"/>
              <a:cs typeface="Times New Roman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3243072" y="5527928"/>
            <a:ext cx="5649595" cy="1186815"/>
            <a:chOff x="3243072" y="5527928"/>
            <a:chExt cx="5649595" cy="1186815"/>
          </a:xfrm>
        </p:grpSpPr>
        <p:sp>
          <p:nvSpPr>
            <p:cNvPr id="33" name="object 33"/>
            <p:cNvSpPr/>
            <p:nvPr/>
          </p:nvSpPr>
          <p:spPr>
            <a:xfrm>
              <a:off x="3249422" y="5534278"/>
              <a:ext cx="5636895" cy="1174115"/>
            </a:xfrm>
            <a:custGeom>
              <a:avLst/>
              <a:gdLst/>
              <a:ahLst/>
              <a:cxnLst/>
              <a:rect l="l" t="t" r="r" b="b"/>
              <a:pathLst>
                <a:path w="5636895" h="1174115">
                  <a:moveTo>
                    <a:pt x="5441060" y="0"/>
                  </a:moveTo>
                  <a:lnTo>
                    <a:pt x="0" y="0"/>
                  </a:lnTo>
                  <a:lnTo>
                    <a:pt x="0" y="1173924"/>
                  </a:lnTo>
                  <a:lnTo>
                    <a:pt x="5441060" y="1173924"/>
                  </a:lnTo>
                  <a:lnTo>
                    <a:pt x="5485931" y="1168756"/>
                  </a:lnTo>
                  <a:lnTo>
                    <a:pt x="5527124" y="1154036"/>
                  </a:lnTo>
                  <a:lnTo>
                    <a:pt x="5563461" y="1130938"/>
                  </a:lnTo>
                  <a:lnTo>
                    <a:pt x="5593770" y="1100636"/>
                  </a:lnTo>
                  <a:lnTo>
                    <a:pt x="5616874" y="1064305"/>
                  </a:lnTo>
                  <a:lnTo>
                    <a:pt x="5631598" y="1023120"/>
                  </a:lnTo>
                  <a:lnTo>
                    <a:pt x="5636768" y="978255"/>
                  </a:lnTo>
                  <a:lnTo>
                    <a:pt x="5636768" y="195630"/>
                  </a:lnTo>
                  <a:lnTo>
                    <a:pt x="5631598" y="150768"/>
                  </a:lnTo>
                  <a:lnTo>
                    <a:pt x="5616874" y="109588"/>
                  </a:lnTo>
                  <a:lnTo>
                    <a:pt x="5593770" y="73265"/>
                  </a:lnTo>
                  <a:lnTo>
                    <a:pt x="5563461" y="42971"/>
                  </a:lnTo>
                  <a:lnTo>
                    <a:pt x="5527124" y="19880"/>
                  </a:lnTo>
                  <a:lnTo>
                    <a:pt x="5485931" y="5165"/>
                  </a:lnTo>
                  <a:lnTo>
                    <a:pt x="5441060" y="0"/>
                  </a:lnTo>
                  <a:close/>
                </a:path>
              </a:pathLst>
            </a:custGeom>
            <a:solidFill>
              <a:srgbClr val="EECFCC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249422" y="5534278"/>
              <a:ext cx="5636895" cy="1174115"/>
            </a:xfrm>
            <a:custGeom>
              <a:avLst/>
              <a:gdLst/>
              <a:ahLst/>
              <a:cxnLst/>
              <a:rect l="l" t="t" r="r" b="b"/>
              <a:pathLst>
                <a:path w="5636895" h="1174115">
                  <a:moveTo>
                    <a:pt x="5636768" y="195630"/>
                  </a:moveTo>
                  <a:lnTo>
                    <a:pt x="5636768" y="978255"/>
                  </a:lnTo>
                  <a:lnTo>
                    <a:pt x="5631598" y="1023120"/>
                  </a:lnTo>
                  <a:lnTo>
                    <a:pt x="5616874" y="1064305"/>
                  </a:lnTo>
                  <a:lnTo>
                    <a:pt x="5593770" y="1100636"/>
                  </a:lnTo>
                  <a:lnTo>
                    <a:pt x="5563461" y="1130938"/>
                  </a:lnTo>
                  <a:lnTo>
                    <a:pt x="5527124" y="1154036"/>
                  </a:lnTo>
                  <a:lnTo>
                    <a:pt x="5485931" y="1168756"/>
                  </a:lnTo>
                  <a:lnTo>
                    <a:pt x="5441060" y="1173924"/>
                  </a:lnTo>
                  <a:lnTo>
                    <a:pt x="0" y="1173924"/>
                  </a:lnTo>
                  <a:lnTo>
                    <a:pt x="0" y="0"/>
                  </a:lnTo>
                  <a:lnTo>
                    <a:pt x="5441060" y="0"/>
                  </a:lnTo>
                  <a:lnTo>
                    <a:pt x="5485931" y="5165"/>
                  </a:lnTo>
                  <a:lnTo>
                    <a:pt x="5527124" y="19880"/>
                  </a:lnTo>
                  <a:lnTo>
                    <a:pt x="5563461" y="42971"/>
                  </a:lnTo>
                  <a:lnTo>
                    <a:pt x="5593770" y="73265"/>
                  </a:lnTo>
                  <a:lnTo>
                    <a:pt x="5616874" y="109588"/>
                  </a:lnTo>
                  <a:lnTo>
                    <a:pt x="5631598" y="150768"/>
                  </a:lnTo>
                  <a:lnTo>
                    <a:pt x="5636768" y="195630"/>
                  </a:lnTo>
                  <a:close/>
                </a:path>
              </a:pathLst>
            </a:custGeom>
            <a:ln w="12700">
              <a:solidFill>
                <a:srgbClr val="EECF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3305936" y="5812942"/>
            <a:ext cx="5452110" cy="535940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84785" marR="5080" indent="-172720">
              <a:lnSpc>
                <a:spcPts val="1860"/>
              </a:lnSpc>
              <a:spcBef>
                <a:spcPts val="409"/>
              </a:spcBef>
              <a:buChar char="•"/>
              <a:tabLst>
                <a:tab pos="185420" algn="l"/>
              </a:tabLst>
            </a:pPr>
            <a:r>
              <a:rPr sz="1800" spc="-55" dirty="0">
                <a:latin typeface="Times New Roman"/>
                <a:cs typeface="Times New Roman"/>
              </a:rPr>
              <a:t>the </a:t>
            </a:r>
            <a:r>
              <a:rPr sz="1800" spc="-85" dirty="0">
                <a:latin typeface="Times New Roman"/>
                <a:cs typeface="Times New Roman"/>
              </a:rPr>
              <a:t>process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spc="-145" dirty="0">
                <a:latin typeface="Times New Roman"/>
                <a:cs typeface="Times New Roman"/>
              </a:rPr>
              <a:t>by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100" dirty="0">
                <a:latin typeface="Times New Roman"/>
                <a:cs typeface="Times New Roman"/>
              </a:rPr>
              <a:t>which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55" dirty="0">
                <a:latin typeface="Times New Roman"/>
                <a:cs typeface="Times New Roman"/>
              </a:rPr>
              <a:t>the </a:t>
            </a:r>
            <a:r>
              <a:rPr sz="1800" spc="-70" dirty="0">
                <a:latin typeface="Times New Roman"/>
                <a:cs typeface="Times New Roman"/>
              </a:rPr>
              <a:t>bridge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75" dirty="0">
                <a:latin typeface="Times New Roman"/>
                <a:cs typeface="Times New Roman"/>
              </a:rPr>
              <a:t>learns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114" dirty="0">
                <a:latin typeface="Times New Roman"/>
                <a:cs typeface="Times New Roman"/>
              </a:rPr>
              <a:t>how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to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80" dirty="0">
                <a:latin typeface="Times New Roman"/>
                <a:cs typeface="Times New Roman"/>
              </a:rPr>
              <a:t>reach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80" dirty="0">
                <a:latin typeface="Times New Roman"/>
                <a:cs typeface="Times New Roman"/>
              </a:rPr>
              <a:t>stations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spc="-80" dirty="0">
                <a:latin typeface="Times New Roman"/>
                <a:cs typeface="Times New Roman"/>
              </a:rPr>
              <a:t>on </a:t>
            </a:r>
            <a:r>
              <a:rPr sz="1800" spc="-434" dirty="0">
                <a:latin typeface="Times New Roman"/>
                <a:cs typeface="Times New Roman"/>
              </a:rPr>
              <a:t> </a:t>
            </a:r>
            <a:r>
              <a:rPr sz="1800" spc="-55" dirty="0">
                <a:latin typeface="Times New Roman"/>
                <a:cs typeface="Times New Roman"/>
              </a:rPr>
              <a:t>the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spc="-40" dirty="0">
                <a:latin typeface="Times New Roman"/>
                <a:cs typeface="Times New Roman"/>
              </a:rPr>
              <a:t>internetwork.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19811" y="5353811"/>
            <a:ext cx="3289300" cy="1520190"/>
            <a:chOff x="19811" y="5353811"/>
            <a:chExt cx="3289300" cy="1520190"/>
          </a:xfrm>
        </p:grpSpPr>
        <p:pic>
          <p:nvPicPr>
            <p:cNvPr id="37" name="object 3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9811" y="5353811"/>
              <a:ext cx="3288791" cy="1504187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08788" y="5394959"/>
              <a:ext cx="3026664" cy="1463039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78738" y="5387467"/>
              <a:ext cx="3171190" cy="1467485"/>
            </a:xfrm>
            <a:custGeom>
              <a:avLst/>
              <a:gdLst/>
              <a:ahLst/>
              <a:cxnLst/>
              <a:rect l="l" t="t" r="r" b="b"/>
              <a:pathLst>
                <a:path w="3171190" h="1467484">
                  <a:moveTo>
                    <a:pt x="2926081" y="0"/>
                  </a:moveTo>
                  <a:lnTo>
                    <a:pt x="244577" y="0"/>
                  </a:lnTo>
                  <a:lnTo>
                    <a:pt x="195286" y="4967"/>
                  </a:lnTo>
                  <a:lnTo>
                    <a:pt x="149376" y="19216"/>
                  </a:lnTo>
                  <a:lnTo>
                    <a:pt x="107831" y="41764"/>
                  </a:lnTo>
                  <a:lnTo>
                    <a:pt x="71634" y="71629"/>
                  </a:lnTo>
                  <a:lnTo>
                    <a:pt x="41769" y="107829"/>
                  </a:lnTo>
                  <a:lnTo>
                    <a:pt x="19220" y="149381"/>
                  </a:lnTo>
                  <a:lnTo>
                    <a:pt x="4968" y="195303"/>
                  </a:lnTo>
                  <a:lnTo>
                    <a:pt x="0" y="244614"/>
                  </a:lnTo>
                  <a:lnTo>
                    <a:pt x="0" y="1222895"/>
                  </a:lnTo>
                  <a:lnTo>
                    <a:pt x="4968" y="1272188"/>
                  </a:lnTo>
                  <a:lnTo>
                    <a:pt x="19220" y="1318100"/>
                  </a:lnTo>
                  <a:lnTo>
                    <a:pt x="41769" y="1359646"/>
                  </a:lnTo>
                  <a:lnTo>
                    <a:pt x="71634" y="1395844"/>
                  </a:lnTo>
                  <a:lnTo>
                    <a:pt x="107831" y="1425710"/>
                  </a:lnTo>
                  <a:lnTo>
                    <a:pt x="149376" y="1448260"/>
                  </a:lnTo>
                  <a:lnTo>
                    <a:pt x="195286" y="1462511"/>
                  </a:lnTo>
                  <a:lnTo>
                    <a:pt x="244577" y="1467480"/>
                  </a:lnTo>
                  <a:lnTo>
                    <a:pt x="2926081" y="1467480"/>
                  </a:lnTo>
                  <a:lnTo>
                    <a:pt x="2975388" y="1462511"/>
                  </a:lnTo>
                  <a:lnTo>
                    <a:pt x="3021307" y="1448260"/>
                  </a:lnTo>
                  <a:lnTo>
                    <a:pt x="3062857" y="1425710"/>
                  </a:lnTo>
                  <a:lnTo>
                    <a:pt x="3099055" y="1395844"/>
                  </a:lnTo>
                  <a:lnTo>
                    <a:pt x="3128919" y="1359646"/>
                  </a:lnTo>
                  <a:lnTo>
                    <a:pt x="3151466" y="1318100"/>
                  </a:lnTo>
                  <a:lnTo>
                    <a:pt x="3165715" y="1272188"/>
                  </a:lnTo>
                  <a:lnTo>
                    <a:pt x="3170683" y="1222895"/>
                  </a:lnTo>
                  <a:lnTo>
                    <a:pt x="3170683" y="244614"/>
                  </a:lnTo>
                  <a:lnTo>
                    <a:pt x="3165715" y="195303"/>
                  </a:lnTo>
                  <a:lnTo>
                    <a:pt x="3151466" y="149381"/>
                  </a:lnTo>
                  <a:lnTo>
                    <a:pt x="3128919" y="107829"/>
                  </a:lnTo>
                  <a:lnTo>
                    <a:pt x="3099055" y="71629"/>
                  </a:lnTo>
                  <a:lnTo>
                    <a:pt x="3062857" y="41764"/>
                  </a:lnTo>
                  <a:lnTo>
                    <a:pt x="3021307" y="19216"/>
                  </a:lnTo>
                  <a:lnTo>
                    <a:pt x="2975388" y="4967"/>
                  </a:lnTo>
                  <a:lnTo>
                    <a:pt x="2926081" y="0"/>
                  </a:lnTo>
                  <a:close/>
                </a:path>
              </a:pathLst>
            </a:custGeom>
            <a:solidFill>
              <a:srgbClr val="D247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78738" y="5387467"/>
              <a:ext cx="3171190" cy="1467485"/>
            </a:xfrm>
            <a:custGeom>
              <a:avLst/>
              <a:gdLst/>
              <a:ahLst/>
              <a:cxnLst/>
              <a:rect l="l" t="t" r="r" b="b"/>
              <a:pathLst>
                <a:path w="3171190" h="1467484">
                  <a:moveTo>
                    <a:pt x="0" y="244614"/>
                  </a:moveTo>
                  <a:lnTo>
                    <a:pt x="4968" y="195303"/>
                  </a:lnTo>
                  <a:lnTo>
                    <a:pt x="19220" y="149381"/>
                  </a:lnTo>
                  <a:lnTo>
                    <a:pt x="41769" y="107829"/>
                  </a:lnTo>
                  <a:lnTo>
                    <a:pt x="71634" y="71629"/>
                  </a:lnTo>
                  <a:lnTo>
                    <a:pt x="107831" y="41764"/>
                  </a:lnTo>
                  <a:lnTo>
                    <a:pt x="149376" y="19216"/>
                  </a:lnTo>
                  <a:lnTo>
                    <a:pt x="195286" y="4967"/>
                  </a:lnTo>
                  <a:lnTo>
                    <a:pt x="244577" y="0"/>
                  </a:lnTo>
                  <a:lnTo>
                    <a:pt x="2926081" y="0"/>
                  </a:lnTo>
                  <a:lnTo>
                    <a:pt x="2975388" y="4967"/>
                  </a:lnTo>
                  <a:lnTo>
                    <a:pt x="3021307" y="19216"/>
                  </a:lnTo>
                  <a:lnTo>
                    <a:pt x="3062857" y="41764"/>
                  </a:lnTo>
                  <a:lnTo>
                    <a:pt x="3099055" y="71629"/>
                  </a:lnTo>
                  <a:lnTo>
                    <a:pt x="3128919" y="107829"/>
                  </a:lnTo>
                  <a:lnTo>
                    <a:pt x="3151466" y="149381"/>
                  </a:lnTo>
                  <a:lnTo>
                    <a:pt x="3165715" y="195303"/>
                  </a:lnTo>
                  <a:lnTo>
                    <a:pt x="3170683" y="244614"/>
                  </a:lnTo>
                  <a:lnTo>
                    <a:pt x="3170683" y="1222895"/>
                  </a:lnTo>
                  <a:lnTo>
                    <a:pt x="3165715" y="1272188"/>
                  </a:lnTo>
                  <a:lnTo>
                    <a:pt x="3151466" y="1318100"/>
                  </a:lnTo>
                  <a:lnTo>
                    <a:pt x="3128919" y="1359646"/>
                  </a:lnTo>
                  <a:lnTo>
                    <a:pt x="3099055" y="1395844"/>
                  </a:lnTo>
                  <a:lnTo>
                    <a:pt x="3062857" y="1425710"/>
                  </a:lnTo>
                  <a:lnTo>
                    <a:pt x="3021307" y="1448260"/>
                  </a:lnTo>
                  <a:lnTo>
                    <a:pt x="2975388" y="1462511"/>
                  </a:lnTo>
                  <a:lnTo>
                    <a:pt x="2926081" y="1467480"/>
                  </a:lnTo>
                  <a:lnTo>
                    <a:pt x="244577" y="1467480"/>
                  </a:lnTo>
                  <a:lnTo>
                    <a:pt x="195286" y="1462511"/>
                  </a:lnTo>
                  <a:lnTo>
                    <a:pt x="149376" y="1448260"/>
                  </a:lnTo>
                  <a:lnTo>
                    <a:pt x="107831" y="1425710"/>
                  </a:lnTo>
                  <a:lnTo>
                    <a:pt x="71634" y="1395844"/>
                  </a:lnTo>
                  <a:lnTo>
                    <a:pt x="41769" y="1359646"/>
                  </a:lnTo>
                  <a:lnTo>
                    <a:pt x="19220" y="1318100"/>
                  </a:lnTo>
                  <a:lnTo>
                    <a:pt x="4968" y="1272188"/>
                  </a:lnTo>
                  <a:lnTo>
                    <a:pt x="0" y="1222895"/>
                  </a:lnTo>
                  <a:lnTo>
                    <a:pt x="0" y="244614"/>
                  </a:lnTo>
                  <a:close/>
                </a:path>
              </a:pathLst>
            </a:custGeom>
            <a:ln w="380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526186" y="5451754"/>
            <a:ext cx="2276475" cy="1157605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12700" marR="5080" indent="161290">
              <a:lnSpc>
                <a:spcPts val="4120"/>
              </a:lnSpc>
              <a:spcBef>
                <a:spcPts val="800"/>
              </a:spcBef>
            </a:pPr>
            <a:r>
              <a:rPr sz="4000" b="1" spc="-80" dirty="0">
                <a:solidFill>
                  <a:srgbClr val="FFFFFF"/>
                </a:solidFill>
                <a:latin typeface="Times New Roman"/>
                <a:cs typeface="Times New Roman"/>
              </a:rPr>
              <a:t>Learning </a:t>
            </a:r>
            <a:r>
              <a:rPr sz="4000" b="1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0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Algo</a:t>
            </a:r>
            <a:r>
              <a:rPr sz="4000" b="1" spc="40" dirty="0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sz="40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ithm</a:t>
            </a:r>
            <a:endParaRPr sz="4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57274" y="206755"/>
            <a:ext cx="3462654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5" dirty="0"/>
              <a:t>Types</a:t>
            </a:r>
            <a:r>
              <a:rPr sz="4000" spc="-120" dirty="0"/>
              <a:t> </a:t>
            </a:r>
            <a:r>
              <a:rPr sz="4000" spc="-55" dirty="0"/>
              <a:t>of</a:t>
            </a:r>
            <a:r>
              <a:rPr sz="4000" spc="-100" dirty="0"/>
              <a:t> </a:t>
            </a:r>
            <a:r>
              <a:rPr sz="4000" spc="-35" dirty="0"/>
              <a:t>Bridges</a:t>
            </a:r>
            <a:endParaRPr sz="4000"/>
          </a:p>
        </p:txBody>
      </p:sp>
      <p:sp>
        <p:nvSpPr>
          <p:cNvPr id="3" name="object 3"/>
          <p:cNvSpPr/>
          <p:nvPr/>
        </p:nvSpPr>
        <p:spPr>
          <a:xfrm>
            <a:off x="246138" y="930910"/>
            <a:ext cx="8328659" cy="725805"/>
          </a:xfrm>
          <a:custGeom>
            <a:avLst/>
            <a:gdLst/>
            <a:ahLst/>
            <a:cxnLst/>
            <a:rect l="l" t="t" r="r" b="b"/>
            <a:pathLst>
              <a:path w="8328659" h="725805">
                <a:moveTo>
                  <a:pt x="8207743" y="0"/>
                </a:moveTo>
                <a:lnTo>
                  <a:pt x="120904" y="0"/>
                </a:lnTo>
                <a:lnTo>
                  <a:pt x="73841" y="9497"/>
                </a:lnTo>
                <a:lnTo>
                  <a:pt x="35410" y="35401"/>
                </a:lnTo>
                <a:lnTo>
                  <a:pt x="9500" y="73830"/>
                </a:lnTo>
                <a:lnTo>
                  <a:pt x="0" y="120903"/>
                </a:lnTo>
                <a:lnTo>
                  <a:pt x="0" y="604519"/>
                </a:lnTo>
                <a:lnTo>
                  <a:pt x="9500" y="651539"/>
                </a:lnTo>
                <a:lnTo>
                  <a:pt x="35410" y="689975"/>
                </a:lnTo>
                <a:lnTo>
                  <a:pt x="73841" y="715908"/>
                </a:lnTo>
                <a:lnTo>
                  <a:pt x="120904" y="725424"/>
                </a:lnTo>
                <a:lnTo>
                  <a:pt x="8207743" y="725424"/>
                </a:lnTo>
                <a:lnTo>
                  <a:pt x="8254816" y="715908"/>
                </a:lnTo>
                <a:lnTo>
                  <a:pt x="8293246" y="689975"/>
                </a:lnTo>
                <a:lnTo>
                  <a:pt x="8319150" y="651539"/>
                </a:lnTo>
                <a:lnTo>
                  <a:pt x="8328647" y="604519"/>
                </a:lnTo>
                <a:lnTo>
                  <a:pt x="8328647" y="120903"/>
                </a:lnTo>
                <a:lnTo>
                  <a:pt x="8319150" y="73830"/>
                </a:lnTo>
                <a:lnTo>
                  <a:pt x="8293246" y="35401"/>
                </a:lnTo>
                <a:lnTo>
                  <a:pt x="8254816" y="9497"/>
                </a:lnTo>
                <a:lnTo>
                  <a:pt x="8207743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46138" y="3613530"/>
            <a:ext cx="8328659" cy="725805"/>
          </a:xfrm>
          <a:custGeom>
            <a:avLst/>
            <a:gdLst/>
            <a:ahLst/>
            <a:cxnLst/>
            <a:rect l="l" t="t" r="r" b="b"/>
            <a:pathLst>
              <a:path w="8328659" h="725804">
                <a:moveTo>
                  <a:pt x="8207743" y="0"/>
                </a:moveTo>
                <a:lnTo>
                  <a:pt x="120904" y="0"/>
                </a:lnTo>
                <a:lnTo>
                  <a:pt x="73841" y="9497"/>
                </a:lnTo>
                <a:lnTo>
                  <a:pt x="35410" y="35401"/>
                </a:lnTo>
                <a:lnTo>
                  <a:pt x="9500" y="73830"/>
                </a:lnTo>
                <a:lnTo>
                  <a:pt x="0" y="120904"/>
                </a:lnTo>
                <a:lnTo>
                  <a:pt x="0" y="604393"/>
                </a:lnTo>
                <a:lnTo>
                  <a:pt x="9500" y="651466"/>
                </a:lnTo>
                <a:lnTo>
                  <a:pt x="35410" y="689895"/>
                </a:lnTo>
                <a:lnTo>
                  <a:pt x="73841" y="715799"/>
                </a:lnTo>
                <a:lnTo>
                  <a:pt x="120904" y="725297"/>
                </a:lnTo>
                <a:lnTo>
                  <a:pt x="8207743" y="725297"/>
                </a:lnTo>
                <a:lnTo>
                  <a:pt x="8254816" y="715799"/>
                </a:lnTo>
                <a:lnTo>
                  <a:pt x="8293246" y="689895"/>
                </a:lnTo>
                <a:lnTo>
                  <a:pt x="8319150" y="651466"/>
                </a:lnTo>
                <a:lnTo>
                  <a:pt x="8328647" y="604393"/>
                </a:lnTo>
                <a:lnTo>
                  <a:pt x="8328647" y="120904"/>
                </a:lnTo>
                <a:lnTo>
                  <a:pt x="8319150" y="73830"/>
                </a:lnTo>
                <a:lnTo>
                  <a:pt x="8293246" y="35401"/>
                </a:lnTo>
                <a:lnTo>
                  <a:pt x="8254816" y="9497"/>
                </a:lnTo>
                <a:lnTo>
                  <a:pt x="8207743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86892" y="773878"/>
            <a:ext cx="7964170" cy="5999480"/>
          </a:xfrm>
          <a:prstGeom prst="rect">
            <a:avLst/>
          </a:prstGeom>
        </p:spPr>
        <p:txBody>
          <a:bodyPr vert="horz" wrap="square" lIns="0" tIns="2127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75"/>
              </a:spcBef>
            </a:pPr>
            <a:r>
              <a:rPr sz="3100" spc="-375" dirty="0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sz="3100" spc="-155" dirty="0">
                <a:solidFill>
                  <a:srgbClr val="FFFFFF"/>
                </a:solidFill>
                <a:latin typeface="Times New Roman"/>
                <a:cs typeface="Times New Roman"/>
              </a:rPr>
              <a:t>ran</a:t>
            </a:r>
            <a:r>
              <a:rPr sz="3100" spc="-135" dirty="0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sz="3100" spc="-130" dirty="0">
                <a:solidFill>
                  <a:srgbClr val="FFFFFF"/>
                </a:solidFill>
                <a:latin typeface="Times New Roman"/>
                <a:cs typeface="Times New Roman"/>
              </a:rPr>
              <a:t>pa</a:t>
            </a:r>
            <a:r>
              <a:rPr sz="3100" spc="-125" dirty="0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sz="3100" spc="-70" dirty="0">
                <a:solidFill>
                  <a:srgbClr val="FFFFFF"/>
                </a:solidFill>
                <a:latin typeface="Times New Roman"/>
                <a:cs typeface="Times New Roman"/>
              </a:rPr>
              <a:t>ent</a:t>
            </a:r>
            <a:r>
              <a:rPr sz="31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100" spc="-305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3100" spc="-85" dirty="0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sz="3100" spc="-170" dirty="0">
                <a:solidFill>
                  <a:srgbClr val="FFFFFF"/>
                </a:solidFill>
                <a:latin typeface="Times New Roman"/>
                <a:cs typeface="Times New Roman"/>
              </a:rPr>
              <a:t>idge</a:t>
            </a:r>
            <a:endParaRPr sz="3100">
              <a:latin typeface="Times New Roman"/>
              <a:cs typeface="Times New Roman"/>
            </a:endParaRPr>
          </a:p>
          <a:p>
            <a:pPr marL="351790" indent="-229235">
              <a:lnSpc>
                <a:spcPct val="100000"/>
              </a:lnSpc>
              <a:spcBef>
                <a:spcPts val="1230"/>
              </a:spcBef>
              <a:buChar char="•"/>
              <a:tabLst>
                <a:tab pos="352425" algn="l"/>
              </a:tabLst>
            </a:pPr>
            <a:r>
              <a:rPr sz="2400" spc="-175" dirty="0">
                <a:latin typeface="Times New Roman"/>
                <a:cs typeface="Times New Roman"/>
              </a:rPr>
              <a:t>Als</a:t>
            </a:r>
            <a:r>
              <a:rPr sz="2400" spc="-180" dirty="0">
                <a:latin typeface="Times New Roman"/>
                <a:cs typeface="Times New Roman"/>
              </a:rPr>
              <a:t>o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20" dirty="0">
                <a:latin typeface="Times New Roman"/>
                <a:cs typeface="Times New Roman"/>
              </a:rPr>
              <a:t>called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20" dirty="0">
                <a:latin typeface="Times New Roman"/>
                <a:cs typeface="Times New Roman"/>
              </a:rPr>
              <a:t>le</a:t>
            </a:r>
            <a:r>
              <a:rPr sz="2400" spc="-155" dirty="0">
                <a:latin typeface="Times New Roman"/>
                <a:cs typeface="Times New Roman"/>
              </a:rPr>
              <a:t>a</a:t>
            </a:r>
            <a:r>
              <a:rPr sz="2400" spc="95" dirty="0">
                <a:latin typeface="Times New Roman"/>
                <a:cs typeface="Times New Roman"/>
              </a:rPr>
              <a:t>r</a:t>
            </a:r>
            <a:r>
              <a:rPr sz="2400" spc="-100" dirty="0">
                <a:latin typeface="Times New Roman"/>
                <a:cs typeface="Times New Roman"/>
              </a:rPr>
              <a:t>ni</a:t>
            </a:r>
            <a:r>
              <a:rPr sz="2400" spc="-120" dirty="0">
                <a:latin typeface="Times New Roman"/>
                <a:cs typeface="Times New Roman"/>
              </a:rPr>
              <a:t>n</a:t>
            </a:r>
            <a:r>
              <a:rPr sz="2400" spc="-200" dirty="0">
                <a:latin typeface="Times New Roman"/>
                <a:cs typeface="Times New Roman"/>
              </a:rPr>
              <a:t>g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60" dirty="0">
                <a:latin typeface="Times New Roman"/>
                <a:cs typeface="Times New Roman"/>
              </a:rPr>
              <a:t>b</a:t>
            </a:r>
            <a:r>
              <a:rPr sz="2400" spc="10" dirty="0">
                <a:latin typeface="Times New Roman"/>
                <a:cs typeface="Times New Roman"/>
              </a:rPr>
              <a:t>r</a:t>
            </a:r>
            <a:r>
              <a:rPr sz="2400" spc="-140" dirty="0">
                <a:latin typeface="Times New Roman"/>
                <a:cs typeface="Times New Roman"/>
              </a:rPr>
              <a:t>idges</a:t>
            </a:r>
            <a:endParaRPr sz="2400">
              <a:latin typeface="Times New Roman"/>
              <a:cs typeface="Times New Roman"/>
            </a:endParaRPr>
          </a:p>
          <a:p>
            <a:pPr marL="351790" indent="-229235">
              <a:lnSpc>
                <a:spcPct val="100000"/>
              </a:lnSpc>
              <a:spcBef>
                <a:spcPts val="145"/>
              </a:spcBef>
              <a:buChar char="•"/>
              <a:tabLst>
                <a:tab pos="352425" algn="l"/>
              </a:tabLst>
            </a:pPr>
            <a:r>
              <a:rPr sz="2400" spc="-160" dirty="0">
                <a:latin typeface="Times New Roman"/>
                <a:cs typeface="Times New Roman"/>
              </a:rPr>
              <a:t>Build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90" dirty="0">
                <a:latin typeface="Times New Roman"/>
                <a:cs typeface="Times New Roman"/>
              </a:rPr>
              <a:t>a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85" dirty="0">
                <a:latin typeface="Times New Roman"/>
                <a:cs typeface="Times New Roman"/>
              </a:rPr>
              <a:t>ta</a:t>
            </a:r>
            <a:r>
              <a:rPr sz="2400" spc="-155" dirty="0">
                <a:latin typeface="Times New Roman"/>
                <a:cs typeface="Times New Roman"/>
              </a:rPr>
              <a:t>b</a:t>
            </a:r>
            <a:r>
              <a:rPr sz="2400" spc="-75" dirty="0">
                <a:latin typeface="Times New Roman"/>
                <a:cs typeface="Times New Roman"/>
              </a:rPr>
              <a:t>l</a:t>
            </a:r>
            <a:r>
              <a:rPr sz="2400" spc="-114" dirty="0">
                <a:latin typeface="Times New Roman"/>
                <a:cs typeface="Times New Roman"/>
              </a:rPr>
              <a:t>e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40" dirty="0">
                <a:latin typeface="Times New Roman"/>
                <a:cs typeface="Times New Roman"/>
              </a:rPr>
              <a:t>of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285" dirty="0">
                <a:latin typeface="Times New Roman"/>
                <a:cs typeface="Times New Roman"/>
              </a:rPr>
              <a:t>M</a:t>
            </a:r>
            <a:r>
              <a:rPr sz="2400" spc="-430" dirty="0">
                <a:latin typeface="Times New Roman"/>
                <a:cs typeface="Times New Roman"/>
              </a:rPr>
              <a:t>A</a:t>
            </a:r>
            <a:r>
              <a:rPr sz="2400" spc="-125" dirty="0">
                <a:latin typeface="Times New Roman"/>
                <a:cs typeface="Times New Roman"/>
              </a:rPr>
              <a:t>C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35" dirty="0">
                <a:latin typeface="Times New Roman"/>
                <a:cs typeface="Times New Roman"/>
              </a:rPr>
              <a:t>add</a:t>
            </a:r>
            <a:r>
              <a:rPr sz="2400" dirty="0">
                <a:latin typeface="Times New Roman"/>
                <a:cs typeface="Times New Roman"/>
              </a:rPr>
              <a:t>r</a:t>
            </a:r>
            <a:r>
              <a:rPr sz="2400" spc="-160" dirty="0">
                <a:latin typeface="Times New Roman"/>
                <a:cs typeface="Times New Roman"/>
              </a:rPr>
              <a:t>es</a:t>
            </a:r>
            <a:r>
              <a:rPr sz="2400" spc="-145" dirty="0">
                <a:latin typeface="Times New Roman"/>
                <a:cs typeface="Times New Roman"/>
              </a:rPr>
              <a:t>s</a:t>
            </a:r>
            <a:r>
              <a:rPr sz="2400" spc="-140" dirty="0">
                <a:latin typeface="Times New Roman"/>
                <a:cs typeface="Times New Roman"/>
              </a:rPr>
              <a:t>es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spc="-204" dirty="0">
                <a:latin typeface="Times New Roman"/>
                <a:cs typeface="Times New Roman"/>
              </a:rPr>
              <a:t>a</a:t>
            </a:r>
            <a:r>
              <a:rPr sz="2400" spc="-175" dirty="0">
                <a:latin typeface="Times New Roman"/>
                <a:cs typeface="Times New Roman"/>
              </a:rPr>
              <a:t>s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75" dirty="0">
                <a:latin typeface="Times New Roman"/>
                <a:cs typeface="Times New Roman"/>
              </a:rPr>
              <a:t>f</a:t>
            </a:r>
            <a:r>
              <a:rPr sz="2400" spc="-70" dirty="0">
                <a:latin typeface="Times New Roman"/>
                <a:cs typeface="Times New Roman"/>
              </a:rPr>
              <a:t>r</a:t>
            </a:r>
            <a:r>
              <a:rPr sz="2400" spc="-170" dirty="0">
                <a:latin typeface="Times New Roman"/>
                <a:cs typeface="Times New Roman"/>
              </a:rPr>
              <a:t>ame</a:t>
            </a:r>
            <a:r>
              <a:rPr sz="2400" spc="-114" dirty="0">
                <a:latin typeface="Times New Roman"/>
                <a:cs typeface="Times New Roman"/>
              </a:rPr>
              <a:t>s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a</a:t>
            </a:r>
            <a:r>
              <a:rPr sz="2400" spc="-30" dirty="0">
                <a:latin typeface="Times New Roman"/>
                <a:cs typeface="Times New Roman"/>
              </a:rPr>
              <a:t>r</a:t>
            </a:r>
            <a:r>
              <a:rPr sz="2400" spc="70" dirty="0">
                <a:latin typeface="Times New Roman"/>
                <a:cs typeface="Times New Roman"/>
              </a:rPr>
              <a:t>r</a:t>
            </a:r>
            <a:r>
              <a:rPr sz="2400" spc="-114" dirty="0">
                <a:latin typeface="Times New Roman"/>
                <a:cs typeface="Times New Roman"/>
              </a:rPr>
              <a:t>i</a:t>
            </a:r>
            <a:r>
              <a:rPr sz="2400" spc="-260" dirty="0">
                <a:latin typeface="Times New Roman"/>
                <a:cs typeface="Times New Roman"/>
              </a:rPr>
              <a:t>v</a:t>
            </a:r>
            <a:r>
              <a:rPr sz="2400" spc="-95" dirty="0">
                <a:latin typeface="Times New Roman"/>
                <a:cs typeface="Times New Roman"/>
              </a:rPr>
              <a:t>e</a:t>
            </a:r>
            <a:endParaRPr sz="2400">
              <a:latin typeface="Times New Roman"/>
              <a:cs typeface="Times New Roman"/>
            </a:endParaRPr>
          </a:p>
          <a:p>
            <a:pPr marL="351790" indent="-229235">
              <a:lnSpc>
                <a:spcPct val="100000"/>
              </a:lnSpc>
              <a:spcBef>
                <a:spcPts val="145"/>
              </a:spcBef>
              <a:buChar char="•"/>
              <a:tabLst>
                <a:tab pos="352425" algn="l"/>
              </a:tabLst>
            </a:pPr>
            <a:r>
              <a:rPr sz="2400" spc="-90" dirty="0">
                <a:latin typeface="Times New Roman"/>
                <a:cs typeface="Times New Roman"/>
              </a:rPr>
              <a:t>Ethe</a:t>
            </a:r>
            <a:r>
              <a:rPr sz="2400" spc="5" dirty="0">
                <a:latin typeface="Times New Roman"/>
                <a:cs typeface="Times New Roman"/>
              </a:rPr>
              <a:t>r</a:t>
            </a:r>
            <a:r>
              <a:rPr sz="2400" spc="-55" dirty="0">
                <a:latin typeface="Times New Roman"/>
                <a:cs typeface="Times New Roman"/>
              </a:rPr>
              <a:t>net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65" dirty="0">
                <a:latin typeface="Times New Roman"/>
                <a:cs typeface="Times New Roman"/>
              </a:rPr>
              <a:t>net</a:t>
            </a:r>
            <a:r>
              <a:rPr sz="2400" spc="-204" dirty="0">
                <a:latin typeface="Times New Roman"/>
                <a:cs typeface="Times New Roman"/>
              </a:rPr>
              <a:t>w</a:t>
            </a:r>
            <a:r>
              <a:rPr sz="2400" spc="-70" dirty="0">
                <a:latin typeface="Times New Roman"/>
                <a:cs typeface="Times New Roman"/>
              </a:rPr>
              <a:t>or</a:t>
            </a:r>
            <a:r>
              <a:rPr sz="2400" spc="-80" dirty="0">
                <a:latin typeface="Times New Roman"/>
                <a:cs typeface="Times New Roman"/>
              </a:rPr>
              <a:t>k</a:t>
            </a:r>
            <a:r>
              <a:rPr sz="2400" spc="-185" dirty="0">
                <a:latin typeface="Times New Roman"/>
                <a:cs typeface="Times New Roman"/>
              </a:rPr>
              <a:t>s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25" dirty="0">
                <a:latin typeface="Times New Roman"/>
                <a:cs typeface="Times New Roman"/>
              </a:rPr>
              <a:t>use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85" dirty="0">
                <a:latin typeface="Times New Roman"/>
                <a:cs typeface="Times New Roman"/>
              </a:rPr>
              <a:t>trans</a:t>
            </a:r>
            <a:r>
              <a:rPr sz="2400" spc="-100" dirty="0">
                <a:latin typeface="Times New Roman"/>
                <a:cs typeface="Times New Roman"/>
              </a:rPr>
              <a:t>pa</a:t>
            </a:r>
            <a:r>
              <a:rPr sz="2400" spc="-90" dirty="0">
                <a:latin typeface="Times New Roman"/>
                <a:cs typeface="Times New Roman"/>
              </a:rPr>
              <a:t>r</a:t>
            </a:r>
            <a:r>
              <a:rPr sz="2400" spc="-55" dirty="0">
                <a:latin typeface="Times New Roman"/>
                <a:cs typeface="Times New Roman"/>
              </a:rPr>
              <a:t>ent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60" dirty="0">
                <a:latin typeface="Times New Roman"/>
                <a:cs typeface="Times New Roman"/>
              </a:rPr>
              <a:t>b</a:t>
            </a:r>
            <a:r>
              <a:rPr sz="2400" spc="10" dirty="0">
                <a:latin typeface="Times New Roman"/>
                <a:cs typeface="Times New Roman"/>
              </a:rPr>
              <a:t>r</a:t>
            </a:r>
            <a:r>
              <a:rPr sz="2400" spc="-130" dirty="0">
                <a:latin typeface="Times New Roman"/>
                <a:cs typeface="Times New Roman"/>
              </a:rPr>
              <a:t>idge</a:t>
            </a:r>
            <a:endParaRPr sz="2400">
              <a:latin typeface="Times New Roman"/>
              <a:cs typeface="Times New Roman"/>
            </a:endParaRPr>
          </a:p>
          <a:p>
            <a:pPr marL="351790" indent="-229235">
              <a:lnSpc>
                <a:spcPct val="100000"/>
              </a:lnSpc>
              <a:spcBef>
                <a:spcPts val="140"/>
              </a:spcBef>
              <a:buChar char="•"/>
              <a:tabLst>
                <a:tab pos="352425" algn="l"/>
              </a:tabLst>
            </a:pPr>
            <a:r>
              <a:rPr sz="2400" spc="-100" dirty="0">
                <a:latin typeface="Times New Roman"/>
                <a:cs typeface="Times New Roman"/>
              </a:rPr>
              <a:t>Duties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40" dirty="0">
                <a:latin typeface="Times New Roman"/>
                <a:cs typeface="Times New Roman"/>
              </a:rPr>
              <a:t>of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85" dirty="0">
                <a:latin typeface="Times New Roman"/>
                <a:cs typeface="Times New Roman"/>
              </a:rPr>
              <a:t>transparent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Times New Roman"/>
                <a:cs typeface="Times New Roman"/>
              </a:rPr>
              <a:t>bridge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Times New Roman"/>
                <a:cs typeface="Times New Roman"/>
              </a:rPr>
              <a:t>are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30" dirty="0">
                <a:latin typeface="Times New Roman"/>
                <a:cs typeface="Times New Roman"/>
              </a:rPr>
              <a:t>:</a:t>
            </a:r>
            <a:r>
              <a:rPr sz="2400" spc="-160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Filtering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Times New Roman"/>
                <a:cs typeface="Times New Roman"/>
              </a:rPr>
              <a:t>frames,</a:t>
            </a:r>
            <a:endParaRPr sz="2400">
              <a:latin typeface="Times New Roman"/>
              <a:cs typeface="Times New Roman"/>
            </a:endParaRPr>
          </a:p>
          <a:p>
            <a:pPr marL="351790" indent="-229235">
              <a:lnSpc>
                <a:spcPct val="100000"/>
              </a:lnSpc>
              <a:spcBef>
                <a:spcPts val="150"/>
              </a:spcBef>
              <a:buChar char="•"/>
              <a:tabLst>
                <a:tab pos="352425" algn="l"/>
              </a:tabLst>
            </a:pPr>
            <a:r>
              <a:rPr sz="2400" spc="-80" dirty="0">
                <a:latin typeface="Times New Roman"/>
                <a:cs typeface="Times New Roman"/>
              </a:rPr>
              <a:t>for</a:t>
            </a:r>
            <a:r>
              <a:rPr sz="2400" spc="-175" dirty="0">
                <a:latin typeface="Times New Roman"/>
                <a:cs typeface="Times New Roman"/>
              </a:rPr>
              <a:t>w</a:t>
            </a:r>
            <a:r>
              <a:rPr sz="2400" spc="-95" dirty="0">
                <a:latin typeface="Times New Roman"/>
                <a:cs typeface="Times New Roman"/>
              </a:rPr>
              <a:t>ardi</a:t>
            </a:r>
            <a:r>
              <a:rPr sz="2400" spc="-114" dirty="0">
                <a:latin typeface="Times New Roman"/>
                <a:cs typeface="Times New Roman"/>
              </a:rPr>
              <a:t>n</a:t>
            </a:r>
            <a:r>
              <a:rPr sz="2400" spc="-200" dirty="0">
                <a:latin typeface="Times New Roman"/>
                <a:cs typeface="Times New Roman"/>
              </a:rPr>
              <a:t>g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135" dirty="0">
                <a:latin typeface="Times New Roman"/>
                <a:cs typeface="Times New Roman"/>
              </a:rPr>
              <a:t>and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65" dirty="0">
                <a:latin typeface="Times New Roman"/>
                <a:cs typeface="Times New Roman"/>
              </a:rPr>
              <a:t>b</a:t>
            </a:r>
            <a:r>
              <a:rPr sz="2400" spc="-114" dirty="0">
                <a:latin typeface="Times New Roman"/>
                <a:cs typeface="Times New Roman"/>
              </a:rPr>
              <a:t>lo</a:t>
            </a:r>
            <a:r>
              <a:rPr sz="2400" spc="-75" dirty="0">
                <a:latin typeface="Times New Roman"/>
                <a:cs typeface="Times New Roman"/>
              </a:rPr>
              <a:t>c</a:t>
            </a:r>
            <a:r>
              <a:rPr sz="2400" spc="-114" dirty="0">
                <a:latin typeface="Times New Roman"/>
                <a:cs typeface="Times New Roman"/>
              </a:rPr>
              <a:t>ki</a:t>
            </a:r>
            <a:r>
              <a:rPr sz="2400" spc="-140" dirty="0">
                <a:latin typeface="Times New Roman"/>
                <a:cs typeface="Times New Roman"/>
              </a:rPr>
              <a:t>n</a:t>
            </a:r>
            <a:r>
              <a:rPr sz="2400" spc="-200" dirty="0">
                <a:latin typeface="Times New Roman"/>
                <a:cs typeface="Times New Roman"/>
              </a:rPr>
              <a:t>g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95"/>
              </a:spcBef>
            </a:pPr>
            <a:r>
              <a:rPr sz="3100" spc="-185" dirty="0">
                <a:solidFill>
                  <a:srgbClr val="FFFFFF"/>
                </a:solidFill>
                <a:latin typeface="Times New Roman"/>
                <a:cs typeface="Times New Roman"/>
              </a:rPr>
              <a:t>Sou</a:t>
            </a:r>
            <a:r>
              <a:rPr sz="3100" spc="-114" dirty="0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sz="3100" spc="-155" dirty="0">
                <a:solidFill>
                  <a:srgbClr val="FFFFFF"/>
                </a:solidFill>
                <a:latin typeface="Times New Roman"/>
                <a:cs typeface="Times New Roman"/>
              </a:rPr>
              <a:t>ce</a:t>
            </a:r>
            <a:r>
              <a:rPr sz="31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100" spc="-145" dirty="0">
                <a:solidFill>
                  <a:srgbClr val="FFFFFF"/>
                </a:solidFill>
                <a:latin typeface="Times New Roman"/>
                <a:cs typeface="Times New Roman"/>
              </a:rPr>
              <a:t>Routin</a:t>
            </a:r>
            <a:r>
              <a:rPr sz="3100" spc="-155" dirty="0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sz="31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100" spc="-305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3100" spc="-85" dirty="0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sz="3100" spc="-170" dirty="0">
                <a:solidFill>
                  <a:srgbClr val="FFFFFF"/>
                </a:solidFill>
                <a:latin typeface="Times New Roman"/>
                <a:cs typeface="Times New Roman"/>
              </a:rPr>
              <a:t>idge</a:t>
            </a:r>
            <a:endParaRPr sz="3100">
              <a:latin typeface="Times New Roman"/>
              <a:cs typeface="Times New Roman"/>
            </a:endParaRPr>
          </a:p>
          <a:p>
            <a:pPr marL="351790" indent="-229235">
              <a:lnSpc>
                <a:spcPct val="100000"/>
              </a:lnSpc>
              <a:spcBef>
                <a:spcPts val="1230"/>
              </a:spcBef>
              <a:buChar char="•"/>
              <a:tabLst>
                <a:tab pos="352425" algn="l"/>
              </a:tabLst>
            </a:pPr>
            <a:r>
              <a:rPr sz="2400" spc="-130" dirty="0">
                <a:latin typeface="Times New Roman"/>
                <a:cs typeface="Times New Roman"/>
              </a:rPr>
              <a:t>Used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10" dirty="0">
                <a:latin typeface="Times New Roman"/>
                <a:cs typeface="Times New Roman"/>
              </a:rPr>
              <a:t>in</a:t>
            </a:r>
            <a:r>
              <a:rPr sz="2400" spc="-355" dirty="0">
                <a:latin typeface="Times New Roman"/>
                <a:cs typeface="Times New Roman"/>
              </a:rPr>
              <a:t> </a:t>
            </a:r>
            <a:r>
              <a:rPr sz="2400" spc="-425" dirty="0">
                <a:latin typeface="Times New Roman"/>
                <a:cs typeface="Times New Roman"/>
              </a:rPr>
              <a:t>T</a:t>
            </a:r>
            <a:r>
              <a:rPr sz="2400" spc="-125" dirty="0">
                <a:latin typeface="Times New Roman"/>
                <a:cs typeface="Times New Roman"/>
              </a:rPr>
              <a:t>o</a:t>
            </a:r>
            <a:r>
              <a:rPr sz="2400" spc="-155" dirty="0">
                <a:latin typeface="Times New Roman"/>
                <a:cs typeface="Times New Roman"/>
              </a:rPr>
              <a:t>k</a:t>
            </a:r>
            <a:r>
              <a:rPr sz="2400" spc="-100" dirty="0">
                <a:latin typeface="Times New Roman"/>
                <a:cs typeface="Times New Roman"/>
              </a:rPr>
              <a:t>en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35" dirty="0">
                <a:latin typeface="Times New Roman"/>
                <a:cs typeface="Times New Roman"/>
              </a:rPr>
              <a:t>Rin</a:t>
            </a:r>
            <a:r>
              <a:rPr sz="2400" spc="-200" dirty="0">
                <a:latin typeface="Times New Roman"/>
                <a:cs typeface="Times New Roman"/>
              </a:rPr>
              <a:t>g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65" dirty="0">
                <a:latin typeface="Times New Roman"/>
                <a:cs typeface="Times New Roman"/>
              </a:rPr>
              <a:t>net</a:t>
            </a:r>
            <a:r>
              <a:rPr sz="2400" spc="-204" dirty="0">
                <a:latin typeface="Times New Roman"/>
                <a:cs typeface="Times New Roman"/>
              </a:rPr>
              <a:t>w</a:t>
            </a:r>
            <a:r>
              <a:rPr sz="2400" spc="-70" dirty="0">
                <a:latin typeface="Times New Roman"/>
                <a:cs typeface="Times New Roman"/>
              </a:rPr>
              <a:t>or</a:t>
            </a:r>
            <a:r>
              <a:rPr sz="2400" spc="-80" dirty="0">
                <a:latin typeface="Times New Roman"/>
                <a:cs typeface="Times New Roman"/>
              </a:rPr>
              <a:t>k</a:t>
            </a:r>
            <a:r>
              <a:rPr sz="2400" spc="-185" dirty="0">
                <a:latin typeface="Times New Roman"/>
                <a:cs typeface="Times New Roman"/>
              </a:rPr>
              <a:t>s</a:t>
            </a:r>
            <a:endParaRPr sz="2400">
              <a:latin typeface="Times New Roman"/>
              <a:cs typeface="Times New Roman"/>
            </a:endParaRPr>
          </a:p>
          <a:p>
            <a:pPr marL="351790" marR="5080" indent="-228600">
              <a:lnSpc>
                <a:spcPts val="2470"/>
              </a:lnSpc>
              <a:spcBef>
                <a:spcPts val="570"/>
              </a:spcBef>
              <a:buChar char="•"/>
              <a:tabLst>
                <a:tab pos="352425" algn="l"/>
                <a:tab pos="4419600" algn="l"/>
                <a:tab pos="5598160" algn="l"/>
              </a:tabLst>
            </a:pPr>
            <a:r>
              <a:rPr sz="2400" spc="-204" dirty="0">
                <a:latin typeface="Times New Roman"/>
                <a:cs typeface="Times New Roman"/>
              </a:rPr>
              <a:t>Ea</a:t>
            </a:r>
            <a:r>
              <a:rPr sz="2400" spc="-125" dirty="0">
                <a:latin typeface="Times New Roman"/>
                <a:cs typeface="Times New Roman"/>
              </a:rPr>
              <a:t>c</a:t>
            </a:r>
            <a:r>
              <a:rPr sz="2400" spc="-150" dirty="0">
                <a:latin typeface="Times New Roman"/>
                <a:cs typeface="Times New Roman"/>
              </a:rPr>
              <a:t>h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80" dirty="0">
                <a:latin typeface="Times New Roman"/>
                <a:cs typeface="Times New Roman"/>
              </a:rPr>
              <a:t>s</a:t>
            </a:r>
            <a:r>
              <a:rPr sz="2400" spc="-60" dirty="0">
                <a:latin typeface="Times New Roman"/>
                <a:cs typeface="Times New Roman"/>
              </a:rPr>
              <a:t>t</a:t>
            </a:r>
            <a:r>
              <a:rPr sz="2400" spc="-130" dirty="0">
                <a:latin typeface="Times New Roman"/>
                <a:cs typeface="Times New Roman"/>
              </a:rPr>
              <a:t>a</a:t>
            </a:r>
            <a:r>
              <a:rPr sz="2400" spc="-75" dirty="0">
                <a:latin typeface="Times New Roman"/>
                <a:cs typeface="Times New Roman"/>
              </a:rPr>
              <a:t>tion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40" dirty="0">
                <a:latin typeface="Times New Roman"/>
                <a:cs typeface="Times New Roman"/>
              </a:rPr>
              <a:t>sh</a:t>
            </a:r>
            <a:r>
              <a:rPr sz="2400" spc="-155" dirty="0">
                <a:latin typeface="Times New Roman"/>
                <a:cs typeface="Times New Roman"/>
              </a:rPr>
              <a:t>o</a:t>
            </a:r>
            <a:r>
              <a:rPr sz="2400" spc="-100" dirty="0">
                <a:latin typeface="Times New Roman"/>
                <a:cs typeface="Times New Roman"/>
              </a:rPr>
              <a:t>uld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dete</a:t>
            </a:r>
            <a:r>
              <a:rPr sz="2400" spc="25" dirty="0">
                <a:latin typeface="Times New Roman"/>
                <a:cs typeface="Times New Roman"/>
              </a:rPr>
              <a:t>r</a:t>
            </a:r>
            <a:r>
              <a:rPr sz="2400" spc="-130" dirty="0">
                <a:latin typeface="Times New Roman"/>
                <a:cs typeface="Times New Roman"/>
              </a:rPr>
              <a:t>mi</a:t>
            </a:r>
            <a:r>
              <a:rPr sz="2400" spc="-114" dirty="0">
                <a:latin typeface="Times New Roman"/>
                <a:cs typeface="Times New Roman"/>
              </a:rPr>
              <a:t>n</a:t>
            </a:r>
            <a:r>
              <a:rPr sz="2400" spc="-95" dirty="0">
                <a:latin typeface="Times New Roman"/>
                <a:cs typeface="Times New Roman"/>
              </a:rPr>
              <a:t>e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70" dirty="0">
                <a:latin typeface="Times New Roman"/>
                <a:cs typeface="Times New Roman"/>
              </a:rPr>
              <a:t>the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</a:t>
            </a:r>
            <a:r>
              <a:rPr sz="2400" spc="-105" dirty="0">
                <a:latin typeface="Times New Roman"/>
                <a:cs typeface="Times New Roman"/>
              </a:rPr>
              <a:t>o</a:t>
            </a:r>
            <a:r>
              <a:rPr sz="2400" spc="-100" dirty="0">
                <a:latin typeface="Times New Roman"/>
                <a:cs typeface="Times New Roman"/>
              </a:rPr>
              <a:t>u</a:t>
            </a:r>
            <a:r>
              <a:rPr sz="2400" spc="-30" dirty="0">
                <a:latin typeface="Times New Roman"/>
                <a:cs typeface="Times New Roman"/>
              </a:rPr>
              <a:t>te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35" dirty="0">
                <a:latin typeface="Times New Roman"/>
                <a:cs typeface="Times New Roman"/>
              </a:rPr>
              <a:t>to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70" dirty="0">
                <a:latin typeface="Times New Roman"/>
                <a:cs typeface="Times New Roman"/>
              </a:rPr>
              <a:t>the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95" dirty="0">
                <a:latin typeface="Times New Roman"/>
                <a:cs typeface="Times New Roman"/>
              </a:rPr>
              <a:t>destin</a:t>
            </a:r>
            <a:r>
              <a:rPr sz="2400" spc="-215" dirty="0">
                <a:latin typeface="Times New Roman"/>
                <a:cs typeface="Times New Roman"/>
              </a:rPr>
              <a:t>a</a:t>
            </a:r>
            <a:r>
              <a:rPr sz="2400" spc="-75" dirty="0">
                <a:latin typeface="Times New Roman"/>
                <a:cs typeface="Times New Roman"/>
              </a:rPr>
              <a:t>tion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45" dirty="0">
                <a:latin typeface="Times New Roman"/>
                <a:cs typeface="Times New Roman"/>
              </a:rPr>
              <a:t>w</a:t>
            </a:r>
            <a:r>
              <a:rPr sz="2400" spc="-114" dirty="0">
                <a:latin typeface="Times New Roman"/>
                <a:cs typeface="Times New Roman"/>
              </a:rPr>
              <a:t>hen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40" dirty="0">
                <a:latin typeface="Times New Roman"/>
                <a:cs typeface="Times New Roman"/>
              </a:rPr>
              <a:t>it  </a:t>
            </a:r>
            <a:r>
              <a:rPr sz="2400" spc="-165" dirty="0">
                <a:latin typeface="Times New Roman"/>
                <a:cs typeface="Times New Roman"/>
              </a:rPr>
              <a:t>w</a:t>
            </a:r>
            <a:r>
              <a:rPr sz="2400" spc="-120" dirty="0">
                <a:latin typeface="Times New Roman"/>
                <a:cs typeface="Times New Roman"/>
              </a:rPr>
              <a:t>ant</a:t>
            </a:r>
            <a:r>
              <a:rPr sz="2400" spc="-110" dirty="0">
                <a:latin typeface="Times New Roman"/>
                <a:cs typeface="Times New Roman"/>
              </a:rPr>
              <a:t>s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35" dirty="0">
                <a:latin typeface="Times New Roman"/>
                <a:cs typeface="Times New Roman"/>
              </a:rPr>
              <a:t>to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80" dirty="0">
                <a:latin typeface="Times New Roman"/>
                <a:cs typeface="Times New Roman"/>
              </a:rPr>
              <a:t>s</a:t>
            </a:r>
            <a:r>
              <a:rPr sz="2400" spc="-100" dirty="0">
                <a:latin typeface="Times New Roman"/>
                <a:cs typeface="Times New Roman"/>
              </a:rPr>
              <a:t>end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90" dirty="0">
                <a:latin typeface="Times New Roman"/>
                <a:cs typeface="Times New Roman"/>
              </a:rPr>
              <a:t>a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14" dirty="0">
                <a:latin typeface="Times New Roman"/>
                <a:cs typeface="Times New Roman"/>
              </a:rPr>
              <a:t>frame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45" dirty="0">
                <a:latin typeface="Times New Roman"/>
                <a:cs typeface="Times New Roman"/>
              </a:rPr>
              <a:t>a</a:t>
            </a:r>
            <a:r>
              <a:rPr sz="2400" spc="-155" dirty="0">
                <a:latin typeface="Times New Roman"/>
                <a:cs typeface="Times New Roman"/>
              </a:rPr>
              <a:t>n</a:t>
            </a:r>
            <a:r>
              <a:rPr sz="2400" spc="-105" dirty="0">
                <a:latin typeface="Times New Roman"/>
                <a:cs typeface="Times New Roman"/>
              </a:rPr>
              <a:t>d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15" dirty="0">
                <a:latin typeface="Times New Roman"/>
                <a:cs typeface="Times New Roman"/>
              </a:rPr>
              <a:t>t</a:t>
            </a:r>
            <a:r>
              <a:rPr sz="2400" spc="-80" dirty="0">
                <a:latin typeface="Times New Roman"/>
                <a:cs typeface="Times New Roman"/>
              </a:rPr>
              <a:t>her</a:t>
            </a:r>
            <a:r>
              <a:rPr sz="2400" spc="-95" dirty="0">
                <a:latin typeface="Times New Roman"/>
                <a:cs typeface="Times New Roman"/>
              </a:rPr>
              <a:t>efore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5" dirty="0">
                <a:latin typeface="Times New Roman"/>
                <a:cs typeface="Times New Roman"/>
              </a:rPr>
              <a:t>incl</a:t>
            </a:r>
            <a:r>
              <a:rPr sz="2400" spc="-135" dirty="0">
                <a:latin typeface="Times New Roman"/>
                <a:cs typeface="Times New Roman"/>
              </a:rPr>
              <a:t>u</a:t>
            </a:r>
            <a:r>
              <a:rPr sz="2400" spc="-100" dirty="0">
                <a:latin typeface="Times New Roman"/>
                <a:cs typeface="Times New Roman"/>
              </a:rPr>
              <a:t>de</a:t>
            </a:r>
            <a:r>
              <a:rPr sz="2400" spc="-70" dirty="0">
                <a:latin typeface="Times New Roman"/>
                <a:cs typeface="Times New Roman"/>
              </a:rPr>
              <a:t> the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</a:t>
            </a:r>
            <a:r>
              <a:rPr sz="2400" spc="-105" dirty="0">
                <a:latin typeface="Times New Roman"/>
                <a:cs typeface="Times New Roman"/>
              </a:rPr>
              <a:t>o</a:t>
            </a:r>
            <a:r>
              <a:rPr sz="2400" spc="-100" dirty="0">
                <a:latin typeface="Times New Roman"/>
                <a:cs typeface="Times New Roman"/>
              </a:rPr>
              <a:t>u</a:t>
            </a:r>
            <a:r>
              <a:rPr sz="2400" spc="-30" dirty="0">
                <a:latin typeface="Times New Roman"/>
                <a:cs typeface="Times New Roman"/>
              </a:rPr>
              <a:t>te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114" dirty="0">
                <a:latin typeface="Times New Roman"/>
                <a:cs typeface="Times New Roman"/>
              </a:rPr>
              <a:t>inf</a:t>
            </a:r>
            <a:r>
              <a:rPr sz="2400" spc="-150" dirty="0">
                <a:latin typeface="Times New Roman"/>
                <a:cs typeface="Times New Roman"/>
              </a:rPr>
              <a:t>o</a:t>
            </a:r>
            <a:r>
              <a:rPr sz="2400" spc="95" dirty="0">
                <a:latin typeface="Times New Roman"/>
                <a:cs typeface="Times New Roman"/>
              </a:rPr>
              <a:t>r</a:t>
            </a:r>
            <a:r>
              <a:rPr sz="2400" spc="-215" dirty="0">
                <a:latin typeface="Times New Roman"/>
                <a:cs typeface="Times New Roman"/>
              </a:rPr>
              <a:t>m</a:t>
            </a:r>
            <a:r>
              <a:rPr sz="2400" spc="-145" dirty="0">
                <a:latin typeface="Times New Roman"/>
                <a:cs typeface="Times New Roman"/>
              </a:rPr>
              <a:t>a</a:t>
            </a:r>
            <a:r>
              <a:rPr sz="2400" spc="-75" dirty="0">
                <a:latin typeface="Times New Roman"/>
                <a:cs typeface="Times New Roman"/>
              </a:rPr>
              <a:t>tion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in  </a:t>
            </a:r>
            <a:r>
              <a:rPr sz="2400" spc="-70" dirty="0">
                <a:latin typeface="Times New Roman"/>
                <a:cs typeface="Times New Roman"/>
              </a:rPr>
              <a:t>the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header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o</a:t>
            </a:r>
            <a:r>
              <a:rPr sz="2400" spc="-180" dirty="0">
                <a:latin typeface="Times New Roman"/>
                <a:cs typeface="Times New Roman"/>
              </a:rPr>
              <a:t>f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120" dirty="0">
                <a:latin typeface="Times New Roman"/>
                <a:cs typeface="Times New Roman"/>
              </a:rPr>
              <a:t>fram</a:t>
            </a:r>
            <a:r>
              <a:rPr sz="2400" spc="-155" dirty="0">
                <a:latin typeface="Times New Roman"/>
                <a:cs typeface="Times New Roman"/>
              </a:rPr>
              <a:t>e</a:t>
            </a:r>
            <a:r>
              <a:rPr sz="2400" spc="10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351790" indent="-229235">
              <a:lnSpc>
                <a:spcPct val="100000"/>
              </a:lnSpc>
              <a:spcBef>
                <a:spcPts val="145"/>
              </a:spcBef>
              <a:buChar char="•"/>
              <a:tabLst>
                <a:tab pos="352425" algn="l"/>
              </a:tabLst>
            </a:pPr>
            <a:r>
              <a:rPr sz="2400" spc="-140" dirty="0">
                <a:latin typeface="Times New Roman"/>
                <a:cs typeface="Times New Roman"/>
              </a:rPr>
              <a:t>Addresses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spc="-140" dirty="0">
                <a:latin typeface="Times New Roman"/>
                <a:cs typeface="Times New Roman"/>
              </a:rPr>
              <a:t>of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these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10" dirty="0">
                <a:latin typeface="Times New Roman"/>
                <a:cs typeface="Times New Roman"/>
              </a:rPr>
              <a:t>bridges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Times New Roman"/>
                <a:cs typeface="Times New Roman"/>
              </a:rPr>
              <a:t>are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included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10" dirty="0">
                <a:latin typeface="Times New Roman"/>
                <a:cs typeface="Times New Roman"/>
              </a:rPr>
              <a:t>in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75" dirty="0">
                <a:latin typeface="Times New Roman"/>
                <a:cs typeface="Times New Roman"/>
              </a:rPr>
              <a:t>the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frame.</a:t>
            </a:r>
            <a:endParaRPr sz="2400">
              <a:latin typeface="Times New Roman"/>
              <a:cs typeface="Times New Roman"/>
            </a:endParaRPr>
          </a:p>
          <a:p>
            <a:pPr marL="351790" indent="-229235">
              <a:lnSpc>
                <a:spcPts val="2675"/>
              </a:lnSpc>
              <a:spcBef>
                <a:spcPts val="150"/>
              </a:spcBef>
              <a:buChar char="•"/>
              <a:tabLst>
                <a:tab pos="352425" algn="l"/>
                <a:tab pos="6070600" algn="l"/>
              </a:tabLst>
            </a:pPr>
            <a:r>
              <a:rPr sz="2400" spc="-125" dirty="0">
                <a:latin typeface="Times New Roman"/>
                <a:cs typeface="Times New Roman"/>
              </a:rPr>
              <a:t>Frame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114" dirty="0">
                <a:latin typeface="Times New Roman"/>
                <a:cs typeface="Times New Roman"/>
              </a:rPr>
              <a:t>contains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no</a:t>
            </a:r>
            <a:r>
              <a:rPr sz="2400" spc="30" dirty="0">
                <a:latin typeface="Times New Roman"/>
                <a:cs typeface="Times New Roman"/>
              </a:rPr>
              <a:t>t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14" dirty="0">
                <a:latin typeface="Times New Roman"/>
                <a:cs typeface="Times New Roman"/>
              </a:rPr>
              <a:t>onl</a:t>
            </a:r>
            <a:r>
              <a:rPr sz="2400" spc="-200" dirty="0">
                <a:latin typeface="Times New Roman"/>
                <a:cs typeface="Times New Roman"/>
              </a:rPr>
              <a:t>y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70" dirty="0">
                <a:latin typeface="Times New Roman"/>
                <a:cs typeface="Times New Roman"/>
              </a:rPr>
              <a:t>the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sour</a:t>
            </a:r>
            <a:r>
              <a:rPr sz="2400" spc="-120" dirty="0">
                <a:latin typeface="Times New Roman"/>
                <a:cs typeface="Times New Roman"/>
              </a:rPr>
              <a:t>ce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135" dirty="0">
                <a:latin typeface="Times New Roman"/>
                <a:cs typeface="Times New Roman"/>
              </a:rPr>
              <a:t>and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destin</a:t>
            </a:r>
            <a:r>
              <a:rPr sz="2400" spc="-150" dirty="0">
                <a:latin typeface="Times New Roman"/>
                <a:cs typeface="Times New Roman"/>
              </a:rPr>
              <a:t>a</a:t>
            </a:r>
            <a:r>
              <a:rPr sz="2400" spc="-75" dirty="0">
                <a:latin typeface="Times New Roman"/>
                <a:cs typeface="Times New Roman"/>
              </a:rPr>
              <a:t>tion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5" dirty="0">
                <a:latin typeface="Times New Roman"/>
                <a:cs typeface="Times New Roman"/>
              </a:rPr>
              <a:t>add</a:t>
            </a:r>
            <a:r>
              <a:rPr sz="2400" spc="-90" dirty="0">
                <a:latin typeface="Times New Roman"/>
                <a:cs typeface="Times New Roman"/>
              </a:rPr>
              <a:t>r</a:t>
            </a:r>
            <a:r>
              <a:rPr sz="2400" spc="-155" dirty="0">
                <a:latin typeface="Times New Roman"/>
                <a:cs typeface="Times New Roman"/>
              </a:rPr>
              <a:t>ess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145" dirty="0">
                <a:latin typeface="Times New Roman"/>
                <a:cs typeface="Times New Roman"/>
              </a:rPr>
              <a:t>b</a:t>
            </a:r>
            <a:r>
              <a:rPr sz="2400" spc="-35" dirty="0">
                <a:latin typeface="Times New Roman"/>
                <a:cs typeface="Times New Roman"/>
              </a:rPr>
              <a:t>ut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45" dirty="0">
                <a:latin typeface="Times New Roman"/>
                <a:cs typeface="Times New Roman"/>
              </a:rPr>
              <a:t>also</a:t>
            </a:r>
            <a:endParaRPr sz="2400">
              <a:latin typeface="Times New Roman"/>
              <a:cs typeface="Times New Roman"/>
            </a:endParaRPr>
          </a:p>
          <a:p>
            <a:pPr marL="351790">
              <a:lnSpc>
                <a:spcPts val="2675"/>
              </a:lnSpc>
            </a:pPr>
            <a:r>
              <a:rPr sz="2400" spc="-70" dirty="0">
                <a:latin typeface="Times New Roman"/>
                <a:cs typeface="Times New Roman"/>
              </a:rPr>
              <a:t>the</a:t>
            </a:r>
            <a:r>
              <a:rPr sz="2400" spc="-60" dirty="0">
                <a:latin typeface="Times New Roman"/>
                <a:cs typeface="Times New Roman"/>
              </a:rPr>
              <a:t> b</a:t>
            </a:r>
            <a:r>
              <a:rPr sz="2400" spc="10" dirty="0">
                <a:latin typeface="Times New Roman"/>
                <a:cs typeface="Times New Roman"/>
              </a:rPr>
              <a:t>r</a:t>
            </a:r>
            <a:r>
              <a:rPr sz="2400" spc="-130" dirty="0">
                <a:latin typeface="Times New Roman"/>
                <a:cs typeface="Times New Roman"/>
              </a:rPr>
              <a:t>idge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135" dirty="0">
                <a:latin typeface="Times New Roman"/>
                <a:cs typeface="Times New Roman"/>
              </a:rPr>
              <a:t>add</a:t>
            </a:r>
            <a:r>
              <a:rPr sz="2400" dirty="0">
                <a:latin typeface="Times New Roman"/>
                <a:cs typeface="Times New Roman"/>
              </a:rPr>
              <a:t>r</a:t>
            </a:r>
            <a:r>
              <a:rPr sz="2400" spc="-160" dirty="0">
                <a:latin typeface="Times New Roman"/>
                <a:cs typeface="Times New Roman"/>
              </a:rPr>
              <a:t>es</a:t>
            </a:r>
            <a:r>
              <a:rPr sz="2400" spc="-145" dirty="0">
                <a:latin typeface="Times New Roman"/>
                <a:cs typeface="Times New Roman"/>
              </a:rPr>
              <a:t>s</a:t>
            </a:r>
            <a:r>
              <a:rPr sz="2400" spc="-150" dirty="0">
                <a:latin typeface="Times New Roman"/>
                <a:cs typeface="Times New Roman"/>
              </a:rPr>
              <a:t>e</a:t>
            </a:r>
            <a:r>
              <a:rPr sz="2400" spc="-175" dirty="0">
                <a:latin typeface="Times New Roman"/>
                <a:cs typeface="Times New Roman"/>
              </a:rPr>
              <a:t>s</a:t>
            </a:r>
            <a:r>
              <a:rPr sz="2400" spc="10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125984"/>
            <a:ext cx="774065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357620" algn="l"/>
              </a:tabLst>
            </a:pPr>
            <a:r>
              <a:rPr sz="4000" spc="-409" dirty="0">
                <a:solidFill>
                  <a:srgbClr val="585858"/>
                </a:solidFill>
                <a:latin typeface="Times New Roman"/>
                <a:cs typeface="Times New Roman"/>
              </a:rPr>
              <a:t>A</a:t>
            </a:r>
            <a:r>
              <a:rPr sz="4000" spc="-360" dirty="0">
                <a:solidFill>
                  <a:srgbClr val="585858"/>
                </a:solidFill>
                <a:latin typeface="Times New Roman"/>
                <a:cs typeface="Times New Roman"/>
              </a:rPr>
              <a:t>d</a:t>
            </a:r>
            <a:r>
              <a:rPr sz="4000" spc="-409" dirty="0">
                <a:solidFill>
                  <a:srgbClr val="585858"/>
                </a:solidFill>
                <a:latin typeface="Times New Roman"/>
                <a:cs typeface="Times New Roman"/>
              </a:rPr>
              <a:t>v</a:t>
            </a:r>
            <a:r>
              <a:rPr sz="4000" spc="-235" dirty="0">
                <a:solidFill>
                  <a:srgbClr val="585858"/>
                </a:solidFill>
                <a:latin typeface="Times New Roman"/>
                <a:cs typeface="Times New Roman"/>
              </a:rPr>
              <a:t>a</a:t>
            </a:r>
            <a:r>
              <a:rPr sz="4000" spc="-275" dirty="0">
                <a:solidFill>
                  <a:srgbClr val="585858"/>
                </a:solidFill>
                <a:latin typeface="Times New Roman"/>
                <a:cs typeface="Times New Roman"/>
              </a:rPr>
              <a:t>n</a:t>
            </a:r>
            <a:r>
              <a:rPr sz="4000" spc="35" dirty="0">
                <a:solidFill>
                  <a:srgbClr val="585858"/>
                </a:solidFill>
                <a:latin typeface="Times New Roman"/>
                <a:cs typeface="Times New Roman"/>
              </a:rPr>
              <a:t>t</a:t>
            </a:r>
            <a:r>
              <a:rPr sz="4000" spc="-315" dirty="0">
                <a:solidFill>
                  <a:srgbClr val="585858"/>
                </a:solidFill>
                <a:latin typeface="Times New Roman"/>
                <a:cs typeface="Times New Roman"/>
              </a:rPr>
              <a:t>a</a:t>
            </a:r>
            <a:r>
              <a:rPr sz="4000" spc="-365" dirty="0">
                <a:solidFill>
                  <a:srgbClr val="585858"/>
                </a:solidFill>
                <a:latin typeface="Times New Roman"/>
                <a:cs typeface="Times New Roman"/>
              </a:rPr>
              <a:t>g</a:t>
            </a:r>
            <a:r>
              <a:rPr sz="4000" spc="-170" dirty="0">
                <a:solidFill>
                  <a:srgbClr val="585858"/>
                </a:solidFill>
                <a:latin typeface="Times New Roman"/>
                <a:cs typeface="Times New Roman"/>
              </a:rPr>
              <a:t>e</a:t>
            </a:r>
            <a:r>
              <a:rPr sz="4000" spc="-310" dirty="0">
                <a:solidFill>
                  <a:srgbClr val="585858"/>
                </a:solidFill>
                <a:latin typeface="Times New Roman"/>
                <a:cs typeface="Times New Roman"/>
              </a:rPr>
              <a:t>s</a:t>
            </a:r>
            <a:r>
              <a:rPr sz="4000" spc="-455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4000" spc="-310" dirty="0">
                <a:solidFill>
                  <a:srgbClr val="585858"/>
                </a:solidFill>
                <a:latin typeface="Times New Roman"/>
                <a:cs typeface="Times New Roman"/>
              </a:rPr>
              <a:t>An</a:t>
            </a:r>
            <a:r>
              <a:rPr sz="4000" spc="-250" dirty="0">
                <a:solidFill>
                  <a:srgbClr val="585858"/>
                </a:solidFill>
                <a:latin typeface="Times New Roman"/>
                <a:cs typeface="Times New Roman"/>
              </a:rPr>
              <a:t>d</a:t>
            </a:r>
            <a:r>
              <a:rPr sz="4000" spc="-75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4000" spc="-240" dirty="0">
                <a:solidFill>
                  <a:srgbClr val="585858"/>
                </a:solidFill>
                <a:latin typeface="Times New Roman"/>
                <a:cs typeface="Times New Roman"/>
              </a:rPr>
              <a:t>D</a:t>
            </a:r>
            <a:r>
              <a:rPr sz="4000" spc="-220" dirty="0">
                <a:solidFill>
                  <a:srgbClr val="585858"/>
                </a:solidFill>
                <a:latin typeface="Times New Roman"/>
                <a:cs typeface="Times New Roman"/>
              </a:rPr>
              <a:t>i</a:t>
            </a:r>
            <a:r>
              <a:rPr sz="4000" spc="-330" dirty="0">
                <a:solidFill>
                  <a:srgbClr val="585858"/>
                </a:solidFill>
                <a:latin typeface="Times New Roman"/>
                <a:cs typeface="Times New Roman"/>
              </a:rPr>
              <a:t>s</a:t>
            </a:r>
            <a:r>
              <a:rPr sz="4000" spc="-235" dirty="0">
                <a:solidFill>
                  <a:srgbClr val="585858"/>
                </a:solidFill>
                <a:latin typeface="Times New Roman"/>
                <a:cs typeface="Times New Roman"/>
              </a:rPr>
              <a:t>a</a:t>
            </a:r>
            <a:r>
              <a:rPr sz="4000" spc="-335" dirty="0">
                <a:solidFill>
                  <a:srgbClr val="585858"/>
                </a:solidFill>
                <a:latin typeface="Times New Roman"/>
                <a:cs typeface="Times New Roman"/>
              </a:rPr>
              <a:t>d</a:t>
            </a:r>
            <a:r>
              <a:rPr sz="4000" spc="-409" dirty="0">
                <a:solidFill>
                  <a:srgbClr val="585858"/>
                </a:solidFill>
                <a:latin typeface="Times New Roman"/>
                <a:cs typeface="Times New Roman"/>
              </a:rPr>
              <a:t>v</a:t>
            </a:r>
            <a:r>
              <a:rPr sz="4000" spc="-235" dirty="0">
                <a:solidFill>
                  <a:srgbClr val="585858"/>
                </a:solidFill>
                <a:latin typeface="Times New Roman"/>
                <a:cs typeface="Times New Roman"/>
              </a:rPr>
              <a:t>a</a:t>
            </a:r>
            <a:r>
              <a:rPr sz="4000" spc="-275" dirty="0">
                <a:solidFill>
                  <a:srgbClr val="585858"/>
                </a:solidFill>
                <a:latin typeface="Times New Roman"/>
                <a:cs typeface="Times New Roman"/>
              </a:rPr>
              <a:t>n</a:t>
            </a:r>
            <a:r>
              <a:rPr sz="4000" spc="35" dirty="0">
                <a:solidFill>
                  <a:srgbClr val="585858"/>
                </a:solidFill>
                <a:latin typeface="Times New Roman"/>
                <a:cs typeface="Times New Roman"/>
              </a:rPr>
              <a:t>t</a:t>
            </a:r>
            <a:r>
              <a:rPr sz="4000" spc="-315" dirty="0">
                <a:solidFill>
                  <a:srgbClr val="585858"/>
                </a:solidFill>
                <a:latin typeface="Times New Roman"/>
                <a:cs typeface="Times New Roman"/>
              </a:rPr>
              <a:t>a</a:t>
            </a:r>
            <a:r>
              <a:rPr sz="4000" spc="-375" dirty="0">
                <a:solidFill>
                  <a:srgbClr val="585858"/>
                </a:solidFill>
                <a:latin typeface="Times New Roman"/>
                <a:cs typeface="Times New Roman"/>
              </a:rPr>
              <a:t>g</a:t>
            </a:r>
            <a:r>
              <a:rPr sz="4000" spc="-170" dirty="0">
                <a:solidFill>
                  <a:srgbClr val="585858"/>
                </a:solidFill>
                <a:latin typeface="Times New Roman"/>
                <a:cs typeface="Times New Roman"/>
              </a:rPr>
              <a:t>e</a:t>
            </a:r>
            <a:r>
              <a:rPr sz="4000" spc="-310" dirty="0">
                <a:solidFill>
                  <a:srgbClr val="585858"/>
                </a:solidFill>
                <a:latin typeface="Times New Roman"/>
                <a:cs typeface="Times New Roman"/>
              </a:rPr>
              <a:t>s</a:t>
            </a:r>
            <a:r>
              <a:rPr sz="4000" spc="-385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4000" spc="-135" dirty="0">
                <a:solidFill>
                  <a:srgbClr val="585858"/>
                </a:solidFill>
                <a:latin typeface="Times New Roman"/>
                <a:cs typeface="Times New Roman"/>
              </a:rPr>
              <a:t>Of</a:t>
            </a:r>
            <a:r>
              <a:rPr sz="4000" dirty="0">
                <a:solidFill>
                  <a:srgbClr val="585858"/>
                </a:solidFill>
                <a:latin typeface="Times New Roman"/>
                <a:cs typeface="Times New Roman"/>
              </a:rPr>
              <a:t>	</a:t>
            </a:r>
            <a:r>
              <a:rPr sz="4000" spc="-395" dirty="0">
                <a:solidFill>
                  <a:srgbClr val="585858"/>
                </a:solidFill>
                <a:latin typeface="Times New Roman"/>
                <a:cs typeface="Times New Roman"/>
              </a:rPr>
              <a:t>B</a:t>
            </a:r>
            <a:r>
              <a:rPr sz="4000" spc="-114" dirty="0">
                <a:solidFill>
                  <a:srgbClr val="585858"/>
                </a:solidFill>
                <a:latin typeface="Times New Roman"/>
                <a:cs typeface="Times New Roman"/>
              </a:rPr>
              <a:t>r</a:t>
            </a:r>
            <a:r>
              <a:rPr sz="4000" spc="-235" dirty="0">
                <a:solidFill>
                  <a:srgbClr val="585858"/>
                </a:solidFill>
                <a:latin typeface="Times New Roman"/>
                <a:cs typeface="Times New Roman"/>
              </a:rPr>
              <a:t>idges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081431"/>
            <a:ext cx="6971030" cy="4871085"/>
          </a:xfrm>
          <a:prstGeom prst="rect">
            <a:avLst/>
          </a:prstGeom>
        </p:spPr>
        <p:txBody>
          <a:bodyPr vert="horz" wrap="square" lIns="0" tIns="80645" rIns="0" bIns="0" rtlCol="0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635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3200" spc="-430" dirty="0">
                <a:latin typeface="Times New Roman"/>
                <a:cs typeface="Times New Roman"/>
              </a:rPr>
              <a:t>A</a:t>
            </a:r>
            <a:r>
              <a:rPr sz="3200" spc="-215" dirty="0">
                <a:latin typeface="Times New Roman"/>
                <a:cs typeface="Times New Roman"/>
              </a:rPr>
              <a:t>d</a:t>
            </a:r>
            <a:r>
              <a:rPr sz="3200" spc="-345" dirty="0">
                <a:latin typeface="Times New Roman"/>
                <a:cs typeface="Times New Roman"/>
              </a:rPr>
              <a:t>v</a:t>
            </a:r>
            <a:r>
              <a:rPr sz="3200" spc="-275" dirty="0">
                <a:latin typeface="Times New Roman"/>
                <a:cs typeface="Times New Roman"/>
              </a:rPr>
              <a:t>a</a:t>
            </a:r>
            <a:r>
              <a:rPr sz="3200" spc="-165" dirty="0">
                <a:latin typeface="Times New Roman"/>
                <a:cs typeface="Times New Roman"/>
              </a:rPr>
              <a:t>n</a:t>
            </a:r>
            <a:r>
              <a:rPr sz="3200" spc="20" dirty="0">
                <a:latin typeface="Times New Roman"/>
                <a:cs typeface="Times New Roman"/>
              </a:rPr>
              <a:t>t</a:t>
            </a:r>
            <a:r>
              <a:rPr sz="3200" spc="-275" dirty="0">
                <a:latin typeface="Times New Roman"/>
                <a:cs typeface="Times New Roman"/>
              </a:rPr>
              <a:t>a</a:t>
            </a:r>
            <a:r>
              <a:rPr sz="3200" spc="-295" dirty="0">
                <a:latin typeface="Times New Roman"/>
                <a:cs typeface="Times New Roman"/>
              </a:rPr>
              <a:t>g</a:t>
            </a:r>
            <a:r>
              <a:rPr sz="3200" spc="-155" dirty="0">
                <a:latin typeface="Times New Roman"/>
                <a:cs typeface="Times New Roman"/>
              </a:rPr>
              <a:t>e</a:t>
            </a:r>
            <a:r>
              <a:rPr sz="3200" spc="-245" dirty="0">
                <a:latin typeface="Times New Roman"/>
                <a:cs typeface="Times New Roman"/>
              </a:rPr>
              <a:t>s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spc="-155" dirty="0">
                <a:latin typeface="Times New Roman"/>
                <a:cs typeface="Times New Roman"/>
              </a:rPr>
              <a:t>o</a:t>
            </a:r>
            <a:r>
              <a:rPr sz="3200" spc="-235" dirty="0">
                <a:latin typeface="Times New Roman"/>
                <a:cs typeface="Times New Roman"/>
              </a:rPr>
              <a:t>f</a:t>
            </a:r>
            <a:r>
              <a:rPr sz="3200" spc="-100" dirty="0">
                <a:latin typeface="Times New Roman"/>
                <a:cs typeface="Times New Roman"/>
              </a:rPr>
              <a:t> </a:t>
            </a:r>
            <a:r>
              <a:rPr sz="3200" spc="-185" dirty="0">
                <a:latin typeface="Times New Roman"/>
                <a:cs typeface="Times New Roman"/>
              </a:rPr>
              <a:t>usin</a:t>
            </a:r>
            <a:r>
              <a:rPr sz="3200" spc="-215" dirty="0">
                <a:latin typeface="Times New Roman"/>
                <a:cs typeface="Times New Roman"/>
              </a:rPr>
              <a:t>g</a:t>
            </a:r>
            <a:r>
              <a:rPr sz="3200" spc="-114" dirty="0">
                <a:latin typeface="Times New Roman"/>
                <a:cs typeface="Times New Roman"/>
              </a:rPr>
              <a:t> </a:t>
            </a:r>
            <a:r>
              <a:rPr sz="3200" spc="-254" dirty="0">
                <a:latin typeface="Times New Roman"/>
                <a:cs typeface="Times New Roman"/>
              </a:rPr>
              <a:t>a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spc="-80" dirty="0">
                <a:latin typeface="Times New Roman"/>
                <a:cs typeface="Times New Roman"/>
              </a:rPr>
              <a:t>b</a:t>
            </a:r>
            <a:r>
              <a:rPr sz="3200" spc="-20" dirty="0">
                <a:latin typeface="Times New Roman"/>
                <a:cs typeface="Times New Roman"/>
              </a:rPr>
              <a:t>r</a:t>
            </a:r>
            <a:r>
              <a:rPr sz="3200" spc="-175" dirty="0">
                <a:latin typeface="Times New Roman"/>
                <a:cs typeface="Times New Roman"/>
              </a:rPr>
              <a:t>i</a:t>
            </a:r>
            <a:r>
              <a:rPr sz="3200" spc="-155" dirty="0">
                <a:latin typeface="Times New Roman"/>
                <a:cs typeface="Times New Roman"/>
              </a:rPr>
              <a:t>d</a:t>
            </a:r>
            <a:r>
              <a:rPr sz="3200" spc="-285" dirty="0">
                <a:latin typeface="Times New Roman"/>
                <a:cs typeface="Times New Roman"/>
              </a:rPr>
              <a:t>g</a:t>
            </a:r>
            <a:r>
              <a:rPr sz="3200" spc="-125" dirty="0">
                <a:latin typeface="Times New Roman"/>
                <a:cs typeface="Times New Roman"/>
              </a:rPr>
              <a:t>e</a:t>
            </a:r>
            <a:endParaRPr sz="3200">
              <a:latin typeface="Times New Roman"/>
              <a:cs typeface="Times New Roman"/>
            </a:endParaRPr>
          </a:p>
          <a:p>
            <a:pPr marL="756285" lvl="1" indent="-287020">
              <a:lnSpc>
                <a:spcPct val="100000"/>
              </a:lnSpc>
              <a:spcBef>
                <a:spcPts val="459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300" dirty="0">
                <a:latin typeface="Times New Roman"/>
                <a:cs typeface="Times New Roman"/>
              </a:rPr>
              <a:t>E</a:t>
            </a:r>
            <a:r>
              <a:rPr sz="2800" spc="-130" dirty="0">
                <a:latin typeface="Times New Roman"/>
                <a:cs typeface="Times New Roman"/>
              </a:rPr>
              <a:t>x</a:t>
            </a:r>
            <a:r>
              <a:rPr sz="2800" spc="20" dirty="0">
                <a:latin typeface="Times New Roman"/>
                <a:cs typeface="Times New Roman"/>
              </a:rPr>
              <a:t>t</a:t>
            </a:r>
            <a:r>
              <a:rPr sz="2800" spc="-110" dirty="0">
                <a:latin typeface="Times New Roman"/>
                <a:cs typeface="Times New Roman"/>
              </a:rPr>
              <a:t>e</a:t>
            </a:r>
            <a:r>
              <a:rPr sz="2800" spc="-145" dirty="0">
                <a:latin typeface="Times New Roman"/>
                <a:cs typeface="Times New Roman"/>
              </a:rPr>
              <a:t>n</a:t>
            </a:r>
            <a:r>
              <a:rPr sz="2800" spc="-120" dirty="0">
                <a:latin typeface="Times New Roman"/>
                <a:cs typeface="Times New Roman"/>
              </a:rPr>
              <a:t>d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spc="-130" dirty="0">
                <a:latin typeface="Times New Roman"/>
                <a:cs typeface="Times New Roman"/>
              </a:rPr>
              <a:t>p</a:t>
            </a:r>
            <a:r>
              <a:rPr sz="2800" spc="-254" dirty="0">
                <a:latin typeface="Times New Roman"/>
                <a:cs typeface="Times New Roman"/>
              </a:rPr>
              <a:t>h</a:t>
            </a:r>
            <a:r>
              <a:rPr sz="2800" spc="-250" dirty="0">
                <a:latin typeface="Times New Roman"/>
                <a:cs typeface="Times New Roman"/>
              </a:rPr>
              <a:t>y</a:t>
            </a:r>
            <a:r>
              <a:rPr sz="2800" spc="-229" dirty="0">
                <a:latin typeface="Times New Roman"/>
                <a:cs typeface="Times New Roman"/>
              </a:rPr>
              <a:t>s</a:t>
            </a:r>
            <a:r>
              <a:rPr sz="2800" spc="-160" dirty="0">
                <a:latin typeface="Times New Roman"/>
                <a:cs typeface="Times New Roman"/>
              </a:rPr>
              <a:t>i</a:t>
            </a:r>
            <a:r>
              <a:rPr sz="2800" spc="-180" dirty="0">
                <a:latin typeface="Times New Roman"/>
                <a:cs typeface="Times New Roman"/>
              </a:rPr>
              <a:t>c</a:t>
            </a:r>
            <a:r>
              <a:rPr sz="2800" spc="-240" dirty="0">
                <a:latin typeface="Times New Roman"/>
                <a:cs typeface="Times New Roman"/>
              </a:rPr>
              <a:t>a</a:t>
            </a:r>
            <a:r>
              <a:rPr sz="2800" spc="-110" dirty="0">
                <a:latin typeface="Times New Roman"/>
                <a:cs typeface="Times New Roman"/>
              </a:rPr>
              <a:t>l</a:t>
            </a:r>
            <a:r>
              <a:rPr sz="2800" spc="-185" dirty="0">
                <a:latin typeface="Times New Roman"/>
                <a:cs typeface="Times New Roman"/>
              </a:rPr>
              <a:t> </a:t>
            </a:r>
            <a:r>
              <a:rPr sz="2800" spc="-75" dirty="0">
                <a:latin typeface="Times New Roman"/>
                <a:cs typeface="Times New Roman"/>
              </a:rPr>
              <a:t>net</a:t>
            </a:r>
            <a:r>
              <a:rPr sz="2800" spc="-225" dirty="0">
                <a:latin typeface="Times New Roman"/>
                <a:cs typeface="Times New Roman"/>
              </a:rPr>
              <a:t>w</a:t>
            </a:r>
            <a:r>
              <a:rPr sz="2800" spc="-90" dirty="0">
                <a:latin typeface="Times New Roman"/>
                <a:cs typeface="Times New Roman"/>
              </a:rPr>
              <a:t>ork</a:t>
            </a:r>
            <a:endParaRPr sz="2800">
              <a:latin typeface="Times New Roman"/>
              <a:cs typeface="Times New Roman"/>
            </a:endParaRPr>
          </a:p>
          <a:p>
            <a:pPr marL="756285" lvl="1" indent="-287020">
              <a:lnSpc>
                <a:spcPct val="100000"/>
              </a:lnSpc>
              <a:spcBef>
                <a:spcPts val="300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150" dirty="0">
                <a:latin typeface="Times New Roman"/>
                <a:cs typeface="Times New Roman"/>
              </a:rPr>
              <a:t>Reduce</a:t>
            </a:r>
            <a:r>
              <a:rPr sz="2800" spc="-110" dirty="0">
                <a:latin typeface="Times New Roman"/>
                <a:cs typeface="Times New Roman"/>
              </a:rPr>
              <a:t> </a:t>
            </a:r>
            <a:r>
              <a:rPr sz="2800" spc="-114" dirty="0">
                <a:latin typeface="Times New Roman"/>
                <a:cs typeface="Times New Roman"/>
              </a:rPr>
              <a:t>network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spc="-135" dirty="0">
                <a:latin typeface="Times New Roman"/>
                <a:cs typeface="Times New Roman"/>
              </a:rPr>
              <a:t>traffic</a:t>
            </a:r>
            <a:r>
              <a:rPr sz="2800" spc="-130" dirty="0">
                <a:latin typeface="Times New Roman"/>
                <a:cs typeface="Times New Roman"/>
              </a:rPr>
              <a:t> </a:t>
            </a:r>
            <a:r>
              <a:rPr sz="2800" spc="-114" dirty="0">
                <a:latin typeface="Times New Roman"/>
                <a:cs typeface="Times New Roman"/>
              </a:rPr>
              <a:t>with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110" dirty="0">
                <a:latin typeface="Times New Roman"/>
                <a:cs typeface="Times New Roman"/>
              </a:rPr>
              <a:t>minor</a:t>
            </a:r>
            <a:r>
              <a:rPr sz="2800" spc="-130" dirty="0">
                <a:latin typeface="Times New Roman"/>
                <a:cs typeface="Times New Roman"/>
              </a:rPr>
              <a:t> </a:t>
            </a:r>
            <a:r>
              <a:rPr sz="2800" spc="-140" dirty="0">
                <a:latin typeface="Times New Roman"/>
                <a:cs typeface="Times New Roman"/>
              </a:rPr>
              <a:t>segmentation</a:t>
            </a:r>
            <a:endParaRPr sz="2800">
              <a:latin typeface="Times New Roman"/>
              <a:cs typeface="Times New Roman"/>
            </a:endParaRPr>
          </a:p>
          <a:p>
            <a:pPr marL="756285" lvl="1" indent="-287020">
              <a:lnSpc>
                <a:spcPct val="100000"/>
              </a:lnSpc>
              <a:spcBef>
                <a:spcPts val="300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125" dirty="0">
                <a:latin typeface="Times New Roman"/>
                <a:cs typeface="Times New Roman"/>
              </a:rPr>
              <a:t>Creates</a:t>
            </a:r>
            <a:r>
              <a:rPr sz="2800" spc="-135" dirty="0">
                <a:latin typeface="Times New Roman"/>
                <a:cs typeface="Times New Roman"/>
              </a:rPr>
              <a:t> separate</a:t>
            </a:r>
            <a:r>
              <a:rPr sz="2800" spc="-120" dirty="0">
                <a:latin typeface="Times New Roman"/>
                <a:cs typeface="Times New Roman"/>
              </a:rPr>
              <a:t> </a:t>
            </a:r>
            <a:r>
              <a:rPr sz="2800" spc="-140" dirty="0">
                <a:latin typeface="Times New Roman"/>
                <a:cs typeface="Times New Roman"/>
              </a:rPr>
              <a:t>collision</a:t>
            </a:r>
            <a:r>
              <a:rPr sz="2800" spc="-229" dirty="0">
                <a:latin typeface="Times New Roman"/>
                <a:cs typeface="Times New Roman"/>
              </a:rPr>
              <a:t> </a:t>
            </a:r>
            <a:r>
              <a:rPr sz="2800" spc="-160" dirty="0">
                <a:latin typeface="Times New Roman"/>
                <a:cs typeface="Times New Roman"/>
              </a:rPr>
              <a:t>domains</a:t>
            </a:r>
            <a:endParaRPr sz="2800">
              <a:latin typeface="Times New Roman"/>
              <a:cs typeface="Times New Roman"/>
            </a:endParaRPr>
          </a:p>
          <a:p>
            <a:pPr marL="756285" lvl="1" indent="-287020">
              <a:lnSpc>
                <a:spcPct val="100000"/>
              </a:lnSpc>
              <a:spcBef>
                <a:spcPts val="300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229" dirty="0">
                <a:latin typeface="Times New Roman"/>
                <a:cs typeface="Times New Roman"/>
              </a:rPr>
              <a:t>R</a:t>
            </a:r>
            <a:r>
              <a:rPr sz="2800" spc="-110" dirty="0">
                <a:latin typeface="Times New Roman"/>
                <a:cs typeface="Times New Roman"/>
              </a:rPr>
              <a:t>e</a:t>
            </a:r>
            <a:r>
              <a:rPr sz="2800" spc="-145" dirty="0">
                <a:latin typeface="Times New Roman"/>
                <a:cs typeface="Times New Roman"/>
              </a:rPr>
              <a:t>d</a:t>
            </a:r>
            <a:r>
              <a:rPr sz="2800" spc="-130" dirty="0">
                <a:latin typeface="Times New Roman"/>
                <a:cs typeface="Times New Roman"/>
              </a:rPr>
              <a:t>u</a:t>
            </a:r>
            <a:r>
              <a:rPr sz="2800" spc="-180" dirty="0">
                <a:latin typeface="Times New Roman"/>
                <a:cs typeface="Times New Roman"/>
              </a:rPr>
              <a:t>c</a:t>
            </a:r>
            <a:r>
              <a:rPr sz="2800" spc="-110" dirty="0">
                <a:latin typeface="Times New Roman"/>
                <a:cs typeface="Times New Roman"/>
              </a:rPr>
              <a:t>e</a:t>
            </a:r>
            <a:r>
              <a:rPr sz="2800" spc="-155" dirty="0">
                <a:latin typeface="Times New Roman"/>
                <a:cs typeface="Times New Roman"/>
              </a:rPr>
              <a:t> </a:t>
            </a:r>
            <a:r>
              <a:rPr sz="2800" spc="-140" dirty="0">
                <a:latin typeface="Times New Roman"/>
                <a:cs typeface="Times New Roman"/>
              </a:rPr>
              <a:t>col</a:t>
            </a:r>
            <a:r>
              <a:rPr sz="2800" spc="-90" dirty="0">
                <a:latin typeface="Times New Roman"/>
                <a:cs typeface="Times New Roman"/>
              </a:rPr>
              <a:t>l</a:t>
            </a:r>
            <a:r>
              <a:rPr sz="2800" spc="-160" dirty="0">
                <a:latin typeface="Times New Roman"/>
                <a:cs typeface="Times New Roman"/>
              </a:rPr>
              <a:t>isions</a:t>
            </a:r>
            <a:endParaRPr sz="2800">
              <a:latin typeface="Times New Roman"/>
              <a:cs typeface="Times New Roman"/>
            </a:endParaRPr>
          </a:p>
          <a:p>
            <a:pPr marL="756285" lvl="1" indent="-287020">
              <a:lnSpc>
                <a:spcPct val="100000"/>
              </a:lnSpc>
              <a:spcBef>
                <a:spcPts val="305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140" dirty="0">
                <a:latin typeface="Times New Roman"/>
                <a:cs typeface="Times New Roman"/>
              </a:rPr>
              <a:t>Conne</a:t>
            </a:r>
            <a:r>
              <a:rPr sz="2800" spc="-114" dirty="0">
                <a:latin typeface="Times New Roman"/>
                <a:cs typeface="Times New Roman"/>
              </a:rPr>
              <a:t>c</a:t>
            </a:r>
            <a:r>
              <a:rPr sz="2800" spc="35" dirty="0">
                <a:latin typeface="Times New Roman"/>
                <a:cs typeface="Times New Roman"/>
              </a:rPr>
              <a:t>t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spc="-145" dirty="0">
                <a:latin typeface="Times New Roman"/>
                <a:cs typeface="Times New Roman"/>
              </a:rPr>
              <a:t>d</a:t>
            </a:r>
            <a:r>
              <a:rPr sz="2800" spc="-170" dirty="0">
                <a:latin typeface="Times New Roman"/>
                <a:cs typeface="Times New Roman"/>
              </a:rPr>
              <a:t>i</a:t>
            </a:r>
            <a:r>
              <a:rPr sz="2800" spc="-229" dirty="0">
                <a:latin typeface="Times New Roman"/>
                <a:cs typeface="Times New Roman"/>
              </a:rPr>
              <a:t>ff</a:t>
            </a:r>
            <a:r>
              <a:rPr sz="2800" spc="-130" dirty="0">
                <a:latin typeface="Times New Roman"/>
                <a:cs typeface="Times New Roman"/>
              </a:rPr>
              <a:t>e</a:t>
            </a:r>
            <a:r>
              <a:rPr sz="2800" spc="-25" dirty="0">
                <a:latin typeface="Times New Roman"/>
                <a:cs typeface="Times New Roman"/>
              </a:rPr>
              <a:t>r</a:t>
            </a:r>
            <a:r>
              <a:rPr sz="2800" spc="-130" dirty="0">
                <a:latin typeface="Times New Roman"/>
                <a:cs typeface="Times New Roman"/>
              </a:rPr>
              <a:t>e</a:t>
            </a:r>
            <a:r>
              <a:rPr sz="2800" spc="-145" dirty="0">
                <a:latin typeface="Times New Roman"/>
                <a:cs typeface="Times New Roman"/>
              </a:rPr>
              <a:t>n</a:t>
            </a:r>
            <a:r>
              <a:rPr sz="2800" spc="35" dirty="0">
                <a:latin typeface="Times New Roman"/>
                <a:cs typeface="Times New Roman"/>
              </a:rPr>
              <a:t>t</a:t>
            </a:r>
            <a:r>
              <a:rPr sz="2800" spc="-150" dirty="0">
                <a:latin typeface="Times New Roman"/>
                <a:cs typeface="Times New Roman"/>
              </a:rPr>
              <a:t> </a:t>
            </a:r>
            <a:r>
              <a:rPr sz="2800" spc="-240" dirty="0">
                <a:latin typeface="Times New Roman"/>
                <a:cs typeface="Times New Roman"/>
              </a:rPr>
              <a:t>a</a:t>
            </a:r>
            <a:r>
              <a:rPr sz="2800" spc="15" dirty="0">
                <a:latin typeface="Times New Roman"/>
                <a:cs typeface="Times New Roman"/>
              </a:rPr>
              <a:t>r</a:t>
            </a:r>
            <a:r>
              <a:rPr sz="2800" spc="-125" dirty="0">
                <a:latin typeface="Times New Roman"/>
                <a:cs typeface="Times New Roman"/>
              </a:rPr>
              <a:t>c</a:t>
            </a:r>
            <a:r>
              <a:rPr sz="2800" spc="-190" dirty="0">
                <a:latin typeface="Times New Roman"/>
                <a:cs typeface="Times New Roman"/>
              </a:rPr>
              <a:t>h</a:t>
            </a:r>
            <a:r>
              <a:rPr sz="2800" spc="-160" dirty="0">
                <a:latin typeface="Times New Roman"/>
                <a:cs typeface="Times New Roman"/>
              </a:rPr>
              <a:t>i</a:t>
            </a:r>
            <a:r>
              <a:rPr sz="2800" spc="20" dirty="0">
                <a:latin typeface="Times New Roman"/>
                <a:cs typeface="Times New Roman"/>
              </a:rPr>
              <a:t>t</a:t>
            </a:r>
            <a:r>
              <a:rPr sz="2800" spc="-140" dirty="0">
                <a:latin typeface="Times New Roman"/>
                <a:cs typeface="Times New Roman"/>
              </a:rPr>
              <a:t>e</a:t>
            </a:r>
            <a:r>
              <a:rPr sz="2800" spc="-160" dirty="0">
                <a:latin typeface="Times New Roman"/>
                <a:cs typeface="Times New Roman"/>
              </a:rPr>
              <a:t>c</a:t>
            </a:r>
            <a:r>
              <a:rPr sz="2800" spc="20" dirty="0">
                <a:latin typeface="Times New Roman"/>
                <a:cs typeface="Times New Roman"/>
              </a:rPr>
              <a:t>t</a:t>
            </a:r>
            <a:r>
              <a:rPr sz="2800" spc="-130" dirty="0">
                <a:latin typeface="Times New Roman"/>
                <a:cs typeface="Times New Roman"/>
              </a:rPr>
              <a:t>u</a:t>
            </a:r>
            <a:r>
              <a:rPr sz="2800" spc="-25" dirty="0">
                <a:latin typeface="Times New Roman"/>
                <a:cs typeface="Times New Roman"/>
              </a:rPr>
              <a:t>r</a:t>
            </a:r>
            <a:r>
              <a:rPr sz="2800" spc="-110" dirty="0">
                <a:latin typeface="Times New Roman"/>
                <a:cs typeface="Times New Roman"/>
              </a:rPr>
              <a:t>e</a:t>
            </a:r>
            <a:endParaRPr sz="2800">
              <a:latin typeface="Times New Roman"/>
              <a:cs typeface="Times New Roman"/>
            </a:endParaRPr>
          </a:p>
          <a:p>
            <a:pPr marL="356870" indent="-344805">
              <a:lnSpc>
                <a:spcPct val="100000"/>
              </a:lnSpc>
              <a:spcBef>
                <a:spcPts val="340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3200" spc="-190" dirty="0">
                <a:latin typeface="Times New Roman"/>
                <a:cs typeface="Times New Roman"/>
              </a:rPr>
              <a:t>D</a:t>
            </a:r>
            <a:r>
              <a:rPr sz="3200" spc="-175" dirty="0">
                <a:latin typeface="Times New Roman"/>
                <a:cs typeface="Times New Roman"/>
              </a:rPr>
              <a:t>i</a:t>
            </a:r>
            <a:r>
              <a:rPr sz="3200" spc="-235" dirty="0">
                <a:latin typeface="Times New Roman"/>
                <a:cs typeface="Times New Roman"/>
              </a:rPr>
              <a:t>s</a:t>
            </a:r>
            <a:r>
              <a:rPr sz="3200" spc="-280" dirty="0">
                <a:latin typeface="Times New Roman"/>
                <a:cs typeface="Times New Roman"/>
              </a:rPr>
              <a:t>a</a:t>
            </a:r>
            <a:r>
              <a:rPr sz="3200" spc="-200" dirty="0">
                <a:latin typeface="Times New Roman"/>
                <a:cs typeface="Times New Roman"/>
              </a:rPr>
              <a:t>d</a:t>
            </a:r>
            <a:r>
              <a:rPr sz="3200" spc="-330" dirty="0">
                <a:latin typeface="Times New Roman"/>
                <a:cs typeface="Times New Roman"/>
              </a:rPr>
              <a:t>v</a:t>
            </a:r>
            <a:r>
              <a:rPr sz="3200" spc="-185" dirty="0">
                <a:latin typeface="Times New Roman"/>
                <a:cs typeface="Times New Roman"/>
              </a:rPr>
              <a:t>a</a:t>
            </a:r>
            <a:r>
              <a:rPr sz="3200" spc="-229" dirty="0">
                <a:latin typeface="Times New Roman"/>
                <a:cs typeface="Times New Roman"/>
              </a:rPr>
              <a:t>n</a:t>
            </a:r>
            <a:r>
              <a:rPr sz="3200" spc="30" dirty="0">
                <a:latin typeface="Times New Roman"/>
                <a:cs typeface="Times New Roman"/>
              </a:rPr>
              <a:t>t</a:t>
            </a:r>
            <a:r>
              <a:rPr sz="3200" spc="-250" dirty="0">
                <a:latin typeface="Times New Roman"/>
                <a:cs typeface="Times New Roman"/>
              </a:rPr>
              <a:t>a</a:t>
            </a:r>
            <a:r>
              <a:rPr sz="3200" spc="-300" dirty="0">
                <a:latin typeface="Times New Roman"/>
                <a:cs typeface="Times New Roman"/>
              </a:rPr>
              <a:t>g</a:t>
            </a:r>
            <a:r>
              <a:rPr sz="3200" spc="-145" dirty="0">
                <a:latin typeface="Times New Roman"/>
                <a:cs typeface="Times New Roman"/>
              </a:rPr>
              <a:t>e</a:t>
            </a:r>
            <a:r>
              <a:rPr sz="3200" spc="-245" dirty="0">
                <a:latin typeface="Times New Roman"/>
                <a:cs typeface="Times New Roman"/>
              </a:rPr>
              <a:t>s</a:t>
            </a:r>
            <a:r>
              <a:rPr sz="3200" spc="-130" dirty="0">
                <a:latin typeface="Times New Roman"/>
                <a:cs typeface="Times New Roman"/>
              </a:rPr>
              <a:t> </a:t>
            </a:r>
            <a:r>
              <a:rPr sz="3200" spc="-155" dirty="0">
                <a:latin typeface="Times New Roman"/>
                <a:cs typeface="Times New Roman"/>
              </a:rPr>
              <a:t>o</a:t>
            </a:r>
            <a:r>
              <a:rPr sz="3200" spc="-235" dirty="0">
                <a:latin typeface="Times New Roman"/>
                <a:cs typeface="Times New Roman"/>
              </a:rPr>
              <a:t>f</a:t>
            </a:r>
            <a:r>
              <a:rPr sz="3200" spc="-85" dirty="0">
                <a:latin typeface="Times New Roman"/>
                <a:cs typeface="Times New Roman"/>
              </a:rPr>
              <a:t> </a:t>
            </a:r>
            <a:r>
              <a:rPr sz="3200" spc="-190" dirty="0">
                <a:latin typeface="Times New Roman"/>
                <a:cs typeface="Times New Roman"/>
              </a:rPr>
              <a:t>using</a:t>
            </a:r>
            <a:r>
              <a:rPr sz="3200" spc="-110" dirty="0">
                <a:latin typeface="Times New Roman"/>
                <a:cs typeface="Times New Roman"/>
              </a:rPr>
              <a:t> </a:t>
            </a:r>
            <a:r>
              <a:rPr sz="3200" spc="-80" dirty="0">
                <a:latin typeface="Times New Roman"/>
                <a:cs typeface="Times New Roman"/>
              </a:rPr>
              <a:t>b</a:t>
            </a:r>
            <a:r>
              <a:rPr sz="3200" spc="-20" dirty="0">
                <a:latin typeface="Times New Roman"/>
                <a:cs typeface="Times New Roman"/>
              </a:rPr>
              <a:t>r</a:t>
            </a:r>
            <a:r>
              <a:rPr sz="3200" spc="-175" dirty="0">
                <a:latin typeface="Times New Roman"/>
                <a:cs typeface="Times New Roman"/>
              </a:rPr>
              <a:t>i</a:t>
            </a:r>
            <a:r>
              <a:rPr sz="3200" spc="-155" dirty="0">
                <a:latin typeface="Times New Roman"/>
                <a:cs typeface="Times New Roman"/>
              </a:rPr>
              <a:t>d</a:t>
            </a:r>
            <a:r>
              <a:rPr sz="3200" spc="-285" dirty="0">
                <a:latin typeface="Times New Roman"/>
                <a:cs typeface="Times New Roman"/>
              </a:rPr>
              <a:t>g</a:t>
            </a:r>
            <a:r>
              <a:rPr sz="3200" spc="-145" dirty="0">
                <a:latin typeface="Times New Roman"/>
                <a:cs typeface="Times New Roman"/>
              </a:rPr>
              <a:t>e</a:t>
            </a:r>
            <a:r>
              <a:rPr sz="3200" spc="-245" dirty="0">
                <a:latin typeface="Times New Roman"/>
                <a:cs typeface="Times New Roman"/>
              </a:rPr>
              <a:t>s</a:t>
            </a:r>
            <a:endParaRPr sz="3200">
              <a:latin typeface="Times New Roman"/>
              <a:cs typeface="Times New Roman"/>
            </a:endParaRPr>
          </a:p>
          <a:p>
            <a:pPr marL="756285" lvl="1" indent="-287020">
              <a:lnSpc>
                <a:spcPct val="100000"/>
              </a:lnSpc>
              <a:spcBef>
                <a:spcPts val="450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195" dirty="0">
                <a:latin typeface="Times New Roman"/>
                <a:cs typeface="Times New Roman"/>
              </a:rPr>
              <a:t>Sl</a:t>
            </a:r>
            <a:r>
              <a:rPr sz="2800" spc="-320" dirty="0">
                <a:latin typeface="Times New Roman"/>
                <a:cs typeface="Times New Roman"/>
              </a:rPr>
              <a:t>o</a:t>
            </a:r>
            <a:r>
              <a:rPr sz="2800" spc="-265" dirty="0">
                <a:latin typeface="Times New Roman"/>
                <a:cs typeface="Times New Roman"/>
              </a:rPr>
              <a:t>w</a:t>
            </a:r>
            <a:r>
              <a:rPr sz="2800" spc="-40" dirty="0">
                <a:latin typeface="Times New Roman"/>
                <a:cs typeface="Times New Roman"/>
              </a:rPr>
              <a:t>er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spc="20" dirty="0">
                <a:latin typeface="Times New Roman"/>
                <a:cs typeface="Times New Roman"/>
              </a:rPr>
              <a:t>t</a:t>
            </a:r>
            <a:r>
              <a:rPr sz="2800" spc="-195" dirty="0">
                <a:latin typeface="Times New Roman"/>
                <a:cs typeface="Times New Roman"/>
              </a:rPr>
              <a:t>h</a:t>
            </a:r>
            <a:r>
              <a:rPr sz="2800" spc="-265" dirty="0">
                <a:latin typeface="Times New Roman"/>
                <a:cs typeface="Times New Roman"/>
              </a:rPr>
              <a:t>a</a:t>
            </a:r>
            <a:r>
              <a:rPr sz="2800" spc="35" dirty="0">
                <a:latin typeface="Times New Roman"/>
                <a:cs typeface="Times New Roman"/>
              </a:rPr>
              <a:t>t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r</a:t>
            </a:r>
            <a:r>
              <a:rPr sz="2800" spc="-130" dirty="0">
                <a:latin typeface="Times New Roman"/>
                <a:cs typeface="Times New Roman"/>
              </a:rPr>
              <a:t>e</a:t>
            </a:r>
            <a:r>
              <a:rPr sz="2800" spc="-140" dirty="0">
                <a:latin typeface="Times New Roman"/>
                <a:cs typeface="Times New Roman"/>
              </a:rPr>
              <a:t>p</a:t>
            </a:r>
            <a:r>
              <a:rPr sz="2800" spc="-130" dirty="0">
                <a:latin typeface="Times New Roman"/>
                <a:cs typeface="Times New Roman"/>
              </a:rPr>
              <a:t>e</a:t>
            </a:r>
            <a:r>
              <a:rPr sz="2800" spc="-275" dirty="0">
                <a:latin typeface="Times New Roman"/>
                <a:cs typeface="Times New Roman"/>
              </a:rPr>
              <a:t>a</a:t>
            </a:r>
            <a:r>
              <a:rPr sz="2800" spc="5" dirty="0">
                <a:latin typeface="Times New Roman"/>
                <a:cs typeface="Times New Roman"/>
              </a:rPr>
              <a:t>t</a:t>
            </a:r>
            <a:r>
              <a:rPr sz="2800" spc="-130" dirty="0">
                <a:latin typeface="Times New Roman"/>
                <a:cs typeface="Times New Roman"/>
              </a:rPr>
              <a:t>e</a:t>
            </a:r>
            <a:r>
              <a:rPr sz="2800" spc="60" dirty="0">
                <a:latin typeface="Times New Roman"/>
                <a:cs typeface="Times New Roman"/>
              </a:rPr>
              <a:t>r</a:t>
            </a:r>
            <a:r>
              <a:rPr sz="2800" spc="-215" dirty="0">
                <a:latin typeface="Times New Roman"/>
                <a:cs typeface="Times New Roman"/>
              </a:rPr>
              <a:t>s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spc="-130" dirty="0">
                <a:latin typeface="Times New Roman"/>
                <a:cs typeface="Times New Roman"/>
              </a:rPr>
              <a:t>du</a:t>
            </a:r>
            <a:r>
              <a:rPr sz="2800" spc="-110" dirty="0">
                <a:latin typeface="Times New Roman"/>
                <a:cs typeface="Times New Roman"/>
              </a:rPr>
              <a:t>e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spc="20" dirty="0">
                <a:latin typeface="Times New Roman"/>
                <a:cs typeface="Times New Roman"/>
              </a:rPr>
              <a:t>t</a:t>
            </a:r>
            <a:r>
              <a:rPr sz="2800" spc="-120" dirty="0">
                <a:latin typeface="Times New Roman"/>
                <a:cs typeface="Times New Roman"/>
              </a:rPr>
              <a:t>o</a:t>
            </a:r>
            <a:r>
              <a:rPr sz="2800" spc="-150" dirty="0">
                <a:latin typeface="Times New Roman"/>
                <a:cs typeface="Times New Roman"/>
              </a:rPr>
              <a:t> </a:t>
            </a:r>
            <a:r>
              <a:rPr sz="2800" spc="-85" dirty="0">
                <a:latin typeface="Times New Roman"/>
                <a:cs typeface="Times New Roman"/>
              </a:rPr>
              <a:t>filte</a:t>
            </a:r>
            <a:r>
              <a:rPr sz="2800" spc="-25" dirty="0">
                <a:latin typeface="Times New Roman"/>
                <a:cs typeface="Times New Roman"/>
              </a:rPr>
              <a:t>r</a:t>
            </a:r>
            <a:r>
              <a:rPr sz="2800" spc="-165" dirty="0">
                <a:latin typeface="Times New Roman"/>
                <a:cs typeface="Times New Roman"/>
              </a:rPr>
              <a:t>ing</a:t>
            </a:r>
            <a:endParaRPr sz="2800">
              <a:latin typeface="Times New Roman"/>
              <a:cs typeface="Times New Roman"/>
            </a:endParaRPr>
          </a:p>
          <a:p>
            <a:pPr marL="756285" lvl="1" indent="-287020">
              <a:lnSpc>
                <a:spcPct val="100000"/>
              </a:lnSpc>
              <a:spcBef>
                <a:spcPts val="305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140" dirty="0">
                <a:latin typeface="Times New Roman"/>
                <a:cs typeface="Times New Roman"/>
              </a:rPr>
              <a:t>Do</a:t>
            </a:r>
            <a:r>
              <a:rPr sz="2800" spc="-70" dirty="0">
                <a:latin typeface="Times New Roman"/>
                <a:cs typeface="Times New Roman"/>
              </a:rPr>
              <a:t> not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spc="-85" dirty="0">
                <a:latin typeface="Times New Roman"/>
                <a:cs typeface="Times New Roman"/>
              </a:rPr>
              <a:t>filter</a:t>
            </a:r>
            <a:r>
              <a:rPr sz="2800" spc="-250" dirty="0">
                <a:latin typeface="Times New Roman"/>
                <a:cs typeface="Times New Roman"/>
              </a:rPr>
              <a:t> </a:t>
            </a:r>
            <a:r>
              <a:rPr sz="2800" spc="-170" dirty="0">
                <a:latin typeface="Times New Roman"/>
                <a:cs typeface="Times New Roman"/>
              </a:rPr>
              <a:t>b</a:t>
            </a:r>
            <a:r>
              <a:rPr sz="2800" spc="-10" dirty="0">
                <a:latin typeface="Times New Roman"/>
                <a:cs typeface="Times New Roman"/>
              </a:rPr>
              <a:t>r</a:t>
            </a:r>
            <a:r>
              <a:rPr sz="2800" spc="-130" dirty="0">
                <a:latin typeface="Times New Roman"/>
                <a:cs typeface="Times New Roman"/>
              </a:rPr>
              <a:t>o</a:t>
            </a:r>
            <a:r>
              <a:rPr sz="2800" spc="-240" dirty="0">
                <a:latin typeface="Times New Roman"/>
                <a:cs typeface="Times New Roman"/>
              </a:rPr>
              <a:t>a</a:t>
            </a:r>
            <a:r>
              <a:rPr sz="2800" spc="-130" dirty="0">
                <a:latin typeface="Times New Roman"/>
                <a:cs typeface="Times New Roman"/>
              </a:rPr>
              <a:t>d</a:t>
            </a:r>
            <a:r>
              <a:rPr sz="2800" spc="-180" dirty="0">
                <a:latin typeface="Times New Roman"/>
                <a:cs typeface="Times New Roman"/>
              </a:rPr>
              <a:t>c</a:t>
            </a:r>
            <a:r>
              <a:rPr sz="2800" spc="-240" dirty="0">
                <a:latin typeface="Times New Roman"/>
                <a:cs typeface="Times New Roman"/>
              </a:rPr>
              <a:t>a</a:t>
            </a:r>
            <a:r>
              <a:rPr sz="2800" spc="-229" dirty="0">
                <a:latin typeface="Times New Roman"/>
                <a:cs typeface="Times New Roman"/>
              </a:rPr>
              <a:t>s</a:t>
            </a:r>
            <a:r>
              <a:rPr sz="2800" spc="20" dirty="0">
                <a:latin typeface="Times New Roman"/>
                <a:cs typeface="Times New Roman"/>
              </a:rPr>
              <a:t>t</a:t>
            </a:r>
            <a:r>
              <a:rPr sz="2800" spc="-215" dirty="0">
                <a:latin typeface="Times New Roman"/>
                <a:cs typeface="Times New Roman"/>
              </a:rPr>
              <a:t>s</a:t>
            </a:r>
            <a:endParaRPr sz="2800">
              <a:latin typeface="Times New Roman"/>
              <a:cs typeface="Times New Roman"/>
            </a:endParaRPr>
          </a:p>
          <a:p>
            <a:pPr marL="756285" lvl="1" indent="-287020">
              <a:lnSpc>
                <a:spcPct val="100000"/>
              </a:lnSpc>
              <a:spcBef>
                <a:spcPts val="300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295" dirty="0">
                <a:latin typeface="Times New Roman"/>
                <a:cs typeface="Times New Roman"/>
              </a:rPr>
              <a:t>M</a:t>
            </a:r>
            <a:r>
              <a:rPr sz="2800" spc="-185" dirty="0">
                <a:latin typeface="Times New Roman"/>
                <a:cs typeface="Times New Roman"/>
              </a:rPr>
              <a:t>o</a:t>
            </a:r>
            <a:r>
              <a:rPr sz="2800" spc="-10" dirty="0">
                <a:latin typeface="Times New Roman"/>
                <a:cs typeface="Times New Roman"/>
              </a:rPr>
              <a:t>r</a:t>
            </a:r>
            <a:r>
              <a:rPr sz="2800" spc="-110" dirty="0">
                <a:latin typeface="Times New Roman"/>
                <a:cs typeface="Times New Roman"/>
              </a:rPr>
              <a:t>e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spc="-110" dirty="0">
                <a:latin typeface="Times New Roman"/>
                <a:cs typeface="Times New Roman"/>
              </a:rPr>
              <a:t>e</a:t>
            </a:r>
            <a:r>
              <a:rPr sz="2800" spc="-145" dirty="0">
                <a:latin typeface="Times New Roman"/>
                <a:cs typeface="Times New Roman"/>
              </a:rPr>
              <a:t>x</a:t>
            </a:r>
            <a:r>
              <a:rPr sz="2800" spc="-130" dirty="0">
                <a:latin typeface="Times New Roman"/>
                <a:cs typeface="Times New Roman"/>
              </a:rPr>
              <a:t>p</a:t>
            </a:r>
            <a:r>
              <a:rPr sz="2800" spc="-110" dirty="0">
                <a:latin typeface="Times New Roman"/>
                <a:cs typeface="Times New Roman"/>
              </a:rPr>
              <a:t>e</a:t>
            </a:r>
            <a:r>
              <a:rPr sz="2800" spc="-145" dirty="0">
                <a:latin typeface="Times New Roman"/>
                <a:cs typeface="Times New Roman"/>
              </a:rPr>
              <a:t>n</a:t>
            </a:r>
            <a:r>
              <a:rPr sz="2800" spc="-229" dirty="0">
                <a:latin typeface="Times New Roman"/>
                <a:cs typeface="Times New Roman"/>
              </a:rPr>
              <a:t>s</a:t>
            </a:r>
            <a:r>
              <a:rPr sz="2800" spc="-160" dirty="0">
                <a:latin typeface="Times New Roman"/>
                <a:cs typeface="Times New Roman"/>
              </a:rPr>
              <a:t>i</a:t>
            </a:r>
            <a:r>
              <a:rPr sz="2800" spc="-310" dirty="0">
                <a:latin typeface="Times New Roman"/>
                <a:cs typeface="Times New Roman"/>
              </a:rPr>
              <a:t>v</a:t>
            </a:r>
            <a:r>
              <a:rPr sz="2800" spc="-110" dirty="0">
                <a:latin typeface="Times New Roman"/>
                <a:cs typeface="Times New Roman"/>
              </a:rPr>
              <a:t>e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120" dirty="0">
                <a:latin typeface="Times New Roman"/>
                <a:cs typeface="Times New Roman"/>
              </a:rPr>
              <a:t>tha</a:t>
            </a:r>
            <a:r>
              <a:rPr sz="2800" spc="-140" dirty="0">
                <a:latin typeface="Times New Roman"/>
                <a:cs typeface="Times New Roman"/>
              </a:rPr>
              <a:t>n</a:t>
            </a:r>
            <a:r>
              <a:rPr sz="2800" spc="-14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r</a:t>
            </a:r>
            <a:r>
              <a:rPr sz="2800" spc="-130" dirty="0">
                <a:latin typeface="Times New Roman"/>
                <a:cs typeface="Times New Roman"/>
              </a:rPr>
              <a:t>e</a:t>
            </a:r>
            <a:r>
              <a:rPr sz="2800" spc="-140" dirty="0">
                <a:latin typeface="Times New Roman"/>
                <a:cs typeface="Times New Roman"/>
              </a:rPr>
              <a:t>p</a:t>
            </a:r>
            <a:r>
              <a:rPr sz="2800" spc="-130" dirty="0">
                <a:latin typeface="Times New Roman"/>
                <a:cs typeface="Times New Roman"/>
              </a:rPr>
              <a:t>e</a:t>
            </a:r>
            <a:r>
              <a:rPr sz="2800" spc="-275" dirty="0">
                <a:latin typeface="Times New Roman"/>
                <a:cs typeface="Times New Roman"/>
              </a:rPr>
              <a:t>a</a:t>
            </a:r>
            <a:r>
              <a:rPr sz="2800" spc="5" dirty="0">
                <a:latin typeface="Times New Roman"/>
                <a:cs typeface="Times New Roman"/>
              </a:rPr>
              <a:t>t</a:t>
            </a:r>
            <a:r>
              <a:rPr sz="2800" spc="-130" dirty="0">
                <a:latin typeface="Times New Roman"/>
                <a:cs typeface="Times New Roman"/>
              </a:rPr>
              <a:t>e</a:t>
            </a:r>
            <a:r>
              <a:rPr sz="2800" spc="60" dirty="0">
                <a:latin typeface="Times New Roman"/>
                <a:cs typeface="Times New Roman"/>
              </a:rPr>
              <a:t>r</a:t>
            </a:r>
            <a:r>
              <a:rPr sz="2800" spc="-215" dirty="0">
                <a:latin typeface="Times New Roman"/>
                <a:cs typeface="Times New Roman"/>
              </a:rPr>
              <a:t>s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0739" y="367995"/>
            <a:ext cx="711644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0" dirty="0"/>
              <a:t>Comparison</a:t>
            </a:r>
            <a:r>
              <a:rPr sz="4000" spc="-20" dirty="0"/>
              <a:t> </a:t>
            </a:r>
            <a:r>
              <a:rPr sz="4000" spc="-55" dirty="0"/>
              <a:t>of</a:t>
            </a:r>
            <a:r>
              <a:rPr sz="4000" spc="-10" dirty="0"/>
              <a:t> </a:t>
            </a:r>
            <a:r>
              <a:rPr sz="4000" spc="-50" dirty="0"/>
              <a:t>Switch</a:t>
            </a:r>
            <a:r>
              <a:rPr sz="4000" spc="-15" dirty="0"/>
              <a:t> </a:t>
            </a:r>
            <a:r>
              <a:rPr sz="4000" spc="-20" dirty="0"/>
              <a:t>and</a:t>
            </a:r>
            <a:r>
              <a:rPr sz="4000" spc="-10" dirty="0"/>
              <a:t> </a:t>
            </a:r>
            <a:r>
              <a:rPr sz="4000" spc="-40" dirty="0"/>
              <a:t>Bridge</a:t>
            </a:r>
            <a:endParaRPr sz="40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22250" y="1365250"/>
          <a:ext cx="8782050" cy="52628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8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9089">
                <a:tc>
                  <a:txBody>
                    <a:bodyPr/>
                    <a:lstStyle/>
                    <a:p>
                      <a:pPr marL="458470"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20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Switch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8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D24717"/>
                    </a:solidFill>
                  </a:tcPr>
                </a:tc>
                <a:tc>
                  <a:txBody>
                    <a:bodyPr/>
                    <a:lstStyle/>
                    <a:p>
                      <a:pPr marL="458470"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20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Bridge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8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D247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11090">
                <a:tc>
                  <a:txBody>
                    <a:bodyPr/>
                    <a:lstStyle/>
                    <a:p>
                      <a:pPr marL="67945">
                        <a:lnSpc>
                          <a:spcPts val="2120"/>
                        </a:lnSpc>
                      </a:pPr>
                      <a:r>
                        <a:rPr sz="2000" b="1" spc="-1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0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1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switch</a:t>
                      </a:r>
                      <a:r>
                        <a:rPr sz="2000" b="1" spc="-6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2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when</a:t>
                      </a:r>
                      <a:r>
                        <a:rPr sz="2000" b="1" spc="-6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compared</a:t>
                      </a:r>
                      <a:r>
                        <a:rPr sz="2000" b="1" spc="-6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2000" b="1" spc="-6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bridge</a:t>
                      </a:r>
                      <a:r>
                        <a:rPr sz="20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-4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has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67945">
                        <a:lnSpc>
                          <a:spcPct val="100000"/>
                        </a:lnSpc>
                      </a:pPr>
                      <a:r>
                        <a:rPr sz="2000" b="1" spc="1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multiple</a:t>
                      </a:r>
                      <a:r>
                        <a:rPr sz="2000" b="1" spc="-9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1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ports.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67945" marR="290830">
                        <a:lnSpc>
                          <a:spcPct val="100000"/>
                        </a:lnSpc>
                      </a:pPr>
                      <a:r>
                        <a:rPr sz="20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Switches</a:t>
                      </a:r>
                      <a:r>
                        <a:rPr sz="2000" b="1" spc="-7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-1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can</a:t>
                      </a:r>
                      <a:r>
                        <a:rPr sz="2000" b="1" spc="-5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perform</a:t>
                      </a:r>
                      <a:r>
                        <a:rPr sz="2000" b="1" spc="-7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error</a:t>
                      </a:r>
                      <a:r>
                        <a:rPr sz="2000" b="1" spc="-7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2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checking </a:t>
                      </a:r>
                      <a:r>
                        <a:rPr sz="2000" b="1" spc="-484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before</a:t>
                      </a:r>
                      <a:r>
                        <a:rPr sz="2000" b="1" spc="-5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forwarding</a:t>
                      </a:r>
                      <a:r>
                        <a:rPr sz="2000" b="1" spc="-6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-3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data.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67945" marR="120014">
                        <a:lnSpc>
                          <a:spcPct val="100000"/>
                        </a:lnSpc>
                      </a:pPr>
                      <a:r>
                        <a:rPr sz="20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Switches </a:t>
                      </a:r>
                      <a:r>
                        <a:rPr sz="2000" b="1" spc="-3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are </a:t>
                      </a:r>
                      <a:r>
                        <a:rPr sz="20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very </a:t>
                      </a:r>
                      <a:r>
                        <a:rPr sz="2000" b="1" spc="1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efficient </a:t>
                      </a:r>
                      <a:r>
                        <a:rPr sz="2000" b="1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by </a:t>
                      </a:r>
                      <a:r>
                        <a:rPr sz="2000" b="1" spc="4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not </a:t>
                      </a:r>
                      <a:r>
                        <a:rPr sz="2000" b="1" spc="4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forwarding packets </a:t>
                      </a:r>
                      <a:r>
                        <a:rPr sz="2000" b="1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that </a:t>
                      </a:r>
                      <a:r>
                        <a:rPr sz="2000" b="1" spc="1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error-ed </a:t>
                      </a:r>
                      <a:r>
                        <a:rPr sz="2000" b="1" spc="4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out </a:t>
                      </a:r>
                      <a:r>
                        <a:rPr sz="2000" b="1" spc="4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sz="2000" b="1" spc="-6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forwarding</a:t>
                      </a:r>
                      <a:r>
                        <a:rPr sz="2000" b="1" spc="-6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5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good</a:t>
                      </a:r>
                      <a:r>
                        <a:rPr sz="2000" b="1" spc="-5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packets</a:t>
                      </a:r>
                      <a:r>
                        <a:rPr sz="2000" b="1" spc="-6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selectively </a:t>
                      </a:r>
                      <a:r>
                        <a:rPr sz="2000" b="1" spc="-484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2000" b="1" spc="-6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correct</a:t>
                      </a:r>
                      <a:r>
                        <a:rPr sz="2000" b="1" spc="-6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devices</a:t>
                      </a:r>
                      <a:r>
                        <a:rPr sz="2000" b="1" spc="-7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only.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67945" marR="434340">
                        <a:lnSpc>
                          <a:spcPct val="100000"/>
                        </a:lnSpc>
                      </a:pPr>
                      <a:r>
                        <a:rPr sz="20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Switches </a:t>
                      </a:r>
                      <a:r>
                        <a:rPr sz="2000" b="1" spc="-1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can </a:t>
                      </a:r>
                      <a:r>
                        <a:rPr sz="2000" b="1" spc="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support </a:t>
                      </a:r>
                      <a:r>
                        <a:rPr sz="2000" b="1" spc="2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both </a:t>
                      </a:r>
                      <a:r>
                        <a:rPr sz="2000" b="1" spc="-4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layer </a:t>
                      </a:r>
                      <a:r>
                        <a:rPr sz="2000" b="1" spc="-8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 </a:t>
                      </a:r>
                      <a:r>
                        <a:rPr sz="2000" b="1" spc="-8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(b</a:t>
                      </a:r>
                      <a:r>
                        <a:rPr sz="20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0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se</a:t>
                      </a:r>
                      <a:r>
                        <a:rPr sz="20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2000" b="1" spc="-7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sz="20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2000" b="1" spc="-6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0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000" b="1" spc="-14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000" b="1" spc="-2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20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dr</a:t>
                      </a:r>
                      <a:r>
                        <a:rPr sz="20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ess</a:t>
                      </a:r>
                      <a:r>
                        <a:rPr sz="20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)</a:t>
                      </a:r>
                      <a:r>
                        <a:rPr sz="2000" b="1" spc="-7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0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20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20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l</a:t>
                      </a:r>
                      <a:r>
                        <a:rPr sz="2000" b="1" spc="-8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000" b="1" spc="-5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20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0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000" b="1" spc="-6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  </a:t>
                      </a:r>
                      <a:r>
                        <a:rPr sz="20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(Base</a:t>
                      </a:r>
                      <a:r>
                        <a:rPr sz="20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2000" b="1" spc="-8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sz="20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20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20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000" b="1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20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dr</a:t>
                      </a:r>
                      <a:r>
                        <a:rPr sz="20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ess</a:t>
                      </a:r>
                      <a:r>
                        <a:rPr sz="20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)</a:t>
                      </a:r>
                      <a:r>
                        <a:rPr sz="2000" b="1" spc="-7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depending</a:t>
                      </a:r>
                      <a:r>
                        <a:rPr sz="20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on  </a:t>
                      </a:r>
                      <a:r>
                        <a:rPr sz="2000" b="1" spc="2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2000" b="1" spc="-6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2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type</a:t>
                      </a:r>
                      <a:r>
                        <a:rPr sz="2000" b="1" spc="-6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20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1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switch.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67945" marR="25717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000" b="1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Usually </a:t>
                      </a:r>
                      <a:r>
                        <a:rPr sz="2000" b="1" spc="-1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large </a:t>
                      </a:r>
                      <a:r>
                        <a:rPr sz="2000" b="1" spc="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networks </a:t>
                      </a:r>
                      <a:r>
                        <a:rPr sz="2000" b="1" spc="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use </a:t>
                      </a:r>
                      <a:r>
                        <a:rPr sz="2000" b="1" spc="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switches </a:t>
                      </a:r>
                      <a:r>
                        <a:rPr sz="2000" b="1" spc="1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instead</a:t>
                      </a:r>
                      <a:r>
                        <a:rPr sz="2000" b="1" spc="-6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2000" b="1" spc="-5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hubs</a:t>
                      </a:r>
                      <a:r>
                        <a:rPr sz="2000" b="1" spc="-7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2000" b="1" spc="-6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4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connect</a:t>
                      </a:r>
                      <a:r>
                        <a:rPr sz="2000" b="1" spc="-6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computers </a:t>
                      </a:r>
                      <a:r>
                        <a:rPr sz="2000" b="1" spc="-484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3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within</a:t>
                      </a:r>
                      <a:r>
                        <a:rPr sz="2000" b="1" spc="-6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2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2000" b="1" spc="-6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-4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same</a:t>
                      </a:r>
                      <a:r>
                        <a:rPr sz="2000" b="1" spc="-8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subnet.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4717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2120"/>
                        </a:lnSpc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2000" spc="25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ge</a:t>
                      </a:r>
                      <a:r>
                        <a:rPr sz="20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has</a:t>
                      </a:r>
                      <a:r>
                        <a:rPr sz="20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0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ngle</a:t>
                      </a:r>
                      <a:r>
                        <a:rPr sz="20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g</a:t>
                      </a:r>
                      <a:r>
                        <a:rPr sz="20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5" dirty="0">
                          <a:latin typeface="Times New Roman"/>
                          <a:cs typeface="Times New Roman"/>
                        </a:rPr>
                        <a:t>an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20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2000" spc="-15" dirty="0">
                          <a:latin typeface="Times New Roman"/>
                          <a:cs typeface="Times New Roman"/>
                        </a:rPr>
                        <a:t>u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2000" spc="5" dirty="0">
                          <a:latin typeface="Times New Roman"/>
                          <a:cs typeface="Times New Roman"/>
                        </a:rPr>
                        <a:t>g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ng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69215">
                        <a:lnSpc>
                          <a:spcPct val="100000"/>
                        </a:lnSpc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port.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69215" marR="332740">
                        <a:lnSpc>
                          <a:spcPct val="100000"/>
                        </a:lnSpc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0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2000" spc="3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ge</a:t>
                      </a:r>
                      <a:r>
                        <a:rPr sz="20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5" dirty="0">
                          <a:latin typeface="Times New Roman"/>
                          <a:cs typeface="Times New Roman"/>
                        </a:rPr>
                        <a:t>mai</a:t>
                      </a:r>
                      <a:r>
                        <a:rPr sz="2000" spc="-15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tains</a:t>
                      </a:r>
                      <a:r>
                        <a:rPr sz="20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0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2000" spc="-1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000" spc="-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5" dirty="0">
                          <a:latin typeface="Times New Roman"/>
                          <a:cs typeface="Times New Roman"/>
                        </a:rPr>
                        <a:t>ad</a:t>
                      </a:r>
                      <a:r>
                        <a:rPr sz="2000" spc="-15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2000" spc="-35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ess</a:t>
                      </a:r>
                      <a:r>
                        <a:rPr sz="20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ta</a:t>
                      </a:r>
                      <a:r>
                        <a:rPr sz="2000" spc="-30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2000" spc="-5" dirty="0">
                          <a:latin typeface="Times New Roman"/>
                          <a:cs typeface="Times New Roman"/>
                        </a:rPr>
                        <a:t>l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0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r  both</a:t>
                      </a:r>
                      <a:r>
                        <a:rPr sz="20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LAN</a:t>
                      </a:r>
                      <a:r>
                        <a:rPr sz="20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se</a:t>
                      </a:r>
                      <a:r>
                        <a:rPr sz="2000" spc="5" dirty="0">
                          <a:latin typeface="Times New Roman"/>
                          <a:cs typeface="Times New Roman"/>
                        </a:rPr>
                        <a:t>g</a:t>
                      </a:r>
                      <a:r>
                        <a:rPr sz="2000" spc="-5" dirty="0">
                          <a:latin typeface="Times New Roman"/>
                          <a:cs typeface="Times New Roman"/>
                        </a:rPr>
                        <a:t>ment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000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it</a:t>
                      </a:r>
                      <a:r>
                        <a:rPr sz="20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20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co</a:t>
                      </a:r>
                      <a:r>
                        <a:rPr sz="2000" spc="-15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ne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ted</a:t>
                      </a:r>
                      <a:r>
                        <a:rPr sz="20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2000" spc="-100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.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69215" marR="128270">
                        <a:lnSpc>
                          <a:spcPct val="100000"/>
                        </a:lnSpc>
                      </a:pPr>
                      <a:r>
                        <a:rPr sz="2000" spc="-120" dirty="0">
                          <a:latin typeface="Times New Roman"/>
                          <a:cs typeface="Times New Roman"/>
                        </a:rPr>
                        <a:t>Bridge</a:t>
                      </a: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70" dirty="0">
                          <a:latin typeface="Times New Roman"/>
                          <a:cs typeface="Times New Roman"/>
                        </a:rPr>
                        <a:t>filters</a:t>
                      </a:r>
                      <a:r>
                        <a:rPr sz="20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90" dirty="0">
                          <a:latin typeface="Times New Roman"/>
                          <a:cs typeface="Times New Roman"/>
                        </a:rPr>
                        <a:t>traffic</a:t>
                      </a:r>
                      <a:r>
                        <a:rPr sz="20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85" dirty="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sz="20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55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20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95" dirty="0">
                          <a:latin typeface="Times New Roman"/>
                          <a:cs typeface="Times New Roman"/>
                        </a:rPr>
                        <a:t>LAN</a:t>
                      </a:r>
                      <a:r>
                        <a:rPr sz="20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55" dirty="0">
                          <a:latin typeface="Times New Roman"/>
                          <a:cs typeface="Times New Roman"/>
                        </a:rPr>
                        <a:t>by</a:t>
                      </a:r>
                      <a:r>
                        <a:rPr sz="20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10" dirty="0">
                          <a:latin typeface="Times New Roman"/>
                          <a:cs typeface="Times New Roman"/>
                        </a:rPr>
                        <a:t>looking</a:t>
                      </a:r>
                      <a:r>
                        <a:rPr sz="20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80" dirty="0">
                          <a:latin typeface="Times New Roman"/>
                          <a:cs typeface="Times New Roman"/>
                        </a:rPr>
                        <a:t>at </a:t>
                      </a:r>
                      <a:r>
                        <a:rPr sz="2000" spc="-48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20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2000" spc="-1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000" spc="-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5" dirty="0">
                          <a:latin typeface="Times New Roman"/>
                          <a:cs typeface="Times New Roman"/>
                        </a:rPr>
                        <a:t>ad</a:t>
                      </a:r>
                      <a:r>
                        <a:rPr sz="2000" spc="-15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2000" spc="-35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es</a:t>
                      </a:r>
                      <a:r>
                        <a:rPr sz="2000" spc="-4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.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69215" marR="293370">
                        <a:lnSpc>
                          <a:spcPct val="100000"/>
                        </a:lnSpc>
                      </a:pPr>
                      <a:r>
                        <a:rPr sz="2000" spc="-120" dirty="0">
                          <a:latin typeface="Times New Roman"/>
                          <a:cs typeface="Times New Roman"/>
                        </a:rPr>
                        <a:t>Bridge</a:t>
                      </a: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10" dirty="0">
                          <a:latin typeface="Times New Roman"/>
                          <a:cs typeface="Times New Roman"/>
                        </a:rPr>
                        <a:t>looks</a:t>
                      </a:r>
                      <a:r>
                        <a:rPr sz="20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80" dirty="0">
                          <a:latin typeface="Times New Roman"/>
                          <a:cs typeface="Times New Roman"/>
                        </a:rPr>
                        <a:t>at</a:t>
                      </a:r>
                      <a:r>
                        <a:rPr sz="20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6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20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85" dirty="0">
                          <a:latin typeface="Times New Roman"/>
                          <a:cs typeface="Times New Roman"/>
                        </a:rPr>
                        <a:t>destination</a:t>
                      </a:r>
                      <a:r>
                        <a:rPr sz="20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14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20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6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20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95" dirty="0">
                          <a:latin typeface="Times New Roman"/>
                          <a:cs typeface="Times New Roman"/>
                        </a:rPr>
                        <a:t>packet </a:t>
                      </a:r>
                      <a:r>
                        <a:rPr sz="2000" spc="-48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85" dirty="0">
                          <a:latin typeface="Times New Roman"/>
                          <a:cs typeface="Times New Roman"/>
                        </a:rPr>
                        <a:t>before</a:t>
                      </a:r>
                      <a:r>
                        <a:rPr sz="20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0" dirty="0">
                          <a:latin typeface="Times New Roman"/>
                          <a:cs typeface="Times New Roman"/>
                        </a:rPr>
                        <a:t>forwarding</a:t>
                      </a:r>
                      <a:r>
                        <a:rPr sz="20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5" dirty="0">
                          <a:latin typeface="Times New Roman"/>
                          <a:cs typeface="Times New Roman"/>
                        </a:rPr>
                        <a:t>unlike</a:t>
                      </a:r>
                      <a:r>
                        <a:rPr sz="20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6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0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90" dirty="0">
                          <a:latin typeface="Times New Roman"/>
                          <a:cs typeface="Times New Roman"/>
                        </a:rPr>
                        <a:t>hub.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69215" marR="819785">
                        <a:lnSpc>
                          <a:spcPct val="100000"/>
                        </a:lnSpc>
                      </a:pPr>
                      <a:r>
                        <a:rPr sz="2000" spc="-60" dirty="0">
                          <a:latin typeface="Times New Roman"/>
                          <a:cs typeface="Times New Roman"/>
                        </a:rPr>
                        <a:t>It</a:t>
                      </a:r>
                      <a:r>
                        <a:rPr sz="20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60" dirty="0">
                          <a:latin typeface="Times New Roman"/>
                          <a:cs typeface="Times New Roman"/>
                        </a:rPr>
                        <a:t>restricts</a:t>
                      </a:r>
                      <a:r>
                        <a:rPr sz="20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0" dirty="0">
                          <a:latin typeface="Times New Roman"/>
                          <a:cs typeface="Times New Roman"/>
                        </a:rPr>
                        <a:t>transmission</a:t>
                      </a:r>
                      <a:r>
                        <a:rPr sz="20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90" dirty="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sz="20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50" dirty="0">
                          <a:latin typeface="Times New Roman"/>
                          <a:cs typeface="Times New Roman"/>
                        </a:rPr>
                        <a:t>other</a:t>
                      </a:r>
                      <a:r>
                        <a:rPr sz="20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95" dirty="0">
                          <a:latin typeface="Times New Roman"/>
                          <a:cs typeface="Times New Roman"/>
                        </a:rPr>
                        <a:t>LAN </a:t>
                      </a:r>
                      <a:r>
                        <a:rPr sz="2000" spc="-48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95" dirty="0">
                          <a:latin typeface="Times New Roman"/>
                          <a:cs typeface="Times New Roman"/>
                        </a:rPr>
                        <a:t>segment</a:t>
                      </a:r>
                      <a:r>
                        <a:rPr sz="20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30" dirty="0">
                          <a:latin typeface="Times New Roman"/>
                          <a:cs typeface="Times New Roman"/>
                        </a:rPr>
                        <a:t>if</a:t>
                      </a:r>
                      <a:r>
                        <a:rPr sz="20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85" dirty="0">
                          <a:latin typeface="Times New Roman"/>
                          <a:cs typeface="Times New Roman"/>
                        </a:rPr>
                        <a:t>destination</a:t>
                      </a:r>
                      <a:r>
                        <a:rPr sz="20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25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20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50" dirty="0">
                          <a:latin typeface="Times New Roman"/>
                          <a:cs typeface="Times New Roman"/>
                        </a:rPr>
                        <a:t>not</a:t>
                      </a:r>
                      <a:r>
                        <a:rPr sz="20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75" dirty="0">
                          <a:latin typeface="Times New Roman"/>
                          <a:cs typeface="Times New Roman"/>
                        </a:rPr>
                        <a:t>found.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69215" marR="445134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2000" spc="25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ges</a:t>
                      </a:r>
                      <a:r>
                        <a:rPr sz="20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000" spc="-3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0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u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sed</a:t>
                      </a:r>
                      <a:r>
                        <a:rPr sz="20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20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sepa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te</a:t>
                      </a:r>
                      <a:r>
                        <a:rPr sz="20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pa</a:t>
                      </a:r>
                      <a:r>
                        <a:rPr sz="2000" spc="6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ts</a:t>
                      </a:r>
                      <a:r>
                        <a:rPr sz="20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20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a  </a:t>
                      </a:r>
                      <a:r>
                        <a:rPr sz="2000" spc="-75" dirty="0">
                          <a:latin typeface="Times New Roman"/>
                          <a:cs typeface="Times New Roman"/>
                        </a:rPr>
                        <a:t>network</a:t>
                      </a:r>
                      <a:r>
                        <a:rPr sz="20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65" dirty="0">
                          <a:latin typeface="Times New Roman"/>
                          <a:cs typeface="Times New Roman"/>
                        </a:rPr>
                        <a:t>that</a:t>
                      </a:r>
                      <a:r>
                        <a:rPr sz="20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90" dirty="0">
                          <a:latin typeface="Times New Roman"/>
                          <a:cs typeface="Times New Roman"/>
                        </a:rPr>
                        <a:t>do</a:t>
                      </a:r>
                      <a:r>
                        <a:rPr sz="2000" spc="-50" dirty="0">
                          <a:latin typeface="Times New Roman"/>
                          <a:cs typeface="Times New Roman"/>
                        </a:rPr>
                        <a:t> not</a:t>
                      </a:r>
                      <a:r>
                        <a:rPr sz="20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80" dirty="0">
                          <a:latin typeface="Times New Roman"/>
                          <a:cs typeface="Times New Roman"/>
                        </a:rPr>
                        <a:t>need</a:t>
                      </a:r>
                      <a:r>
                        <a:rPr sz="20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3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20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5" dirty="0">
                          <a:latin typeface="Times New Roman"/>
                          <a:cs typeface="Times New Roman"/>
                        </a:rPr>
                        <a:t>communicate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6921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2000" spc="-35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egu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l</a:t>
                      </a:r>
                      <a:r>
                        <a:rPr sz="2000" spc="-5" dirty="0">
                          <a:latin typeface="Times New Roman"/>
                          <a:cs typeface="Times New Roman"/>
                        </a:rPr>
                        <a:t>ar</a:t>
                      </a:r>
                      <a:r>
                        <a:rPr sz="2000" spc="-45" dirty="0">
                          <a:latin typeface="Times New Roman"/>
                          <a:cs typeface="Times New Roman"/>
                        </a:rPr>
                        <a:t>l</a:t>
                      </a:r>
                      <a:r>
                        <a:rPr sz="2000" spc="-204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sz="2000" spc="-1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ut</a:t>
                      </a:r>
                      <a:r>
                        <a:rPr sz="20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need</a:t>
                      </a:r>
                      <a:r>
                        <a:rPr sz="20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20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be</a:t>
                      </a:r>
                      <a:r>
                        <a:rPr sz="20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000" spc="-15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2000" spc="-15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ected.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C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28445" y="385063"/>
            <a:ext cx="582422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735" dirty="0">
                <a:solidFill>
                  <a:srgbClr val="585858"/>
                </a:solidFill>
                <a:latin typeface="Times New Roman"/>
                <a:cs typeface="Times New Roman"/>
              </a:rPr>
              <a:t>T</a:t>
            </a:r>
            <a:r>
              <a:rPr sz="4400" spc="-484" dirty="0">
                <a:solidFill>
                  <a:srgbClr val="585858"/>
                </a:solidFill>
                <a:latin typeface="Times New Roman"/>
                <a:cs typeface="Times New Roman"/>
              </a:rPr>
              <a:t>w</a:t>
            </a:r>
            <a:r>
              <a:rPr sz="4400" spc="-185" dirty="0">
                <a:solidFill>
                  <a:srgbClr val="585858"/>
                </a:solidFill>
                <a:latin typeface="Times New Roman"/>
                <a:cs typeface="Times New Roman"/>
              </a:rPr>
              <a:t>o</a:t>
            </a:r>
            <a:r>
              <a:rPr sz="4400" spc="-295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4400" spc="-240" dirty="0">
                <a:solidFill>
                  <a:srgbClr val="585858"/>
                </a:solidFill>
                <a:latin typeface="Times New Roman"/>
                <a:cs typeface="Times New Roman"/>
              </a:rPr>
              <a:t>an</a:t>
            </a:r>
            <a:r>
              <a:rPr sz="4400" spc="-250" dirty="0">
                <a:solidFill>
                  <a:srgbClr val="585858"/>
                </a:solidFill>
                <a:latin typeface="Times New Roman"/>
                <a:cs typeface="Times New Roman"/>
              </a:rPr>
              <a:t>d</a:t>
            </a:r>
            <a:r>
              <a:rPr sz="4400" spc="-655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4400" spc="-229" dirty="0">
                <a:solidFill>
                  <a:srgbClr val="585858"/>
                </a:solidFill>
                <a:latin typeface="Times New Roman"/>
                <a:cs typeface="Times New Roman"/>
              </a:rPr>
              <a:t>T</a:t>
            </a:r>
            <a:r>
              <a:rPr sz="4400" spc="-300" dirty="0">
                <a:solidFill>
                  <a:srgbClr val="585858"/>
                </a:solidFill>
                <a:latin typeface="Times New Roman"/>
                <a:cs typeface="Times New Roman"/>
              </a:rPr>
              <a:t>h</a:t>
            </a:r>
            <a:r>
              <a:rPr sz="4400" spc="-30" dirty="0">
                <a:solidFill>
                  <a:srgbClr val="585858"/>
                </a:solidFill>
                <a:latin typeface="Times New Roman"/>
                <a:cs typeface="Times New Roman"/>
              </a:rPr>
              <a:t>r</a:t>
            </a:r>
            <a:r>
              <a:rPr sz="4400" spc="-195" dirty="0">
                <a:solidFill>
                  <a:srgbClr val="585858"/>
                </a:solidFill>
                <a:latin typeface="Times New Roman"/>
                <a:cs typeface="Times New Roman"/>
              </a:rPr>
              <a:t>e</a:t>
            </a:r>
            <a:r>
              <a:rPr sz="4400" spc="-170" dirty="0">
                <a:solidFill>
                  <a:srgbClr val="585858"/>
                </a:solidFill>
                <a:latin typeface="Times New Roman"/>
                <a:cs typeface="Times New Roman"/>
              </a:rPr>
              <a:t>e</a:t>
            </a:r>
            <a:r>
              <a:rPr sz="4400" spc="-155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4400" spc="-204" dirty="0">
                <a:solidFill>
                  <a:srgbClr val="585858"/>
                </a:solidFill>
                <a:latin typeface="Times New Roman"/>
                <a:cs typeface="Times New Roman"/>
              </a:rPr>
              <a:t>l</a:t>
            </a:r>
            <a:r>
              <a:rPr sz="4400" spc="-540" dirty="0">
                <a:solidFill>
                  <a:srgbClr val="585858"/>
                </a:solidFill>
                <a:latin typeface="Times New Roman"/>
                <a:cs typeface="Times New Roman"/>
              </a:rPr>
              <a:t>a</a:t>
            </a:r>
            <a:r>
              <a:rPr sz="4400" spc="-480" dirty="0">
                <a:solidFill>
                  <a:srgbClr val="585858"/>
                </a:solidFill>
                <a:latin typeface="Times New Roman"/>
                <a:cs typeface="Times New Roman"/>
              </a:rPr>
              <a:t>y</a:t>
            </a:r>
            <a:r>
              <a:rPr sz="4400" spc="-204" dirty="0">
                <a:solidFill>
                  <a:srgbClr val="585858"/>
                </a:solidFill>
                <a:latin typeface="Times New Roman"/>
                <a:cs typeface="Times New Roman"/>
              </a:rPr>
              <a:t>e</a:t>
            </a:r>
            <a:r>
              <a:rPr sz="4400" spc="50" dirty="0">
                <a:solidFill>
                  <a:srgbClr val="585858"/>
                </a:solidFill>
                <a:latin typeface="Times New Roman"/>
                <a:cs typeface="Times New Roman"/>
              </a:rPr>
              <a:t>r</a:t>
            </a:r>
            <a:r>
              <a:rPr sz="4400" spc="20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4400" spc="-445" dirty="0">
                <a:solidFill>
                  <a:srgbClr val="585858"/>
                </a:solidFill>
                <a:latin typeface="Times New Roman"/>
                <a:cs typeface="Times New Roman"/>
              </a:rPr>
              <a:t>s</a:t>
            </a:r>
            <a:r>
              <a:rPr sz="4400" spc="-270" dirty="0">
                <a:solidFill>
                  <a:srgbClr val="585858"/>
                </a:solidFill>
                <a:latin typeface="Times New Roman"/>
                <a:cs typeface="Times New Roman"/>
              </a:rPr>
              <a:t>w</a:t>
            </a:r>
            <a:r>
              <a:rPr sz="4400" spc="-245" dirty="0">
                <a:solidFill>
                  <a:srgbClr val="585858"/>
                </a:solidFill>
                <a:latin typeface="Times New Roman"/>
                <a:cs typeface="Times New Roman"/>
              </a:rPr>
              <a:t>i</a:t>
            </a:r>
            <a:r>
              <a:rPr sz="4400" spc="30" dirty="0">
                <a:solidFill>
                  <a:srgbClr val="585858"/>
                </a:solidFill>
                <a:latin typeface="Times New Roman"/>
                <a:cs typeface="Times New Roman"/>
              </a:rPr>
              <a:t>t</a:t>
            </a:r>
            <a:r>
              <a:rPr sz="4400" spc="-210" dirty="0">
                <a:solidFill>
                  <a:srgbClr val="585858"/>
                </a:solidFill>
                <a:latin typeface="Times New Roman"/>
                <a:cs typeface="Times New Roman"/>
              </a:rPr>
              <a:t>c</a:t>
            </a:r>
            <a:r>
              <a:rPr sz="4400" spc="-300" dirty="0">
                <a:solidFill>
                  <a:srgbClr val="585858"/>
                </a:solidFill>
                <a:latin typeface="Times New Roman"/>
                <a:cs typeface="Times New Roman"/>
              </a:rPr>
              <a:t>h</a:t>
            </a:r>
            <a:r>
              <a:rPr sz="4400" spc="-195" dirty="0">
                <a:solidFill>
                  <a:srgbClr val="585858"/>
                </a:solidFill>
                <a:latin typeface="Times New Roman"/>
                <a:cs typeface="Times New Roman"/>
              </a:rPr>
              <a:t>e</a:t>
            </a:r>
            <a:r>
              <a:rPr sz="4400" spc="-335" dirty="0">
                <a:solidFill>
                  <a:srgbClr val="585858"/>
                </a:solidFill>
                <a:latin typeface="Times New Roman"/>
                <a:cs typeface="Times New Roman"/>
              </a:rPr>
              <a:t>s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430782"/>
            <a:ext cx="7911465" cy="4097654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356870" marR="869950" indent="-344805">
              <a:lnSpc>
                <a:spcPts val="3490"/>
              </a:lnSpc>
              <a:spcBef>
                <a:spcPts val="509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3200" spc="-545" dirty="0">
                <a:latin typeface="Times New Roman"/>
                <a:cs typeface="Times New Roman"/>
              </a:rPr>
              <a:t>T</a:t>
            </a:r>
            <a:r>
              <a:rPr sz="3200" spc="-345" dirty="0">
                <a:latin typeface="Times New Roman"/>
                <a:cs typeface="Times New Roman"/>
              </a:rPr>
              <a:t>w</a:t>
            </a:r>
            <a:r>
              <a:rPr sz="3200" spc="-135" dirty="0">
                <a:latin typeface="Times New Roman"/>
                <a:cs typeface="Times New Roman"/>
              </a:rPr>
              <a:t>o</a:t>
            </a:r>
            <a:r>
              <a:rPr sz="3200" spc="-204" dirty="0">
                <a:latin typeface="Times New Roman"/>
                <a:cs typeface="Times New Roman"/>
              </a:rPr>
              <a:t> </a:t>
            </a:r>
            <a:r>
              <a:rPr sz="3200" spc="-150" dirty="0">
                <a:latin typeface="Times New Roman"/>
                <a:cs typeface="Times New Roman"/>
              </a:rPr>
              <a:t>l</a:t>
            </a:r>
            <a:r>
              <a:rPr sz="3200" spc="-385" dirty="0">
                <a:latin typeface="Times New Roman"/>
                <a:cs typeface="Times New Roman"/>
              </a:rPr>
              <a:t>a</a:t>
            </a:r>
            <a:r>
              <a:rPr sz="3200" spc="-345" dirty="0">
                <a:latin typeface="Times New Roman"/>
                <a:cs typeface="Times New Roman"/>
              </a:rPr>
              <a:t>y</a:t>
            </a:r>
            <a:r>
              <a:rPr sz="3200" spc="-155" dirty="0">
                <a:latin typeface="Times New Roman"/>
                <a:cs typeface="Times New Roman"/>
              </a:rPr>
              <a:t>e</a:t>
            </a:r>
            <a:r>
              <a:rPr sz="3200" spc="35" dirty="0">
                <a:latin typeface="Times New Roman"/>
                <a:cs typeface="Times New Roman"/>
              </a:rPr>
              <a:t>r</a:t>
            </a:r>
            <a:r>
              <a:rPr sz="3200" spc="-114" dirty="0">
                <a:latin typeface="Times New Roman"/>
                <a:cs typeface="Times New Roman"/>
              </a:rPr>
              <a:t> </a:t>
            </a:r>
            <a:r>
              <a:rPr sz="3200" spc="-315" dirty="0">
                <a:latin typeface="Times New Roman"/>
                <a:cs typeface="Times New Roman"/>
              </a:rPr>
              <a:t>s</a:t>
            </a:r>
            <a:r>
              <a:rPr sz="3200" spc="-190" dirty="0">
                <a:latin typeface="Times New Roman"/>
                <a:cs typeface="Times New Roman"/>
              </a:rPr>
              <a:t>w</a:t>
            </a:r>
            <a:r>
              <a:rPr sz="3200" spc="-175" dirty="0">
                <a:latin typeface="Times New Roman"/>
                <a:cs typeface="Times New Roman"/>
              </a:rPr>
              <a:t>i</a:t>
            </a:r>
            <a:r>
              <a:rPr sz="3200" spc="30" dirty="0">
                <a:latin typeface="Times New Roman"/>
                <a:cs typeface="Times New Roman"/>
              </a:rPr>
              <a:t>t</a:t>
            </a:r>
            <a:r>
              <a:rPr sz="3200" spc="-145" dirty="0">
                <a:latin typeface="Times New Roman"/>
                <a:cs typeface="Times New Roman"/>
              </a:rPr>
              <a:t>c</a:t>
            </a:r>
            <a:r>
              <a:rPr sz="3200" spc="-200" dirty="0">
                <a:latin typeface="Times New Roman"/>
                <a:cs typeface="Times New Roman"/>
              </a:rPr>
              <a:t>h</a:t>
            </a:r>
            <a:r>
              <a:rPr sz="3200" spc="-125" dirty="0">
                <a:latin typeface="Times New Roman"/>
                <a:cs typeface="Times New Roman"/>
              </a:rPr>
              <a:t> </a:t>
            </a:r>
            <a:r>
              <a:rPr sz="3200" spc="-165" dirty="0">
                <a:latin typeface="Times New Roman"/>
                <a:cs typeface="Times New Roman"/>
              </a:rPr>
              <a:t>op</a:t>
            </a:r>
            <a:r>
              <a:rPr sz="3200" spc="-155" dirty="0">
                <a:latin typeface="Times New Roman"/>
                <a:cs typeface="Times New Roman"/>
              </a:rPr>
              <a:t>e</a:t>
            </a:r>
            <a:r>
              <a:rPr sz="3200" spc="10" dirty="0">
                <a:latin typeface="Times New Roman"/>
                <a:cs typeface="Times New Roman"/>
              </a:rPr>
              <a:t>r</a:t>
            </a:r>
            <a:r>
              <a:rPr sz="3200" spc="-315" dirty="0">
                <a:latin typeface="Times New Roman"/>
                <a:cs typeface="Times New Roman"/>
              </a:rPr>
              <a:t>a</a:t>
            </a:r>
            <a:r>
              <a:rPr sz="3200" spc="20" dirty="0">
                <a:latin typeface="Times New Roman"/>
                <a:cs typeface="Times New Roman"/>
              </a:rPr>
              <a:t>t</a:t>
            </a:r>
            <a:r>
              <a:rPr sz="3200" spc="-125" dirty="0">
                <a:latin typeface="Times New Roman"/>
                <a:cs typeface="Times New Roman"/>
              </a:rPr>
              <a:t>e</a:t>
            </a:r>
            <a:r>
              <a:rPr sz="3200" spc="-114" dirty="0">
                <a:latin typeface="Times New Roman"/>
                <a:cs typeface="Times New Roman"/>
              </a:rPr>
              <a:t> </a:t>
            </a:r>
            <a:r>
              <a:rPr sz="3200" spc="-300" dirty="0">
                <a:latin typeface="Times New Roman"/>
                <a:cs typeface="Times New Roman"/>
              </a:rPr>
              <a:t>a</a:t>
            </a:r>
            <a:r>
              <a:rPr sz="3200" spc="45" dirty="0">
                <a:latin typeface="Times New Roman"/>
                <a:cs typeface="Times New Roman"/>
              </a:rPr>
              <a:t>t</a:t>
            </a:r>
            <a:r>
              <a:rPr sz="3200" spc="-105" dirty="0">
                <a:latin typeface="Times New Roman"/>
                <a:cs typeface="Times New Roman"/>
              </a:rPr>
              <a:t> </a:t>
            </a:r>
            <a:r>
              <a:rPr sz="3200" spc="-290" dirty="0">
                <a:latin typeface="Times New Roman"/>
                <a:cs typeface="Times New Roman"/>
              </a:rPr>
              <a:t>PHY</a:t>
            </a:r>
            <a:r>
              <a:rPr sz="3200" spc="-105" dirty="0">
                <a:latin typeface="Times New Roman"/>
                <a:cs typeface="Times New Roman"/>
              </a:rPr>
              <a:t> </a:t>
            </a:r>
            <a:r>
              <a:rPr sz="3200" spc="-175" dirty="0">
                <a:latin typeface="Times New Roman"/>
                <a:cs typeface="Times New Roman"/>
              </a:rPr>
              <a:t>an</a:t>
            </a:r>
            <a:r>
              <a:rPr sz="3200" spc="-180" dirty="0">
                <a:latin typeface="Times New Roman"/>
                <a:cs typeface="Times New Roman"/>
              </a:rPr>
              <a:t>d</a:t>
            </a:r>
            <a:r>
              <a:rPr sz="3200" spc="-105" dirty="0">
                <a:latin typeface="Times New Roman"/>
                <a:cs typeface="Times New Roman"/>
              </a:rPr>
              <a:t> </a:t>
            </a:r>
            <a:r>
              <a:rPr sz="3200" spc="-165" dirty="0">
                <a:latin typeface="Times New Roman"/>
                <a:cs typeface="Times New Roman"/>
              </a:rPr>
              <a:t>d</a:t>
            </a:r>
            <a:r>
              <a:rPr sz="3200" spc="-315" dirty="0">
                <a:latin typeface="Times New Roman"/>
                <a:cs typeface="Times New Roman"/>
              </a:rPr>
              <a:t>a</a:t>
            </a:r>
            <a:r>
              <a:rPr sz="3200" spc="20" dirty="0">
                <a:latin typeface="Times New Roman"/>
                <a:cs typeface="Times New Roman"/>
              </a:rPr>
              <a:t>t</a:t>
            </a:r>
            <a:r>
              <a:rPr sz="3200" spc="-254" dirty="0">
                <a:latin typeface="Times New Roman"/>
                <a:cs typeface="Times New Roman"/>
              </a:rPr>
              <a:t>a</a:t>
            </a:r>
            <a:r>
              <a:rPr sz="3200" spc="95" dirty="0">
                <a:latin typeface="Times New Roman"/>
                <a:cs typeface="Times New Roman"/>
              </a:rPr>
              <a:t> </a:t>
            </a:r>
            <a:r>
              <a:rPr sz="3200" spc="-140" dirty="0">
                <a:latin typeface="Times New Roman"/>
                <a:cs typeface="Times New Roman"/>
              </a:rPr>
              <a:t>link  </a:t>
            </a:r>
            <a:r>
              <a:rPr sz="3200" spc="-200" dirty="0">
                <a:latin typeface="Times New Roman"/>
                <a:cs typeface="Times New Roman"/>
              </a:rPr>
              <a:t>layer</a:t>
            </a:r>
            <a:endParaRPr sz="3200">
              <a:latin typeface="Times New Roman"/>
              <a:cs typeface="Times New Roman"/>
            </a:endParaRPr>
          </a:p>
          <a:p>
            <a:pPr marL="356870" indent="-344805">
              <a:lnSpc>
                <a:spcPts val="3700"/>
              </a:lnSpc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3200" spc="-185" dirty="0">
                <a:latin typeface="Times New Roman"/>
                <a:cs typeface="Times New Roman"/>
              </a:rPr>
              <a:t>T</a:t>
            </a:r>
            <a:r>
              <a:rPr sz="3200" spc="-225" dirty="0">
                <a:latin typeface="Times New Roman"/>
                <a:cs typeface="Times New Roman"/>
              </a:rPr>
              <a:t>h</a:t>
            </a:r>
            <a:r>
              <a:rPr sz="3200" spc="-25" dirty="0">
                <a:latin typeface="Times New Roman"/>
                <a:cs typeface="Times New Roman"/>
              </a:rPr>
              <a:t>r</a:t>
            </a:r>
            <a:r>
              <a:rPr sz="3200" spc="-155" dirty="0">
                <a:latin typeface="Times New Roman"/>
                <a:cs typeface="Times New Roman"/>
              </a:rPr>
              <a:t>e</a:t>
            </a:r>
            <a:r>
              <a:rPr sz="3200" spc="-125" dirty="0">
                <a:latin typeface="Times New Roman"/>
                <a:cs typeface="Times New Roman"/>
              </a:rPr>
              <a:t>e</a:t>
            </a:r>
            <a:r>
              <a:rPr sz="3200" spc="-100" dirty="0">
                <a:latin typeface="Times New Roman"/>
                <a:cs typeface="Times New Roman"/>
              </a:rPr>
              <a:t> </a:t>
            </a:r>
            <a:r>
              <a:rPr sz="3200" spc="-150" dirty="0">
                <a:latin typeface="Times New Roman"/>
                <a:cs typeface="Times New Roman"/>
              </a:rPr>
              <a:t>l</a:t>
            </a:r>
            <a:r>
              <a:rPr sz="3200" spc="-385" dirty="0">
                <a:latin typeface="Times New Roman"/>
                <a:cs typeface="Times New Roman"/>
              </a:rPr>
              <a:t>a</a:t>
            </a:r>
            <a:r>
              <a:rPr sz="3200" spc="-345" dirty="0">
                <a:latin typeface="Times New Roman"/>
                <a:cs typeface="Times New Roman"/>
              </a:rPr>
              <a:t>y</a:t>
            </a:r>
            <a:r>
              <a:rPr sz="3200" spc="-155" dirty="0">
                <a:latin typeface="Times New Roman"/>
                <a:cs typeface="Times New Roman"/>
              </a:rPr>
              <a:t>e</a:t>
            </a:r>
            <a:r>
              <a:rPr sz="3200" spc="35" dirty="0">
                <a:latin typeface="Times New Roman"/>
                <a:cs typeface="Times New Roman"/>
              </a:rPr>
              <a:t>r</a:t>
            </a:r>
            <a:r>
              <a:rPr sz="3200" spc="-125" dirty="0">
                <a:latin typeface="Times New Roman"/>
                <a:cs typeface="Times New Roman"/>
              </a:rPr>
              <a:t> </a:t>
            </a:r>
            <a:r>
              <a:rPr sz="3200" spc="-315" dirty="0">
                <a:latin typeface="Times New Roman"/>
                <a:cs typeface="Times New Roman"/>
              </a:rPr>
              <a:t>s</a:t>
            </a:r>
            <a:r>
              <a:rPr sz="3200" spc="-190" dirty="0">
                <a:latin typeface="Times New Roman"/>
                <a:cs typeface="Times New Roman"/>
              </a:rPr>
              <a:t>w</a:t>
            </a:r>
            <a:r>
              <a:rPr sz="3200" spc="-175" dirty="0">
                <a:latin typeface="Times New Roman"/>
                <a:cs typeface="Times New Roman"/>
              </a:rPr>
              <a:t>i</a:t>
            </a:r>
            <a:r>
              <a:rPr sz="3200" spc="30" dirty="0">
                <a:latin typeface="Times New Roman"/>
                <a:cs typeface="Times New Roman"/>
              </a:rPr>
              <a:t>t</a:t>
            </a:r>
            <a:r>
              <a:rPr sz="3200" spc="-145" dirty="0">
                <a:latin typeface="Times New Roman"/>
                <a:cs typeface="Times New Roman"/>
              </a:rPr>
              <a:t>c</a:t>
            </a:r>
            <a:r>
              <a:rPr sz="3200" spc="-200" dirty="0">
                <a:latin typeface="Times New Roman"/>
                <a:cs typeface="Times New Roman"/>
              </a:rPr>
              <a:t>h</a:t>
            </a:r>
            <a:r>
              <a:rPr sz="3200" spc="-114" dirty="0">
                <a:latin typeface="Times New Roman"/>
                <a:cs typeface="Times New Roman"/>
              </a:rPr>
              <a:t> </a:t>
            </a:r>
            <a:r>
              <a:rPr sz="3200" spc="-165" dirty="0">
                <a:latin typeface="Times New Roman"/>
                <a:cs typeface="Times New Roman"/>
              </a:rPr>
              <a:t>op</a:t>
            </a:r>
            <a:r>
              <a:rPr sz="3200" spc="-155" dirty="0">
                <a:latin typeface="Times New Roman"/>
                <a:cs typeface="Times New Roman"/>
              </a:rPr>
              <a:t>e</a:t>
            </a:r>
            <a:r>
              <a:rPr sz="3200" spc="10" dirty="0">
                <a:latin typeface="Times New Roman"/>
                <a:cs typeface="Times New Roman"/>
              </a:rPr>
              <a:t>r</a:t>
            </a:r>
            <a:r>
              <a:rPr sz="3200" spc="-315" dirty="0">
                <a:latin typeface="Times New Roman"/>
                <a:cs typeface="Times New Roman"/>
              </a:rPr>
              <a:t>a</a:t>
            </a:r>
            <a:r>
              <a:rPr sz="3200" spc="20" dirty="0">
                <a:latin typeface="Times New Roman"/>
                <a:cs typeface="Times New Roman"/>
              </a:rPr>
              <a:t>t</a:t>
            </a:r>
            <a:r>
              <a:rPr sz="3200" spc="-155" dirty="0">
                <a:latin typeface="Times New Roman"/>
                <a:cs typeface="Times New Roman"/>
              </a:rPr>
              <a:t>e</a:t>
            </a:r>
            <a:r>
              <a:rPr sz="3200" spc="-245" dirty="0">
                <a:latin typeface="Times New Roman"/>
                <a:cs typeface="Times New Roman"/>
              </a:rPr>
              <a:t>s</a:t>
            </a:r>
            <a:r>
              <a:rPr sz="3200" spc="-130" dirty="0">
                <a:latin typeface="Times New Roman"/>
                <a:cs typeface="Times New Roman"/>
              </a:rPr>
              <a:t> </a:t>
            </a:r>
            <a:r>
              <a:rPr sz="3200" spc="-300" dirty="0">
                <a:latin typeface="Times New Roman"/>
                <a:cs typeface="Times New Roman"/>
              </a:rPr>
              <a:t>a</a:t>
            </a:r>
            <a:r>
              <a:rPr sz="3200" spc="45" dirty="0">
                <a:latin typeface="Times New Roman"/>
                <a:cs typeface="Times New Roman"/>
              </a:rPr>
              <a:t>t</a:t>
            </a:r>
            <a:r>
              <a:rPr sz="3200" spc="-105" dirty="0">
                <a:latin typeface="Times New Roman"/>
                <a:cs typeface="Times New Roman"/>
              </a:rPr>
              <a:t> </a:t>
            </a:r>
            <a:r>
              <a:rPr sz="3200" spc="-155" dirty="0">
                <a:latin typeface="Times New Roman"/>
                <a:cs typeface="Times New Roman"/>
              </a:rPr>
              <a:t>n</a:t>
            </a:r>
            <a:r>
              <a:rPr sz="3200" spc="-145" dirty="0">
                <a:latin typeface="Times New Roman"/>
                <a:cs typeface="Times New Roman"/>
              </a:rPr>
              <a:t>e</a:t>
            </a:r>
            <a:r>
              <a:rPr sz="3200" spc="30" dirty="0">
                <a:latin typeface="Times New Roman"/>
                <a:cs typeface="Times New Roman"/>
              </a:rPr>
              <a:t>t</a:t>
            </a:r>
            <a:r>
              <a:rPr sz="3200" spc="-300" dirty="0">
                <a:latin typeface="Times New Roman"/>
                <a:cs typeface="Times New Roman"/>
              </a:rPr>
              <a:t>w</a:t>
            </a:r>
            <a:r>
              <a:rPr sz="3200" spc="-155" dirty="0">
                <a:latin typeface="Times New Roman"/>
                <a:cs typeface="Times New Roman"/>
              </a:rPr>
              <a:t>o</a:t>
            </a:r>
            <a:r>
              <a:rPr sz="3200" spc="20" dirty="0">
                <a:latin typeface="Times New Roman"/>
                <a:cs typeface="Times New Roman"/>
              </a:rPr>
              <a:t>r</a:t>
            </a:r>
            <a:r>
              <a:rPr sz="3200" spc="-200" dirty="0">
                <a:latin typeface="Times New Roman"/>
                <a:cs typeface="Times New Roman"/>
              </a:rPr>
              <a:t>k</a:t>
            </a:r>
            <a:r>
              <a:rPr sz="3200" spc="55" dirty="0">
                <a:latin typeface="Times New Roman"/>
                <a:cs typeface="Times New Roman"/>
              </a:rPr>
              <a:t> </a:t>
            </a:r>
            <a:r>
              <a:rPr sz="3200" spc="-150" dirty="0">
                <a:latin typeface="Times New Roman"/>
                <a:cs typeface="Times New Roman"/>
              </a:rPr>
              <a:t>l</a:t>
            </a:r>
            <a:r>
              <a:rPr sz="3200" spc="-385" dirty="0">
                <a:latin typeface="Times New Roman"/>
                <a:cs typeface="Times New Roman"/>
              </a:rPr>
              <a:t>a</a:t>
            </a:r>
            <a:r>
              <a:rPr sz="3200" spc="-345" dirty="0">
                <a:latin typeface="Times New Roman"/>
                <a:cs typeface="Times New Roman"/>
              </a:rPr>
              <a:t>y</a:t>
            </a:r>
            <a:r>
              <a:rPr sz="3200" spc="-155" dirty="0">
                <a:latin typeface="Times New Roman"/>
                <a:cs typeface="Times New Roman"/>
              </a:rPr>
              <a:t>e</a:t>
            </a:r>
            <a:r>
              <a:rPr sz="3200" spc="35" dirty="0">
                <a:latin typeface="Times New Roman"/>
                <a:cs typeface="Times New Roman"/>
              </a:rPr>
              <a:t>r</a:t>
            </a:r>
            <a:endParaRPr sz="3200">
              <a:latin typeface="Times New Roman"/>
              <a:cs typeface="Times New Roman"/>
            </a:endParaRPr>
          </a:p>
          <a:p>
            <a:pPr marL="356870" indent="-34480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3200" spc="-520" dirty="0">
                <a:latin typeface="Times New Roman"/>
                <a:cs typeface="Times New Roman"/>
              </a:rPr>
              <a:t>B</a:t>
            </a:r>
            <a:r>
              <a:rPr sz="3200" spc="80" dirty="0">
                <a:latin typeface="Times New Roman"/>
                <a:cs typeface="Times New Roman"/>
              </a:rPr>
              <a:t>r</a:t>
            </a:r>
            <a:r>
              <a:rPr sz="3200" spc="-175" dirty="0">
                <a:latin typeface="Times New Roman"/>
                <a:cs typeface="Times New Roman"/>
              </a:rPr>
              <a:t>i</a:t>
            </a:r>
            <a:r>
              <a:rPr sz="3200" spc="-155" dirty="0">
                <a:latin typeface="Times New Roman"/>
                <a:cs typeface="Times New Roman"/>
              </a:rPr>
              <a:t>d</a:t>
            </a:r>
            <a:r>
              <a:rPr sz="3200" spc="-285" dirty="0">
                <a:latin typeface="Times New Roman"/>
                <a:cs typeface="Times New Roman"/>
              </a:rPr>
              <a:t>g</a:t>
            </a:r>
            <a:r>
              <a:rPr sz="3200" spc="-125" dirty="0">
                <a:latin typeface="Times New Roman"/>
                <a:cs typeface="Times New Roman"/>
              </a:rPr>
              <a:t>e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spc="-200" dirty="0">
                <a:latin typeface="Times New Roman"/>
                <a:cs typeface="Times New Roman"/>
              </a:rPr>
              <a:t>is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spc="-185" dirty="0">
                <a:latin typeface="Times New Roman"/>
                <a:cs typeface="Times New Roman"/>
              </a:rPr>
              <a:t>a</a:t>
            </a:r>
            <a:r>
              <a:rPr sz="3200" spc="-204" dirty="0">
                <a:latin typeface="Times New Roman"/>
                <a:cs typeface="Times New Roman"/>
              </a:rPr>
              <a:t>n</a:t>
            </a:r>
            <a:r>
              <a:rPr sz="3200" spc="-100" dirty="0">
                <a:latin typeface="Times New Roman"/>
                <a:cs typeface="Times New Roman"/>
              </a:rPr>
              <a:t> </a:t>
            </a:r>
            <a:r>
              <a:rPr sz="3200" spc="-155" dirty="0">
                <a:latin typeface="Times New Roman"/>
                <a:cs typeface="Times New Roman"/>
              </a:rPr>
              <a:t>e</a:t>
            </a:r>
            <a:r>
              <a:rPr sz="3200" spc="-165" dirty="0">
                <a:latin typeface="Times New Roman"/>
                <a:cs typeface="Times New Roman"/>
              </a:rPr>
              <a:t>x</a:t>
            </a:r>
            <a:r>
              <a:rPr sz="3200" spc="-275" dirty="0">
                <a:latin typeface="Times New Roman"/>
                <a:cs typeface="Times New Roman"/>
              </a:rPr>
              <a:t>a</a:t>
            </a:r>
            <a:r>
              <a:rPr sz="3200" spc="-210" dirty="0">
                <a:latin typeface="Times New Roman"/>
                <a:cs typeface="Times New Roman"/>
              </a:rPr>
              <a:t>m</a:t>
            </a:r>
            <a:r>
              <a:rPr sz="3200" spc="-165" dirty="0">
                <a:latin typeface="Times New Roman"/>
                <a:cs typeface="Times New Roman"/>
              </a:rPr>
              <a:t>p</a:t>
            </a:r>
            <a:r>
              <a:rPr sz="3200" spc="-150" dirty="0">
                <a:latin typeface="Times New Roman"/>
                <a:cs typeface="Times New Roman"/>
              </a:rPr>
              <a:t>l</a:t>
            </a:r>
            <a:r>
              <a:rPr sz="3200" spc="-125" dirty="0">
                <a:latin typeface="Times New Roman"/>
                <a:cs typeface="Times New Roman"/>
              </a:rPr>
              <a:t>e</a:t>
            </a:r>
            <a:r>
              <a:rPr sz="3200" spc="-85" dirty="0">
                <a:latin typeface="Times New Roman"/>
                <a:cs typeface="Times New Roman"/>
              </a:rPr>
              <a:t> </a:t>
            </a:r>
            <a:r>
              <a:rPr sz="3200" spc="-155" dirty="0">
                <a:latin typeface="Times New Roman"/>
                <a:cs typeface="Times New Roman"/>
              </a:rPr>
              <a:t>o</a:t>
            </a:r>
            <a:r>
              <a:rPr sz="3200" spc="-235" dirty="0">
                <a:latin typeface="Times New Roman"/>
                <a:cs typeface="Times New Roman"/>
              </a:rPr>
              <a:t>f</a:t>
            </a:r>
            <a:r>
              <a:rPr sz="3200" spc="-95" dirty="0">
                <a:latin typeface="Times New Roman"/>
                <a:cs typeface="Times New Roman"/>
              </a:rPr>
              <a:t> </a:t>
            </a:r>
            <a:r>
              <a:rPr sz="3200" spc="30" dirty="0">
                <a:latin typeface="Times New Roman"/>
                <a:cs typeface="Times New Roman"/>
              </a:rPr>
              <a:t>t</a:t>
            </a:r>
            <a:r>
              <a:rPr sz="3200" spc="-300" dirty="0">
                <a:latin typeface="Times New Roman"/>
                <a:cs typeface="Times New Roman"/>
              </a:rPr>
              <a:t>w</a:t>
            </a:r>
            <a:r>
              <a:rPr sz="3200" spc="-150" dirty="0">
                <a:latin typeface="Times New Roman"/>
                <a:cs typeface="Times New Roman"/>
              </a:rPr>
              <a:t>o</a:t>
            </a:r>
            <a:r>
              <a:rPr sz="3200" spc="-75" dirty="0">
                <a:latin typeface="Times New Roman"/>
                <a:cs typeface="Times New Roman"/>
              </a:rPr>
              <a:t>-</a:t>
            </a:r>
            <a:r>
              <a:rPr sz="3200" spc="-135" dirty="0">
                <a:latin typeface="Times New Roman"/>
                <a:cs typeface="Times New Roman"/>
              </a:rPr>
              <a:t>l</a:t>
            </a:r>
            <a:r>
              <a:rPr sz="3200" spc="-370" dirty="0">
                <a:latin typeface="Times New Roman"/>
                <a:cs typeface="Times New Roman"/>
              </a:rPr>
              <a:t>a</a:t>
            </a:r>
            <a:r>
              <a:rPr sz="3200" spc="-330" dirty="0">
                <a:latin typeface="Times New Roman"/>
                <a:cs typeface="Times New Roman"/>
              </a:rPr>
              <a:t>y</a:t>
            </a:r>
            <a:r>
              <a:rPr sz="3200" spc="-145" dirty="0">
                <a:latin typeface="Times New Roman"/>
                <a:cs typeface="Times New Roman"/>
              </a:rPr>
              <a:t>e</a:t>
            </a:r>
            <a:r>
              <a:rPr sz="3200" spc="35" dirty="0">
                <a:latin typeface="Times New Roman"/>
                <a:cs typeface="Times New Roman"/>
              </a:rPr>
              <a:t>r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spc="-315" dirty="0">
                <a:latin typeface="Times New Roman"/>
                <a:cs typeface="Times New Roman"/>
              </a:rPr>
              <a:t>s</a:t>
            </a:r>
            <a:r>
              <a:rPr sz="3200" spc="-190" dirty="0">
                <a:latin typeface="Times New Roman"/>
                <a:cs typeface="Times New Roman"/>
              </a:rPr>
              <a:t>w</a:t>
            </a:r>
            <a:r>
              <a:rPr sz="3200" spc="-175" dirty="0">
                <a:latin typeface="Times New Roman"/>
                <a:cs typeface="Times New Roman"/>
              </a:rPr>
              <a:t>i</a:t>
            </a:r>
            <a:r>
              <a:rPr sz="3200" spc="30" dirty="0">
                <a:latin typeface="Times New Roman"/>
                <a:cs typeface="Times New Roman"/>
              </a:rPr>
              <a:t>t</a:t>
            </a:r>
            <a:r>
              <a:rPr sz="3200" spc="-145" dirty="0">
                <a:latin typeface="Times New Roman"/>
                <a:cs typeface="Times New Roman"/>
              </a:rPr>
              <a:t>c</a:t>
            </a:r>
            <a:r>
              <a:rPr sz="3200" spc="-215" dirty="0">
                <a:latin typeface="Times New Roman"/>
                <a:cs typeface="Times New Roman"/>
              </a:rPr>
              <a:t>h</a:t>
            </a:r>
            <a:r>
              <a:rPr sz="3200" spc="135" dirty="0">
                <a:latin typeface="Times New Roman"/>
                <a:cs typeface="Times New Roman"/>
              </a:rPr>
              <a:t>.</a:t>
            </a:r>
            <a:endParaRPr sz="3200">
              <a:latin typeface="Times New Roman"/>
              <a:cs typeface="Times New Roman"/>
            </a:endParaRPr>
          </a:p>
          <a:p>
            <a:pPr marL="356870" indent="-344805">
              <a:lnSpc>
                <a:spcPct val="100000"/>
              </a:lnSpc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3200" spc="-520" dirty="0">
                <a:latin typeface="Times New Roman"/>
                <a:cs typeface="Times New Roman"/>
              </a:rPr>
              <a:t>B</a:t>
            </a:r>
            <a:r>
              <a:rPr sz="3200" spc="80" dirty="0">
                <a:latin typeface="Times New Roman"/>
                <a:cs typeface="Times New Roman"/>
              </a:rPr>
              <a:t>r</a:t>
            </a:r>
            <a:r>
              <a:rPr sz="3200" spc="-175" dirty="0">
                <a:latin typeface="Times New Roman"/>
                <a:cs typeface="Times New Roman"/>
              </a:rPr>
              <a:t>i</a:t>
            </a:r>
            <a:r>
              <a:rPr sz="3200" spc="-155" dirty="0">
                <a:latin typeface="Times New Roman"/>
                <a:cs typeface="Times New Roman"/>
              </a:rPr>
              <a:t>d</a:t>
            </a:r>
            <a:r>
              <a:rPr sz="3200" spc="-285" dirty="0">
                <a:latin typeface="Times New Roman"/>
                <a:cs typeface="Times New Roman"/>
              </a:rPr>
              <a:t>g</a:t>
            </a:r>
            <a:r>
              <a:rPr sz="3200" spc="-125" dirty="0">
                <a:latin typeface="Times New Roman"/>
                <a:cs typeface="Times New Roman"/>
              </a:rPr>
              <a:t>e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spc="-120" dirty="0">
                <a:latin typeface="Times New Roman"/>
                <a:cs typeface="Times New Roman"/>
              </a:rPr>
              <a:t>with</a:t>
            </a:r>
            <a:r>
              <a:rPr sz="3200" spc="-95" dirty="0">
                <a:latin typeface="Times New Roman"/>
                <a:cs typeface="Times New Roman"/>
              </a:rPr>
              <a:t> </a:t>
            </a:r>
            <a:r>
              <a:rPr sz="3200" spc="-280" dirty="0">
                <a:latin typeface="Times New Roman"/>
                <a:cs typeface="Times New Roman"/>
              </a:rPr>
              <a:t>f</a:t>
            </a:r>
            <a:r>
              <a:rPr sz="3200" spc="-215" dirty="0">
                <a:latin typeface="Times New Roman"/>
                <a:cs typeface="Times New Roman"/>
              </a:rPr>
              <a:t>e</a:t>
            </a:r>
            <a:r>
              <a:rPr sz="3200" spc="-175" dirty="0">
                <a:latin typeface="Times New Roman"/>
                <a:cs typeface="Times New Roman"/>
              </a:rPr>
              <a:t>w</a:t>
            </a:r>
            <a:r>
              <a:rPr sz="3200" spc="-155" dirty="0">
                <a:latin typeface="Times New Roman"/>
                <a:cs typeface="Times New Roman"/>
              </a:rPr>
              <a:t> po</a:t>
            </a:r>
            <a:r>
              <a:rPr sz="3200" spc="130" dirty="0">
                <a:latin typeface="Times New Roman"/>
                <a:cs typeface="Times New Roman"/>
              </a:rPr>
              <a:t>r</a:t>
            </a:r>
            <a:r>
              <a:rPr sz="3200" spc="45" dirty="0">
                <a:latin typeface="Times New Roman"/>
                <a:cs typeface="Times New Roman"/>
              </a:rPr>
              <a:t>t</a:t>
            </a:r>
            <a:r>
              <a:rPr sz="3200" spc="-90" dirty="0">
                <a:latin typeface="Times New Roman"/>
                <a:cs typeface="Times New Roman"/>
              </a:rPr>
              <a:t> </a:t>
            </a:r>
            <a:r>
              <a:rPr sz="3200" spc="-220" dirty="0">
                <a:latin typeface="Times New Roman"/>
                <a:cs typeface="Times New Roman"/>
              </a:rPr>
              <a:t>c</a:t>
            </a:r>
            <a:r>
              <a:rPr sz="3200" spc="-240" dirty="0">
                <a:latin typeface="Times New Roman"/>
                <a:cs typeface="Times New Roman"/>
              </a:rPr>
              <a:t>a</a:t>
            </a:r>
            <a:r>
              <a:rPr sz="3200" spc="-135" dirty="0">
                <a:latin typeface="Times New Roman"/>
                <a:cs typeface="Times New Roman"/>
              </a:rPr>
              <a:t>n</a:t>
            </a:r>
            <a:r>
              <a:rPr sz="3200" spc="-110" dirty="0">
                <a:latin typeface="Times New Roman"/>
                <a:cs typeface="Times New Roman"/>
              </a:rPr>
              <a:t> </a:t>
            </a:r>
            <a:r>
              <a:rPr sz="3200" spc="-155" dirty="0">
                <a:latin typeface="Times New Roman"/>
                <a:cs typeface="Times New Roman"/>
              </a:rPr>
              <a:t>c</a:t>
            </a:r>
            <a:r>
              <a:rPr sz="3200" spc="-195" dirty="0">
                <a:latin typeface="Times New Roman"/>
                <a:cs typeface="Times New Roman"/>
              </a:rPr>
              <a:t>o</a:t>
            </a:r>
            <a:r>
              <a:rPr sz="3200" spc="-155" dirty="0">
                <a:latin typeface="Times New Roman"/>
                <a:cs typeface="Times New Roman"/>
              </a:rPr>
              <a:t>nn</a:t>
            </a:r>
            <a:r>
              <a:rPr sz="3200" spc="-145" dirty="0">
                <a:latin typeface="Times New Roman"/>
                <a:cs typeface="Times New Roman"/>
              </a:rPr>
              <a:t>e</a:t>
            </a:r>
            <a:r>
              <a:rPr sz="3200" spc="-75" dirty="0">
                <a:latin typeface="Times New Roman"/>
                <a:cs typeface="Times New Roman"/>
              </a:rPr>
              <a:t>ct</a:t>
            </a:r>
            <a:r>
              <a:rPr sz="3200" spc="-140" dirty="0">
                <a:latin typeface="Times New Roman"/>
                <a:cs typeface="Times New Roman"/>
              </a:rPr>
              <a:t> </a:t>
            </a:r>
            <a:r>
              <a:rPr sz="3200" spc="-254" dirty="0">
                <a:latin typeface="Times New Roman"/>
                <a:cs typeface="Times New Roman"/>
              </a:rPr>
              <a:t>a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spc="-280" dirty="0">
                <a:latin typeface="Times New Roman"/>
                <a:cs typeface="Times New Roman"/>
              </a:rPr>
              <a:t>f</a:t>
            </a:r>
            <a:r>
              <a:rPr sz="3200" spc="-215" dirty="0">
                <a:latin typeface="Times New Roman"/>
                <a:cs typeface="Times New Roman"/>
              </a:rPr>
              <a:t>e</a:t>
            </a:r>
            <a:r>
              <a:rPr sz="3200" spc="-175" dirty="0">
                <a:latin typeface="Times New Roman"/>
                <a:cs typeface="Times New Roman"/>
              </a:rPr>
              <a:t>w</a:t>
            </a:r>
            <a:r>
              <a:rPr sz="3200" spc="75" dirty="0">
                <a:latin typeface="Times New Roman"/>
                <a:cs typeface="Times New Roman"/>
              </a:rPr>
              <a:t> </a:t>
            </a:r>
            <a:r>
              <a:rPr sz="3200" spc="-350" dirty="0">
                <a:latin typeface="Times New Roman"/>
                <a:cs typeface="Times New Roman"/>
              </a:rPr>
              <a:t>L</a:t>
            </a:r>
            <a:r>
              <a:rPr sz="3200" spc="-430" dirty="0">
                <a:latin typeface="Times New Roman"/>
                <a:cs typeface="Times New Roman"/>
              </a:rPr>
              <a:t>A</a:t>
            </a:r>
            <a:r>
              <a:rPr sz="3200" spc="-190" dirty="0">
                <a:latin typeface="Times New Roman"/>
                <a:cs typeface="Times New Roman"/>
              </a:rPr>
              <a:t>N</a:t>
            </a:r>
            <a:r>
              <a:rPr sz="3200" spc="-245" dirty="0">
                <a:latin typeface="Times New Roman"/>
                <a:cs typeface="Times New Roman"/>
              </a:rPr>
              <a:t>s</a:t>
            </a:r>
            <a:endParaRPr sz="3200">
              <a:latin typeface="Times New Roman"/>
              <a:cs typeface="Times New Roman"/>
            </a:endParaRPr>
          </a:p>
          <a:p>
            <a:pPr marL="356870" marR="5080" indent="-344805">
              <a:lnSpc>
                <a:spcPct val="80000"/>
              </a:lnSpc>
              <a:spcBef>
                <a:spcPts val="994"/>
              </a:spcBef>
              <a:buFont typeface="Arial MT"/>
              <a:buChar char="•"/>
              <a:tabLst>
                <a:tab pos="356870" algn="l"/>
                <a:tab pos="357505" algn="l"/>
                <a:tab pos="4153535" algn="l"/>
                <a:tab pos="4696460" algn="l"/>
                <a:tab pos="6051550" algn="l"/>
                <a:tab pos="7237095" algn="l"/>
              </a:tabLst>
            </a:pPr>
            <a:r>
              <a:rPr sz="3200" spc="-195" dirty="0">
                <a:latin typeface="Times New Roman"/>
                <a:cs typeface="Times New Roman"/>
              </a:rPr>
              <a:t>Bridge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spc="-120" dirty="0">
                <a:latin typeface="Times New Roman"/>
                <a:cs typeface="Times New Roman"/>
              </a:rPr>
              <a:t>with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spc="-245" dirty="0">
                <a:latin typeface="Times New Roman"/>
                <a:cs typeface="Times New Roman"/>
              </a:rPr>
              <a:t>many</a:t>
            </a:r>
            <a:r>
              <a:rPr sz="3200" spc="-105" dirty="0">
                <a:latin typeface="Times New Roman"/>
                <a:cs typeface="Times New Roman"/>
              </a:rPr>
              <a:t> </a:t>
            </a:r>
            <a:r>
              <a:rPr sz="3200" spc="-35" dirty="0">
                <a:latin typeface="Times New Roman"/>
                <a:cs typeface="Times New Roman"/>
              </a:rPr>
              <a:t>port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spc="-285" dirty="0">
                <a:latin typeface="Times New Roman"/>
                <a:cs typeface="Times New Roman"/>
              </a:rPr>
              <a:t>may</a:t>
            </a:r>
            <a:r>
              <a:rPr sz="3200" spc="-140" dirty="0">
                <a:latin typeface="Times New Roman"/>
                <a:cs typeface="Times New Roman"/>
              </a:rPr>
              <a:t> </a:t>
            </a:r>
            <a:r>
              <a:rPr sz="3200" spc="-145" dirty="0">
                <a:latin typeface="Times New Roman"/>
                <a:cs typeface="Times New Roman"/>
              </a:rPr>
              <a:t>be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spc="-180" dirty="0">
                <a:latin typeface="Times New Roman"/>
                <a:cs typeface="Times New Roman"/>
              </a:rPr>
              <a:t>able</a:t>
            </a:r>
            <a:r>
              <a:rPr sz="3200" spc="-55" dirty="0">
                <a:latin typeface="Times New Roman"/>
                <a:cs typeface="Times New Roman"/>
              </a:rPr>
              <a:t> to</a:t>
            </a:r>
            <a:r>
              <a:rPr sz="3200" spc="-100" dirty="0">
                <a:latin typeface="Times New Roman"/>
                <a:cs typeface="Times New Roman"/>
              </a:rPr>
              <a:t> </a:t>
            </a:r>
            <a:r>
              <a:rPr sz="3200" spc="-160" dirty="0">
                <a:latin typeface="Times New Roman"/>
                <a:cs typeface="Times New Roman"/>
              </a:rPr>
              <a:t>allocate	</a:t>
            </a:r>
            <a:r>
              <a:rPr sz="3200" spc="-254" dirty="0">
                <a:latin typeface="Times New Roman"/>
                <a:cs typeface="Times New Roman"/>
              </a:rPr>
              <a:t>a </a:t>
            </a:r>
            <a:r>
              <a:rPr sz="3200" spc="-250" dirty="0">
                <a:latin typeface="Times New Roman"/>
                <a:cs typeface="Times New Roman"/>
              </a:rPr>
              <a:t> </a:t>
            </a:r>
            <a:r>
              <a:rPr sz="3200" spc="-140" dirty="0">
                <a:latin typeface="Times New Roman"/>
                <a:cs typeface="Times New Roman"/>
              </a:rPr>
              <a:t>unique</a:t>
            </a:r>
            <a:r>
              <a:rPr sz="3200" spc="-114" dirty="0">
                <a:latin typeface="Times New Roman"/>
                <a:cs typeface="Times New Roman"/>
              </a:rPr>
              <a:t> </a:t>
            </a:r>
            <a:r>
              <a:rPr sz="3200" spc="-155" dirty="0">
                <a:latin typeface="Times New Roman"/>
                <a:cs typeface="Times New Roman"/>
              </a:rPr>
              <a:t>po</a:t>
            </a:r>
            <a:r>
              <a:rPr sz="3200" spc="130" dirty="0">
                <a:latin typeface="Times New Roman"/>
                <a:cs typeface="Times New Roman"/>
              </a:rPr>
              <a:t>r</a:t>
            </a:r>
            <a:r>
              <a:rPr sz="3200" spc="45" dirty="0">
                <a:latin typeface="Times New Roman"/>
                <a:cs typeface="Times New Roman"/>
              </a:rPr>
              <a:t>t</a:t>
            </a:r>
            <a:r>
              <a:rPr sz="3200" spc="-90" dirty="0">
                <a:latin typeface="Times New Roman"/>
                <a:cs typeface="Times New Roman"/>
              </a:rPr>
              <a:t> </a:t>
            </a:r>
            <a:r>
              <a:rPr sz="3200" spc="30" dirty="0">
                <a:latin typeface="Times New Roman"/>
                <a:cs typeface="Times New Roman"/>
              </a:rPr>
              <a:t>t</a:t>
            </a:r>
            <a:r>
              <a:rPr sz="3200" spc="-135" dirty="0">
                <a:latin typeface="Times New Roman"/>
                <a:cs typeface="Times New Roman"/>
              </a:rPr>
              <a:t>o</a:t>
            </a:r>
            <a:r>
              <a:rPr sz="3200" spc="-110" dirty="0">
                <a:latin typeface="Times New Roman"/>
                <a:cs typeface="Times New Roman"/>
              </a:rPr>
              <a:t> </a:t>
            </a:r>
            <a:r>
              <a:rPr sz="3200" spc="-190" dirty="0">
                <a:latin typeface="Times New Roman"/>
                <a:cs typeface="Times New Roman"/>
              </a:rPr>
              <a:t>ea</a:t>
            </a:r>
            <a:r>
              <a:rPr sz="3200" spc="-130" dirty="0">
                <a:latin typeface="Times New Roman"/>
                <a:cs typeface="Times New Roman"/>
              </a:rPr>
              <a:t>c</a:t>
            </a:r>
            <a:r>
              <a:rPr sz="3200" spc="-200" dirty="0">
                <a:latin typeface="Times New Roman"/>
                <a:cs typeface="Times New Roman"/>
              </a:rPr>
              <a:t>h</a:t>
            </a:r>
            <a:r>
              <a:rPr sz="3200" spc="-105" dirty="0">
                <a:latin typeface="Times New Roman"/>
                <a:cs typeface="Times New Roman"/>
              </a:rPr>
              <a:t> </a:t>
            </a:r>
            <a:r>
              <a:rPr sz="3200" spc="-265" dirty="0">
                <a:latin typeface="Times New Roman"/>
                <a:cs typeface="Times New Roman"/>
              </a:rPr>
              <a:t>s</a:t>
            </a:r>
            <a:r>
              <a:rPr sz="3200" spc="20" dirty="0">
                <a:latin typeface="Times New Roman"/>
                <a:cs typeface="Times New Roman"/>
              </a:rPr>
              <a:t>t</a:t>
            </a:r>
            <a:r>
              <a:rPr sz="3200" spc="-315" dirty="0">
                <a:latin typeface="Times New Roman"/>
                <a:cs typeface="Times New Roman"/>
              </a:rPr>
              <a:t>a</a:t>
            </a:r>
            <a:r>
              <a:rPr sz="3200" spc="20" dirty="0">
                <a:latin typeface="Times New Roman"/>
                <a:cs typeface="Times New Roman"/>
              </a:rPr>
              <a:t>t</a:t>
            </a:r>
            <a:r>
              <a:rPr sz="3200" spc="-190" dirty="0">
                <a:latin typeface="Times New Roman"/>
                <a:cs typeface="Times New Roman"/>
              </a:rPr>
              <a:t>i</a:t>
            </a:r>
            <a:r>
              <a:rPr sz="3200" spc="-165" dirty="0">
                <a:latin typeface="Times New Roman"/>
                <a:cs typeface="Times New Roman"/>
              </a:rPr>
              <a:t>on</a:t>
            </a:r>
            <a:r>
              <a:rPr sz="3200" spc="135" dirty="0">
                <a:latin typeface="Times New Roman"/>
                <a:cs typeface="Times New Roman"/>
              </a:rPr>
              <a:t>,</a:t>
            </a:r>
            <a:r>
              <a:rPr sz="3200" spc="-210" dirty="0">
                <a:latin typeface="Times New Roman"/>
                <a:cs typeface="Times New Roman"/>
              </a:rPr>
              <a:t> </a:t>
            </a:r>
            <a:r>
              <a:rPr sz="3200" spc="-120" dirty="0">
                <a:latin typeface="Times New Roman"/>
                <a:cs typeface="Times New Roman"/>
              </a:rPr>
              <a:t>with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spc="-190" dirty="0">
                <a:latin typeface="Times New Roman"/>
                <a:cs typeface="Times New Roman"/>
              </a:rPr>
              <a:t>ea</a:t>
            </a:r>
            <a:r>
              <a:rPr sz="3200" spc="-130" dirty="0">
                <a:latin typeface="Times New Roman"/>
                <a:cs typeface="Times New Roman"/>
              </a:rPr>
              <a:t>c</a:t>
            </a:r>
            <a:r>
              <a:rPr sz="3200" spc="-200" dirty="0">
                <a:latin typeface="Times New Roman"/>
                <a:cs typeface="Times New Roman"/>
              </a:rPr>
              <a:t>h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265" dirty="0">
                <a:latin typeface="Times New Roman"/>
                <a:cs typeface="Times New Roman"/>
              </a:rPr>
              <a:t>s</a:t>
            </a:r>
            <a:r>
              <a:rPr sz="3200" spc="20" dirty="0">
                <a:latin typeface="Times New Roman"/>
                <a:cs typeface="Times New Roman"/>
              </a:rPr>
              <a:t>t</a:t>
            </a:r>
            <a:r>
              <a:rPr sz="3200" spc="-315" dirty="0">
                <a:latin typeface="Times New Roman"/>
                <a:cs typeface="Times New Roman"/>
              </a:rPr>
              <a:t>a</a:t>
            </a:r>
            <a:r>
              <a:rPr sz="3200" spc="20" dirty="0">
                <a:latin typeface="Times New Roman"/>
                <a:cs typeface="Times New Roman"/>
              </a:rPr>
              <a:t>t</a:t>
            </a:r>
            <a:r>
              <a:rPr sz="3200" spc="-190" dirty="0">
                <a:latin typeface="Times New Roman"/>
                <a:cs typeface="Times New Roman"/>
              </a:rPr>
              <a:t>i</a:t>
            </a:r>
            <a:r>
              <a:rPr sz="3200" spc="-165" dirty="0">
                <a:latin typeface="Times New Roman"/>
                <a:cs typeface="Times New Roman"/>
              </a:rPr>
              <a:t>o</a:t>
            </a:r>
            <a:r>
              <a:rPr sz="3200" spc="-135" dirty="0">
                <a:latin typeface="Times New Roman"/>
                <a:cs typeface="Times New Roman"/>
              </a:rPr>
              <a:t>n</a:t>
            </a:r>
            <a:r>
              <a:rPr sz="3200" spc="-95" dirty="0">
                <a:latin typeface="Times New Roman"/>
                <a:cs typeface="Times New Roman"/>
              </a:rPr>
              <a:t> </a:t>
            </a:r>
            <a:r>
              <a:rPr sz="3200" spc="-155" dirty="0">
                <a:latin typeface="Times New Roman"/>
                <a:cs typeface="Times New Roman"/>
              </a:rPr>
              <a:t>o</a:t>
            </a:r>
            <a:r>
              <a:rPr sz="3200" spc="-135" dirty="0">
                <a:latin typeface="Times New Roman"/>
                <a:cs typeface="Times New Roman"/>
              </a:rPr>
              <a:t>n</a:t>
            </a:r>
            <a:r>
              <a:rPr sz="3200" spc="-95" dirty="0">
                <a:latin typeface="Times New Roman"/>
                <a:cs typeface="Times New Roman"/>
              </a:rPr>
              <a:t> </a:t>
            </a:r>
            <a:r>
              <a:rPr sz="3200" spc="-110" dirty="0">
                <a:latin typeface="Times New Roman"/>
                <a:cs typeface="Times New Roman"/>
              </a:rPr>
              <a:t>its  </a:t>
            </a:r>
            <a:r>
              <a:rPr sz="3200" spc="-250" dirty="0">
                <a:latin typeface="Times New Roman"/>
                <a:cs typeface="Times New Roman"/>
              </a:rPr>
              <a:t>o</a:t>
            </a:r>
            <a:r>
              <a:rPr sz="3200" spc="-190" dirty="0">
                <a:latin typeface="Times New Roman"/>
                <a:cs typeface="Times New Roman"/>
              </a:rPr>
              <a:t>w</a:t>
            </a:r>
            <a:r>
              <a:rPr sz="3200" spc="-135" dirty="0">
                <a:latin typeface="Times New Roman"/>
                <a:cs typeface="Times New Roman"/>
              </a:rPr>
              <a:t>n</a:t>
            </a:r>
            <a:r>
              <a:rPr sz="3200" spc="-120" dirty="0">
                <a:latin typeface="Times New Roman"/>
                <a:cs typeface="Times New Roman"/>
              </a:rPr>
              <a:t> </a:t>
            </a:r>
            <a:r>
              <a:rPr sz="3200" spc="-175" dirty="0">
                <a:latin typeface="Times New Roman"/>
                <a:cs typeface="Times New Roman"/>
              </a:rPr>
              <a:t>i</a:t>
            </a:r>
            <a:r>
              <a:rPr sz="3200" spc="-155" dirty="0">
                <a:latin typeface="Times New Roman"/>
                <a:cs typeface="Times New Roman"/>
              </a:rPr>
              <a:t>nd</a:t>
            </a:r>
            <a:r>
              <a:rPr sz="3200" spc="-145" dirty="0">
                <a:latin typeface="Times New Roman"/>
                <a:cs typeface="Times New Roman"/>
              </a:rPr>
              <a:t>e</a:t>
            </a:r>
            <a:r>
              <a:rPr sz="3200" spc="-155" dirty="0">
                <a:latin typeface="Times New Roman"/>
                <a:cs typeface="Times New Roman"/>
              </a:rPr>
              <a:t>p</a:t>
            </a:r>
            <a:r>
              <a:rPr sz="3200" spc="-145" dirty="0">
                <a:latin typeface="Times New Roman"/>
                <a:cs typeface="Times New Roman"/>
              </a:rPr>
              <a:t>e</a:t>
            </a:r>
            <a:r>
              <a:rPr sz="3200" spc="-155" dirty="0">
                <a:latin typeface="Times New Roman"/>
                <a:cs typeface="Times New Roman"/>
              </a:rPr>
              <a:t>nd</a:t>
            </a:r>
            <a:r>
              <a:rPr sz="3200" spc="-145" dirty="0">
                <a:latin typeface="Times New Roman"/>
                <a:cs typeface="Times New Roman"/>
              </a:rPr>
              <a:t>e</a:t>
            </a:r>
            <a:r>
              <a:rPr sz="3200" spc="-155" dirty="0">
                <a:latin typeface="Times New Roman"/>
                <a:cs typeface="Times New Roman"/>
              </a:rPr>
              <a:t>n</a:t>
            </a:r>
            <a:r>
              <a:rPr sz="3200" spc="45" dirty="0">
                <a:latin typeface="Times New Roman"/>
                <a:cs typeface="Times New Roman"/>
              </a:rPr>
              <a:t>t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spc="-170" dirty="0">
                <a:latin typeface="Times New Roman"/>
                <a:cs typeface="Times New Roman"/>
              </a:rPr>
              <a:t>e</a:t>
            </a:r>
            <a:r>
              <a:rPr sz="3200" spc="-175" dirty="0">
                <a:latin typeface="Times New Roman"/>
                <a:cs typeface="Times New Roman"/>
              </a:rPr>
              <a:t>n</a:t>
            </a:r>
            <a:r>
              <a:rPr sz="3200" spc="5" dirty="0">
                <a:latin typeface="Times New Roman"/>
                <a:cs typeface="Times New Roman"/>
              </a:rPr>
              <a:t>t</a:t>
            </a:r>
            <a:r>
              <a:rPr sz="3200" spc="-200" dirty="0">
                <a:latin typeface="Times New Roman"/>
                <a:cs typeface="Times New Roman"/>
              </a:rPr>
              <a:t>i</a:t>
            </a:r>
            <a:r>
              <a:rPr sz="3200" spc="5" dirty="0">
                <a:latin typeface="Times New Roman"/>
                <a:cs typeface="Times New Roman"/>
              </a:rPr>
              <a:t>t</a:t>
            </a:r>
            <a:r>
              <a:rPr sz="3200" spc="-635" dirty="0">
                <a:latin typeface="Times New Roman"/>
                <a:cs typeface="Times New Roman"/>
              </a:rPr>
              <a:t>y</a:t>
            </a:r>
            <a:r>
              <a:rPr sz="3200" spc="254" dirty="0">
                <a:latin typeface="Times New Roman"/>
                <a:cs typeface="Times New Roman"/>
              </a:rPr>
              <a:t>.</a:t>
            </a:r>
            <a:r>
              <a:rPr sz="3200" spc="-190" dirty="0">
                <a:latin typeface="Times New Roman"/>
                <a:cs typeface="Times New Roman"/>
              </a:rPr>
              <a:t>This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200" dirty="0">
                <a:latin typeface="Times New Roman"/>
                <a:cs typeface="Times New Roman"/>
              </a:rPr>
              <a:t>m</a:t>
            </a:r>
            <a:r>
              <a:rPr sz="3200" spc="-145" dirty="0">
                <a:latin typeface="Times New Roman"/>
                <a:cs typeface="Times New Roman"/>
              </a:rPr>
              <a:t>e</a:t>
            </a:r>
            <a:r>
              <a:rPr sz="3200" spc="-185" dirty="0">
                <a:latin typeface="Times New Roman"/>
                <a:cs typeface="Times New Roman"/>
              </a:rPr>
              <a:t>a</a:t>
            </a:r>
            <a:r>
              <a:rPr sz="3200" spc="-229" dirty="0">
                <a:latin typeface="Times New Roman"/>
                <a:cs typeface="Times New Roman"/>
              </a:rPr>
              <a:t>n</a:t>
            </a:r>
            <a:r>
              <a:rPr sz="3200" spc="-245" dirty="0">
                <a:latin typeface="Times New Roman"/>
                <a:cs typeface="Times New Roman"/>
              </a:rPr>
              <a:t>s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spc="-160" dirty="0">
                <a:latin typeface="Times New Roman"/>
                <a:cs typeface="Times New Roman"/>
              </a:rPr>
              <a:t>n</a:t>
            </a:r>
            <a:r>
              <a:rPr sz="3200" spc="-135" dirty="0">
                <a:latin typeface="Times New Roman"/>
                <a:cs typeface="Times New Roman"/>
              </a:rPr>
              <a:t>o</a:t>
            </a:r>
            <a:r>
              <a:rPr sz="3200" spc="-105" dirty="0">
                <a:latin typeface="Times New Roman"/>
                <a:cs typeface="Times New Roman"/>
              </a:rPr>
              <a:t> </a:t>
            </a:r>
            <a:r>
              <a:rPr sz="3200" spc="-155" dirty="0">
                <a:latin typeface="Times New Roman"/>
                <a:cs typeface="Times New Roman"/>
              </a:rPr>
              <a:t>c</a:t>
            </a:r>
            <a:r>
              <a:rPr sz="3200" spc="-195" dirty="0">
                <a:latin typeface="Times New Roman"/>
                <a:cs typeface="Times New Roman"/>
              </a:rPr>
              <a:t>o</a:t>
            </a:r>
            <a:r>
              <a:rPr sz="3200" spc="-200" dirty="0">
                <a:latin typeface="Times New Roman"/>
                <a:cs typeface="Times New Roman"/>
              </a:rPr>
              <a:t>m</a:t>
            </a:r>
            <a:r>
              <a:rPr sz="3200" spc="-155" dirty="0">
                <a:latin typeface="Times New Roman"/>
                <a:cs typeface="Times New Roman"/>
              </a:rPr>
              <a:t>p</a:t>
            </a:r>
            <a:r>
              <a:rPr sz="3200" spc="-145" dirty="0">
                <a:latin typeface="Times New Roman"/>
                <a:cs typeface="Times New Roman"/>
              </a:rPr>
              <a:t>e</a:t>
            </a:r>
            <a:r>
              <a:rPr sz="3200" spc="30" dirty="0">
                <a:latin typeface="Times New Roman"/>
                <a:cs typeface="Times New Roman"/>
              </a:rPr>
              <a:t>t</a:t>
            </a:r>
            <a:r>
              <a:rPr sz="3200" spc="-175" dirty="0">
                <a:latin typeface="Times New Roman"/>
                <a:cs typeface="Times New Roman"/>
              </a:rPr>
              <a:t>i</a:t>
            </a:r>
            <a:r>
              <a:rPr sz="3200" spc="-155" dirty="0">
                <a:latin typeface="Times New Roman"/>
                <a:cs typeface="Times New Roman"/>
              </a:rPr>
              <a:t>n</a:t>
            </a:r>
            <a:r>
              <a:rPr sz="3200" spc="-180" dirty="0">
                <a:latin typeface="Times New Roman"/>
                <a:cs typeface="Times New Roman"/>
              </a:rPr>
              <a:t>g  </a:t>
            </a:r>
            <a:r>
              <a:rPr sz="3200" spc="20" dirty="0">
                <a:latin typeface="Times New Roman"/>
                <a:cs typeface="Times New Roman"/>
              </a:rPr>
              <a:t>t</a:t>
            </a:r>
            <a:r>
              <a:rPr sz="3200" spc="10" dirty="0">
                <a:latin typeface="Times New Roman"/>
                <a:cs typeface="Times New Roman"/>
              </a:rPr>
              <a:t>r</a:t>
            </a:r>
            <a:r>
              <a:rPr sz="3200" spc="-275" dirty="0">
                <a:latin typeface="Times New Roman"/>
                <a:cs typeface="Times New Roman"/>
              </a:rPr>
              <a:t>a</a:t>
            </a:r>
            <a:r>
              <a:rPr sz="3200" spc="-265" dirty="0">
                <a:latin typeface="Times New Roman"/>
                <a:cs typeface="Times New Roman"/>
              </a:rPr>
              <a:t>ff</a:t>
            </a:r>
            <a:r>
              <a:rPr sz="3200" spc="-190" dirty="0">
                <a:latin typeface="Times New Roman"/>
                <a:cs typeface="Times New Roman"/>
              </a:rPr>
              <a:t>ic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spc="-80" dirty="0">
                <a:latin typeface="Times New Roman"/>
                <a:cs typeface="Times New Roman"/>
              </a:rPr>
              <a:t>(</a:t>
            </a:r>
            <a:r>
              <a:rPr sz="3200" spc="-145" dirty="0">
                <a:latin typeface="Times New Roman"/>
                <a:cs typeface="Times New Roman"/>
              </a:rPr>
              <a:t>n</a:t>
            </a:r>
            <a:r>
              <a:rPr sz="3200" spc="-135" dirty="0">
                <a:latin typeface="Times New Roman"/>
                <a:cs typeface="Times New Roman"/>
              </a:rPr>
              <a:t>o</a:t>
            </a:r>
            <a:r>
              <a:rPr sz="3200" spc="-130" dirty="0">
                <a:latin typeface="Times New Roman"/>
                <a:cs typeface="Times New Roman"/>
              </a:rPr>
              <a:t> </a:t>
            </a:r>
            <a:r>
              <a:rPr sz="3200" spc="-155" dirty="0">
                <a:latin typeface="Times New Roman"/>
                <a:cs typeface="Times New Roman"/>
              </a:rPr>
              <a:t>c</a:t>
            </a:r>
            <a:r>
              <a:rPr sz="3200" spc="-195" dirty="0">
                <a:latin typeface="Times New Roman"/>
                <a:cs typeface="Times New Roman"/>
              </a:rPr>
              <a:t>o</a:t>
            </a:r>
            <a:r>
              <a:rPr sz="3200" spc="-135" dirty="0">
                <a:latin typeface="Times New Roman"/>
                <a:cs typeface="Times New Roman"/>
              </a:rPr>
              <a:t>ll</a:t>
            </a:r>
            <a:r>
              <a:rPr sz="3200" spc="-175" dirty="0">
                <a:latin typeface="Times New Roman"/>
                <a:cs typeface="Times New Roman"/>
              </a:rPr>
              <a:t>i</a:t>
            </a:r>
            <a:r>
              <a:rPr sz="3200" spc="-235" dirty="0">
                <a:latin typeface="Times New Roman"/>
                <a:cs typeface="Times New Roman"/>
              </a:rPr>
              <a:t>s</a:t>
            </a:r>
            <a:r>
              <a:rPr sz="3200" spc="-190" dirty="0">
                <a:latin typeface="Times New Roman"/>
                <a:cs typeface="Times New Roman"/>
              </a:rPr>
              <a:t>i</a:t>
            </a:r>
            <a:r>
              <a:rPr sz="3200" spc="-155" dirty="0">
                <a:latin typeface="Times New Roman"/>
                <a:cs typeface="Times New Roman"/>
              </a:rPr>
              <a:t>o</a:t>
            </a:r>
            <a:r>
              <a:rPr sz="3200" spc="-135" dirty="0">
                <a:latin typeface="Times New Roman"/>
                <a:cs typeface="Times New Roman"/>
              </a:rPr>
              <a:t>n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spc="-270" dirty="0">
                <a:latin typeface="Times New Roman"/>
                <a:cs typeface="Times New Roman"/>
              </a:rPr>
              <a:t>a</a:t>
            </a:r>
            <a:r>
              <a:rPr sz="3200" spc="-235" dirty="0">
                <a:latin typeface="Times New Roman"/>
                <a:cs typeface="Times New Roman"/>
              </a:rPr>
              <a:t>s</a:t>
            </a:r>
            <a:r>
              <a:rPr sz="3200" spc="-90" dirty="0">
                <a:latin typeface="Times New Roman"/>
                <a:cs typeface="Times New Roman"/>
              </a:rPr>
              <a:t> </a:t>
            </a:r>
            <a:r>
              <a:rPr sz="3200" spc="-300" dirty="0">
                <a:latin typeface="Times New Roman"/>
                <a:cs typeface="Times New Roman"/>
              </a:rPr>
              <a:t>w</a:t>
            </a:r>
            <a:r>
              <a:rPr sz="3200" spc="-125" dirty="0">
                <a:latin typeface="Times New Roman"/>
                <a:cs typeface="Times New Roman"/>
              </a:rPr>
              <a:t>e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245" dirty="0">
                <a:latin typeface="Times New Roman"/>
                <a:cs typeface="Times New Roman"/>
              </a:rPr>
              <a:t>s</a:t>
            </a:r>
            <a:r>
              <a:rPr sz="3200" spc="-380" dirty="0">
                <a:latin typeface="Times New Roman"/>
                <a:cs typeface="Times New Roman"/>
              </a:rPr>
              <a:t>a</a:t>
            </a:r>
            <a:r>
              <a:rPr sz="3200" spc="-175" dirty="0">
                <a:latin typeface="Times New Roman"/>
                <a:cs typeface="Times New Roman"/>
              </a:rPr>
              <a:t>w</a:t>
            </a:r>
            <a:r>
              <a:rPr sz="3200" spc="-130" dirty="0">
                <a:latin typeface="Times New Roman"/>
                <a:cs typeface="Times New Roman"/>
              </a:rPr>
              <a:t> </a:t>
            </a:r>
            <a:r>
              <a:rPr sz="3200" spc="-110" dirty="0">
                <a:latin typeface="Times New Roman"/>
                <a:cs typeface="Times New Roman"/>
              </a:rPr>
              <a:t>i</a:t>
            </a:r>
            <a:r>
              <a:rPr sz="3200" spc="-190" dirty="0">
                <a:latin typeface="Times New Roman"/>
                <a:cs typeface="Times New Roman"/>
              </a:rPr>
              <a:t>n</a:t>
            </a:r>
            <a:r>
              <a:rPr sz="3200" spc="-145" dirty="0">
                <a:latin typeface="Times New Roman"/>
                <a:cs typeface="Times New Roman"/>
              </a:rPr>
              <a:t> </a:t>
            </a:r>
            <a:r>
              <a:rPr sz="3200" spc="-340" dirty="0">
                <a:latin typeface="Times New Roman"/>
                <a:cs typeface="Times New Roman"/>
              </a:rPr>
              <a:t>E</a:t>
            </a:r>
            <a:r>
              <a:rPr sz="3200" spc="30" dirty="0">
                <a:latin typeface="Times New Roman"/>
                <a:cs typeface="Times New Roman"/>
              </a:rPr>
              <a:t>t</a:t>
            </a:r>
            <a:r>
              <a:rPr sz="3200" spc="-215" dirty="0">
                <a:latin typeface="Times New Roman"/>
                <a:cs typeface="Times New Roman"/>
              </a:rPr>
              <a:t>h</a:t>
            </a:r>
            <a:r>
              <a:rPr sz="3200" spc="-145" dirty="0">
                <a:latin typeface="Times New Roman"/>
                <a:cs typeface="Times New Roman"/>
              </a:rPr>
              <a:t>e</a:t>
            </a:r>
            <a:r>
              <a:rPr sz="3200" spc="114" dirty="0">
                <a:latin typeface="Times New Roman"/>
                <a:cs typeface="Times New Roman"/>
              </a:rPr>
              <a:t>r</a:t>
            </a:r>
            <a:r>
              <a:rPr sz="3200" spc="-155" dirty="0">
                <a:latin typeface="Times New Roman"/>
                <a:cs typeface="Times New Roman"/>
              </a:rPr>
              <a:t>n</a:t>
            </a:r>
            <a:r>
              <a:rPr sz="3200" spc="-145" dirty="0">
                <a:latin typeface="Times New Roman"/>
                <a:cs typeface="Times New Roman"/>
              </a:rPr>
              <a:t>e</a:t>
            </a:r>
            <a:r>
              <a:rPr sz="3200" spc="30" dirty="0">
                <a:latin typeface="Times New Roman"/>
                <a:cs typeface="Times New Roman"/>
              </a:rPr>
              <a:t>t</a:t>
            </a:r>
            <a:r>
              <a:rPr sz="3200" spc="-65" dirty="0">
                <a:latin typeface="Times New Roman"/>
                <a:cs typeface="Times New Roman"/>
              </a:rPr>
              <a:t>)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35582" y="302767"/>
            <a:ext cx="442976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80" dirty="0">
                <a:solidFill>
                  <a:srgbClr val="585858"/>
                </a:solidFill>
                <a:latin typeface="Times New Roman"/>
                <a:cs typeface="Times New Roman"/>
              </a:rPr>
              <a:t>3</a:t>
            </a:r>
            <a:r>
              <a:rPr sz="4000" spc="-100" dirty="0">
                <a:solidFill>
                  <a:srgbClr val="585858"/>
                </a:solidFill>
                <a:latin typeface="Times New Roman"/>
                <a:cs typeface="Times New Roman"/>
              </a:rPr>
              <a:t>-</a:t>
            </a:r>
            <a:r>
              <a:rPr sz="4000" spc="-160" dirty="0">
                <a:solidFill>
                  <a:srgbClr val="585858"/>
                </a:solidFill>
                <a:latin typeface="Times New Roman"/>
                <a:cs typeface="Times New Roman"/>
              </a:rPr>
              <a:t>l</a:t>
            </a:r>
            <a:r>
              <a:rPr sz="4000" spc="-484" dirty="0">
                <a:solidFill>
                  <a:srgbClr val="585858"/>
                </a:solidFill>
                <a:latin typeface="Times New Roman"/>
                <a:cs typeface="Times New Roman"/>
              </a:rPr>
              <a:t>a</a:t>
            </a:r>
            <a:r>
              <a:rPr sz="4000" spc="-409" dirty="0">
                <a:solidFill>
                  <a:srgbClr val="585858"/>
                </a:solidFill>
                <a:latin typeface="Times New Roman"/>
                <a:cs typeface="Times New Roman"/>
              </a:rPr>
              <a:t>y</a:t>
            </a:r>
            <a:r>
              <a:rPr sz="4000" spc="-170" dirty="0">
                <a:solidFill>
                  <a:srgbClr val="585858"/>
                </a:solidFill>
                <a:latin typeface="Times New Roman"/>
                <a:cs typeface="Times New Roman"/>
              </a:rPr>
              <a:t>e</a:t>
            </a:r>
            <a:r>
              <a:rPr sz="4000" spc="40" dirty="0">
                <a:solidFill>
                  <a:srgbClr val="585858"/>
                </a:solidFill>
                <a:latin typeface="Times New Roman"/>
                <a:cs typeface="Times New Roman"/>
              </a:rPr>
              <a:t>r</a:t>
            </a:r>
            <a:r>
              <a:rPr sz="4000" spc="-275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4000" spc="-409" dirty="0">
                <a:solidFill>
                  <a:srgbClr val="585858"/>
                </a:solidFill>
                <a:latin typeface="Times New Roman"/>
                <a:cs typeface="Times New Roman"/>
              </a:rPr>
              <a:t>s</a:t>
            </a:r>
            <a:r>
              <a:rPr sz="4000" spc="-240" dirty="0">
                <a:solidFill>
                  <a:srgbClr val="585858"/>
                </a:solidFill>
                <a:latin typeface="Times New Roman"/>
                <a:cs typeface="Times New Roman"/>
              </a:rPr>
              <a:t>w</a:t>
            </a:r>
            <a:r>
              <a:rPr sz="4000" spc="-220" dirty="0">
                <a:solidFill>
                  <a:srgbClr val="585858"/>
                </a:solidFill>
                <a:latin typeface="Times New Roman"/>
                <a:cs typeface="Times New Roman"/>
              </a:rPr>
              <a:t>i</a:t>
            </a:r>
            <a:r>
              <a:rPr sz="4000" spc="35" dirty="0">
                <a:solidFill>
                  <a:srgbClr val="585858"/>
                </a:solidFill>
                <a:latin typeface="Times New Roman"/>
                <a:cs typeface="Times New Roman"/>
              </a:rPr>
              <a:t>t</a:t>
            </a:r>
            <a:r>
              <a:rPr sz="4000" spc="-180" dirty="0">
                <a:solidFill>
                  <a:srgbClr val="585858"/>
                </a:solidFill>
                <a:latin typeface="Times New Roman"/>
                <a:cs typeface="Times New Roman"/>
              </a:rPr>
              <a:t>c</a:t>
            </a:r>
            <a:r>
              <a:rPr sz="4000" spc="-215" dirty="0">
                <a:solidFill>
                  <a:srgbClr val="585858"/>
                </a:solidFill>
                <a:latin typeface="Times New Roman"/>
                <a:cs typeface="Times New Roman"/>
              </a:rPr>
              <a:t>he</a:t>
            </a:r>
            <a:r>
              <a:rPr sz="4000" spc="-320" dirty="0">
                <a:solidFill>
                  <a:srgbClr val="585858"/>
                </a:solidFill>
                <a:latin typeface="Times New Roman"/>
                <a:cs typeface="Times New Roman"/>
              </a:rPr>
              <a:t>s</a:t>
            </a:r>
            <a:r>
              <a:rPr sz="4000" spc="-85" dirty="0">
                <a:solidFill>
                  <a:srgbClr val="585858"/>
                </a:solidFill>
                <a:latin typeface="Times New Roman"/>
                <a:cs typeface="Times New Roman"/>
              </a:rPr>
              <a:t>-</a:t>
            </a:r>
            <a:r>
              <a:rPr sz="4000" spc="-150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4000" spc="-355" dirty="0">
                <a:solidFill>
                  <a:srgbClr val="585858"/>
                </a:solidFill>
                <a:latin typeface="Times New Roman"/>
                <a:cs typeface="Times New Roman"/>
              </a:rPr>
              <a:t>R</a:t>
            </a:r>
            <a:r>
              <a:rPr sz="4000" spc="-229" dirty="0">
                <a:solidFill>
                  <a:srgbClr val="585858"/>
                </a:solidFill>
                <a:latin typeface="Times New Roman"/>
                <a:cs typeface="Times New Roman"/>
              </a:rPr>
              <a:t>ou</a:t>
            </a:r>
            <a:r>
              <a:rPr sz="4000" spc="-10" dirty="0">
                <a:solidFill>
                  <a:srgbClr val="585858"/>
                </a:solidFill>
                <a:latin typeface="Times New Roman"/>
                <a:cs typeface="Times New Roman"/>
              </a:rPr>
              <a:t>t</a:t>
            </a:r>
            <a:r>
              <a:rPr sz="4000" spc="-220" dirty="0">
                <a:solidFill>
                  <a:srgbClr val="585858"/>
                </a:solidFill>
                <a:latin typeface="Times New Roman"/>
                <a:cs typeface="Times New Roman"/>
              </a:rPr>
              <a:t>e</a:t>
            </a:r>
            <a:r>
              <a:rPr sz="4000" spc="40" dirty="0">
                <a:solidFill>
                  <a:srgbClr val="585858"/>
                </a:solidFill>
                <a:latin typeface="Times New Roman"/>
                <a:cs typeface="Times New Roman"/>
              </a:rPr>
              <a:t>r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96392" y="1174749"/>
            <a:ext cx="8602980" cy="3128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6870" marR="529590" indent="-344805">
              <a:lnSpc>
                <a:spcPts val="3500"/>
              </a:lnSpc>
              <a:spcBef>
                <a:spcPts val="95"/>
              </a:spcBef>
              <a:buFont typeface="Arial MT"/>
              <a:buChar char="•"/>
              <a:tabLst>
                <a:tab pos="356870" algn="l"/>
                <a:tab pos="357505" algn="l"/>
                <a:tab pos="6415405" algn="l"/>
              </a:tabLst>
            </a:pPr>
            <a:r>
              <a:rPr sz="2800" spc="-240" dirty="0">
                <a:latin typeface="Times New Roman"/>
                <a:cs typeface="Times New Roman"/>
              </a:rPr>
              <a:t>R</a:t>
            </a:r>
            <a:r>
              <a:rPr sz="2800" spc="-140" dirty="0">
                <a:latin typeface="Times New Roman"/>
                <a:cs typeface="Times New Roman"/>
              </a:rPr>
              <a:t>ou</a:t>
            </a:r>
            <a:r>
              <a:rPr sz="2800" spc="5" dirty="0">
                <a:latin typeface="Times New Roman"/>
                <a:cs typeface="Times New Roman"/>
              </a:rPr>
              <a:t>t</a:t>
            </a:r>
            <a:r>
              <a:rPr sz="2800" spc="-130" dirty="0">
                <a:latin typeface="Times New Roman"/>
                <a:cs typeface="Times New Roman"/>
              </a:rPr>
              <a:t>e</a:t>
            </a:r>
            <a:r>
              <a:rPr sz="2800" spc="-215" dirty="0">
                <a:latin typeface="Times New Roman"/>
                <a:cs typeface="Times New Roman"/>
              </a:rPr>
              <a:t>s</a:t>
            </a:r>
            <a:r>
              <a:rPr sz="2800" spc="-125" dirty="0">
                <a:latin typeface="Times New Roman"/>
                <a:cs typeface="Times New Roman"/>
              </a:rPr>
              <a:t> </a:t>
            </a:r>
            <a:r>
              <a:rPr sz="2800" spc="-140" dirty="0">
                <a:latin typeface="Times New Roman"/>
                <a:cs typeface="Times New Roman"/>
              </a:rPr>
              <a:t>p</a:t>
            </a:r>
            <a:r>
              <a:rPr sz="2800" spc="-254" dirty="0">
                <a:latin typeface="Times New Roman"/>
                <a:cs typeface="Times New Roman"/>
              </a:rPr>
              <a:t>a</a:t>
            </a:r>
            <a:r>
              <a:rPr sz="2800" spc="-135" dirty="0">
                <a:latin typeface="Times New Roman"/>
                <a:cs typeface="Times New Roman"/>
              </a:rPr>
              <a:t>c</a:t>
            </a:r>
            <a:r>
              <a:rPr sz="2800" spc="-254" dirty="0">
                <a:latin typeface="Times New Roman"/>
                <a:cs typeface="Times New Roman"/>
              </a:rPr>
              <a:t>k</a:t>
            </a:r>
            <a:r>
              <a:rPr sz="2800" spc="-130" dirty="0">
                <a:latin typeface="Times New Roman"/>
                <a:cs typeface="Times New Roman"/>
              </a:rPr>
              <a:t>e</a:t>
            </a:r>
            <a:r>
              <a:rPr sz="2800" spc="5" dirty="0">
                <a:latin typeface="Times New Roman"/>
                <a:cs typeface="Times New Roman"/>
              </a:rPr>
              <a:t>t</a:t>
            </a:r>
            <a:r>
              <a:rPr sz="2800" spc="-215" dirty="0">
                <a:latin typeface="Times New Roman"/>
                <a:cs typeface="Times New Roman"/>
              </a:rPr>
              <a:t>s</a:t>
            </a:r>
            <a:r>
              <a:rPr sz="2800" spc="-135" dirty="0">
                <a:latin typeface="Times New Roman"/>
                <a:cs typeface="Times New Roman"/>
              </a:rPr>
              <a:t> </a:t>
            </a:r>
            <a:r>
              <a:rPr sz="2800" spc="-170" dirty="0">
                <a:latin typeface="Times New Roman"/>
                <a:cs typeface="Times New Roman"/>
              </a:rPr>
              <a:t>b</a:t>
            </a:r>
            <a:r>
              <a:rPr sz="2800" spc="-240" dirty="0">
                <a:latin typeface="Times New Roman"/>
                <a:cs typeface="Times New Roman"/>
              </a:rPr>
              <a:t>a</a:t>
            </a:r>
            <a:r>
              <a:rPr sz="2800" spc="-229" dirty="0">
                <a:latin typeface="Times New Roman"/>
                <a:cs typeface="Times New Roman"/>
              </a:rPr>
              <a:t>s</a:t>
            </a:r>
            <a:r>
              <a:rPr sz="2800" spc="-114" dirty="0">
                <a:latin typeface="Times New Roman"/>
                <a:cs typeface="Times New Roman"/>
              </a:rPr>
              <a:t>ed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spc="-120" dirty="0">
                <a:latin typeface="Times New Roman"/>
                <a:cs typeface="Times New Roman"/>
              </a:rPr>
              <a:t>on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spc="15" dirty="0">
                <a:latin typeface="Times New Roman"/>
                <a:cs typeface="Times New Roman"/>
              </a:rPr>
              <a:t>t</a:t>
            </a:r>
            <a:r>
              <a:rPr sz="2800" spc="-195" dirty="0">
                <a:latin typeface="Times New Roman"/>
                <a:cs typeface="Times New Roman"/>
              </a:rPr>
              <a:t>h</a:t>
            </a:r>
            <a:r>
              <a:rPr sz="2800" spc="-155" dirty="0">
                <a:latin typeface="Times New Roman"/>
                <a:cs typeface="Times New Roman"/>
              </a:rPr>
              <a:t>e</a:t>
            </a:r>
            <a:r>
              <a:rPr sz="2800" spc="-120" dirty="0">
                <a:latin typeface="Times New Roman"/>
                <a:cs typeface="Times New Roman"/>
              </a:rPr>
              <a:t>i</a:t>
            </a:r>
            <a:r>
              <a:rPr sz="2800" spc="30" dirty="0">
                <a:latin typeface="Times New Roman"/>
                <a:cs typeface="Times New Roman"/>
              </a:rPr>
              <a:t>r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spc="-130" dirty="0">
                <a:latin typeface="Times New Roman"/>
                <a:cs typeface="Times New Roman"/>
              </a:rPr>
              <a:t>lo</a:t>
            </a:r>
            <a:r>
              <a:rPr sz="2800" spc="-195" dirty="0">
                <a:latin typeface="Times New Roman"/>
                <a:cs typeface="Times New Roman"/>
              </a:rPr>
              <a:t>g</a:t>
            </a:r>
            <a:r>
              <a:rPr sz="2800" spc="-160" dirty="0">
                <a:latin typeface="Times New Roman"/>
                <a:cs typeface="Times New Roman"/>
              </a:rPr>
              <a:t>i</a:t>
            </a:r>
            <a:r>
              <a:rPr sz="2800" spc="-180" dirty="0">
                <a:latin typeface="Times New Roman"/>
                <a:cs typeface="Times New Roman"/>
              </a:rPr>
              <a:t>c</a:t>
            </a:r>
            <a:r>
              <a:rPr sz="2800" spc="-240" dirty="0">
                <a:latin typeface="Times New Roman"/>
                <a:cs typeface="Times New Roman"/>
              </a:rPr>
              <a:t>a</a:t>
            </a:r>
            <a:r>
              <a:rPr sz="2800" spc="-110" dirty="0">
                <a:latin typeface="Times New Roman"/>
                <a:cs typeface="Times New Roman"/>
              </a:rPr>
              <a:t>l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240" dirty="0">
                <a:latin typeface="Times New Roman"/>
                <a:cs typeface="Times New Roman"/>
              </a:rPr>
              <a:t>a</a:t>
            </a:r>
            <a:r>
              <a:rPr sz="2800" spc="-130" dirty="0">
                <a:latin typeface="Times New Roman"/>
                <a:cs typeface="Times New Roman"/>
              </a:rPr>
              <a:t>dd</a:t>
            </a:r>
            <a:r>
              <a:rPr sz="2800" spc="-10" dirty="0">
                <a:latin typeface="Times New Roman"/>
                <a:cs typeface="Times New Roman"/>
              </a:rPr>
              <a:t>r</a:t>
            </a:r>
            <a:r>
              <a:rPr sz="2800" spc="-175" dirty="0">
                <a:latin typeface="Times New Roman"/>
                <a:cs typeface="Times New Roman"/>
              </a:rPr>
              <a:t>es</a:t>
            </a:r>
            <a:r>
              <a:rPr sz="2800" spc="-229" dirty="0">
                <a:latin typeface="Times New Roman"/>
                <a:cs typeface="Times New Roman"/>
              </a:rPr>
              <a:t>s</a:t>
            </a:r>
            <a:r>
              <a:rPr sz="2800" spc="-165" dirty="0">
                <a:latin typeface="Times New Roman"/>
                <a:cs typeface="Times New Roman"/>
              </a:rPr>
              <a:t>es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75" dirty="0">
                <a:latin typeface="Times New Roman"/>
                <a:cs typeface="Times New Roman"/>
              </a:rPr>
              <a:t>(</a:t>
            </a:r>
            <a:r>
              <a:rPr sz="2800" spc="-195" dirty="0">
                <a:latin typeface="Times New Roman"/>
                <a:cs typeface="Times New Roman"/>
              </a:rPr>
              <a:t>h</a:t>
            </a:r>
            <a:r>
              <a:rPr sz="2800" spc="-130" dirty="0">
                <a:latin typeface="Times New Roman"/>
                <a:cs typeface="Times New Roman"/>
              </a:rPr>
              <a:t>o</a:t>
            </a:r>
            <a:r>
              <a:rPr sz="2800" spc="-229" dirty="0">
                <a:latin typeface="Times New Roman"/>
                <a:cs typeface="Times New Roman"/>
              </a:rPr>
              <a:t>s</a:t>
            </a:r>
            <a:r>
              <a:rPr sz="2800" spc="25" dirty="0">
                <a:latin typeface="Times New Roman"/>
                <a:cs typeface="Times New Roman"/>
              </a:rPr>
              <a:t>t</a:t>
            </a:r>
            <a:r>
              <a:rPr sz="2800" spc="-75" dirty="0">
                <a:latin typeface="Times New Roman"/>
                <a:cs typeface="Times New Roman"/>
              </a:rPr>
              <a:t>-</a:t>
            </a:r>
            <a:r>
              <a:rPr sz="2800" spc="-45" dirty="0">
                <a:latin typeface="Times New Roman"/>
                <a:cs typeface="Times New Roman"/>
              </a:rPr>
              <a:t>t</a:t>
            </a:r>
            <a:r>
              <a:rPr sz="2800" spc="-65" dirty="0">
                <a:latin typeface="Times New Roman"/>
                <a:cs typeface="Times New Roman"/>
              </a:rPr>
              <a:t>o</a:t>
            </a:r>
            <a:r>
              <a:rPr sz="2800" spc="-75" dirty="0">
                <a:latin typeface="Times New Roman"/>
                <a:cs typeface="Times New Roman"/>
              </a:rPr>
              <a:t>-</a:t>
            </a:r>
            <a:r>
              <a:rPr sz="2800" spc="-195" dirty="0">
                <a:latin typeface="Times New Roman"/>
                <a:cs typeface="Times New Roman"/>
              </a:rPr>
              <a:t>h</a:t>
            </a:r>
            <a:r>
              <a:rPr sz="2800" spc="-130" dirty="0">
                <a:latin typeface="Times New Roman"/>
                <a:cs typeface="Times New Roman"/>
              </a:rPr>
              <a:t>o</a:t>
            </a:r>
            <a:r>
              <a:rPr sz="2800" spc="-229" dirty="0">
                <a:latin typeface="Times New Roman"/>
                <a:cs typeface="Times New Roman"/>
              </a:rPr>
              <a:t>s</a:t>
            </a:r>
            <a:r>
              <a:rPr sz="2800" spc="35" dirty="0">
                <a:latin typeface="Times New Roman"/>
                <a:cs typeface="Times New Roman"/>
              </a:rPr>
              <a:t>t  </a:t>
            </a:r>
            <a:r>
              <a:rPr sz="2800" spc="-155" dirty="0">
                <a:latin typeface="Times New Roman"/>
                <a:cs typeface="Times New Roman"/>
              </a:rPr>
              <a:t>addressing)</a:t>
            </a:r>
            <a:endParaRPr sz="2800">
              <a:latin typeface="Times New Roman"/>
              <a:cs typeface="Times New Roman"/>
            </a:endParaRPr>
          </a:p>
          <a:p>
            <a:pPr marL="356870" marR="5080" indent="-344805">
              <a:lnSpc>
                <a:spcPts val="3020"/>
              </a:lnSpc>
              <a:spcBef>
                <a:spcPts val="695"/>
              </a:spcBef>
              <a:buFont typeface="Arial MT"/>
              <a:buChar char="•"/>
              <a:tabLst>
                <a:tab pos="356870" algn="l"/>
                <a:tab pos="357505" algn="l"/>
                <a:tab pos="4735830" algn="l"/>
                <a:tab pos="7025640" algn="l"/>
              </a:tabLst>
            </a:pPr>
            <a:r>
              <a:rPr sz="2800" spc="-360" dirty="0">
                <a:latin typeface="Times New Roman"/>
                <a:cs typeface="Times New Roman"/>
              </a:rPr>
              <a:t>A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r</a:t>
            </a:r>
            <a:r>
              <a:rPr sz="2800" spc="-145" dirty="0">
                <a:latin typeface="Times New Roman"/>
                <a:cs typeface="Times New Roman"/>
              </a:rPr>
              <a:t>ou</a:t>
            </a:r>
            <a:r>
              <a:rPr sz="2800" spc="5" dirty="0">
                <a:latin typeface="Times New Roman"/>
                <a:cs typeface="Times New Roman"/>
              </a:rPr>
              <a:t>t</a:t>
            </a:r>
            <a:r>
              <a:rPr sz="2800" spc="-130" dirty="0">
                <a:latin typeface="Times New Roman"/>
                <a:cs typeface="Times New Roman"/>
              </a:rPr>
              <a:t>e</a:t>
            </a:r>
            <a:r>
              <a:rPr sz="2800" spc="30" dirty="0">
                <a:latin typeface="Times New Roman"/>
                <a:cs typeface="Times New Roman"/>
              </a:rPr>
              <a:t>r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spc="-80" dirty="0">
                <a:latin typeface="Times New Roman"/>
                <a:cs typeface="Times New Roman"/>
              </a:rPr>
              <a:t>no</a:t>
            </a:r>
            <a:r>
              <a:rPr sz="2800" spc="25" dirty="0">
                <a:latin typeface="Times New Roman"/>
                <a:cs typeface="Times New Roman"/>
              </a:rPr>
              <a:t>r</a:t>
            </a:r>
            <a:r>
              <a:rPr sz="2800" spc="-175" dirty="0">
                <a:latin typeface="Times New Roman"/>
                <a:cs typeface="Times New Roman"/>
              </a:rPr>
              <a:t>mal</a:t>
            </a:r>
            <a:r>
              <a:rPr sz="2800" spc="-155" dirty="0">
                <a:latin typeface="Times New Roman"/>
                <a:cs typeface="Times New Roman"/>
              </a:rPr>
              <a:t>l</a:t>
            </a:r>
            <a:r>
              <a:rPr sz="2800" spc="-235" dirty="0">
                <a:latin typeface="Times New Roman"/>
                <a:cs typeface="Times New Roman"/>
              </a:rPr>
              <a:t>y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spc="-180" dirty="0">
                <a:latin typeface="Times New Roman"/>
                <a:cs typeface="Times New Roman"/>
              </a:rPr>
              <a:t>c</a:t>
            </a:r>
            <a:r>
              <a:rPr sz="2800" spc="-130" dirty="0">
                <a:latin typeface="Times New Roman"/>
                <a:cs typeface="Times New Roman"/>
              </a:rPr>
              <a:t>onn</a:t>
            </a:r>
            <a:r>
              <a:rPr sz="2800" spc="-140" dirty="0">
                <a:latin typeface="Times New Roman"/>
                <a:cs typeface="Times New Roman"/>
              </a:rPr>
              <a:t>e</a:t>
            </a:r>
            <a:r>
              <a:rPr sz="2800" spc="-160" dirty="0">
                <a:latin typeface="Times New Roman"/>
                <a:cs typeface="Times New Roman"/>
              </a:rPr>
              <a:t>c</a:t>
            </a:r>
            <a:r>
              <a:rPr sz="2800" spc="20" dirty="0">
                <a:latin typeface="Times New Roman"/>
                <a:cs typeface="Times New Roman"/>
              </a:rPr>
              <a:t>t</a:t>
            </a:r>
            <a:r>
              <a:rPr sz="2800" spc="-215" dirty="0">
                <a:latin typeface="Times New Roman"/>
                <a:cs typeface="Times New Roman"/>
              </a:rPr>
              <a:t>s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spc="-330" dirty="0">
                <a:latin typeface="Times New Roman"/>
                <a:cs typeface="Times New Roman"/>
              </a:rPr>
              <a:t>L</a:t>
            </a:r>
            <a:r>
              <a:rPr sz="2800" spc="-385" dirty="0">
                <a:latin typeface="Times New Roman"/>
                <a:cs typeface="Times New Roman"/>
              </a:rPr>
              <a:t>A</a:t>
            </a:r>
            <a:r>
              <a:rPr sz="2800" spc="-180" dirty="0">
                <a:latin typeface="Times New Roman"/>
                <a:cs typeface="Times New Roman"/>
              </a:rPr>
              <a:t>N</a:t>
            </a:r>
            <a:r>
              <a:rPr sz="2800" spc="-215" dirty="0">
                <a:latin typeface="Times New Roman"/>
                <a:cs typeface="Times New Roman"/>
              </a:rPr>
              <a:t>s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spc="-155" dirty="0">
                <a:latin typeface="Times New Roman"/>
                <a:cs typeface="Times New Roman"/>
              </a:rPr>
              <a:t>an</a:t>
            </a:r>
            <a:r>
              <a:rPr sz="2800" spc="-160" dirty="0">
                <a:latin typeface="Times New Roman"/>
                <a:cs typeface="Times New Roman"/>
              </a:rPr>
              <a:t>d</a:t>
            </a:r>
            <a:r>
              <a:rPr sz="2800" spc="-430" dirty="0">
                <a:latin typeface="Times New Roman"/>
                <a:cs typeface="Times New Roman"/>
              </a:rPr>
              <a:t> </a:t>
            </a:r>
            <a:r>
              <a:rPr sz="2800" spc="-405" dirty="0">
                <a:latin typeface="Times New Roman"/>
                <a:cs typeface="Times New Roman"/>
              </a:rPr>
              <a:t>W</a:t>
            </a:r>
            <a:r>
              <a:rPr sz="2800" spc="-415" dirty="0">
                <a:latin typeface="Times New Roman"/>
                <a:cs typeface="Times New Roman"/>
              </a:rPr>
              <a:t>A</a:t>
            </a:r>
            <a:r>
              <a:rPr sz="2800" spc="-215" dirty="0">
                <a:latin typeface="Times New Roman"/>
                <a:cs typeface="Times New Roman"/>
              </a:rPr>
              <a:t>Ns</a:t>
            </a:r>
            <a:r>
              <a:rPr sz="2800" spc="-165" dirty="0">
                <a:latin typeface="Times New Roman"/>
                <a:cs typeface="Times New Roman"/>
              </a:rPr>
              <a:t> </a:t>
            </a:r>
            <a:r>
              <a:rPr sz="2800" spc="-130" dirty="0">
                <a:latin typeface="Times New Roman"/>
                <a:cs typeface="Times New Roman"/>
              </a:rPr>
              <a:t>in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spc="-85" dirty="0">
                <a:latin typeface="Times New Roman"/>
                <a:cs typeface="Times New Roman"/>
              </a:rPr>
              <a:t>the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30" dirty="0">
                <a:latin typeface="Times New Roman"/>
                <a:cs typeface="Times New Roman"/>
              </a:rPr>
              <a:t>I</a:t>
            </a:r>
            <a:r>
              <a:rPr sz="2800" spc="-215" dirty="0">
                <a:latin typeface="Times New Roman"/>
                <a:cs typeface="Times New Roman"/>
              </a:rPr>
              <a:t>n</a:t>
            </a:r>
            <a:r>
              <a:rPr sz="2800" spc="20" dirty="0">
                <a:latin typeface="Times New Roman"/>
                <a:cs typeface="Times New Roman"/>
              </a:rPr>
              <a:t>t</a:t>
            </a:r>
            <a:r>
              <a:rPr sz="2800" spc="-45" dirty="0">
                <a:latin typeface="Times New Roman"/>
                <a:cs typeface="Times New Roman"/>
              </a:rPr>
              <a:t>e</a:t>
            </a:r>
            <a:r>
              <a:rPr sz="2800" spc="20" dirty="0">
                <a:latin typeface="Times New Roman"/>
                <a:cs typeface="Times New Roman"/>
              </a:rPr>
              <a:t>r</a:t>
            </a:r>
            <a:r>
              <a:rPr sz="2800" spc="-130" dirty="0">
                <a:latin typeface="Times New Roman"/>
                <a:cs typeface="Times New Roman"/>
              </a:rPr>
              <a:t>n</a:t>
            </a:r>
            <a:r>
              <a:rPr sz="2800" spc="-35" dirty="0">
                <a:latin typeface="Times New Roman"/>
                <a:cs typeface="Times New Roman"/>
              </a:rPr>
              <a:t>et</a:t>
            </a:r>
            <a:r>
              <a:rPr sz="2800" spc="-150" dirty="0">
                <a:latin typeface="Times New Roman"/>
                <a:cs typeface="Times New Roman"/>
              </a:rPr>
              <a:t> </a:t>
            </a:r>
            <a:r>
              <a:rPr sz="2800" spc="-130" dirty="0">
                <a:latin typeface="Times New Roman"/>
                <a:cs typeface="Times New Roman"/>
              </a:rPr>
              <a:t>and  </a:t>
            </a:r>
            <a:r>
              <a:rPr sz="2800" spc="-195" dirty="0">
                <a:latin typeface="Times New Roman"/>
                <a:cs typeface="Times New Roman"/>
              </a:rPr>
              <a:t>h</a:t>
            </a:r>
            <a:r>
              <a:rPr sz="2800" spc="-240" dirty="0">
                <a:latin typeface="Times New Roman"/>
                <a:cs typeface="Times New Roman"/>
              </a:rPr>
              <a:t>a</a:t>
            </a:r>
            <a:r>
              <a:rPr sz="2800" spc="-215" dirty="0">
                <a:latin typeface="Times New Roman"/>
                <a:cs typeface="Times New Roman"/>
              </a:rPr>
              <a:t>s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spc="-225" dirty="0">
                <a:latin typeface="Times New Roman"/>
                <a:cs typeface="Times New Roman"/>
              </a:rPr>
              <a:t>a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r</a:t>
            </a:r>
            <a:r>
              <a:rPr sz="2800" spc="-130" dirty="0">
                <a:latin typeface="Times New Roman"/>
                <a:cs typeface="Times New Roman"/>
              </a:rPr>
              <a:t>ou</a:t>
            </a:r>
            <a:r>
              <a:rPr sz="2800" spc="20" dirty="0">
                <a:latin typeface="Times New Roman"/>
                <a:cs typeface="Times New Roman"/>
              </a:rPr>
              <a:t>t</a:t>
            </a:r>
            <a:r>
              <a:rPr sz="2800" spc="-160" dirty="0">
                <a:latin typeface="Times New Roman"/>
                <a:cs typeface="Times New Roman"/>
              </a:rPr>
              <a:t>i</a:t>
            </a:r>
            <a:r>
              <a:rPr sz="2800" spc="-130" dirty="0">
                <a:latin typeface="Times New Roman"/>
                <a:cs typeface="Times New Roman"/>
              </a:rPr>
              <a:t>n</a:t>
            </a:r>
            <a:r>
              <a:rPr sz="2800" spc="-235" dirty="0">
                <a:latin typeface="Times New Roman"/>
                <a:cs typeface="Times New Roman"/>
              </a:rPr>
              <a:t>g</a:t>
            </a:r>
            <a:r>
              <a:rPr sz="2800" spc="-125" dirty="0">
                <a:latin typeface="Times New Roman"/>
                <a:cs typeface="Times New Roman"/>
              </a:rPr>
              <a:t> </a:t>
            </a:r>
            <a:r>
              <a:rPr sz="2800" spc="20" dirty="0">
                <a:latin typeface="Times New Roman"/>
                <a:cs typeface="Times New Roman"/>
              </a:rPr>
              <a:t>t</a:t>
            </a:r>
            <a:r>
              <a:rPr sz="2800" spc="-240" dirty="0">
                <a:latin typeface="Times New Roman"/>
                <a:cs typeface="Times New Roman"/>
              </a:rPr>
              <a:t>a</a:t>
            </a:r>
            <a:r>
              <a:rPr sz="2800" spc="-215" dirty="0">
                <a:latin typeface="Times New Roman"/>
                <a:cs typeface="Times New Roman"/>
              </a:rPr>
              <a:t>b</a:t>
            </a:r>
            <a:r>
              <a:rPr sz="2800" spc="-125" dirty="0">
                <a:latin typeface="Times New Roman"/>
                <a:cs typeface="Times New Roman"/>
              </a:rPr>
              <a:t>l</a:t>
            </a:r>
            <a:r>
              <a:rPr sz="2800" spc="-110" dirty="0">
                <a:latin typeface="Times New Roman"/>
                <a:cs typeface="Times New Roman"/>
              </a:rPr>
              <a:t>e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20" dirty="0">
                <a:latin typeface="Times New Roman"/>
                <a:cs typeface="Times New Roman"/>
              </a:rPr>
              <a:t>t</a:t>
            </a:r>
            <a:r>
              <a:rPr sz="2800" spc="-195" dirty="0">
                <a:latin typeface="Times New Roman"/>
                <a:cs typeface="Times New Roman"/>
              </a:rPr>
              <a:t>h</a:t>
            </a:r>
            <a:r>
              <a:rPr sz="2800" spc="-265" dirty="0">
                <a:latin typeface="Times New Roman"/>
                <a:cs typeface="Times New Roman"/>
              </a:rPr>
              <a:t>a</a:t>
            </a:r>
            <a:r>
              <a:rPr sz="2800" spc="35" dirty="0">
                <a:latin typeface="Times New Roman"/>
                <a:cs typeface="Times New Roman"/>
              </a:rPr>
              <a:t>t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spc="-180" dirty="0">
                <a:latin typeface="Times New Roman"/>
                <a:cs typeface="Times New Roman"/>
              </a:rPr>
              <a:t>is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spc="-130" dirty="0">
                <a:latin typeface="Times New Roman"/>
                <a:cs typeface="Times New Roman"/>
              </a:rPr>
              <a:t>u</a:t>
            </a:r>
            <a:r>
              <a:rPr sz="2800" spc="-229" dirty="0">
                <a:latin typeface="Times New Roman"/>
                <a:cs typeface="Times New Roman"/>
              </a:rPr>
              <a:t>s</a:t>
            </a:r>
            <a:r>
              <a:rPr sz="2800" spc="-114" dirty="0">
                <a:latin typeface="Times New Roman"/>
                <a:cs typeface="Times New Roman"/>
              </a:rPr>
              <a:t>ed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spc="-229" dirty="0">
                <a:latin typeface="Times New Roman"/>
                <a:cs typeface="Times New Roman"/>
              </a:rPr>
              <a:t>f</a:t>
            </a:r>
            <a:r>
              <a:rPr sz="2800" spc="-140" dirty="0">
                <a:latin typeface="Times New Roman"/>
                <a:cs typeface="Times New Roman"/>
              </a:rPr>
              <a:t>o</a:t>
            </a:r>
            <a:r>
              <a:rPr sz="2800" spc="30" dirty="0">
                <a:latin typeface="Times New Roman"/>
                <a:cs typeface="Times New Roman"/>
              </a:rPr>
              <a:t>r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85" dirty="0">
                <a:latin typeface="Times New Roman"/>
                <a:cs typeface="Times New Roman"/>
              </a:rPr>
              <a:t>makin</a:t>
            </a:r>
            <a:r>
              <a:rPr sz="2800" spc="-180" dirty="0">
                <a:latin typeface="Times New Roman"/>
                <a:cs typeface="Times New Roman"/>
              </a:rPr>
              <a:t>g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spc="-130" dirty="0">
                <a:latin typeface="Times New Roman"/>
                <a:cs typeface="Times New Roman"/>
              </a:rPr>
              <a:t>d</a:t>
            </a:r>
            <a:r>
              <a:rPr sz="2800" spc="-140" dirty="0">
                <a:latin typeface="Times New Roman"/>
                <a:cs typeface="Times New Roman"/>
              </a:rPr>
              <a:t>e</a:t>
            </a:r>
            <a:r>
              <a:rPr sz="2800" spc="-160" dirty="0">
                <a:latin typeface="Times New Roman"/>
                <a:cs typeface="Times New Roman"/>
              </a:rPr>
              <a:t>ci</a:t>
            </a:r>
            <a:r>
              <a:rPr sz="2800" spc="-229" dirty="0">
                <a:latin typeface="Times New Roman"/>
                <a:cs typeface="Times New Roman"/>
              </a:rPr>
              <a:t>s</a:t>
            </a:r>
            <a:r>
              <a:rPr sz="2800" spc="-160" dirty="0">
                <a:latin typeface="Times New Roman"/>
                <a:cs typeface="Times New Roman"/>
              </a:rPr>
              <a:t>i</a:t>
            </a:r>
            <a:r>
              <a:rPr sz="2800" spc="-130" dirty="0">
                <a:latin typeface="Times New Roman"/>
                <a:cs typeface="Times New Roman"/>
              </a:rPr>
              <a:t>o</a:t>
            </a:r>
            <a:r>
              <a:rPr sz="2800" spc="-120" dirty="0">
                <a:latin typeface="Times New Roman"/>
                <a:cs typeface="Times New Roman"/>
              </a:rPr>
              <a:t>n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130" dirty="0">
                <a:latin typeface="Times New Roman"/>
                <a:cs typeface="Times New Roman"/>
              </a:rPr>
              <a:t>abou</a:t>
            </a:r>
            <a:r>
              <a:rPr sz="2800" spc="-75" dirty="0">
                <a:latin typeface="Times New Roman"/>
                <a:cs typeface="Times New Roman"/>
              </a:rPr>
              <a:t>t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spc="-70" dirty="0">
                <a:latin typeface="Times New Roman"/>
                <a:cs typeface="Times New Roman"/>
              </a:rPr>
              <a:t>the  </a:t>
            </a:r>
            <a:r>
              <a:rPr sz="2800" spc="-65" dirty="0">
                <a:latin typeface="Times New Roman"/>
                <a:cs typeface="Times New Roman"/>
              </a:rPr>
              <a:t>route.</a:t>
            </a:r>
            <a:endParaRPr sz="2800">
              <a:latin typeface="Times New Roman"/>
              <a:cs typeface="Times New Roman"/>
            </a:endParaRPr>
          </a:p>
          <a:p>
            <a:pPr marL="356870" marR="935990" indent="-344805">
              <a:lnSpc>
                <a:spcPct val="104299"/>
              </a:lnSpc>
              <a:spcBef>
                <a:spcPts val="675"/>
              </a:spcBef>
              <a:buFont typeface="Arial MT"/>
              <a:buChar char="•"/>
              <a:tabLst>
                <a:tab pos="356870" algn="l"/>
                <a:tab pos="357505" algn="l"/>
                <a:tab pos="6639559" algn="l"/>
              </a:tabLst>
            </a:pPr>
            <a:r>
              <a:rPr sz="2800" spc="-155" dirty="0">
                <a:latin typeface="Times New Roman"/>
                <a:cs typeface="Times New Roman"/>
              </a:rPr>
              <a:t>T</a:t>
            </a:r>
            <a:r>
              <a:rPr sz="2800" spc="-195" dirty="0">
                <a:latin typeface="Times New Roman"/>
                <a:cs typeface="Times New Roman"/>
              </a:rPr>
              <a:t>h</a:t>
            </a:r>
            <a:r>
              <a:rPr sz="2800" spc="-110" dirty="0">
                <a:latin typeface="Times New Roman"/>
                <a:cs typeface="Times New Roman"/>
              </a:rPr>
              <a:t>e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r</a:t>
            </a:r>
            <a:r>
              <a:rPr sz="2800" spc="-130" dirty="0">
                <a:latin typeface="Times New Roman"/>
                <a:cs typeface="Times New Roman"/>
              </a:rPr>
              <a:t>ou</a:t>
            </a:r>
            <a:r>
              <a:rPr sz="2800" spc="20" dirty="0">
                <a:latin typeface="Times New Roman"/>
                <a:cs typeface="Times New Roman"/>
              </a:rPr>
              <a:t>t</a:t>
            </a:r>
            <a:r>
              <a:rPr sz="2800" spc="-160" dirty="0">
                <a:latin typeface="Times New Roman"/>
                <a:cs typeface="Times New Roman"/>
              </a:rPr>
              <a:t>i</a:t>
            </a:r>
            <a:r>
              <a:rPr sz="2800" spc="-130" dirty="0">
                <a:latin typeface="Times New Roman"/>
                <a:cs typeface="Times New Roman"/>
              </a:rPr>
              <a:t>n</a:t>
            </a:r>
            <a:r>
              <a:rPr sz="2800" spc="-235" dirty="0">
                <a:latin typeface="Times New Roman"/>
                <a:cs typeface="Times New Roman"/>
              </a:rPr>
              <a:t>g</a:t>
            </a:r>
            <a:r>
              <a:rPr sz="2800" spc="-125" dirty="0">
                <a:latin typeface="Times New Roman"/>
                <a:cs typeface="Times New Roman"/>
              </a:rPr>
              <a:t> </a:t>
            </a:r>
            <a:r>
              <a:rPr sz="2800" spc="20" dirty="0">
                <a:latin typeface="Times New Roman"/>
                <a:cs typeface="Times New Roman"/>
              </a:rPr>
              <a:t>t</a:t>
            </a:r>
            <a:r>
              <a:rPr sz="2800" spc="-240" dirty="0">
                <a:latin typeface="Times New Roman"/>
                <a:cs typeface="Times New Roman"/>
              </a:rPr>
              <a:t>a</a:t>
            </a:r>
            <a:r>
              <a:rPr sz="2800" spc="-215" dirty="0">
                <a:latin typeface="Times New Roman"/>
                <a:cs typeface="Times New Roman"/>
              </a:rPr>
              <a:t>b</a:t>
            </a:r>
            <a:r>
              <a:rPr sz="2800" spc="-125" dirty="0">
                <a:latin typeface="Times New Roman"/>
                <a:cs typeface="Times New Roman"/>
              </a:rPr>
              <a:t>l</a:t>
            </a:r>
            <a:r>
              <a:rPr sz="2800" spc="-165" dirty="0">
                <a:latin typeface="Times New Roman"/>
                <a:cs typeface="Times New Roman"/>
              </a:rPr>
              <a:t>es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spc="-254" dirty="0">
                <a:latin typeface="Times New Roman"/>
                <a:cs typeface="Times New Roman"/>
              </a:rPr>
              <a:t>a</a:t>
            </a:r>
            <a:r>
              <a:rPr sz="2800" spc="-25" dirty="0">
                <a:latin typeface="Times New Roman"/>
                <a:cs typeface="Times New Roman"/>
              </a:rPr>
              <a:t>r</a:t>
            </a:r>
            <a:r>
              <a:rPr sz="2800" spc="-110" dirty="0">
                <a:latin typeface="Times New Roman"/>
                <a:cs typeface="Times New Roman"/>
              </a:rPr>
              <a:t>e</a:t>
            </a:r>
            <a:r>
              <a:rPr sz="2800" spc="-120" dirty="0">
                <a:latin typeface="Times New Roman"/>
                <a:cs typeface="Times New Roman"/>
              </a:rPr>
              <a:t> </a:t>
            </a:r>
            <a:r>
              <a:rPr sz="2800" spc="-80" dirty="0">
                <a:latin typeface="Times New Roman"/>
                <a:cs typeface="Times New Roman"/>
              </a:rPr>
              <a:t>no</a:t>
            </a:r>
            <a:r>
              <a:rPr sz="2800" spc="30" dirty="0">
                <a:latin typeface="Times New Roman"/>
                <a:cs typeface="Times New Roman"/>
              </a:rPr>
              <a:t>r</a:t>
            </a:r>
            <a:r>
              <a:rPr sz="2800" spc="-175" dirty="0">
                <a:latin typeface="Times New Roman"/>
                <a:cs typeface="Times New Roman"/>
              </a:rPr>
              <a:t>mal</a:t>
            </a:r>
            <a:r>
              <a:rPr sz="2800" spc="-150" dirty="0">
                <a:latin typeface="Times New Roman"/>
                <a:cs typeface="Times New Roman"/>
              </a:rPr>
              <a:t>l</a:t>
            </a:r>
            <a:r>
              <a:rPr sz="2800" spc="-235" dirty="0">
                <a:latin typeface="Times New Roman"/>
                <a:cs typeface="Times New Roman"/>
              </a:rPr>
              <a:t>y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spc="-180" dirty="0">
                <a:latin typeface="Times New Roman"/>
                <a:cs typeface="Times New Roman"/>
              </a:rPr>
              <a:t>d</a:t>
            </a:r>
            <a:r>
              <a:rPr sz="2800" spc="-250" dirty="0">
                <a:latin typeface="Times New Roman"/>
                <a:cs typeface="Times New Roman"/>
              </a:rPr>
              <a:t>y</a:t>
            </a:r>
            <a:r>
              <a:rPr sz="2800" spc="-130" dirty="0">
                <a:latin typeface="Times New Roman"/>
                <a:cs typeface="Times New Roman"/>
              </a:rPr>
              <a:t>n</a:t>
            </a:r>
            <a:r>
              <a:rPr sz="2800" spc="-240" dirty="0">
                <a:latin typeface="Times New Roman"/>
                <a:cs typeface="Times New Roman"/>
              </a:rPr>
              <a:t>a</a:t>
            </a:r>
            <a:r>
              <a:rPr sz="2800" spc="-229" dirty="0">
                <a:latin typeface="Times New Roman"/>
                <a:cs typeface="Times New Roman"/>
              </a:rPr>
              <a:t>m</a:t>
            </a:r>
            <a:r>
              <a:rPr sz="2800" spc="-110" dirty="0">
                <a:latin typeface="Times New Roman"/>
                <a:cs typeface="Times New Roman"/>
              </a:rPr>
              <a:t>i</a:t>
            </a:r>
            <a:r>
              <a:rPr sz="2800" spc="-170" dirty="0">
                <a:latin typeface="Times New Roman"/>
                <a:cs typeface="Times New Roman"/>
              </a:rPr>
              <a:t>c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spc="-160" dirty="0">
                <a:latin typeface="Times New Roman"/>
                <a:cs typeface="Times New Roman"/>
              </a:rPr>
              <a:t>and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254" dirty="0">
                <a:latin typeface="Times New Roman"/>
                <a:cs typeface="Times New Roman"/>
              </a:rPr>
              <a:t>a</a:t>
            </a:r>
            <a:r>
              <a:rPr sz="2800" spc="-25" dirty="0">
                <a:latin typeface="Times New Roman"/>
                <a:cs typeface="Times New Roman"/>
              </a:rPr>
              <a:t>r</a:t>
            </a:r>
            <a:r>
              <a:rPr sz="2800" spc="-110" dirty="0">
                <a:latin typeface="Times New Roman"/>
                <a:cs typeface="Times New Roman"/>
              </a:rPr>
              <a:t>e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30" dirty="0">
                <a:latin typeface="Times New Roman"/>
                <a:cs typeface="Times New Roman"/>
              </a:rPr>
              <a:t>upd</a:t>
            </a:r>
            <a:r>
              <a:rPr sz="2800" spc="-265" dirty="0">
                <a:latin typeface="Times New Roman"/>
                <a:cs typeface="Times New Roman"/>
              </a:rPr>
              <a:t>a</a:t>
            </a:r>
            <a:r>
              <a:rPr sz="2800" spc="20" dirty="0">
                <a:latin typeface="Times New Roman"/>
                <a:cs typeface="Times New Roman"/>
              </a:rPr>
              <a:t>t</a:t>
            </a:r>
            <a:r>
              <a:rPr sz="2800" spc="-90" dirty="0">
                <a:latin typeface="Times New Roman"/>
                <a:cs typeface="Times New Roman"/>
              </a:rPr>
              <a:t>ed  </a:t>
            </a:r>
            <a:r>
              <a:rPr sz="2800" spc="-130" dirty="0">
                <a:latin typeface="Times New Roman"/>
                <a:cs typeface="Times New Roman"/>
              </a:rPr>
              <a:t>u</a:t>
            </a:r>
            <a:r>
              <a:rPr sz="2800" spc="-229" dirty="0">
                <a:latin typeface="Times New Roman"/>
                <a:cs typeface="Times New Roman"/>
              </a:rPr>
              <a:t>s</a:t>
            </a:r>
            <a:r>
              <a:rPr sz="2800" spc="-160" dirty="0">
                <a:latin typeface="Times New Roman"/>
                <a:cs typeface="Times New Roman"/>
              </a:rPr>
              <a:t>i</a:t>
            </a:r>
            <a:r>
              <a:rPr sz="2800" spc="-130" dirty="0">
                <a:latin typeface="Times New Roman"/>
                <a:cs typeface="Times New Roman"/>
              </a:rPr>
              <a:t>n</a:t>
            </a:r>
            <a:r>
              <a:rPr sz="2800" spc="-235" dirty="0">
                <a:latin typeface="Times New Roman"/>
                <a:cs typeface="Times New Roman"/>
              </a:rPr>
              <a:t>g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r</a:t>
            </a:r>
            <a:r>
              <a:rPr sz="2800" spc="-130" dirty="0">
                <a:latin typeface="Times New Roman"/>
                <a:cs typeface="Times New Roman"/>
              </a:rPr>
              <a:t>ou</a:t>
            </a:r>
            <a:r>
              <a:rPr sz="2800" spc="20" dirty="0">
                <a:latin typeface="Times New Roman"/>
                <a:cs typeface="Times New Roman"/>
              </a:rPr>
              <a:t>t</a:t>
            </a:r>
            <a:r>
              <a:rPr sz="2800" spc="-160" dirty="0">
                <a:latin typeface="Times New Roman"/>
                <a:cs typeface="Times New Roman"/>
              </a:rPr>
              <a:t>i</a:t>
            </a:r>
            <a:r>
              <a:rPr sz="2800" spc="-130" dirty="0">
                <a:latin typeface="Times New Roman"/>
                <a:cs typeface="Times New Roman"/>
              </a:rPr>
              <a:t>n</a:t>
            </a:r>
            <a:r>
              <a:rPr sz="2800" spc="-235" dirty="0">
                <a:latin typeface="Times New Roman"/>
                <a:cs typeface="Times New Roman"/>
              </a:rPr>
              <a:t>g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spc="-140" dirty="0">
                <a:latin typeface="Times New Roman"/>
                <a:cs typeface="Times New Roman"/>
              </a:rPr>
              <a:t>p</a:t>
            </a:r>
            <a:r>
              <a:rPr sz="2800" spc="-25" dirty="0">
                <a:latin typeface="Times New Roman"/>
                <a:cs typeface="Times New Roman"/>
              </a:rPr>
              <a:t>r</a:t>
            </a:r>
            <a:r>
              <a:rPr sz="2800" spc="-140" dirty="0">
                <a:latin typeface="Times New Roman"/>
                <a:cs typeface="Times New Roman"/>
              </a:rPr>
              <a:t>o</a:t>
            </a:r>
            <a:r>
              <a:rPr sz="2800" spc="5" dirty="0">
                <a:latin typeface="Times New Roman"/>
                <a:cs typeface="Times New Roman"/>
              </a:rPr>
              <a:t>t</a:t>
            </a:r>
            <a:r>
              <a:rPr sz="2800" spc="-140" dirty="0">
                <a:latin typeface="Times New Roman"/>
                <a:cs typeface="Times New Roman"/>
              </a:rPr>
              <a:t>o</a:t>
            </a:r>
            <a:r>
              <a:rPr sz="2800" spc="-190" dirty="0">
                <a:latin typeface="Times New Roman"/>
                <a:cs typeface="Times New Roman"/>
              </a:rPr>
              <a:t>c</a:t>
            </a:r>
            <a:r>
              <a:rPr sz="2800" spc="-140" dirty="0">
                <a:latin typeface="Times New Roman"/>
                <a:cs typeface="Times New Roman"/>
              </a:rPr>
              <a:t>o</a:t>
            </a:r>
            <a:r>
              <a:rPr sz="2800" spc="-135" dirty="0">
                <a:latin typeface="Times New Roman"/>
                <a:cs typeface="Times New Roman"/>
              </a:rPr>
              <a:t>l</a:t>
            </a:r>
            <a:r>
              <a:rPr sz="2800" spc="-300" dirty="0">
                <a:latin typeface="Times New Roman"/>
                <a:cs typeface="Times New Roman"/>
              </a:rPr>
              <a:t>s</a:t>
            </a:r>
            <a:r>
              <a:rPr sz="2800" spc="114" dirty="0">
                <a:latin typeface="Times New Roman"/>
                <a:cs typeface="Times New Roman"/>
              </a:rPr>
              <a:t>.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13710" y="4724396"/>
            <a:ext cx="6130289" cy="2093173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09091" y="4704969"/>
            <a:ext cx="208978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Times New Roman"/>
                <a:cs typeface="Times New Roman"/>
              </a:rPr>
              <a:t>Routers connecting </a:t>
            </a:r>
            <a:r>
              <a:rPr sz="1800" i="1" spc="5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indep</a:t>
            </a:r>
            <a:r>
              <a:rPr sz="1800" i="1" spc="5" dirty="0">
                <a:latin typeface="Times New Roman"/>
                <a:cs typeface="Times New Roman"/>
              </a:rPr>
              <a:t>e</a:t>
            </a:r>
            <a:r>
              <a:rPr sz="1800" i="1" dirty="0">
                <a:latin typeface="Times New Roman"/>
                <a:cs typeface="Times New Roman"/>
              </a:rPr>
              <a:t>ndent</a:t>
            </a:r>
            <a:r>
              <a:rPr sz="1800" i="1" spc="-20" dirty="0">
                <a:latin typeface="Times New Roman"/>
                <a:cs typeface="Times New Roman"/>
              </a:rPr>
              <a:t> </a:t>
            </a:r>
            <a:r>
              <a:rPr sz="1800" i="1" spc="-10" dirty="0">
                <a:latin typeface="Times New Roman"/>
                <a:cs typeface="Times New Roman"/>
              </a:rPr>
              <a:t>L</a:t>
            </a:r>
            <a:r>
              <a:rPr sz="1800" i="1" dirty="0">
                <a:latin typeface="Times New Roman"/>
                <a:cs typeface="Times New Roman"/>
              </a:rPr>
              <a:t>ANs</a:t>
            </a:r>
            <a:r>
              <a:rPr sz="1800" i="1" spc="-155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and  </a:t>
            </a:r>
            <a:r>
              <a:rPr sz="1800" i="1" spc="-60" dirty="0">
                <a:latin typeface="Times New Roman"/>
                <a:cs typeface="Times New Roman"/>
              </a:rPr>
              <a:t>WANs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8020" y="0"/>
            <a:ext cx="7490459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409" dirty="0">
                <a:solidFill>
                  <a:srgbClr val="585858"/>
                </a:solidFill>
                <a:latin typeface="Times New Roman"/>
                <a:cs typeface="Times New Roman"/>
              </a:rPr>
              <a:t>A</a:t>
            </a:r>
            <a:r>
              <a:rPr sz="4000" spc="-360" dirty="0">
                <a:solidFill>
                  <a:srgbClr val="585858"/>
                </a:solidFill>
                <a:latin typeface="Times New Roman"/>
                <a:cs typeface="Times New Roman"/>
              </a:rPr>
              <a:t>d</a:t>
            </a:r>
            <a:r>
              <a:rPr sz="4000" spc="-409" dirty="0">
                <a:solidFill>
                  <a:srgbClr val="585858"/>
                </a:solidFill>
                <a:latin typeface="Times New Roman"/>
                <a:cs typeface="Times New Roman"/>
              </a:rPr>
              <a:t>v</a:t>
            </a:r>
            <a:r>
              <a:rPr sz="4000" spc="-235" dirty="0">
                <a:solidFill>
                  <a:srgbClr val="585858"/>
                </a:solidFill>
                <a:latin typeface="Times New Roman"/>
                <a:cs typeface="Times New Roman"/>
              </a:rPr>
              <a:t>a</a:t>
            </a:r>
            <a:r>
              <a:rPr sz="4000" spc="-275" dirty="0">
                <a:solidFill>
                  <a:srgbClr val="585858"/>
                </a:solidFill>
                <a:latin typeface="Times New Roman"/>
                <a:cs typeface="Times New Roman"/>
              </a:rPr>
              <a:t>n</a:t>
            </a:r>
            <a:r>
              <a:rPr sz="4000" spc="35" dirty="0">
                <a:solidFill>
                  <a:srgbClr val="585858"/>
                </a:solidFill>
                <a:latin typeface="Times New Roman"/>
                <a:cs typeface="Times New Roman"/>
              </a:rPr>
              <a:t>t</a:t>
            </a:r>
            <a:r>
              <a:rPr sz="4000" spc="-315" dirty="0">
                <a:solidFill>
                  <a:srgbClr val="585858"/>
                </a:solidFill>
                <a:latin typeface="Times New Roman"/>
                <a:cs typeface="Times New Roman"/>
              </a:rPr>
              <a:t>a</a:t>
            </a:r>
            <a:r>
              <a:rPr sz="4000" spc="-365" dirty="0">
                <a:solidFill>
                  <a:srgbClr val="585858"/>
                </a:solidFill>
                <a:latin typeface="Times New Roman"/>
                <a:cs typeface="Times New Roman"/>
              </a:rPr>
              <a:t>g</a:t>
            </a:r>
            <a:r>
              <a:rPr sz="4000" spc="-170" dirty="0">
                <a:solidFill>
                  <a:srgbClr val="585858"/>
                </a:solidFill>
                <a:latin typeface="Times New Roman"/>
                <a:cs typeface="Times New Roman"/>
              </a:rPr>
              <a:t>e</a:t>
            </a:r>
            <a:r>
              <a:rPr sz="4000" spc="-310" dirty="0">
                <a:solidFill>
                  <a:srgbClr val="585858"/>
                </a:solidFill>
                <a:latin typeface="Times New Roman"/>
                <a:cs typeface="Times New Roman"/>
              </a:rPr>
              <a:t>s</a:t>
            </a:r>
            <a:r>
              <a:rPr sz="4000" spc="-155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4000" spc="-220" dirty="0">
                <a:solidFill>
                  <a:srgbClr val="585858"/>
                </a:solidFill>
                <a:latin typeface="Times New Roman"/>
                <a:cs typeface="Times New Roman"/>
              </a:rPr>
              <a:t>and</a:t>
            </a:r>
            <a:r>
              <a:rPr sz="4000" spc="-80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4000" spc="-240" dirty="0">
                <a:solidFill>
                  <a:srgbClr val="585858"/>
                </a:solidFill>
                <a:latin typeface="Times New Roman"/>
                <a:cs typeface="Times New Roman"/>
              </a:rPr>
              <a:t>D</a:t>
            </a:r>
            <a:r>
              <a:rPr sz="4000" spc="-220" dirty="0">
                <a:solidFill>
                  <a:srgbClr val="585858"/>
                </a:solidFill>
                <a:latin typeface="Times New Roman"/>
                <a:cs typeface="Times New Roman"/>
              </a:rPr>
              <a:t>i</a:t>
            </a:r>
            <a:r>
              <a:rPr sz="4000" spc="-330" dirty="0">
                <a:solidFill>
                  <a:srgbClr val="585858"/>
                </a:solidFill>
                <a:latin typeface="Times New Roman"/>
                <a:cs typeface="Times New Roman"/>
              </a:rPr>
              <a:t>s</a:t>
            </a:r>
            <a:r>
              <a:rPr sz="4000" spc="-235" dirty="0">
                <a:solidFill>
                  <a:srgbClr val="585858"/>
                </a:solidFill>
                <a:latin typeface="Times New Roman"/>
                <a:cs typeface="Times New Roman"/>
              </a:rPr>
              <a:t>a</a:t>
            </a:r>
            <a:r>
              <a:rPr sz="4000" spc="-335" dirty="0">
                <a:solidFill>
                  <a:srgbClr val="585858"/>
                </a:solidFill>
                <a:latin typeface="Times New Roman"/>
                <a:cs typeface="Times New Roman"/>
              </a:rPr>
              <a:t>d</a:t>
            </a:r>
            <a:r>
              <a:rPr sz="4000" spc="-409" dirty="0">
                <a:solidFill>
                  <a:srgbClr val="585858"/>
                </a:solidFill>
                <a:latin typeface="Times New Roman"/>
                <a:cs typeface="Times New Roman"/>
              </a:rPr>
              <a:t>v</a:t>
            </a:r>
            <a:r>
              <a:rPr sz="4000" spc="-235" dirty="0">
                <a:solidFill>
                  <a:srgbClr val="585858"/>
                </a:solidFill>
                <a:latin typeface="Times New Roman"/>
                <a:cs typeface="Times New Roman"/>
              </a:rPr>
              <a:t>a</a:t>
            </a:r>
            <a:r>
              <a:rPr sz="4000" spc="-275" dirty="0">
                <a:solidFill>
                  <a:srgbClr val="585858"/>
                </a:solidFill>
                <a:latin typeface="Times New Roman"/>
                <a:cs typeface="Times New Roman"/>
              </a:rPr>
              <a:t>n</a:t>
            </a:r>
            <a:r>
              <a:rPr sz="4000" spc="35" dirty="0">
                <a:solidFill>
                  <a:srgbClr val="585858"/>
                </a:solidFill>
                <a:latin typeface="Times New Roman"/>
                <a:cs typeface="Times New Roman"/>
              </a:rPr>
              <a:t>t</a:t>
            </a:r>
            <a:r>
              <a:rPr sz="4000" spc="-315" dirty="0">
                <a:solidFill>
                  <a:srgbClr val="585858"/>
                </a:solidFill>
                <a:latin typeface="Times New Roman"/>
                <a:cs typeface="Times New Roman"/>
              </a:rPr>
              <a:t>a</a:t>
            </a:r>
            <a:r>
              <a:rPr sz="4000" spc="-365" dirty="0">
                <a:solidFill>
                  <a:srgbClr val="585858"/>
                </a:solidFill>
                <a:latin typeface="Times New Roman"/>
                <a:cs typeface="Times New Roman"/>
              </a:rPr>
              <a:t>g</a:t>
            </a:r>
            <a:r>
              <a:rPr sz="4000" spc="-170" dirty="0">
                <a:solidFill>
                  <a:srgbClr val="585858"/>
                </a:solidFill>
                <a:latin typeface="Times New Roman"/>
                <a:cs typeface="Times New Roman"/>
              </a:rPr>
              <a:t>e</a:t>
            </a:r>
            <a:r>
              <a:rPr sz="4000" spc="-310" dirty="0">
                <a:solidFill>
                  <a:srgbClr val="585858"/>
                </a:solidFill>
                <a:latin typeface="Times New Roman"/>
                <a:cs typeface="Times New Roman"/>
              </a:rPr>
              <a:t>s</a:t>
            </a:r>
            <a:r>
              <a:rPr sz="4000" spc="-165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4000" spc="-275" dirty="0">
                <a:solidFill>
                  <a:srgbClr val="585858"/>
                </a:solidFill>
                <a:latin typeface="Times New Roman"/>
                <a:cs typeface="Times New Roman"/>
              </a:rPr>
              <a:t>o</a:t>
            </a:r>
            <a:r>
              <a:rPr sz="4000" spc="-190" dirty="0">
                <a:solidFill>
                  <a:srgbClr val="585858"/>
                </a:solidFill>
                <a:latin typeface="Times New Roman"/>
                <a:cs typeface="Times New Roman"/>
              </a:rPr>
              <a:t>f</a:t>
            </a:r>
            <a:r>
              <a:rPr sz="4000" spc="-325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4000" spc="-320" dirty="0">
                <a:solidFill>
                  <a:srgbClr val="585858"/>
                </a:solidFill>
                <a:latin typeface="Times New Roman"/>
                <a:cs typeface="Times New Roman"/>
              </a:rPr>
              <a:t>R</a:t>
            </a:r>
            <a:r>
              <a:rPr sz="4000" spc="-190" dirty="0">
                <a:solidFill>
                  <a:srgbClr val="585858"/>
                </a:solidFill>
                <a:latin typeface="Times New Roman"/>
                <a:cs typeface="Times New Roman"/>
              </a:rPr>
              <a:t>ou</a:t>
            </a:r>
            <a:r>
              <a:rPr sz="4000" spc="25" dirty="0">
                <a:solidFill>
                  <a:srgbClr val="585858"/>
                </a:solidFill>
                <a:latin typeface="Times New Roman"/>
                <a:cs typeface="Times New Roman"/>
              </a:rPr>
              <a:t>t</a:t>
            </a:r>
            <a:r>
              <a:rPr sz="4000" spc="-185" dirty="0">
                <a:solidFill>
                  <a:srgbClr val="585858"/>
                </a:solidFill>
                <a:latin typeface="Times New Roman"/>
                <a:cs typeface="Times New Roman"/>
              </a:rPr>
              <a:t>e</a:t>
            </a:r>
            <a:r>
              <a:rPr sz="4000" spc="95" dirty="0">
                <a:solidFill>
                  <a:srgbClr val="585858"/>
                </a:solidFill>
                <a:latin typeface="Times New Roman"/>
                <a:cs typeface="Times New Roman"/>
              </a:rPr>
              <a:t>r</a:t>
            </a:r>
            <a:r>
              <a:rPr sz="4000" spc="-310" dirty="0">
                <a:solidFill>
                  <a:srgbClr val="585858"/>
                </a:solidFill>
                <a:latin typeface="Times New Roman"/>
                <a:cs typeface="Times New Roman"/>
              </a:rPr>
              <a:t>s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8130" y="848614"/>
            <a:ext cx="8470265" cy="5718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3000" spc="-215" dirty="0">
                <a:latin typeface="Times New Roman"/>
                <a:cs typeface="Times New Roman"/>
              </a:rPr>
              <a:t>Advantages</a:t>
            </a:r>
            <a:endParaRPr sz="3000">
              <a:latin typeface="Times New Roman"/>
              <a:cs typeface="Times New Roman"/>
            </a:endParaRPr>
          </a:p>
          <a:p>
            <a:pPr marL="707390" lvl="1" indent="-238125">
              <a:lnSpc>
                <a:spcPts val="3000"/>
              </a:lnSpc>
              <a:spcBef>
                <a:spcPts val="50"/>
              </a:spcBef>
              <a:buChar char="–"/>
              <a:tabLst>
                <a:tab pos="708025" algn="l"/>
              </a:tabLst>
            </a:pPr>
            <a:r>
              <a:rPr sz="2600" spc="-90" dirty="0">
                <a:latin typeface="Times New Roman"/>
                <a:cs typeface="Times New Roman"/>
              </a:rPr>
              <a:t>Routers</a:t>
            </a:r>
            <a:endParaRPr sz="2600">
              <a:latin typeface="Times New Roman"/>
              <a:cs typeface="Times New Roman"/>
            </a:endParaRPr>
          </a:p>
          <a:p>
            <a:pPr marL="756285" marR="1475740" indent="-287020">
              <a:lnSpc>
                <a:spcPts val="2800"/>
              </a:lnSpc>
              <a:spcBef>
                <a:spcPts val="240"/>
              </a:spcBef>
            </a:pPr>
            <a:r>
              <a:rPr sz="2600" spc="-125" dirty="0">
                <a:latin typeface="Times New Roman"/>
                <a:cs typeface="Times New Roman"/>
              </a:rPr>
              <a:t>-provide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Times New Roman"/>
                <a:cs typeface="Times New Roman"/>
              </a:rPr>
              <a:t>sophisticated</a:t>
            </a:r>
            <a:r>
              <a:rPr sz="2600" spc="-120" dirty="0">
                <a:latin typeface="Times New Roman"/>
                <a:cs typeface="Times New Roman"/>
              </a:rPr>
              <a:t> </a:t>
            </a:r>
            <a:r>
              <a:rPr sz="2600" spc="-75" dirty="0">
                <a:latin typeface="Times New Roman"/>
                <a:cs typeface="Times New Roman"/>
              </a:rPr>
              <a:t>routing,</a:t>
            </a:r>
            <a:r>
              <a:rPr sz="2600" spc="-210" dirty="0">
                <a:latin typeface="Times New Roman"/>
                <a:cs typeface="Times New Roman"/>
              </a:rPr>
              <a:t> </a:t>
            </a:r>
            <a:r>
              <a:rPr sz="2600" spc="-155" dirty="0">
                <a:latin typeface="Times New Roman"/>
                <a:cs typeface="Times New Roman"/>
              </a:rPr>
              <a:t>flow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55" dirty="0">
                <a:latin typeface="Times New Roman"/>
                <a:cs typeface="Times New Roman"/>
              </a:rPr>
              <a:t>control,</a:t>
            </a:r>
            <a:r>
              <a:rPr sz="2600" spc="-204" dirty="0">
                <a:latin typeface="Times New Roman"/>
                <a:cs typeface="Times New Roman"/>
              </a:rPr>
              <a:t> </a:t>
            </a:r>
            <a:r>
              <a:rPr sz="2600" spc="-145" dirty="0">
                <a:latin typeface="Times New Roman"/>
                <a:cs typeface="Times New Roman"/>
              </a:rPr>
              <a:t>and</a:t>
            </a:r>
            <a:r>
              <a:rPr sz="2600" spc="114" dirty="0">
                <a:latin typeface="Times New Roman"/>
                <a:cs typeface="Times New Roman"/>
              </a:rPr>
              <a:t> </a:t>
            </a:r>
            <a:r>
              <a:rPr sz="2600" spc="-130" dirty="0">
                <a:latin typeface="Times New Roman"/>
                <a:cs typeface="Times New Roman"/>
              </a:rPr>
              <a:t>traffic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isolation</a:t>
            </a:r>
            <a:endParaRPr sz="2600">
              <a:latin typeface="Times New Roman"/>
              <a:cs typeface="Times New Roman"/>
            </a:endParaRPr>
          </a:p>
          <a:p>
            <a:pPr marL="756285" marR="1817370" indent="-287020">
              <a:lnSpc>
                <a:spcPts val="2800"/>
              </a:lnSpc>
              <a:spcBef>
                <a:spcPts val="5"/>
              </a:spcBef>
            </a:pPr>
            <a:r>
              <a:rPr sz="2600" spc="-55" dirty="0">
                <a:latin typeface="Times New Roman"/>
                <a:cs typeface="Times New Roman"/>
              </a:rPr>
              <a:t>-</a:t>
            </a:r>
            <a:r>
              <a:rPr sz="2600" spc="-105" dirty="0">
                <a:latin typeface="Times New Roman"/>
                <a:cs typeface="Times New Roman"/>
              </a:rPr>
              <a:t>a</a:t>
            </a:r>
            <a:r>
              <a:rPr sz="2600" spc="-100" dirty="0">
                <a:latin typeface="Times New Roman"/>
                <a:cs typeface="Times New Roman"/>
              </a:rPr>
              <a:t>re </a:t>
            </a:r>
            <a:r>
              <a:rPr sz="2600" spc="-125" dirty="0">
                <a:latin typeface="Times New Roman"/>
                <a:cs typeface="Times New Roman"/>
              </a:rPr>
              <a:t>c</a:t>
            </a:r>
            <a:r>
              <a:rPr sz="2600" spc="-150" dirty="0">
                <a:latin typeface="Times New Roman"/>
                <a:cs typeface="Times New Roman"/>
              </a:rPr>
              <a:t>o</a:t>
            </a:r>
            <a:r>
              <a:rPr sz="2600" spc="-180" dirty="0">
                <a:latin typeface="Times New Roman"/>
                <a:cs typeface="Times New Roman"/>
              </a:rPr>
              <a:t>n</a:t>
            </a:r>
            <a:r>
              <a:rPr sz="2600" spc="-135" dirty="0">
                <a:latin typeface="Times New Roman"/>
                <a:cs typeface="Times New Roman"/>
              </a:rPr>
              <a:t>f</a:t>
            </a:r>
            <a:r>
              <a:rPr sz="2600" spc="-125" dirty="0">
                <a:latin typeface="Times New Roman"/>
                <a:cs typeface="Times New Roman"/>
              </a:rPr>
              <a:t>igura</a:t>
            </a:r>
            <a:r>
              <a:rPr sz="2600" spc="-195" dirty="0">
                <a:latin typeface="Times New Roman"/>
                <a:cs typeface="Times New Roman"/>
              </a:rPr>
              <a:t>b</a:t>
            </a:r>
            <a:r>
              <a:rPr sz="2600" spc="-114" dirty="0">
                <a:latin typeface="Times New Roman"/>
                <a:cs typeface="Times New Roman"/>
              </a:rPr>
              <a:t>l</a:t>
            </a:r>
            <a:r>
              <a:rPr sz="2600" spc="-165" dirty="0">
                <a:latin typeface="Times New Roman"/>
                <a:cs typeface="Times New Roman"/>
              </a:rPr>
              <a:t>e</a:t>
            </a:r>
            <a:r>
              <a:rPr sz="2600" spc="110" dirty="0">
                <a:latin typeface="Times New Roman"/>
                <a:cs typeface="Times New Roman"/>
              </a:rPr>
              <a:t>,</a:t>
            </a:r>
            <a:r>
              <a:rPr sz="2600" spc="-210" dirty="0">
                <a:latin typeface="Times New Roman"/>
                <a:cs typeface="Times New Roman"/>
              </a:rPr>
              <a:t> </a:t>
            </a:r>
            <a:r>
              <a:rPr sz="2600" spc="-155" dirty="0">
                <a:latin typeface="Times New Roman"/>
                <a:cs typeface="Times New Roman"/>
              </a:rPr>
              <a:t>w</a:t>
            </a:r>
            <a:r>
              <a:rPr sz="2600" spc="-175" dirty="0">
                <a:latin typeface="Times New Roman"/>
                <a:cs typeface="Times New Roman"/>
              </a:rPr>
              <a:t>h</a:t>
            </a:r>
            <a:r>
              <a:rPr sz="2600" spc="-140" dirty="0">
                <a:latin typeface="Times New Roman"/>
                <a:cs typeface="Times New Roman"/>
              </a:rPr>
              <a:t>i</a:t>
            </a:r>
            <a:r>
              <a:rPr sz="2600" spc="-130" dirty="0">
                <a:latin typeface="Times New Roman"/>
                <a:cs typeface="Times New Roman"/>
              </a:rPr>
              <a:t>c</a:t>
            </a:r>
            <a:r>
              <a:rPr sz="2600" spc="-160" dirty="0">
                <a:latin typeface="Times New Roman"/>
                <a:cs typeface="Times New Roman"/>
              </a:rPr>
              <a:t>h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220" dirty="0">
                <a:latin typeface="Times New Roman"/>
                <a:cs typeface="Times New Roman"/>
              </a:rPr>
              <a:t>a</a:t>
            </a:r>
            <a:r>
              <a:rPr sz="2600" spc="-114" dirty="0">
                <a:latin typeface="Times New Roman"/>
                <a:cs typeface="Times New Roman"/>
              </a:rPr>
              <a:t>ll</a:t>
            </a:r>
            <a:r>
              <a:rPr sz="2600" spc="-200" dirty="0">
                <a:latin typeface="Times New Roman"/>
                <a:cs typeface="Times New Roman"/>
              </a:rPr>
              <a:t>o</a:t>
            </a:r>
            <a:r>
              <a:rPr sz="2600" spc="-155" dirty="0">
                <a:latin typeface="Times New Roman"/>
                <a:cs typeface="Times New Roman"/>
              </a:rPr>
              <a:t>w</a:t>
            </a:r>
            <a:r>
              <a:rPr sz="2600" spc="-200" dirty="0">
                <a:latin typeface="Times New Roman"/>
                <a:cs typeface="Times New Roman"/>
              </a:rPr>
              <a:t>s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30" dirty="0">
                <a:latin typeface="Times New Roman"/>
                <a:cs typeface="Times New Roman"/>
              </a:rPr>
              <a:t>n</a:t>
            </a:r>
            <a:r>
              <a:rPr sz="2600" spc="-114" dirty="0">
                <a:latin typeface="Times New Roman"/>
                <a:cs typeface="Times New Roman"/>
              </a:rPr>
              <a:t>e</a:t>
            </a:r>
            <a:r>
              <a:rPr sz="2600" spc="15" dirty="0">
                <a:latin typeface="Times New Roman"/>
                <a:cs typeface="Times New Roman"/>
              </a:rPr>
              <a:t>t</a:t>
            </a:r>
            <a:r>
              <a:rPr sz="2600" spc="-250" dirty="0">
                <a:latin typeface="Times New Roman"/>
                <a:cs typeface="Times New Roman"/>
              </a:rPr>
              <a:t>w</a:t>
            </a:r>
            <a:r>
              <a:rPr sz="2600" spc="-130" dirty="0">
                <a:latin typeface="Times New Roman"/>
                <a:cs typeface="Times New Roman"/>
              </a:rPr>
              <a:t>o</a:t>
            </a:r>
            <a:r>
              <a:rPr sz="2600" spc="-60" dirty="0">
                <a:latin typeface="Times New Roman"/>
                <a:cs typeface="Times New Roman"/>
              </a:rPr>
              <a:t>r</a:t>
            </a:r>
            <a:r>
              <a:rPr sz="2600" spc="-80" dirty="0">
                <a:latin typeface="Times New Roman"/>
                <a:cs typeface="Times New Roman"/>
              </a:rPr>
              <a:t>k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185" dirty="0">
                <a:latin typeface="Times New Roman"/>
                <a:cs typeface="Times New Roman"/>
              </a:rPr>
              <a:t>mana</a:t>
            </a:r>
            <a:r>
              <a:rPr sz="2600" spc="-180" dirty="0">
                <a:latin typeface="Times New Roman"/>
                <a:cs typeface="Times New Roman"/>
              </a:rPr>
              <a:t>g</a:t>
            </a:r>
            <a:r>
              <a:rPr sz="2600" spc="-35" dirty="0">
                <a:latin typeface="Times New Roman"/>
                <a:cs typeface="Times New Roman"/>
              </a:rPr>
              <a:t>er</a:t>
            </a:r>
            <a:r>
              <a:rPr sz="2600" spc="130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Times New Roman"/>
                <a:cs typeface="Times New Roman"/>
              </a:rPr>
              <a:t>to  </a:t>
            </a:r>
            <a:r>
              <a:rPr sz="2600" spc="-165" dirty="0">
                <a:latin typeface="Times New Roman"/>
                <a:cs typeface="Times New Roman"/>
              </a:rPr>
              <a:t>m</a:t>
            </a:r>
            <a:r>
              <a:rPr sz="2600" spc="-225" dirty="0">
                <a:latin typeface="Times New Roman"/>
                <a:cs typeface="Times New Roman"/>
              </a:rPr>
              <a:t>a</a:t>
            </a:r>
            <a:r>
              <a:rPr sz="2600" spc="-210" dirty="0">
                <a:latin typeface="Times New Roman"/>
                <a:cs typeface="Times New Roman"/>
              </a:rPr>
              <a:t>k</a:t>
            </a:r>
            <a:r>
              <a:rPr sz="2600" spc="-100" dirty="0">
                <a:latin typeface="Times New Roman"/>
                <a:cs typeface="Times New Roman"/>
              </a:rPr>
              <a:t>e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p</a:t>
            </a:r>
            <a:r>
              <a:rPr sz="2600" spc="-125" dirty="0">
                <a:latin typeface="Times New Roman"/>
                <a:cs typeface="Times New Roman"/>
              </a:rPr>
              <a:t>o</a:t>
            </a:r>
            <a:r>
              <a:rPr sz="2600" spc="-110" dirty="0">
                <a:latin typeface="Times New Roman"/>
                <a:cs typeface="Times New Roman"/>
              </a:rPr>
              <a:t>li</a:t>
            </a:r>
            <a:r>
              <a:rPr sz="2600" spc="-145" dirty="0">
                <a:latin typeface="Times New Roman"/>
                <a:cs typeface="Times New Roman"/>
              </a:rPr>
              <a:t>c</a:t>
            </a:r>
            <a:r>
              <a:rPr sz="2600" spc="-215" dirty="0">
                <a:latin typeface="Times New Roman"/>
                <a:cs typeface="Times New Roman"/>
              </a:rPr>
              <a:t>y</a:t>
            </a:r>
            <a:r>
              <a:rPr sz="2600" spc="-95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based</a:t>
            </a:r>
            <a:r>
              <a:rPr sz="2600" spc="-110" dirty="0">
                <a:latin typeface="Times New Roman"/>
                <a:cs typeface="Times New Roman"/>
              </a:rPr>
              <a:t> on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Times New Roman"/>
                <a:cs typeface="Times New Roman"/>
              </a:rPr>
              <a:t>r</a:t>
            </a:r>
            <a:r>
              <a:rPr sz="2600" spc="-110" dirty="0">
                <a:latin typeface="Times New Roman"/>
                <a:cs typeface="Times New Roman"/>
              </a:rPr>
              <a:t>o</a:t>
            </a:r>
            <a:r>
              <a:rPr sz="2600" spc="-125" dirty="0">
                <a:latin typeface="Times New Roman"/>
                <a:cs typeface="Times New Roman"/>
              </a:rPr>
              <a:t>u</a:t>
            </a:r>
            <a:r>
              <a:rPr sz="2600" spc="-105" dirty="0">
                <a:latin typeface="Times New Roman"/>
                <a:cs typeface="Times New Roman"/>
              </a:rPr>
              <a:t>ting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Times New Roman"/>
                <a:cs typeface="Times New Roman"/>
              </a:rPr>
              <a:t>de</a:t>
            </a:r>
            <a:r>
              <a:rPr sz="2600" spc="-130" dirty="0">
                <a:latin typeface="Times New Roman"/>
                <a:cs typeface="Times New Roman"/>
              </a:rPr>
              <a:t>c</a:t>
            </a:r>
            <a:r>
              <a:rPr sz="2600" spc="-160" dirty="0">
                <a:latin typeface="Times New Roman"/>
                <a:cs typeface="Times New Roman"/>
              </a:rPr>
              <a:t>is</a:t>
            </a:r>
            <a:r>
              <a:rPr sz="2600" spc="-130" dirty="0">
                <a:latin typeface="Times New Roman"/>
                <a:cs typeface="Times New Roman"/>
              </a:rPr>
              <a:t>i</a:t>
            </a:r>
            <a:r>
              <a:rPr sz="2600" spc="-110" dirty="0">
                <a:latin typeface="Times New Roman"/>
                <a:cs typeface="Times New Roman"/>
              </a:rPr>
              <a:t>o</a:t>
            </a:r>
            <a:r>
              <a:rPr sz="2600" spc="-135" dirty="0">
                <a:latin typeface="Times New Roman"/>
                <a:cs typeface="Times New Roman"/>
              </a:rPr>
              <a:t>n</a:t>
            </a:r>
            <a:r>
              <a:rPr sz="2600" spc="-200" dirty="0">
                <a:latin typeface="Times New Roman"/>
                <a:cs typeface="Times New Roman"/>
              </a:rPr>
              <a:t>s</a:t>
            </a:r>
            <a:endParaRPr sz="2600">
              <a:latin typeface="Times New Roman"/>
              <a:cs typeface="Times New Roman"/>
            </a:endParaRPr>
          </a:p>
          <a:p>
            <a:pPr marL="469900">
              <a:lnSpc>
                <a:spcPts val="2950"/>
              </a:lnSpc>
            </a:pPr>
            <a:r>
              <a:rPr sz="2600" spc="-55" dirty="0">
                <a:latin typeface="Times New Roman"/>
                <a:cs typeface="Times New Roman"/>
              </a:rPr>
              <a:t>-</a:t>
            </a:r>
            <a:r>
              <a:rPr sz="2600" spc="-120" dirty="0">
                <a:latin typeface="Times New Roman"/>
                <a:cs typeface="Times New Roman"/>
              </a:rPr>
              <a:t>all</a:t>
            </a:r>
            <a:r>
              <a:rPr sz="2600" spc="-254" dirty="0">
                <a:latin typeface="Times New Roman"/>
                <a:cs typeface="Times New Roman"/>
              </a:rPr>
              <a:t>o</a:t>
            </a:r>
            <a:r>
              <a:rPr sz="2600" spc="-145" dirty="0">
                <a:latin typeface="Times New Roman"/>
                <a:cs typeface="Times New Roman"/>
              </a:rPr>
              <a:t>w</a:t>
            </a:r>
            <a:r>
              <a:rPr sz="2600" spc="-110" dirty="0">
                <a:latin typeface="Times New Roman"/>
                <a:cs typeface="Times New Roman"/>
              </a:rPr>
              <a:t> </a:t>
            </a:r>
            <a:r>
              <a:rPr sz="2600" spc="-225" dirty="0">
                <a:latin typeface="Times New Roman"/>
                <a:cs typeface="Times New Roman"/>
              </a:rPr>
              <a:t>a</a:t>
            </a:r>
            <a:r>
              <a:rPr sz="2600" spc="-175" dirty="0">
                <a:latin typeface="Times New Roman"/>
                <a:cs typeface="Times New Roman"/>
              </a:rPr>
              <a:t>c</a:t>
            </a:r>
            <a:r>
              <a:rPr sz="2600" spc="15" dirty="0">
                <a:latin typeface="Times New Roman"/>
                <a:cs typeface="Times New Roman"/>
              </a:rPr>
              <a:t>t</a:t>
            </a:r>
            <a:r>
              <a:rPr sz="2600" spc="-140" dirty="0">
                <a:latin typeface="Times New Roman"/>
                <a:cs typeface="Times New Roman"/>
              </a:rPr>
              <a:t>i</a:t>
            </a:r>
            <a:r>
              <a:rPr sz="2600" spc="-285" dirty="0">
                <a:latin typeface="Times New Roman"/>
                <a:cs typeface="Times New Roman"/>
              </a:rPr>
              <a:t>v</a:t>
            </a:r>
            <a:r>
              <a:rPr sz="2600" spc="-100" dirty="0">
                <a:latin typeface="Times New Roman"/>
                <a:cs typeface="Times New Roman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00" dirty="0">
                <a:latin typeface="Times New Roman"/>
                <a:cs typeface="Times New Roman"/>
              </a:rPr>
              <a:t>lo</a:t>
            </a:r>
            <a:r>
              <a:rPr sz="2600" spc="-140" dirty="0">
                <a:latin typeface="Times New Roman"/>
                <a:cs typeface="Times New Roman"/>
              </a:rPr>
              <a:t>o</a:t>
            </a:r>
            <a:r>
              <a:rPr sz="2600" spc="-155" dirty="0">
                <a:latin typeface="Times New Roman"/>
                <a:cs typeface="Times New Roman"/>
              </a:rPr>
              <a:t>ps</a:t>
            </a:r>
            <a:r>
              <a:rPr sz="2600" spc="-105" dirty="0">
                <a:latin typeface="Times New Roman"/>
                <a:cs typeface="Times New Roman"/>
              </a:rPr>
              <a:t> </a:t>
            </a:r>
            <a:r>
              <a:rPr sz="2600" spc="-155" dirty="0">
                <a:latin typeface="Times New Roman"/>
                <a:cs typeface="Times New Roman"/>
              </a:rPr>
              <a:t>so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105" dirty="0">
                <a:latin typeface="Times New Roman"/>
                <a:cs typeface="Times New Roman"/>
              </a:rPr>
              <a:t>th</a:t>
            </a:r>
            <a:r>
              <a:rPr sz="2600" spc="-155" dirty="0">
                <a:latin typeface="Times New Roman"/>
                <a:cs typeface="Times New Roman"/>
              </a:rPr>
              <a:t>a</a:t>
            </a:r>
            <a:r>
              <a:rPr sz="2600" spc="35" dirty="0">
                <a:latin typeface="Times New Roman"/>
                <a:cs typeface="Times New Roman"/>
              </a:rPr>
              <a:t>t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Times New Roman"/>
                <a:cs typeface="Times New Roman"/>
              </a:rPr>
              <a:t>r</a:t>
            </a:r>
            <a:r>
              <a:rPr sz="2600" spc="-105" dirty="0">
                <a:latin typeface="Times New Roman"/>
                <a:cs typeface="Times New Roman"/>
              </a:rPr>
              <a:t>ed</a:t>
            </a:r>
            <a:r>
              <a:rPr sz="2600" spc="-120" dirty="0">
                <a:latin typeface="Times New Roman"/>
                <a:cs typeface="Times New Roman"/>
              </a:rPr>
              <a:t>u</a:t>
            </a:r>
            <a:r>
              <a:rPr sz="2600" spc="-110" dirty="0">
                <a:latin typeface="Times New Roman"/>
                <a:cs typeface="Times New Roman"/>
              </a:rPr>
              <a:t>n</a:t>
            </a:r>
            <a:r>
              <a:rPr sz="2600" spc="-135" dirty="0">
                <a:latin typeface="Times New Roman"/>
                <a:cs typeface="Times New Roman"/>
              </a:rPr>
              <a:t>d</a:t>
            </a:r>
            <a:r>
              <a:rPr sz="2600" spc="-114" dirty="0">
                <a:latin typeface="Times New Roman"/>
                <a:cs typeface="Times New Roman"/>
              </a:rPr>
              <a:t>an</a:t>
            </a:r>
            <a:r>
              <a:rPr sz="2600" spc="-65" dirty="0">
                <a:latin typeface="Times New Roman"/>
                <a:cs typeface="Times New Roman"/>
              </a:rPr>
              <a:t>t</a:t>
            </a:r>
            <a:r>
              <a:rPr sz="2600" spc="-125" dirty="0">
                <a:latin typeface="Times New Roman"/>
                <a:cs typeface="Times New Roman"/>
              </a:rPr>
              <a:t> </a:t>
            </a:r>
            <a:r>
              <a:rPr sz="2600" spc="-165" dirty="0">
                <a:latin typeface="Times New Roman"/>
                <a:cs typeface="Times New Roman"/>
              </a:rPr>
              <a:t>p</a:t>
            </a:r>
            <a:r>
              <a:rPr sz="2600" spc="-185" dirty="0">
                <a:latin typeface="Times New Roman"/>
                <a:cs typeface="Times New Roman"/>
              </a:rPr>
              <a:t>a</a:t>
            </a:r>
            <a:r>
              <a:rPr sz="2600" spc="-110" dirty="0">
                <a:latin typeface="Times New Roman"/>
                <a:cs typeface="Times New Roman"/>
              </a:rPr>
              <a:t>ths</a:t>
            </a:r>
            <a:r>
              <a:rPr sz="2600" spc="-95" dirty="0">
                <a:latin typeface="Times New Roman"/>
                <a:cs typeface="Times New Roman"/>
              </a:rPr>
              <a:t> </a:t>
            </a:r>
            <a:r>
              <a:rPr sz="2600" spc="-105" dirty="0">
                <a:latin typeface="Times New Roman"/>
                <a:cs typeface="Times New Roman"/>
              </a:rPr>
              <a:t>a</a:t>
            </a:r>
            <a:r>
              <a:rPr sz="2600" spc="-100" dirty="0">
                <a:latin typeface="Times New Roman"/>
                <a:cs typeface="Times New Roman"/>
              </a:rPr>
              <a:t>re</a:t>
            </a:r>
            <a:r>
              <a:rPr sz="2600" spc="145" dirty="0">
                <a:latin typeface="Times New Roman"/>
                <a:cs typeface="Times New Roman"/>
              </a:rPr>
              <a:t> </a:t>
            </a:r>
            <a:r>
              <a:rPr sz="2600" spc="-295" dirty="0">
                <a:latin typeface="Times New Roman"/>
                <a:cs typeface="Times New Roman"/>
              </a:rPr>
              <a:t>a</a:t>
            </a:r>
            <a:r>
              <a:rPr sz="2600" spc="-270" dirty="0">
                <a:latin typeface="Times New Roman"/>
                <a:cs typeface="Times New Roman"/>
              </a:rPr>
              <a:t>v</a:t>
            </a:r>
            <a:r>
              <a:rPr sz="2600" spc="-225" dirty="0">
                <a:latin typeface="Times New Roman"/>
                <a:cs typeface="Times New Roman"/>
              </a:rPr>
              <a:t>a</a:t>
            </a:r>
            <a:r>
              <a:rPr sz="2600" spc="-140" dirty="0">
                <a:latin typeface="Times New Roman"/>
                <a:cs typeface="Times New Roman"/>
              </a:rPr>
              <a:t>i</a:t>
            </a:r>
            <a:r>
              <a:rPr sz="2600" spc="-114" dirty="0">
                <a:latin typeface="Times New Roman"/>
                <a:cs typeface="Times New Roman"/>
              </a:rPr>
              <a:t>l</a:t>
            </a:r>
            <a:r>
              <a:rPr sz="2600" spc="-225" dirty="0">
                <a:latin typeface="Times New Roman"/>
                <a:cs typeface="Times New Roman"/>
              </a:rPr>
              <a:t>a</a:t>
            </a:r>
            <a:r>
              <a:rPr sz="2600" spc="-185" dirty="0">
                <a:latin typeface="Times New Roman"/>
                <a:cs typeface="Times New Roman"/>
              </a:rPr>
              <a:t>b</a:t>
            </a:r>
            <a:r>
              <a:rPr sz="2600" spc="-114" dirty="0">
                <a:latin typeface="Times New Roman"/>
                <a:cs typeface="Times New Roman"/>
              </a:rPr>
              <a:t>l</a:t>
            </a:r>
            <a:r>
              <a:rPr sz="2600" spc="-100" dirty="0">
                <a:latin typeface="Times New Roman"/>
                <a:cs typeface="Times New Roman"/>
              </a:rPr>
              <a:t>e</a:t>
            </a:r>
            <a:endParaRPr sz="2600">
              <a:latin typeface="Times New Roman"/>
              <a:cs typeface="Times New Roman"/>
            </a:endParaRPr>
          </a:p>
          <a:p>
            <a:pPr marL="356870" indent="-344805">
              <a:lnSpc>
                <a:spcPts val="3570"/>
              </a:lnSpc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3000" spc="-200" dirty="0">
                <a:latin typeface="Times New Roman"/>
                <a:cs typeface="Times New Roman"/>
              </a:rPr>
              <a:t>Disadvantages</a:t>
            </a:r>
            <a:endParaRPr sz="3000">
              <a:latin typeface="Times New Roman"/>
              <a:cs typeface="Times New Roman"/>
            </a:endParaRPr>
          </a:p>
          <a:p>
            <a:pPr marL="756285" lvl="1" indent="-287020">
              <a:lnSpc>
                <a:spcPts val="3000"/>
              </a:lnSpc>
              <a:spcBef>
                <a:spcPts val="65"/>
              </a:spcBef>
              <a:buChar char="–"/>
              <a:tabLst>
                <a:tab pos="756920" algn="l"/>
              </a:tabLst>
            </a:pPr>
            <a:r>
              <a:rPr sz="2600" spc="-90" dirty="0">
                <a:latin typeface="Times New Roman"/>
                <a:cs typeface="Times New Roman"/>
              </a:rPr>
              <a:t>Routers</a:t>
            </a:r>
            <a:endParaRPr sz="2600">
              <a:latin typeface="Times New Roman"/>
              <a:cs typeface="Times New Roman"/>
            </a:endParaRPr>
          </a:p>
          <a:p>
            <a:pPr marL="756285" marR="1378585" lvl="1" indent="-287020">
              <a:lnSpc>
                <a:spcPts val="2800"/>
              </a:lnSpc>
              <a:spcBef>
                <a:spcPts val="240"/>
              </a:spcBef>
              <a:buChar char="–"/>
              <a:tabLst>
                <a:tab pos="756920" algn="l"/>
              </a:tabLst>
            </a:pPr>
            <a:r>
              <a:rPr sz="2600" spc="-100" dirty="0">
                <a:latin typeface="Times New Roman"/>
                <a:cs typeface="Times New Roman"/>
              </a:rPr>
              <a:t>are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95" dirty="0">
                <a:latin typeface="Times New Roman"/>
                <a:cs typeface="Times New Roman"/>
              </a:rPr>
              <a:t>protocol-dependent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spc="-165" dirty="0">
                <a:latin typeface="Times New Roman"/>
                <a:cs typeface="Times New Roman"/>
              </a:rPr>
              <a:t>devices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85" dirty="0">
                <a:latin typeface="Times New Roman"/>
                <a:cs typeface="Times New Roman"/>
              </a:rPr>
              <a:t>that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14" dirty="0">
                <a:latin typeface="Times New Roman"/>
                <a:cs typeface="Times New Roman"/>
              </a:rPr>
              <a:t>must</a:t>
            </a:r>
            <a:r>
              <a:rPr sz="2600" spc="75" dirty="0">
                <a:latin typeface="Times New Roman"/>
                <a:cs typeface="Times New Roman"/>
              </a:rPr>
              <a:t> </a:t>
            </a:r>
            <a:r>
              <a:rPr sz="2600" spc="-100" dirty="0">
                <a:latin typeface="Times New Roman"/>
                <a:cs typeface="Times New Roman"/>
              </a:rPr>
              <a:t>understand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-75" dirty="0">
                <a:latin typeface="Times New Roman"/>
                <a:cs typeface="Times New Roman"/>
              </a:rPr>
              <a:t>the</a:t>
            </a:r>
            <a:r>
              <a:rPr sz="2600" spc="-95" dirty="0">
                <a:latin typeface="Times New Roman"/>
                <a:cs typeface="Times New Roman"/>
              </a:rPr>
              <a:t> </a:t>
            </a:r>
            <a:r>
              <a:rPr sz="2600" spc="-50" dirty="0">
                <a:latin typeface="Times New Roman"/>
                <a:cs typeface="Times New Roman"/>
              </a:rPr>
              <a:t>p</a:t>
            </a:r>
            <a:r>
              <a:rPr sz="2600" spc="-60" dirty="0">
                <a:latin typeface="Times New Roman"/>
                <a:cs typeface="Times New Roman"/>
              </a:rPr>
              <a:t>r</a:t>
            </a:r>
            <a:r>
              <a:rPr sz="2600" spc="-45" dirty="0">
                <a:latin typeface="Times New Roman"/>
                <a:cs typeface="Times New Roman"/>
              </a:rPr>
              <a:t>o</a:t>
            </a:r>
            <a:r>
              <a:rPr sz="2600" spc="-35" dirty="0">
                <a:latin typeface="Times New Roman"/>
                <a:cs typeface="Times New Roman"/>
              </a:rPr>
              <a:t>t</a:t>
            </a:r>
            <a:r>
              <a:rPr sz="2600" spc="-140" dirty="0">
                <a:latin typeface="Times New Roman"/>
                <a:cs typeface="Times New Roman"/>
              </a:rPr>
              <a:t>oc</a:t>
            </a:r>
            <a:r>
              <a:rPr sz="2600" spc="-105" dirty="0">
                <a:latin typeface="Times New Roman"/>
                <a:cs typeface="Times New Roman"/>
              </a:rPr>
              <a:t>ol </a:t>
            </a:r>
            <a:r>
              <a:rPr sz="2600" spc="-70" dirty="0">
                <a:latin typeface="Times New Roman"/>
                <a:cs typeface="Times New Roman"/>
              </a:rPr>
              <a:t>th</a:t>
            </a:r>
            <a:r>
              <a:rPr sz="2600" spc="-125" dirty="0">
                <a:latin typeface="Times New Roman"/>
                <a:cs typeface="Times New Roman"/>
              </a:rPr>
              <a:t>e</a:t>
            </a:r>
            <a:r>
              <a:rPr sz="2600" spc="-215" dirty="0">
                <a:latin typeface="Times New Roman"/>
                <a:cs typeface="Times New Roman"/>
              </a:rPr>
              <a:t>y</a:t>
            </a:r>
            <a:r>
              <a:rPr sz="2600" spc="-95" dirty="0">
                <a:latin typeface="Times New Roman"/>
                <a:cs typeface="Times New Roman"/>
              </a:rPr>
              <a:t> </a:t>
            </a:r>
            <a:r>
              <a:rPr sz="2600" spc="-105" dirty="0">
                <a:latin typeface="Times New Roman"/>
                <a:cs typeface="Times New Roman"/>
              </a:rPr>
              <a:t>a</a:t>
            </a:r>
            <a:r>
              <a:rPr sz="2600" spc="-100" dirty="0">
                <a:latin typeface="Times New Roman"/>
                <a:cs typeface="Times New Roman"/>
              </a:rPr>
              <a:t>re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spc="-210" dirty="0">
                <a:latin typeface="Times New Roman"/>
                <a:cs typeface="Times New Roman"/>
              </a:rPr>
              <a:t>f</a:t>
            </a:r>
            <a:r>
              <a:rPr sz="2600" spc="-130" dirty="0">
                <a:latin typeface="Times New Roman"/>
                <a:cs typeface="Times New Roman"/>
              </a:rPr>
              <a:t>o</a:t>
            </a:r>
            <a:r>
              <a:rPr sz="2600" spc="-40" dirty="0">
                <a:latin typeface="Times New Roman"/>
                <a:cs typeface="Times New Roman"/>
              </a:rPr>
              <a:t>r</a:t>
            </a:r>
            <a:r>
              <a:rPr sz="2600" spc="-125" dirty="0">
                <a:latin typeface="Times New Roman"/>
                <a:cs typeface="Times New Roman"/>
              </a:rPr>
              <a:t>w</a:t>
            </a:r>
            <a:r>
              <a:rPr sz="2600" spc="-225" dirty="0">
                <a:latin typeface="Times New Roman"/>
                <a:cs typeface="Times New Roman"/>
              </a:rPr>
              <a:t>a</a:t>
            </a:r>
            <a:r>
              <a:rPr sz="2600" spc="-40" dirty="0">
                <a:latin typeface="Times New Roman"/>
                <a:cs typeface="Times New Roman"/>
              </a:rPr>
              <a:t>r</a:t>
            </a:r>
            <a:r>
              <a:rPr sz="2600" spc="-75" dirty="0">
                <a:latin typeface="Times New Roman"/>
                <a:cs typeface="Times New Roman"/>
              </a:rPr>
              <a:t>d</a:t>
            </a:r>
            <a:r>
              <a:rPr sz="2600" spc="-140" dirty="0">
                <a:latin typeface="Times New Roman"/>
                <a:cs typeface="Times New Roman"/>
              </a:rPr>
              <a:t>i</a:t>
            </a:r>
            <a:r>
              <a:rPr sz="2600" spc="-130" dirty="0">
                <a:latin typeface="Times New Roman"/>
                <a:cs typeface="Times New Roman"/>
              </a:rPr>
              <a:t>n</a:t>
            </a:r>
            <a:r>
              <a:rPr sz="2600" spc="-459" dirty="0">
                <a:latin typeface="Times New Roman"/>
                <a:cs typeface="Times New Roman"/>
              </a:rPr>
              <a:t>g</a:t>
            </a:r>
            <a:r>
              <a:rPr sz="2600" spc="110" dirty="0">
                <a:latin typeface="Times New Roman"/>
                <a:cs typeface="Times New Roman"/>
              </a:rPr>
              <a:t>.</a:t>
            </a:r>
            <a:endParaRPr sz="2600">
              <a:latin typeface="Times New Roman"/>
              <a:cs typeface="Times New Roman"/>
            </a:endParaRPr>
          </a:p>
          <a:p>
            <a:pPr marL="756285" lvl="1" indent="-287020">
              <a:lnSpc>
                <a:spcPts val="2600"/>
              </a:lnSpc>
              <a:buChar char="–"/>
              <a:tabLst>
                <a:tab pos="756920" algn="l"/>
              </a:tabLst>
            </a:pPr>
            <a:r>
              <a:rPr sz="2600" spc="-180" dirty="0">
                <a:latin typeface="Times New Roman"/>
                <a:cs typeface="Times New Roman"/>
              </a:rPr>
              <a:t>c</a:t>
            </a:r>
            <a:r>
              <a:rPr sz="2600" spc="-190" dirty="0">
                <a:latin typeface="Times New Roman"/>
                <a:cs typeface="Times New Roman"/>
              </a:rPr>
              <a:t>a</a:t>
            </a:r>
            <a:r>
              <a:rPr sz="2600" spc="-110" dirty="0">
                <a:latin typeface="Times New Roman"/>
                <a:cs typeface="Times New Roman"/>
              </a:rPr>
              <a:t>n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Times New Roman"/>
                <a:cs typeface="Times New Roman"/>
              </a:rPr>
              <a:t>r</a:t>
            </a:r>
            <a:r>
              <a:rPr sz="2600" spc="-110" dirty="0">
                <a:latin typeface="Times New Roman"/>
                <a:cs typeface="Times New Roman"/>
              </a:rPr>
              <a:t>eq</a:t>
            </a:r>
            <a:r>
              <a:rPr sz="2600" spc="-130" dirty="0">
                <a:latin typeface="Times New Roman"/>
                <a:cs typeface="Times New Roman"/>
              </a:rPr>
              <a:t>u</a:t>
            </a:r>
            <a:r>
              <a:rPr sz="2600" spc="-45" dirty="0">
                <a:latin typeface="Times New Roman"/>
                <a:cs typeface="Times New Roman"/>
              </a:rPr>
              <a:t>i</a:t>
            </a:r>
            <a:r>
              <a:rPr sz="2600" spc="-85" dirty="0">
                <a:latin typeface="Times New Roman"/>
                <a:cs typeface="Times New Roman"/>
              </a:rPr>
              <a:t>r</a:t>
            </a:r>
            <a:r>
              <a:rPr sz="2600" spc="-100" dirty="0">
                <a:latin typeface="Times New Roman"/>
                <a:cs typeface="Times New Roman"/>
              </a:rPr>
              <a:t>e</a:t>
            </a:r>
            <a:r>
              <a:rPr sz="2600" spc="-110" dirty="0">
                <a:latin typeface="Times New Roman"/>
                <a:cs typeface="Times New Roman"/>
              </a:rPr>
              <a:t> </a:t>
            </a:r>
            <a:r>
              <a:rPr sz="2600" spc="-204" dirty="0">
                <a:latin typeface="Times New Roman"/>
                <a:cs typeface="Times New Roman"/>
              </a:rPr>
              <a:t>a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Times New Roman"/>
                <a:cs typeface="Times New Roman"/>
              </a:rPr>
              <a:t>c</a:t>
            </a:r>
            <a:r>
              <a:rPr sz="2600" spc="-155" dirty="0">
                <a:latin typeface="Times New Roman"/>
                <a:cs typeface="Times New Roman"/>
              </a:rPr>
              <a:t>o</a:t>
            </a:r>
            <a:r>
              <a:rPr sz="2600" spc="-125" dirty="0">
                <a:latin typeface="Times New Roman"/>
                <a:cs typeface="Times New Roman"/>
              </a:rPr>
              <a:t>nsi</a:t>
            </a:r>
            <a:r>
              <a:rPr sz="2600" spc="-175" dirty="0">
                <a:latin typeface="Times New Roman"/>
                <a:cs typeface="Times New Roman"/>
              </a:rPr>
              <a:t>d</a:t>
            </a:r>
            <a:r>
              <a:rPr sz="2600" spc="-40" dirty="0">
                <a:latin typeface="Times New Roman"/>
                <a:cs typeface="Times New Roman"/>
              </a:rPr>
              <a:t>er</a:t>
            </a:r>
            <a:r>
              <a:rPr sz="2600" spc="-165" dirty="0">
                <a:latin typeface="Times New Roman"/>
                <a:cs typeface="Times New Roman"/>
              </a:rPr>
              <a:t>a</a:t>
            </a:r>
            <a:r>
              <a:rPr sz="2600" spc="-240" dirty="0">
                <a:latin typeface="Times New Roman"/>
                <a:cs typeface="Times New Roman"/>
              </a:rPr>
              <a:t>b</a:t>
            </a:r>
            <a:r>
              <a:rPr sz="2600" spc="-80" dirty="0">
                <a:latin typeface="Times New Roman"/>
                <a:cs typeface="Times New Roman"/>
              </a:rPr>
              <a:t>l</a:t>
            </a:r>
            <a:r>
              <a:rPr sz="2600" spc="-120" dirty="0">
                <a:latin typeface="Times New Roman"/>
                <a:cs typeface="Times New Roman"/>
              </a:rPr>
              <a:t>e</a:t>
            </a:r>
            <a:r>
              <a:rPr sz="2600" spc="-114" dirty="0">
                <a:latin typeface="Times New Roman"/>
                <a:cs typeface="Times New Roman"/>
              </a:rPr>
              <a:t> </a:t>
            </a:r>
            <a:r>
              <a:rPr sz="2600" spc="-170" dirty="0">
                <a:latin typeface="Times New Roman"/>
                <a:cs typeface="Times New Roman"/>
              </a:rPr>
              <a:t>am</a:t>
            </a:r>
            <a:r>
              <a:rPr sz="2600" spc="-145" dirty="0">
                <a:latin typeface="Times New Roman"/>
                <a:cs typeface="Times New Roman"/>
              </a:rPr>
              <a:t>o</a:t>
            </a:r>
            <a:r>
              <a:rPr sz="2600" spc="-110" dirty="0">
                <a:latin typeface="Times New Roman"/>
                <a:cs typeface="Times New Roman"/>
              </a:rPr>
              <a:t>u</a:t>
            </a:r>
            <a:r>
              <a:rPr sz="2600" spc="-125" dirty="0">
                <a:latin typeface="Times New Roman"/>
                <a:cs typeface="Times New Roman"/>
              </a:rPr>
              <a:t>n</a:t>
            </a:r>
            <a:r>
              <a:rPr sz="2600" spc="35" dirty="0">
                <a:latin typeface="Times New Roman"/>
                <a:cs typeface="Times New Roman"/>
              </a:rPr>
              <a:t>t</a:t>
            </a:r>
            <a:r>
              <a:rPr sz="2600" spc="-105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of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initial</a:t>
            </a:r>
            <a:endParaRPr sz="2600">
              <a:latin typeface="Times New Roman"/>
              <a:cs typeface="Times New Roman"/>
            </a:endParaRPr>
          </a:p>
          <a:p>
            <a:pPr marL="756285">
              <a:lnSpc>
                <a:spcPts val="2965"/>
              </a:lnSpc>
            </a:pPr>
            <a:r>
              <a:rPr sz="2600" spc="-105" dirty="0">
                <a:latin typeface="Times New Roman"/>
                <a:cs typeface="Times New Roman"/>
              </a:rPr>
              <a:t>configuration.</a:t>
            </a:r>
            <a:endParaRPr sz="2600">
              <a:latin typeface="Times New Roman"/>
              <a:cs typeface="Times New Roman"/>
            </a:endParaRPr>
          </a:p>
          <a:p>
            <a:pPr marL="756285" marR="5080" lvl="1" indent="-287020">
              <a:lnSpc>
                <a:spcPts val="2570"/>
              </a:lnSpc>
              <a:spcBef>
                <a:spcPts val="595"/>
              </a:spcBef>
              <a:buChar char="–"/>
              <a:tabLst>
                <a:tab pos="756920" algn="l"/>
                <a:tab pos="7304405" algn="l"/>
              </a:tabLst>
            </a:pPr>
            <a:r>
              <a:rPr sz="2600" spc="-105" dirty="0">
                <a:latin typeface="Times New Roman"/>
                <a:cs typeface="Times New Roman"/>
              </a:rPr>
              <a:t>a</a:t>
            </a:r>
            <a:r>
              <a:rPr sz="2600" spc="-100" dirty="0">
                <a:latin typeface="Times New Roman"/>
                <a:cs typeface="Times New Roman"/>
              </a:rPr>
              <a:t>re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r</a:t>
            </a:r>
            <a:r>
              <a:rPr sz="2600" spc="-114" dirty="0">
                <a:latin typeface="Times New Roman"/>
                <a:cs typeface="Times New Roman"/>
              </a:rPr>
              <a:t>el</a:t>
            </a:r>
            <a:r>
              <a:rPr sz="2600" spc="-245" dirty="0">
                <a:latin typeface="Times New Roman"/>
                <a:cs typeface="Times New Roman"/>
              </a:rPr>
              <a:t>a</a:t>
            </a:r>
            <a:r>
              <a:rPr sz="2600" spc="15" dirty="0">
                <a:latin typeface="Times New Roman"/>
                <a:cs typeface="Times New Roman"/>
              </a:rPr>
              <a:t>t</a:t>
            </a:r>
            <a:r>
              <a:rPr sz="2600" spc="-140" dirty="0">
                <a:latin typeface="Times New Roman"/>
                <a:cs typeface="Times New Roman"/>
              </a:rPr>
              <a:t>i</a:t>
            </a:r>
            <a:r>
              <a:rPr sz="2600" spc="-285" dirty="0">
                <a:latin typeface="Times New Roman"/>
                <a:cs typeface="Times New Roman"/>
              </a:rPr>
              <a:t>v</a:t>
            </a:r>
            <a:r>
              <a:rPr sz="2600" spc="-114" dirty="0">
                <a:latin typeface="Times New Roman"/>
                <a:cs typeface="Times New Roman"/>
              </a:rPr>
              <a:t>e</a:t>
            </a:r>
            <a:r>
              <a:rPr sz="2600" spc="-165" dirty="0">
                <a:latin typeface="Times New Roman"/>
                <a:cs typeface="Times New Roman"/>
              </a:rPr>
              <a:t>l</a:t>
            </a:r>
            <a:r>
              <a:rPr sz="2600" spc="-215" dirty="0">
                <a:latin typeface="Times New Roman"/>
                <a:cs typeface="Times New Roman"/>
              </a:rPr>
              <a:t>y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75" dirty="0">
                <a:latin typeface="Times New Roman"/>
                <a:cs typeface="Times New Roman"/>
              </a:rPr>
              <a:t>c</a:t>
            </a:r>
            <a:r>
              <a:rPr sz="2600" spc="-130" dirty="0">
                <a:latin typeface="Times New Roman"/>
                <a:cs typeface="Times New Roman"/>
              </a:rPr>
              <a:t>o</a:t>
            </a:r>
            <a:r>
              <a:rPr sz="2600" spc="-165" dirty="0">
                <a:latin typeface="Times New Roman"/>
                <a:cs typeface="Times New Roman"/>
              </a:rPr>
              <a:t>m</a:t>
            </a:r>
            <a:r>
              <a:rPr sz="2600" spc="-130" dirty="0">
                <a:latin typeface="Times New Roman"/>
                <a:cs typeface="Times New Roman"/>
              </a:rPr>
              <a:t>p</a:t>
            </a:r>
            <a:r>
              <a:rPr sz="2600" spc="-114" dirty="0">
                <a:latin typeface="Times New Roman"/>
                <a:cs typeface="Times New Roman"/>
              </a:rPr>
              <a:t>le</a:t>
            </a:r>
            <a:r>
              <a:rPr sz="2600" spc="-110" dirty="0">
                <a:latin typeface="Times New Roman"/>
                <a:cs typeface="Times New Roman"/>
              </a:rPr>
              <a:t>x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130" dirty="0">
                <a:latin typeface="Times New Roman"/>
                <a:cs typeface="Times New Roman"/>
              </a:rPr>
              <a:t>d</a:t>
            </a:r>
            <a:r>
              <a:rPr sz="2600" spc="-150" dirty="0">
                <a:latin typeface="Times New Roman"/>
                <a:cs typeface="Times New Roman"/>
              </a:rPr>
              <a:t>e</a:t>
            </a:r>
            <a:r>
              <a:rPr sz="2600" spc="-235" dirty="0">
                <a:latin typeface="Times New Roman"/>
                <a:cs typeface="Times New Roman"/>
              </a:rPr>
              <a:t>v</a:t>
            </a:r>
            <a:r>
              <a:rPr sz="2600" spc="-140" dirty="0">
                <a:latin typeface="Times New Roman"/>
                <a:cs typeface="Times New Roman"/>
              </a:rPr>
              <a:t>i</a:t>
            </a:r>
            <a:r>
              <a:rPr sz="2600" spc="-175" dirty="0">
                <a:latin typeface="Times New Roman"/>
                <a:cs typeface="Times New Roman"/>
              </a:rPr>
              <a:t>c</a:t>
            </a:r>
            <a:r>
              <a:rPr sz="2600" spc="-114" dirty="0">
                <a:latin typeface="Times New Roman"/>
                <a:cs typeface="Times New Roman"/>
              </a:rPr>
              <a:t>e</a:t>
            </a:r>
            <a:r>
              <a:rPr sz="2600" spc="-215" dirty="0">
                <a:latin typeface="Times New Roman"/>
                <a:cs typeface="Times New Roman"/>
              </a:rPr>
              <a:t>s</a:t>
            </a:r>
            <a:r>
              <a:rPr sz="2600" spc="110" dirty="0">
                <a:latin typeface="Times New Roman"/>
                <a:cs typeface="Times New Roman"/>
              </a:rPr>
              <a:t>,</a:t>
            </a:r>
            <a:r>
              <a:rPr sz="2600" spc="-175" dirty="0">
                <a:latin typeface="Times New Roman"/>
                <a:cs typeface="Times New Roman"/>
              </a:rPr>
              <a:t> </a:t>
            </a:r>
            <a:r>
              <a:rPr sz="2600" spc="-145" dirty="0">
                <a:latin typeface="Times New Roman"/>
                <a:cs typeface="Times New Roman"/>
              </a:rPr>
              <a:t>and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spc="-140" dirty="0">
                <a:latin typeface="Times New Roman"/>
                <a:cs typeface="Times New Roman"/>
              </a:rPr>
              <a:t>ge</a:t>
            </a:r>
            <a:r>
              <a:rPr sz="2600" spc="-165" dirty="0">
                <a:latin typeface="Times New Roman"/>
                <a:cs typeface="Times New Roman"/>
              </a:rPr>
              <a:t>n</a:t>
            </a:r>
            <a:r>
              <a:rPr sz="2600" spc="-100" dirty="0">
                <a:latin typeface="Times New Roman"/>
                <a:cs typeface="Times New Roman"/>
              </a:rPr>
              <a:t>eral</a:t>
            </a:r>
            <a:r>
              <a:rPr sz="2600" spc="-140" dirty="0">
                <a:latin typeface="Times New Roman"/>
                <a:cs typeface="Times New Roman"/>
              </a:rPr>
              <a:t>l</a:t>
            </a:r>
            <a:r>
              <a:rPr sz="2600" spc="-215" dirty="0">
                <a:latin typeface="Times New Roman"/>
                <a:cs typeface="Times New Roman"/>
              </a:rPr>
              <a:t>y</a:t>
            </a:r>
            <a:r>
              <a:rPr sz="2600" spc="-105" dirty="0">
                <a:latin typeface="Times New Roman"/>
                <a:cs typeface="Times New Roman"/>
              </a:rPr>
              <a:t> a</a:t>
            </a:r>
            <a:r>
              <a:rPr sz="2600" spc="-100" dirty="0">
                <a:latin typeface="Times New Roman"/>
                <a:cs typeface="Times New Roman"/>
              </a:rPr>
              <a:t>re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spc="-95" dirty="0">
                <a:latin typeface="Times New Roman"/>
                <a:cs typeface="Times New Roman"/>
              </a:rPr>
              <a:t>mo</a:t>
            </a:r>
            <a:r>
              <a:rPr sz="2600" spc="-75" dirty="0">
                <a:latin typeface="Times New Roman"/>
                <a:cs typeface="Times New Roman"/>
              </a:rPr>
              <a:t>r</a:t>
            </a:r>
            <a:r>
              <a:rPr sz="2600" spc="-100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14" dirty="0">
                <a:latin typeface="Times New Roman"/>
                <a:cs typeface="Times New Roman"/>
              </a:rPr>
              <a:t>e</a:t>
            </a:r>
            <a:r>
              <a:rPr sz="2600" spc="-130" dirty="0">
                <a:latin typeface="Times New Roman"/>
                <a:cs typeface="Times New Roman"/>
              </a:rPr>
              <a:t>xp</a:t>
            </a:r>
            <a:r>
              <a:rPr sz="2600" spc="-114" dirty="0">
                <a:latin typeface="Times New Roman"/>
                <a:cs typeface="Times New Roman"/>
              </a:rPr>
              <a:t>e</a:t>
            </a:r>
            <a:r>
              <a:rPr sz="2600" spc="-130" dirty="0">
                <a:latin typeface="Times New Roman"/>
                <a:cs typeface="Times New Roman"/>
              </a:rPr>
              <a:t>n</a:t>
            </a:r>
            <a:r>
              <a:rPr sz="2600" spc="-225" dirty="0">
                <a:latin typeface="Times New Roman"/>
                <a:cs typeface="Times New Roman"/>
              </a:rPr>
              <a:t>s</a:t>
            </a:r>
            <a:r>
              <a:rPr sz="2600" spc="-140" dirty="0">
                <a:latin typeface="Times New Roman"/>
                <a:cs typeface="Times New Roman"/>
              </a:rPr>
              <a:t>i</a:t>
            </a:r>
            <a:r>
              <a:rPr sz="2600" spc="-285" dirty="0">
                <a:latin typeface="Times New Roman"/>
                <a:cs typeface="Times New Roman"/>
              </a:rPr>
              <a:t>v</a:t>
            </a:r>
            <a:r>
              <a:rPr sz="2600" spc="-70" dirty="0">
                <a:latin typeface="Times New Roman"/>
                <a:cs typeface="Times New Roman"/>
              </a:rPr>
              <a:t>e  </a:t>
            </a:r>
            <a:r>
              <a:rPr sz="2600" spc="-110" dirty="0">
                <a:latin typeface="Times New Roman"/>
                <a:cs typeface="Times New Roman"/>
              </a:rPr>
              <a:t>than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05" dirty="0">
                <a:latin typeface="Times New Roman"/>
                <a:cs typeface="Times New Roman"/>
              </a:rPr>
              <a:t>bridges</a:t>
            </a:r>
            <a:r>
              <a:rPr sz="2600" spc="-105" dirty="0">
                <a:latin typeface="Arial MT"/>
                <a:cs typeface="Arial MT"/>
              </a:rPr>
              <a:t>.</a:t>
            </a:r>
            <a:endParaRPr sz="2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03298" y="9271"/>
            <a:ext cx="416369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330" dirty="0">
                <a:solidFill>
                  <a:srgbClr val="585858"/>
                </a:solidFill>
                <a:latin typeface="Times New Roman"/>
                <a:cs typeface="Times New Roman"/>
              </a:rPr>
              <a:t>R</a:t>
            </a:r>
            <a:r>
              <a:rPr sz="4000" spc="-204" dirty="0">
                <a:solidFill>
                  <a:srgbClr val="585858"/>
                </a:solidFill>
                <a:latin typeface="Times New Roman"/>
                <a:cs typeface="Times New Roman"/>
              </a:rPr>
              <a:t>ou</a:t>
            </a:r>
            <a:r>
              <a:rPr sz="4000" spc="15" dirty="0">
                <a:solidFill>
                  <a:srgbClr val="585858"/>
                </a:solidFill>
                <a:latin typeface="Times New Roman"/>
                <a:cs typeface="Times New Roman"/>
              </a:rPr>
              <a:t>t</a:t>
            </a:r>
            <a:r>
              <a:rPr sz="4000" spc="-195" dirty="0">
                <a:solidFill>
                  <a:srgbClr val="585858"/>
                </a:solidFill>
                <a:latin typeface="Times New Roman"/>
                <a:cs typeface="Times New Roman"/>
              </a:rPr>
              <a:t>e</a:t>
            </a:r>
            <a:r>
              <a:rPr sz="4000" spc="85" dirty="0">
                <a:solidFill>
                  <a:srgbClr val="585858"/>
                </a:solidFill>
                <a:latin typeface="Times New Roman"/>
                <a:cs typeface="Times New Roman"/>
              </a:rPr>
              <a:t>r</a:t>
            </a:r>
            <a:r>
              <a:rPr sz="4000" spc="-310" dirty="0">
                <a:solidFill>
                  <a:srgbClr val="585858"/>
                </a:solidFill>
                <a:latin typeface="Times New Roman"/>
                <a:cs typeface="Times New Roman"/>
              </a:rPr>
              <a:t>s</a:t>
            </a:r>
            <a:r>
              <a:rPr sz="4000" spc="-204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4000" spc="-445" dirty="0">
                <a:solidFill>
                  <a:srgbClr val="585858"/>
                </a:solidFill>
                <a:latin typeface="Times New Roman"/>
                <a:cs typeface="Times New Roman"/>
              </a:rPr>
              <a:t>v</a:t>
            </a:r>
            <a:r>
              <a:rPr sz="4000" spc="-185" dirty="0">
                <a:solidFill>
                  <a:srgbClr val="585858"/>
                </a:solidFill>
                <a:latin typeface="Times New Roman"/>
                <a:cs typeface="Times New Roman"/>
              </a:rPr>
              <a:t>e</a:t>
            </a:r>
            <a:r>
              <a:rPr sz="4000" spc="95" dirty="0">
                <a:solidFill>
                  <a:srgbClr val="585858"/>
                </a:solidFill>
                <a:latin typeface="Times New Roman"/>
                <a:cs typeface="Times New Roman"/>
              </a:rPr>
              <a:t>r</a:t>
            </a:r>
            <a:r>
              <a:rPr sz="4000" spc="-340" dirty="0">
                <a:solidFill>
                  <a:srgbClr val="585858"/>
                </a:solidFill>
                <a:latin typeface="Times New Roman"/>
                <a:cs typeface="Times New Roman"/>
              </a:rPr>
              <a:t>s</a:t>
            </a:r>
            <a:r>
              <a:rPr sz="4000" spc="-190" dirty="0">
                <a:solidFill>
                  <a:srgbClr val="585858"/>
                </a:solidFill>
                <a:latin typeface="Times New Roman"/>
                <a:cs typeface="Times New Roman"/>
              </a:rPr>
              <a:t>u</a:t>
            </a:r>
            <a:r>
              <a:rPr sz="4000" spc="-310" dirty="0">
                <a:solidFill>
                  <a:srgbClr val="585858"/>
                </a:solidFill>
                <a:latin typeface="Times New Roman"/>
                <a:cs typeface="Times New Roman"/>
              </a:rPr>
              <a:t>s</a:t>
            </a:r>
            <a:r>
              <a:rPr sz="4000" spc="-130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4000" spc="-395" dirty="0">
                <a:solidFill>
                  <a:srgbClr val="585858"/>
                </a:solidFill>
                <a:latin typeface="Times New Roman"/>
                <a:cs typeface="Times New Roman"/>
              </a:rPr>
              <a:t>B</a:t>
            </a:r>
            <a:r>
              <a:rPr sz="4000" spc="-140" dirty="0">
                <a:solidFill>
                  <a:srgbClr val="585858"/>
                </a:solidFill>
                <a:latin typeface="Times New Roman"/>
                <a:cs typeface="Times New Roman"/>
              </a:rPr>
              <a:t>r</a:t>
            </a:r>
            <a:r>
              <a:rPr sz="4000" spc="-220" dirty="0">
                <a:solidFill>
                  <a:srgbClr val="585858"/>
                </a:solidFill>
                <a:latin typeface="Times New Roman"/>
                <a:cs typeface="Times New Roman"/>
              </a:rPr>
              <a:t>i</a:t>
            </a:r>
            <a:r>
              <a:rPr sz="4000" spc="-254" dirty="0">
                <a:solidFill>
                  <a:srgbClr val="585858"/>
                </a:solidFill>
                <a:latin typeface="Times New Roman"/>
                <a:cs typeface="Times New Roman"/>
              </a:rPr>
              <a:t>d</a:t>
            </a:r>
            <a:r>
              <a:rPr sz="4000" spc="-275" dirty="0">
                <a:solidFill>
                  <a:srgbClr val="585858"/>
                </a:solidFill>
                <a:latin typeface="Times New Roman"/>
                <a:cs typeface="Times New Roman"/>
              </a:rPr>
              <a:t>g</a:t>
            </a:r>
            <a:r>
              <a:rPr sz="4000" spc="-170" dirty="0">
                <a:solidFill>
                  <a:srgbClr val="585858"/>
                </a:solidFill>
                <a:latin typeface="Times New Roman"/>
                <a:cs typeface="Times New Roman"/>
              </a:rPr>
              <a:t>e</a:t>
            </a:r>
            <a:r>
              <a:rPr sz="4000" spc="-310" dirty="0">
                <a:solidFill>
                  <a:srgbClr val="585858"/>
                </a:solidFill>
                <a:latin typeface="Times New Roman"/>
                <a:cs typeface="Times New Roman"/>
              </a:rPr>
              <a:t>s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8130" y="579780"/>
            <a:ext cx="7920990" cy="604647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700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2500" spc="-150" dirty="0">
                <a:latin typeface="Times New Roman"/>
                <a:cs typeface="Times New Roman"/>
              </a:rPr>
              <a:t>Addressing</a:t>
            </a:r>
            <a:endParaRPr sz="2500">
              <a:latin typeface="Times New Roman"/>
              <a:cs typeface="Times New Roman"/>
            </a:endParaRPr>
          </a:p>
          <a:p>
            <a:pPr marL="756285" lvl="1" indent="-287020">
              <a:lnSpc>
                <a:spcPct val="100000"/>
              </a:lnSpc>
              <a:spcBef>
                <a:spcPts val="600"/>
              </a:spcBef>
              <a:buFont typeface="Arial MT"/>
              <a:buChar char="–"/>
              <a:tabLst>
                <a:tab pos="756920" algn="l"/>
              </a:tabLst>
            </a:pPr>
            <a:r>
              <a:rPr sz="2500" spc="-204" dirty="0">
                <a:latin typeface="Times New Roman"/>
                <a:cs typeface="Times New Roman"/>
              </a:rPr>
              <a:t>R</a:t>
            </a:r>
            <a:r>
              <a:rPr sz="2500" spc="-140" dirty="0">
                <a:latin typeface="Times New Roman"/>
                <a:cs typeface="Times New Roman"/>
              </a:rPr>
              <a:t>ou</a:t>
            </a:r>
            <a:r>
              <a:rPr sz="2500" spc="10" dirty="0">
                <a:latin typeface="Times New Roman"/>
                <a:cs typeface="Times New Roman"/>
              </a:rPr>
              <a:t>t</a:t>
            </a:r>
            <a:r>
              <a:rPr sz="2500" spc="-130" dirty="0">
                <a:latin typeface="Times New Roman"/>
                <a:cs typeface="Times New Roman"/>
              </a:rPr>
              <a:t>e</a:t>
            </a:r>
            <a:r>
              <a:rPr sz="2500" spc="50" dirty="0">
                <a:latin typeface="Times New Roman"/>
                <a:cs typeface="Times New Roman"/>
              </a:rPr>
              <a:t>r</a:t>
            </a:r>
            <a:r>
              <a:rPr sz="2500" spc="-195" dirty="0">
                <a:latin typeface="Times New Roman"/>
                <a:cs typeface="Times New Roman"/>
              </a:rPr>
              <a:t>s</a:t>
            </a:r>
            <a:r>
              <a:rPr sz="2500" spc="-50" dirty="0">
                <a:latin typeface="Times New Roman"/>
                <a:cs typeface="Times New Roman"/>
              </a:rPr>
              <a:t> </a:t>
            </a:r>
            <a:r>
              <a:rPr sz="2500" spc="-215" dirty="0">
                <a:latin typeface="Times New Roman"/>
                <a:cs typeface="Times New Roman"/>
              </a:rPr>
              <a:t>a</a:t>
            </a:r>
            <a:r>
              <a:rPr sz="2500" spc="-10" dirty="0">
                <a:latin typeface="Times New Roman"/>
                <a:cs typeface="Times New Roman"/>
              </a:rPr>
              <a:t>r</a:t>
            </a:r>
            <a:r>
              <a:rPr sz="2500" spc="-100" dirty="0">
                <a:latin typeface="Times New Roman"/>
                <a:cs typeface="Times New Roman"/>
              </a:rPr>
              <a:t>e</a:t>
            </a:r>
            <a:r>
              <a:rPr sz="2500" spc="-105" dirty="0">
                <a:latin typeface="Times New Roman"/>
                <a:cs typeface="Times New Roman"/>
              </a:rPr>
              <a:t> </a:t>
            </a:r>
            <a:r>
              <a:rPr sz="2500" spc="-120" dirty="0">
                <a:latin typeface="Times New Roman"/>
                <a:cs typeface="Times New Roman"/>
              </a:rPr>
              <a:t>e</a:t>
            </a:r>
            <a:r>
              <a:rPr sz="2500" spc="-125" dirty="0">
                <a:latin typeface="Times New Roman"/>
                <a:cs typeface="Times New Roman"/>
              </a:rPr>
              <a:t>xp</a:t>
            </a:r>
            <a:r>
              <a:rPr sz="2500" spc="-110" dirty="0">
                <a:latin typeface="Times New Roman"/>
                <a:cs typeface="Times New Roman"/>
              </a:rPr>
              <a:t>l</a:t>
            </a:r>
            <a:r>
              <a:rPr sz="2500" spc="-135" dirty="0">
                <a:latin typeface="Times New Roman"/>
                <a:cs typeface="Times New Roman"/>
              </a:rPr>
              <a:t>i</a:t>
            </a:r>
            <a:r>
              <a:rPr sz="2500" spc="-165" dirty="0">
                <a:latin typeface="Times New Roman"/>
                <a:cs typeface="Times New Roman"/>
              </a:rPr>
              <a:t>c</a:t>
            </a:r>
            <a:r>
              <a:rPr sz="2500" spc="-135" dirty="0">
                <a:latin typeface="Times New Roman"/>
                <a:cs typeface="Times New Roman"/>
              </a:rPr>
              <a:t>i</a:t>
            </a:r>
            <a:r>
              <a:rPr sz="2500" spc="20" dirty="0">
                <a:latin typeface="Times New Roman"/>
                <a:cs typeface="Times New Roman"/>
              </a:rPr>
              <a:t>t</a:t>
            </a:r>
            <a:r>
              <a:rPr sz="2500" spc="-160" dirty="0">
                <a:latin typeface="Times New Roman"/>
                <a:cs typeface="Times New Roman"/>
              </a:rPr>
              <a:t>l</a:t>
            </a:r>
            <a:r>
              <a:rPr sz="2500" spc="-210" dirty="0">
                <a:latin typeface="Times New Roman"/>
                <a:cs typeface="Times New Roman"/>
              </a:rPr>
              <a:t>y</a:t>
            </a:r>
            <a:r>
              <a:rPr sz="2500" spc="-10" dirty="0">
                <a:latin typeface="Times New Roman"/>
                <a:cs typeface="Times New Roman"/>
              </a:rPr>
              <a:t> </a:t>
            </a:r>
            <a:r>
              <a:rPr sz="2500" spc="-110" dirty="0">
                <a:latin typeface="Times New Roman"/>
                <a:cs typeface="Times New Roman"/>
              </a:rPr>
              <a:t>add</a:t>
            </a:r>
            <a:r>
              <a:rPr sz="2500" spc="-105" dirty="0">
                <a:latin typeface="Times New Roman"/>
                <a:cs typeface="Times New Roman"/>
              </a:rPr>
              <a:t>r</a:t>
            </a:r>
            <a:r>
              <a:rPr sz="2500" spc="-165" dirty="0">
                <a:latin typeface="Times New Roman"/>
                <a:cs typeface="Times New Roman"/>
              </a:rPr>
              <a:t>ess</a:t>
            </a:r>
            <a:r>
              <a:rPr sz="2500" spc="-100" dirty="0">
                <a:latin typeface="Times New Roman"/>
                <a:cs typeface="Times New Roman"/>
              </a:rPr>
              <a:t>e</a:t>
            </a:r>
            <a:r>
              <a:rPr sz="2500" spc="-120" dirty="0">
                <a:latin typeface="Times New Roman"/>
                <a:cs typeface="Times New Roman"/>
              </a:rPr>
              <a:t>d</a:t>
            </a:r>
            <a:r>
              <a:rPr sz="2500" spc="100" dirty="0">
                <a:latin typeface="Times New Roman"/>
                <a:cs typeface="Times New Roman"/>
              </a:rPr>
              <a:t>.</a:t>
            </a:r>
            <a:endParaRPr sz="2500">
              <a:latin typeface="Times New Roman"/>
              <a:cs typeface="Times New Roman"/>
            </a:endParaRPr>
          </a:p>
          <a:p>
            <a:pPr marL="756285" lvl="1" indent="-287020">
              <a:lnSpc>
                <a:spcPct val="100000"/>
              </a:lnSpc>
              <a:spcBef>
                <a:spcPts val="600"/>
              </a:spcBef>
              <a:buFont typeface="Arial MT"/>
              <a:buChar char="–"/>
              <a:tabLst>
                <a:tab pos="756920" algn="l"/>
              </a:tabLst>
            </a:pPr>
            <a:r>
              <a:rPr sz="2500" spc="-245" dirty="0">
                <a:latin typeface="Times New Roman"/>
                <a:cs typeface="Times New Roman"/>
              </a:rPr>
              <a:t>B</a:t>
            </a:r>
            <a:r>
              <a:rPr sz="2500" spc="-80" dirty="0">
                <a:latin typeface="Times New Roman"/>
                <a:cs typeface="Times New Roman"/>
              </a:rPr>
              <a:t>r</a:t>
            </a:r>
            <a:r>
              <a:rPr sz="2500" spc="-145" dirty="0">
                <a:latin typeface="Times New Roman"/>
                <a:cs typeface="Times New Roman"/>
              </a:rPr>
              <a:t>idges</a:t>
            </a:r>
            <a:r>
              <a:rPr sz="2500" spc="-90" dirty="0">
                <a:latin typeface="Times New Roman"/>
                <a:cs typeface="Times New Roman"/>
              </a:rPr>
              <a:t> </a:t>
            </a:r>
            <a:r>
              <a:rPr sz="2500" spc="-215" dirty="0">
                <a:latin typeface="Times New Roman"/>
                <a:cs typeface="Times New Roman"/>
              </a:rPr>
              <a:t>a</a:t>
            </a:r>
            <a:r>
              <a:rPr sz="2500" spc="-10" dirty="0">
                <a:latin typeface="Times New Roman"/>
                <a:cs typeface="Times New Roman"/>
              </a:rPr>
              <a:t>r</a:t>
            </a:r>
            <a:r>
              <a:rPr sz="2500" spc="-100" dirty="0">
                <a:latin typeface="Times New Roman"/>
                <a:cs typeface="Times New Roman"/>
              </a:rPr>
              <a:t>e </a:t>
            </a:r>
            <a:r>
              <a:rPr sz="2500" spc="-75" dirty="0">
                <a:latin typeface="Times New Roman"/>
                <a:cs typeface="Times New Roman"/>
              </a:rPr>
              <a:t>no</a:t>
            </a:r>
            <a:r>
              <a:rPr sz="2500" spc="-40" dirty="0">
                <a:latin typeface="Times New Roman"/>
                <a:cs typeface="Times New Roman"/>
              </a:rPr>
              <a:t>t</a:t>
            </a:r>
            <a:r>
              <a:rPr sz="2500" spc="-155" dirty="0">
                <a:latin typeface="Times New Roman"/>
                <a:cs typeface="Times New Roman"/>
              </a:rPr>
              <a:t> </a:t>
            </a:r>
            <a:r>
              <a:rPr sz="2500" spc="-140" dirty="0">
                <a:latin typeface="Times New Roman"/>
                <a:cs typeface="Times New Roman"/>
              </a:rPr>
              <a:t>ad</a:t>
            </a:r>
            <a:r>
              <a:rPr sz="2500" spc="-155" dirty="0">
                <a:latin typeface="Times New Roman"/>
                <a:cs typeface="Times New Roman"/>
              </a:rPr>
              <a:t>d</a:t>
            </a:r>
            <a:r>
              <a:rPr sz="2500" dirty="0">
                <a:latin typeface="Times New Roman"/>
                <a:cs typeface="Times New Roman"/>
              </a:rPr>
              <a:t>r</a:t>
            </a:r>
            <a:r>
              <a:rPr sz="2500" spc="-155" dirty="0">
                <a:latin typeface="Times New Roman"/>
                <a:cs typeface="Times New Roman"/>
              </a:rPr>
              <a:t>e</a:t>
            </a:r>
            <a:r>
              <a:rPr sz="2500" spc="-145" dirty="0">
                <a:latin typeface="Times New Roman"/>
                <a:cs typeface="Times New Roman"/>
              </a:rPr>
              <a:t>s</a:t>
            </a:r>
            <a:r>
              <a:rPr sz="2500" spc="-135" dirty="0">
                <a:latin typeface="Times New Roman"/>
                <a:cs typeface="Times New Roman"/>
              </a:rPr>
              <a:t>s</a:t>
            </a:r>
            <a:r>
              <a:rPr sz="2500" spc="-165" dirty="0">
                <a:latin typeface="Times New Roman"/>
                <a:cs typeface="Times New Roman"/>
              </a:rPr>
              <a:t>e</a:t>
            </a:r>
            <a:r>
              <a:rPr sz="2500" spc="-5" dirty="0">
                <a:latin typeface="Times New Roman"/>
                <a:cs typeface="Times New Roman"/>
              </a:rPr>
              <a:t>d.</a:t>
            </a:r>
            <a:endParaRPr sz="2500">
              <a:latin typeface="Times New Roman"/>
              <a:cs typeface="Times New Roman"/>
            </a:endParaRPr>
          </a:p>
          <a:p>
            <a:pPr marL="356870" indent="-344805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2500" spc="-175" dirty="0">
                <a:latin typeface="Times New Roman"/>
                <a:cs typeface="Times New Roman"/>
              </a:rPr>
              <a:t>Availability</a:t>
            </a:r>
            <a:endParaRPr sz="2500">
              <a:latin typeface="Times New Roman"/>
              <a:cs typeface="Times New Roman"/>
            </a:endParaRPr>
          </a:p>
          <a:p>
            <a:pPr marL="756285" lvl="1" indent="-287020">
              <a:lnSpc>
                <a:spcPct val="100000"/>
              </a:lnSpc>
              <a:spcBef>
                <a:spcPts val="600"/>
              </a:spcBef>
              <a:buFont typeface="Arial MT"/>
              <a:buChar char="–"/>
              <a:tabLst>
                <a:tab pos="756920" algn="l"/>
              </a:tabLst>
            </a:pPr>
            <a:r>
              <a:rPr sz="2500" spc="-105" dirty="0">
                <a:latin typeface="Times New Roman"/>
                <a:cs typeface="Times New Roman"/>
              </a:rPr>
              <a:t>Routers</a:t>
            </a:r>
            <a:r>
              <a:rPr sz="2500" spc="-50" dirty="0">
                <a:latin typeface="Times New Roman"/>
                <a:cs typeface="Times New Roman"/>
              </a:rPr>
              <a:t> </a:t>
            </a:r>
            <a:r>
              <a:rPr sz="2500" spc="-165" dirty="0">
                <a:latin typeface="Times New Roman"/>
                <a:cs typeface="Times New Roman"/>
              </a:rPr>
              <a:t>can</a:t>
            </a:r>
            <a:r>
              <a:rPr sz="2500" spc="-90" dirty="0">
                <a:latin typeface="Times New Roman"/>
                <a:cs typeface="Times New Roman"/>
              </a:rPr>
              <a:t> </a:t>
            </a:r>
            <a:r>
              <a:rPr sz="2500" spc="-130" dirty="0">
                <a:latin typeface="Times New Roman"/>
                <a:cs typeface="Times New Roman"/>
              </a:rPr>
              <a:t>handle</a:t>
            </a:r>
            <a:r>
              <a:rPr sz="2500" spc="-45" dirty="0">
                <a:latin typeface="Times New Roman"/>
                <a:cs typeface="Times New Roman"/>
              </a:rPr>
              <a:t> </a:t>
            </a:r>
            <a:r>
              <a:rPr sz="2500" spc="-140" dirty="0">
                <a:latin typeface="Times New Roman"/>
                <a:cs typeface="Times New Roman"/>
              </a:rPr>
              <a:t>failures</a:t>
            </a:r>
            <a:r>
              <a:rPr sz="2500" spc="-90" dirty="0">
                <a:latin typeface="Times New Roman"/>
                <a:cs typeface="Times New Roman"/>
              </a:rPr>
              <a:t> </a:t>
            </a:r>
            <a:r>
              <a:rPr sz="2500" spc="-114" dirty="0">
                <a:latin typeface="Times New Roman"/>
                <a:cs typeface="Times New Roman"/>
              </a:rPr>
              <a:t>in</a:t>
            </a:r>
            <a:r>
              <a:rPr sz="2500" spc="-70" dirty="0">
                <a:latin typeface="Times New Roman"/>
                <a:cs typeface="Times New Roman"/>
              </a:rPr>
              <a:t> </a:t>
            </a:r>
            <a:r>
              <a:rPr sz="2500" spc="-110" dirty="0">
                <a:latin typeface="Times New Roman"/>
                <a:cs typeface="Times New Roman"/>
              </a:rPr>
              <a:t>links,</a:t>
            </a:r>
            <a:r>
              <a:rPr sz="2500" spc="-160" dirty="0">
                <a:latin typeface="Times New Roman"/>
                <a:cs typeface="Times New Roman"/>
              </a:rPr>
              <a:t> </a:t>
            </a:r>
            <a:r>
              <a:rPr sz="2500" spc="-100" dirty="0">
                <a:latin typeface="Times New Roman"/>
                <a:cs typeface="Times New Roman"/>
              </a:rPr>
              <a:t>stations,</a:t>
            </a:r>
            <a:r>
              <a:rPr sz="2500" spc="-150" dirty="0">
                <a:latin typeface="Times New Roman"/>
                <a:cs typeface="Times New Roman"/>
              </a:rPr>
              <a:t> </a:t>
            </a:r>
            <a:r>
              <a:rPr sz="2500" spc="-145" dirty="0">
                <a:latin typeface="Times New Roman"/>
                <a:cs typeface="Times New Roman"/>
              </a:rPr>
              <a:t>and</a:t>
            </a:r>
            <a:r>
              <a:rPr sz="2500" spc="-45" dirty="0">
                <a:latin typeface="Times New Roman"/>
                <a:cs typeface="Times New Roman"/>
              </a:rPr>
              <a:t> </a:t>
            </a:r>
            <a:r>
              <a:rPr sz="2500" spc="-60" dirty="0">
                <a:latin typeface="Times New Roman"/>
                <a:cs typeface="Times New Roman"/>
              </a:rPr>
              <a:t>other</a:t>
            </a:r>
            <a:r>
              <a:rPr sz="2500" spc="-65" dirty="0">
                <a:latin typeface="Times New Roman"/>
                <a:cs typeface="Times New Roman"/>
              </a:rPr>
              <a:t> routers.</a:t>
            </a:r>
            <a:endParaRPr sz="2500">
              <a:latin typeface="Times New Roman"/>
              <a:cs typeface="Times New Roman"/>
            </a:endParaRPr>
          </a:p>
          <a:p>
            <a:pPr marL="756285" marR="267970" lvl="1" indent="-287020">
              <a:lnSpc>
                <a:spcPct val="100000"/>
              </a:lnSpc>
              <a:spcBef>
                <a:spcPts val="605"/>
              </a:spcBef>
              <a:buFont typeface="Arial MT"/>
              <a:buChar char="–"/>
              <a:tabLst>
                <a:tab pos="756920" algn="l"/>
              </a:tabLst>
            </a:pPr>
            <a:r>
              <a:rPr sz="2500" spc="-150" dirty="0">
                <a:latin typeface="Times New Roman"/>
                <a:cs typeface="Times New Roman"/>
              </a:rPr>
              <a:t>Bridges</a:t>
            </a:r>
            <a:r>
              <a:rPr sz="2500" spc="-90" dirty="0">
                <a:latin typeface="Times New Roman"/>
                <a:cs typeface="Times New Roman"/>
              </a:rPr>
              <a:t> </a:t>
            </a:r>
            <a:r>
              <a:rPr sz="2500" spc="-135" dirty="0">
                <a:latin typeface="Times New Roman"/>
                <a:cs typeface="Times New Roman"/>
              </a:rPr>
              <a:t>use</a:t>
            </a:r>
            <a:r>
              <a:rPr sz="2500" spc="-75" dirty="0">
                <a:latin typeface="Times New Roman"/>
                <a:cs typeface="Times New Roman"/>
              </a:rPr>
              <a:t> </a:t>
            </a:r>
            <a:r>
              <a:rPr sz="2500" spc="-145" dirty="0">
                <a:latin typeface="Times New Roman"/>
                <a:cs typeface="Times New Roman"/>
              </a:rPr>
              <a:t>only</a:t>
            </a:r>
            <a:r>
              <a:rPr sz="2500" spc="-65" dirty="0">
                <a:latin typeface="Times New Roman"/>
                <a:cs typeface="Times New Roman"/>
              </a:rPr>
              <a:t> </a:t>
            </a:r>
            <a:r>
              <a:rPr sz="2500" spc="-120" dirty="0">
                <a:latin typeface="Times New Roman"/>
                <a:cs typeface="Times New Roman"/>
              </a:rPr>
              <a:t>source</a:t>
            </a:r>
            <a:r>
              <a:rPr sz="2500" spc="-70" dirty="0">
                <a:latin typeface="Times New Roman"/>
                <a:cs typeface="Times New Roman"/>
              </a:rPr>
              <a:t> </a:t>
            </a:r>
            <a:r>
              <a:rPr sz="2500" spc="-140" dirty="0">
                <a:latin typeface="Times New Roman"/>
                <a:cs typeface="Times New Roman"/>
              </a:rPr>
              <a:t>and</a:t>
            </a:r>
            <a:r>
              <a:rPr sz="2500" spc="-50" dirty="0">
                <a:latin typeface="Times New Roman"/>
                <a:cs typeface="Times New Roman"/>
              </a:rPr>
              <a:t> </a:t>
            </a:r>
            <a:r>
              <a:rPr sz="2500" spc="-105" dirty="0">
                <a:latin typeface="Times New Roman"/>
                <a:cs typeface="Times New Roman"/>
              </a:rPr>
              <a:t>destination</a:t>
            </a:r>
            <a:r>
              <a:rPr sz="2500" spc="-80" dirty="0">
                <a:latin typeface="Times New Roman"/>
                <a:cs typeface="Times New Roman"/>
              </a:rPr>
              <a:t> </a:t>
            </a:r>
            <a:r>
              <a:rPr sz="2500" spc="-300" dirty="0">
                <a:latin typeface="Times New Roman"/>
                <a:cs typeface="Times New Roman"/>
              </a:rPr>
              <a:t>MAC</a:t>
            </a:r>
            <a:r>
              <a:rPr sz="2500" spc="-95" dirty="0">
                <a:latin typeface="Times New Roman"/>
                <a:cs typeface="Times New Roman"/>
              </a:rPr>
              <a:t> </a:t>
            </a:r>
            <a:r>
              <a:rPr sz="2500" spc="-105" dirty="0">
                <a:latin typeface="Times New Roman"/>
                <a:cs typeface="Times New Roman"/>
              </a:rPr>
              <a:t>address,</a:t>
            </a:r>
            <a:r>
              <a:rPr sz="2500" spc="-225" dirty="0">
                <a:latin typeface="Times New Roman"/>
                <a:cs typeface="Times New Roman"/>
              </a:rPr>
              <a:t> </a:t>
            </a:r>
            <a:r>
              <a:rPr sz="2500" spc="-140" dirty="0">
                <a:latin typeface="Times New Roman"/>
                <a:cs typeface="Times New Roman"/>
              </a:rPr>
              <a:t>which </a:t>
            </a:r>
            <a:r>
              <a:rPr sz="2500" spc="-610" dirty="0">
                <a:latin typeface="Times New Roman"/>
                <a:cs typeface="Times New Roman"/>
              </a:rPr>
              <a:t> </a:t>
            </a:r>
            <a:r>
              <a:rPr sz="2500" spc="-110" dirty="0">
                <a:latin typeface="Times New Roman"/>
                <a:cs typeface="Times New Roman"/>
              </a:rPr>
              <a:t>do</a:t>
            </a:r>
            <a:r>
              <a:rPr sz="2500" spc="-114" dirty="0">
                <a:latin typeface="Times New Roman"/>
                <a:cs typeface="Times New Roman"/>
              </a:rPr>
              <a:t>e</a:t>
            </a:r>
            <a:r>
              <a:rPr sz="2500" spc="-195" dirty="0">
                <a:latin typeface="Times New Roman"/>
                <a:cs typeface="Times New Roman"/>
              </a:rPr>
              <a:t>s</a:t>
            </a:r>
            <a:r>
              <a:rPr sz="2500" spc="-65" dirty="0">
                <a:latin typeface="Times New Roman"/>
                <a:cs typeface="Times New Roman"/>
              </a:rPr>
              <a:t> </a:t>
            </a:r>
            <a:r>
              <a:rPr sz="2500" spc="-60" dirty="0">
                <a:latin typeface="Times New Roman"/>
                <a:cs typeface="Times New Roman"/>
              </a:rPr>
              <a:t>not</a:t>
            </a:r>
            <a:r>
              <a:rPr sz="2500" spc="-65" dirty="0">
                <a:latin typeface="Times New Roman"/>
                <a:cs typeface="Times New Roman"/>
              </a:rPr>
              <a:t> </a:t>
            </a:r>
            <a:r>
              <a:rPr sz="2500" spc="-220" dirty="0">
                <a:latin typeface="Times New Roman"/>
                <a:cs typeface="Times New Roman"/>
              </a:rPr>
              <a:t>g</a:t>
            </a:r>
            <a:r>
              <a:rPr sz="2500" spc="-125" dirty="0">
                <a:latin typeface="Times New Roman"/>
                <a:cs typeface="Times New Roman"/>
              </a:rPr>
              <a:t>u</a:t>
            </a:r>
            <a:r>
              <a:rPr sz="2500" spc="-215" dirty="0">
                <a:latin typeface="Times New Roman"/>
                <a:cs typeface="Times New Roman"/>
              </a:rPr>
              <a:t>a</a:t>
            </a:r>
            <a:r>
              <a:rPr sz="2500" spc="-80" dirty="0">
                <a:latin typeface="Times New Roman"/>
                <a:cs typeface="Times New Roman"/>
              </a:rPr>
              <a:t>r</a:t>
            </a:r>
            <a:r>
              <a:rPr sz="2500" spc="-120" dirty="0">
                <a:latin typeface="Times New Roman"/>
                <a:cs typeface="Times New Roman"/>
              </a:rPr>
              <a:t>a</a:t>
            </a:r>
            <a:r>
              <a:rPr sz="2500" spc="-125" dirty="0">
                <a:latin typeface="Times New Roman"/>
                <a:cs typeface="Times New Roman"/>
              </a:rPr>
              <a:t>n</a:t>
            </a:r>
            <a:r>
              <a:rPr sz="2500" spc="20" dirty="0">
                <a:latin typeface="Times New Roman"/>
                <a:cs typeface="Times New Roman"/>
              </a:rPr>
              <a:t>t</a:t>
            </a:r>
            <a:r>
              <a:rPr sz="2500" spc="-120" dirty="0">
                <a:latin typeface="Times New Roman"/>
                <a:cs typeface="Times New Roman"/>
              </a:rPr>
              <a:t>e</a:t>
            </a:r>
            <a:r>
              <a:rPr sz="2500" spc="-100" dirty="0">
                <a:latin typeface="Times New Roman"/>
                <a:cs typeface="Times New Roman"/>
              </a:rPr>
              <a:t>e</a:t>
            </a:r>
            <a:r>
              <a:rPr sz="2500" spc="-114" dirty="0">
                <a:latin typeface="Times New Roman"/>
                <a:cs typeface="Times New Roman"/>
              </a:rPr>
              <a:t> </a:t>
            </a:r>
            <a:r>
              <a:rPr sz="2500" spc="-110" dirty="0">
                <a:latin typeface="Times New Roman"/>
                <a:cs typeface="Times New Roman"/>
              </a:rPr>
              <a:t>de</a:t>
            </a:r>
            <a:r>
              <a:rPr sz="2500" spc="-120" dirty="0">
                <a:latin typeface="Times New Roman"/>
                <a:cs typeface="Times New Roman"/>
              </a:rPr>
              <a:t>li</a:t>
            </a:r>
            <a:r>
              <a:rPr sz="2500" spc="-250" dirty="0">
                <a:latin typeface="Times New Roman"/>
                <a:cs typeface="Times New Roman"/>
              </a:rPr>
              <a:t>v</a:t>
            </a:r>
            <a:r>
              <a:rPr sz="2500" spc="-45" dirty="0">
                <a:latin typeface="Times New Roman"/>
                <a:cs typeface="Times New Roman"/>
              </a:rPr>
              <a:t>e</a:t>
            </a:r>
            <a:r>
              <a:rPr sz="2500" spc="-15" dirty="0">
                <a:latin typeface="Times New Roman"/>
                <a:cs typeface="Times New Roman"/>
              </a:rPr>
              <a:t>r</a:t>
            </a:r>
            <a:r>
              <a:rPr sz="2500" spc="-210" dirty="0">
                <a:latin typeface="Times New Roman"/>
                <a:cs typeface="Times New Roman"/>
              </a:rPr>
              <a:t>y</a:t>
            </a:r>
            <a:r>
              <a:rPr sz="2500" spc="-95" dirty="0">
                <a:latin typeface="Times New Roman"/>
                <a:cs typeface="Times New Roman"/>
              </a:rPr>
              <a:t> </a:t>
            </a:r>
            <a:r>
              <a:rPr sz="2500" spc="-150" dirty="0">
                <a:latin typeface="Times New Roman"/>
                <a:cs typeface="Times New Roman"/>
              </a:rPr>
              <a:t>of</a:t>
            </a:r>
            <a:r>
              <a:rPr sz="2500" spc="-110" dirty="0">
                <a:latin typeface="Times New Roman"/>
                <a:cs typeface="Times New Roman"/>
              </a:rPr>
              <a:t> </a:t>
            </a:r>
            <a:r>
              <a:rPr sz="2500" spc="-200" dirty="0">
                <a:latin typeface="Times New Roman"/>
                <a:cs typeface="Times New Roman"/>
              </a:rPr>
              <a:t>f</a:t>
            </a:r>
            <a:r>
              <a:rPr sz="2500" spc="-80" dirty="0">
                <a:latin typeface="Times New Roman"/>
                <a:cs typeface="Times New Roman"/>
              </a:rPr>
              <a:t>r</a:t>
            </a:r>
            <a:r>
              <a:rPr sz="2500" spc="-120" dirty="0">
                <a:latin typeface="Times New Roman"/>
                <a:cs typeface="Times New Roman"/>
              </a:rPr>
              <a:t>a</a:t>
            </a:r>
            <a:r>
              <a:rPr sz="2500" spc="-165" dirty="0">
                <a:latin typeface="Times New Roman"/>
                <a:cs typeface="Times New Roman"/>
              </a:rPr>
              <a:t>m</a:t>
            </a:r>
            <a:r>
              <a:rPr sz="2500" spc="-120" dirty="0">
                <a:latin typeface="Times New Roman"/>
                <a:cs typeface="Times New Roman"/>
              </a:rPr>
              <a:t>e</a:t>
            </a:r>
            <a:r>
              <a:rPr sz="2500" spc="-260" dirty="0">
                <a:latin typeface="Times New Roman"/>
                <a:cs typeface="Times New Roman"/>
              </a:rPr>
              <a:t>s</a:t>
            </a:r>
            <a:r>
              <a:rPr sz="2500" spc="100" dirty="0">
                <a:latin typeface="Times New Roman"/>
                <a:cs typeface="Times New Roman"/>
              </a:rPr>
              <a:t>.</a:t>
            </a:r>
            <a:endParaRPr sz="2500">
              <a:latin typeface="Times New Roman"/>
              <a:cs typeface="Times New Roman"/>
            </a:endParaRPr>
          </a:p>
          <a:p>
            <a:pPr marL="356870" indent="-344805">
              <a:lnSpc>
                <a:spcPts val="2885"/>
              </a:lnSpc>
              <a:buClr>
                <a:srgbClr val="C0504D"/>
              </a:buClr>
              <a:buSzPct val="74000"/>
              <a:buFont typeface="Wingdings"/>
              <a:buChar char=""/>
              <a:tabLst>
                <a:tab pos="356870" algn="l"/>
                <a:tab pos="357505" algn="l"/>
              </a:tabLst>
            </a:pPr>
            <a:r>
              <a:rPr sz="2500" spc="-229" dirty="0">
                <a:latin typeface="Times New Roman"/>
                <a:cs typeface="Times New Roman"/>
              </a:rPr>
              <a:t>Me</a:t>
            </a:r>
            <a:r>
              <a:rPr sz="2500" spc="-145" dirty="0">
                <a:latin typeface="Times New Roman"/>
                <a:cs typeface="Times New Roman"/>
              </a:rPr>
              <a:t>s</a:t>
            </a:r>
            <a:r>
              <a:rPr sz="2500" spc="-175" dirty="0">
                <a:latin typeface="Times New Roman"/>
                <a:cs typeface="Times New Roman"/>
              </a:rPr>
              <a:t>sage</a:t>
            </a:r>
            <a:r>
              <a:rPr sz="2500" spc="-200" dirty="0">
                <a:latin typeface="Times New Roman"/>
                <a:cs typeface="Times New Roman"/>
              </a:rPr>
              <a:t> </a:t>
            </a:r>
            <a:r>
              <a:rPr sz="2500" spc="-360" dirty="0">
                <a:latin typeface="Times New Roman"/>
                <a:cs typeface="Times New Roman"/>
              </a:rPr>
              <a:t>S</a:t>
            </a:r>
            <a:r>
              <a:rPr sz="2500" spc="-135" dirty="0">
                <a:latin typeface="Times New Roman"/>
                <a:cs typeface="Times New Roman"/>
              </a:rPr>
              <a:t>i</a:t>
            </a:r>
            <a:r>
              <a:rPr sz="2500" spc="-215" dirty="0">
                <a:latin typeface="Times New Roman"/>
                <a:cs typeface="Times New Roman"/>
              </a:rPr>
              <a:t>z</a:t>
            </a:r>
            <a:r>
              <a:rPr sz="2500" spc="-100" dirty="0">
                <a:latin typeface="Times New Roman"/>
                <a:cs typeface="Times New Roman"/>
              </a:rPr>
              <a:t>e</a:t>
            </a:r>
            <a:endParaRPr sz="2500">
              <a:latin typeface="Times New Roman"/>
              <a:cs typeface="Times New Roman"/>
            </a:endParaRPr>
          </a:p>
          <a:p>
            <a:pPr marL="756285" marR="51435" indent="-287020">
              <a:lnSpc>
                <a:spcPts val="2700"/>
              </a:lnSpc>
              <a:spcBef>
                <a:spcPts val="225"/>
              </a:spcBef>
              <a:tabLst>
                <a:tab pos="742315" algn="l"/>
              </a:tabLst>
            </a:pPr>
            <a:r>
              <a:rPr sz="2500" spc="-210" dirty="0">
                <a:solidFill>
                  <a:srgbClr val="800080"/>
                </a:solidFill>
                <a:latin typeface="Times New Roman"/>
                <a:cs typeface="Times New Roman"/>
              </a:rPr>
              <a:t>»	</a:t>
            </a:r>
            <a:r>
              <a:rPr sz="2500" spc="-105" dirty="0">
                <a:latin typeface="Times New Roman"/>
                <a:cs typeface="Times New Roman"/>
              </a:rPr>
              <a:t>Routers</a:t>
            </a:r>
            <a:r>
              <a:rPr sz="2500" spc="-45" dirty="0">
                <a:latin typeface="Times New Roman"/>
                <a:cs typeface="Times New Roman"/>
              </a:rPr>
              <a:t> </a:t>
            </a:r>
            <a:r>
              <a:rPr sz="2500" spc="-165" dirty="0">
                <a:latin typeface="Times New Roman"/>
                <a:cs typeface="Times New Roman"/>
              </a:rPr>
              <a:t>can</a:t>
            </a:r>
            <a:r>
              <a:rPr sz="2500" spc="-85" dirty="0">
                <a:latin typeface="Times New Roman"/>
                <a:cs typeface="Times New Roman"/>
              </a:rPr>
              <a:t> </a:t>
            </a:r>
            <a:r>
              <a:rPr sz="2500" spc="-90" dirty="0">
                <a:latin typeface="Times New Roman"/>
                <a:cs typeface="Times New Roman"/>
              </a:rPr>
              <a:t>perform</a:t>
            </a:r>
            <a:r>
              <a:rPr sz="2500" spc="-45" dirty="0">
                <a:latin typeface="Times New Roman"/>
                <a:cs typeface="Times New Roman"/>
              </a:rPr>
              <a:t> </a:t>
            </a:r>
            <a:r>
              <a:rPr sz="2500" spc="-125" dirty="0">
                <a:latin typeface="Times New Roman"/>
                <a:cs typeface="Times New Roman"/>
              </a:rPr>
              <a:t>fragmentation</a:t>
            </a:r>
            <a:r>
              <a:rPr sz="2500" spc="-35" dirty="0">
                <a:latin typeface="Times New Roman"/>
                <a:cs typeface="Times New Roman"/>
              </a:rPr>
              <a:t> </a:t>
            </a:r>
            <a:r>
              <a:rPr sz="2500" spc="-110" dirty="0">
                <a:latin typeface="Times New Roman"/>
                <a:cs typeface="Times New Roman"/>
              </a:rPr>
              <a:t>on</a:t>
            </a:r>
            <a:r>
              <a:rPr sz="2500" spc="-50" dirty="0">
                <a:latin typeface="Times New Roman"/>
                <a:cs typeface="Times New Roman"/>
              </a:rPr>
              <a:t> </a:t>
            </a:r>
            <a:r>
              <a:rPr sz="2500" spc="-135" dirty="0">
                <a:latin typeface="Times New Roman"/>
                <a:cs typeface="Times New Roman"/>
              </a:rPr>
              <a:t>packets</a:t>
            </a:r>
            <a:r>
              <a:rPr sz="2500" spc="-75" dirty="0">
                <a:latin typeface="Times New Roman"/>
                <a:cs typeface="Times New Roman"/>
              </a:rPr>
              <a:t> </a:t>
            </a:r>
            <a:r>
              <a:rPr sz="2500" spc="-145" dirty="0">
                <a:latin typeface="Times New Roman"/>
                <a:cs typeface="Times New Roman"/>
              </a:rPr>
              <a:t>and</a:t>
            </a:r>
            <a:r>
              <a:rPr sz="2500" spc="-55" dirty="0">
                <a:latin typeface="Times New Roman"/>
                <a:cs typeface="Times New Roman"/>
              </a:rPr>
              <a:t> </a:t>
            </a:r>
            <a:r>
              <a:rPr sz="2500" spc="-110" dirty="0">
                <a:latin typeface="Times New Roman"/>
                <a:cs typeface="Times New Roman"/>
              </a:rPr>
              <a:t>thus</a:t>
            </a:r>
            <a:r>
              <a:rPr sz="2500" spc="-215" dirty="0">
                <a:latin typeface="Times New Roman"/>
                <a:cs typeface="Times New Roman"/>
              </a:rPr>
              <a:t> </a:t>
            </a:r>
            <a:r>
              <a:rPr sz="2500" spc="-130" dirty="0">
                <a:latin typeface="Times New Roman"/>
                <a:cs typeface="Times New Roman"/>
              </a:rPr>
              <a:t>handle </a:t>
            </a:r>
            <a:r>
              <a:rPr sz="2500" spc="-610" dirty="0">
                <a:latin typeface="Times New Roman"/>
                <a:cs typeface="Times New Roman"/>
              </a:rPr>
              <a:t> </a:t>
            </a:r>
            <a:r>
              <a:rPr sz="2500" spc="-140" dirty="0">
                <a:latin typeface="Times New Roman"/>
                <a:cs typeface="Times New Roman"/>
              </a:rPr>
              <a:t>d</a:t>
            </a:r>
            <a:r>
              <a:rPr sz="2500" spc="-145" dirty="0">
                <a:latin typeface="Times New Roman"/>
                <a:cs typeface="Times New Roman"/>
              </a:rPr>
              <a:t>i</a:t>
            </a:r>
            <a:r>
              <a:rPr sz="2500" spc="-210" dirty="0">
                <a:latin typeface="Times New Roman"/>
                <a:cs typeface="Times New Roman"/>
              </a:rPr>
              <a:t>ff</a:t>
            </a:r>
            <a:r>
              <a:rPr sz="2500" spc="-130" dirty="0">
                <a:latin typeface="Times New Roman"/>
                <a:cs typeface="Times New Roman"/>
              </a:rPr>
              <a:t>e</a:t>
            </a:r>
            <a:r>
              <a:rPr sz="2500" spc="-20" dirty="0">
                <a:latin typeface="Times New Roman"/>
                <a:cs typeface="Times New Roman"/>
              </a:rPr>
              <a:t>r</a:t>
            </a:r>
            <a:r>
              <a:rPr sz="2500" spc="-130" dirty="0">
                <a:latin typeface="Times New Roman"/>
                <a:cs typeface="Times New Roman"/>
              </a:rPr>
              <a:t>e</a:t>
            </a:r>
            <a:r>
              <a:rPr sz="2500" spc="-140" dirty="0">
                <a:latin typeface="Times New Roman"/>
                <a:cs typeface="Times New Roman"/>
              </a:rPr>
              <a:t>n</a:t>
            </a:r>
            <a:r>
              <a:rPr sz="2500" spc="30" dirty="0">
                <a:latin typeface="Times New Roman"/>
                <a:cs typeface="Times New Roman"/>
              </a:rPr>
              <a:t>t</a:t>
            </a:r>
            <a:r>
              <a:rPr sz="2500" spc="-55" dirty="0">
                <a:latin typeface="Times New Roman"/>
                <a:cs typeface="Times New Roman"/>
              </a:rPr>
              <a:t> </a:t>
            </a:r>
            <a:r>
              <a:rPr sz="2500" spc="-140" dirty="0">
                <a:latin typeface="Times New Roman"/>
                <a:cs typeface="Times New Roman"/>
              </a:rPr>
              <a:t>p</a:t>
            </a:r>
            <a:r>
              <a:rPr sz="2500" spc="-229" dirty="0">
                <a:latin typeface="Times New Roman"/>
                <a:cs typeface="Times New Roman"/>
              </a:rPr>
              <a:t>a</a:t>
            </a:r>
            <a:r>
              <a:rPr sz="2500" spc="-130" dirty="0">
                <a:latin typeface="Times New Roman"/>
                <a:cs typeface="Times New Roman"/>
              </a:rPr>
              <a:t>c</a:t>
            </a:r>
            <a:r>
              <a:rPr sz="2500" spc="-225" dirty="0">
                <a:latin typeface="Times New Roman"/>
                <a:cs typeface="Times New Roman"/>
              </a:rPr>
              <a:t>k</a:t>
            </a:r>
            <a:r>
              <a:rPr sz="2500" spc="-130" dirty="0">
                <a:latin typeface="Times New Roman"/>
                <a:cs typeface="Times New Roman"/>
              </a:rPr>
              <a:t>e</a:t>
            </a:r>
            <a:r>
              <a:rPr sz="2500" spc="30" dirty="0">
                <a:latin typeface="Times New Roman"/>
                <a:cs typeface="Times New Roman"/>
              </a:rPr>
              <a:t>t</a:t>
            </a:r>
            <a:r>
              <a:rPr sz="2500" spc="-80" dirty="0">
                <a:latin typeface="Times New Roman"/>
                <a:cs typeface="Times New Roman"/>
              </a:rPr>
              <a:t> </a:t>
            </a:r>
            <a:r>
              <a:rPr sz="2500" spc="-210" dirty="0">
                <a:latin typeface="Times New Roman"/>
                <a:cs typeface="Times New Roman"/>
              </a:rPr>
              <a:t>s</a:t>
            </a:r>
            <a:r>
              <a:rPr sz="2500" spc="-135" dirty="0">
                <a:latin typeface="Times New Roman"/>
                <a:cs typeface="Times New Roman"/>
              </a:rPr>
              <a:t>i</a:t>
            </a:r>
            <a:r>
              <a:rPr sz="2500" spc="-215" dirty="0">
                <a:latin typeface="Times New Roman"/>
                <a:cs typeface="Times New Roman"/>
              </a:rPr>
              <a:t>z</a:t>
            </a:r>
            <a:r>
              <a:rPr sz="2500" spc="-120" dirty="0">
                <a:latin typeface="Times New Roman"/>
                <a:cs typeface="Times New Roman"/>
              </a:rPr>
              <a:t>e</a:t>
            </a:r>
            <a:r>
              <a:rPr sz="2500" spc="-260" dirty="0">
                <a:latin typeface="Times New Roman"/>
                <a:cs typeface="Times New Roman"/>
              </a:rPr>
              <a:t>s</a:t>
            </a:r>
            <a:r>
              <a:rPr sz="2500" spc="100" dirty="0">
                <a:latin typeface="Times New Roman"/>
                <a:cs typeface="Times New Roman"/>
              </a:rPr>
              <a:t>.</a:t>
            </a:r>
            <a:endParaRPr sz="2500">
              <a:latin typeface="Times New Roman"/>
              <a:cs typeface="Times New Roman"/>
            </a:endParaRPr>
          </a:p>
          <a:p>
            <a:pPr marL="756285" marR="583565" indent="-287020">
              <a:lnSpc>
                <a:spcPts val="2700"/>
              </a:lnSpc>
              <a:spcBef>
                <a:spcPts val="5"/>
              </a:spcBef>
              <a:tabLst>
                <a:tab pos="742315" algn="l"/>
              </a:tabLst>
            </a:pPr>
            <a:r>
              <a:rPr sz="2500" spc="-210" dirty="0">
                <a:solidFill>
                  <a:srgbClr val="800080"/>
                </a:solidFill>
                <a:latin typeface="Times New Roman"/>
                <a:cs typeface="Times New Roman"/>
              </a:rPr>
              <a:t>»	</a:t>
            </a:r>
            <a:r>
              <a:rPr sz="2500" spc="-150" dirty="0">
                <a:latin typeface="Times New Roman"/>
                <a:cs typeface="Times New Roman"/>
              </a:rPr>
              <a:t>Bridges</a:t>
            </a:r>
            <a:r>
              <a:rPr sz="2500" spc="-90" dirty="0">
                <a:latin typeface="Times New Roman"/>
                <a:cs typeface="Times New Roman"/>
              </a:rPr>
              <a:t> </a:t>
            </a:r>
            <a:r>
              <a:rPr sz="2500" spc="-110" dirty="0">
                <a:latin typeface="Times New Roman"/>
                <a:cs typeface="Times New Roman"/>
              </a:rPr>
              <a:t>cannot</a:t>
            </a:r>
            <a:r>
              <a:rPr sz="2500" spc="-60" dirty="0">
                <a:latin typeface="Times New Roman"/>
                <a:cs typeface="Times New Roman"/>
              </a:rPr>
              <a:t> </a:t>
            </a:r>
            <a:r>
              <a:rPr sz="2500" spc="-114" dirty="0">
                <a:latin typeface="Times New Roman"/>
                <a:cs typeface="Times New Roman"/>
              </a:rPr>
              <a:t>do</a:t>
            </a:r>
            <a:r>
              <a:rPr sz="2500" spc="-65" dirty="0">
                <a:latin typeface="Times New Roman"/>
                <a:cs typeface="Times New Roman"/>
              </a:rPr>
              <a:t> </a:t>
            </a:r>
            <a:r>
              <a:rPr sz="2500" spc="-125" dirty="0">
                <a:latin typeface="Times New Roman"/>
                <a:cs typeface="Times New Roman"/>
              </a:rPr>
              <a:t>fragmentation</a:t>
            </a:r>
            <a:r>
              <a:rPr sz="2500" spc="-30" dirty="0">
                <a:latin typeface="Times New Roman"/>
                <a:cs typeface="Times New Roman"/>
              </a:rPr>
              <a:t> </a:t>
            </a:r>
            <a:r>
              <a:rPr sz="2500" spc="-145" dirty="0">
                <a:latin typeface="Times New Roman"/>
                <a:cs typeface="Times New Roman"/>
              </a:rPr>
              <a:t>and</a:t>
            </a:r>
            <a:r>
              <a:rPr sz="2500" spc="-55" dirty="0">
                <a:latin typeface="Times New Roman"/>
                <a:cs typeface="Times New Roman"/>
              </a:rPr>
              <a:t> </a:t>
            </a:r>
            <a:r>
              <a:rPr sz="2500" spc="-130" dirty="0">
                <a:latin typeface="Times New Roman"/>
                <a:cs typeface="Times New Roman"/>
              </a:rPr>
              <a:t>should</a:t>
            </a:r>
            <a:r>
              <a:rPr sz="2500" spc="-10" dirty="0">
                <a:latin typeface="Times New Roman"/>
                <a:cs typeface="Times New Roman"/>
              </a:rPr>
              <a:t> </a:t>
            </a:r>
            <a:r>
              <a:rPr sz="2500" spc="-60" dirty="0">
                <a:latin typeface="Times New Roman"/>
                <a:cs typeface="Times New Roman"/>
              </a:rPr>
              <a:t>not</a:t>
            </a:r>
            <a:r>
              <a:rPr sz="2500" spc="-75" dirty="0">
                <a:latin typeface="Times New Roman"/>
                <a:cs typeface="Times New Roman"/>
              </a:rPr>
              <a:t> </a:t>
            </a:r>
            <a:r>
              <a:rPr sz="2500" spc="-100" dirty="0">
                <a:latin typeface="Times New Roman"/>
                <a:cs typeface="Times New Roman"/>
              </a:rPr>
              <a:t>forwarda </a:t>
            </a:r>
            <a:r>
              <a:rPr sz="2500" spc="-610" dirty="0">
                <a:latin typeface="Times New Roman"/>
                <a:cs typeface="Times New Roman"/>
              </a:rPr>
              <a:t> </a:t>
            </a:r>
            <a:r>
              <a:rPr sz="2500" spc="-200" dirty="0">
                <a:latin typeface="Times New Roman"/>
                <a:cs typeface="Times New Roman"/>
              </a:rPr>
              <a:t>f</a:t>
            </a:r>
            <a:r>
              <a:rPr sz="2500" spc="-80" dirty="0">
                <a:latin typeface="Times New Roman"/>
                <a:cs typeface="Times New Roman"/>
              </a:rPr>
              <a:t>r</a:t>
            </a:r>
            <a:r>
              <a:rPr sz="2500" spc="-120" dirty="0">
                <a:latin typeface="Times New Roman"/>
                <a:cs typeface="Times New Roman"/>
              </a:rPr>
              <a:t>a</a:t>
            </a:r>
            <a:r>
              <a:rPr sz="2500" spc="-165" dirty="0">
                <a:latin typeface="Times New Roman"/>
                <a:cs typeface="Times New Roman"/>
              </a:rPr>
              <a:t>m</a:t>
            </a:r>
            <a:r>
              <a:rPr sz="2500" spc="-90" dirty="0">
                <a:latin typeface="Times New Roman"/>
                <a:cs typeface="Times New Roman"/>
              </a:rPr>
              <a:t>e</a:t>
            </a:r>
            <a:r>
              <a:rPr sz="2500" spc="-110" dirty="0">
                <a:latin typeface="Times New Roman"/>
                <a:cs typeface="Times New Roman"/>
              </a:rPr>
              <a:t> </a:t>
            </a:r>
            <a:r>
              <a:rPr sz="2500" spc="-150" dirty="0">
                <a:latin typeface="Times New Roman"/>
                <a:cs typeface="Times New Roman"/>
              </a:rPr>
              <a:t>whi</a:t>
            </a:r>
            <a:r>
              <a:rPr sz="2500" spc="-90" dirty="0">
                <a:latin typeface="Times New Roman"/>
                <a:cs typeface="Times New Roman"/>
              </a:rPr>
              <a:t>c</a:t>
            </a:r>
            <a:r>
              <a:rPr sz="2500" spc="-160" dirty="0">
                <a:latin typeface="Times New Roman"/>
                <a:cs typeface="Times New Roman"/>
              </a:rPr>
              <a:t>h</a:t>
            </a:r>
            <a:r>
              <a:rPr sz="2500" spc="-90" dirty="0">
                <a:latin typeface="Times New Roman"/>
                <a:cs typeface="Times New Roman"/>
              </a:rPr>
              <a:t> </a:t>
            </a:r>
            <a:r>
              <a:rPr sz="2500" spc="-160" dirty="0">
                <a:latin typeface="Times New Roman"/>
                <a:cs typeface="Times New Roman"/>
              </a:rPr>
              <a:t>is</a:t>
            </a:r>
            <a:r>
              <a:rPr sz="2500" spc="-55" dirty="0">
                <a:latin typeface="Times New Roman"/>
                <a:cs typeface="Times New Roman"/>
              </a:rPr>
              <a:t> </a:t>
            </a:r>
            <a:r>
              <a:rPr sz="2500" spc="20" dirty="0">
                <a:latin typeface="Times New Roman"/>
                <a:cs typeface="Times New Roman"/>
              </a:rPr>
              <a:t>t</a:t>
            </a:r>
            <a:r>
              <a:rPr sz="2500" spc="-125" dirty="0">
                <a:latin typeface="Times New Roman"/>
                <a:cs typeface="Times New Roman"/>
              </a:rPr>
              <a:t>o</a:t>
            </a:r>
            <a:r>
              <a:rPr sz="2500" spc="-110" dirty="0">
                <a:latin typeface="Times New Roman"/>
                <a:cs typeface="Times New Roman"/>
              </a:rPr>
              <a:t>o</a:t>
            </a:r>
            <a:r>
              <a:rPr sz="2500" spc="-90" dirty="0">
                <a:latin typeface="Times New Roman"/>
                <a:cs typeface="Times New Roman"/>
              </a:rPr>
              <a:t> </a:t>
            </a:r>
            <a:r>
              <a:rPr sz="2500" spc="-155" dirty="0">
                <a:latin typeface="Times New Roman"/>
                <a:cs typeface="Times New Roman"/>
              </a:rPr>
              <a:t>big</a:t>
            </a:r>
            <a:r>
              <a:rPr sz="2500" spc="-60" dirty="0">
                <a:latin typeface="Times New Roman"/>
                <a:cs typeface="Times New Roman"/>
              </a:rPr>
              <a:t> </a:t>
            </a:r>
            <a:r>
              <a:rPr sz="2500" spc="-210" dirty="0">
                <a:latin typeface="Times New Roman"/>
                <a:cs typeface="Times New Roman"/>
              </a:rPr>
              <a:t>f</a:t>
            </a:r>
            <a:r>
              <a:rPr sz="2500" spc="-140" dirty="0">
                <a:latin typeface="Times New Roman"/>
                <a:cs typeface="Times New Roman"/>
              </a:rPr>
              <a:t>o</a:t>
            </a:r>
            <a:r>
              <a:rPr sz="2500" spc="25" dirty="0">
                <a:latin typeface="Times New Roman"/>
                <a:cs typeface="Times New Roman"/>
              </a:rPr>
              <a:t>r</a:t>
            </a:r>
            <a:r>
              <a:rPr sz="2500" spc="-80" dirty="0">
                <a:latin typeface="Times New Roman"/>
                <a:cs typeface="Times New Roman"/>
              </a:rPr>
              <a:t> </a:t>
            </a:r>
            <a:r>
              <a:rPr sz="2500" spc="-75" dirty="0">
                <a:latin typeface="Times New Roman"/>
                <a:cs typeface="Times New Roman"/>
              </a:rPr>
              <a:t>the</a:t>
            </a:r>
            <a:r>
              <a:rPr sz="2500" spc="-90" dirty="0">
                <a:latin typeface="Times New Roman"/>
                <a:cs typeface="Times New Roman"/>
              </a:rPr>
              <a:t> </a:t>
            </a:r>
            <a:r>
              <a:rPr sz="2500" spc="-125" dirty="0">
                <a:latin typeface="Times New Roman"/>
                <a:cs typeface="Times New Roman"/>
              </a:rPr>
              <a:t>n</a:t>
            </a:r>
            <a:r>
              <a:rPr sz="2500" spc="-120" dirty="0">
                <a:latin typeface="Times New Roman"/>
                <a:cs typeface="Times New Roman"/>
              </a:rPr>
              <a:t>e</a:t>
            </a:r>
            <a:r>
              <a:rPr sz="2500" spc="-125" dirty="0">
                <a:latin typeface="Times New Roman"/>
                <a:cs typeface="Times New Roman"/>
              </a:rPr>
              <a:t>x</a:t>
            </a:r>
            <a:r>
              <a:rPr sz="2500" spc="30" dirty="0">
                <a:latin typeface="Times New Roman"/>
                <a:cs typeface="Times New Roman"/>
              </a:rPr>
              <a:t>t</a:t>
            </a:r>
            <a:r>
              <a:rPr sz="2500" spc="-60" dirty="0">
                <a:latin typeface="Times New Roman"/>
                <a:cs typeface="Times New Roman"/>
              </a:rPr>
              <a:t> </a:t>
            </a:r>
            <a:r>
              <a:rPr sz="2500" spc="-305" dirty="0">
                <a:latin typeface="Times New Roman"/>
                <a:cs typeface="Times New Roman"/>
              </a:rPr>
              <a:t>LA</a:t>
            </a:r>
            <a:r>
              <a:rPr sz="2500" spc="-280" dirty="0">
                <a:latin typeface="Times New Roman"/>
                <a:cs typeface="Times New Roman"/>
              </a:rPr>
              <a:t>N</a:t>
            </a:r>
            <a:r>
              <a:rPr sz="2500" spc="100" dirty="0">
                <a:latin typeface="Times New Roman"/>
                <a:cs typeface="Times New Roman"/>
              </a:rPr>
              <a:t>.</a:t>
            </a:r>
            <a:endParaRPr sz="2500">
              <a:latin typeface="Times New Roman"/>
              <a:cs typeface="Times New Roman"/>
            </a:endParaRPr>
          </a:p>
          <a:p>
            <a:pPr marL="356870" indent="-344805">
              <a:lnSpc>
                <a:spcPts val="2890"/>
              </a:lnSpc>
              <a:buClr>
                <a:srgbClr val="C0504D"/>
              </a:buClr>
              <a:buSzPct val="74000"/>
              <a:buFont typeface="Wingdings"/>
              <a:buChar char=""/>
              <a:tabLst>
                <a:tab pos="356870" algn="l"/>
                <a:tab pos="357505" algn="l"/>
              </a:tabLst>
            </a:pPr>
            <a:r>
              <a:rPr sz="2500" spc="-145" dirty="0">
                <a:latin typeface="Times New Roman"/>
                <a:cs typeface="Times New Roman"/>
              </a:rPr>
              <a:t>Forwarding</a:t>
            </a:r>
            <a:endParaRPr sz="25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tabLst>
                <a:tab pos="742315" algn="l"/>
              </a:tabLst>
            </a:pPr>
            <a:r>
              <a:rPr sz="2500" spc="-210" dirty="0">
                <a:solidFill>
                  <a:srgbClr val="800080"/>
                </a:solidFill>
                <a:latin typeface="Times New Roman"/>
                <a:cs typeface="Times New Roman"/>
              </a:rPr>
              <a:t>»	</a:t>
            </a:r>
            <a:r>
              <a:rPr sz="2500" spc="-110" dirty="0">
                <a:latin typeface="Times New Roman"/>
                <a:cs typeface="Times New Roman"/>
              </a:rPr>
              <a:t>Routers</a:t>
            </a:r>
            <a:r>
              <a:rPr sz="2500" spc="-55" dirty="0">
                <a:latin typeface="Times New Roman"/>
                <a:cs typeface="Times New Roman"/>
              </a:rPr>
              <a:t> </a:t>
            </a:r>
            <a:r>
              <a:rPr sz="2500" spc="-125" dirty="0">
                <a:latin typeface="Times New Roman"/>
                <a:cs typeface="Times New Roman"/>
              </a:rPr>
              <a:t>forward</a:t>
            </a:r>
            <a:r>
              <a:rPr sz="2500" spc="-65" dirty="0">
                <a:latin typeface="Times New Roman"/>
                <a:cs typeface="Times New Roman"/>
              </a:rPr>
              <a:t> </a:t>
            </a:r>
            <a:r>
              <a:rPr sz="2500" spc="-200" dirty="0">
                <a:latin typeface="Times New Roman"/>
                <a:cs typeface="Times New Roman"/>
              </a:rPr>
              <a:t>a</a:t>
            </a:r>
            <a:r>
              <a:rPr sz="2500" spc="-75" dirty="0">
                <a:latin typeface="Times New Roman"/>
                <a:cs typeface="Times New Roman"/>
              </a:rPr>
              <a:t> </a:t>
            </a:r>
            <a:r>
              <a:rPr sz="2500" spc="-170" dirty="0">
                <a:latin typeface="Times New Roman"/>
                <a:cs typeface="Times New Roman"/>
              </a:rPr>
              <a:t>message</a:t>
            </a:r>
            <a:r>
              <a:rPr sz="2500" spc="-90" dirty="0">
                <a:latin typeface="Times New Roman"/>
                <a:cs typeface="Times New Roman"/>
              </a:rPr>
              <a:t> </a:t>
            </a:r>
            <a:r>
              <a:rPr sz="2500" spc="-50" dirty="0">
                <a:latin typeface="Times New Roman"/>
                <a:cs typeface="Times New Roman"/>
              </a:rPr>
              <a:t>to</a:t>
            </a:r>
            <a:r>
              <a:rPr sz="2500" spc="-90" dirty="0">
                <a:latin typeface="Times New Roman"/>
                <a:cs typeface="Times New Roman"/>
              </a:rPr>
              <a:t> </a:t>
            </a:r>
            <a:r>
              <a:rPr sz="2500" spc="-200" dirty="0">
                <a:latin typeface="Times New Roman"/>
                <a:cs typeface="Times New Roman"/>
              </a:rPr>
              <a:t>a</a:t>
            </a:r>
            <a:r>
              <a:rPr sz="2500" spc="-70" dirty="0">
                <a:latin typeface="Times New Roman"/>
                <a:cs typeface="Times New Roman"/>
              </a:rPr>
              <a:t> </a:t>
            </a:r>
            <a:r>
              <a:rPr sz="2500" spc="-145" dirty="0">
                <a:latin typeface="Times New Roman"/>
                <a:cs typeface="Times New Roman"/>
              </a:rPr>
              <a:t>specific</a:t>
            </a:r>
            <a:r>
              <a:rPr sz="2500" spc="-170" dirty="0">
                <a:latin typeface="Times New Roman"/>
                <a:cs typeface="Times New Roman"/>
              </a:rPr>
              <a:t> </a:t>
            </a:r>
            <a:r>
              <a:rPr sz="2500" spc="-85" dirty="0">
                <a:latin typeface="Times New Roman"/>
                <a:cs typeface="Times New Roman"/>
              </a:rPr>
              <a:t>destination.</a:t>
            </a:r>
            <a:endParaRPr sz="25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tabLst>
                <a:tab pos="742315" algn="l"/>
              </a:tabLst>
            </a:pPr>
            <a:r>
              <a:rPr sz="2500" spc="-210" dirty="0">
                <a:solidFill>
                  <a:srgbClr val="800080"/>
                </a:solidFill>
                <a:latin typeface="Times New Roman"/>
                <a:cs typeface="Times New Roman"/>
              </a:rPr>
              <a:t>»	</a:t>
            </a:r>
            <a:r>
              <a:rPr sz="2500" spc="-150" dirty="0">
                <a:latin typeface="Times New Roman"/>
                <a:cs typeface="Times New Roman"/>
              </a:rPr>
              <a:t>Bridges</a:t>
            </a:r>
            <a:r>
              <a:rPr sz="2500" spc="-85" dirty="0">
                <a:latin typeface="Times New Roman"/>
                <a:cs typeface="Times New Roman"/>
              </a:rPr>
              <a:t> </a:t>
            </a:r>
            <a:r>
              <a:rPr sz="2500" spc="-125" dirty="0">
                <a:latin typeface="Times New Roman"/>
                <a:cs typeface="Times New Roman"/>
              </a:rPr>
              <a:t>forward</a:t>
            </a:r>
            <a:r>
              <a:rPr sz="2500" spc="-65" dirty="0">
                <a:latin typeface="Times New Roman"/>
                <a:cs typeface="Times New Roman"/>
              </a:rPr>
              <a:t> </a:t>
            </a:r>
            <a:r>
              <a:rPr sz="2500" spc="-200" dirty="0">
                <a:latin typeface="Times New Roman"/>
                <a:cs typeface="Times New Roman"/>
              </a:rPr>
              <a:t>a</a:t>
            </a:r>
            <a:r>
              <a:rPr sz="2500" spc="-75" dirty="0">
                <a:latin typeface="Times New Roman"/>
                <a:cs typeface="Times New Roman"/>
              </a:rPr>
              <a:t> </a:t>
            </a:r>
            <a:r>
              <a:rPr sz="2500" spc="-170" dirty="0">
                <a:latin typeface="Times New Roman"/>
                <a:cs typeface="Times New Roman"/>
              </a:rPr>
              <a:t>message</a:t>
            </a:r>
            <a:r>
              <a:rPr sz="2500" spc="-85" dirty="0">
                <a:latin typeface="Times New Roman"/>
                <a:cs typeface="Times New Roman"/>
              </a:rPr>
              <a:t> </a:t>
            </a:r>
            <a:r>
              <a:rPr sz="2500" spc="-45" dirty="0">
                <a:latin typeface="Times New Roman"/>
                <a:cs typeface="Times New Roman"/>
              </a:rPr>
              <a:t>to</a:t>
            </a:r>
            <a:r>
              <a:rPr sz="2500" spc="-100" dirty="0">
                <a:latin typeface="Times New Roman"/>
                <a:cs typeface="Times New Roman"/>
              </a:rPr>
              <a:t> </a:t>
            </a:r>
            <a:r>
              <a:rPr sz="2500" spc="-155" dirty="0">
                <a:latin typeface="Times New Roman"/>
                <a:cs typeface="Times New Roman"/>
              </a:rPr>
              <a:t>an</a:t>
            </a:r>
            <a:r>
              <a:rPr sz="2500" spc="-65" dirty="0">
                <a:latin typeface="Times New Roman"/>
                <a:cs typeface="Times New Roman"/>
              </a:rPr>
              <a:t> </a:t>
            </a:r>
            <a:r>
              <a:rPr sz="2500" spc="-120" dirty="0">
                <a:latin typeface="Times New Roman"/>
                <a:cs typeface="Times New Roman"/>
              </a:rPr>
              <a:t>outgoing</a:t>
            </a:r>
            <a:r>
              <a:rPr sz="2500" spc="-300" dirty="0">
                <a:latin typeface="Times New Roman"/>
                <a:cs typeface="Times New Roman"/>
              </a:rPr>
              <a:t> </a:t>
            </a:r>
            <a:r>
              <a:rPr sz="2500" spc="-80" dirty="0">
                <a:latin typeface="Times New Roman"/>
                <a:cs typeface="Times New Roman"/>
              </a:rPr>
              <a:t>network.</a:t>
            </a:r>
            <a:endParaRPr sz="25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9661" y="987679"/>
            <a:ext cx="7126605" cy="209486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6870" indent="-344805">
              <a:lnSpc>
                <a:spcPts val="2735"/>
              </a:lnSpc>
              <a:spcBef>
                <a:spcPts val="95"/>
              </a:spcBef>
              <a:buClr>
                <a:srgbClr val="C0504D"/>
              </a:buClr>
              <a:buSzPct val="74000"/>
              <a:buFont typeface="Wingdings"/>
              <a:buChar char=""/>
              <a:tabLst>
                <a:tab pos="356870" algn="l"/>
                <a:tab pos="357505" algn="l"/>
              </a:tabLst>
            </a:pPr>
            <a:r>
              <a:rPr sz="2500" spc="-65" dirty="0">
                <a:latin typeface="Times New Roman"/>
                <a:cs typeface="Times New Roman"/>
              </a:rPr>
              <a:t>Priority</a:t>
            </a:r>
            <a:endParaRPr sz="2500">
              <a:latin typeface="Times New Roman"/>
              <a:cs typeface="Times New Roman"/>
            </a:endParaRPr>
          </a:p>
          <a:p>
            <a:pPr marL="469900">
              <a:lnSpc>
                <a:spcPts val="2515"/>
              </a:lnSpc>
            </a:pPr>
            <a:r>
              <a:rPr sz="2500" spc="-210" dirty="0">
                <a:solidFill>
                  <a:srgbClr val="800080"/>
                </a:solidFill>
                <a:latin typeface="Times New Roman"/>
                <a:cs typeface="Times New Roman"/>
              </a:rPr>
              <a:t>»</a:t>
            </a:r>
            <a:r>
              <a:rPr sz="2500" spc="-85" dirty="0">
                <a:solidFill>
                  <a:srgbClr val="800080"/>
                </a:solidFill>
                <a:latin typeface="Times New Roman"/>
                <a:cs typeface="Times New Roman"/>
              </a:rPr>
              <a:t> </a:t>
            </a:r>
            <a:r>
              <a:rPr sz="2500" spc="-90" dirty="0">
                <a:latin typeface="Times New Roman"/>
                <a:cs typeface="Times New Roman"/>
              </a:rPr>
              <a:t>Routers</a:t>
            </a:r>
            <a:r>
              <a:rPr sz="2500" spc="-35" dirty="0">
                <a:latin typeface="Times New Roman"/>
                <a:cs typeface="Times New Roman"/>
              </a:rPr>
              <a:t> </a:t>
            </a:r>
            <a:r>
              <a:rPr sz="2500" spc="-155" dirty="0">
                <a:latin typeface="Times New Roman"/>
                <a:cs typeface="Times New Roman"/>
              </a:rPr>
              <a:t>can</a:t>
            </a:r>
            <a:r>
              <a:rPr sz="2500" spc="-70" dirty="0">
                <a:latin typeface="Times New Roman"/>
                <a:cs typeface="Times New Roman"/>
              </a:rPr>
              <a:t> </a:t>
            </a:r>
            <a:r>
              <a:rPr sz="2500" spc="-50" dirty="0">
                <a:latin typeface="Times New Roman"/>
                <a:cs typeface="Times New Roman"/>
              </a:rPr>
              <a:t>treat</a:t>
            </a:r>
            <a:r>
              <a:rPr sz="2500" spc="-65" dirty="0">
                <a:latin typeface="Times New Roman"/>
                <a:cs typeface="Times New Roman"/>
              </a:rPr>
              <a:t> </a:t>
            </a:r>
            <a:r>
              <a:rPr sz="2500" spc="-130" dirty="0">
                <a:latin typeface="Times New Roman"/>
                <a:cs typeface="Times New Roman"/>
              </a:rPr>
              <a:t>packets</a:t>
            </a:r>
            <a:r>
              <a:rPr sz="2500" spc="-45" dirty="0">
                <a:latin typeface="Times New Roman"/>
                <a:cs typeface="Times New Roman"/>
              </a:rPr>
              <a:t> </a:t>
            </a:r>
            <a:r>
              <a:rPr sz="2500" spc="-130" dirty="0">
                <a:latin typeface="Times New Roman"/>
                <a:cs typeface="Times New Roman"/>
              </a:rPr>
              <a:t>according</a:t>
            </a:r>
            <a:r>
              <a:rPr sz="2500" spc="-20" dirty="0">
                <a:latin typeface="Times New Roman"/>
                <a:cs typeface="Times New Roman"/>
              </a:rPr>
              <a:t> </a:t>
            </a:r>
            <a:r>
              <a:rPr sz="2500" spc="-40" dirty="0">
                <a:latin typeface="Times New Roman"/>
                <a:cs typeface="Times New Roman"/>
              </a:rPr>
              <a:t>to</a:t>
            </a:r>
            <a:r>
              <a:rPr sz="2500" spc="5" dirty="0">
                <a:latin typeface="Times New Roman"/>
                <a:cs typeface="Times New Roman"/>
              </a:rPr>
              <a:t> </a:t>
            </a:r>
            <a:r>
              <a:rPr sz="2500" spc="-70" dirty="0">
                <a:latin typeface="Times New Roman"/>
                <a:cs typeface="Times New Roman"/>
              </a:rPr>
              <a:t>priorities</a:t>
            </a:r>
            <a:endParaRPr sz="2500">
              <a:latin typeface="Times New Roman"/>
              <a:cs typeface="Times New Roman"/>
            </a:endParaRPr>
          </a:p>
          <a:p>
            <a:pPr marL="469900">
              <a:lnSpc>
                <a:spcPts val="2690"/>
              </a:lnSpc>
            </a:pPr>
            <a:r>
              <a:rPr sz="2500" spc="-210" dirty="0">
                <a:solidFill>
                  <a:srgbClr val="800080"/>
                </a:solidFill>
                <a:latin typeface="Times New Roman"/>
                <a:cs typeface="Times New Roman"/>
              </a:rPr>
              <a:t>»</a:t>
            </a:r>
            <a:r>
              <a:rPr sz="2500" spc="-85" dirty="0">
                <a:solidFill>
                  <a:srgbClr val="800080"/>
                </a:solidFill>
                <a:latin typeface="Times New Roman"/>
                <a:cs typeface="Times New Roman"/>
              </a:rPr>
              <a:t> </a:t>
            </a:r>
            <a:r>
              <a:rPr sz="2500" spc="-250" dirty="0">
                <a:latin typeface="Times New Roman"/>
                <a:cs typeface="Times New Roman"/>
              </a:rPr>
              <a:t>B</a:t>
            </a:r>
            <a:r>
              <a:rPr sz="2500" spc="-75" dirty="0">
                <a:latin typeface="Times New Roman"/>
                <a:cs typeface="Times New Roman"/>
              </a:rPr>
              <a:t>r</a:t>
            </a:r>
            <a:r>
              <a:rPr sz="2500" spc="-150" dirty="0">
                <a:latin typeface="Times New Roman"/>
                <a:cs typeface="Times New Roman"/>
              </a:rPr>
              <a:t>idges</a:t>
            </a:r>
            <a:r>
              <a:rPr sz="2500" spc="-75" dirty="0">
                <a:latin typeface="Times New Roman"/>
                <a:cs typeface="Times New Roman"/>
              </a:rPr>
              <a:t> </a:t>
            </a:r>
            <a:r>
              <a:rPr sz="2500" spc="25" dirty="0">
                <a:latin typeface="Times New Roman"/>
                <a:cs typeface="Times New Roman"/>
              </a:rPr>
              <a:t>t</a:t>
            </a:r>
            <a:r>
              <a:rPr sz="2500" spc="15" dirty="0">
                <a:latin typeface="Times New Roman"/>
                <a:cs typeface="Times New Roman"/>
              </a:rPr>
              <a:t>r</a:t>
            </a:r>
            <a:r>
              <a:rPr sz="2500" spc="-150" dirty="0">
                <a:latin typeface="Times New Roman"/>
                <a:cs typeface="Times New Roman"/>
              </a:rPr>
              <a:t>e</a:t>
            </a:r>
            <a:r>
              <a:rPr sz="2500" spc="-180" dirty="0">
                <a:latin typeface="Times New Roman"/>
                <a:cs typeface="Times New Roman"/>
              </a:rPr>
              <a:t>a</a:t>
            </a:r>
            <a:r>
              <a:rPr sz="2500" spc="30" dirty="0">
                <a:latin typeface="Times New Roman"/>
                <a:cs typeface="Times New Roman"/>
              </a:rPr>
              <a:t>t</a:t>
            </a:r>
            <a:r>
              <a:rPr sz="2500" spc="-85" dirty="0">
                <a:latin typeface="Times New Roman"/>
                <a:cs typeface="Times New Roman"/>
              </a:rPr>
              <a:t> </a:t>
            </a:r>
            <a:r>
              <a:rPr sz="2500" spc="-145" dirty="0">
                <a:latin typeface="Times New Roman"/>
                <a:cs typeface="Times New Roman"/>
              </a:rPr>
              <a:t>al</a:t>
            </a:r>
            <a:r>
              <a:rPr sz="2500" spc="-110" dirty="0">
                <a:latin typeface="Times New Roman"/>
                <a:cs typeface="Times New Roman"/>
              </a:rPr>
              <a:t>l</a:t>
            </a:r>
            <a:r>
              <a:rPr sz="2500" spc="-65" dirty="0">
                <a:latin typeface="Times New Roman"/>
                <a:cs typeface="Times New Roman"/>
              </a:rPr>
              <a:t> </a:t>
            </a:r>
            <a:r>
              <a:rPr sz="2500" spc="-155" dirty="0">
                <a:latin typeface="Times New Roman"/>
                <a:cs typeface="Times New Roman"/>
              </a:rPr>
              <a:t>pa</a:t>
            </a:r>
            <a:r>
              <a:rPr sz="2500" spc="-105" dirty="0">
                <a:latin typeface="Times New Roman"/>
                <a:cs typeface="Times New Roman"/>
              </a:rPr>
              <a:t>c</a:t>
            </a:r>
            <a:r>
              <a:rPr sz="2500" spc="-200" dirty="0">
                <a:latin typeface="Times New Roman"/>
                <a:cs typeface="Times New Roman"/>
              </a:rPr>
              <a:t>k</a:t>
            </a:r>
            <a:r>
              <a:rPr sz="2500" spc="-85" dirty="0">
                <a:latin typeface="Times New Roman"/>
                <a:cs typeface="Times New Roman"/>
              </a:rPr>
              <a:t>ets</a:t>
            </a:r>
            <a:r>
              <a:rPr sz="2500" spc="105" dirty="0">
                <a:latin typeface="Times New Roman"/>
                <a:cs typeface="Times New Roman"/>
              </a:rPr>
              <a:t> </a:t>
            </a:r>
            <a:r>
              <a:rPr sz="2500" spc="-130" dirty="0">
                <a:latin typeface="Times New Roman"/>
                <a:cs typeface="Times New Roman"/>
              </a:rPr>
              <a:t>e</a:t>
            </a:r>
            <a:r>
              <a:rPr sz="2500" spc="-160" dirty="0">
                <a:latin typeface="Times New Roman"/>
                <a:cs typeface="Times New Roman"/>
              </a:rPr>
              <a:t>q</a:t>
            </a:r>
            <a:r>
              <a:rPr sz="2500" spc="-140" dirty="0">
                <a:latin typeface="Times New Roman"/>
                <a:cs typeface="Times New Roman"/>
              </a:rPr>
              <a:t>u</a:t>
            </a:r>
            <a:r>
              <a:rPr sz="2500" spc="-225" dirty="0">
                <a:latin typeface="Times New Roman"/>
                <a:cs typeface="Times New Roman"/>
              </a:rPr>
              <a:t>a</a:t>
            </a:r>
            <a:r>
              <a:rPr sz="2500" spc="-120" dirty="0">
                <a:latin typeface="Times New Roman"/>
                <a:cs typeface="Times New Roman"/>
              </a:rPr>
              <a:t>l</a:t>
            </a:r>
            <a:r>
              <a:rPr sz="2500" spc="-170" dirty="0">
                <a:latin typeface="Times New Roman"/>
                <a:cs typeface="Times New Roman"/>
              </a:rPr>
              <a:t>l</a:t>
            </a:r>
            <a:r>
              <a:rPr sz="2500" spc="-484" dirty="0">
                <a:latin typeface="Times New Roman"/>
                <a:cs typeface="Times New Roman"/>
              </a:rPr>
              <a:t>y</a:t>
            </a:r>
            <a:r>
              <a:rPr sz="2500" spc="100" dirty="0">
                <a:latin typeface="Times New Roman"/>
                <a:cs typeface="Times New Roman"/>
              </a:rPr>
              <a:t>.</a:t>
            </a:r>
            <a:endParaRPr sz="2500">
              <a:latin typeface="Times New Roman"/>
              <a:cs typeface="Times New Roman"/>
            </a:endParaRPr>
          </a:p>
          <a:p>
            <a:pPr marL="356870" indent="-344805">
              <a:lnSpc>
                <a:spcPts val="2785"/>
              </a:lnSpc>
              <a:buClr>
                <a:srgbClr val="C0504D"/>
              </a:buClr>
              <a:buSzPct val="74000"/>
              <a:buFont typeface="Wingdings"/>
              <a:buChar char=""/>
              <a:tabLst>
                <a:tab pos="356870" algn="l"/>
                <a:tab pos="357505" algn="l"/>
              </a:tabLst>
            </a:pPr>
            <a:r>
              <a:rPr sz="2500" spc="-150" dirty="0">
                <a:latin typeface="Times New Roman"/>
                <a:cs typeface="Times New Roman"/>
              </a:rPr>
              <a:t>E</a:t>
            </a:r>
            <a:r>
              <a:rPr sz="2500" spc="-35" dirty="0">
                <a:latin typeface="Times New Roman"/>
                <a:cs typeface="Times New Roman"/>
              </a:rPr>
              <a:t>r</a:t>
            </a:r>
            <a:r>
              <a:rPr sz="2500" spc="5" dirty="0">
                <a:latin typeface="Times New Roman"/>
                <a:cs typeface="Times New Roman"/>
              </a:rPr>
              <a:t>r</a:t>
            </a:r>
            <a:r>
              <a:rPr sz="2500" spc="-45" dirty="0">
                <a:latin typeface="Times New Roman"/>
                <a:cs typeface="Times New Roman"/>
              </a:rPr>
              <a:t>or</a:t>
            </a:r>
            <a:r>
              <a:rPr sz="2500" spc="-160" dirty="0">
                <a:latin typeface="Times New Roman"/>
                <a:cs typeface="Times New Roman"/>
              </a:rPr>
              <a:t> </a:t>
            </a:r>
            <a:r>
              <a:rPr sz="2500" spc="-235" dirty="0">
                <a:latin typeface="Times New Roman"/>
                <a:cs typeface="Times New Roman"/>
              </a:rPr>
              <a:t>R</a:t>
            </a:r>
            <a:r>
              <a:rPr sz="2500" spc="-175" dirty="0">
                <a:latin typeface="Times New Roman"/>
                <a:cs typeface="Times New Roman"/>
              </a:rPr>
              <a:t>a</a:t>
            </a:r>
            <a:r>
              <a:rPr sz="2500" spc="-35" dirty="0">
                <a:latin typeface="Times New Roman"/>
                <a:cs typeface="Times New Roman"/>
              </a:rPr>
              <a:t>te</a:t>
            </a:r>
            <a:endParaRPr sz="2500">
              <a:latin typeface="Times New Roman"/>
              <a:cs typeface="Times New Roman"/>
            </a:endParaRPr>
          </a:p>
          <a:p>
            <a:pPr marL="756285" marR="5080" indent="-287020">
              <a:lnSpc>
                <a:spcPts val="2700"/>
              </a:lnSpc>
              <a:spcBef>
                <a:spcPts val="215"/>
              </a:spcBef>
              <a:tabLst>
                <a:tab pos="3032125" algn="l"/>
              </a:tabLst>
            </a:pPr>
            <a:r>
              <a:rPr sz="2500" spc="-210" dirty="0">
                <a:solidFill>
                  <a:srgbClr val="800080"/>
                </a:solidFill>
                <a:latin typeface="Times New Roman"/>
                <a:cs typeface="Times New Roman"/>
              </a:rPr>
              <a:t>»</a:t>
            </a:r>
            <a:r>
              <a:rPr sz="2500" spc="95" dirty="0">
                <a:solidFill>
                  <a:srgbClr val="800080"/>
                </a:solidFill>
                <a:latin typeface="Times New Roman"/>
                <a:cs typeface="Times New Roman"/>
              </a:rPr>
              <a:t> </a:t>
            </a:r>
            <a:r>
              <a:rPr sz="2500" spc="-80" dirty="0">
                <a:latin typeface="Times New Roman"/>
                <a:cs typeface="Times New Roman"/>
              </a:rPr>
              <a:t>Net</a:t>
            </a:r>
            <a:r>
              <a:rPr sz="2500" spc="-200" dirty="0">
                <a:latin typeface="Times New Roman"/>
                <a:cs typeface="Times New Roman"/>
              </a:rPr>
              <a:t>w</a:t>
            </a:r>
            <a:r>
              <a:rPr sz="2500" spc="-80" dirty="0">
                <a:latin typeface="Times New Roman"/>
                <a:cs typeface="Times New Roman"/>
              </a:rPr>
              <a:t>ork</a:t>
            </a:r>
            <a:r>
              <a:rPr sz="2500" spc="-90" dirty="0">
                <a:latin typeface="Times New Roman"/>
                <a:cs typeface="Times New Roman"/>
              </a:rPr>
              <a:t> </a:t>
            </a:r>
            <a:r>
              <a:rPr sz="2500" spc="-120" dirty="0">
                <a:latin typeface="Times New Roman"/>
                <a:cs typeface="Times New Roman"/>
              </a:rPr>
              <a:t>l</a:t>
            </a:r>
            <a:r>
              <a:rPr sz="2500" spc="-265" dirty="0">
                <a:latin typeface="Times New Roman"/>
                <a:cs typeface="Times New Roman"/>
              </a:rPr>
              <a:t>a</a:t>
            </a:r>
            <a:r>
              <a:rPr sz="2500" spc="-245" dirty="0">
                <a:latin typeface="Times New Roman"/>
                <a:cs typeface="Times New Roman"/>
              </a:rPr>
              <a:t>y</a:t>
            </a:r>
            <a:r>
              <a:rPr sz="2500" spc="-40" dirty="0">
                <a:latin typeface="Times New Roman"/>
                <a:cs typeface="Times New Roman"/>
              </a:rPr>
              <a:t>e</a:t>
            </a:r>
            <a:r>
              <a:rPr sz="2500" spc="10" dirty="0">
                <a:latin typeface="Times New Roman"/>
                <a:cs typeface="Times New Roman"/>
              </a:rPr>
              <a:t>r</a:t>
            </a:r>
            <a:r>
              <a:rPr sz="2500" spc="-195" dirty="0">
                <a:latin typeface="Times New Roman"/>
                <a:cs typeface="Times New Roman"/>
              </a:rPr>
              <a:t>s</a:t>
            </a:r>
            <a:r>
              <a:rPr sz="2500" dirty="0">
                <a:latin typeface="Times New Roman"/>
                <a:cs typeface="Times New Roman"/>
              </a:rPr>
              <a:t>	</a:t>
            </a:r>
            <a:r>
              <a:rPr sz="2500" spc="-190" dirty="0">
                <a:latin typeface="Times New Roman"/>
                <a:cs typeface="Times New Roman"/>
              </a:rPr>
              <a:t>h</a:t>
            </a:r>
            <a:r>
              <a:rPr sz="2500" spc="-245" dirty="0">
                <a:latin typeface="Times New Roman"/>
                <a:cs typeface="Times New Roman"/>
              </a:rPr>
              <a:t>a</a:t>
            </a:r>
            <a:r>
              <a:rPr sz="2500" spc="-254" dirty="0">
                <a:latin typeface="Times New Roman"/>
                <a:cs typeface="Times New Roman"/>
              </a:rPr>
              <a:t>v</a:t>
            </a:r>
            <a:r>
              <a:rPr sz="2500" spc="-100" dirty="0">
                <a:latin typeface="Times New Roman"/>
                <a:cs typeface="Times New Roman"/>
              </a:rPr>
              <a:t>e</a:t>
            </a:r>
            <a:r>
              <a:rPr sz="2500" spc="-95" dirty="0">
                <a:latin typeface="Times New Roman"/>
                <a:cs typeface="Times New Roman"/>
              </a:rPr>
              <a:t> </a:t>
            </a:r>
            <a:r>
              <a:rPr sz="2500" spc="-40" dirty="0">
                <a:latin typeface="Times New Roman"/>
                <a:cs typeface="Times New Roman"/>
              </a:rPr>
              <a:t>e</a:t>
            </a:r>
            <a:r>
              <a:rPr sz="2500" spc="10" dirty="0">
                <a:latin typeface="Times New Roman"/>
                <a:cs typeface="Times New Roman"/>
              </a:rPr>
              <a:t>r</a:t>
            </a:r>
            <a:r>
              <a:rPr sz="2500" dirty="0">
                <a:latin typeface="Times New Roman"/>
                <a:cs typeface="Times New Roman"/>
              </a:rPr>
              <a:t>r</a:t>
            </a:r>
            <a:r>
              <a:rPr sz="2500" spc="-40" dirty="0">
                <a:latin typeface="Times New Roman"/>
                <a:cs typeface="Times New Roman"/>
              </a:rPr>
              <a:t>or</a:t>
            </a:r>
            <a:r>
              <a:rPr sz="2500" spc="-60" dirty="0">
                <a:latin typeface="Times New Roman"/>
                <a:cs typeface="Times New Roman"/>
              </a:rPr>
              <a:t>-</a:t>
            </a:r>
            <a:r>
              <a:rPr sz="2500" spc="-110" dirty="0">
                <a:latin typeface="Times New Roman"/>
                <a:cs typeface="Times New Roman"/>
              </a:rPr>
              <a:t>c</a:t>
            </a:r>
            <a:r>
              <a:rPr sz="2500" spc="-135" dirty="0">
                <a:latin typeface="Times New Roman"/>
                <a:cs typeface="Times New Roman"/>
              </a:rPr>
              <a:t>h</a:t>
            </a:r>
            <a:r>
              <a:rPr sz="2500" spc="-130" dirty="0">
                <a:latin typeface="Times New Roman"/>
                <a:cs typeface="Times New Roman"/>
              </a:rPr>
              <a:t>e</a:t>
            </a:r>
            <a:r>
              <a:rPr sz="2500" spc="-110" dirty="0">
                <a:latin typeface="Times New Roman"/>
                <a:cs typeface="Times New Roman"/>
              </a:rPr>
              <a:t>c</a:t>
            </a:r>
            <a:r>
              <a:rPr sz="2500" spc="-150" dirty="0">
                <a:latin typeface="Times New Roman"/>
                <a:cs typeface="Times New Roman"/>
              </a:rPr>
              <a:t>king</a:t>
            </a:r>
            <a:r>
              <a:rPr sz="2500" spc="-20" dirty="0">
                <a:latin typeface="Times New Roman"/>
                <a:cs typeface="Times New Roman"/>
              </a:rPr>
              <a:t> </a:t>
            </a:r>
            <a:r>
              <a:rPr sz="2500" spc="-130" dirty="0">
                <a:latin typeface="Times New Roman"/>
                <a:cs typeface="Times New Roman"/>
              </a:rPr>
              <a:t>algo</a:t>
            </a:r>
            <a:r>
              <a:rPr sz="2500" spc="-50" dirty="0">
                <a:latin typeface="Times New Roman"/>
                <a:cs typeface="Times New Roman"/>
              </a:rPr>
              <a:t>r</a:t>
            </a:r>
            <a:r>
              <a:rPr sz="2500" spc="-75" dirty="0">
                <a:latin typeface="Times New Roman"/>
                <a:cs typeface="Times New Roman"/>
              </a:rPr>
              <a:t>ith</a:t>
            </a:r>
            <a:r>
              <a:rPr sz="2500" spc="-165" dirty="0">
                <a:latin typeface="Times New Roman"/>
                <a:cs typeface="Times New Roman"/>
              </a:rPr>
              <a:t>m</a:t>
            </a:r>
            <a:r>
              <a:rPr sz="2500" spc="-195" dirty="0">
                <a:latin typeface="Times New Roman"/>
                <a:cs typeface="Times New Roman"/>
              </a:rPr>
              <a:t>s</a:t>
            </a:r>
            <a:r>
              <a:rPr sz="2500" spc="-110" dirty="0">
                <a:latin typeface="Times New Roman"/>
                <a:cs typeface="Times New Roman"/>
              </a:rPr>
              <a:t> </a:t>
            </a:r>
            <a:r>
              <a:rPr sz="2500" spc="-105" dirty="0">
                <a:latin typeface="Times New Roman"/>
                <a:cs typeface="Times New Roman"/>
              </a:rPr>
              <a:t>th</a:t>
            </a:r>
            <a:r>
              <a:rPr sz="2500" spc="-145" dirty="0">
                <a:latin typeface="Times New Roman"/>
                <a:cs typeface="Times New Roman"/>
              </a:rPr>
              <a:t>a</a:t>
            </a:r>
            <a:r>
              <a:rPr sz="2500" spc="30" dirty="0">
                <a:latin typeface="Times New Roman"/>
                <a:cs typeface="Times New Roman"/>
              </a:rPr>
              <a:t>t  </a:t>
            </a:r>
            <a:r>
              <a:rPr sz="2500" spc="-140" dirty="0">
                <a:latin typeface="Times New Roman"/>
                <a:cs typeface="Times New Roman"/>
              </a:rPr>
              <a:t>examines</a:t>
            </a:r>
            <a:r>
              <a:rPr sz="2500" spc="-75" dirty="0">
                <a:latin typeface="Times New Roman"/>
                <a:cs typeface="Times New Roman"/>
              </a:rPr>
              <a:t> </a:t>
            </a:r>
            <a:r>
              <a:rPr sz="2500" spc="-145" dirty="0">
                <a:latin typeface="Times New Roman"/>
                <a:cs typeface="Times New Roman"/>
              </a:rPr>
              <a:t>each</a:t>
            </a:r>
            <a:r>
              <a:rPr sz="2500" spc="-50" dirty="0">
                <a:latin typeface="Times New Roman"/>
                <a:cs typeface="Times New Roman"/>
              </a:rPr>
              <a:t> </a:t>
            </a:r>
            <a:r>
              <a:rPr sz="2500" spc="-120" dirty="0">
                <a:latin typeface="Times New Roman"/>
                <a:cs typeface="Times New Roman"/>
              </a:rPr>
              <a:t>received</a:t>
            </a:r>
            <a:r>
              <a:rPr sz="2500" spc="-135" dirty="0">
                <a:latin typeface="Times New Roman"/>
                <a:cs typeface="Times New Roman"/>
              </a:rPr>
              <a:t> </a:t>
            </a:r>
            <a:r>
              <a:rPr sz="2500" spc="-85" dirty="0">
                <a:latin typeface="Times New Roman"/>
                <a:cs typeface="Times New Roman"/>
              </a:rPr>
              <a:t>packet.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327653" y="3019424"/>
            <a:ext cx="4637405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spc="-50" dirty="0">
                <a:latin typeface="Times New Roman"/>
                <a:cs typeface="Times New Roman"/>
              </a:rPr>
              <a:t>p</a:t>
            </a:r>
            <a:r>
              <a:rPr sz="2500" spc="-60" dirty="0">
                <a:latin typeface="Times New Roman"/>
                <a:cs typeface="Times New Roman"/>
              </a:rPr>
              <a:t>r</a:t>
            </a:r>
            <a:r>
              <a:rPr sz="2500" spc="-185" dirty="0">
                <a:latin typeface="Times New Roman"/>
                <a:cs typeface="Times New Roman"/>
              </a:rPr>
              <a:t>o</a:t>
            </a:r>
            <a:r>
              <a:rPr sz="2500" spc="-215" dirty="0">
                <a:latin typeface="Times New Roman"/>
                <a:cs typeface="Times New Roman"/>
              </a:rPr>
              <a:t>v</a:t>
            </a:r>
            <a:r>
              <a:rPr sz="2500" spc="-114" dirty="0">
                <a:latin typeface="Times New Roman"/>
                <a:cs typeface="Times New Roman"/>
              </a:rPr>
              <a:t>i</a:t>
            </a:r>
            <a:r>
              <a:rPr sz="2500" spc="-110" dirty="0">
                <a:latin typeface="Times New Roman"/>
                <a:cs typeface="Times New Roman"/>
              </a:rPr>
              <a:t>de</a:t>
            </a:r>
            <a:r>
              <a:rPr sz="2500" spc="-195" dirty="0">
                <a:latin typeface="Times New Roman"/>
                <a:cs typeface="Times New Roman"/>
              </a:rPr>
              <a:t>s</a:t>
            </a:r>
            <a:r>
              <a:rPr sz="2500" spc="-75" dirty="0">
                <a:latin typeface="Times New Roman"/>
                <a:cs typeface="Times New Roman"/>
              </a:rPr>
              <a:t> </a:t>
            </a:r>
            <a:r>
              <a:rPr sz="2500" spc="-200" dirty="0">
                <a:latin typeface="Times New Roman"/>
                <a:cs typeface="Times New Roman"/>
              </a:rPr>
              <a:t>a</a:t>
            </a:r>
            <a:r>
              <a:rPr sz="2500" spc="-75" dirty="0">
                <a:latin typeface="Times New Roman"/>
                <a:cs typeface="Times New Roman"/>
              </a:rPr>
              <a:t> </a:t>
            </a:r>
            <a:r>
              <a:rPr sz="2500" spc="-254" dirty="0">
                <a:latin typeface="Times New Roman"/>
                <a:cs typeface="Times New Roman"/>
              </a:rPr>
              <a:t>v</a:t>
            </a:r>
            <a:r>
              <a:rPr sz="2500" spc="-45" dirty="0">
                <a:latin typeface="Times New Roman"/>
                <a:cs typeface="Times New Roman"/>
              </a:rPr>
              <a:t>e</a:t>
            </a:r>
            <a:r>
              <a:rPr sz="2500" spc="-15" dirty="0">
                <a:latin typeface="Times New Roman"/>
                <a:cs typeface="Times New Roman"/>
              </a:rPr>
              <a:t>r</a:t>
            </a:r>
            <a:r>
              <a:rPr sz="2500" spc="-210" dirty="0">
                <a:latin typeface="Times New Roman"/>
                <a:cs typeface="Times New Roman"/>
              </a:rPr>
              <a:t>y</a:t>
            </a:r>
            <a:r>
              <a:rPr sz="2500" spc="-95" dirty="0">
                <a:latin typeface="Times New Roman"/>
                <a:cs typeface="Times New Roman"/>
              </a:rPr>
              <a:t> </a:t>
            </a:r>
            <a:r>
              <a:rPr sz="2500" spc="-80" dirty="0">
                <a:latin typeface="Times New Roman"/>
                <a:cs typeface="Times New Roman"/>
              </a:rPr>
              <a:t>l</a:t>
            </a:r>
            <a:r>
              <a:rPr sz="2500" spc="-210" dirty="0">
                <a:latin typeface="Times New Roman"/>
                <a:cs typeface="Times New Roman"/>
              </a:rPr>
              <a:t>o</a:t>
            </a:r>
            <a:r>
              <a:rPr sz="2500" spc="-145" dirty="0">
                <a:latin typeface="Times New Roman"/>
                <a:cs typeface="Times New Roman"/>
              </a:rPr>
              <a:t>w</a:t>
            </a:r>
            <a:r>
              <a:rPr sz="2500" spc="-80" dirty="0">
                <a:latin typeface="Times New Roman"/>
                <a:cs typeface="Times New Roman"/>
              </a:rPr>
              <a:t> </a:t>
            </a:r>
            <a:r>
              <a:rPr sz="2500" spc="-110" dirty="0">
                <a:latin typeface="Times New Roman"/>
                <a:cs typeface="Times New Roman"/>
              </a:rPr>
              <a:t>un</a:t>
            </a:r>
            <a:r>
              <a:rPr sz="2500" spc="-120" dirty="0">
                <a:latin typeface="Times New Roman"/>
                <a:cs typeface="Times New Roman"/>
              </a:rPr>
              <a:t>d</a:t>
            </a:r>
            <a:r>
              <a:rPr sz="2500" spc="-50" dirty="0">
                <a:latin typeface="Times New Roman"/>
                <a:cs typeface="Times New Roman"/>
              </a:rPr>
              <a:t>et</a:t>
            </a:r>
            <a:r>
              <a:rPr sz="2500" spc="-75" dirty="0">
                <a:latin typeface="Times New Roman"/>
                <a:cs typeface="Times New Roman"/>
              </a:rPr>
              <a:t>e</a:t>
            </a:r>
            <a:r>
              <a:rPr sz="2500" spc="-80" dirty="0">
                <a:latin typeface="Times New Roman"/>
                <a:cs typeface="Times New Roman"/>
              </a:rPr>
              <a:t>cted</a:t>
            </a:r>
            <a:r>
              <a:rPr sz="2500" spc="-35" dirty="0">
                <a:latin typeface="Times New Roman"/>
                <a:cs typeface="Times New Roman"/>
              </a:rPr>
              <a:t> </a:t>
            </a:r>
            <a:r>
              <a:rPr sz="2500" spc="-75" dirty="0">
                <a:latin typeface="Times New Roman"/>
                <a:cs typeface="Times New Roman"/>
              </a:rPr>
              <a:t>bit</a:t>
            </a:r>
            <a:r>
              <a:rPr sz="2500" spc="-60" dirty="0">
                <a:latin typeface="Times New Roman"/>
                <a:cs typeface="Times New Roman"/>
              </a:rPr>
              <a:t> </a:t>
            </a:r>
            <a:r>
              <a:rPr sz="2500" spc="-45" dirty="0">
                <a:latin typeface="Times New Roman"/>
                <a:cs typeface="Times New Roman"/>
              </a:rPr>
              <a:t>e</a:t>
            </a:r>
            <a:r>
              <a:rPr sz="2500" spc="10" dirty="0">
                <a:latin typeface="Times New Roman"/>
                <a:cs typeface="Times New Roman"/>
              </a:rPr>
              <a:t>r</a:t>
            </a:r>
            <a:r>
              <a:rPr sz="2500" spc="5" dirty="0">
                <a:latin typeface="Times New Roman"/>
                <a:cs typeface="Times New Roman"/>
              </a:rPr>
              <a:t>r</a:t>
            </a:r>
            <a:r>
              <a:rPr sz="2500" spc="-45" dirty="0">
                <a:latin typeface="Times New Roman"/>
                <a:cs typeface="Times New Roman"/>
              </a:rPr>
              <a:t>or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89661" y="3019424"/>
            <a:ext cx="2417445" cy="112141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756285" marR="5080" indent="-287020">
              <a:lnSpc>
                <a:spcPts val="2700"/>
              </a:lnSpc>
              <a:spcBef>
                <a:spcPts val="434"/>
              </a:spcBef>
            </a:pPr>
            <a:r>
              <a:rPr sz="2500" spc="-210" dirty="0">
                <a:solidFill>
                  <a:srgbClr val="800080"/>
                </a:solidFill>
                <a:latin typeface="Times New Roman"/>
                <a:cs typeface="Times New Roman"/>
              </a:rPr>
              <a:t>»</a:t>
            </a:r>
            <a:r>
              <a:rPr sz="2500" spc="-385" dirty="0">
                <a:solidFill>
                  <a:srgbClr val="800080"/>
                </a:solidFill>
                <a:latin typeface="Times New Roman"/>
                <a:cs typeface="Times New Roman"/>
              </a:rPr>
              <a:t> </a:t>
            </a:r>
            <a:r>
              <a:rPr sz="2500" spc="-140" dirty="0">
                <a:latin typeface="Times New Roman"/>
                <a:cs typeface="Times New Roman"/>
              </a:rPr>
              <a:t>Th</a:t>
            </a:r>
            <a:r>
              <a:rPr sz="2500" spc="-110" dirty="0">
                <a:latin typeface="Times New Roman"/>
                <a:cs typeface="Times New Roman"/>
              </a:rPr>
              <a:t>e</a:t>
            </a:r>
            <a:r>
              <a:rPr sz="2500" spc="100" dirty="0">
                <a:latin typeface="Times New Roman"/>
                <a:cs typeface="Times New Roman"/>
              </a:rPr>
              <a:t> </a:t>
            </a:r>
            <a:r>
              <a:rPr sz="2500" spc="-330" dirty="0">
                <a:latin typeface="Times New Roman"/>
                <a:cs typeface="Times New Roman"/>
              </a:rPr>
              <a:t>M</a:t>
            </a:r>
            <a:r>
              <a:rPr sz="2500" spc="-470" dirty="0">
                <a:latin typeface="Times New Roman"/>
                <a:cs typeface="Times New Roman"/>
              </a:rPr>
              <a:t>A</a:t>
            </a:r>
            <a:r>
              <a:rPr sz="2500" spc="-135" dirty="0">
                <a:latin typeface="Times New Roman"/>
                <a:cs typeface="Times New Roman"/>
              </a:rPr>
              <a:t>C</a:t>
            </a:r>
            <a:r>
              <a:rPr sz="2500" spc="-5" dirty="0">
                <a:latin typeface="Times New Roman"/>
                <a:cs typeface="Times New Roman"/>
              </a:rPr>
              <a:t> </a:t>
            </a:r>
            <a:r>
              <a:rPr sz="2500" spc="-120" dirty="0">
                <a:latin typeface="Times New Roman"/>
                <a:cs typeface="Times New Roman"/>
              </a:rPr>
              <a:t>l</a:t>
            </a:r>
            <a:r>
              <a:rPr sz="2500" spc="-270" dirty="0">
                <a:latin typeface="Times New Roman"/>
                <a:cs typeface="Times New Roman"/>
              </a:rPr>
              <a:t>a</a:t>
            </a:r>
            <a:r>
              <a:rPr sz="2500" spc="-245" dirty="0">
                <a:latin typeface="Times New Roman"/>
                <a:cs typeface="Times New Roman"/>
              </a:rPr>
              <a:t>y</a:t>
            </a:r>
            <a:r>
              <a:rPr sz="2500" spc="-30" dirty="0">
                <a:latin typeface="Times New Roman"/>
                <a:cs typeface="Times New Roman"/>
              </a:rPr>
              <a:t>er  </a:t>
            </a:r>
            <a:r>
              <a:rPr sz="2500" spc="-45" dirty="0">
                <a:latin typeface="Times New Roman"/>
                <a:cs typeface="Times New Roman"/>
              </a:rPr>
              <a:t>rate.</a:t>
            </a:r>
            <a:endParaRPr sz="2500">
              <a:latin typeface="Times New Roman"/>
              <a:cs typeface="Times New Roman"/>
            </a:endParaRPr>
          </a:p>
          <a:p>
            <a:pPr marL="356870" indent="-344805">
              <a:lnSpc>
                <a:spcPts val="2890"/>
              </a:lnSpc>
              <a:buClr>
                <a:srgbClr val="C0504D"/>
              </a:buClr>
              <a:buSzPct val="74000"/>
              <a:buFont typeface="Wingdings"/>
              <a:buChar char=""/>
              <a:tabLst>
                <a:tab pos="356870" algn="l"/>
                <a:tab pos="357505" algn="l"/>
              </a:tabLst>
            </a:pPr>
            <a:r>
              <a:rPr sz="2500" spc="-120" dirty="0">
                <a:latin typeface="Times New Roman"/>
                <a:cs typeface="Times New Roman"/>
              </a:rPr>
              <a:t>Security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47166" y="4135373"/>
            <a:ext cx="7553959" cy="1834514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299085" marR="467995" indent="-287020">
              <a:lnSpc>
                <a:spcPts val="2400"/>
              </a:lnSpc>
              <a:spcBef>
                <a:spcPts val="675"/>
              </a:spcBef>
              <a:tabLst>
                <a:tab pos="6071235" algn="l"/>
              </a:tabLst>
            </a:pPr>
            <a:r>
              <a:rPr sz="2500" spc="-210" dirty="0">
                <a:solidFill>
                  <a:srgbClr val="800080"/>
                </a:solidFill>
                <a:latin typeface="Times New Roman"/>
                <a:cs typeface="Times New Roman"/>
              </a:rPr>
              <a:t>»</a:t>
            </a:r>
            <a:r>
              <a:rPr sz="2500" spc="-85" dirty="0">
                <a:solidFill>
                  <a:srgbClr val="800080"/>
                </a:solidFill>
                <a:latin typeface="Times New Roman"/>
                <a:cs typeface="Times New Roman"/>
              </a:rPr>
              <a:t> </a:t>
            </a:r>
            <a:r>
              <a:rPr sz="2500" spc="-160" dirty="0">
                <a:latin typeface="Times New Roman"/>
                <a:cs typeface="Times New Roman"/>
              </a:rPr>
              <a:t>Both</a:t>
            </a:r>
            <a:r>
              <a:rPr sz="2500" spc="-80" dirty="0">
                <a:latin typeface="Times New Roman"/>
                <a:cs typeface="Times New Roman"/>
              </a:rPr>
              <a:t> </a:t>
            </a:r>
            <a:r>
              <a:rPr sz="2500" spc="-65" dirty="0">
                <a:latin typeface="Times New Roman"/>
                <a:cs typeface="Times New Roman"/>
              </a:rPr>
              <a:t>b</a:t>
            </a:r>
            <a:r>
              <a:rPr sz="2500" dirty="0">
                <a:latin typeface="Times New Roman"/>
                <a:cs typeface="Times New Roman"/>
              </a:rPr>
              <a:t>r</a:t>
            </a:r>
            <a:r>
              <a:rPr sz="2500" spc="-150" dirty="0">
                <a:latin typeface="Times New Roman"/>
                <a:cs typeface="Times New Roman"/>
              </a:rPr>
              <a:t>idges</a:t>
            </a:r>
            <a:r>
              <a:rPr sz="2500" spc="-40" dirty="0">
                <a:latin typeface="Times New Roman"/>
                <a:cs typeface="Times New Roman"/>
              </a:rPr>
              <a:t> </a:t>
            </a:r>
            <a:r>
              <a:rPr sz="2500" spc="-140" dirty="0">
                <a:latin typeface="Times New Roman"/>
                <a:cs typeface="Times New Roman"/>
              </a:rPr>
              <a:t>an</a:t>
            </a:r>
            <a:r>
              <a:rPr sz="2500" spc="-145" dirty="0">
                <a:latin typeface="Times New Roman"/>
                <a:cs typeface="Times New Roman"/>
              </a:rPr>
              <a:t>d</a:t>
            </a:r>
            <a:r>
              <a:rPr sz="2500" spc="-65" dirty="0">
                <a:latin typeface="Times New Roman"/>
                <a:cs typeface="Times New Roman"/>
              </a:rPr>
              <a:t> </a:t>
            </a:r>
            <a:r>
              <a:rPr sz="2500" spc="5" dirty="0">
                <a:latin typeface="Times New Roman"/>
                <a:cs typeface="Times New Roman"/>
              </a:rPr>
              <a:t>r</a:t>
            </a:r>
            <a:r>
              <a:rPr sz="2500" spc="-70" dirty="0">
                <a:latin typeface="Times New Roman"/>
                <a:cs typeface="Times New Roman"/>
              </a:rPr>
              <a:t>out</a:t>
            </a:r>
            <a:r>
              <a:rPr sz="2500" spc="-85" dirty="0">
                <a:latin typeface="Times New Roman"/>
                <a:cs typeface="Times New Roman"/>
              </a:rPr>
              <a:t>e</a:t>
            </a:r>
            <a:r>
              <a:rPr sz="2500" spc="70" dirty="0">
                <a:latin typeface="Times New Roman"/>
                <a:cs typeface="Times New Roman"/>
              </a:rPr>
              <a:t>r</a:t>
            </a:r>
            <a:r>
              <a:rPr sz="2500" spc="-195" dirty="0">
                <a:latin typeface="Times New Roman"/>
                <a:cs typeface="Times New Roman"/>
              </a:rPr>
              <a:t>s</a:t>
            </a:r>
            <a:r>
              <a:rPr sz="2500" spc="-40" dirty="0">
                <a:latin typeface="Times New Roman"/>
                <a:cs typeface="Times New Roman"/>
              </a:rPr>
              <a:t> </a:t>
            </a:r>
            <a:r>
              <a:rPr sz="2500" spc="-50" dirty="0">
                <a:latin typeface="Times New Roman"/>
                <a:cs typeface="Times New Roman"/>
              </a:rPr>
              <a:t>p</a:t>
            </a:r>
            <a:r>
              <a:rPr sz="2500" spc="-60" dirty="0">
                <a:latin typeface="Times New Roman"/>
                <a:cs typeface="Times New Roman"/>
              </a:rPr>
              <a:t>r</a:t>
            </a:r>
            <a:r>
              <a:rPr sz="2500" spc="-185" dirty="0">
                <a:latin typeface="Times New Roman"/>
                <a:cs typeface="Times New Roman"/>
              </a:rPr>
              <a:t>o</a:t>
            </a:r>
            <a:r>
              <a:rPr sz="2500" spc="-215" dirty="0">
                <a:latin typeface="Times New Roman"/>
                <a:cs typeface="Times New Roman"/>
              </a:rPr>
              <a:t>v</a:t>
            </a:r>
            <a:r>
              <a:rPr sz="2500" spc="-114" dirty="0">
                <a:latin typeface="Times New Roman"/>
                <a:cs typeface="Times New Roman"/>
              </a:rPr>
              <a:t>i</a:t>
            </a:r>
            <a:r>
              <a:rPr sz="2500" spc="-105" dirty="0">
                <a:latin typeface="Times New Roman"/>
                <a:cs typeface="Times New Roman"/>
              </a:rPr>
              <a:t>de</a:t>
            </a:r>
            <a:r>
              <a:rPr sz="2500" spc="-85" dirty="0">
                <a:latin typeface="Times New Roman"/>
                <a:cs typeface="Times New Roman"/>
              </a:rPr>
              <a:t> </a:t>
            </a:r>
            <a:r>
              <a:rPr sz="2500" spc="-75" dirty="0">
                <a:latin typeface="Times New Roman"/>
                <a:cs typeface="Times New Roman"/>
              </a:rPr>
              <a:t>the</a:t>
            </a:r>
            <a:r>
              <a:rPr sz="2500" spc="-90" dirty="0">
                <a:latin typeface="Times New Roman"/>
                <a:cs typeface="Times New Roman"/>
              </a:rPr>
              <a:t> </a:t>
            </a:r>
            <a:r>
              <a:rPr sz="2500" spc="-150" dirty="0">
                <a:latin typeface="Times New Roman"/>
                <a:cs typeface="Times New Roman"/>
              </a:rPr>
              <a:t>abil</a:t>
            </a:r>
            <a:r>
              <a:rPr sz="2500" spc="-105" dirty="0">
                <a:latin typeface="Times New Roman"/>
                <a:cs typeface="Times New Roman"/>
              </a:rPr>
              <a:t>i</a:t>
            </a:r>
            <a:r>
              <a:rPr sz="2500" spc="-90" dirty="0">
                <a:latin typeface="Times New Roman"/>
                <a:cs typeface="Times New Roman"/>
              </a:rPr>
              <a:t>ty</a:t>
            </a:r>
            <a:r>
              <a:rPr sz="2500" spc="-105" dirty="0">
                <a:latin typeface="Times New Roman"/>
                <a:cs typeface="Times New Roman"/>
              </a:rPr>
              <a:t> </a:t>
            </a:r>
            <a:r>
              <a:rPr sz="2500" spc="-40" dirty="0">
                <a:latin typeface="Times New Roman"/>
                <a:cs typeface="Times New Roman"/>
              </a:rPr>
              <a:t>to</a:t>
            </a:r>
            <a:r>
              <a:rPr sz="2500" spc="-75" dirty="0">
                <a:latin typeface="Times New Roman"/>
                <a:cs typeface="Times New Roman"/>
              </a:rPr>
              <a:t> </a:t>
            </a:r>
            <a:r>
              <a:rPr sz="2500" spc="-60" dirty="0">
                <a:latin typeface="Times New Roman"/>
                <a:cs typeface="Times New Roman"/>
              </a:rPr>
              <a:t>put</a:t>
            </a:r>
            <a:r>
              <a:rPr sz="2500" dirty="0">
                <a:latin typeface="Times New Roman"/>
                <a:cs typeface="Times New Roman"/>
              </a:rPr>
              <a:t>	</a:t>
            </a:r>
            <a:r>
              <a:rPr sz="2500" spc="-204" dirty="0">
                <a:latin typeface="Times New Roman"/>
                <a:cs typeface="Times New Roman"/>
              </a:rPr>
              <a:t>“s</a:t>
            </a:r>
            <a:r>
              <a:rPr sz="2500" spc="-225" dirty="0">
                <a:latin typeface="Times New Roman"/>
                <a:cs typeface="Times New Roman"/>
              </a:rPr>
              <a:t>e</a:t>
            </a:r>
            <a:r>
              <a:rPr sz="2500" spc="-85" dirty="0">
                <a:latin typeface="Times New Roman"/>
                <a:cs typeface="Times New Roman"/>
              </a:rPr>
              <a:t>cu</a:t>
            </a:r>
            <a:r>
              <a:rPr sz="2500" spc="-15" dirty="0">
                <a:latin typeface="Times New Roman"/>
                <a:cs typeface="Times New Roman"/>
              </a:rPr>
              <a:t>r</a:t>
            </a:r>
            <a:r>
              <a:rPr sz="2500" spc="-45" dirty="0">
                <a:latin typeface="Times New Roman"/>
                <a:cs typeface="Times New Roman"/>
              </a:rPr>
              <a:t>i</a:t>
            </a:r>
            <a:r>
              <a:rPr sz="2500" spc="-40" dirty="0">
                <a:latin typeface="Times New Roman"/>
                <a:cs typeface="Times New Roman"/>
              </a:rPr>
              <a:t>t</a:t>
            </a:r>
            <a:r>
              <a:rPr sz="2500" spc="-140" dirty="0">
                <a:latin typeface="Times New Roman"/>
                <a:cs typeface="Times New Roman"/>
              </a:rPr>
              <a:t>y  </a:t>
            </a:r>
            <a:r>
              <a:rPr sz="2500" spc="-185" dirty="0">
                <a:latin typeface="Times New Roman"/>
                <a:cs typeface="Times New Roman"/>
              </a:rPr>
              <a:t>walls”</a:t>
            </a:r>
            <a:r>
              <a:rPr sz="2500" spc="-195" dirty="0">
                <a:latin typeface="Times New Roman"/>
                <a:cs typeface="Times New Roman"/>
              </a:rPr>
              <a:t> </a:t>
            </a:r>
            <a:r>
              <a:rPr sz="2500" spc="-110" dirty="0">
                <a:latin typeface="Times New Roman"/>
                <a:cs typeface="Times New Roman"/>
              </a:rPr>
              <a:t>around</a:t>
            </a:r>
            <a:r>
              <a:rPr sz="2500" spc="-15" dirty="0">
                <a:latin typeface="Times New Roman"/>
                <a:cs typeface="Times New Roman"/>
              </a:rPr>
              <a:t> </a:t>
            </a:r>
            <a:r>
              <a:rPr sz="2500" spc="-145" dirty="0">
                <a:latin typeface="Times New Roman"/>
                <a:cs typeface="Times New Roman"/>
              </a:rPr>
              <a:t>specific</a:t>
            </a:r>
            <a:r>
              <a:rPr sz="2500" spc="-140" dirty="0">
                <a:latin typeface="Times New Roman"/>
                <a:cs typeface="Times New Roman"/>
              </a:rPr>
              <a:t> </a:t>
            </a:r>
            <a:r>
              <a:rPr sz="2500" spc="-95" dirty="0">
                <a:latin typeface="Times New Roman"/>
                <a:cs typeface="Times New Roman"/>
              </a:rPr>
              <a:t>stations.</a:t>
            </a:r>
            <a:endParaRPr sz="2500">
              <a:latin typeface="Times New Roman"/>
              <a:cs typeface="Times New Roman"/>
            </a:endParaRPr>
          </a:p>
          <a:p>
            <a:pPr marL="12700">
              <a:lnSpc>
                <a:spcPts val="2925"/>
              </a:lnSpc>
              <a:spcBef>
                <a:spcPts val="20"/>
              </a:spcBef>
              <a:tabLst>
                <a:tab pos="6659880" algn="l"/>
              </a:tabLst>
            </a:pPr>
            <a:r>
              <a:rPr sz="2500" spc="-210" dirty="0">
                <a:solidFill>
                  <a:srgbClr val="800080"/>
                </a:solidFill>
                <a:latin typeface="Times New Roman"/>
                <a:cs typeface="Times New Roman"/>
              </a:rPr>
              <a:t>»</a:t>
            </a:r>
            <a:r>
              <a:rPr sz="2500" spc="-75" dirty="0">
                <a:solidFill>
                  <a:srgbClr val="800080"/>
                </a:solidFill>
                <a:latin typeface="Times New Roman"/>
                <a:cs typeface="Times New Roman"/>
              </a:rPr>
              <a:t> </a:t>
            </a:r>
            <a:r>
              <a:rPr sz="2500" spc="-90" dirty="0">
                <a:latin typeface="Times New Roman"/>
                <a:cs typeface="Times New Roman"/>
              </a:rPr>
              <a:t>Routers</a:t>
            </a:r>
            <a:r>
              <a:rPr sz="2500" spc="-30" dirty="0">
                <a:latin typeface="Times New Roman"/>
                <a:cs typeface="Times New Roman"/>
              </a:rPr>
              <a:t> </a:t>
            </a:r>
            <a:r>
              <a:rPr sz="2500" spc="-130" dirty="0">
                <a:latin typeface="Times New Roman"/>
                <a:cs typeface="Times New Roman"/>
              </a:rPr>
              <a:t>generally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spc="-120" dirty="0">
                <a:latin typeface="Times New Roman"/>
                <a:cs typeface="Times New Roman"/>
              </a:rPr>
              <a:t>provide</a:t>
            </a:r>
            <a:r>
              <a:rPr sz="2500" spc="-80" dirty="0">
                <a:latin typeface="Times New Roman"/>
                <a:cs typeface="Times New Roman"/>
              </a:rPr>
              <a:t> </a:t>
            </a:r>
            <a:r>
              <a:rPr sz="2500" spc="-75" dirty="0">
                <a:latin typeface="Times New Roman"/>
                <a:cs typeface="Times New Roman"/>
              </a:rPr>
              <a:t>greater</a:t>
            </a:r>
            <a:r>
              <a:rPr sz="2500" spc="-55" dirty="0">
                <a:latin typeface="Times New Roman"/>
                <a:cs typeface="Times New Roman"/>
              </a:rPr>
              <a:t> </a:t>
            </a:r>
            <a:r>
              <a:rPr sz="2500" spc="-100" dirty="0">
                <a:latin typeface="Times New Roman"/>
                <a:cs typeface="Times New Roman"/>
              </a:rPr>
              <a:t>security</a:t>
            </a:r>
            <a:r>
              <a:rPr sz="2500" spc="-30" dirty="0">
                <a:latin typeface="Times New Roman"/>
                <a:cs typeface="Times New Roman"/>
              </a:rPr>
              <a:t> </a:t>
            </a:r>
            <a:r>
              <a:rPr sz="2500" spc="-110" dirty="0">
                <a:latin typeface="Times New Roman"/>
                <a:cs typeface="Times New Roman"/>
              </a:rPr>
              <a:t>than</a:t>
            </a:r>
            <a:r>
              <a:rPr sz="2500" spc="-60" dirty="0">
                <a:latin typeface="Times New Roman"/>
                <a:cs typeface="Times New Roman"/>
              </a:rPr>
              <a:t> </a:t>
            </a:r>
            <a:r>
              <a:rPr sz="2500" spc="-114" dirty="0">
                <a:latin typeface="Times New Roman"/>
                <a:cs typeface="Times New Roman"/>
              </a:rPr>
              <a:t>bridges	</a:t>
            </a:r>
            <a:r>
              <a:rPr sz="2500" spc="-145" dirty="0">
                <a:latin typeface="Times New Roman"/>
                <a:cs typeface="Times New Roman"/>
              </a:rPr>
              <a:t>because</a:t>
            </a:r>
            <a:endParaRPr sz="2500">
              <a:latin typeface="Times New Roman"/>
              <a:cs typeface="Times New Roman"/>
            </a:endParaRPr>
          </a:p>
          <a:p>
            <a:pPr marL="699770" indent="-231140">
              <a:lnSpc>
                <a:spcPts val="2925"/>
              </a:lnSpc>
              <a:buChar char="–"/>
              <a:tabLst>
                <a:tab pos="700405" algn="l"/>
              </a:tabLst>
            </a:pPr>
            <a:r>
              <a:rPr sz="2500" spc="-70" dirty="0">
                <a:latin typeface="Times New Roman"/>
                <a:cs typeface="Times New Roman"/>
              </a:rPr>
              <a:t>th</a:t>
            </a:r>
            <a:r>
              <a:rPr sz="2500" spc="-125" dirty="0">
                <a:latin typeface="Times New Roman"/>
                <a:cs typeface="Times New Roman"/>
              </a:rPr>
              <a:t>e</a:t>
            </a:r>
            <a:r>
              <a:rPr sz="2500" spc="-210" dirty="0">
                <a:latin typeface="Times New Roman"/>
                <a:cs typeface="Times New Roman"/>
              </a:rPr>
              <a:t>y</a:t>
            </a:r>
            <a:r>
              <a:rPr sz="2500" spc="-85" dirty="0">
                <a:latin typeface="Times New Roman"/>
                <a:cs typeface="Times New Roman"/>
              </a:rPr>
              <a:t> </a:t>
            </a:r>
            <a:r>
              <a:rPr sz="2500" spc="-155" dirty="0">
                <a:latin typeface="Times New Roman"/>
                <a:cs typeface="Times New Roman"/>
              </a:rPr>
              <a:t>can</a:t>
            </a:r>
            <a:r>
              <a:rPr sz="2500" spc="-80" dirty="0">
                <a:latin typeface="Times New Roman"/>
                <a:cs typeface="Times New Roman"/>
              </a:rPr>
              <a:t> </a:t>
            </a:r>
            <a:r>
              <a:rPr sz="2500" spc="-114" dirty="0">
                <a:latin typeface="Times New Roman"/>
                <a:cs typeface="Times New Roman"/>
              </a:rPr>
              <a:t>be</a:t>
            </a:r>
            <a:r>
              <a:rPr sz="2500" spc="-75" dirty="0">
                <a:latin typeface="Times New Roman"/>
                <a:cs typeface="Times New Roman"/>
              </a:rPr>
              <a:t> </a:t>
            </a:r>
            <a:r>
              <a:rPr sz="2500" spc="-140" dirty="0">
                <a:latin typeface="Times New Roman"/>
                <a:cs typeface="Times New Roman"/>
              </a:rPr>
              <a:t>ad</a:t>
            </a:r>
            <a:r>
              <a:rPr sz="2500" spc="-155" dirty="0">
                <a:latin typeface="Times New Roman"/>
                <a:cs typeface="Times New Roman"/>
              </a:rPr>
              <a:t>d</a:t>
            </a:r>
            <a:r>
              <a:rPr sz="2500" dirty="0">
                <a:latin typeface="Times New Roman"/>
                <a:cs typeface="Times New Roman"/>
              </a:rPr>
              <a:t>r</a:t>
            </a:r>
            <a:r>
              <a:rPr sz="2500" spc="-155" dirty="0">
                <a:latin typeface="Times New Roman"/>
                <a:cs typeface="Times New Roman"/>
              </a:rPr>
              <a:t>e</a:t>
            </a:r>
            <a:r>
              <a:rPr sz="2500" spc="-145" dirty="0">
                <a:latin typeface="Times New Roman"/>
                <a:cs typeface="Times New Roman"/>
              </a:rPr>
              <a:t>s</a:t>
            </a:r>
            <a:r>
              <a:rPr sz="2500" spc="-135" dirty="0">
                <a:latin typeface="Times New Roman"/>
                <a:cs typeface="Times New Roman"/>
              </a:rPr>
              <a:t>s</a:t>
            </a:r>
            <a:r>
              <a:rPr sz="2500" spc="-165" dirty="0">
                <a:latin typeface="Times New Roman"/>
                <a:cs typeface="Times New Roman"/>
              </a:rPr>
              <a:t>e</a:t>
            </a:r>
            <a:r>
              <a:rPr sz="2500" spc="-110" dirty="0">
                <a:latin typeface="Times New Roman"/>
                <a:cs typeface="Times New Roman"/>
              </a:rPr>
              <a:t>d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spc="-75" dirty="0">
                <a:latin typeface="Times New Roman"/>
                <a:cs typeface="Times New Roman"/>
              </a:rPr>
              <a:t>di</a:t>
            </a:r>
            <a:r>
              <a:rPr sz="2500" spc="-85" dirty="0">
                <a:latin typeface="Times New Roman"/>
                <a:cs typeface="Times New Roman"/>
              </a:rPr>
              <a:t>r</a:t>
            </a:r>
            <a:r>
              <a:rPr sz="2500" spc="-125" dirty="0">
                <a:latin typeface="Times New Roman"/>
                <a:cs typeface="Times New Roman"/>
              </a:rPr>
              <a:t>e</a:t>
            </a:r>
            <a:r>
              <a:rPr sz="2500" spc="-135" dirty="0">
                <a:latin typeface="Times New Roman"/>
                <a:cs typeface="Times New Roman"/>
              </a:rPr>
              <a:t>c</a:t>
            </a:r>
            <a:r>
              <a:rPr sz="2500" spc="-30" dirty="0">
                <a:latin typeface="Times New Roman"/>
                <a:cs typeface="Times New Roman"/>
              </a:rPr>
              <a:t>t</a:t>
            </a:r>
            <a:r>
              <a:rPr sz="2500" spc="-75" dirty="0">
                <a:latin typeface="Times New Roman"/>
                <a:cs typeface="Times New Roman"/>
              </a:rPr>
              <a:t>l</a:t>
            </a:r>
            <a:r>
              <a:rPr sz="2500" spc="-210" dirty="0">
                <a:latin typeface="Times New Roman"/>
                <a:cs typeface="Times New Roman"/>
              </a:rPr>
              <a:t>y</a:t>
            </a:r>
            <a:r>
              <a:rPr sz="2500" spc="-145" dirty="0">
                <a:latin typeface="Times New Roman"/>
                <a:cs typeface="Times New Roman"/>
              </a:rPr>
              <a:t> and</a:t>
            </a:r>
            <a:endParaRPr sz="2500">
              <a:latin typeface="Times New Roman"/>
              <a:cs typeface="Times New Roman"/>
            </a:endParaRPr>
          </a:p>
          <a:p>
            <a:pPr marL="699770" indent="-231140">
              <a:lnSpc>
                <a:spcPct val="100000"/>
              </a:lnSpc>
              <a:buChar char="–"/>
              <a:tabLst>
                <a:tab pos="700405" algn="l"/>
              </a:tabLst>
            </a:pPr>
            <a:r>
              <a:rPr sz="2500" spc="-70" dirty="0">
                <a:latin typeface="Times New Roman"/>
                <a:cs typeface="Times New Roman"/>
              </a:rPr>
              <a:t>th</a:t>
            </a:r>
            <a:r>
              <a:rPr sz="2500" spc="-120" dirty="0">
                <a:latin typeface="Times New Roman"/>
                <a:cs typeface="Times New Roman"/>
              </a:rPr>
              <a:t>e</a:t>
            </a:r>
            <a:r>
              <a:rPr sz="2500" spc="-210" dirty="0">
                <a:latin typeface="Times New Roman"/>
                <a:cs typeface="Times New Roman"/>
              </a:rPr>
              <a:t>y</a:t>
            </a:r>
            <a:r>
              <a:rPr sz="2500" spc="-85" dirty="0">
                <a:latin typeface="Times New Roman"/>
                <a:cs typeface="Times New Roman"/>
              </a:rPr>
              <a:t> </a:t>
            </a:r>
            <a:r>
              <a:rPr sz="2500" spc="-135" dirty="0">
                <a:latin typeface="Times New Roman"/>
                <a:cs typeface="Times New Roman"/>
              </a:rPr>
              <a:t>use</a:t>
            </a:r>
            <a:r>
              <a:rPr sz="2500" spc="-75" dirty="0">
                <a:latin typeface="Times New Roman"/>
                <a:cs typeface="Times New Roman"/>
              </a:rPr>
              <a:t> </a:t>
            </a:r>
            <a:r>
              <a:rPr sz="2500" spc="-125" dirty="0">
                <a:latin typeface="Times New Roman"/>
                <a:cs typeface="Times New Roman"/>
              </a:rPr>
              <a:t>additiona</a:t>
            </a:r>
            <a:r>
              <a:rPr sz="2500" spc="-80" dirty="0">
                <a:latin typeface="Times New Roman"/>
                <a:cs typeface="Times New Roman"/>
              </a:rPr>
              <a:t>l</a:t>
            </a:r>
            <a:r>
              <a:rPr sz="2500" spc="-40" dirty="0">
                <a:latin typeface="Times New Roman"/>
                <a:cs typeface="Times New Roman"/>
              </a:rPr>
              <a:t> </a:t>
            </a:r>
            <a:r>
              <a:rPr sz="2500" spc="-165" dirty="0">
                <a:latin typeface="Times New Roman"/>
                <a:cs typeface="Times New Roman"/>
              </a:rPr>
              <a:t>d</a:t>
            </a:r>
            <a:r>
              <a:rPr sz="2500" spc="-170" dirty="0">
                <a:latin typeface="Times New Roman"/>
                <a:cs typeface="Times New Roman"/>
              </a:rPr>
              <a:t>a</a:t>
            </a:r>
            <a:r>
              <a:rPr sz="2500" spc="-85" dirty="0">
                <a:latin typeface="Times New Roman"/>
                <a:cs typeface="Times New Roman"/>
              </a:rPr>
              <a:t>ta</a:t>
            </a:r>
            <a:r>
              <a:rPr sz="2500" spc="-65" dirty="0">
                <a:latin typeface="Times New Roman"/>
                <a:cs typeface="Times New Roman"/>
              </a:rPr>
              <a:t> </a:t>
            </a:r>
            <a:r>
              <a:rPr sz="2500" spc="-90" dirty="0">
                <a:latin typeface="Times New Roman"/>
                <a:cs typeface="Times New Roman"/>
              </a:rPr>
              <a:t>for</a:t>
            </a:r>
            <a:r>
              <a:rPr sz="2500" spc="-50" dirty="0">
                <a:latin typeface="Times New Roman"/>
                <a:cs typeface="Times New Roman"/>
              </a:rPr>
              <a:t> </a:t>
            </a:r>
            <a:r>
              <a:rPr sz="2500" spc="-75" dirty="0">
                <a:latin typeface="Times New Roman"/>
                <a:cs typeface="Times New Roman"/>
              </a:rPr>
              <a:t>i</a:t>
            </a:r>
            <a:r>
              <a:rPr sz="2500" spc="-200" dirty="0">
                <a:latin typeface="Times New Roman"/>
                <a:cs typeface="Times New Roman"/>
              </a:rPr>
              <a:t>m</a:t>
            </a:r>
            <a:r>
              <a:rPr sz="2500" spc="-100" dirty="0">
                <a:latin typeface="Times New Roman"/>
                <a:cs typeface="Times New Roman"/>
              </a:rPr>
              <a:t>pl</a:t>
            </a:r>
            <a:r>
              <a:rPr sz="2500" spc="-120" dirty="0">
                <a:latin typeface="Times New Roman"/>
                <a:cs typeface="Times New Roman"/>
              </a:rPr>
              <a:t>e</a:t>
            </a:r>
            <a:r>
              <a:rPr sz="2500" spc="-114" dirty="0">
                <a:latin typeface="Times New Roman"/>
                <a:cs typeface="Times New Roman"/>
              </a:rPr>
              <a:t>mentin</a:t>
            </a:r>
            <a:r>
              <a:rPr sz="2500" spc="-120" dirty="0">
                <a:latin typeface="Times New Roman"/>
                <a:cs typeface="Times New Roman"/>
              </a:rPr>
              <a:t>g</a:t>
            </a:r>
            <a:r>
              <a:rPr sz="2500" spc="-105" dirty="0">
                <a:latin typeface="Times New Roman"/>
                <a:cs typeface="Times New Roman"/>
              </a:rPr>
              <a:t> </a:t>
            </a:r>
            <a:r>
              <a:rPr sz="2500" spc="-220" dirty="0">
                <a:latin typeface="Times New Roman"/>
                <a:cs typeface="Times New Roman"/>
              </a:rPr>
              <a:t>s</a:t>
            </a:r>
            <a:r>
              <a:rPr sz="2500" spc="-130" dirty="0">
                <a:latin typeface="Times New Roman"/>
                <a:cs typeface="Times New Roman"/>
              </a:rPr>
              <a:t>e</a:t>
            </a:r>
            <a:r>
              <a:rPr sz="2500" spc="-175" dirty="0">
                <a:latin typeface="Times New Roman"/>
                <a:cs typeface="Times New Roman"/>
              </a:rPr>
              <a:t>c</a:t>
            </a:r>
            <a:r>
              <a:rPr sz="2500" spc="-140" dirty="0">
                <a:latin typeface="Times New Roman"/>
                <a:cs typeface="Times New Roman"/>
              </a:rPr>
              <a:t>u</a:t>
            </a:r>
            <a:r>
              <a:rPr sz="2500" spc="50" dirty="0">
                <a:latin typeface="Times New Roman"/>
                <a:cs typeface="Times New Roman"/>
              </a:rPr>
              <a:t>r</a:t>
            </a:r>
            <a:r>
              <a:rPr sz="2500" spc="-145" dirty="0">
                <a:latin typeface="Times New Roman"/>
                <a:cs typeface="Times New Roman"/>
              </a:rPr>
              <a:t>i</a:t>
            </a:r>
            <a:r>
              <a:rPr sz="2500" spc="10" dirty="0">
                <a:latin typeface="Times New Roman"/>
                <a:cs typeface="Times New Roman"/>
              </a:rPr>
              <a:t>t</a:t>
            </a:r>
            <a:r>
              <a:rPr sz="2500" spc="-484" dirty="0">
                <a:latin typeface="Times New Roman"/>
                <a:cs typeface="Times New Roman"/>
              </a:rPr>
              <a:t>y</a:t>
            </a:r>
            <a:r>
              <a:rPr sz="2500" spc="100" dirty="0">
                <a:latin typeface="Times New Roman"/>
                <a:cs typeface="Times New Roman"/>
              </a:rPr>
              <a:t>.</a:t>
            </a:r>
            <a:endParaRPr sz="25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3000" y="0"/>
            <a:ext cx="5432425" cy="107315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82292" y="9271"/>
            <a:ext cx="494919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655" dirty="0">
                <a:solidFill>
                  <a:srgbClr val="585858"/>
                </a:solidFill>
                <a:latin typeface="Times New Roman"/>
                <a:cs typeface="Times New Roman"/>
              </a:rPr>
              <a:t>B</a:t>
            </a:r>
            <a:r>
              <a:rPr sz="4000" spc="-20" dirty="0">
                <a:solidFill>
                  <a:srgbClr val="585858"/>
                </a:solidFill>
                <a:latin typeface="Times New Roman"/>
                <a:cs typeface="Times New Roman"/>
              </a:rPr>
              <a:t>r</a:t>
            </a:r>
            <a:r>
              <a:rPr sz="4000" spc="-190" dirty="0">
                <a:solidFill>
                  <a:srgbClr val="585858"/>
                </a:solidFill>
                <a:latin typeface="Times New Roman"/>
                <a:cs typeface="Times New Roman"/>
              </a:rPr>
              <a:t>ou</a:t>
            </a:r>
            <a:r>
              <a:rPr sz="4000" spc="25" dirty="0">
                <a:solidFill>
                  <a:srgbClr val="585858"/>
                </a:solidFill>
                <a:latin typeface="Times New Roman"/>
                <a:cs typeface="Times New Roman"/>
              </a:rPr>
              <a:t>t</a:t>
            </a:r>
            <a:r>
              <a:rPr sz="4000" spc="-185" dirty="0">
                <a:solidFill>
                  <a:srgbClr val="585858"/>
                </a:solidFill>
                <a:latin typeface="Times New Roman"/>
                <a:cs typeface="Times New Roman"/>
              </a:rPr>
              <a:t>e</a:t>
            </a:r>
            <a:r>
              <a:rPr sz="4000" spc="95" dirty="0">
                <a:solidFill>
                  <a:srgbClr val="585858"/>
                </a:solidFill>
                <a:latin typeface="Times New Roman"/>
                <a:cs typeface="Times New Roman"/>
              </a:rPr>
              <a:t>r</a:t>
            </a:r>
            <a:r>
              <a:rPr sz="4000" spc="-340" dirty="0">
                <a:solidFill>
                  <a:srgbClr val="585858"/>
                </a:solidFill>
                <a:latin typeface="Times New Roman"/>
                <a:cs typeface="Times New Roman"/>
              </a:rPr>
              <a:t>s</a:t>
            </a:r>
            <a:r>
              <a:rPr sz="4000" spc="55" dirty="0">
                <a:solidFill>
                  <a:srgbClr val="585858"/>
                </a:solidFill>
                <a:latin typeface="Times New Roman"/>
                <a:cs typeface="Times New Roman"/>
              </a:rPr>
              <a:t>:</a:t>
            </a:r>
            <a:r>
              <a:rPr sz="4000" spc="-320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4000" spc="-395" dirty="0">
                <a:solidFill>
                  <a:srgbClr val="585858"/>
                </a:solidFill>
                <a:latin typeface="Times New Roman"/>
                <a:cs typeface="Times New Roman"/>
              </a:rPr>
              <a:t>B</a:t>
            </a:r>
            <a:r>
              <a:rPr sz="4000" spc="-114" dirty="0">
                <a:solidFill>
                  <a:srgbClr val="585858"/>
                </a:solidFill>
                <a:latin typeface="Times New Roman"/>
                <a:cs typeface="Times New Roman"/>
              </a:rPr>
              <a:t>r</a:t>
            </a:r>
            <a:r>
              <a:rPr sz="4000" spc="-215" dirty="0">
                <a:solidFill>
                  <a:srgbClr val="585858"/>
                </a:solidFill>
                <a:latin typeface="Times New Roman"/>
                <a:cs typeface="Times New Roman"/>
              </a:rPr>
              <a:t>id</a:t>
            </a:r>
            <a:r>
              <a:rPr sz="4000" spc="-200" dirty="0">
                <a:solidFill>
                  <a:srgbClr val="585858"/>
                </a:solidFill>
                <a:latin typeface="Times New Roman"/>
                <a:cs typeface="Times New Roman"/>
              </a:rPr>
              <a:t>g</a:t>
            </a:r>
            <a:r>
              <a:rPr sz="4000" spc="-235" dirty="0">
                <a:solidFill>
                  <a:srgbClr val="585858"/>
                </a:solidFill>
                <a:latin typeface="Times New Roman"/>
                <a:cs typeface="Times New Roman"/>
              </a:rPr>
              <a:t>ing</a:t>
            </a:r>
            <a:r>
              <a:rPr sz="4000" spc="-155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4000" spc="-330" dirty="0">
                <a:solidFill>
                  <a:srgbClr val="585858"/>
                </a:solidFill>
                <a:latin typeface="Times New Roman"/>
                <a:cs typeface="Times New Roman"/>
              </a:rPr>
              <a:t>R</a:t>
            </a:r>
            <a:r>
              <a:rPr sz="4000" spc="-204" dirty="0">
                <a:solidFill>
                  <a:srgbClr val="585858"/>
                </a:solidFill>
                <a:latin typeface="Times New Roman"/>
                <a:cs typeface="Times New Roman"/>
              </a:rPr>
              <a:t>ou</a:t>
            </a:r>
            <a:r>
              <a:rPr sz="4000" spc="15" dirty="0">
                <a:solidFill>
                  <a:srgbClr val="585858"/>
                </a:solidFill>
                <a:latin typeface="Times New Roman"/>
                <a:cs typeface="Times New Roman"/>
              </a:rPr>
              <a:t>t</a:t>
            </a:r>
            <a:r>
              <a:rPr sz="4000" spc="-195" dirty="0">
                <a:solidFill>
                  <a:srgbClr val="585858"/>
                </a:solidFill>
                <a:latin typeface="Times New Roman"/>
                <a:cs typeface="Times New Roman"/>
              </a:rPr>
              <a:t>e</a:t>
            </a:r>
            <a:r>
              <a:rPr sz="4000" spc="85" dirty="0">
                <a:solidFill>
                  <a:srgbClr val="585858"/>
                </a:solidFill>
                <a:latin typeface="Times New Roman"/>
                <a:cs typeface="Times New Roman"/>
              </a:rPr>
              <a:t>r</a:t>
            </a:r>
            <a:r>
              <a:rPr sz="4000" spc="-310" dirty="0">
                <a:solidFill>
                  <a:srgbClr val="585858"/>
                </a:solidFill>
                <a:latin typeface="Times New Roman"/>
                <a:cs typeface="Times New Roman"/>
              </a:rPr>
              <a:t>s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969922"/>
            <a:ext cx="7812405" cy="254063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700"/>
              </a:spcBef>
              <a:buClr>
                <a:srgbClr val="C0504D"/>
              </a:buClr>
              <a:buSzPct val="74000"/>
              <a:buFont typeface="Wingdings"/>
              <a:buChar char=""/>
              <a:tabLst>
                <a:tab pos="356870" algn="l"/>
                <a:tab pos="357505" algn="l"/>
              </a:tabLst>
            </a:pPr>
            <a:r>
              <a:rPr sz="2500" spc="-130" dirty="0">
                <a:latin typeface="Times New Roman"/>
                <a:cs typeface="Times New Roman"/>
              </a:rPr>
              <a:t>Combine</a:t>
            </a:r>
            <a:r>
              <a:rPr sz="2500" spc="-70" dirty="0">
                <a:latin typeface="Times New Roman"/>
                <a:cs typeface="Times New Roman"/>
              </a:rPr>
              <a:t> </a:t>
            </a:r>
            <a:r>
              <a:rPr sz="2500" spc="-110" dirty="0">
                <a:latin typeface="Times New Roman"/>
                <a:cs typeface="Times New Roman"/>
              </a:rPr>
              <a:t>features</a:t>
            </a:r>
            <a:r>
              <a:rPr sz="2500" spc="-45" dirty="0">
                <a:latin typeface="Times New Roman"/>
                <a:cs typeface="Times New Roman"/>
              </a:rPr>
              <a:t> </a:t>
            </a:r>
            <a:r>
              <a:rPr sz="2500" spc="-150" dirty="0">
                <a:latin typeface="Times New Roman"/>
                <a:cs typeface="Times New Roman"/>
              </a:rPr>
              <a:t>of</a:t>
            </a:r>
            <a:r>
              <a:rPr sz="2500" spc="-60" dirty="0">
                <a:latin typeface="Times New Roman"/>
                <a:cs typeface="Times New Roman"/>
              </a:rPr>
              <a:t> </a:t>
            </a:r>
            <a:r>
              <a:rPr sz="2500" spc="-114" dirty="0">
                <a:latin typeface="Times New Roman"/>
                <a:cs typeface="Times New Roman"/>
              </a:rPr>
              <a:t>bridges</a:t>
            </a:r>
            <a:r>
              <a:rPr sz="2500" spc="-30" dirty="0">
                <a:latin typeface="Times New Roman"/>
                <a:cs typeface="Times New Roman"/>
              </a:rPr>
              <a:t> </a:t>
            </a:r>
            <a:r>
              <a:rPr sz="2500" spc="-145" dirty="0">
                <a:latin typeface="Times New Roman"/>
                <a:cs typeface="Times New Roman"/>
              </a:rPr>
              <a:t>and</a:t>
            </a:r>
            <a:r>
              <a:rPr sz="2500" spc="-200" dirty="0">
                <a:latin typeface="Times New Roman"/>
                <a:cs typeface="Times New Roman"/>
              </a:rPr>
              <a:t> </a:t>
            </a:r>
            <a:r>
              <a:rPr sz="2500" spc="-45" dirty="0">
                <a:latin typeface="Times New Roman"/>
                <a:cs typeface="Times New Roman"/>
              </a:rPr>
              <a:t>routers.</a:t>
            </a:r>
            <a:endParaRPr sz="2500">
              <a:latin typeface="Times New Roman"/>
              <a:cs typeface="Times New Roman"/>
            </a:endParaRPr>
          </a:p>
          <a:p>
            <a:pPr marL="356870" marR="5080" indent="-344805">
              <a:lnSpc>
                <a:spcPct val="100000"/>
              </a:lnSpc>
              <a:spcBef>
                <a:spcPts val="600"/>
              </a:spcBef>
              <a:buClr>
                <a:srgbClr val="C0504D"/>
              </a:buClr>
              <a:buSzPct val="74000"/>
              <a:buFont typeface="Wingdings"/>
              <a:buChar char=""/>
              <a:tabLst>
                <a:tab pos="356870" algn="l"/>
                <a:tab pos="357505" algn="l"/>
                <a:tab pos="4182110" algn="l"/>
                <a:tab pos="5622290" algn="l"/>
              </a:tabLst>
            </a:pPr>
            <a:r>
              <a:rPr sz="2500" spc="-160" dirty="0">
                <a:latin typeface="Times New Roman"/>
                <a:cs typeface="Times New Roman"/>
              </a:rPr>
              <a:t>Capa</a:t>
            </a:r>
            <a:r>
              <a:rPr sz="2500" spc="-200" dirty="0">
                <a:latin typeface="Times New Roman"/>
                <a:cs typeface="Times New Roman"/>
              </a:rPr>
              <a:t>b</a:t>
            </a:r>
            <a:r>
              <a:rPr sz="2500" spc="-80" dirty="0">
                <a:latin typeface="Times New Roman"/>
                <a:cs typeface="Times New Roman"/>
              </a:rPr>
              <a:t>l</a:t>
            </a:r>
            <a:r>
              <a:rPr sz="2500" spc="-120" dirty="0">
                <a:latin typeface="Times New Roman"/>
                <a:cs typeface="Times New Roman"/>
              </a:rPr>
              <a:t>e</a:t>
            </a:r>
            <a:r>
              <a:rPr sz="2500" spc="-80" dirty="0">
                <a:latin typeface="Times New Roman"/>
                <a:cs typeface="Times New Roman"/>
              </a:rPr>
              <a:t> </a:t>
            </a:r>
            <a:r>
              <a:rPr sz="2500" spc="-145" dirty="0">
                <a:latin typeface="Times New Roman"/>
                <a:cs typeface="Times New Roman"/>
              </a:rPr>
              <a:t>of</a:t>
            </a:r>
            <a:r>
              <a:rPr sz="2500" spc="-80" dirty="0">
                <a:latin typeface="Times New Roman"/>
                <a:cs typeface="Times New Roman"/>
              </a:rPr>
              <a:t> </a:t>
            </a:r>
            <a:r>
              <a:rPr sz="2500" spc="-155" dirty="0">
                <a:latin typeface="Times New Roman"/>
                <a:cs typeface="Times New Roman"/>
              </a:rPr>
              <a:t>e</a:t>
            </a:r>
            <a:r>
              <a:rPr sz="2500" spc="-145" dirty="0">
                <a:latin typeface="Times New Roman"/>
                <a:cs typeface="Times New Roman"/>
              </a:rPr>
              <a:t>s</a:t>
            </a:r>
            <a:r>
              <a:rPr sz="2500" spc="-90" dirty="0">
                <a:latin typeface="Times New Roman"/>
                <a:cs typeface="Times New Roman"/>
              </a:rPr>
              <a:t>ta</a:t>
            </a:r>
            <a:r>
              <a:rPr sz="2500" spc="-165" dirty="0">
                <a:latin typeface="Times New Roman"/>
                <a:cs typeface="Times New Roman"/>
              </a:rPr>
              <a:t>b</a:t>
            </a:r>
            <a:r>
              <a:rPr sz="2500" spc="-145" dirty="0">
                <a:latin typeface="Times New Roman"/>
                <a:cs typeface="Times New Roman"/>
              </a:rPr>
              <a:t>lishin</a:t>
            </a:r>
            <a:r>
              <a:rPr sz="2500" spc="-185" dirty="0">
                <a:latin typeface="Times New Roman"/>
                <a:cs typeface="Times New Roman"/>
              </a:rPr>
              <a:t>g</a:t>
            </a:r>
            <a:r>
              <a:rPr sz="2500" spc="-100" dirty="0">
                <a:latin typeface="Times New Roman"/>
                <a:cs typeface="Times New Roman"/>
              </a:rPr>
              <a:t> </a:t>
            </a:r>
            <a:r>
              <a:rPr sz="2500" spc="-200" dirty="0">
                <a:latin typeface="Times New Roman"/>
                <a:cs typeface="Times New Roman"/>
              </a:rPr>
              <a:t>a</a:t>
            </a:r>
            <a:r>
              <a:rPr sz="2500" spc="-65" dirty="0">
                <a:latin typeface="Times New Roman"/>
                <a:cs typeface="Times New Roman"/>
              </a:rPr>
              <a:t> b</a:t>
            </a:r>
            <a:r>
              <a:rPr sz="2500" dirty="0">
                <a:latin typeface="Times New Roman"/>
                <a:cs typeface="Times New Roman"/>
              </a:rPr>
              <a:t>r</a:t>
            </a:r>
            <a:r>
              <a:rPr sz="2500" spc="-135" dirty="0">
                <a:latin typeface="Times New Roman"/>
                <a:cs typeface="Times New Roman"/>
              </a:rPr>
              <a:t>idge</a:t>
            </a:r>
            <a:r>
              <a:rPr sz="2500" spc="-50" dirty="0">
                <a:latin typeface="Times New Roman"/>
                <a:cs typeface="Times New Roman"/>
              </a:rPr>
              <a:t> </a:t>
            </a:r>
            <a:r>
              <a:rPr sz="2500" spc="-125" dirty="0">
                <a:latin typeface="Times New Roman"/>
                <a:cs typeface="Times New Roman"/>
              </a:rPr>
              <a:t>b</a:t>
            </a:r>
            <a:r>
              <a:rPr sz="2500" spc="-120" dirty="0">
                <a:latin typeface="Times New Roman"/>
                <a:cs typeface="Times New Roman"/>
              </a:rPr>
              <a:t>e</a:t>
            </a:r>
            <a:r>
              <a:rPr sz="2500" spc="-30" dirty="0">
                <a:latin typeface="Times New Roman"/>
                <a:cs typeface="Times New Roman"/>
              </a:rPr>
              <a:t>t</a:t>
            </a:r>
            <a:r>
              <a:rPr sz="2500" spc="-160" dirty="0">
                <a:latin typeface="Times New Roman"/>
                <a:cs typeface="Times New Roman"/>
              </a:rPr>
              <a:t>w</a:t>
            </a:r>
            <a:r>
              <a:rPr sz="2500" spc="-100" dirty="0">
                <a:latin typeface="Times New Roman"/>
                <a:cs typeface="Times New Roman"/>
              </a:rPr>
              <a:t>e</a:t>
            </a:r>
            <a:r>
              <a:rPr sz="2500" spc="-114" dirty="0">
                <a:latin typeface="Times New Roman"/>
                <a:cs typeface="Times New Roman"/>
              </a:rPr>
              <a:t>e</a:t>
            </a:r>
            <a:r>
              <a:rPr sz="2500" spc="-110" dirty="0">
                <a:latin typeface="Times New Roman"/>
                <a:cs typeface="Times New Roman"/>
              </a:rPr>
              <a:t>n</a:t>
            </a:r>
            <a:r>
              <a:rPr sz="2500" spc="-95" dirty="0">
                <a:latin typeface="Times New Roman"/>
                <a:cs typeface="Times New Roman"/>
              </a:rPr>
              <a:t> </a:t>
            </a:r>
            <a:r>
              <a:rPr sz="2500" spc="-30" dirty="0">
                <a:latin typeface="Times New Roman"/>
                <a:cs typeface="Times New Roman"/>
              </a:rPr>
              <a:t>t</a:t>
            </a:r>
            <a:r>
              <a:rPr sz="2500" spc="-160" dirty="0">
                <a:latin typeface="Times New Roman"/>
                <a:cs typeface="Times New Roman"/>
              </a:rPr>
              <a:t>w</a:t>
            </a:r>
            <a:r>
              <a:rPr sz="2500" spc="-110" dirty="0">
                <a:latin typeface="Times New Roman"/>
                <a:cs typeface="Times New Roman"/>
              </a:rPr>
              <a:t>o</a:t>
            </a:r>
            <a:r>
              <a:rPr sz="2500" dirty="0">
                <a:latin typeface="Times New Roman"/>
                <a:cs typeface="Times New Roman"/>
              </a:rPr>
              <a:t>	</a:t>
            </a:r>
            <a:r>
              <a:rPr sz="2500" spc="-110" dirty="0">
                <a:latin typeface="Times New Roman"/>
                <a:cs typeface="Times New Roman"/>
              </a:rPr>
              <a:t>n</a:t>
            </a:r>
            <a:r>
              <a:rPr sz="2500" spc="-105" dirty="0">
                <a:latin typeface="Times New Roman"/>
                <a:cs typeface="Times New Roman"/>
              </a:rPr>
              <a:t>e</a:t>
            </a:r>
            <a:r>
              <a:rPr sz="2500" spc="-30" dirty="0">
                <a:latin typeface="Times New Roman"/>
                <a:cs typeface="Times New Roman"/>
              </a:rPr>
              <a:t>t</a:t>
            </a:r>
            <a:r>
              <a:rPr sz="2500" spc="-160" dirty="0">
                <a:latin typeface="Times New Roman"/>
                <a:cs typeface="Times New Roman"/>
              </a:rPr>
              <a:t>w</a:t>
            </a:r>
            <a:r>
              <a:rPr sz="2500" spc="-110" dirty="0">
                <a:latin typeface="Times New Roman"/>
                <a:cs typeface="Times New Roman"/>
              </a:rPr>
              <a:t>orks</a:t>
            </a:r>
            <a:r>
              <a:rPr sz="2500" spc="-105" dirty="0">
                <a:latin typeface="Times New Roman"/>
                <a:cs typeface="Times New Roman"/>
              </a:rPr>
              <a:t> </a:t>
            </a:r>
            <a:r>
              <a:rPr sz="2500" spc="-215" dirty="0">
                <a:latin typeface="Times New Roman"/>
                <a:cs typeface="Times New Roman"/>
              </a:rPr>
              <a:t>a</a:t>
            </a:r>
            <a:r>
              <a:rPr sz="2500" spc="-185" dirty="0">
                <a:latin typeface="Times New Roman"/>
                <a:cs typeface="Times New Roman"/>
              </a:rPr>
              <a:t>s</a:t>
            </a:r>
            <a:r>
              <a:rPr sz="2500" spc="-65" dirty="0">
                <a:latin typeface="Times New Roman"/>
                <a:cs typeface="Times New Roman"/>
              </a:rPr>
              <a:t> </a:t>
            </a:r>
            <a:r>
              <a:rPr sz="2500" spc="-225" dirty="0">
                <a:latin typeface="Times New Roman"/>
                <a:cs typeface="Times New Roman"/>
              </a:rPr>
              <a:t>w</a:t>
            </a:r>
            <a:r>
              <a:rPr sz="2500" spc="-95" dirty="0">
                <a:latin typeface="Times New Roman"/>
                <a:cs typeface="Times New Roman"/>
              </a:rPr>
              <a:t>ell</a:t>
            </a:r>
            <a:r>
              <a:rPr sz="2500" spc="-105" dirty="0">
                <a:latin typeface="Times New Roman"/>
                <a:cs typeface="Times New Roman"/>
              </a:rPr>
              <a:t> </a:t>
            </a:r>
            <a:r>
              <a:rPr sz="2500" spc="-165" dirty="0">
                <a:latin typeface="Times New Roman"/>
                <a:cs typeface="Times New Roman"/>
              </a:rPr>
              <a:t>as  </a:t>
            </a:r>
            <a:r>
              <a:rPr sz="2500" spc="5" dirty="0">
                <a:latin typeface="Times New Roman"/>
                <a:cs typeface="Times New Roman"/>
              </a:rPr>
              <a:t>r</a:t>
            </a:r>
            <a:r>
              <a:rPr sz="2500" spc="-105" dirty="0">
                <a:latin typeface="Times New Roman"/>
                <a:cs typeface="Times New Roman"/>
              </a:rPr>
              <a:t>outing</a:t>
            </a:r>
            <a:r>
              <a:rPr sz="2500" spc="-50" dirty="0">
                <a:latin typeface="Times New Roman"/>
                <a:cs typeface="Times New Roman"/>
              </a:rPr>
              <a:t> </a:t>
            </a:r>
            <a:r>
              <a:rPr sz="2500" spc="-140" dirty="0">
                <a:latin typeface="Times New Roman"/>
                <a:cs typeface="Times New Roman"/>
              </a:rPr>
              <a:t>some</a:t>
            </a:r>
            <a:r>
              <a:rPr sz="2500" spc="-65" dirty="0">
                <a:latin typeface="Times New Roman"/>
                <a:cs typeface="Times New Roman"/>
              </a:rPr>
              <a:t> </a:t>
            </a:r>
            <a:r>
              <a:rPr sz="2500" spc="-175" dirty="0">
                <a:latin typeface="Times New Roman"/>
                <a:cs typeface="Times New Roman"/>
              </a:rPr>
              <a:t>message</a:t>
            </a:r>
            <a:r>
              <a:rPr sz="2500" spc="-140" dirty="0">
                <a:latin typeface="Times New Roman"/>
                <a:cs typeface="Times New Roman"/>
              </a:rPr>
              <a:t>s</a:t>
            </a:r>
            <a:r>
              <a:rPr sz="2500" spc="-45" dirty="0">
                <a:latin typeface="Times New Roman"/>
                <a:cs typeface="Times New Roman"/>
              </a:rPr>
              <a:t> </a:t>
            </a:r>
            <a:r>
              <a:rPr sz="2500" spc="-80" dirty="0">
                <a:latin typeface="Times New Roman"/>
                <a:cs typeface="Times New Roman"/>
              </a:rPr>
              <a:t>f</a:t>
            </a:r>
            <a:r>
              <a:rPr sz="2500" spc="-100" dirty="0">
                <a:latin typeface="Times New Roman"/>
                <a:cs typeface="Times New Roman"/>
              </a:rPr>
              <a:t>r</a:t>
            </a:r>
            <a:r>
              <a:rPr sz="2500" spc="-130" dirty="0">
                <a:latin typeface="Times New Roman"/>
                <a:cs typeface="Times New Roman"/>
              </a:rPr>
              <a:t>om</a:t>
            </a:r>
            <a:r>
              <a:rPr sz="2500" spc="-50" dirty="0">
                <a:latin typeface="Times New Roman"/>
                <a:cs typeface="Times New Roman"/>
              </a:rPr>
              <a:t> </a:t>
            </a:r>
            <a:r>
              <a:rPr sz="2500" spc="-75" dirty="0">
                <a:latin typeface="Times New Roman"/>
                <a:cs typeface="Times New Roman"/>
              </a:rPr>
              <a:t>the</a:t>
            </a:r>
            <a:r>
              <a:rPr sz="2500" dirty="0">
                <a:latin typeface="Times New Roman"/>
                <a:cs typeface="Times New Roman"/>
              </a:rPr>
              <a:t>	</a:t>
            </a:r>
            <a:r>
              <a:rPr sz="2500" spc="-65" dirty="0">
                <a:latin typeface="Times New Roman"/>
                <a:cs typeface="Times New Roman"/>
              </a:rPr>
              <a:t>b</a:t>
            </a:r>
            <a:r>
              <a:rPr sz="2500" spc="5" dirty="0">
                <a:latin typeface="Times New Roman"/>
                <a:cs typeface="Times New Roman"/>
              </a:rPr>
              <a:t>r</a:t>
            </a:r>
            <a:r>
              <a:rPr sz="2500" spc="-135" dirty="0">
                <a:latin typeface="Times New Roman"/>
                <a:cs typeface="Times New Roman"/>
              </a:rPr>
              <a:t>idge</a:t>
            </a:r>
            <a:r>
              <a:rPr sz="2500" spc="-90" dirty="0">
                <a:latin typeface="Times New Roman"/>
                <a:cs typeface="Times New Roman"/>
              </a:rPr>
              <a:t> </a:t>
            </a:r>
            <a:r>
              <a:rPr sz="2500" spc="-110" dirty="0">
                <a:latin typeface="Times New Roman"/>
                <a:cs typeface="Times New Roman"/>
              </a:rPr>
              <a:t>ne</a:t>
            </a:r>
            <a:r>
              <a:rPr sz="2500" spc="-30" dirty="0">
                <a:latin typeface="Times New Roman"/>
                <a:cs typeface="Times New Roman"/>
              </a:rPr>
              <a:t>t</a:t>
            </a:r>
            <a:r>
              <a:rPr sz="2500" spc="-160" dirty="0">
                <a:latin typeface="Times New Roman"/>
                <a:cs typeface="Times New Roman"/>
              </a:rPr>
              <a:t>w</a:t>
            </a:r>
            <a:r>
              <a:rPr sz="2500" spc="-110" dirty="0">
                <a:latin typeface="Times New Roman"/>
                <a:cs typeface="Times New Roman"/>
              </a:rPr>
              <a:t>orks</a:t>
            </a:r>
            <a:r>
              <a:rPr sz="2500" spc="-90" dirty="0">
                <a:latin typeface="Times New Roman"/>
                <a:cs typeface="Times New Roman"/>
              </a:rPr>
              <a:t> </a:t>
            </a:r>
            <a:r>
              <a:rPr sz="2500" spc="-40" dirty="0">
                <a:latin typeface="Times New Roman"/>
                <a:cs typeface="Times New Roman"/>
              </a:rPr>
              <a:t>to</a:t>
            </a:r>
            <a:r>
              <a:rPr sz="2500" spc="-70" dirty="0">
                <a:latin typeface="Times New Roman"/>
                <a:cs typeface="Times New Roman"/>
              </a:rPr>
              <a:t> </a:t>
            </a:r>
            <a:r>
              <a:rPr sz="2500" spc="-55" dirty="0">
                <a:latin typeface="Times New Roman"/>
                <a:cs typeface="Times New Roman"/>
              </a:rPr>
              <a:t>other  </a:t>
            </a:r>
            <a:r>
              <a:rPr sz="2500" spc="-90" dirty="0">
                <a:latin typeface="Times New Roman"/>
                <a:cs typeface="Times New Roman"/>
              </a:rPr>
              <a:t>networks.</a:t>
            </a:r>
            <a:endParaRPr sz="2500">
              <a:latin typeface="Times New Roman"/>
              <a:cs typeface="Times New Roman"/>
            </a:endParaRPr>
          </a:p>
          <a:p>
            <a:pPr marL="356870" marR="1289685" indent="-344805">
              <a:lnSpc>
                <a:spcPct val="100000"/>
              </a:lnSpc>
              <a:spcBef>
                <a:spcPts val="600"/>
              </a:spcBef>
              <a:buClr>
                <a:srgbClr val="C0504D"/>
              </a:buClr>
              <a:buSzPct val="74000"/>
              <a:buFont typeface="Wingdings"/>
              <a:buChar char=""/>
              <a:tabLst>
                <a:tab pos="356870" algn="l"/>
                <a:tab pos="357505" algn="l"/>
              </a:tabLst>
            </a:pPr>
            <a:r>
              <a:rPr sz="2500" spc="-210" dirty="0">
                <a:latin typeface="Times New Roman"/>
                <a:cs typeface="Times New Roman"/>
              </a:rPr>
              <a:t>A</a:t>
            </a:r>
            <a:r>
              <a:rPr sz="2500" spc="-110" dirty="0">
                <a:latin typeface="Times New Roman"/>
                <a:cs typeface="Times New Roman"/>
              </a:rPr>
              <a:t>r</a:t>
            </a:r>
            <a:r>
              <a:rPr sz="2500" spc="-100" dirty="0">
                <a:latin typeface="Times New Roman"/>
                <a:cs typeface="Times New Roman"/>
              </a:rPr>
              <a:t>e</a:t>
            </a:r>
            <a:r>
              <a:rPr sz="2500" spc="-95" dirty="0">
                <a:latin typeface="Times New Roman"/>
                <a:cs typeface="Times New Roman"/>
              </a:rPr>
              <a:t> </a:t>
            </a:r>
            <a:r>
              <a:rPr sz="2500" spc="-105" dirty="0">
                <a:latin typeface="Times New Roman"/>
                <a:cs typeface="Times New Roman"/>
              </a:rPr>
              <a:t>someti</a:t>
            </a:r>
            <a:r>
              <a:rPr sz="2500" spc="-175" dirty="0">
                <a:latin typeface="Times New Roman"/>
                <a:cs typeface="Times New Roman"/>
              </a:rPr>
              <a:t>m</a:t>
            </a:r>
            <a:r>
              <a:rPr sz="2500" spc="-145" dirty="0">
                <a:latin typeface="Times New Roman"/>
                <a:cs typeface="Times New Roman"/>
              </a:rPr>
              <a:t>es</a:t>
            </a:r>
            <a:r>
              <a:rPr sz="2500" spc="-40" dirty="0">
                <a:latin typeface="Times New Roman"/>
                <a:cs typeface="Times New Roman"/>
              </a:rPr>
              <a:t> </a:t>
            </a:r>
            <a:r>
              <a:rPr sz="2500" spc="-125" dirty="0">
                <a:latin typeface="Times New Roman"/>
                <a:cs typeface="Times New Roman"/>
              </a:rPr>
              <a:t>called</a:t>
            </a:r>
            <a:r>
              <a:rPr sz="2500" spc="-80" dirty="0">
                <a:latin typeface="Times New Roman"/>
                <a:cs typeface="Times New Roman"/>
              </a:rPr>
              <a:t> </a:t>
            </a:r>
            <a:r>
              <a:rPr sz="2500" spc="-180" dirty="0">
                <a:latin typeface="Times New Roman"/>
                <a:cs typeface="Times New Roman"/>
              </a:rPr>
              <a:t>(L</a:t>
            </a:r>
            <a:r>
              <a:rPr sz="2500" spc="-254" dirty="0">
                <a:latin typeface="Times New Roman"/>
                <a:cs typeface="Times New Roman"/>
              </a:rPr>
              <a:t>a</a:t>
            </a:r>
            <a:r>
              <a:rPr sz="2500" spc="-245" dirty="0">
                <a:latin typeface="Times New Roman"/>
                <a:cs typeface="Times New Roman"/>
              </a:rPr>
              <a:t>y</a:t>
            </a:r>
            <a:r>
              <a:rPr sz="2500" spc="-40" dirty="0">
                <a:latin typeface="Times New Roman"/>
                <a:cs typeface="Times New Roman"/>
              </a:rPr>
              <a:t>er</a:t>
            </a:r>
            <a:r>
              <a:rPr sz="2500" spc="-95" dirty="0">
                <a:latin typeface="Times New Roman"/>
                <a:cs typeface="Times New Roman"/>
              </a:rPr>
              <a:t> </a:t>
            </a:r>
            <a:r>
              <a:rPr sz="2500" spc="70" dirty="0">
                <a:latin typeface="Times New Roman"/>
                <a:cs typeface="Times New Roman"/>
              </a:rPr>
              <a:t>2/3)</a:t>
            </a:r>
            <a:r>
              <a:rPr sz="2500" spc="-75" dirty="0">
                <a:latin typeface="Times New Roman"/>
                <a:cs typeface="Times New Roman"/>
              </a:rPr>
              <a:t> </a:t>
            </a:r>
            <a:r>
              <a:rPr sz="2500" spc="-245" dirty="0">
                <a:latin typeface="Times New Roman"/>
                <a:cs typeface="Times New Roman"/>
              </a:rPr>
              <a:t>s</a:t>
            </a:r>
            <a:r>
              <a:rPr sz="2500" spc="-195" dirty="0">
                <a:latin typeface="Times New Roman"/>
                <a:cs typeface="Times New Roman"/>
              </a:rPr>
              <a:t>w</a:t>
            </a:r>
            <a:r>
              <a:rPr sz="2500" spc="-70" dirty="0">
                <a:latin typeface="Times New Roman"/>
                <a:cs typeface="Times New Roman"/>
              </a:rPr>
              <a:t>i</a:t>
            </a:r>
            <a:r>
              <a:rPr sz="2500" spc="-45" dirty="0">
                <a:latin typeface="Times New Roman"/>
                <a:cs typeface="Times New Roman"/>
              </a:rPr>
              <a:t>t</a:t>
            </a:r>
            <a:r>
              <a:rPr sz="2500" spc="-30" dirty="0">
                <a:latin typeface="Times New Roman"/>
                <a:cs typeface="Times New Roman"/>
              </a:rPr>
              <a:t>c</a:t>
            </a:r>
            <a:r>
              <a:rPr sz="2500" spc="-150" dirty="0">
                <a:latin typeface="Times New Roman"/>
                <a:cs typeface="Times New Roman"/>
              </a:rPr>
              <a:t>hes</a:t>
            </a:r>
            <a:r>
              <a:rPr sz="2500" spc="-95" dirty="0">
                <a:latin typeface="Times New Roman"/>
                <a:cs typeface="Times New Roman"/>
              </a:rPr>
              <a:t> </a:t>
            </a:r>
            <a:r>
              <a:rPr sz="2500" spc="-140" dirty="0">
                <a:latin typeface="Times New Roman"/>
                <a:cs typeface="Times New Roman"/>
              </a:rPr>
              <a:t>an</a:t>
            </a:r>
            <a:r>
              <a:rPr sz="2500" spc="-145" dirty="0">
                <a:latin typeface="Times New Roman"/>
                <a:cs typeface="Times New Roman"/>
              </a:rPr>
              <a:t>d</a:t>
            </a:r>
            <a:r>
              <a:rPr sz="2500" spc="-65" dirty="0">
                <a:latin typeface="Times New Roman"/>
                <a:cs typeface="Times New Roman"/>
              </a:rPr>
              <a:t> </a:t>
            </a:r>
            <a:r>
              <a:rPr sz="2500" spc="-105" dirty="0">
                <a:latin typeface="Times New Roman"/>
                <a:cs typeface="Times New Roman"/>
              </a:rPr>
              <a:t>a</a:t>
            </a:r>
            <a:r>
              <a:rPr sz="2500" spc="-95" dirty="0">
                <a:latin typeface="Times New Roman"/>
                <a:cs typeface="Times New Roman"/>
              </a:rPr>
              <a:t>r</a:t>
            </a:r>
            <a:r>
              <a:rPr sz="2500" spc="-100" dirty="0">
                <a:latin typeface="Times New Roman"/>
                <a:cs typeface="Times New Roman"/>
              </a:rPr>
              <a:t>e</a:t>
            </a:r>
            <a:r>
              <a:rPr sz="2500" spc="-45" dirty="0">
                <a:latin typeface="Times New Roman"/>
                <a:cs typeface="Times New Roman"/>
              </a:rPr>
              <a:t> </a:t>
            </a:r>
            <a:r>
              <a:rPr sz="2500" spc="-145" dirty="0">
                <a:latin typeface="Times New Roman"/>
                <a:cs typeface="Times New Roman"/>
              </a:rPr>
              <a:t>a  </a:t>
            </a:r>
            <a:r>
              <a:rPr sz="2500" spc="-120" dirty="0">
                <a:latin typeface="Times New Roman"/>
                <a:cs typeface="Times New Roman"/>
              </a:rPr>
              <a:t>combination</a:t>
            </a:r>
            <a:r>
              <a:rPr sz="2500" spc="-90" dirty="0">
                <a:latin typeface="Times New Roman"/>
                <a:cs typeface="Times New Roman"/>
              </a:rPr>
              <a:t> </a:t>
            </a:r>
            <a:r>
              <a:rPr sz="2500" spc="-150" dirty="0">
                <a:latin typeface="Times New Roman"/>
                <a:cs typeface="Times New Roman"/>
              </a:rPr>
              <a:t>of</a:t>
            </a:r>
            <a:r>
              <a:rPr sz="2500" spc="-50" dirty="0">
                <a:latin typeface="Times New Roman"/>
                <a:cs typeface="Times New Roman"/>
              </a:rPr>
              <a:t> </a:t>
            </a:r>
            <a:r>
              <a:rPr sz="2500" spc="-25" dirty="0">
                <a:latin typeface="Times New Roman"/>
                <a:cs typeface="Times New Roman"/>
              </a:rPr>
              <a:t>bridge/router</a:t>
            </a:r>
            <a:r>
              <a:rPr sz="2500" spc="-15" dirty="0">
                <a:latin typeface="Times New Roman"/>
                <a:cs typeface="Times New Roman"/>
              </a:rPr>
              <a:t> </a:t>
            </a:r>
            <a:r>
              <a:rPr sz="2500" spc="-120" dirty="0">
                <a:latin typeface="Times New Roman"/>
                <a:cs typeface="Times New Roman"/>
              </a:rPr>
              <a:t>hardware</a:t>
            </a:r>
            <a:r>
              <a:rPr sz="2500" spc="-40" dirty="0">
                <a:latin typeface="Times New Roman"/>
                <a:cs typeface="Times New Roman"/>
              </a:rPr>
              <a:t> </a:t>
            </a:r>
            <a:r>
              <a:rPr sz="2500" spc="-145" dirty="0">
                <a:latin typeface="Times New Roman"/>
                <a:cs typeface="Times New Roman"/>
              </a:rPr>
              <a:t>and</a:t>
            </a:r>
            <a:r>
              <a:rPr sz="2500" spc="-130" dirty="0">
                <a:latin typeface="Times New Roman"/>
                <a:cs typeface="Times New Roman"/>
              </a:rPr>
              <a:t> </a:t>
            </a:r>
            <a:r>
              <a:rPr sz="2500" spc="-100" dirty="0">
                <a:latin typeface="Times New Roman"/>
                <a:cs typeface="Times New Roman"/>
              </a:rPr>
              <a:t>software.</a:t>
            </a:r>
            <a:endParaRPr sz="25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61917" y="103123"/>
            <a:ext cx="156527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305" dirty="0">
                <a:solidFill>
                  <a:srgbClr val="585858"/>
                </a:solidFill>
                <a:latin typeface="Times New Roman"/>
                <a:cs typeface="Times New Roman"/>
              </a:rPr>
              <a:t>Gateway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2877" y="1118362"/>
            <a:ext cx="7933690" cy="4996180"/>
          </a:xfrm>
          <a:prstGeom prst="rect">
            <a:avLst/>
          </a:prstGeom>
        </p:spPr>
        <p:txBody>
          <a:bodyPr vert="horz" wrap="square" lIns="0" tIns="127000" rIns="0" bIns="0" rtlCol="0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1000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2400" spc="-195" dirty="0">
                <a:latin typeface="Times New Roman"/>
                <a:cs typeface="Times New Roman"/>
              </a:rPr>
              <a:t>I</a:t>
            </a:r>
            <a:r>
              <a:rPr sz="2400" spc="-45" dirty="0">
                <a:latin typeface="Times New Roman"/>
                <a:cs typeface="Times New Roman"/>
              </a:rPr>
              <a:t>n</a:t>
            </a:r>
            <a:r>
              <a:rPr sz="2400" spc="-50" dirty="0">
                <a:latin typeface="Times New Roman"/>
                <a:cs typeface="Times New Roman"/>
              </a:rPr>
              <a:t>t</a:t>
            </a:r>
            <a:r>
              <a:rPr sz="2400" spc="-110" dirty="0">
                <a:latin typeface="Times New Roman"/>
                <a:cs typeface="Times New Roman"/>
              </a:rPr>
              <a:t>e</a:t>
            </a:r>
            <a:r>
              <a:rPr sz="2400" spc="10" dirty="0">
                <a:latin typeface="Times New Roman"/>
                <a:cs typeface="Times New Roman"/>
              </a:rPr>
              <a:t>r</a:t>
            </a:r>
            <a:r>
              <a:rPr sz="2400" spc="-114" dirty="0">
                <a:latin typeface="Times New Roman"/>
                <a:cs typeface="Times New Roman"/>
              </a:rPr>
              <a:t>c</a:t>
            </a:r>
            <a:r>
              <a:rPr sz="2400" spc="-160" dirty="0">
                <a:latin typeface="Times New Roman"/>
                <a:cs typeface="Times New Roman"/>
              </a:rPr>
              <a:t>h</a:t>
            </a:r>
            <a:r>
              <a:rPr sz="2400" spc="-204" dirty="0">
                <a:latin typeface="Times New Roman"/>
                <a:cs typeface="Times New Roman"/>
              </a:rPr>
              <a:t>a</a:t>
            </a:r>
            <a:r>
              <a:rPr sz="2400" spc="-150" dirty="0">
                <a:latin typeface="Times New Roman"/>
                <a:cs typeface="Times New Roman"/>
              </a:rPr>
              <a:t>n</a:t>
            </a:r>
            <a:r>
              <a:rPr sz="2400" spc="-175" dirty="0">
                <a:latin typeface="Times New Roman"/>
                <a:cs typeface="Times New Roman"/>
              </a:rPr>
              <a:t>g</a:t>
            </a:r>
            <a:r>
              <a:rPr sz="2400" spc="-110" dirty="0">
                <a:latin typeface="Times New Roman"/>
                <a:cs typeface="Times New Roman"/>
              </a:rPr>
              <a:t>e</a:t>
            </a:r>
            <a:r>
              <a:rPr sz="2400" spc="-204" dirty="0">
                <a:latin typeface="Times New Roman"/>
                <a:cs typeface="Times New Roman"/>
              </a:rPr>
              <a:t>a</a:t>
            </a:r>
            <a:r>
              <a:rPr sz="2400" spc="-175" dirty="0">
                <a:latin typeface="Times New Roman"/>
                <a:cs typeface="Times New Roman"/>
              </a:rPr>
              <a:t>b</a:t>
            </a:r>
            <a:r>
              <a:rPr sz="2400" spc="-160" dirty="0">
                <a:latin typeface="Times New Roman"/>
                <a:cs typeface="Times New Roman"/>
              </a:rPr>
              <a:t>l</a:t>
            </a:r>
            <a:r>
              <a:rPr sz="2400" spc="-200" dirty="0">
                <a:latin typeface="Times New Roman"/>
                <a:cs typeface="Times New Roman"/>
              </a:rPr>
              <a:t>y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60" dirty="0">
                <a:latin typeface="Times New Roman"/>
                <a:cs typeface="Times New Roman"/>
              </a:rPr>
              <a:t>u</a:t>
            </a:r>
            <a:r>
              <a:rPr sz="2400" spc="-120" dirty="0">
                <a:latin typeface="Times New Roman"/>
                <a:cs typeface="Times New Roman"/>
              </a:rPr>
              <a:t>s</a:t>
            </a:r>
            <a:r>
              <a:rPr sz="2400" spc="-100" dirty="0">
                <a:latin typeface="Times New Roman"/>
                <a:cs typeface="Times New Roman"/>
              </a:rPr>
              <a:t>ed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Times New Roman"/>
                <a:cs typeface="Times New Roman"/>
              </a:rPr>
              <a:t>te</a:t>
            </a:r>
            <a:r>
              <a:rPr sz="2400" spc="50" dirty="0">
                <a:latin typeface="Times New Roman"/>
                <a:cs typeface="Times New Roman"/>
              </a:rPr>
              <a:t>r</a:t>
            </a:r>
            <a:r>
              <a:rPr sz="2400" spc="-145" dirty="0">
                <a:latin typeface="Times New Roman"/>
                <a:cs typeface="Times New Roman"/>
              </a:rPr>
              <a:t>m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r</a:t>
            </a:r>
            <a:r>
              <a:rPr sz="2400" spc="-105" dirty="0">
                <a:latin typeface="Times New Roman"/>
                <a:cs typeface="Times New Roman"/>
              </a:rPr>
              <a:t>o</a:t>
            </a:r>
            <a:r>
              <a:rPr sz="2400" spc="-120" dirty="0">
                <a:latin typeface="Times New Roman"/>
                <a:cs typeface="Times New Roman"/>
              </a:rPr>
              <a:t>u</a:t>
            </a:r>
            <a:r>
              <a:rPr sz="2400" spc="10" dirty="0">
                <a:latin typeface="Times New Roman"/>
                <a:cs typeface="Times New Roman"/>
              </a:rPr>
              <a:t>t</a:t>
            </a:r>
            <a:r>
              <a:rPr sz="2400" spc="-110" dirty="0">
                <a:latin typeface="Times New Roman"/>
                <a:cs typeface="Times New Roman"/>
              </a:rPr>
              <a:t>e</a:t>
            </a:r>
            <a:r>
              <a:rPr sz="2400" spc="25" dirty="0">
                <a:latin typeface="Times New Roman"/>
                <a:cs typeface="Times New Roman"/>
              </a:rPr>
              <a:t>r</a:t>
            </a:r>
            <a:r>
              <a:rPr sz="2400" spc="-120" dirty="0">
                <a:latin typeface="Times New Roman"/>
                <a:cs typeface="Times New Roman"/>
              </a:rPr>
              <a:t> </a:t>
            </a:r>
            <a:r>
              <a:rPr sz="2400" spc="-135" dirty="0">
                <a:latin typeface="Times New Roman"/>
                <a:cs typeface="Times New Roman"/>
              </a:rPr>
              <a:t>an</a:t>
            </a:r>
            <a:r>
              <a:rPr sz="2400" spc="-140" dirty="0">
                <a:latin typeface="Times New Roman"/>
                <a:cs typeface="Times New Roman"/>
              </a:rPr>
              <a:t>d</a:t>
            </a:r>
            <a:r>
              <a:rPr sz="2400" spc="-254" dirty="0">
                <a:latin typeface="Times New Roman"/>
                <a:cs typeface="Times New Roman"/>
              </a:rPr>
              <a:t> </a:t>
            </a:r>
            <a:r>
              <a:rPr sz="2400" spc="-245" dirty="0">
                <a:latin typeface="Times New Roman"/>
                <a:cs typeface="Times New Roman"/>
              </a:rPr>
              <a:t>g</a:t>
            </a:r>
            <a:r>
              <a:rPr sz="2400" spc="-254" dirty="0">
                <a:latin typeface="Times New Roman"/>
                <a:cs typeface="Times New Roman"/>
              </a:rPr>
              <a:t>a</a:t>
            </a:r>
            <a:r>
              <a:rPr sz="2400" spc="-15" dirty="0">
                <a:latin typeface="Times New Roman"/>
                <a:cs typeface="Times New Roman"/>
              </a:rPr>
              <a:t>t</a:t>
            </a:r>
            <a:r>
              <a:rPr sz="2400" spc="-170" dirty="0">
                <a:latin typeface="Times New Roman"/>
                <a:cs typeface="Times New Roman"/>
              </a:rPr>
              <a:t>e</a:t>
            </a:r>
            <a:r>
              <a:rPr sz="2400" spc="-200" dirty="0">
                <a:latin typeface="Times New Roman"/>
                <a:cs typeface="Times New Roman"/>
              </a:rPr>
              <a:t>w</a:t>
            </a:r>
            <a:r>
              <a:rPr sz="2400" spc="-315" dirty="0">
                <a:latin typeface="Times New Roman"/>
                <a:cs typeface="Times New Roman"/>
              </a:rPr>
              <a:t>a</a:t>
            </a:r>
            <a:r>
              <a:rPr sz="2400" spc="-200" dirty="0">
                <a:latin typeface="Times New Roman"/>
                <a:cs typeface="Times New Roman"/>
              </a:rPr>
              <a:t>y</a:t>
            </a:r>
            <a:endParaRPr sz="2400">
              <a:latin typeface="Times New Roman"/>
              <a:cs typeface="Times New Roman"/>
            </a:endParaRPr>
          </a:p>
          <a:p>
            <a:pPr marL="356870" indent="-344805">
              <a:lnSpc>
                <a:spcPct val="100000"/>
              </a:lnSpc>
              <a:spcBef>
                <a:spcPts val="900"/>
              </a:spcBef>
              <a:buFont typeface="Arial MT"/>
              <a:buChar char="•"/>
              <a:tabLst>
                <a:tab pos="356870" algn="l"/>
                <a:tab pos="357505" algn="l"/>
                <a:tab pos="6407785" algn="l"/>
              </a:tabLst>
            </a:pPr>
            <a:r>
              <a:rPr sz="2400" spc="-95" dirty="0">
                <a:latin typeface="Times New Roman"/>
                <a:cs typeface="Times New Roman"/>
              </a:rPr>
              <a:t>Connect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10" dirty="0">
                <a:latin typeface="Times New Roman"/>
                <a:cs typeface="Times New Roman"/>
              </a:rPr>
              <a:t>two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14" dirty="0">
                <a:latin typeface="Times New Roman"/>
                <a:cs typeface="Times New Roman"/>
              </a:rPr>
              <a:t>networks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80" dirty="0">
                <a:latin typeface="Times New Roman"/>
                <a:cs typeface="Times New Roman"/>
              </a:rPr>
              <a:t>above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spc="-70" dirty="0">
                <a:latin typeface="Times New Roman"/>
                <a:cs typeface="Times New Roman"/>
              </a:rPr>
              <a:t>the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network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55" dirty="0">
                <a:latin typeface="Times New Roman"/>
                <a:cs typeface="Times New Roman"/>
              </a:rPr>
              <a:t>layer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40" dirty="0">
                <a:latin typeface="Times New Roman"/>
                <a:cs typeface="Times New Roman"/>
              </a:rPr>
              <a:t>of</a:t>
            </a:r>
            <a:r>
              <a:rPr sz="2400" spc="-175" dirty="0">
                <a:latin typeface="Times New Roman"/>
                <a:cs typeface="Times New Roman"/>
              </a:rPr>
              <a:t> </a:t>
            </a:r>
            <a:r>
              <a:rPr sz="2400" spc="-165" dirty="0">
                <a:latin typeface="Times New Roman"/>
                <a:cs typeface="Times New Roman"/>
              </a:rPr>
              <a:t>OSI	</a:t>
            </a:r>
            <a:r>
              <a:rPr sz="2400" spc="-75" dirty="0">
                <a:latin typeface="Times New Roman"/>
                <a:cs typeface="Times New Roman"/>
              </a:rPr>
              <a:t>model.</a:t>
            </a:r>
            <a:endParaRPr sz="2400">
              <a:latin typeface="Times New Roman"/>
              <a:cs typeface="Times New Roman"/>
            </a:endParaRPr>
          </a:p>
          <a:p>
            <a:pPr marL="356870" indent="-344805">
              <a:lnSpc>
                <a:spcPct val="100000"/>
              </a:lnSpc>
              <a:spcBef>
                <a:spcPts val="315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2400" spc="-150" dirty="0">
                <a:latin typeface="Times New Roman"/>
                <a:cs typeface="Times New Roman"/>
              </a:rPr>
              <a:t>Are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spc="-140" dirty="0">
                <a:latin typeface="Times New Roman"/>
                <a:cs typeface="Times New Roman"/>
              </a:rPr>
              <a:t>capable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spc="-140" dirty="0">
                <a:latin typeface="Times New Roman"/>
                <a:cs typeface="Times New Roman"/>
              </a:rPr>
              <a:t>of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spc="-114" dirty="0">
                <a:latin typeface="Times New Roman"/>
                <a:cs typeface="Times New Roman"/>
              </a:rPr>
              <a:t>converting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40" dirty="0">
                <a:latin typeface="Times New Roman"/>
                <a:cs typeface="Times New Roman"/>
              </a:rPr>
              <a:t>data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spc="-140" dirty="0">
                <a:latin typeface="Times New Roman"/>
                <a:cs typeface="Times New Roman"/>
              </a:rPr>
              <a:t>frames</a:t>
            </a:r>
            <a:r>
              <a:rPr sz="2400" spc="-120" dirty="0">
                <a:latin typeface="Times New Roman"/>
                <a:cs typeface="Times New Roman"/>
              </a:rPr>
              <a:t> </a:t>
            </a:r>
            <a:r>
              <a:rPr sz="2400" spc="-135" dirty="0">
                <a:latin typeface="Times New Roman"/>
                <a:cs typeface="Times New Roman"/>
              </a:rPr>
              <a:t>and</a:t>
            </a:r>
            <a:r>
              <a:rPr sz="2400" spc="-145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network</a:t>
            </a:r>
            <a:endParaRPr sz="2400">
              <a:latin typeface="Times New Roman"/>
              <a:cs typeface="Times New Roman"/>
            </a:endParaRPr>
          </a:p>
          <a:p>
            <a:pPr marL="356870">
              <a:lnSpc>
                <a:spcPct val="100000"/>
              </a:lnSpc>
              <a:spcBef>
                <a:spcPts val="320"/>
              </a:spcBef>
            </a:pPr>
            <a:r>
              <a:rPr sz="2400" spc="-45" dirty="0">
                <a:latin typeface="Times New Roman"/>
                <a:cs typeface="Times New Roman"/>
              </a:rPr>
              <a:t>p</a:t>
            </a:r>
            <a:r>
              <a:rPr sz="2400" spc="-75" dirty="0">
                <a:latin typeface="Times New Roman"/>
                <a:cs typeface="Times New Roman"/>
              </a:rPr>
              <a:t>r</a:t>
            </a:r>
            <a:r>
              <a:rPr sz="2400" spc="-45" dirty="0">
                <a:latin typeface="Times New Roman"/>
                <a:cs typeface="Times New Roman"/>
              </a:rPr>
              <a:t>o</a:t>
            </a:r>
            <a:r>
              <a:rPr sz="2400" spc="-50" dirty="0">
                <a:latin typeface="Times New Roman"/>
                <a:cs typeface="Times New Roman"/>
              </a:rPr>
              <a:t>t</a:t>
            </a:r>
            <a:r>
              <a:rPr sz="2400" spc="-130" dirty="0">
                <a:latin typeface="Times New Roman"/>
                <a:cs typeface="Times New Roman"/>
              </a:rPr>
              <a:t>o</a:t>
            </a:r>
            <a:r>
              <a:rPr sz="2400" spc="-135" dirty="0">
                <a:latin typeface="Times New Roman"/>
                <a:cs typeface="Times New Roman"/>
              </a:rPr>
              <a:t>c</a:t>
            </a:r>
            <a:r>
              <a:rPr sz="2400" spc="-125" dirty="0">
                <a:latin typeface="Times New Roman"/>
                <a:cs typeface="Times New Roman"/>
              </a:rPr>
              <a:t>o</a:t>
            </a:r>
            <a:r>
              <a:rPr sz="2400" spc="-90" dirty="0">
                <a:latin typeface="Times New Roman"/>
                <a:cs typeface="Times New Roman"/>
              </a:rPr>
              <a:t>l</a:t>
            </a:r>
            <a:r>
              <a:rPr sz="2400" spc="-185" dirty="0">
                <a:latin typeface="Times New Roman"/>
                <a:cs typeface="Times New Roman"/>
              </a:rPr>
              <a:t>s</a:t>
            </a:r>
            <a:r>
              <a:rPr sz="2400" spc="-130" dirty="0">
                <a:latin typeface="Times New Roman"/>
                <a:cs typeface="Times New Roman"/>
              </a:rPr>
              <a:t> i</a:t>
            </a:r>
            <a:r>
              <a:rPr sz="2400" spc="-45" dirty="0">
                <a:latin typeface="Times New Roman"/>
                <a:cs typeface="Times New Roman"/>
              </a:rPr>
              <a:t>n</a:t>
            </a:r>
            <a:r>
              <a:rPr sz="2400" spc="-50" dirty="0">
                <a:latin typeface="Times New Roman"/>
                <a:cs typeface="Times New Roman"/>
              </a:rPr>
              <a:t>t</a:t>
            </a:r>
            <a:r>
              <a:rPr sz="2400" spc="-105" dirty="0">
                <a:latin typeface="Times New Roman"/>
                <a:cs typeface="Times New Roman"/>
              </a:rPr>
              <a:t>o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70" dirty="0">
                <a:latin typeface="Times New Roman"/>
                <a:cs typeface="Times New Roman"/>
              </a:rPr>
              <a:t>the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204" dirty="0">
                <a:latin typeface="Times New Roman"/>
                <a:cs typeface="Times New Roman"/>
              </a:rPr>
              <a:t>f</a:t>
            </a:r>
            <a:r>
              <a:rPr sz="2400" spc="-125" dirty="0">
                <a:latin typeface="Times New Roman"/>
                <a:cs typeface="Times New Roman"/>
              </a:rPr>
              <a:t>o</a:t>
            </a:r>
            <a:r>
              <a:rPr sz="2400" spc="70" dirty="0">
                <a:latin typeface="Times New Roman"/>
                <a:cs typeface="Times New Roman"/>
              </a:rPr>
              <a:t>r</a:t>
            </a:r>
            <a:r>
              <a:rPr sz="2400" spc="-170" dirty="0">
                <a:latin typeface="Times New Roman"/>
                <a:cs typeface="Times New Roman"/>
              </a:rPr>
              <a:t>m</a:t>
            </a:r>
            <a:r>
              <a:rPr sz="2400" spc="-240" dirty="0">
                <a:latin typeface="Times New Roman"/>
                <a:cs typeface="Times New Roman"/>
              </a:rPr>
              <a:t>a</a:t>
            </a:r>
            <a:r>
              <a:rPr sz="2400" spc="30" dirty="0">
                <a:latin typeface="Times New Roman"/>
                <a:cs typeface="Times New Roman"/>
              </a:rPr>
              <a:t>t</a:t>
            </a:r>
            <a:r>
              <a:rPr sz="2400" spc="-100" dirty="0">
                <a:latin typeface="Times New Roman"/>
                <a:cs typeface="Times New Roman"/>
              </a:rPr>
              <a:t> needed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spc="-185" dirty="0">
                <a:latin typeface="Times New Roman"/>
                <a:cs typeface="Times New Roman"/>
              </a:rPr>
              <a:t>b</a:t>
            </a:r>
            <a:r>
              <a:rPr sz="2400" spc="-200" dirty="0">
                <a:latin typeface="Times New Roman"/>
                <a:cs typeface="Times New Roman"/>
              </a:rPr>
              <a:t>y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spc="-135" dirty="0">
                <a:latin typeface="Times New Roman"/>
                <a:cs typeface="Times New Roman"/>
              </a:rPr>
              <a:t>ano</a:t>
            </a:r>
            <a:r>
              <a:rPr sz="2400" spc="-45" dirty="0">
                <a:latin typeface="Times New Roman"/>
                <a:cs typeface="Times New Roman"/>
              </a:rPr>
              <a:t>ther</a:t>
            </a:r>
            <a:r>
              <a:rPr sz="2400" spc="-190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n</a:t>
            </a:r>
            <a:r>
              <a:rPr sz="2400" spc="-120" dirty="0">
                <a:latin typeface="Times New Roman"/>
                <a:cs typeface="Times New Roman"/>
              </a:rPr>
              <a:t>e</a:t>
            </a:r>
            <a:r>
              <a:rPr sz="2400" spc="10" dirty="0">
                <a:latin typeface="Times New Roman"/>
                <a:cs typeface="Times New Roman"/>
              </a:rPr>
              <a:t>t</a:t>
            </a:r>
            <a:r>
              <a:rPr sz="2400" spc="-240" dirty="0">
                <a:latin typeface="Times New Roman"/>
                <a:cs typeface="Times New Roman"/>
              </a:rPr>
              <a:t>w</a:t>
            </a:r>
            <a:r>
              <a:rPr sz="2400" spc="-45" dirty="0">
                <a:latin typeface="Times New Roman"/>
                <a:cs typeface="Times New Roman"/>
              </a:rPr>
              <a:t>o</a:t>
            </a:r>
            <a:r>
              <a:rPr sz="2400" spc="-50" dirty="0">
                <a:latin typeface="Times New Roman"/>
                <a:cs typeface="Times New Roman"/>
              </a:rPr>
              <a:t>r</a:t>
            </a:r>
            <a:r>
              <a:rPr sz="2400" spc="-160" dirty="0">
                <a:latin typeface="Times New Roman"/>
                <a:cs typeface="Times New Roman"/>
              </a:rPr>
              <a:t>k</a:t>
            </a:r>
            <a:r>
              <a:rPr sz="2400" spc="10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356870" marR="1026160" indent="-344805">
              <a:lnSpc>
                <a:spcPct val="100800"/>
              </a:lnSpc>
              <a:spcBef>
                <a:spcPts val="700"/>
              </a:spcBef>
              <a:buFont typeface="Arial MT"/>
              <a:buChar char="•"/>
              <a:tabLst>
                <a:tab pos="356870" algn="l"/>
                <a:tab pos="357505" algn="l"/>
                <a:tab pos="5824220" algn="l"/>
              </a:tabLst>
            </a:pPr>
            <a:r>
              <a:rPr sz="2400" spc="-150" dirty="0">
                <a:latin typeface="Times New Roman"/>
                <a:cs typeface="Times New Roman"/>
              </a:rPr>
              <a:t>P</a:t>
            </a:r>
            <a:r>
              <a:rPr sz="2400" spc="-10" dirty="0">
                <a:latin typeface="Times New Roman"/>
                <a:cs typeface="Times New Roman"/>
              </a:rPr>
              <a:t>r</a:t>
            </a:r>
            <a:r>
              <a:rPr sz="2400" spc="-185" dirty="0">
                <a:latin typeface="Times New Roman"/>
                <a:cs typeface="Times New Roman"/>
              </a:rPr>
              <a:t>o</a:t>
            </a:r>
            <a:r>
              <a:rPr sz="2400" spc="-220" dirty="0">
                <a:latin typeface="Times New Roman"/>
                <a:cs typeface="Times New Roman"/>
              </a:rPr>
              <a:t>v</a:t>
            </a:r>
            <a:r>
              <a:rPr sz="2400" spc="-130" dirty="0">
                <a:latin typeface="Times New Roman"/>
                <a:cs typeface="Times New Roman"/>
              </a:rPr>
              <a:t>i</a:t>
            </a:r>
            <a:r>
              <a:rPr sz="2400" spc="-100" dirty="0">
                <a:latin typeface="Times New Roman"/>
                <a:cs typeface="Times New Roman"/>
              </a:rPr>
              <a:t>de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spc="-220" dirty="0">
                <a:latin typeface="Times New Roman"/>
                <a:cs typeface="Times New Roman"/>
              </a:rPr>
              <a:t>f</a:t>
            </a:r>
            <a:r>
              <a:rPr sz="2400" spc="-140" dirty="0">
                <a:latin typeface="Times New Roman"/>
                <a:cs typeface="Times New Roman"/>
              </a:rPr>
              <a:t>o</a:t>
            </a:r>
            <a:r>
              <a:rPr sz="2400" spc="25" dirty="0">
                <a:latin typeface="Times New Roman"/>
                <a:cs typeface="Times New Roman"/>
              </a:rPr>
              <a:t>r</a:t>
            </a:r>
            <a:r>
              <a:rPr sz="2400" spc="-120" dirty="0">
                <a:latin typeface="Times New Roman"/>
                <a:cs typeface="Times New Roman"/>
              </a:rPr>
              <a:t> </a:t>
            </a:r>
            <a:r>
              <a:rPr sz="2400" spc="10" dirty="0">
                <a:latin typeface="Times New Roman"/>
                <a:cs typeface="Times New Roman"/>
              </a:rPr>
              <a:t>tr</a:t>
            </a:r>
            <a:r>
              <a:rPr sz="2400" spc="-204" dirty="0">
                <a:latin typeface="Times New Roman"/>
                <a:cs typeface="Times New Roman"/>
              </a:rPr>
              <a:t>a</a:t>
            </a:r>
            <a:r>
              <a:rPr sz="2400" spc="-160" dirty="0">
                <a:latin typeface="Times New Roman"/>
                <a:cs typeface="Times New Roman"/>
              </a:rPr>
              <a:t>n</a:t>
            </a:r>
            <a:r>
              <a:rPr sz="2400" spc="-140" dirty="0">
                <a:latin typeface="Times New Roman"/>
                <a:cs typeface="Times New Roman"/>
              </a:rPr>
              <a:t>s</a:t>
            </a:r>
            <a:r>
              <a:rPr sz="2400" spc="-110" dirty="0">
                <a:latin typeface="Times New Roman"/>
                <a:cs typeface="Times New Roman"/>
              </a:rPr>
              <a:t>l</a:t>
            </a:r>
            <a:r>
              <a:rPr sz="2400" spc="-229" dirty="0">
                <a:latin typeface="Times New Roman"/>
                <a:cs typeface="Times New Roman"/>
              </a:rPr>
              <a:t>a</a:t>
            </a:r>
            <a:r>
              <a:rPr sz="2400" spc="10" dirty="0">
                <a:latin typeface="Times New Roman"/>
                <a:cs typeface="Times New Roman"/>
              </a:rPr>
              <a:t>t</a:t>
            </a:r>
            <a:r>
              <a:rPr sz="2400" spc="-130" dirty="0">
                <a:latin typeface="Times New Roman"/>
                <a:cs typeface="Times New Roman"/>
              </a:rPr>
              <a:t>i</a:t>
            </a:r>
            <a:r>
              <a:rPr sz="2400" spc="-105" dirty="0">
                <a:latin typeface="Times New Roman"/>
                <a:cs typeface="Times New Roman"/>
              </a:rPr>
              <a:t>on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se</a:t>
            </a:r>
            <a:r>
              <a:rPr sz="2400" spc="20" dirty="0">
                <a:latin typeface="Times New Roman"/>
                <a:cs typeface="Times New Roman"/>
              </a:rPr>
              <a:t>r</a:t>
            </a:r>
            <a:r>
              <a:rPr sz="2400" spc="-150" dirty="0">
                <a:latin typeface="Times New Roman"/>
                <a:cs typeface="Times New Roman"/>
              </a:rPr>
              <a:t>vices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14" dirty="0">
                <a:latin typeface="Times New Roman"/>
                <a:cs typeface="Times New Roman"/>
              </a:rPr>
              <a:t>b</a:t>
            </a:r>
            <a:r>
              <a:rPr sz="2400" spc="-130" dirty="0">
                <a:latin typeface="Times New Roman"/>
                <a:cs typeface="Times New Roman"/>
              </a:rPr>
              <a:t>e</a:t>
            </a:r>
            <a:r>
              <a:rPr sz="2400" spc="10" dirty="0">
                <a:latin typeface="Times New Roman"/>
                <a:cs typeface="Times New Roman"/>
              </a:rPr>
              <a:t>t</a:t>
            </a:r>
            <a:r>
              <a:rPr sz="2400" spc="-240" dirty="0">
                <a:latin typeface="Times New Roman"/>
                <a:cs typeface="Times New Roman"/>
              </a:rPr>
              <a:t>w</a:t>
            </a:r>
            <a:r>
              <a:rPr sz="2400" spc="-110" dirty="0">
                <a:latin typeface="Times New Roman"/>
                <a:cs typeface="Times New Roman"/>
              </a:rPr>
              <a:t>ee</a:t>
            </a:r>
            <a:r>
              <a:rPr sz="2400" spc="-105" dirty="0">
                <a:latin typeface="Times New Roman"/>
                <a:cs typeface="Times New Roman"/>
              </a:rPr>
              <a:t>n </a:t>
            </a:r>
            <a:r>
              <a:rPr sz="2400" spc="-125" dirty="0">
                <a:latin typeface="Times New Roman"/>
                <a:cs typeface="Times New Roman"/>
              </a:rPr>
              <a:t>d</a:t>
            </a:r>
            <a:r>
              <a:rPr sz="2400" spc="-145" dirty="0">
                <a:latin typeface="Times New Roman"/>
                <a:cs typeface="Times New Roman"/>
              </a:rPr>
              <a:t>i</a:t>
            </a:r>
            <a:r>
              <a:rPr sz="2400" spc="-204" dirty="0">
                <a:latin typeface="Times New Roman"/>
                <a:cs typeface="Times New Roman"/>
              </a:rPr>
              <a:t>ff</a:t>
            </a:r>
            <a:r>
              <a:rPr sz="2400" spc="-125" dirty="0">
                <a:latin typeface="Times New Roman"/>
                <a:cs typeface="Times New Roman"/>
              </a:rPr>
              <a:t>e</a:t>
            </a:r>
            <a:r>
              <a:rPr sz="2400" spc="-25" dirty="0">
                <a:latin typeface="Times New Roman"/>
                <a:cs typeface="Times New Roman"/>
              </a:rPr>
              <a:t>r</a:t>
            </a:r>
            <a:r>
              <a:rPr sz="2400" spc="-125" dirty="0">
                <a:latin typeface="Times New Roman"/>
                <a:cs typeface="Times New Roman"/>
              </a:rPr>
              <a:t>en</a:t>
            </a:r>
            <a:r>
              <a:rPr sz="2400" spc="30" dirty="0">
                <a:latin typeface="Times New Roman"/>
                <a:cs typeface="Times New Roman"/>
              </a:rPr>
              <a:t>t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5" dirty="0">
                <a:latin typeface="Times New Roman"/>
                <a:cs typeface="Times New Roman"/>
              </a:rPr>
              <a:t>co</a:t>
            </a:r>
            <a:r>
              <a:rPr sz="2400" spc="-170" dirty="0">
                <a:latin typeface="Times New Roman"/>
                <a:cs typeface="Times New Roman"/>
              </a:rPr>
              <a:t>m</a:t>
            </a:r>
            <a:r>
              <a:rPr sz="2400" spc="-105" dirty="0">
                <a:latin typeface="Times New Roman"/>
                <a:cs typeface="Times New Roman"/>
              </a:rPr>
              <a:t>p</a:t>
            </a:r>
            <a:r>
              <a:rPr sz="2400" spc="-100" dirty="0">
                <a:latin typeface="Times New Roman"/>
                <a:cs typeface="Times New Roman"/>
              </a:rPr>
              <a:t>u</a:t>
            </a:r>
            <a:r>
              <a:rPr sz="2400" spc="-10" dirty="0">
                <a:latin typeface="Times New Roman"/>
                <a:cs typeface="Times New Roman"/>
              </a:rPr>
              <a:t>ter  </a:t>
            </a:r>
            <a:r>
              <a:rPr sz="2400" spc="-85" dirty="0">
                <a:latin typeface="Times New Roman"/>
                <a:cs typeface="Times New Roman"/>
              </a:rPr>
              <a:t>protocols.</a:t>
            </a:r>
            <a:endParaRPr sz="2400">
              <a:latin typeface="Times New Roman"/>
              <a:cs typeface="Times New Roman"/>
            </a:endParaRPr>
          </a:p>
          <a:p>
            <a:pPr marL="356870" marR="1583690" indent="-344805">
              <a:lnSpc>
                <a:spcPts val="3200"/>
              </a:lnSpc>
              <a:spcBef>
                <a:spcPts val="155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2400" b="1" spc="-95" dirty="0">
                <a:latin typeface="Times New Roman"/>
                <a:cs typeface="Times New Roman"/>
              </a:rPr>
              <a:t>Transport</a:t>
            </a:r>
            <a:r>
              <a:rPr sz="2400" b="1" spc="-80" dirty="0">
                <a:latin typeface="Times New Roman"/>
                <a:cs typeface="Times New Roman"/>
              </a:rPr>
              <a:t> </a:t>
            </a:r>
            <a:r>
              <a:rPr sz="2400" b="1" spc="-60" dirty="0">
                <a:latin typeface="Times New Roman"/>
                <a:cs typeface="Times New Roman"/>
              </a:rPr>
              <a:t>gateways</a:t>
            </a:r>
            <a:r>
              <a:rPr sz="2400" b="1" spc="-145" dirty="0">
                <a:latin typeface="Times New Roman"/>
                <a:cs typeface="Times New Roman"/>
              </a:rPr>
              <a:t> </a:t>
            </a:r>
            <a:r>
              <a:rPr sz="2400" spc="-170" dirty="0">
                <a:latin typeface="Times New Roman"/>
                <a:cs typeface="Times New Roman"/>
              </a:rPr>
              <a:t>make</a:t>
            </a:r>
            <a:r>
              <a:rPr sz="2400" spc="-125" dirty="0">
                <a:latin typeface="Times New Roman"/>
                <a:cs typeface="Times New Roman"/>
              </a:rPr>
              <a:t> </a:t>
            </a:r>
            <a:r>
              <a:rPr sz="2400" spc="-190" dirty="0">
                <a:latin typeface="Times New Roman"/>
                <a:cs typeface="Times New Roman"/>
              </a:rPr>
              <a:t>a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connection</a:t>
            </a:r>
            <a:r>
              <a:rPr sz="2400" spc="-110" dirty="0">
                <a:latin typeface="Times New Roman"/>
                <a:cs typeface="Times New Roman"/>
              </a:rPr>
              <a:t> </a:t>
            </a:r>
            <a:r>
              <a:rPr sz="2400" spc="-114" dirty="0">
                <a:latin typeface="Times New Roman"/>
                <a:cs typeface="Times New Roman"/>
              </a:rPr>
              <a:t>between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10" dirty="0">
                <a:latin typeface="Times New Roman"/>
                <a:cs typeface="Times New Roman"/>
              </a:rPr>
              <a:t>two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n</a:t>
            </a:r>
            <a:r>
              <a:rPr sz="2400" spc="-120" dirty="0">
                <a:latin typeface="Times New Roman"/>
                <a:cs typeface="Times New Roman"/>
              </a:rPr>
              <a:t>e</a:t>
            </a:r>
            <a:r>
              <a:rPr sz="2400" spc="10" dirty="0">
                <a:latin typeface="Times New Roman"/>
                <a:cs typeface="Times New Roman"/>
              </a:rPr>
              <a:t>t</a:t>
            </a:r>
            <a:r>
              <a:rPr sz="2400" spc="-240" dirty="0">
                <a:latin typeface="Times New Roman"/>
                <a:cs typeface="Times New Roman"/>
              </a:rPr>
              <a:t>w</a:t>
            </a:r>
            <a:r>
              <a:rPr sz="2400" spc="-45" dirty="0">
                <a:latin typeface="Times New Roman"/>
                <a:cs typeface="Times New Roman"/>
              </a:rPr>
              <a:t>o</a:t>
            </a:r>
            <a:r>
              <a:rPr sz="2400" spc="-50" dirty="0">
                <a:latin typeface="Times New Roman"/>
                <a:cs typeface="Times New Roman"/>
              </a:rPr>
              <a:t>r</a:t>
            </a:r>
            <a:r>
              <a:rPr sz="2400" spc="-160" dirty="0">
                <a:latin typeface="Times New Roman"/>
                <a:cs typeface="Times New Roman"/>
              </a:rPr>
              <a:t>k</a:t>
            </a:r>
            <a:r>
              <a:rPr sz="2400" spc="-185" dirty="0">
                <a:latin typeface="Times New Roman"/>
                <a:cs typeface="Times New Roman"/>
              </a:rPr>
              <a:t>s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229" dirty="0">
                <a:latin typeface="Times New Roman"/>
                <a:cs typeface="Times New Roman"/>
              </a:rPr>
              <a:t>a</a:t>
            </a:r>
            <a:r>
              <a:rPr sz="2400" spc="30" dirty="0">
                <a:latin typeface="Times New Roman"/>
                <a:cs typeface="Times New Roman"/>
              </a:rPr>
              <a:t>t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spc="-70" dirty="0">
                <a:latin typeface="Times New Roman"/>
                <a:cs typeface="Times New Roman"/>
              </a:rPr>
              <a:t>the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b="1" spc="10" dirty="0">
                <a:latin typeface="Times New Roman"/>
                <a:cs typeface="Times New Roman"/>
              </a:rPr>
              <a:t>t</a:t>
            </a:r>
            <a:r>
              <a:rPr sz="2400" b="1" spc="-110" dirty="0">
                <a:latin typeface="Times New Roman"/>
                <a:cs typeface="Times New Roman"/>
              </a:rPr>
              <a:t>r</a:t>
            </a:r>
            <a:r>
              <a:rPr sz="2400" b="1" spc="-40" dirty="0">
                <a:latin typeface="Times New Roman"/>
                <a:cs typeface="Times New Roman"/>
              </a:rPr>
              <a:t>a</a:t>
            </a:r>
            <a:r>
              <a:rPr sz="2400" b="1" spc="-60" dirty="0">
                <a:latin typeface="Times New Roman"/>
                <a:cs typeface="Times New Roman"/>
              </a:rPr>
              <a:t>n</a:t>
            </a:r>
            <a:r>
              <a:rPr sz="2400" b="1" spc="-75" dirty="0">
                <a:latin typeface="Times New Roman"/>
                <a:cs typeface="Times New Roman"/>
              </a:rPr>
              <a:t>s</a:t>
            </a:r>
            <a:r>
              <a:rPr sz="2400" b="1" spc="25" dirty="0">
                <a:latin typeface="Times New Roman"/>
                <a:cs typeface="Times New Roman"/>
              </a:rPr>
              <a:t>p</a:t>
            </a:r>
            <a:r>
              <a:rPr sz="2400" b="1" spc="80" dirty="0">
                <a:latin typeface="Times New Roman"/>
                <a:cs typeface="Times New Roman"/>
              </a:rPr>
              <a:t>o</a:t>
            </a:r>
            <a:r>
              <a:rPr sz="2400" b="1" spc="-30" dirty="0">
                <a:latin typeface="Times New Roman"/>
                <a:cs typeface="Times New Roman"/>
              </a:rPr>
              <a:t>r</a:t>
            </a:r>
            <a:r>
              <a:rPr sz="2400" b="1" spc="25" dirty="0">
                <a:latin typeface="Times New Roman"/>
                <a:cs typeface="Times New Roman"/>
              </a:rPr>
              <a:t>t</a:t>
            </a:r>
            <a:r>
              <a:rPr sz="2400" b="1" spc="-190" dirty="0">
                <a:latin typeface="Times New Roman"/>
                <a:cs typeface="Times New Roman"/>
              </a:rPr>
              <a:t> </a:t>
            </a:r>
            <a:r>
              <a:rPr sz="2400" b="1" spc="-35" dirty="0">
                <a:latin typeface="Times New Roman"/>
                <a:cs typeface="Times New Roman"/>
              </a:rPr>
              <a:t>l</a:t>
            </a:r>
            <a:r>
              <a:rPr sz="2400" b="1" spc="-245" dirty="0">
                <a:latin typeface="Times New Roman"/>
                <a:cs typeface="Times New Roman"/>
              </a:rPr>
              <a:t>a</a:t>
            </a:r>
            <a:r>
              <a:rPr sz="2400" b="1" spc="-135" dirty="0">
                <a:latin typeface="Times New Roman"/>
                <a:cs typeface="Times New Roman"/>
              </a:rPr>
              <a:t>y</a:t>
            </a:r>
            <a:r>
              <a:rPr sz="2400" b="1" dirty="0">
                <a:latin typeface="Times New Roman"/>
                <a:cs typeface="Times New Roman"/>
              </a:rPr>
              <a:t>e</a:t>
            </a:r>
            <a:r>
              <a:rPr sz="2400" b="1" spc="-305" dirty="0">
                <a:latin typeface="Times New Roman"/>
                <a:cs typeface="Times New Roman"/>
              </a:rPr>
              <a:t>r</a:t>
            </a:r>
            <a:r>
              <a:rPr sz="2400" b="1" spc="2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356870" marR="5080" indent="-344805">
              <a:lnSpc>
                <a:spcPct val="100699"/>
              </a:lnSpc>
              <a:spcBef>
                <a:spcPts val="540"/>
              </a:spcBef>
              <a:buFont typeface="Arial MT"/>
              <a:buChar char="•"/>
              <a:tabLst>
                <a:tab pos="356870" algn="l"/>
                <a:tab pos="357505" algn="l"/>
                <a:tab pos="4799965" algn="l"/>
                <a:tab pos="5850255" algn="l"/>
              </a:tabLst>
            </a:pPr>
            <a:r>
              <a:rPr sz="2400" b="1" spc="-5" dirty="0">
                <a:latin typeface="Times New Roman"/>
                <a:cs typeface="Times New Roman"/>
              </a:rPr>
              <a:t>Applic</a:t>
            </a:r>
            <a:r>
              <a:rPr sz="2400" b="1" spc="-30" dirty="0">
                <a:latin typeface="Times New Roman"/>
                <a:cs typeface="Times New Roman"/>
              </a:rPr>
              <a:t>a</a:t>
            </a:r>
            <a:r>
              <a:rPr sz="2400" b="1" spc="10" dirty="0">
                <a:latin typeface="Times New Roman"/>
                <a:cs typeface="Times New Roman"/>
              </a:rPr>
              <a:t>t</a:t>
            </a:r>
            <a:r>
              <a:rPr sz="2400" b="1" spc="45" dirty="0">
                <a:latin typeface="Times New Roman"/>
                <a:cs typeface="Times New Roman"/>
              </a:rPr>
              <a:t>i</a:t>
            </a:r>
            <a:r>
              <a:rPr sz="2400" b="1" spc="75" dirty="0">
                <a:latin typeface="Times New Roman"/>
                <a:cs typeface="Times New Roman"/>
              </a:rPr>
              <a:t>o</a:t>
            </a:r>
            <a:r>
              <a:rPr sz="2400" b="1" spc="15" dirty="0">
                <a:latin typeface="Times New Roman"/>
                <a:cs typeface="Times New Roman"/>
              </a:rPr>
              <a:t>n</a:t>
            </a:r>
            <a:r>
              <a:rPr sz="2400" b="1" spc="-114" dirty="0">
                <a:latin typeface="Times New Roman"/>
                <a:cs typeface="Times New Roman"/>
              </a:rPr>
              <a:t> </a:t>
            </a:r>
            <a:r>
              <a:rPr sz="2400" b="1" spc="-20" dirty="0">
                <a:latin typeface="Times New Roman"/>
                <a:cs typeface="Times New Roman"/>
              </a:rPr>
              <a:t>g</a:t>
            </a:r>
            <a:r>
              <a:rPr sz="2400" b="1" spc="-165" dirty="0">
                <a:latin typeface="Times New Roman"/>
                <a:cs typeface="Times New Roman"/>
              </a:rPr>
              <a:t>a</a:t>
            </a:r>
            <a:r>
              <a:rPr sz="2400" b="1" spc="-10" dirty="0">
                <a:latin typeface="Times New Roman"/>
                <a:cs typeface="Times New Roman"/>
              </a:rPr>
              <a:t>t</a:t>
            </a:r>
            <a:r>
              <a:rPr sz="2400" b="1" dirty="0">
                <a:latin typeface="Times New Roman"/>
                <a:cs typeface="Times New Roman"/>
              </a:rPr>
              <a:t>e</a:t>
            </a:r>
            <a:r>
              <a:rPr sz="2400" b="1" spc="30" dirty="0">
                <a:latin typeface="Times New Roman"/>
                <a:cs typeface="Times New Roman"/>
              </a:rPr>
              <a:t>w</a:t>
            </a:r>
            <a:r>
              <a:rPr sz="2400" b="1" spc="-225" dirty="0">
                <a:latin typeface="Times New Roman"/>
                <a:cs typeface="Times New Roman"/>
              </a:rPr>
              <a:t>a</a:t>
            </a:r>
            <a:r>
              <a:rPr sz="2400" b="1" spc="-40" dirty="0">
                <a:latin typeface="Times New Roman"/>
                <a:cs typeface="Times New Roman"/>
              </a:rPr>
              <a:t>y</a:t>
            </a:r>
            <a:r>
              <a:rPr sz="2400" b="1" spc="-60" dirty="0">
                <a:latin typeface="Times New Roman"/>
                <a:cs typeface="Times New Roman"/>
              </a:rPr>
              <a:t>s</a:t>
            </a:r>
            <a:r>
              <a:rPr sz="2400" b="1" spc="-135" dirty="0">
                <a:latin typeface="Times New Roman"/>
                <a:cs typeface="Times New Roman"/>
              </a:rPr>
              <a:t> </a:t>
            </a:r>
            <a:r>
              <a:rPr sz="2400" spc="-114" dirty="0">
                <a:latin typeface="Times New Roman"/>
                <a:cs typeface="Times New Roman"/>
              </a:rPr>
              <a:t>con</a:t>
            </a:r>
            <a:r>
              <a:rPr sz="2400" spc="-75" dirty="0">
                <a:latin typeface="Times New Roman"/>
                <a:cs typeface="Times New Roman"/>
              </a:rPr>
              <a:t>nect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spc="10" dirty="0">
                <a:latin typeface="Times New Roman"/>
                <a:cs typeface="Times New Roman"/>
              </a:rPr>
              <a:t>t</a:t>
            </a:r>
            <a:r>
              <a:rPr sz="2400" spc="-240" dirty="0">
                <a:latin typeface="Times New Roman"/>
                <a:cs typeface="Times New Roman"/>
              </a:rPr>
              <a:t>w</a:t>
            </a:r>
            <a:r>
              <a:rPr sz="2400" spc="-105" dirty="0">
                <a:latin typeface="Times New Roman"/>
                <a:cs typeface="Times New Roman"/>
              </a:rPr>
              <a:t>o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pa</a:t>
            </a:r>
            <a:r>
              <a:rPr sz="2400" spc="15" dirty="0">
                <a:latin typeface="Times New Roman"/>
                <a:cs typeface="Times New Roman"/>
              </a:rPr>
              <a:t>r</a:t>
            </a:r>
            <a:r>
              <a:rPr sz="2400" spc="-75" dirty="0">
                <a:latin typeface="Times New Roman"/>
                <a:cs typeface="Times New Roman"/>
              </a:rPr>
              <a:t>ts </a:t>
            </a:r>
            <a:r>
              <a:rPr sz="2400" spc="-140" dirty="0">
                <a:latin typeface="Times New Roman"/>
                <a:cs typeface="Times New Roman"/>
              </a:rPr>
              <a:t>of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145" dirty="0">
                <a:latin typeface="Times New Roman"/>
                <a:cs typeface="Times New Roman"/>
              </a:rPr>
              <a:t>a</a:t>
            </a:r>
            <a:r>
              <a:rPr sz="2400" spc="-155" dirty="0">
                <a:latin typeface="Times New Roman"/>
                <a:cs typeface="Times New Roman"/>
              </a:rPr>
              <a:t>n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35" dirty="0">
                <a:latin typeface="Times New Roman"/>
                <a:cs typeface="Times New Roman"/>
              </a:rPr>
              <a:t>app</a:t>
            </a:r>
            <a:r>
              <a:rPr sz="2400" spc="-130" dirty="0">
                <a:latin typeface="Times New Roman"/>
                <a:cs typeface="Times New Roman"/>
              </a:rPr>
              <a:t>lic</a:t>
            </a:r>
            <a:r>
              <a:rPr sz="2400" spc="-204" dirty="0">
                <a:latin typeface="Times New Roman"/>
                <a:cs typeface="Times New Roman"/>
              </a:rPr>
              <a:t>a</a:t>
            </a:r>
            <a:r>
              <a:rPr sz="2400" spc="-50" dirty="0">
                <a:latin typeface="Times New Roman"/>
                <a:cs typeface="Times New Roman"/>
              </a:rPr>
              <a:t>ti</a:t>
            </a:r>
            <a:r>
              <a:rPr sz="2400" spc="-100" dirty="0">
                <a:latin typeface="Times New Roman"/>
                <a:cs typeface="Times New Roman"/>
              </a:rPr>
              <a:t>o</a:t>
            </a:r>
            <a:r>
              <a:rPr sz="2400" spc="-105" dirty="0">
                <a:latin typeface="Times New Roman"/>
                <a:cs typeface="Times New Roman"/>
              </a:rPr>
              <a:t>n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spc="-110" dirty="0">
                <a:latin typeface="Times New Roman"/>
                <a:cs typeface="Times New Roman"/>
              </a:rPr>
              <a:t>in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20" dirty="0">
                <a:latin typeface="Times New Roman"/>
                <a:cs typeface="Times New Roman"/>
              </a:rPr>
              <a:t>t</a:t>
            </a:r>
            <a:r>
              <a:rPr sz="2400" spc="-95" dirty="0">
                <a:latin typeface="Times New Roman"/>
                <a:cs typeface="Times New Roman"/>
              </a:rPr>
              <a:t>he  </a:t>
            </a:r>
            <a:r>
              <a:rPr sz="2400" b="1" spc="-135" dirty="0">
                <a:latin typeface="Times New Roman"/>
                <a:cs typeface="Times New Roman"/>
              </a:rPr>
              <a:t>a</a:t>
            </a:r>
            <a:r>
              <a:rPr sz="2400" b="1" spc="15" dirty="0">
                <a:latin typeface="Times New Roman"/>
                <a:cs typeface="Times New Roman"/>
              </a:rPr>
              <a:t>pplic</a:t>
            </a:r>
            <a:r>
              <a:rPr sz="2400" b="1" spc="-20" dirty="0">
                <a:latin typeface="Times New Roman"/>
                <a:cs typeface="Times New Roman"/>
              </a:rPr>
              <a:t>a</a:t>
            </a:r>
            <a:r>
              <a:rPr sz="2400" b="1" spc="10" dirty="0">
                <a:latin typeface="Times New Roman"/>
                <a:cs typeface="Times New Roman"/>
              </a:rPr>
              <a:t>t</a:t>
            </a:r>
            <a:r>
              <a:rPr sz="2400" b="1" spc="45" dirty="0">
                <a:latin typeface="Times New Roman"/>
                <a:cs typeface="Times New Roman"/>
              </a:rPr>
              <a:t>i</a:t>
            </a:r>
            <a:r>
              <a:rPr sz="2400" b="1" spc="70" dirty="0">
                <a:latin typeface="Times New Roman"/>
                <a:cs typeface="Times New Roman"/>
              </a:rPr>
              <a:t>o</a:t>
            </a:r>
            <a:r>
              <a:rPr sz="2400" b="1" spc="15" dirty="0">
                <a:latin typeface="Times New Roman"/>
                <a:cs typeface="Times New Roman"/>
              </a:rPr>
              <a:t>n</a:t>
            </a:r>
            <a:r>
              <a:rPr sz="2400" b="1" spc="-110" dirty="0">
                <a:latin typeface="Times New Roman"/>
                <a:cs typeface="Times New Roman"/>
              </a:rPr>
              <a:t> </a:t>
            </a:r>
            <a:r>
              <a:rPr sz="2400" b="1" spc="10" dirty="0">
                <a:latin typeface="Times New Roman"/>
                <a:cs typeface="Times New Roman"/>
              </a:rPr>
              <a:t>l</a:t>
            </a:r>
            <a:r>
              <a:rPr sz="2400" b="1" spc="-195" dirty="0">
                <a:latin typeface="Times New Roman"/>
                <a:cs typeface="Times New Roman"/>
              </a:rPr>
              <a:t>a</a:t>
            </a:r>
            <a:r>
              <a:rPr sz="2400" b="1" spc="-85" dirty="0">
                <a:latin typeface="Times New Roman"/>
                <a:cs typeface="Times New Roman"/>
              </a:rPr>
              <a:t>y</a:t>
            </a:r>
            <a:r>
              <a:rPr sz="2400" b="1" spc="45" dirty="0">
                <a:latin typeface="Times New Roman"/>
                <a:cs typeface="Times New Roman"/>
              </a:rPr>
              <a:t>e</a:t>
            </a:r>
            <a:r>
              <a:rPr sz="2400" b="1" spc="-114" dirty="0">
                <a:latin typeface="Times New Roman"/>
                <a:cs typeface="Times New Roman"/>
              </a:rPr>
              <a:t>r</a:t>
            </a:r>
            <a:r>
              <a:rPr sz="2400" spc="100" dirty="0">
                <a:latin typeface="Times New Roman"/>
                <a:cs typeface="Times New Roman"/>
              </a:rPr>
              <a:t>,</a:t>
            </a:r>
            <a:r>
              <a:rPr sz="2400" spc="-210" dirty="0">
                <a:latin typeface="Times New Roman"/>
                <a:cs typeface="Times New Roman"/>
              </a:rPr>
              <a:t> </a:t>
            </a:r>
            <a:r>
              <a:rPr sz="2400" spc="-145" dirty="0">
                <a:latin typeface="Times New Roman"/>
                <a:cs typeface="Times New Roman"/>
              </a:rPr>
              <a:t>e</a:t>
            </a:r>
            <a:r>
              <a:rPr sz="2400" spc="100" dirty="0">
                <a:latin typeface="Times New Roman"/>
                <a:cs typeface="Times New Roman"/>
              </a:rPr>
              <a:t>.</a:t>
            </a:r>
            <a:r>
              <a:rPr sz="2400" spc="-430" dirty="0">
                <a:latin typeface="Times New Roman"/>
                <a:cs typeface="Times New Roman"/>
              </a:rPr>
              <a:t>g</a:t>
            </a:r>
            <a:r>
              <a:rPr sz="2400" spc="100" dirty="0">
                <a:latin typeface="Times New Roman"/>
                <a:cs typeface="Times New Roman"/>
              </a:rPr>
              <a:t>.,</a:t>
            </a:r>
            <a:r>
              <a:rPr sz="2400" spc="-120" dirty="0">
                <a:latin typeface="Times New Roman"/>
                <a:cs typeface="Times New Roman"/>
              </a:rPr>
              <a:t> send</a:t>
            </a:r>
            <a:r>
              <a:rPr sz="2400" spc="-140" dirty="0">
                <a:latin typeface="Times New Roman"/>
                <a:cs typeface="Times New Roman"/>
              </a:rPr>
              <a:t>ing</a:t>
            </a:r>
            <a:r>
              <a:rPr sz="2400" spc="-310" dirty="0">
                <a:latin typeface="Times New Roman"/>
                <a:cs typeface="Times New Roman"/>
              </a:rPr>
              <a:t> </a:t>
            </a:r>
            <a:r>
              <a:rPr sz="2400" spc="-125" dirty="0">
                <a:latin typeface="Times New Roman"/>
                <a:cs typeface="Times New Roman"/>
              </a:rPr>
              <a:t>email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35" dirty="0">
                <a:latin typeface="Times New Roman"/>
                <a:cs typeface="Times New Roman"/>
              </a:rPr>
              <a:t>b</a:t>
            </a:r>
            <a:r>
              <a:rPr sz="2400" spc="-110" dirty="0">
                <a:latin typeface="Times New Roman"/>
                <a:cs typeface="Times New Roman"/>
              </a:rPr>
              <a:t>e</a:t>
            </a:r>
            <a:r>
              <a:rPr sz="2400" spc="10" dirty="0">
                <a:latin typeface="Times New Roman"/>
                <a:cs typeface="Times New Roman"/>
              </a:rPr>
              <a:t>t</a:t>
            </a:r>
            <a:r>
              <a:rPr sz="2400" spc="-240" dirty="0">
                <a:latin typeface="Times New Roman"/>
                <a:cs typeface="Times New Roman"/>
              </a:rPr>
              <a:t>w</a:t>
            </a:r>
            <a:r>
              <a:rPr sz="2400" spc="-110" dirty="0">
                <a:latin typeface="Times New Roman"/>
                <a:cs typeface="Times New Roman"/>
              </a:rPr>
              <a:t>ee</a:t>
            </a:r>
            <a:r>
              <a:rPr sz="2400" spc="-100" dirty="0">
                <a:latin typeface="Times New Roman"/>
                <a:cs typeface="Times New Roman"/>
              </a:rPr>
              <a:t>n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spc="10" dirty="0">
                <a:latin typeface="Times New Roman"/>
                <a:cs typeface="Times New Roman"/>
              </a:rPr>
              <a:t>t</a:t>
            </a:r>
            <a:r>
              <a:rPr sz="2400" spc="-240" dirty="0">
                <a:latin typeface="Times New Roman"/>
                <a:cs typeface="Times New Roman"/>
              </a:rPr>
              <a:t>w</a:t>
            </a:r>
            <a:r>
              <a:rPr sz="2400" spc="-100" dirty="0">
                <a:latin typeface="Times New Roman"/>
                <a:cs typeface="Times New Roman"/>
              </a:rPr>
              <a:t>o </a:t>
            </a:r>
            <a:r>
              <a:rPr sz="2400" spc="-180" dirty="0">
                <a:latin typeface="Times New Roman"/>
                <a:cs typeface="Times New Roman"/>
              </a:rPr>
              <a:t>ma</a:t>
            </a:r>
            <a:r>
              <a:rPr sz="2400" spc="-80" dirty="0">
                <a:latin typeface="Times New Roman"/>
                <a:cs typeface="Times New Roman"/>
              </a:rPr>
              <a:t>c</a:t>
            </a:r>
            <a:r>
              <a:rPr sz="2400" spc="-114" dirty="0">
                <a:latin typeface="Times New Roman"/>
                <a:cs typeface="Times New Roman"/>
              </a:rPr>
              <a:t>hi</a:t>
            </a:r>
            <a:r>
              <a:rPr sz="2400" spc="-140" dirty="0">
                <a:latin typeface="Times New Roman"/>
                <a:cs typeface="Times New Roman"/>
              </a:rPr>
              <a:t>nes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145" dirty="0">
                <a:latin typeface="Times New Roman"/>
                <a:cs typeface="Times New Roman"/>
              </a:rPr>
              <a:t>us</a:t>
            </a:r>
            <a:r>
              <a:rPr sz="2400" spc="-120" dirty="0">
                <a:latin typeface="Times New Roman"/>
                <a:cs typeface="Times New Roman"/>
              </a:rPr>
              <a:t>ing  </a:t>
            </a:r>
            <a:r>
              <a:rPr sz="2400" spc="-125" dirty="0">
                <a:latin typeface="Times New Roman"/>
                <a:cs typeface="Times New Roman"/>
              </a:rPr>
              <a:t>d</a:t>
            </a:r>
            <a:r>
              <a:rPr sz="2400" spc="-145" dirty="0">
                <a:latin typeface="Times New Roman"/>
                <a:cs typeface="Times New Roman"/>
              </a:rPr>
              <a:t>i</a:t>
            </a:r>
            <a:r>
              <a:rPr sz="2400" spc="-204" dirty="0">
                <a:latin typeface="Times New Roman"/>
                <a:cs typeface="Times New Roman"/>
              </a:rPr>
              <a:t>ff</a:t>
            </a:r>
            <a:r>
              <a:rPr sz="2400" spc="-125" dirty="0">
                <a:latin typeface="Times New Roman"/>
                <a:cs typeface="Times New Roman"/>
              </a:rPr>
              <a:t>e</a:t>
            </a:r>
            <a:r>
              <a:rPr sz="2400" spc="-25" dirty="0">
                <a:latin typeface="Times New Roman"/>
                <a:cs typeface="Times New Roman"/>
              </a:rPr>
              <a:t>r</a:t>
            </a:r>
            <a:r>
              <a:rPr sz="2400" spc="-125" dirty="0">
                <a:latin typeface="Times New Roman"/>
                <a:cs typeface="Times New Roman"/>
              </a:rPr>
              <a:t>en</a:t>
            </a:r>
            <a:r>
              <a:rPr sz="2400" spc="30" dirty="0">
                <a:latin typeface="Times New Roman"/>
                <a:cs typeface="Times New Roman"/>
              </a:rPr>
              <a:t>t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160" dirty="0">
                <a:latin typeface="Times New Roman"/>
                <a:cs typeface="Times New Roman"/>
              </a:rPr>
              <a:t>mai</a:t>
            </a:r>
            <a:r>
              <a:rPr sz="2400" spc="-85" dirty="0">
                <a:latin typeface="Times New Roman"/>
                <a:cs typeface="Times New Roman"/>
              </a:rPr>
              <a:t>l</a:t>
            </a:r>
            <a:r>
              <a:rPr sz="2400" spc="-200" dirty="0">
                <a:latin typeface="Times New Roman"/>
                <a:cs typeface="Times New Roman"/>
              </a:rPr>
              <a:t> </a:t>
            </a:r>
            <a:r>
              <a:rPr sz="2400" spc="-195" dirty="0">
                <a:latin typeface="Times New Roman"/>
                <a:cs typeface="Times New Roman"/>
              </a:rPr>
              <a:t>f</a:t>
            </a:r>
            <a:r>
              <a:rPr sz="2400" spc="-45" dirty="0">
                <a:latin typeface="Times New Roman"/>
                <a:cs typeface="Times New Roman"/>
              </a:rPr>
              <a:t>o</a:t>
            </a:r>
            <a:r>
              <a:rPr sz="2400" spc="20" dirty="0">
                <a:latin typeface="Times New Roman"/>
                <a:cs typeface="Times New Roman"/>
              </a:rPr>
              <a:t>r</a:t>
            </a:r>
            <a:r>
              <a:rPr sz="2400" spc="-160" dirty="0">
                <a:latin typeface="Times New Roman"/>
                <a:cs typeface="Times New Roman"/>
              </a:rPr>
              <a:t>m</a:t>
            </a:r>
            <a:r>
              <a:rPr sz="2400" spc="-229" dirty="0">
                <a:latin typeface="Times New Roman"/>
                <a:cs typeface="Times New Roman"/>
              </a:rPr>
              <a:t>a</a:t>
            </a:r>
            <a:r>
              <a:rPr sz="2400" spc="10" dirty="0">
                <a:latin typeface="Times New Roman"/>
                <a:cs typeface="Times New Roman"/>
              </a:rPr>
              <a:t>t</a:t>
            </a:r>
            <a:r>
              <a:rPr sz="2400" spc="-185" dirty="0">
                <a:latin typeface="Times New Roman"/>
                <a:cs typeface="Times New Roman"/>
              </a:rPr>
              <a:t>s</a:t>
            </a:r>
            <a:endParaRPr sz="2400">
              <a:latin typeface="Times New Roman"/>
              <a:cs typeface="Times New Roman"/>
            </a:endParaRPr>
          </a:p>
          <a:p>
            <a:pPr marL="356870" indent="-344805">
              <a:lnSpc>
                <a:spcPct val="100000"/>
              </a:lnSpc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2400" spc="-235" dirty="0">
                <a:latin typeface="Times New Roman"/>
                <a:cs typeface="Times New Roman"/>
              </a:rPr>
              <a:t>B</a:t>
            </a:r>
            <a:r>
              <a:rPr sz="2400" spc="-145" dirty="0">
                <a:latin typeface="Times New Roman"/>
                <a:cs typeface="Times New Roman"/>
              </a:rPr>
              <a:t>r</a:t>
            </a:r>
            <a:r>
              <a:rPr sz="2400" spc="-130" dirty="0">
                <a:latin typeface="Times New Roman"/>
                <a:cs typeface="Times New Roman"/>
              </a:rPr>
              <a:t>oa</a:t>
            </a:r>
            <a:r>
              <a:rPr sz="2400" spc="-135" dirty="0">
                <a:latin typeface="Times New Roman"/>
                <a:cs typeface="Times New Roman"/>
              </a:rPr>
              <a:t>d</a:t>
            </a:r>
            <a:r>
              <a:rPr sz="2400" spc="-140" dirty="0">
                <a:latin typeface="Times New Roman"/>
                <a:cs typeface="Times New Roman"/>
              </a:rPr>
              <a:t>ba</a:t>
            </a:r>
            <a:r>
              <a:rPr sz="2400" spc="-160" dirty="0">
                <a:latin typeface="Times New Roman"/>
                <a:cs typeface="Times New Roman"/>
              </a:rPr>
              <a:t>n</a:t>
            </a:r>
            <a:r>
              <a:rPr sz="2400" spc="-114" dirty="0">
                <a:latin typeface="Times New Roman"/>
                <a:cs typeface="Times New Roman"/>
              </a:rPr>
              <a:t>d</a:t>
            </a:r>
            <a:r>
              <a:rPr sz="2400" spc="-60" dirty="0">
                <a:latin typeface="Times New Roman"/>
                <a:cs typeface="Times New Roman"/>
              </a:rPr>
              <a:t>-</a:t>
            </a:r>
            <a:r>
              <a:rPr sz="2400" spc="-130" dirty="0">
                <a:latin typeface="Times New Roman"/>
                <a:cs typeface="Times New Roman"/>
              </a:rPr>
              <a:t>mo</a:t>
            </a:r>
            <a:r>
              <a:rPr sz="2400" spc="-114" dirty="0">
                <a:latin typeface="Times New Roman"/>
                <a:cs typeface="Times New Roman"/>
              </a:rPr>
              <a:t>d</a:t>
            </a:r>
            <a:r>
              <a:rPr sz="2400" spc="-85" dirty="0">
                <a:latin typeface="Times New Roman"/>
                <a:cs typeface="Times New Roman"/>
              </a:rPr>
              <a:t>e</a:t>
            </a:r>
            <a:r>
              <a:rPr sz="2400" spc="-160" dirty="0">
                <a:latin typeface="Times New Roman"/>
                <a:cs typeface="Times New Roman"/>
              </a:rPr>
              <a:t>m</a:t>
            </a:r>
            <a:r>
              <a:rPr sz="2400" spc="-60" dirty="0">
                <a:latin typeface="Times New Roman"/>
                <a:cs typeface="Times New Roman"/>
              </a:rPr>
              <a:t>-</a:t>
            </a:r>
            <a:r>
              <a:rPr sz="2400" dirty="0">
                <a:latin typeface="Times New Roman"/>
                <a:cs typeface="Times New Roman"/>
              </a:rPr>
              <a:t>r</a:t>
            </a:r>
            <a:r>
              <a:rPr sz="2400" spc="-105" dirty="0">
                <a:latin typeface="Times New Roman"/>
                <a:cs typeface="Times New Roman"/>
              </a:rPr>
              <a:t>o</a:t>
            </a:r>
            <a:r>
              <a:rPr sz="2400" spc="-120" dirty="0">
                <a:latin typeface="Times New Roman"/>
                <a:cs typeface="Times New Roman"/>
              </a:rPr>
              <a:t>u</a:t>
            </a:r>
            <a:r>
              <a:rPr sz="2400" spc="-15" dirty="0">
                <a:latin typeface="Times New Roman"/>
                <a:cs typeface="Times New Roman"/>
              </a:rPr>
              <a:t>ter</a:t>
            </a:r>
            <a:r>
              <a:rPr sz="2400" spc="-114" dirty="0">
                <a:latin typeface="Times New Roman"/>
                <a:cs typeface="Times New Roman"/>
              </a:rPr>
              <a:t> </a:t>
            </a:r>
            <a:r>
              <a:rPr sz="2400" spc="-150" dirty="0">
                <a:latin typeface="Times New Roman"/>
                <a:cs typeface="Times New Roman"/>
              </a:rPr>
              <a:t>is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o</a:t>
            </a:r>
            <a:r>
              <a:rPr sz="2400" spc="-100" dirty="0">
                <a:latin typeface="Times New Roman"/>
                <a:cs typeface="Times New Roman"/>
              </a:rPr>
              <a:t>n</a:t>
            </a:r>
            <a:r>
              <a:rPr sz="2400" spc="-95" dirty="0">
                <a:latin typeface="Times New Roman"/>
                <a:cs typeface="Times New Roman"/>
              </a:rPr>
              <a:t>e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spc="-145" dirty="0">
                <a:latin typeface="Times New Roman"/>
                <a:cs typeface="Times New Roman"/>
              </a:rPr>
              <a:t>e</a:t>
            </a:r>
            <a:r>
              <a:rPr sz="2400" spc="100" dirty="0">
                <a:latin typeface="Times New Roman"/>
                <a:cs typeface="Times New Roman"/>
              </a:rPr>
              <a:t>.</a:t>
            </a:r>
            <a:r>
              <a:rPr sz="2400" spc="-430" dirty="0">
                <a:latin typeface="Times New Roman"/>
                <a:cs typeface="Times New Roman"/>
              </a:rPr>
              <a:t>g</a:t>
            </a:r>
            <a:r>
              <a:rPr sz="2400" spc="100" dirty="0">
                <a:latin typeface="Times New Roman"/>
                <a:cs typeface="Times New Roman"/>
              </a:rPr>
              <a:t>.</a:t>
            </a:r>
            <a:r>
              <a:rPr sz="2400" spc="-125" dirty="0">
                <a:latin typeface="Times New Roman"/>
                <a:cs typeface="Times New Roman"/>
              </a:rPr>
              <a:t> </a:t>
            </a:r>
            <a:r>
              <a:rPr sz="2400" spc="-140" dirty="0">
                <a:latin typeface="Times New Roman"/>
                <a:cs typeface="Times New Roman"/>
              </a:rPr>
              <a:t>of</a:t>
            </a:r>
            <a:r>
              <a:rPr sz="2400" spc="-254" dirty="0">
                <a:latin typeface="Times New Roman"/>
                <a:cs typeface="Times New Roman"/>
              </a:rPr>
              <a:t> </a:t>
            </a:r>
            <a:r>
              <a:rPr sz="2400" spc="-245" dirty="0">
                <a:latin typeface="Times New Roman"/>
                <a:cs typeface="Times New Roman"/>
              </a:rPr>
              <a:t>g</a:t>
            </a:r>
            <a:r>
              <a:rPr sz="2400" spc="-254" dirty="0">
                <a:latin typeface="Times New Roman"/>
                <a:cs typeface="Times New Roman"/>
              </a:rPr>
              <a:t>a</a:t>
            </a:r>
            <a:r>
              <a:rPr sz="2400" spc="-15" dirty="0">
                <a:latin typeface="Times New Roman"/>
                <a:cs typeface="Times New Roman"/>
              </a:rPr>
              <a:t>t</a:t>
            </a:r>
            <a:r>
              <a:rPr sz="2400" spc="-170" dirty="0">
                <a:latin typeface="Times New Roman"/>
                <a:cs typeface="Times New Roman"/>
              </a:rPr>
              <a:t>e</a:t>
            </a:r>
            <a:r>
              <a:rPr sz="2400" spc="-200" dirty="0">
                <a:latin typeface="Times New Roman"/>
                <a:cs typeface="Times New Roman"/>
              </a:rPr>
              <a:t>w</a:t>
            </a:r>
            <a:r>
              <a:rPr sz="2400" spc="-315" dirty="0">
                <a:latin typeface="Times New Roman"/>
                <a:cs typeface="Times New Roman"/>
              </a:rPr>
              <a:t>a</a:t>
            </a:r>
            <a:r>
              <a:rPr sz="2400" spc="-200" dirty="0">
                <a:latin typeface="Times New Roman"/>
                <a:cs typeface="Times New Roman"/>
              </a:rPr>
              <a:t>y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688974"/>
            <a:ext cx="271589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0" dirty="0"/>
              <a:t>Access </a:t>
            </a:r>
            <a:r>
              <a:rPr sz="4000" spc="-80" dirty="0"/>
              <a:t>Point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993444" y="1433830"/>
            <a:ext cx="7494905" cy="24047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5080" indent="-274320">
              <a:lnSpc>
                <a:spcPct val="100000"/>
              </a:lnSpc>
              <a:spcBef>
                <a:spcPts val="105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150" dirty="0">
                <a:latin typeface="Times New Roman"/>
                <a:cs typeface="Times New Roman"/>
              </a:rPr>
              <a:t>In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90" dirty="0">
                <a:latin typeface="Times New Roman"/>
                <a:cs typeface="Times New Roman"/>
              </a:rPr>
              <a:t>computer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b="1" spc="30" dirty="0">
                <a:latin typeface="Times New Roman"/>
                <a:cs typeface="Times New Roman"/>
              </a:rPr>
              <a:t>networking</a:t>
            </a:r>
            <a:r>
              <a:rPr sz="2600" spc="30" dirty="0">
                <a:latin typeface="Times New Roman"/>
                <a:cs typeface="Times New Roman"/>
              </a:rPr>
              <a:t>,</a:t>
            </a:r>
            <a:r>
              <a:rPr sz="2600" spc="-195" dirty="0">
                <a:latin typeface="Times New Roman"/>
                <a:cs typeface="Times New Roman"/>
              </a:rPr>
              <a:t> </a:t>
            </a:r>
            <a:r>
              <a:rPr sz="2600" spc="-204" dirty="0">
                <a:latin typeface="Times New Roman"/>
                <a:cs typeface="Times New Roman"/>
              </a:rPr>
              <a:t>a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wireless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b="1" spc="-5" dirty="0">
                <a:latin typeface="Times New Roman"/>
                <a:cs typeface="Times New Roman"/>
              </a:rPr>
              <a:t>access</a:t>
            </a:r>
            <a:r>
              <a:rPr sz="2600" b="1" spc="-60" dirty="0">
                <a:latin typeface="Times New Roman"/>
                <a:cs typeface="Times New Roman"/>
              </a:rPr>
              <a:t> </a:t>
            </a:r>
            <a:r>
              <a:rPr sz="2600" b="1" spc="45" dirty="0">
                <a:latin typeface="Times New Roman"/>
                <a:cs typeface="Times New Roman"/>
              </a:rPr>
              <a:t>point</a:t>
            </a:r>
            <a:r>
              <a:rPr sz="2600" b="1" spc="-65" dirty="0">
                <a:latin typeface="Times New Roman"/>
                <a:cs typeface="Times New Roman"/>
              </a:rPr>
              <a:t> </a:t>
            </a:r>
            <a:r>
              <a:rPr sz="2600" spc="-185" dirty="0">
                <a:latin typeface="Times New Roman"/>
                <a:cs typeface="Times New Roman"/>
              </a:rPr>
              <a:t>(WAP)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-165" dirty="0">
                <a:latin typeface="Times New Roman"/>
                <a:cs typeface="Times New Roman"/>
              </a:rPr>
              <a:t>is </a:t>
            </a:r>
            <a:r>
              <a:rPr sz="2600" spc="-204" dirty="0">
                <a:latin typeface="Times New Roman"/>
                <a:cs typeface="Times New Roman"/>
              </a:rPr>
              <a:t>a</a:t>
            </a:r>
            <a:r>
              <a:rPr sz="2600" spc="-200" dirty="0">
                <a:latin typeface="Times New Roman"/>
                <a:cs typeface="Times New Roman"/>
              </a:rPr>
              <a:t> </a:t>
            </a:r>
            <a:r>
              <a:rPr sz="2600" b="1" spc="25" dirty="0">
                <a:latin typeface="Times New Roman"/>
                <a:cs typeface="Times New Roman"/>
              </a:rPr>
              <a:t>networking </a:t>
            </a:r>
            <a:r>
              <a:rPr sz="2600" spc="-120" dirty="0">
                <a:latin typeface="Times New Roman"/>
                <a:cs typeface="Times New Roman"/>
              </a:rPr>
              <a:t>hardware </a:t>
            </a:r>
            <a:r>
              <a:rPr sz="2600" b="1" spc="40" dirty="0">
                <a:latin typeface="Times New Roman"/>
                <a:cs typeface="Times New Roman"/>
              </a:rPr>
              <a:t>device </a:t>
            </a:r>
            <a:r>
              <a:rPr sz="2600" spc="-85" dirty="0">
                <a:latin typeface="Times New Roman"/>
                <a:cs typeface="Times New Roman"/>
              </a:rPr>
              <a:t>that </a:t>
            </a:r>
            <a:r>
              <a:rPr sz="2600" spc="-160" dirty="0">
                <a:latin typeface="Times New Roman"/>
                <a:cs typeface="Times New Roman"/>
              </a:rPr>
              <a:t>allows </a:t>
            </a:r>
            <a:r>
              <a:rPr sz="2600" spc="-204" dirty="0">
                <a:latin typeface="Times New Roman"/>
                <a:cs typeface="Times New Roman"/>
              </a:rPr>
              <a:t>a </a:t>
            </a:r>
            <a:r>
              <a:rPr sz="2600" spc="-135" dirty="0">
                <a:latin typeface="Times New Roman"/>
                <a:cs typeface="Times New Roman"/>
              </a:rPr>
              <a:t>Wi-Fi </a:t>
            </a:r>
            <a:r>
              <a:rPr sz="2600" spc="-130" dirty="0">
                <a:latin typeface="Times New Roman"/>
                <a:cs typeface="Times New Roman"/>
              </a:rPr>
              <a:t> </a:t>
            </a:r>
            <a:r>
              <a:rPr sz="2600" b="1" spc="40" dirty="0">
                <a:latin typeface="Times New Roman"/>
                <a:cs typeface="Times New Roman"/>
              </a:rPr>
              <a:t>device </a:t>
            </a:r>
            <a:r>
              <a:rPr sz="2600" spc="-35" dirty="0">
                <a:latin typeface="Times New Roman"/>
                <a:cs typeface="Times New Roman"/>
              </a:rPr>
              <a:t>to </a:t>
            </a:r>
            <a:r>
              <a:rPr sz="2600" spc="-105" dirty="0">
                <a:latin typeface="Times New Roman"/>
                <a:cs typeface="Times New Roman"/>
              </a:rPr>
              <a:t>connect </a:t>
            </a:r>
            <a:r>
              <a:rPr sz="2600" spc="-35" dirty="0">
                <a:latin typeface="Times New Roman"/>
                <a:cs typeface="Times New Roman"/>
              </a:rPr>
              <a:t>to </a:t>
            </a:r>
            <a:r>
              <a:rPr sz="2600" spc="-204" dirty="0">
                <a:latin typeface="Times New Roman"/>
                <a:cs typeface="Times New Roman"/>
              </a:rPr>
              <a:t>a </a:t>
            </a:r>
            <a:r>
              <a:rPr sz="2600" spc="-95" dirty="0">
                <a:latin typeface="Times New Roman"/>
                <a:cs typeface="Times New Roman"/>
              </a:rPr>
              <a:t>wired </a:t>
            </a:r>
            <a:r>
              <a:rPr sz="2600" b="1" spc="5" dirty="0">
                <a:latin typeface="Times New Roman"/>
                <a:cs typeface="Times New Roman"/>
              </a:rPr>
              <a:t>network</a:t>
            </a:r>
            <a:r>
              <a:rPr sz="2600" spc="5" dirty="0">
                <a:latin typeface="Times New Roman"/>
                <a:cs typeface="Times New Roman"/>
              </a:rPr>
              <a:t>.The </a:t>
            </a:r>
            <a:r>
              <a:rPr sz="2600" spc="-275" dirty="0">
                <a:latin typeface="Times New Roman"/>
                <a:cs typeface="Times New Roman"/>
              </a:rPr>
              <a:t>WAP </a:t>
            </a:r>
            <a:r>
              <a:rPr sz="2600" spc="-160" dirty="0">
                <a:latin typeface="Times New Roman"/>
                <a:cs typeface="Times New Roman"/>
              </a:rPr>
              <a:t>usually </a:t>
            </a:r>
            <a:r>
              <a:rPr sz="2600" spc="-155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connects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Times New Roman"/>
                <a:cs typeface="Times New Roman"/>
              </a:rPr>
              <a:t>to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204" dirty="0">
                <a:latin typeface="Times New Roman"/>
                <a:cs typeface="Times New Roman"/>
              </a:rPr>
              <a:t>a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45" dirty="0">
                <a:latin typeface="Times New Roman"/>
                <a:cs typeface="Times New Roman"/>
              </a:rPr>
              <a:t>router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(via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204" dirty="0">
                <a:latin typeface="Times New Roman"/>
                <a:cs typeface="Times New Roman"/>
              </a:rPr>
              <a:t>a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95" dirty="0">
                <a:latin typeface="Times New Roman"/>
                <a:cs typeface="Times New Roman"/>
              </a:rPr>
              <a:t>wired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b="1" spc="15" dirty="0">
                <a:latin typeface="Times New Roman"/>
                <a:cs typeface="Times New Roman"/>
              </a:rPr>
              <a:t>network</a:t>
            </a:r>
            <a:r>
              <a:rPr sz="2600" spc="15" dirty="0">
                <a:latin typeface="Times New Roman"/>
                <a:cs typeface="Times New Roman"/>
              </a:rPr>
              <a:t>)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204" dirty="0">
                <a:latin typeface="Times New Roman"/>
                <a:cs typeface="Times New Roman"/>
              </a:rPr>
              <a:t>as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204" dirty="0">
                <a:latin typeface="Times New Roman"/>
                <a:cs typeface="Times New Roman"/>
              </a:rPr>
              <a:t>a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Times New Roman"/>
                <a:cs typeface="Times New Roman"/>
              </a:rPr>
              <a:t>standalone </a:t>
            </a:r>
            <a:r>
              <a:rPr sz="2600" spc="-120" dirty="0">
                <a:latin typeface="Times New Roman"/>
                <a:cs typeface="Times New Roman"/>
              </a:rPr>
              <a:t> </a:t>
            </a:r>
            <a:r>
              <a:rPr sz="2600" b="1" spc="50" dirty="0">
                <a:latin typeface="Times New Roman"/>
                <a:cs typeface="Times New Roman"/>
              </a:rPr>
              <a:t>device</a:t>
            </a:r>
            <a:r>
              <a:rPr sz="2600" spc="50" dirty="0">
                <a:latin typeface="Times New Roman"/>
                <a:cs typeface="Times New Roman"/>
              </a:rPr>
              <a:t>,</a:t>
            </a:r>
            <a:r>
              <a:rPr sz="2600" spc="-170" dirty="0">
                <a:latin typeface="Times New Roman"/>
                <a:cs typeface="Times New Roman"/>
              </a:rPr>
              <a:t> </a:t>
            </a:r>
            <a:r>
              <a:rPr sz="2600" spc="-80" dirty="0">
                <a:latin typeface="Times New Roman"/>
                <a:cs typeface="Times New Roman"/>
              </a:rPr>
              <a:t>but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45" dirty="0">
                <a:latin typeface="Times New Roman"/>
                <a:cs typeface="Times New Roman"/>
              </a:rPr>
              <a:t>it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160" dirty="0">
                <a:latin typeface="Times New Roman"/>
                <a:cs typeface="Times New Roman"/>
              </a:rPr>
              <a:t>can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55" dirty="0">
                <a:latin typeface="Times New Roman"/>
                <a:cs typeface="Times New Roman"/>
              </a:rPr>
              <a:t>also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be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60" dirty="0">
                <a:latin typeface="Times New Roman"/>
                <a:cs typeface="Times New Roman"/>
              </a:rPr>
              <a:t>an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00" dirty="0">
                <a:latin typeface="Times New Roman"/>
                <a:cs typeface="Times New Roman"/>
              </a:rPr>
              <a:t>integral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component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of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75" dirty="0">
                <a:latin typeface="Times New Roman"/>
                <a:cs typeface="Times New Roman"/>
              </a:rPr>
              <a:t>the 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45" dirty="0">
                <a:latin typeface="Times New Roman"/>
                <a:cs typeface="Times New Roman"/>
              </a:rPr>
              <a:t>router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85" dirty="0">
                <a:latin typeface="Times New Roman"/>
                <a:cs typeface="Times New Roman"/>
              </a:rPr>
              <a:t>itself.</a:t>
            </a:r>
            <a:endParaRPr sz="26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52800" y="4114800"/>
            <a:ext cx="2794000" cy="20955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688974"/>
            <a:ext cx="271589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0" dirty="0"/>
              <a:t>Access </a:t>
            </a:r>
            <a:r>
              <a:rPr sz="4000" spc="-80" dirty="0"/>
              <a:t>Point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993444" y="1433830"/>
            <a:ext cx="7524750" cy="1611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5080" indent="-274320">
              <a:lnSpc>
                <a:spcPct val="100000"/>
              </a:lnSpc>
              <a:spcBef>
                <a:spcPts val="105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235" dirty="0">
                <a:latin typeface="Times New Roman"/>
                <a:cs typeface="Times New Roman"/>
              </a:rPr>
              <a:t>Ac</a:t>
            </a:r>
            <a:r>
              <a:rPr sz="2600" spc="-190" dirty="0">
                <a:latin typeface="Times New Roman"/>
                <a:cs typeface="Times New Roman"/>
              </a:rPr>
              <a:t>c</a:t>
            </a:r>
            <a:r>
              <a:rPr sz="2600" spc="-165" dirty="0">
                <a:latin typeface="Times New Roman"/>
                <a:cs typeface="Times New Roman"/>
              </a:rPr>
              <a:t>ess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245" dirty="0">
                <a:latin typeface="Times New Roman"/>
                <a:cs typeface="Times New Roman"/>
              </a:rPr>
              <a:t>P</a:t>
            </a:r>
            <a:r>
              <a:rPr sz="2600" spc="-85" dirty="0">
                <a:latin typeface="Times New Roman"/>
                <a:cs typeface="Times New Roman"/>
              </a:rPr>
              <a:t>oin</a:t>
            </a:r>
            <a:r>
              <a:rPr sz="2600" spc="-70" dirty="0">
                <a:latin typeface="Times New Roman"/>
                <a:cs typeface="Times New Roman"/>
              </a:rPr>
              <a:t>t</a:t>
            </a:r>
            <a:r>
              <a:rPr sz="2600" spc="-175" dirty="0">
                <a:latin typeface="Times New Roman"/>
                <a:cs typeface="Times New Roman"/>
              </a:rPr>
              <a:t>(A</a:t>
            </a:r>
            <a:r>
              <a:rPr sz="2600" spc="-180" dirty="0">
                <a:latin typeface="Times New Roman"/>
                <a:cs typeface="Times New Roman"/>
              </a:rPr>
              <a:t>P</a:t>
            </a:r>
            <a:r>
              <a:rPr sz="2600" spc="-55" dirty="0">
                <a:latin typeface="Times New Roman"/>
                <a:cs typeface="Times New Roman"/>
              </a:rPr>
              <a:t>)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u</a:t>
            </a:r>
            <a:r>
              <a:rPr sz="2600" spc="-125" dirty="0">
                <a:latin typeface="Times New Roman"/>
                <a:cs typeface="Times New Roman"/>
              </a:rPr>
              <a:t>n</a:t>
            </a:r>
            <a:r>
              <a:rPr sz="2600" spc="-95" dirty="0">
                <a:latin typeface="Times New Roman"/>
                <a:cs typeface="Times New Roman"/>
              </a:rPr>
              <a:t>its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95" dirty="0">
                <a:latin typeface="Times New Roman"/>
                <a:cs typeface="Times New Roman"/>
              </a:rPr>
              <a:t>se</a:t>
            </a:r>
            <a:r>
              <a:rPr sz="2600" spc="30" dirty="0">
                <a:latin typeface="Times New Roman"/>
                <a:cs typeface="Times New Roman"/>
              </a:rPr>
              <a:t>r</a:t>
            </a:r>
            <a:r>
              <a:rPr sz="2600" spc="-270" dirty="0">
                <a:latin typeface="Times New Roman"/>
                <a:cs typeface="Times New Roman"/>
              </a:rPr>
              <a:t>v</a:t>
            </a:r>
            <a:r>
              <a:rPr sz="2600" spc="-100" dirty="0">
                <a:latin typeface="Times New Roman"/>
                <a:cs typeface="Times New Roman"/>
              </a:rPr>
              <a:t>e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spc="-105" dirty="0">
                <a:latin typeface="Times New Roman"/>
                <a:cs typeface="Times New Roman"/>
              </a:rPr>
              <a:t>a</a:t>
            </a:r>
            <a:r>
              <a:rPr sz="2600" spc="-100" dirty="0">
                <a:latin typeface="Times New Roman"/>
                <a:cs typeface="Times New Roman"/>
              </a:rPr>
              <a:t>r</a:t>
            </a:r>
            <a:r>
              <a:rPr sz="2600" spc="-170" dirty="0">
                <a:latin typeface="Times New Roman"/>
                <a:cs typeface="Times New Roman"/>
              </a:rPr>
              <a:t>eas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of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204" dirty="0">
                <a:latin typeface="Times New Roman"/>
                <a:cs typeface="Times New Roman"/>
              </a:rPr>
              <a:t>a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65" dirty="0">
                <a:latin typeface="Times New Roman"/>
                <a:cs typeface="Times New Roman"/>
              </a:rPr>
              <a:t>b</a:t>
            </a:r>
            <a:r>
              <a:rPr sz="2600" spc="-125" dirty="0">
                <a:latin typeface="Times New Roman"/>
                <a:cs typeface="Times New Roman"/>
              </a:rPr>
              <a:t>uildin</a:t>
            </a:r>
            <a:r>
              <a:rPr sz="2600" spc="-210" dirty="0">
                <a:latin typeface="Times New Roman"/>
                <a:cs typeface="Times New Roman"/>
              </a:rPr>
              <a:t>g</a:t>
            </a:r>
            <a:r>
              <a:rPr sz="2600" spc="110" dirty="0">
                <a:latin typeface="Times New Roman"/>
                <a:cs typeface="Times New Roman"/>
              </a:rPr>
              <a:t>,</a:t>
            </a:r>
            <a:r>
              <a:rPr sz="2600" spc="-170" dirty="0">
                <a:latin typeface="Times New Roman"/>
                <a:cs typeface="Times New Roman"/>
              </a:rPr>
              <a:t> sim</a:t>
            </a:r>
            <a:r>
              <a:rPr sz="2600" spc="-95" dirty="0">
                <a:latin typeface="Times New Roman"/>
                <a:cs typeface="Times New Roman"/>
              </a:rPr>
              <a:t>i</a:t>
            </a:r>
            <a:r>
              <a:rPr sz="2600" spc="-100" dirty="0">
                <a:latin typeface="Times New Roman"/>
                <a:cs typeface="Times New Roman"/>
              </a:rPr>
              <a:t>la</a:t>
            </a:r>
            <a:r>
              <a:rPr sz="2600" spc="-85" dirty="0">
                <a:latin typeface="Times New Roman"/>
                <a:cs typeface="Times New Roman"/>
              </a:rPr>
              <a:t>r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30" dirty="0">
                <a:latin typeface="Times New Roman"/>
                <a:cs typeface="Times New Roman"/>
              </a:rPr>
              <a:t>to  </a:t>
            </a:r>
            <a:r>
              <a:rPr sz="2600" spc="-160" dirty="0">
                <a:latin typeface="Times New Roman"/>
                <a:cs typeface="Times New Roman"/>
              </a:rPr>
              <a:t>base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105" dirty="0">
                <a:latin typeface="Times New Roman"/>
                <a:cs typeface="Times New Roman"/>
              </a:rPr>
              <a:t>units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of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cordless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telephones</a:t>
            </a:r>
            <a:r>
              <a:rPr sz="2600" spc="-95" dirty="0">
                <a:latin typeface="Times New Roman"/>
                <a:cs typeface="Times New Roman"/>
              </a:rPr>
              <a:t> </a:t>
            </a:r>
            <a:r>
              <a:rPr sz="2600" spc="-90" dirty="0">
                <a:latin typeface="Times New Roman"/>
                <a:cs typeface="Times New Roman"/>
              </a:rPr>
              <a:t>except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45" dirty="0">
                <a:latin typeface="Times New Roman"/>
                <a:cs typeface="Times New Roman"/>
              </a:rPr>
              <a:t>each</a:t>
            </a:r>
            <a:r>
              <a:rPr sz="2600" spc="-254" dirty="0">
                <a:latin typeface="Times New Roman"/>
                <a:cs typeface="Times New Roman"/>
              </a:rPr>
              <a:t> </a:t>
            </a:r>
            <a:r>
              <a:rPr sz="2600" spc="-240" dirty="0">
                <a:latin typeface="Times New Roman"/>
                <a:cs typeface="Times New Roman"/>
              </a:rPr>
              <a:t>AP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60" dirty="0">
                <a:latin typeface="Times New Roman"/>
                <a:cs typeface="Times New Roman"/>
              </a:rPr>
              <a:t>can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05" dirty="0">
                <a:latin typeface="Times New Roman"/>
                <a:cs typeface="Times New Roman"/>
              </a:rPr>
              <a:t>connect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Times New Roman"/>
                <a:cs typeface="Times New Roman"/>
              </a:rPr>
              <a:t>to </a:t>
            </a:r>
            <a:r>
              <a:rPr sz="2600" spc="-185" dirty="0">
                <a:latin typeface="Times New Roman"/>
                <a:cs typeface="Times New Roman"/>
              </a:rPr>
              <a:t>many </a:t>
            </a:r>
            <a:r>
              <a:rPr sz="2600" spc="-80" dirty="0">
                <a:latin typeface="Times New Roman"/>
                <a:cs typeface="Times New Roman"/>
              </a:rPr>
              <a:t>computers.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229" dirty="0">
                <a:latin typeface="Times New Roman"/>
                <a:cs typeface="Times New Roman"/>
              </a:rPr>
              <a:t>APs</a:t>
            </a:r>
            <a:r>
              <a:rPr sz="2600" spc="-225" dirty="0">
                <a:latin typeface="Times New Roman"/>
                <a:cs typeface="Times New Roman"/>
              </a:rPr>
              <a:t> </a:t>
            </a:r>
            <a:r>
              <a:rPr sz="2600" spc="-105" dirty="0">
                <a:latin typeface="Times New Roman"/>
                <a:cs typeface="Times New Roman"/>
              </a:rPr>
              <a:t>serve </a:t>
            </a:r>
            <a:r>
              <a:rPr sz="2600" spc="-204" dirty="0">
                <a:latin typeface="Times New Roman"/>
                <a:cs typeface="Times New Roman"/>
              </a:rPr>
              <a:t>as </a:t>
            </a:r>
            <a:r>
              <a:rPr sz="2600" spc="-95" dirty="0">
                <a:latin typeface="Times New Roman"/>
                <a:cs typeface="Times New Roman"/>
              </a:rPr>
              <a:t>network </a:t>
            </a:r>
            <a:r>
              <a:rPr sz="2600" spc="-120" dirty="0">
                <a:latin typeface="Times New Roman"/>
                <a:cs typeface="Times New Roman"/>
              </a:rPr>
              <a:t>bridges </a:t>
            </a:r>
            <a:r>
              <a:rPr sz="2600" spc="-110" dirty="0">
                <a:latin typeface="Times New Roman"/>
                <a:cs typeface="Times New Roman"/>
              </a:rPr>
              <a:t>between </a:t>
            </a:r>
            <a:r>
              <a:rPr sz="2600" spc="-105" dirty="0">
                <a:latin typeface="Times New Roman"/>
                <a:cs typeface="Times New Roman"/>
              </a:rPr>
              <a:t> </a:t>
            </a:r>
            <a:r>
              <a:rPr sz="2600" spc="-75" dirty="0">
                <a:latin typeface="Times New Roman"/>
                <a:cs typeface="Times New Roman"/>
              </a:rPr>
              <a:t>the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95" dirty="0">
                <a:latin typeface="Times New Roman"/>
                <a:cs typeface="Times New Roman"/>
              </a:rPr>
              <a:t>wired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145" dirty="0">
                <a:latin typeface="Times New Roman"/>
                <a:cs typeface="Times New Roman"/>
              </a:rPr>
              <a:t>and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wireless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spc="-80" dirty="0">
                <a:latin typeface="Times New Roman"/>
                <a:cs typeface="Times New Roman"/>
              </a:rPr>
              <a:t>portions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of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80" dirty="0">
                <a:latin typeface="Times New Roman"/>
                <a:cs typeface="Times New Roman"/>
              </a:rPr>
              <a:t>the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70" dirty="0">
                <a:latin typeface="Times New Roman"/>
                <a:cs typeface="Times New Roman"/>
              </a:rPr>
              <a:t>network.</a:t>
            </a:r>
            <a:endParaRPr sz="26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6577" y="3124136"/>
            <a:ext cx="7583248" cy="3440176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688974"/>
            <a:ext cx="154749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45" dirty="0"/>
              <a:t>Out</a:t>
            </a:r>
            <a:r>
              <a:rPr sz="4000" spc="-35" dirty="0"/>
              <a:t>line</a:t>
            </a:r>
            <a:endParaRPr sz="4000"/>
          </a:p>
        </p:txBody>
      </p:sp>
      <p:sp>
        <p:nvSpPr>
          <p:cNvPr id="3" name="object 3"/>
          <p:cNvSpPr/>
          <p:nvPr/>
        </p:nvSpPr>
        <p:spPr>
          <a:xfrm>
            <a:off x="914400" y="1450594"/>
            <a:ext cx="6858000" cy="5100320"/>
          </a:xfrm>
          <a:custGeom>
            <a:avLst/>
            <a:gdLst/>
            <a:ahLst/>
            <a:cxnLst/>
            <a:rect l="l" t="t" r="r" b="b"/>
            <a:pathLst>
              <a:path w="6858000" h="5100320">
                <a:moveTo>
                  <a:pt x="0" y="77215"/>
                </a:moveTo>
                <a:lnTo>
                  <a:pt x="6067" y="47148"/>
                </a:lnTo>
                <a:lnTo>
                  <a:pt x="22615" y="22605"/>
                </a:lnTo>
                <a:lnTo>
                  <a:pt x="47159" y="6064"/>
                </a:lnTo>
                <a:lnTo>
                  <a:pt x="77215" y="0"/>
                </a:lnTo>
                <a:lnTo>
                  <a:pt x="6780783" y="0"/>
                </a:lnTo>
                <a:lnTo>
                  <a:pt x="6810851" y="6064"/>
                </a:lnTo>
                <a:lnTo>
                  <a:pt x="6835394" y="22606"/>
                </a:lnTo>
                <a:lnTo>
                  <a:pt x="6851935" y="47148"/>
                </a:lnTo>
                <a:lnTo>
                  <a:pt x="6858000" y="77215"/>
                </a:lnTo>
                <a:lnTo>
                  <a:pt x="6858000" y="386079"/>
                </a:lnTo>
                <a:lnTo>
                  <a:pt x="6851935" y="416147"/>
                </a:lnTo>
                <a:lnTo>
                  <a:pt x="6835394" y="440689"/>
                </a:lnTo>
                <a:lnTo>
                  <a:pt x="6810851" y="457231"/>
                </a:lnTo>
                <a:lnTo>
                  <a:pt x="6780783" y="463295"/>
                </a:lnTo>
                <a:lnTo>
                  <a:pt x="77215" y="463295"/>
                </a:lnTo>
                <a:lnTo>
                  <a:pt x="47159" y="457231"/>
                </a:lnTo>
                <a:lnTo>
                  <a:pt x="22615" y="440689"/>
                </a:lnTo>
                <a:lnTo>
                  <a:pt x="6067" y="416147"/>
                </a:lnTo>
                <a:lnTo>
                  <a:pt x="0" y="386079"/>
                </a:lnTo>
                <a:lnTo>
                  <a:pt x="0" y="77215"/>
                </a:lnTo>
                <a:close/>
              </a:path>
              <a:path w="6858000" h="5100320">
                <a:moveTo>
                  <a:pt x="0" y="592454"/>
                </a:moveTo>
                <a:lnTo>
                  <a:pt x="6067" y="562387"/>
                </a:lnTo>
                <a:lnTo>
                  <a:pt x="22615" y="537844"/>
                </a:lnTo>
                <a:lnTo>
                  <a:pt x="47159" y="521303"/>
                </a:lnTo>
                <a:lnTo>
                  <a:pt x="77215" y="515238"/>
                </a:lnTo>
                <a:lnTo>
                  <a:pt x="6780783" y="515238"/>
                </a:lnTo>
                <a:lnTo>
                  <a:pt x="6810851" y="521303"/>
                </a:lnTo>
                <a:lnTo>
                  <a:pt x="6835394" y="537845"/>
                </a:lnTo>
                <a:lnTo>
                  <a:pt x="6851935" y="562387"/>
                </a:lnTo>
                <a:lnTo>
                  <a:pt x="6858000" y="592454"/>
                </a:lnTo>
                <a:lnTo>
                  <a:pt x="6858000" y="901318"/>
                </a:lnTo>
                <a:lnTo>
                  <a:pt x="6851935" y="931386"/>
                </a:lnTo>
                <a:lnTo>
                  <a:pt x="6835394" y="955928"/>
                </a:lnTo>
                <a:lnTo>
                  <a:pt x="6810851" y="972470"/>
                </a:lnTo>
                <a:lnTo>
                  <a:pt x="6780783" y="978534"/>
                </a:lnTo>
                <a:lnTo>
                  <a:pt x="77215" y="978534"/>
                </a:lnTo>
                <a:lnTo>
                  <a:pt x="47159" y="972470"/>
                </a:lnTo>
                <a:lnTo>
                  <a:pt x="22615" y="955928"/>
                </a:lnTo>
                <a:lnTo>
                  <a:pt x="6067" y="931386"/>
                </a:lnTo>
                <a:lnTo>
                  <a:pt x="0" y="901318"/>
                </a:lnTo>
                <a:lnTo>
                  <a:pt x="0" y="592454"/>
                </a:lnTo>
                <a:close/>
              </a:path>
              <a:path w="6858000" h="5100320">
                <a:moveTo>
                  <a:pt x="0" y="1107566"/>
                </a:moveTo>
                <a:lnTo>
                  <a:pt x="6067" y="1077499"/>
                </a:lnTo>
                <a:lnTo>
                  <a:pt x="22615" y="1052956"/>
                </a:lnTo>
                <a:lnTo>
                  <a:pt x="47159" y="1036415"/>
                </a:lnTo>
                <a:lnTo>
                  <a:pt x="77215" y="1030351"/>
                </a:lnTo>
                <a:lnTo>
                  <a:pt x="6780783" y="1030351"/>
                </a:lnTo>
                <a:lnTo>
                  <a:pt x="6810851" y="1036415"/>
                </a:lnTo>
                <a:lnTo>
                  <a:pt x="6835394" y="1052957"/>
                </a:lnTo>
                <a:lnTo>
                  <a:pt x="6851935" y="1077499"/>
                </a:lnTo>
                <a:lnTo>
                  <a:pt x="6858000" y="1107566"/>
                </a:lnTo>
                <a:lnTo>
                  <a:pt x="6858000" y="1416430"/>
                </a:lnTo>
                <a:lnTo>
                  <a:pt x="6851935" y="1446498"/>
                </a:lnTo>
                <a:lnTo>
                  <a:pt x="6835394" y="1471040"/>
                </a:lnTo>
                <a:lnTo>
                  <a:pt x="6810851" y="1487582"/>
                </a:lnTo>
                <a:lnTo>
                  <a:pt x="6780783" y="1493646"/>
                </a:lnTo>
                <a:lnTo>
                  <a:pt x="77215" y="1493646"/>
                </a:lnTo>
                <a:lnTo>
                  <a:pt x="47159" y="1487582"/>
                </a:lnTo>
                <a:lnTo>
                  <a:pt x="22615" y="1471040"/>
                </a:lnTo>
                <a:lnTo>
                  <a:pt x="6067" y="1446498"/>
                </a:lnTo>
                <a:lnTo>
                  <a:pt x="0" y="1416430"/>
                </a:lnTo>
                <a:lnTo>
                  <a:pt x="0" y="1107566"/>
                </a:lnTo>
                <a:close/>
              </a:path>
              <a:path w="6858000" h="5100320">
                <a:moveTo>
                  <a:pt x="0" y="1622678"/>
                </a:moveTo>
                <a:lnTo>
                  <a:pt x="6067" y="1592665"/>
                </a:lnTo>
                <a:lnTo>
                  <a:pt x="22615" y="1568116"/>
                </a:lnTo>
                <a:lnTo>
                  <a:pt x="47159" y="1551545"/>
                </a:lnTo>
                <a:lnTo>
                  <a:pt x="77215" y="1545463"/>
                </a:lnTo>
                <a:lnTo>
                  <a:pt x="6780783" y="1545463"/>
                </a:lnTo>
                <a:lnTo>
                  <a:pt x="6810851" y="1551545"/>
                </a:lnTo>
                <a:lnTo>
                  <a:pt x="6835394" y="1568116"/>
                </a:lnTo>
                <a:lnTo>
                  <a:pt x="6851935" y="1592665"/>
                </a:lnTo>
                <a:lnTo>
                  <a:pt x="6858000" y="1622678"/>
                </a:lnTo>
                <a:lnTo>
                  <a:pt x="6858000" y="1931542"/>
                </a:lnTo>
                <a:lnTo>
                  <a:pt x="6851935" y="1961630"/>
                </a:lnTo>
                <a:lnTo>
                  <a:pt x="6835394" y="1986216"/>
                </a:lnTo>
                <a:lnTo>
                  <a:pt x="6810851" y="2002801"/>
                </a:lnTo>
                <a:lnTo>
                  <a:pt x="6780783" y="2008885"/>
                </a:lnTo>
                <a:lnTo>
                  <a:pt x="77215" y="2008885"/>
                </a:lnTo>
                <a:lnTo>
                  <a:pt x="47159" y="2002801"/>
                </a:lnTo>
                <a:lnTo>
                  <a:pt x="22615" y="1986216"/>
                </a:lnTo>
                <a:lnTo>
                  <a:pt x="6067" y="1961630"/>
                </a:lnTo>
                <a:lnTo>
                  <a:pt x="0" y="1931542"/>
                </a:lnTo>
                <a:lnTo>
                  <a:pt x="0" y="1622678"/>
                </a:lnTo>
                <a:close/>
              </a:path>
              <a:path w="6858000" h="5100320">
                <a:moveTo>
                  <a:pt x="0" y="2137917"/>
                </a:moveTo>
                <a:lnTo>
                  <a:pt x="6067" y="2107850"/>
                </a:lnTo>
                <a:lnTo>
                  <a:pt x="22615" y="2083307"/>
                </a:lnTo>
                <a:lnTo>
                  <a:pt x="47159" y="2066766"/>
                </a:lnTo>
                <a:lnTo>
                  <a:pt x="77215" y="2060702"/>
                </a:lnTo>
                <a:lnTo>
                  <a:pt x="6780783" y="2060702"/>
                </a:lnTo>
                <a:lnTo>
                  <a:pt x="6810851" y="2066766"/>
                </a:lnTo>
                <a:lnTo>
                  <a:pt x="6835394" y="2083308"/>
                </a:lnTo>
                <a:lnTo>
                  <a:pt x="6851935" y="2107850"/>
                </a:lnTo>
                <a:lnTo>
                  <a:pt x="6858000" y="2137917"/>
                </a:lnTo>
                <a:lnTo>
                  <a:pt x="6858000" y="2446781"/>
                </a:lnTo>
                <a:lnTo>
                  <a:pt x="6851935" y="2476849"/>
                </a:lnTo>
                <a:lnTo>
                  <a:pt x="6835394" y="2501391"/>
                </a:lnTo>
                <a:lnTo>
                  <a:pt x="6810851" y="2517933"/>
                </a:lnTo>
                <a:lnTo>
                  <a:pt x="6780783" y="2523997"/>
                </a:lnTo>
                <a:lnTo>
                  <a:pt x="77215" y="2523997"/>
                </a:lnTo>
                <a:lnTo>
                  <a:pt x="47159" y="2517933"/>
                </a:lnTo>
                <a:lnTo>
                  <a:pt x="22615" y="2501391"/>
                </a:lnTo>
                <a:lnTo>
                  <a:pt x="6067" y="2476849"/>
                </a:lnTo>
                <a:lnTo>
                  <a:pt x="0" y="2446781"/>
                </a:lnTo>
                <a:lnTo>
                  <a:pt x="0" y="2137917"/>
                </a:lnTo>
                <a:close/>
              </a:path>
              <a:path w="6858000" h="5100320">
                <a:moveTo>
                  <a:pt x="0" y="2653029"/>
                </a:moveTo>
                <a:lnTo>
                  <a:pt x="6067" y="2622962"/>
                </a:lnTo>
                <a:lnTo>
                  <a:pt x="22615" y="2598419"/>
                </a:lnTo>
                <a:lnTo>
                  <a:pt x="47159" y="2581878"/>
                </a:lnTo>
                <a:lnTo>
                  <a:pt x="77215" y="2575813"/>
                </a:lnTo>
                <a:lnTo>
                  <a:pt x="6780783" y="2575813"/>
                </a:lnTo>
                <a:lnTo>
                  <a:pt x="6810851" y="2581878"/>
                </a:lnTo>
                <a:lnTo>
                  <a:pt x="6835394" y="2598419"/>
                </a:lnTo>
                <a:lnTo>
                  <a:pt x="6851935" y="2622962"/>
                </a:lnTo>
                <a:lnTo>
                  <a:pt x="6858000" y="2653029"/>
                </a:lnTo>
                <a:lnTo>
                  <a:pt x="6858000" y="2961893"/>
                </a:lnTo>
                <a:lnTo>
                  <a:pt x="6851935" y="2991961"/>
                </a:lnTo>
                <a:lnTo>
                  <a:pt x="6835394" y="3016504"/>
                </a:lnTo>
                <a:lnTo>
                  <a:pt x="6810851" y="3033045"/>
                </a:lnTo>
                <a:lnTo>
                  <a:pt x="6780783" y="3039110"/>
                </a:lnTo>
                <a:lnTo>
                  <a:pt x="77215" y="3039110"/>
                </a:lnTo>
                <a:lnTo>
                  <a:pt x="47159" y="3033045"/>
                </a:lnTo>
                <a:lnTo>
                  <a:pt x="22615" y="3016504"/>
                </a:lnTo>
                <a:lnTo>
                  <a:pt x="6067" y="2991961"/>
                </a:lnTo>
                <a:lnTo>
                  <a:pt x="0" y="2961893"/>
                </a:lnTo>
                <a:lnTo>
                  <a:pt x="0" y="2653029"/>
                </a:lnTo>
                <a:close/>
              </a:path>
              <a:path w="6858000" h="5100320">
                <a:moveTo>
                  <a:pt x="0" y="3168268"/>
                </a:moveTo>
                <a:lnTo>
                  <a:pt x="6067" y="3138181"/>
                </a:lnTo>
                <a:lnTo>
                  <a:pt x="22615" y="3113595"/>
                </a:lnTo>
                <a:lnTo>
                  <a:pt x="47159" y="3097010"/>
                </a:lnTo>
                <a:lnTo>
                  <a:pt x="77215" y="3090925"/>
                </a:lnTo>
                <a:lnTo>
                  <a:pt x="6780783" y="3090925"/>
                </a:lnTo>
                <a:lnTo>
                  <a:pt x="6810851" y="3097010"/>
                </a:lnTo>
                <a:lnTo>
                  <a:pt x="6835394" y="3113595"/>
                </a:lnTo>
                <a:lnTo>
                  <a:pt x="6851935" y="3138181"/>
                </a:lnTo>
                <a:lnTo>
                  <a:pt x="6858000" y="3168268"/>
                </a:lnTo>
                <a:lnTo>
                  <a:pt x="6858000" y="3477132"/>
                </a:lnTo>
                <a:lnTo>
                  <a:pt x="6851935" y="3507146"/>
                </a:lnTo>
                <a:lnTo>
                  <a:pt x="6835394" y="3531695"/>
                </a:lnTo>
                <a:lnTo>
                  <a:pt x="6810851" y="3548266"/>
                </a:lnTo>
                <a:lnTo>
                  <a:pt x="6780783" y="3554349"/>
                </a:lnTo>
                <a:lnTo>
                  <a:pt x="77215" y="3554349"/>
                </a:lnTo>
                <a:lnTo>
                  <a:pt x="47159" y="3548266"/>
                </a:lnTo>
                <a:lnTo>
                  <a:pt x="22615" y="3531695"/>
                </a:lnTo>
                <a:lnTo>
                  <a:pt x="6067" y="3507146"/>
                </a:lnTo>
                <a:lnTo>
                  <a:pt x="0" y="3477132"/>
                </a:lnTo>
                <a:lnTo>
                  <a:pt x="0" y="3168268"/>
                </a:lnTo>
                <a:close/>
              </a:path>
              <a:path w="6858000" h="5100320">
                <a:moveTo>
                  <a:pt x="0" y="3683380"/>
                </a:moveTo>
                <a:lnTo>
                  <a:pt x="6067" y="3653313"/>
                </a:lnTo>
                <a:lnTo>
                  <a:pt x="22615" y="3628770"/>
                </a:lnTo>
                <a:lnTo>
                  <a:pt x="47159" y="3612229"/>
                </a:lnTo>
                <a:lnTo>
                  <a:pt x="77215" y="3606164"/>
                </a:lnTo>
                <a:lnTo>
                  <a:pt x="6780783" y="3606164"/>
                </a:lnTo>
                <a:lnTo>
                  <a:pt x="6810851" y="3612229"/>
                </a:lnTo>
                <a:lnTo>
                  <a:pt x="6835394" y="3628770"/>
                </a:lnTo>
                <a:lnTo>
                  <a:pt x="6851935" y="3653313"/>
                </a:lnTo>
                <a:lnTo>
                  <a:pt x="6858000" y="3683380"/>
                </a:lnTo>
                <a:lnTo>
                  <a:pt x="6858000" y="3992244"/>
                </a:lnTo>
                <a:lnTo>
                  <a:pt x="6851935" y="4022312"/>
                </a:lnTo>
                <a:lnTo>
                  <a:pt x="6835394" y="4046854"/>
                </a:lnTo>
                <a:lnTo>
                  <a:pt x="6810851" y="4063396"/>
                </a:lnTo>
                <a:lnTo>
                  <a:pt x="6780783" y="4069460"/>
                </a:lnTo>
                <a:lnTo>
                  <a:pt x="77215" y="4069460"/>
                </a:lnTo>
                <a:lnTo>
                  <a:pt x="47159" y="4063396"/>
                </a:lnTo>
                <a:lnTo>
                  <a:pt x="22615" y="4046854"/>
                </a:lnTo>
                <a:lnTo>
                  <a:pt x="6067" y="4022312"/>
                </a:lnTo>
                <a:lnTo>
                  <a:pt x="0" y="3992244"/>
                </a:lnTo>
                <a:lnTo>
                  <a:pt x="0" y="3683380"/>
                </a:lnTo>
                <a:close/>
              </a:path>
              <a:path w="6858000" h="5100320">
                <a:moveTo>
                  <a:pt x="0" y="4198531"/>
                </a:moveTo>
                <a:lnTo>
                  <a:pt x="6067" y="4168463"/>
                </a:lnTo>
                <a:lnTo>
                  <a:pt x="22615" y="4143906"/>
                </a:lnTo>
                <a:lnTo>
                  <a:pt x="47159" y="4127348"/>
                </a:lnTo>
                <a:lnTo>
                  <a:pt x="77215" y="4121277"/>
                </a:lnTo>
                <a:lnTo>
                  <a:pt x="6780783" y="4121277"/>
                </a:lnTo>
                <a:lnTo>
                  <a:pt x="6810851" y="4127348"/>
                </a:lnTo>
                <a:lnTo>
                  <a:pt x="6835394" y="4143906"/>
                </a:lnTo>
                <a:lnTo>
                  <a:pt x="6851935" y="4168463"/>
                </a:lnTo>
                <a:lnTo>
                  <a:pt x="6858000" y="4198531"/>
                </a:lnTo>
                <a:lnTo>
                  <a:pt x="6858000" y="4507407"/>
                </a:lnTo>
                <a:lnTo>
                  <a:pt x="6851935" y="4537464"/>
                </a:lnTo>
                <a:lnTo>
                  <a:pt x="6835394" y="4562008"/>
                </a:lnTo>
                <a:lnTo>
                  <a:pt x="6810851" y="4578555"/>
                </a:lnTo>
                <a:lnTo>
                  <a:pt x="6780783" y="4584623"/>
                </a:lnTo>
                <a:lnTo>
                  <a:pt x="77215" y="4584623"/>
                </a:lnTo>
                <a:lnTo>
                  <a:pt x="47159" y="4578555"/>
                </a:lnTo>
                <a:lnTo>
                  <a:pt x="22615" y="4562008"/>
                </a:lnTo>
                <a:lnTo>
                  <a:pt x="6067" y="4537464"/>
                </a:lnTo>
                <a:lnTo>
                  <a:pt x="0" y="4507407"/>
                </a:lnTo>
                <a:lnTo>
                  <a:pt x="0" y="4198531"/>
                </a:lnTo>
                <a:close/>
              </a:path>
              <a:path w="6858000" h="5100320">
                <a:moveTo>
                  <a:pt x="0" y="4713681"/>
                </a:moveTo>
                <a:lnTo>
                  <a:pt x="6067" y="4683624"/>
                </a:lnTo>
                <a:lnTo>
                  <a:pt x="22615" y="4659080"/>
                </a:lnTo>
                <a:lnTo>
                  <a:pt x="47159" y="4642533"/>
                </a:lnTo>
                <a:lnTo>
                  <a:pt x="77215" y="4636465"/>
                </a:lnTo>
                <a:lnTo>
                  <a:pt x="6780783" y="4636465"/>
                </a:lnTo>
                <a:lnTo>
                  <a:pt x="6810851" y="4642533"/>
                </a:lnTo>
                <a:lnTo>
                  <a:pt x="6835394" y="4659080"/>
                </a:lnTo>
                <a:lnTo>
                  <a:pt x="6851935" y="4683624"/>
                </a:lnTo>
                <a:lnTo>
                  <a:pt x="6858000" y="4713681"/>
                </a:lnTo>
                <a:lnTo>
                  <a:pt x="6858000" y="5022557"/>
                </a:lnTo>
                <a:lnTo>
                  <a:pt x="6851935" y="5052621"/>
                </a:lnTo>
                <a:lnTo>
                  <a:pt x="6835394" y="5077169"/>
                </a:lnTo>
                <a:lnTo>
                  <a:pt x="6810851" y="5093718"/>
                </a:lnTo>
                <a:lnTo>
                  <a:pt x="6780783" y="5099786"/>
                </a:lnTo>
                <a:lnTo>
                  <a:pt x="77215" y="5099786"/>
                </a:lnTo>
                <a:lnTo>
                  <a:pt x="47159" y="5093718"/>
                </a:lnTo>
                <a:lnTo>
                  <a:pt x="22615" y="5077169"/>
                </a:lnTo>
                <a:lnTo>
                  <a:pt x="6067" y="5052621"/>
                </a:lnTo>
                <a:lnTo>
                  <a:pt x="0" y="5022557"/>
                </a:lnTo>
                <a:lnTo>
                  <a:pt x="0" y="4713681"/>
                </a:lnTo>
                <a:close/>
              </a:path>
            </a:pathLst>
          </a:custGeom>
          <a:ln w="12700">
            <a:solidFill>
              <a:srgbClr val="BE401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93139" y="1470406"/>
            <a:ext cx="6036945" cy="49580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685">
              <a:lnSpc>
                <a:spcPct val="100000"/>
              </a:lnSpc>
              <a:spcBef>
                <a:spcPts val="105"/>
              </a:spcBef>
            </a:pPr>
            <a:r>
              <a:rPr sz="2000" b="1" spc="15" dirty="0">
                <a:solidFill>
                  <a:srgbClr val="BEBEBE"/>
                </a:solidFill>
                <a:latin typeface="Times New Roman"/>
                <a:cs typeface="Times New Roman"/>
              </a:rPr>
              <a:t>Introduction</a:t>
            </a:r>
            <a:r>
              <a:rPr sz="2000" b="1" spc="-85" dirty="0">
                <a:solidFill>
                  <a:srgbClr val="BEBEBE"/>
                </a:solidFill>
                <a:latin typeface="Times New Roman"/>
                <a:cs typeface="Times New Roman"/>
              </a:rPr>
              <a:t> </a:t>
            </a:r>
            <a:r>
              <a:rPr sz="2000" b="1" spc="20" dirty="0">
                <a:solidFill>
                  <a:srgbClr val="BEBEBE"/>
                </a:solidFill>
                <a:latin typeface="Times New Roman"/>
                <a:cs typeface="Times New Roman"/>
              </a:rPr>
              <a:t>of</a:t>
            </a:r>
            <a:r>
              <a:rPr sz="2000" b="1" spc="-50" dirty="0">
                <a:solidFill>
                  <a:srgbClr val="BEBEBE"/>
                </a:solidFill>
                <a:latin typeface="Times New Roman"/>
                <a:cs typeface="Times New Roman"/>
              </a:rPr>
              <a:t> </a:t>
            </a:r>
            <a:r>
              <a:rPr sz="2000" b="1" spc="-175" dirty="0">
                <a:solidFill>
                  <a:srgbClr val="BEBEBE"/>
                </a:solidFill>
                <a:latin typeface="Times New Roman"/>
                <a:cs typeface="Times New Roman"/>
              </a:rPr>
              <a:t>LAN;</a:t>
            </a:r>
            <a:r>
              <a:rPr sz="2000" b="1" spc="-120" dirty="0">
                <a:solidFill>
                  <a:srgbClr val="BEBEBE"/>
                </a:solidFill>
                <a:latin typeface="Times New Roman"/>
                <a:cs typeface="Times New Roman"/>
              </a:rPr>
              <a:t> </a:t>
            </a:r>
            <a:r>
              <a:rPr sz="2000" b="1" spc="-135" dirty="0">
                <a:solidFill>
                  <a:srgbClr val="BEBEBE"/>
                </a:solidFill>
                <a:latin typeface="Times New Roman"/>
                <a:cs typeface="Times New Roman"/>
              </a:rPr>
              <a:t>MAN;WAN;</a:t>
            </a:r>
            <a:r>
              <a:rPr sz="2000" b="1" spc="-140" dirty="0">
                <a:solidFill>
                  <a:srgbClr val="BEBEBE"/>
                </a:solidFill>
                <a:latin typeface="Times New Roman"/>
                <a:cs typeface="Times New Roman"/>
              </a:rPr>
              <a:t> </a:t>
            </a:r>
            <a:r>
              <a:rPr sz="2000" b="1" spc="-130" dirty="0">
                <a:solidFill>
                  <a:srgbClr val="BEBEBE"/>
                </a:solidFill>
                <a:latin typeface="Times New Roman"/>
                <a:cs typeface="Times New Roman"/>
              </a:rPr>
              <a:t>PAN,</a:t>
            </a:r>
            <a:r>
              <a:rPr sz="2000" b="1" spc="-210" dirty="0">
                <a:solidFill>
                  <a:srgbClr val="BEBEBE"/>
                </a:solidFill>
                <a:latin typeface="Times New Roman"/>
                <a:cs typeface="Times New Roman"/>
              </a:rPr>
              <a:t> </a:t>
            </a:r>
            <a:r>
              <a:rPr sz="2000" b="1" spc="25" dirty="0">
                <a:solidFill>
                  <a:srgbClr val="BEBEBE"/>
                </a:solidFill>
                <a:latin typeface="Times New Roman"/>
                <a:cs typeface="Times New Roman"/>
              </a:rPr>
              <a:t>Ad-hoc</a:t>
            </a:r>
            <a:r>
              <a:rPr sz="2000" b="1" spc="-50" dirty="0">
                <a:solidFill>
                  <a:srgbClr val="BEBEBE"/>
                </a:solidFill>
                <a:latin typeface="Times New Roman"/>
                <a:cs typeface="Times New Roman"/>
              </a:rPr>
              <a:t> </a:t>
            </a:r>
            <a:r>
              <a:rPr sz="2000" b="1" spc="-5" dirty="0">
                <a:solidFill>
                  <a:srgbClr val="BEBEBE"/>
                </a:solidFill>
                <a:latin typeface="Times New Roman"/>
                <a:cs typeface="Times New Roman"/>
              </a:rPr>
              <a:t>Network</a:t>
            </a:r>
            <a:endParaRPr sz="2000">
              <a:latin typeface="Times New Roman"/>
              <a:cs typeface="Times New Roman"/>
            </a:endParaRPr>
          </a:p>
          <a:p>
            <a:pPr marL="19685">
              <a:lnSpc>
                <a:spcPct val="100000"/>
              </a:lnSpc>
              <a:spcBef>
                <a:spcPts val="1655"/>
              </a:spcBef>
            </a:pPr>
            <a:r>
              <a:rPr sz="2000" b="1" spc="5" dirty="0">
                <a:solidFill>
                  <a:srgbClr val="BEBEBE"/>
                </a:solidFill>
                <a:latin typeface="Times New Roman"/>
                <a:cs typeface="Times New Roman"/>
              </a:rPr>
              <a:t>Topologies</a:t>
            </a:r>
            <a:endParaRPr sz="2000">
              <a:latin typeface="Times New Roman"/>
              <a:cs typeface="Times New Roman"/>
            </a:endParaRPr>
          </a:p>
          <a:p>
            <a:pPr marL="19685" marR="3536315">
              <a:lnSpc>
                <a:spcPct val="169000"/>
              </a:lnSpc>
            </a:pPr>
            <a:r>
              <a:rPr sz="2000" b="1" spc="-35" dirty="0">
                <a:solidFill>
                  <a:srgbClr val="BEBEBE"/>
                </a:solidFill>
                <a:latin typeface="Times New Roman"/>
                <a:cs typeface="Times New Roman"/>
              </a:rPr>
              <a:t>Ne</a:t>
            </a:r>
            <a:r>
              <a:rPr sz="2000" b="1" spc="25" dirty="0">
                <a:solidFill>
                  <a:srgbClr val="BEBEBE"/>
                </a:solidFill>
                <a:latin typeface="Times New Roman"/>
                <a:cs typeface="Times New Roman"/>
              </a:rPr>
              <a:t>t</a:t>
            </a:r>
            <a:r>
              <a:rPr sz="2000" b="1" dirty="0">
                <a:solidFill>
                  <a:srgbClr val="BEBEBE"/>
                </a:solidFill>
                <a:latin typeface="Times New Roman"/>
                <a:cs typeface="Times New Roman"/>
              </a:rPr>
              <a:t>w</a:t>
            </a:r>
            <a:r>
              <a:rPr sz="2000" b="1" spc="5" dirty="0">
                <a:solidFill>
                  <a:srgbClr val="BEBEBE"/>
                </a:solidFill>
                <a:latin typeface="Times New Roman"/>
                <a:cs typeface="Times New Roman"/>
              </a:rPr>
              <a:t>o</a:t>
            </a:r>
            <a:r>
              <a:rPr sz="2000" b="1" spc="10" dirty="0">
                <a:solidFill>
                  <a:srgbClr val="BEBEBE"/>
                </a:solidFill>
                <a:latin typeface="Times New Roman"/>
                <a:cs typeface="Times New Roman"/>
              </a:rPr>
              <a:t>r</a:t>
            </a:r>
            <a:r>
              <a:rPr sz="2000" b="1" spc="15" dirty="0">
                <a:solidFill>
                  <a:srgbClr val="BEBEBE"/>
                </a:solidFill>
                <a:latin typeface="Times New Roman"/>
                <a:cs typeface="Times New Roman"/>
              </a:rPr>
              <a:t>k</a:t>
            </a:r>
            <a:r>
              <a:rPr sz="2000" b="1" spc="-140" dirty="0">
                <a:solidFill>
                  <a:srgbClr val="BEBEBE"/>
                </a:solidFill>
                <a:latin typeface="Times New Roman"/>
                <a:cs typeface="Times New Roman"/>
              </a:rPr>
              <a:t> </a:t>
            </a:r>
            <a:r>
              <a:rPr sz="2000" b="1" spc="-50" dirty="0">
                <a:solidFill>
                  <a:srgbClr val="BEBEBE"/>
                </a:solidFill>
                <a:latin typeface="Times New Roman"/>
                <a:cs typeface="Times New Roman"/>
              </a:rPr>
              <a:t>Arc</a:t>
            </a:r>
            <a:r>
              <a:rPr sz="2000" b="1" spc="25" dirty="0">
                <a:solidFill>
                  <a:srgbClr val="BEBEBE"/>
                </a:solidFill>
                <a:latin typeface="Times New Roman"/>
                <a:cs typeface="Times New Roman"/>
              </a:rPr>
              <a:t>hit</a:t>
            </a:r>
            <a:r>
              <a:rPr sz="2000" b="1" spc="20" dirty="0">
                <a:solidFill>
                  <a:srgbClr val="BEBEBE"/>
                </a:solidFill>
                <a:latin typeface="Times New Roman"/>
                <a:cs typeface="Times New Roman"/>
              </a:rPr>
              <a:t>e</a:t>
            </a:r>
            <a:r>
              <a:rPr sz="2000" b="1" spc="35" dirty="0">
                <a:solidFill>
                  <a:srgbClr val="BEBEBE"/>
                </a:solidFill>
                <a:latin typeface="Times New Roman"/>
                <a:cs typeface="Times New Roman"/>
              </a:rPr>
              <a:t>c</a:t>
            </a:r>
            <a:r>
              <a:rPr sz="2000" b="1" spc="15" dirty="0">
                <a:solidFill>
                  <a:srgbClr val="BEBEBE"/>
                </a:solidFill>
                <a:latin typeface="Times New Roman"/>
                <a:cs typeface="Times New Roman"/>
              </a:rPr>
              <a:t>t</a:t>
            </a:r>
            <a:r>
              <a:rPr sz="2000" b="1" spc="-15" dirty="0">
                <a:solidFill>
                  <a:srgbClr val="BEBEBE"/>
                </a:solidFill>
                <a:latin typeface="Times New Roman"/>
                <a:cs typeface="Times New Roman"/>
              </a:rPr>
              <a:t>ures  </a:t>
            </a:r>
            <a:r>
              <a:rPr sz="2000" b="1" spc="-185" dirty="0">
                <a:solidFill>
                  <a:srgbClr val="BEBEBE"/>
                </a:solidFill>
                <a:latin typeface="Times New Roman"/>
                <a:cs typeface="Times New Roman"/>
              </a:rPr>
              <a:t>O</a:t>
            </a:r>
            <a:r>
              <a:rPr sz="2000" b="1" spc="-140" dirty="0">
                <a:solidFill>
                  <a:srgbClr val="BEBEBE"/>
                </a:solidFill>
                <a:latin typeface="Times New Roman"/>
                <a:cs typeface="Times New Roman"/>
              </a:rPr>
              <a:t>S</a:t>
            </a:r>
            <a:r>
              <a:rPr sz="2000" b="1" spc="-50" dirty="0">
                <a:solidFill>
                  <a:srgbClr val="BEBEBE"/>
                </a:solidFill>
                <a:latin typeface="Times New Roman"/>
                <a:cs typeface="Times New Roman"/>
              </a:rPr>
              <a:t>I </a:t>
            </a:r>
            <a:r>
              <a:rPr sz="2000" b="1" spc="5" dirty="0">
                <a:solidFill>
                  <a:srgbClr val="BEBEBE"/>
                </a:solidFill>
                <a:latin typeface="Times New Roman"/>
                <a:cs typeface="Times New Roman"/>
              </a:rPr>
              <a:t>Mo</a:t>
            </a:r>
            <a:r>
              <a:rPr sz="2000" b="1" spc="35" dirty="0">
                <a:solidFill>
                  <a:srgbClr val="BEBEBE"/>
                </a:solidFill>
                <a:latin typeface="Times New Roman"/>
                <a:cs typeface="Times New Roman"/>
              </a:rPr>
              <a:t>del</a:t>
            </a:r>
            <a:endParaRPr sz="2000">
              <a:latin typeface="Times New Roman"/>
              <a:cs typeface="Times New Roman"/>
            </a:endParaRPr>
          </a:p>
          <a:p>
            <a:pPr marL="19685">
              <a:lnSpc>
                <a:spcPct val="100000"/>
              </a:lnSpc>
              <a:spcBef>
                <a:spcPts val="1660"/>
              </a:spcBef>
            </a:pPr>
            <a:r>
              <a:rPr sz="2000" b="1" spc="-195" dirty="0">
                <a:solidFill>
                  <a:srgbClr val="BEBEBE"/>
                </a:solidFill>
                <a:latin typeface="Times New Roman"/>
                <a:cs typeface="Times New Roman"/>
              </a:rPr>
              <a:t>TC</a:t>
            </a:r>
            <a:r>
              <a:rPr sz="2000" b="1" spc="-165" dirty="0">
                <a:solidFill>
                  <a:srgbClr val="BEBEBE"/>
                </a:solidFill>
                <a:latin typeface="Times New Roman"/>
                <a:cs typeface="Times New Roman"/>
              </a:rPr>
              <a:t>P</a:t>
            </a:r>
            <a:r>
              <a:rPr sz="2000" b="1" spc="105" dirty="0">
                <a:solidFill>
                  <a:srgbClr val="BEBEBE"/>
                </a:solidFill>
                <a:latin typeface="Times New Roman"/>
                <a:cs typeface="Times New Roman"/>
              </a:rPr>
              <a:t>/IP</a:t>
            </a:r>
            <a:r>
              <a:rPr sz="2000" b="1" spc="-75" dirty="0">
                <a:solidFill>
                  <a:srgbClr val="BEBEBE"/>
                </a:solidFill>
                <a:latin typeface="Times New Roman"/>
                <a:cs typeface="Times New Roman"/>
              </a:rPr>
              <a:t> </a:t>
            </a:r>
            <a:r>
              <a:rPr sz="2000" b="1" spc="25" dirty="0">
                <a:solidFill>
                  <a:srgbClr val="BEBEBE"/>
                </a:solidFill>
                <a:latin typeface="Times New Roman"/>
                <a:cs typeface="Times New Roman"/>
              </a:rPr>
              <a:t>Model</a:t>
            </a:r>
            <a:endParaRPr sz="2000">
              <a:latin typeface="Times New Roman"/>
              <a:cs typeface="Times New Roman"/>
            </a:endParaRPr>
          </a:p>
          <a:p>
            <a:pPr marL="19685">
              <a:lnSpc>
                <a:spcPct val="100000"/>
              </a:lnSpc>
              <a:spcBef>
                <a:spcPts val="1655"/>
              </a:spcBef>
            </a:pPr>
            <a:r>
              <a:rPr sz="2000" b="1" spc="5" dirty="0">
                <a:solidFill>
                  <a:srgbClr val="BEBEBE"/>
                </a:solidFill>
                <a:latin typeface="Times New Roman"/>
                <a:cs typeface="Times New Roman"/>
              </a:rPr>
              <a:t>Design</a:t>
            </a:r>
            <a:r>
              <a:rPr sz="2000" b="1" spc="-80" dirty="0">
                <a:solidFill>
                  <a:srgbClr val="BEBEBE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BEBEBE"/>
                </a:solidFill>
                <a:latin typeface="Times New Roman"/>
                <a:cs typeface="Times New Roman"/>
              </a:rPr>
              <a:t>issues</a:t>
            </a:r>
            <a:r>
              <a:rPr sz="2000" b="1" spc="-70" dirty="0">
                <a:solidFill>
                  <a:srgbClr val="BEBEBE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BEBEBE"/>
                </a:solidFill>
                <a:latin typeface="Times New Roman"/>
                <a:cs typeface="Times New Roman"/>
              </a:rPr>
              <a:t>for</a:t>
            </a:r>
            <a:r>
              <a:rPr sz="2000" b="1" spc="-75" dirty="0">
                <a:solidFill>
                  <a:srgbClr val="BEBEBE"/>
                </a:solidFill>
                <a:latin typeface="Times New Roman"/>
                <a:cs typeface="Times New Roman"/>
              </a:rPr>
              <a:t> </a:t>
            </a:r>
            <a:r>
              <a:rPr sz="2000" b="1" spc="-100" dirty="0">
                <a:solidFill>
                  <a:srgbClr val="BEBEBE"/>
                </a:solidFill>
                <a:latin typeface="Times New Roman"/>
                <a:cs typeface="Times New Roman"/>
              </a:rPr>
              <a:t>Layers</a:t>
            </a:r>
            <a:endParaRPr sz="2000">
              <a:latin typeface="Times New Roman"/>
              <a:cs typeface="Times New Roman"/>
            </a:endParaRPr>
          </a:p>
          <a:p>
            <a:pPr marL="19685" marR="3543935">
              <a:lnSpc>
                <a:spcPct val="169000"/>
              </a:lnSpc>
              <a:spcBef>
                <a:spcPts val="5"/>
              </a:spcBef>
            </a:pPr>
            <a:r>
              <a:rPr sz="2000" b="1" spc="-370" dirty="0">
                <a:solidFill>
                  <a:srgbClr val="BEBEBE"/>
                </a:solidFill>
                <a:latin typeface="Times New Roman"/>
                <a:cs typeface="Times New Roman"/>
              </a:rPr>
              <a:t>T</a:t>
            </a:r>
            <a:r>
              <a:rPr sz="2000" b="1" spc="-20" dirty="0">
                <a:solidFill>
                  <a:srgbClr val="BEBEBE"/>
                </a:solidFill>
                <a:latin typeface="Times New Roman"/>
                <a:cs typeface="Times New Roman"/>
              </a:rPr>
              <a:t>ransmissio</a:t>
            </a:r>
            <a:r>
              <a:rPr sz="2000" b="1" spc="15" dirty="0">
                <a:solidFill>
                  <a:srgbClr val="BEBEBE"/>
                </a:solidFill>
                <a:latin typeface="Times New Roman"/>
                <a:cs typeface="Times New Roman"/>
              </a:rPr>
              <a:t>n</a:t>
            </a:r>
            <a:r>
              <a:rPr sz="2000" b="1" spc="-85" dirty="0">
                <a:solidFill>
                  <a:srgbClr val="BEBEBE"/>
                </a:solidFill>
                <a:latin typeface="Times New Roman"/>
                <a:cs typeface="Times New Roman"/>
              </a:rPr>
              <a:t> </a:t>
            </a:r>
            <a:r>
              <a:rPr sz="2000" b="1" spc="-15" dirty="0">
                <a:solidFill>
                  <a:srgbClr val="BEBEBE"/>
                </a:solidFill>
                <a:latin typeface="Times New Roman"/>
                <a:cs typeface="Times New Roman"/>
              </a:rPr>
              <a:t>M</a:t>
            </a:r>
            <a:r>
              <a:rPr sz="2000" b="1" spc="-20" dirty="0">
                <a:solidFill>
                  <a:srgbClr val="BEBEBE"/>
                </a:solidFill>
                <a:latin typeface="Times New Roman"/>
                <a:cs typeface="Times New Roman"/>
              </a:rPr>
              <a:t>e</a:t>
            </a:r>
            <a:r>
              <a:rPr sz="2000" b="1" spc="30" dirty="0">
                <a:solidFill>
                  <a:srgbClr val="BEBEBE"/>
                </a:solidFill>
                <a:latin typeface="Times New Roman"/>
                <a:cs typeface="Times New Roman"/>
              </a:rPr>
              <a:t>di</a:t>
            </a:r>
            <a:r>
              <a:rPr sz="2000" b="1" spc="-25" dirty="0">
                <a:solidFill>
                  <a:srgbClr val="BEBEBE"/>
                </a:solidFill>
                <a:latin typeface="Times New Roman"/>
                <a:cs typeface="Times New Roman"/>
              </a:rPr>
              <a:t>ums  </a:t>
            </a:r>
            <a:r>
              <a:rPr sz="2000" b="1" spc="-5" dirty="0">
                <a:solidFill>
                  <a:srgbClr val="BEBEBE"/>
                </a:solidFill>
                <a:latin typeface="Times New Roman"/>
                <a:cs typeface="Times New Roman"/>
              </a:rPr>
              <a:t>Network</a:t>
            </a:r>
            <a:r>
              <a:rPr sz="2000" b="1" spc="-65" dirty="0">
                <a:solidFill>
                  <a:srgbClr val="BEBEBE"/>
                </a:solidFill>
                <a:latin typeface="Times New Roman"/>
                <a:cs typeface="Times New Roman"/>
              </a:rPr>
              <a:t> </a:t>
            </a:r>
            <a:r>
              <a:rPr sz="2000" b="1" spc="10" dirty="0">
                <a:solidFill>
                  <a:srgbClr val="BEBEBE"/>
                </a:solidFill>
                <a:latin typeface="Times New Roman"/>
                <a:cs typeface="Times New Roman"/>
              </a:rPr>
              <a:t>Devices</a:t>
            </a:r>
            <a:endParaRPr sz="2000">
              <a:latin typeface="Times New Roman"/>
              <a:cs typeface="Times New Roman"/>
            </a:endParaRPr>
          </a:p>
          <a:p>
            <a:pPr marL="19685">
              <a:lnSpc>
                <a:spcPct val="100000"/>
              </a:lnSpc>
              <a:spcBef>
                <a:spcPts val="1655"/>
              </a:spcBef>
            </a:pPr>
            <a:r>
              <a:rPr sz="2000" b="1" spc="-15" dirty="0">
                <a:solidFill>
                  <a:srgbClr val="FF0000"/>
                </a:solidFill>
                <a:latin typeface="Times New Roman"/>
                <a:cs typeface="Times New Roman"/>
              </a:rPr>
              <a:t>Manchester</a:t>
            </a:r>
            <a:r>
              <a:rPr sz="2000" b="1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spc="-15" dirty="0">
                <a:solidFill>
                  <a:srgbClr val="FF0000"/>
                </a:solidFill>
                <a:latin typeface="Times New Roman"/>
                <a:cs typeface="Times New Roman"/>
              </a:rPr>
              <a:t>and</a:t>
            </a:r>
            <a:r>
              <a:rPr sz="2000" b="1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Differential</a:t>
            </a:r>
            <a:r>
              <a:rPr sz="2000" b="1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spc="-15" dirty="0">
                <a:solidFill>
                  <a:srgbClr val="FF0000"/>
                </a:solidFill>
                <a:latin typeface="Times New Roman"/>
                <a:cs typeface="Times New Roman"/>
              </a:rPr>
              <a:t>Manchester</a:t>
            </a:r>
            <a:r>
              <a:rPr sz="20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spc="-30" dirty="0">
                <a:solidFill>
                  <a:srgbClr val="FF0000"/>
                </a:solidFill>
                <a:latin typeface="Times New Roman"/>
                <a:cs typeface="Times New Roman"/>
              </a:rPr>
              <a:t>Encodings;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14"/>
              </a:spcBef>
            </a:pPr>
            <a:r>
              <a:rPr sz="1800" spc="-90" dirty="0">
                <a:latin typeface="Times New Roman"/>
                <a:cs typeface="Times New Roman"/>
              </a:rPr>
              <a:t>IEEE802.11:</a:t>
            </a:r>
            <a:r>
              <a:rPr sz="1800" spc="-120" dirty="0">
                <a:latin typeface="Times New Roman"/>
                <a:cs typeface="Times New Roman"/>
              </a:rPr>
              <a:t> </a:t>
            </a:r>
            <a:r>
              <a:rPr sz="1800" spc="-90" dirty="0">
                <a:latin typeface="Times New Roman"/>
                <a:cs typeface="Times New Roman"/>
              </a:rPr>
              <a:t>Frequency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95" dirty="0">
                <a:latin typeface="Times New Roman"/>
                <a:cs typeface="Times New Roman"/>
              </a:rPr>
              <a:t>Hopping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145" dirty="0">
                <a:latin typeface="Times New Roman"/>
                <a:cs typeface="Times New Roman"/>
              </a:rPr>
              <a:t>(FHSS)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100" dirty="0">
                <a:latin typeface="Times New Roman"/>
                <a:cs typeface="Times New Roman"/>
              </a:rPr>
              <a:t>and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60" dirty="0">
                <a:latin typeface="Times New Roman"/>
                <a:cs typeface="Times New Roman"/>
              </a:rPr>
              <a:t>Direct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105" dirty="0">
                <a:latin typeface="Times New Roman"/>
                <a:cs typeface="Times New Roman"/>
              </a:rPr>
              <a:t>Sequence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155" dirty="0">
                <a:latin typeface="Times New Roman"/>
                <a:cs typeface="Times New Roman"/>
              </a:rPr>
              <a:t>(DSSS)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9740" y="98247"/>
            <a:ext cx="208407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275" dirty="0">
                <a:latin typeface="Times New Roman"/>
                <a:cs typeface="Times New Roman"/>
              </a:rPr>
              <a:t>Encoding</a:t>
            </a:r>
            <a:endParaRPr sz="480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458723" y="1574306"/>
            <a:ext cx="8305800" cy="4620895"/>
            <a:chOff x="458723" y="1574306"/>
            <a:chExt cx="8305800" cy="462089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0059" y="1574306"/>
              <a:ext cx="8260081" cy="95247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8723" y="1618487"/>
              <a:ext cx="7600188" cy="926591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33399" y="1597786"/>
              <a:ext cx="8153400" cy="849630"/>
            </a:xfrm>
            <a:custGeom>
              <a:avLst/>
              <a:gdLst/>
              <a:ahLst/>
              <a:cxnLst/>
              <a:rect l="l" t="t" r="r" b="b"/>
              <a:pathLst>
                <a:path w="8153400" h="849630">
                  <a:moveTo>
                    <a:pt x="8011795" y="0"/>
                  </a:moveTo>
                  <a:lnTo>
                    <a:pt x="141566" y="0"/>
                  </a:lnTo>
                  <a:lnTo>
                    <a:pt x="96822" y="7216"/>
                  </a:lnTo>
                  <a:lnTo>
                    <a:pt x="57961" y="27314"/>
                  </a:lnTo>
                  <a:lnTo>
                    <a:pt x="27315" y="57963"/>
                  </a:lnTo>
                  <a:lnTo>
                    <a:pt x="7217" y="96836"/>
                  </a:lnTo>
                  <a:lnTo>
                    <a:pt x="0" y="141604"/>
                  </a:lnTo>
                  <a:lnTo>
                    <a:pt x="0" y="707898"/>
                  </a:lnTo>
                  <a:lnTo>
                    <a:pt x="7217" y="752666"/>
                  </a:lnTo>
                  <a:lnTo>
                    <a:pt x="27315" y="791539"/>
                  </a:lnTo>
                  <a:lnTo>
                    <a:pt x="57961" y="822188"/>
                  </a:lnTo>
                  <a:lnTo>
                    <a:pt x="96822" y="842286"/>
                  </a:lnTo>
                  <a:lnTo>
                    <a:pt x="141566" y="849502"/>
                  </a:lnTo>
                  <a:lnTo>
                    <a:pt x="8011795" y="849502"/>
                  </a:lnTo>
                  <a:lnTo>
                    <a:pt x="8056563" y="842286"/>
                  </a:lnTo>
                  <a:lnTo>
                    <a:pt x="8095436" y="822188"/>
                  </a:lnTo>
                  <a:lnTo>
                    <a:pt x="8126085" y="791539"/>
                  </a:lnTo>
                  <a:lnTo>
                    <a:pt x="8146183" y="752666"/>
                  </a:lnTo>
                  <a:lnTo>
                    <a:pt x="8153400" y="707898"/>
                  </a:lnTo>
                  <a:lnTo>
                    <a:pt x="8153400" y="141604"/>
                  </a:lnTo>
                  <a:lnTo>
                    <a:pt x="8146183" y="96836"/>
                  </a:lnTo>
                  <a:lnTo>
                    <a:pt x="8126085" y="57963"/>
                  </a:lnTo>
                  <a:lnTo>
                    <a:pt x="8095436" y="27314"/>
                  </a:lnTo>
                  <a:lnTo>
                    <a:pt x="8056563" y="7216"/>
                  </a:lnTo>
                  <a:lnTo>
                    <a:pt x="8011795" y="0"/>
                  </a:lnTo>
                  <a:close/>
                </a:path>
              </a:pathLst>
            </a:custGeom>
            <a:solidFill>
              <a:srgbClr val="9B2C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33399" y="1597786"/>
              <a:ext cx="8153400" cy="849630"/>
            </a:xfrm>
            <a:custGeom>
              <a:avLst/>
              <a:gdLst/>
              <a:ahLst/>
              <a:cxnLst/>
              <a:rect l="l" t="t" r="r" b="b"/>
              <a:pathLst>
                <a:path w="8153400" h="849630">
                  <a:moveTo>
                    <a:pt x="0" y="141604"/>
                  </a:moveTo>
                  <a:lnTo>
                    <a:pt x="7217" y="96836"/>
                  </a:lnTo>
                  <a:lnTo>
                    <a:pt x="27315" y="57963"/>
                  </a:lnTo>
                  <a:lnTo>
                    <a:pt x="57961" y="27314"/>
                  </a:lnTo>
                  <a:lnTo>
                    <a:pt x="96822" y="7216"/>
                  </a:lnTo>
                  <a:lnTo>
                    <a:pt x="141566" y="0"/>
                  </a:lnTo>
                  <a:lnTo>
                    <a:pt x="8011795" y="0"/>
                  </a:lnTo>
                  <a:lnTo>
                    <a:pt x="8056563" y="7216"/>
                  </a:lnTo>
                  <a:lnTo>
                    <a:pt x="8095436" y="27314"/>
                  </a:lnTo>
                  <a:lnTo>
                    <a:pt x="8126085" y="57963"/>
                  </a:lnTo>
                  <a:lnTo>
                    <a:pt x="8146183" y="96836"/>
                  </a:lnTo>
                  <a:lnTo>
                    <a:pt x="8153400" y="141604"/>
                  </a:lnTo>
                  <a:lnTo>
                    <a:pt x="8153400" y="707898"/>
                  </a:lnTo>
                  <a:lnTo>
                    <a:pt x="8146183" y="752666"/>
                  </a:lnTo>
                  <a:lnTo>
                    <a:pt x="8126085" y="791539"/>
                  </a:lnTo>
                  <a:lnTo>
                    <a:pt x="8095436" y="822188"/>
                  </a:lnTo>
                  <a:lnTo>
                    <a:pt x="8056563" y="842286"/>
                  </a:lnTo>
                  <a:lnTo>
                    <a:pt x="8011795" y="849502"/>
                  </a:lnTo>
                  <a:lnTo>
                    <a:pt x="141566" y="849502"/>
                  </a:lnTo>
                  <a:lnTo>
                    <a:pt x="96822" y="842286"/>
                  </a:lnTo>
                  <a:lnTo>
                    <a:pt x="57961" y="822188"/>
                  </a:lnTo>
                  <a:lnTo>
                    <a:pt x="27315" y="791539"/>
                  </a:lnTo>
                  <a:lnTo>
                    <a:pt x="7217" y="752666"/>
                  </a:lnTo>
                  <a:lnTo>
                    <a:pt x="0" y="707898"/>
                  </a:lnTo>
                  <a:lnTo>
                    <a:pt x="0" y="141604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5487" y="2478023"/>
              <a:ext cx="8269223" cy="96621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8723" y="2531363"/>
              <a:ext cx="7587996" cy="926591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33399" y="2510662"/>
              <a:ext cx="8153400" cy="849630"/>
            </a:xfrm>
            <a:custGeom>
              <a:avLst/>
              <a:gdLst/>
              <a:ahLst/>
              <a:cxnLst/>
              <a:rect l="l" t="t" r="r" b="b"/>
              <a:pathLst>
                <a:path w="8153400" h="849629">
                  <a:moveTo>
                    <a:pt x="8011795" y="0"/>
                  </a:moveTo>
                  <a:lnTo>
                    <a:pt x="141566" y="0"/>
                  </a:lnTo>
                  <a:lnTo>
                    <a:pt x="96822" y="7215"/>
                  </a:lnTo>
                  <a:lnTo>
                    <a:pt x="57961" y="27306"/>
                  </a:lnTo>
                  <a:lnTo>
                    <a:pt x="27315" y="57936"/>
                  </a:lnTo>
                  <a:lnTo>
                    <a:pt x="7217" y="96771"/>
                  </a:lnTo>
                  <a:lnTo>
                    <a:pt x="0" y="141477"/>
                  </a:lnTo>
                  <a:lnTo>
                    <a:pt x="0" y="707771"/>
                  </a:lnTo>
                  <a:lnTo>
                    <a:pt x="7217" y="752539"/>
                  </a:lnTo>
                  <a:lnTo>
                    <a:pt x="27315" y="791412"/>
                  </a:lnTo>
                  <a:lnTo>
                    <a:pt x="57961" y="822061"/>
                  </a:lnTo>
                  <a:lnTo>
                    <a:pt x="96822" y="842159"/>
                  </a:lnTo>
                  <a:lnTo>
                    <a:pt x="141566" y="849376"/>
                  </a:lnTo>
                  <a:lnTo>
                    <a:pt x="8011795" y="849376"/>
                  </a:lnTo>
                  <a:lnTo>
                    <a:pt x="8056563" y="842159"/>
                  </a:lnTo>
                  <a:lnTo>
                    <a:pt x="8095436" y="822061"/>
                  </a:lnTo>
                  <a:lnTo>
                    <a:pt x="8126085" y="791412"/>
                  </a:lnTo>
                  <a:lnTo>
                    <a:pt x="8146183" y="752539"/>
                  </a:lnTo>
                  <a:lnTo>
                    <a:pt x="8153400" y="707771"/>
                  </a:lnTo>
                  <a:lnTo>
                    <a:pt x="8153400" y="141477"/>
                  </a:lnTo>
                  <a:lnTo>
                    <a:pt x="8146183" y="96771"/>
                  </a:lnTo>
                  <a:lnTo>
                    <a:pt x="8126085" y="57936"/>
                  </a:lnTo>
                  <a:lnTo>
                    <a:pt x="8095436" y="27306"/>
                  </a:lnTo>
                  <a:lnTo>
                    <a:pt x="8056563" y="7215"/>
                  </a:lnTo>
                  <a:lnTo>
                    <a:pt x="8011795" y="0"/>
                  </a:lnTo>
                  <a:close/>
                </a:path>
              </a:pathLst>
            </a:custGeom>
            <a:solidFill>
              <a:srgbClr val="A18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33399" y="2510662"/>
              <a:ext cx="8153400" cy="849630"/>
            </a:xfrm>
            <a:custGeom>
              <a:avLst/>
              <a:gdLst/>
              <a:ahLst/>
              <a:cxnLst/>
              <a:rect l="l" t="t" r="r" b="b"/>
              <a:pathLst>
                <a:path w="8153400" h="849629">
                  <a:moveTo>
                    <a:pt x="0" y="141477"/>
                  </a:moveTo>
                  <a:lnTo>
                    <a:pt x="7217" y="96771"/>
                  </a:lnTo>
                  <a:lnTo>
                    <a:pt x="27315" y="57936"/>
                  </a:lnTo>
                  <a:lnTo>
                    <a:pt x="57961" y="27306"/>
                  </a:lnTo>
                  <a:lnTo>
                    <a:pt x="96822" y="7215"/>
                  </a:lnTo>
                  <a:lnTo>
                    <a:pt x="141566" y="0"/>
                  </a:lnTo>
                  <a:lnTo>
                    <a:pt x="8011795" y="0"/>
                  </a:lnTo>
                  <a:lnTo>
                    <a:pt x="8056563" y="7215"/>
                  </a:lnTo>
                  <a:lnTo>
                    <a:pt x="8095436" y="27306"/>
                  </a:lnTo>
                  <a:lnTo>
                    <a:pt x="8126085" y="57936"/>
                  </a:lnTo>
                  <a:lnTo>
                    <a:pt x="8146183" y="96771"/>
                  </a:lnTo>
                  <a:lnTo>
                    <a:pt x="8153400" y="141477"/>
                  </a:lnTo>
                  <a:lnTo>
                    <a:pt x="8153400" y="707771"/>
                  </a:lnTo>
                  <a:lnTo>
                    <a:pt x="8146183" y="752539"/>
                  </a:lnTo>
                  <a:lnTo>
                    <a:pt x="8126085" y="791412"/>
                  </a:lnTo>
                  <a:lnTo>
                    <a:pt x="8095436" y="822061"/>
                  </a:lnTo>
                  <a:lnTo>
                    <a:pt x="8056563" y="842159"/>
                  </a:lnTo>
                  <a:lnTo>
                    <a:pt x="8011795" y="849376"/>
                  </a:lnTo>
                  <a:lnTo>
                    <a:pt x="141566" y="849376"/>
                  </a:lnTo>
                  <a:lnTo>
                    <a:pt x="96822" y="842159"/>
                  </a:lnTo>
                  <a:lnTo>
                    <a:pt x="57961" y="822061"/>
                  </a:lnTo>
                  <a:lnTo>
                    <a:pt x="27315" y="791412"/>
                  </a:lnTo>
                  <a:lnTo>
                    <a:pt x="7217" y="752539"/>
                  </a:lnTo>
                  <a:lnTo>
                    <a:pt x="0" y="707771"/>
                  </a:lnTo>
                  <a:lnTo>
                    <a:pt x="0" y="141477"/>
                  </a:lnTo>
                  <a:close/>
                </a:path>
              </a:pathLst>
            </a:custGeom>
            <a:ln w="380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75487" y="3389376"/>
              <a:ext cx="8269223" cy="96774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58723" y="3444239"/>
              <a:ext cx="8305800" cy="926592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533399" y="3423411"/>
              <a:ext cx="8153400" cy="849630"/>
            </a:xfrm>
            <a:custGeom>
              <a:avLst/>
              <a:gdLst/>
              <a:ahLst/>
              <a:cxnLst/>
              <a:rect l="l" t="t" r="r" b="b"/>
              <a:pathLst>
                <a:path w="8153400" h="849629">
                  <a:moveTo>
                    <a:pt x="8011795" y="0"/>
                  </a:moveTo>
                  <a:lnTo>
                    <a:pt x="141566" y="0"/>
                  </a:lnTo>
                  <a:lnTo>
                    <a:pt x="96822" y="7216"/>
                  </a:lnTo>
                  <a:lnTo>
                    <a:pt x="57961" y="27314"/>
                  </a:lnTo>
                  <a:lnTo>
                    <a:pt x="27315" y="57963"/>
                  </a:lnTo>
                  <a:lnTo>
                    <a:pt x="7217" y="96836"/>
                  </a:lnTo>
                  <a:lnTo>
                    <a:pt x="0" y="141604"/>
                  </a:lnTo>
                  <a:lnTo>
                    <a:pt x="0" y="707770"/>
                  </a:lnTo>
                  <a:lnTo>
                    <a:pt x="7217" y="752539"/>
                  </a:lnTo>
                  <a:lnTo>
                    <a:pt x="27315" y="791412"/>
                  </a:lnTo>
                  <a:lnTo>
                    <a:pt x="57961" y="822061"/>
                  </a:lnTo>
                  <a:lnTo>
                    <a:pt x="96822" y="842159"/>
                  </a:lnTo>
                  <a:lnTo>
                    <a:pt x="141566" y="849376"/>
                  </a:lnTo>
                  <a:lnTo>
                    <a:pt x="8011795" y="849376"/>
                  </a:lnTo>
                  <a:lnTo>
                    <a:pt x="8056563" y="842159"/>
                  </a:lnTo>
                  <a:lnTo>
                    <a:pt x="8095436" y="822061"/>
                  </a:lnTo>
                  <a:lnTo>
                    <a:pt x="8126085" y="791412"/>
                  </a:lnTo>
                  <a:lnTo>
                    <a:pt x="8146183" y="752539"/>
                  </a:lnTo>
                  <a:lnTo>
                    <a:pt x="8153400" y="707770"/>
                  </a:lnTo>
                  <a:lnTo>
                    <a:pt x="8153400" y="141604"/>
                  </a:lnTo>
                  <a:lnTo>
                    <a:pt x="8146183" y="96836"/>
                  </a:lnTo>
                  <a:lnTo>
                    <a:pt x="8126085" y="57963"/>
                  </a:lnTo>
                  <a:lnTo>
                    <a:pt x="8095436" y="27314"/>
                  </a:lnTo>
                  <a:lnTo>
                    <a:pt x="8056563" y="7216"/>
                  </a:lnTo>
                  <a:lnTo>
                    <a:pt x="8011795" y="0"/>
                  </a:lnTo>
                  <a:close/>
                </a:path>
              </a:pathLst>
            </a:custGeom>
            <a:solidFill>
              <a:srgbClr val="94615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33399" y="3423411"/>
              <a:ext cx="8153400" cy="849630"/>
            </a:xfrm>
            <a:custGeom>
              <a:avLst/>
              <a:gdLst/>
              <a:ahLst/>
              <a:cxnLst/>
              <a:rect l="l" t="t" r="r" b="b"/>
              <a:pathLst>
                <a:path w="8153400" h="849629">
                  <a:moveTo>
                    <a:pt x="0" y="141604"/>
                  </a:moveTo>
                  <a:lnTo>
                    <a:pt x="7217" y="96836"/>
                  </a:lnTo>
                  <a:lnTo>
                    <a:pt x="27315" y="57963"/>
                  </a:lnTo>
                  <a:lnTo>
                    <a:pt x="57961" y="27314"/>
                  </a:lnTo>
                  <a:lnTo>
                    <a:pt x="96822" y="7216"/>
                  </a:lnTo>
                  <a:lnTo>
                    <a:pt x="141566" y="0"/>
                  </a:lnTo>
                  <a:lnTo>
                    <a:pt x="8011795" y="0"/>
                  </a:lnTo>
                  <a:lnTo>
                    <a:pt x="8056563" y="7216"/>
                  </a:lnTo>
                  <a:lnTo>
                    <a:pt x="8095436" y="27314"/>
                  </a:lnTo>
                  <a:lnTo>
                    <a:pt x="8126085" y="57963"/>
                  </a:lnTo>
                  <a:lnTo>
                    <a:pt x="8146183" y="96836"/>
                  </a:lnTo>
                  <a:lnTo>
                    <a:pt x="8153400" y="141604"/>
                  </a:lnTo>
                  <a:lnTo>
                    <a:pt x="8153400" y="707770"/>
                  </a:lnTo>
                  <a:lnTo>
                    <a:pt x="8146183" y="752539"/>
                  </a:lnTo>
                  <a:lnTo>
                    <a:pt x="8126085" y="791412"/>
                  </a:lnTo>
                  <a:lnTo>
                    <a:pt x="8095436" y="822061"/>
                  </a:lnTo>
                  <a:lnTo>
                    <a:pt x="8056563" y="842159"/>
                  </a:lnTo>
                  <a:lnTo>
                    <a:pt x="8011795" y="849376"/>
                  </a:lnTo>
                  <a:lnTo>
                    <a:pt x="141566" y="849376"/>
                  </a:lnTo>
                  <a:lnTo>
                    <a:pt x="96822" y="842159"/>
                  </a:lnTo>
                  <a:lnTo>
                    <a:pt x="57961" y="822061"/>
                  </a:lnTo>
                  <a:lnTo>
                    <a:pt x="27315" y="791412"/>
                  </a:lnTo>
                  <a:lnTo>
                    <a:pt x="7217" y="752539"/>
                  </a:lnTo>
                  <a:lnTo>
                    <a:pt x="0" y="707770"/>
                  </a:lnTo>
                  <a:lnTo>
                    <a:pt x="0" y="141604"/>
                  </a:lnTo>
                  <a:close/>
                </a:path>
              </a:pathLst>
            </a:custGeom>
            <a:ln w="380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75487" y="4302251"/>
              <a:ext cx="8269223" cy="96774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58723" y="4357116"/>
              <a:ext cx="8159496" cy="926591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533399" y="4336160"/>
              <a:ext cx="8153400" cy="849630"/>
            </a:xfrm>
            <a:custGeom>
              <a:avLst/>
              <a:gdLst/>
              <a:ahLst/>
              <a:cxnLst/>
              <a:rect l="l" t="t" r="r" b="b"/>
              <a:pathLst>
                <a:path w="8153400" h="849629">
                  <a:moveTo>
                    <a:pt x="8011795" y="0"/>
                  </a:moveTo>
                  <a:lnTo>
                    <a:pt x="141566" y="0"/>
                  </a:lnTo>
                  <a:lnTo>
                    <a:pt x="96822" y="7216"/>
                  </a:lnTo>
                  <a:lnTo>
                    <a:pt x="57961" y="27314"/>
                  </a:lnTo>
                  <a:lnTo>
                    <a:pt x="27315" y="57963"/>
                  </a:lnTo>
                  <a:lnTo>
                    <a:pt x="7217" y="96836"/>
                  </a:lnTo>
                  <a:lnTo>
                    <a:pt x="0" y="141605"/>
                  </a:lnTo>
                  <a:lnTo>
                    <a:pt x="0" y="707897"/>
                  </a:lnTo>
                  <a:lnTo>
                    <a:pt x="7217" y="752604"/>
                  </a:lnTo>
                  <a:lnTo>
                    <a:pt x="27315" y="791439"/>
                  </a:lnTo>
                  <a:lnTo>
                    <a:pt x="57961" y="822069"/>
                  </a:lnTo>
                  <a:lnTo>
                    <a:pt x="96822" y="842160"/>
                  </a:lnTo>
                  <a:lnTo>
                    <a:pt x="141566" y="849376"/>
                  </a:lnTo>
                  <a:lnTo>
                    <a:pt x="8011795" y="849376"/>
                  </a:lnTo>
                  <a:lnTo>
                    <a:pt x="8056563" y="842160"/>
                  </a:lnTo>
                  <a:lnTo>
                    <a:pt x="8095436" y="822069"/>
                  </a:lnTo>
                  <a:lnTo>
                    <a:pt x="8126085" y="791439"/>
                  </a:lnTo>
                  <a:lnTo>
                    <a:pt x="8146183" y="752604"/>
                  </a:lnTo>
                  <a:lnTo>
                    <a:pt x="8153400" y="707897"/>
                  </a:lnTo>
                  <a:lnTo>
                    <a:pt x="8153400" y="141605"/>
                  </a:lnTo>
                  <a:lnTo>
                    <a:pt x="8146183" y="96836"/>
                  </a:lnTo>
                  <a:lnTo>
                    <a:pt x="8126085" y="57963"/>
                  </a:lnTo>
                  <a:lnTo>
                    <a:pt x="8095436" y="27314"/>
                  </a:lnTo>
                  <a:lnTo>
                    <a:pt x="8056563" y="7216"/>
                  </a:lnTo>
                  <a:lnTo>
                    <a:pt x="8011795" y="0"/>
                  </a:lnTo>
                  <a:close/>
                </a:path>
              </a:pathLst>
            </a:custGeom>
            <a:solidFill>
              <a:srgbClr val="9184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33399" y="4336160"/>
              <a:ext cx="8153400" cy="849630"/>
            </a:xfrm>
            <a:custGeom>
              <a:avLst/>
              <a:gdLst/>
              <a:ahLst/>
              <a:cxnLst/>
              <a:rect l="l" t="t" r="r" b="b"/>
              <a:pathLst>
                <a:path w="8153400" h="849629">
                  <a:moveTo>
                    <a:pt x="0" y="141605"/>
                  </a:moveTo>
                  <a:lnTo>
                    <a:pt x="7217" y="96836"/>
                  </a:lnTo>
                  <a:lnTo>
                    <a:pt x="27315" y="57963"/>
                  </a:lnTo>
                  <a:lnTo>
                    <a:pt x="57961" y="27314"/>
                  </a:lnTo>
                  <a:lnTo>
                    <a:pt x="96822" y="7216"/>
                  </a:lnTo>
                  <a:lnTo>
                    <a:pt x="141566" y="0"/>
                  </a:lnTo>
                  <a:lnTo>
                    <a:pt x="8011795" y="0"/>
                  </a:lnTo>
                  <a:lnTo>
                    <a:pt x="8056563" y="7216"/>
                  </a:lnTo>
                  <a:lnTo>
                    <a:pt x="8095436" y="27314"/>
                  </a:lnTo>
                  <a:lnTo>
                    <a:pt x="8126085" y="57963"/>
                  </a:lnTo>
                  <a:lnTo>
                    <a:pt x="8146183" y="96836"/>
                  </a:lnTo>
                  <a:lnTo>
                    <a:pt x="8153400" y="141605"/>
                  </a:lnTo>
                  <a:lnTo>
                    <a:pt x="8153400" y="707897"/>
                  </a:lnTo>
                  <a:lnTo>
                    <a:pt x="8146183" y="752604"/>
                  </a:lnTo>
                  <a:lnTo>
                    <a:pt x="8126085" y="791439"/>
                  </a:lnTo>
                  <a:lnTo>
                    <a:pt x="8095436" y="822069"/>
                  </a:lnTo>
                  <a:lnTo>
                    <a:pt x="8056563" y="842160"/>
                  </a:lnTo>
                  <a:lnTo>
                    <a:pt x="8011795" y="849376"/>
                  </a:lnTo>
                  <a:lnTo>
                    <a:pt x="141566" y="849376"/>
                  </a:lnTo>
                  <a:lnTo>
                    <a:pt x="96822" y="842160"/>
                  </a:lnTo>
                  <a:lnTo>
                    <a:pt x="57961" y="822069"/>
                  </a:lnTo>
                  <a:lnTo>
                    <a:pt x="27315" y="791439"/>
                  </a:lnTo>
                  <a:lnTo>
                    <a:pt x="7217" y="752604"/>
                  </a:lnTo>
                  <a:lnTo>
                    <a:pt x="0" y="707897"/>
                  </a:lnTo>
                  <a:lnTo>
                    <a:pt x="0" y="141605"/>
                  </a:lnTo>
                  <a:close/>
                </a:path>
              </a:pathLst>
            </a:custGeom>
            <a:ln w="380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75487" y="5215127"/>
              <a:ext cx="8269223" cy="96774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58723" y="5268468"/>
              <a:ext cx="8284464" cy="926591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533399" y="5248910"/>
              <a:ext cx="8153400" cy="849630"/>
            </a:xfrm>
            <a:custGeom>
              <a:avLst/>
              <a:gdLst/>
              <a:ahLst/>
              <a:cxnLst/>
              <a:rect l="l" t="t" r="r" b="b"/>
              <a:pathLst>
                <a:path w="8153400" h="849629">
                  <a:moveTo>
                    <a:pt x="8011795" y="0"/>
                  </a:moveTo>
                  <a:lnTo>
                    <a:pt x="141566" y="0"/>
                  </a:lnTo>
                  <a:lnTo>
                    <a:pt x="96822" y="7216"/>
                  </a:lnTo>
                  <a:lnTo>
                    <a:pt x="57961" y="27314"/>
                  </a:lnTo>
                  <a:lnTo>
                    <a:pt x="27315" y="57963"/>
                  </a:lnTo>
                  <a:lnTo>
                    <a:pt x="7217" y="96836"/>
                  </a:lnTo>
                  <a:lnTo>
                    <a:pt x="0" y="141604"/>
                  </a:lnTo>
                  <a:lnTo>
                    <a:pt x="0" y="707885"/>
                  </a:lnTo>
                  <a:lnTo>
                    <a:pt x="7217" y="752636"/>
                  </a:lnTo>
                  <a:lnTo>
                    <a:pt x="27315" y="791501"/>
                  </a:lnTo>
                  <a:lnTo>
                    <a:pt x="57961" y="822148"/>
                  </a:lnTo>
                  <a:lnTo>
                    <a:pt x="96822" y="842247"/>
                  </a:lnTo>
                  <a:lnTo>
                    <a:pt x="141566" y="849464"/>
                  </a:lnTo>
                  <a:lnTo>
                    <a:pt x="8011795" y="849464"/>
                  </a:lnTo>
                  <a:lnTo>
                    <a:pt x="8056563" y="842247"/>
                  </a:lnTo>
                  <a:lnTo>
                    <a:pt x="8095436" y="822148"/>
                  </a:lnTo>
                  <a:lnTo>
                    <a:pt x="8126085" y="791501"/>
                  </a:lnTo>
                  <a:lnTo>
                    <a:pt x="8146183" y="752636"/>
                  </a:lnTo>
                  <a:lnTo>
                    <a:pt x="8153400" y="707885"/>
                  </a:lnTo>
                  <a:lnTo>
                    <a:pt x="8153400" y="141604"/>
                  </a:lnTo>
                  <a:lnTo>
                    <a:pt x="8146183" y="96836"/>
                  </a:lnTo>
                  <a:lnTo>
                    <a:pt x="8126085" y="57963"/>
                  </a:lnTo>
                  <a:lnTo>
                    <a:pt x="8095436" y="27314"/>
                  </a:lnTo>
                  <a:lnTo>
                    <a:pt x="8056563" y="7216"/>
                  </a:lnTo>
                  <a:lnTo>
                    <a:pt x="8011795" y="0"/>
                  </a:lnTo>
                  <a:close/>
                </a:path>
              </a:pathLst>
            </a:custGeom>
            <a:solidFill>
              <a:srgbClr val="855D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33399" y="5248910"/>
              <a:ext cx="8153400" cy="849630"/>
            </a:xfrm>
            <a:custGeom>
              <a:avLst/>
              <a:gdLst/>
              <a:ahLst/>
              <a:cxnLst/>
              <a:rect l="l" t="t" r="r" b="b"/>
              <a:pathLst>
                <a:path w="8153400" h="849629">
                  <a:moveTo>
                    <a:pt x="0" y="141604"/>
                  </a:moveTo>
                  <a:lnTo>
                    <a:pt x="7217" y="96836"/>
                  </a:lnTo>
                  <a:lnTo>
                    <a:pt x="27315" y="57963"/>
                  </a:lnTo>
                  <a:lnTo>
                    <a:pt x="57961" y="27314"/>
                  </a:lnTo>
                  <a:lnTo>
                    <a:pt x="96822" y="7216"/>
                  </a:lnTo>
                  <a:lnTo>
                    <a:pt x="141566" y="0"/>
                  </a:lnTo>
                  <a:lnTo>
                    <a:pt x="8011795" y="0"/>
                  </a:lnTo>
                  <a:lnTo>
                    <a:pt x="8056563" y="7216"/>
                  </a:lnTo>
                  <a:lnTo>
                    <a:pt x="8095436" y="27314"/>
                  </a:lnTo>
                  <a:lnTo>
                    <a:pt x="8126085" y="57963"/>
                  </a:lnTo>
                  <a:lnTo>
                    <a:pt x="8146183" y="96836"/>
                  </a:lnTo>
                  <a:lnTo>
                    <a:pt x="8153400" y="141604"/>
                  </a:lnTo>
                  <a:lnTo>
                    <a:pt x="8153400" y="707885"/>
                  </a:lnTo>
                  <a:lnTo>
                    <a:pt x="8146183" y="752636"/>
                  </a:lnTo>
                  <a:lnTo>
                    <a:pt x="8126085" y="791501"/>
                  </a:lnTo>
                  <a:lnTo>
                    <a:pt x="8095436" y="822148"/>
                  </a:lnTo>
                  <a:lnTo>
                    <a:pt x="8056563" y="842247"/>
                  </a:lnTo>
                  <a:lnTo>
                    <a:pt x="8011795" y="849464"/>
                  </a:lnTo>
                  <a:lnTo>
                    <a:pt x="141566" y="849464"/>
                  </a:lnTo>
                  <a:lnTo>
                    <a:pt x="96822" y="842247"/>
                  </a:lnTo>
                  <a:lnTo>
                    <a:pt x="57961" y="822148"/>
                  </a:lnTo>
                  <a:lnTo>
                    <a:pt x="27315" y="791501"/>
                  </a:lnTo>
                  <a:lnTo>
                    <a:pt x="7217" y="752636"/>
                  </a:lnTo>
                  <a:lnTo>
                    <a:pt x="0" y="707885"/>
                  </a:lnTo>
                  <a:lnTo>
                    <a:pt x="0" y="141604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645972" y="1648790"/>
            <a:ext cx="7911465" cy="43002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455"/>
              </a:lnSpc>
              <a:spcBef>
                <a:spcPts val="95"/>
              </a:spcBef>
            </a:pPr>
            <a:r>
              <a:rPr sz="2200" spc="-120" dirty="0">
                <a:solidFill>
                  <a:srgbClr val="FFFFFF"/>
                </a:solidFill>
                <a:latin typeface="Times New Roman"/>
                <a:cs typeface="Times New Roman"/>
              </a:rPr>
              <a:t>Coding</a:t>
            </a:r>
            <a:r>
              <a:rPr sz="2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4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7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10" dirty="0">
                <a:solidFill>
                  <a:srgbClr val="FFFFFF"/>
                </a:solidFill>
                <a:latin typeface="Times New Roman"/>
                <a:cs typeface="Times New Roman"/>
              </a:rPr>
              <a:t>process</a:t>
            </a:r>
            <a:r>
              <a:rPr sz="2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3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14" dirty="0">
                <a:solidFill>
                  <a:srgbClr val="FFFFFF"/>
                </a:solidFill>
                <a:latin typeface="Times New Roman"/>
                <a:cs typeface="Times New Roman"/>
              </a:rPr>
              <a:t>embedding</a:t>
            </a:r>
            <a:r>
              <a:rPr sz="2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20" dirty="0">
                <a:solidFill>
                  <a:srgbClr val="FFFFFF"/>
                </a:solidFill>
                <a:latin typeface="Times New Roman"/>
                <a:cs typeface="Times New Roman"/>
              </a:rPr>
              <a:t>clocks</a:t>
            </a:r>
            <a:r>
              <a:rPr sz="2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70" dirty="0">
                <a:solidFill>
                  <a:srgbClr val="FFFFFF"/>
                </a:solidFill>
                <a:latin typeface="Times New Roman"/>
                <a:cs typeface="Times New Roman"/>
              </a:rPr>
              <a:t>into</a:t>
            </a:r>
            <a:r>
              <a:rPr sz="2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75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35" dirty="0">
                <a:solidFill>
                  <a:srgbClr val="FFFFFF"/>
                </a:solidFill>
                <a:latin typeface="Times New Roman"/>
                <a:cs typeface="Times New Roman"/>
              </a:rPr>
              <a:t>given</a:t>
            </a:r>
            <a:r>
              <a:rPr sz="2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10" dirty="0">
                <a:solidFill>
                  <a:srgbClr val="FFFFFF"/>
                </a:solidFill>
                <a:latin typeface="Times New Roman"/>
                <a:cs typeface="Times New Roman"/>
              </a:rPr>
              <a:t>data</a:t>
            </a:r>
            <a:r>
              <a:rPr sz="2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90" dirty="0">
                <a:solidFill>
                  <a:srgbClr val="FFFFFF"/>
                </a:solidFill>
                <a:latin typeface="Times New Roman"/>
                <a:cs typeface="Times New Roman"/>
              </a:rPr>
              <a:t>stream</a:t>
            </a:r>
            <a:r>
              <a:rPr sz="2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25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ts val="2455"/>
              </a:lnSpc>
            </a:pPr>
            <a:r>
              <a:rPr sz="2200" spc="-100" dirty="0">
                <a:solidFill>
                  <a:srgbClr val="FFFFFF"/>
                </a:solidFill>
                <a:latin typeface="Times New Roman"/>
                <a:cs typeface="Times New Roman"/>
              </a:rPr>
              <a:t>producing</a:t>
            </a:r>
            <a:r>
              <a:rPr sz="2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75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40" dirty="0">
                <a:solidFill>
                  <a:srgbClr val="FFFFFF"/>
                </a:solidFill>
                <a:latin typeface="Times New Roman"/>
                <a:cs typeface="Times New Roman"/>
              </a:rPr>
              <a:t>signal</a:t>
            </a:r>
            <a:r>
              <a:rPr sz="2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75" dirty="0">
                <a:solidFill>
                  <a:srgbClr val="FFFFFF"/>
                </a:solidFill>
                <a:latin typeface="Times New Roman"/>
                <a:cs typeface="Times New Roman"/>
              </a:rPr>
              <a:t>that</a:t>
            </a:r>
            <a:r>
              <a:rPr sz="2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35" dirty="0">
                <a:solidFill>
                  <a:srgbClr val="FFFFFF"/>
                </a:solidFill>
                <a:latin typeface="Times New Roman"/>
                <a:cs typeface="Times New Roman"/>
              </a:rPr>
              <a:t>can</a:t>
            </a:r>
            <a:r>
              <a:rPr sz="2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5" dirty="0">
                <a:solidFill>
                  <a:srgbClr val="FFFFFF"/>
                </a:solidFill>
                <a:latin typeface="Times New Roman"/>
                <a:cs typeface="Times New Roman"/>
              </a:rPr>
              <a:t>be</a:t>
            </a:r>
            <a:r>
              <a:rPr sz="2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70" dirty="0">
                <a:solidFill>
                  <a:srgbClr val="FFFFFF"/>
                </a:solidFill>
                <a:latin typeface="Times New Roman"/>
                <a:cs typeface="Times New Roman"/>
              </a:rPr>
              <a:t>transmitted</a:t>
            </a:r>
            <a:r>
              <a:rPr sz="2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14" dirty="0">
                <a:solidFill>
                  <a:srgbClr val="FFFFFF"/>
                </a:solidFill>
                <a:latin typeface="Times New Roman"/>
                <a:cs typeface="Times New Roman"/>
              </a:rPr>
              <a:t>over</a:t>
            </a:r>
            <a:r>
              <a:rPr sz="2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75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95" dirty="0">
                <a:solidFill>
                  <a:srgbClr val="FFFFFF"/>
                </a:solidFill>
                <a:latin typeface="Times New Roman"/>
                <a:cs typeface="Times New Roman"/>
              </a:rPr>
              <a:t>selected</a:t>
            </a:r>
            <a:r>
              <a:rPr sz="2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85" dirty="0">
                <a:solidFill>
                  <a:srgbClr val="FFFFFF"/>
                </a:solidFill>
                <a:latin typeface="Times New Roman"/>
                <a:cs typeface="Times New Roman"/>
              </a:rPr>
              <a:t>medium.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300">
              <a:latin typeface="Times New Roman"/>
              <a:cs typeface="Times New Roman"/>
            </a:endParaRPr>
          </a:p>
          <a:p>
            <a:pPr marL="12700" marR="769620">
              <a:lnSpc>
                <a:spcPts val="2270"/>
              </a:lnSpc>
            </a:pPr>
            <a:r>
              <a:rPr sz="2200" spc="-90" dirty="0">
                <a:solidFill>
                  <a:srgbClr val="FFFFFF"/>
                </a:solidFill>
                <a:latin typeface="Times New Roman"/>
                <a:cs typeface="Times New Roman"/>
              </a:rPr>
              <a:t>Transmitter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4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10" dirty="0">
                <a:solidFill>
                  <a:srgbClr val="FFFFFF"/>
                </a:solidFill>
                <a:latin typeface="Times New Roman"/>
                <a:cs typeface="Times New Roman"/>
              </a:rPr>
              <a:t>responsible</a:t>
            </a:r>
            <a:r>
              <a:rPr sz="2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8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2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95" dirty="0">
                <a:solidFill>
                  <a:srgbClr val="FFFFFF"/>
                </a:solidFill>
                <a:latin typeface="Times New Roman"/>
                <a:cs typeface="Times New Roman"/>
              </a:rPr>
              <a:t>"encoding"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i.e.</a:t>
            </a:r>
            <a:r>
              <a:rPr sz="2200" spc="-1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85" dirty="0">
                <a:solidFill>
                  <a:srgbClr val="FFFFFF"/>
                </a:solidFill>
                <a:latin typeface="Times New Roman"/>
                <a:cs typeface="Times New Roman"/>
              </a:rPr>
              <a:t>inserting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20" dirty="0">
                <a:solidFill>
                  <a:srgbClr val="FFFFFF"/>
                </a:solidFill>
                <a:latin typeface="Times New Roman"/>
                <a:cs typeface="Times New Roman"/>
              </a:rPr>
              <a:t>clocks</a:t>
            </a:r>
            <a:r>
              <a:rPr sz="2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70" dirty="0">
                <a:solidFill>
                  <a:srgbClr val="FFFFFF"/>
                </a:solidFill>
                <a:latin typeface="Times New Roman"/>
                <a:cs typeface="Times New Roman"/>
              </a:rPr>
              <a:t>into</a:t>
            </a:r>
            <a:r>
              <a:rPr sz="2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10" dirty="0">
                <a:solidFill>
                  <a:srgbClr val="FFFFFF"/>
                </a:solidFill>
                <a:latin typeface="Times New Roman"/>
                <a:cs typeface="Times New Roman"/>
              </a:rPr>
              <a:t>data </a:t>
            </a:r>
            <a:r>
              <a:rPr sz="2200" spc="-5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55" dirty="0">
                <a:solidFill>
                  <a:srgbClr val="FFFFFF"/>
                </a:solidFill>
                <a:latin typeface="Times New Roman"/>
                <a:cs typeface="Times New Roman"/>
              </a:rPr>
              <a:t>ac</a:t>
            </a:r>
            <a:r>
              <a:rPr sz="2200" spc="-160" dirty="0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sz="2200" spc="-75" dirty="0">
                <a:solidFill>
                  <a:srgbClr val="FFFFFF"/>
                </a:solidFill>
                <a:latin typeface="Times New Roman"/>
                <a:cs typeface="Times New Roman"/>
              </a:rPr>
              <a:t>ordi</a:t>
            </a:r>
            <a:r>
              <a:rPr sz="2200" spc="-85" dirty="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sz="2200" spc="-185" dirty="0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sz="2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35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75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20" dirty="0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sz="2200" spc="-150" dirty="0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sz="2200" spc="-100" dirty="0">
                <a:solidFill>
                  <a:srgbClr val="FFFFFF"/>
                </a:solidFill>
                <a:latin typeface="Times New Roman"/>
                <a:cs typeface="Times New Roman"/>
              </a:rPr>
              <a:t>le</a:t>
            </a:r>
            <a:r>
              <a:rPr sz="2200" spc="-125" dirty="0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sz="2200" spc="-45" dirty="0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sz="2200" spc="-95" dirty="0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20" dirty="0">
                <a:solidFill>
                  <a:srgbClr val="FFFFFF"/>
                </a:solidFill>
                <a:latin typeface="Times New Roman"/>
                <a:cs typeface="Times New Roman"/>
              </a:rPr>
              <a:t>coding</a:t>
            </a:r>
            <a:r>
              <a:rPr sz="2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45" dirty="0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sz="2200" spc="-125" dirty="0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sz="2200" spc="-114" dirty="0">
                <a:solidFill>
                  <a:srgbClr val="FFFFFF"/>
                </a:solidFill>
                <a:latin typeface="Times New Roman"/>
                <a:cs typeface="Times New Roman"/>
              </a:rPr>
              <a:t>heme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300">
              <a:latin typeface="Times New Roman"/>
              <a:cs typeface="Times New Roman"/>
            </a:endParaRPr>
          </a:p>
          <a:p>
            <a:pPr marL="12700" marR="53340">
              <a:lnSpc>
                <a:spcPts val="2270"/>
              </a:lnSpc>
            </a:pPr>
            <a:r>
              <a:rPr sz="2200" spc="-114" dirty="0">
                <a:solidFill>
                  <a:srgbClr val="FFFFFF"/>
                </a:solidFill>
                <a:latin typeface="Times New Roman"/>
                <a:cs typeface="Times New Roman"/>
              </a:rPr>
              <a:t>Receiver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4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10" dirty="0">
                <a:solidFill>
                  <a:srgbClr val="FFFFFF"/>
                </a:solidFill>
                <a:latin typeface="Times New Roman"/>
                <a:cs typeface="Times New Roman"/>
              </a:rPr>
              <a:t>responsible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8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2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95" dirty="0">
                <a:solidFill>
                  <a:srgbClr val="FFFFFF"/>
                </a:solidFill>
                <a:latin typeface="Times New Roman"/>
                <a:cs typeface="Times New Roman"/>
              </a:rPr>
              <a:t>"decoding"</a:t>
            </a:r>
            <a:r>
              <a:rPr sz="2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i.e.</a:t>
            </a:r>
            <a:r>
              <a:rPr sz="2200" spc="-1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10" dirty="0">
                <a:solidFill>
                  <a:srgbClr val="FFFFFF"/>
                </a:solidFill>
                <a:latin typeface="Times New Roman"/>
                <a:cs typeface="Times New Roman"/>
              </a:rPr>
              <a:t>separating</a:t>
            </a:r>
            <a:r>
              <a:rPr sz="2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20" dirty="0">
                <a:solidFill>
                  <a:srgbClr val="FFFFFF"/>
                </a:solidFill>
                <a:latin typeface="Times New Roman"/>
                <a:cs typeface="Times New Roman"/>
              </a:rPr>
              <a:t>clocks</a:t>
            </a:r>
            <a:r>
              <a:rPr sz="2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25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10" dirty="0">
                <a:solidFill>
                  <a:srgbClr val="FFFFFF"/>
                </a:solidFill>
                <a:latin typeface="Times New Roman"/>
                <a:cs typeface="Times New Roman"/>
              </a:rPr>
              <a:t>data</a:t>
            </a:r>
            <a:r>
              <a:rPr sz="2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0" dirty="0">
                <a:solidFill>
                  <a:srgbClr val="FFFFFF"/>
                </a:solidFill>
                <a:latin typeface="Times New Roman"/>
                <a:cs typeface="Times New Roman"/>
              </a:rPr>
              <a:t>from</a:t>
            </a:r>
            <a:r>
              <a:rPr sz="2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70" dirty="0">
                <a:solidFill>
                  <a:srgbClr val="FFFFFF"/>
                </a:solidFill>
                <a:latin typeface="Times New Roman"/>
                <a:cs typeface="Times New Roman"/>
              </a:rPr>
              <a:t>the </a:t>
            </a:r>
            <a:r>
              <a:rPr sz="2200" spc="-5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10" dirty="0">
                <a:solidFill>
                  <a:srgbClr val="FFFFFF"/>
                </a:solidFill>
                <a:latin typeface="Times New Roman"/>
                <a:cs typeface="Times New Roman"/>
              </a:rPr>
              <a:t>incomi</a:t>
            </a:r>
            <a:r>
              <a:rPr sz="2200" spc="-114" dirty="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sz="2200" spc="-185" dirty="0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sz="2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10" dirty="0">
                <a:solidFill>
                  <a:srgbClr val="FFFFFF"/>
                </a:solidFill>
                <a:latin typeface="Times New Roman"/>
                <a:cs typeface="Times New Roman"/>
              </a:rPr>
              <a:t>em</a:t>
            </a:r>
            <a:r>
              <a:rPr sz="2200" spc="-95" dirty="0">
                <a:solidFill>
                  <a:srgbClr val="FFFFFF"/>
                </a:solidFill>
                <a:latin typeface="Times New Roman"/>
                <a:cs typeface="Times New Roman"/>
              </a:rPr>
              <a:t>bedded</a:t>
            </a:r>
            <a:r>
              <a:rPr sz="2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85" dirty="0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sz="2200" spc="-70" dirty="0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sz="2200" spc="-5" dirty="0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sz="2200" spc="-80" dirty="0">
                <a:solidFill>
                  <a:srgbClr val="FFFFFF"/>
                </a:solidFill>
                <a:latin typeface="Times New Roman"/>
                <a:cs typeface="Times New Roman"/>
              </a:rPr>
              <a:t>eam.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300">
              <a:latin typeface="Times New Roman"/>
              <a:cs typeface="Times New Roman"/>
            </a:endParaRPr>
          </a:p>
          <a:p>
            <a:pPr marL="12700" marR="196850">
              <a:lnSpc>
                <a:spcPts val="2270"/>
              </a:lnSpc>
              <a:spcBef>
                <a:spcPts val="5"/>
              </a:spcBef>
            </a:pPr>
            <a:r>
              <a:rPr sz="2200" spc="-285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40" dirty="0">
                <a:solidFill>
                  <a:srgbClr val="FFFFFF"/>
                </a:solidFill>
                <a:latin typeface="Times New Roman"/>
                <a:cs typeface="Times New Roman"/>
              </a:rPr>
              <a:t>signal</a:t>
            </a:r>
            <a:r>
              <a:rPr sz="2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10" dirty="0">
                <a:solidFill>
                  <a:srgbClr val="FFFFFF"/>
                </a:solidFill>
                <a:latin typeface="Times New Roman"/>
                <a:cs typeface="Times New Roman"/>
              </a:rPr>
              <a:t>needs</a:t>
            </a:r>
            <a:r>
              <a:rPr sz="2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35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5" dirty="0">
                <a:solidFill>
                  <a:srgbClr val="FFFFFF"/>
                </a:solidFill>
                <a:latin typeface="Times New Roman"/>
                <a:cs typeface="Times New Roman"/>
              </a:rPr>
              <a:t>be</a:t>
            </a:r>
            <a:r>
              <a:rPr sz="2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5" dirty="0">
                <a:solidFill>
                  <a:srgbClr val="FFFFFF"/>
                </a:solidFill>
                <a:latin typeface="Times New Roman"/>
                <a:cs typeface="Times New Roman"/>
              </a:rPr>
              <a:t>manipulated</a:t>
            </a:r>
            <a:r>
              <a:rPr sz="2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5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25" dirty="0">
                <a:solidFill>
                  <a:srgbClr val="FFFFFF"/>
                </a:solidFill>
                <a:latin typeface="Times New Roman"/>
                <a:cs typeface="Times New Roman"/>
              </a:rPr>
              <a:t>such</a:t>
            </a:r>
            <a:r>
              <a:rPr sz="2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75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95" dirty="0">
                <a:solidFill>
                  <a:srgbClr val="FFFFFF"/>
                </a:solidFill>
                <a:latin typeface="Times New Roman"/>
                <a:cs typeface="Times New Roman"/>
              </a:rPr>
              <a:t>way</a:t>
            </a:r>
            <a:r>
              <a:rPr sz="2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40" dirty="0">
                <a:solidFill>
                  <a:srgbClr val="FFFFFF"/>
                </a:solidFill>
                <a:latin typeface="Times New Roman"/>
                <a:cs typeface="Times New Roman"/>
              </a:rPr>
              <a:t>so</a:t>
            </a:r>
            <a:r>
              <a:rPr sz="2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75" dirty="0">
                <a:solidFill>
                  <a:srgbClr val="FFFFFF"/>
                </a:solidFill>
                <a:latin typeface="Times New Roman"/>
                <a:cs typeface="Times New Roman"/>
              </a:rPr>
              <a:t>that</a:t>
            </a:r>
            <a:r>
              <a:rPr sz="2200" spc="-40" dirty="0">
                <a:solidFill>
                  <a:srgbClr val="FFFFFF"/>
                </a:solidFill>
                <a:latin typeface="Times New Roman"/>
                <a:cs typeface="Times New Roman"/>
              </a:rPr>
              <a:t> it</a:t>
            </a:r>
            <a:r>
              <a:rPr sz="2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10" dirty="0">
                <a:solidFill>
                  <a:srgbClr val="FFFFFF"/>
                </a:solidFill>
                <a:latin typeface="Times New Roman"/>
                <a:cs typeface="Times New Roman"/>
              </a:rPr>
              <a:t>contains</a:t>
            </a:r>
            <a:r>
              <a:rPr sz="2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5" dirty="0">
                <a:solidFill>
                  <a:srgbClr val="FFFFFF"/>
                </a:solidFill>
                <a:latin typeface="Times New Roman"/>
                <a:cs typeface="Times New Roman"/>
              </a:rPr>
              <a:t>identifiable </a:t>
            </a:r>
            <a:r>
              <a:rPr sz="2200" spc="-5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95" dirty="0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sz="2200" spc="-145" dirty="0">
                <a:solidFill>
                  <a:srgbClr val="FFFFFF"/>
                </a:solidFill>
                <a:latin typeface="Times New Roman"/>
                <a:cs typeface="Times New Roman"/>
              </a:rPr>
              <a:t>hanges</a:t>
            </a:r>
            <a:r>
              <a:rPr sz="2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40" dirty="0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sz="2200" spc="-80" dirty="0">
                <a:solidFill>
                  <a:srgbClr val="FFFFFF"/>
                </a:solidFill>
                <a:latin typeface="Times New Roman"/>
                <a:cs typeface="Times New Roman"/>
              </a:rPr>
              <a:t>h</a:t>
            </a:r>
            <a:r>
              <a:rPr sz="2200" spc="-2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200" spc="30" dirty="0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sz="2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95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200" spc="-90" dirty="0">
                <a:solidFill>
                  <a:srgbClr val="FFFFFF"/>
                </a:solidFill>
                <a:latin typeface="Times New Roman"/>
                <a:cs typeface="Times New Roman"/>
              </a:rPr>
              <a:t>re</a:t>
            </a:r>
            <a:r>
              <a:rPr sz="2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sz="2200" spc="-110" dirty="0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sz="2200" spc="-120" dirty="0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sz="2200" spc="-140" dirty="0">
                <a:solidFill>
                  <a:srgbClr val="FFFFFF"/>
                </a:solidFill>
                <a:latin typeface="Times New Roman"/>
                <a:cs typeface="Times New Roman"/>
              </a:rPr>
              <a:t>ogniza</a:t>
            </a:r>
            <a:r>
              <a:rPr sz="2200" spc="-155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2200" spc="-75" dirty="0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sz="2200" spc="-105" dirty="0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sz="2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35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40" dirty="0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sz="2200" spc="-80" dirty="0">
                <a:solidFill>
                  <a:srgbClr val="FFFFFF"/>
                </a:solidFill>
                <a:latin typeface="Times New Roman"/>
                <a:cs typeface="Times New Roman"/>
              </a:rPr>
              <a:t>h</a:t>
            </a:r>
            <a:r>
              <a:rPr sz="2200" spc="-90" dirty="0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sz="2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85" dirty="0">
                <a:solidFill>
                  <a:srgbClr val="FFFFFF"/>
                </a:solidFill>
                <a:latin typeface="Times New Roman"/>
                <a:cs typeface="Times New Roman"/>
              </a:rPr>
              <a:t>sender</a:t>
            </a:r>
            <a:r>
              <a:rPr sz="2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25" dirty="0">
                <a:solidFill>
                  <a:srgbClr val="FFFFFF"/>
                </a:solidFill>
                <a:latin typeface="Times New Roman"/>
                <a:cs typeface="Times New Roman"/>
              </a:rPr>
              <a:t>an</a:t>
            </a:r>
            <a:r>
              <a:rPr sz="2200" spc="-130" dirty="0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sz="2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sz="2200" spc="-110" dirty="0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sz="2200" spc="-120" dirty="0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sz="2200" spc="-114" dirty="0">
                <a:solidFill>
                  <a:srgbClr val="FFFFFF"/>
                </a:solidFill>
                <a:latin typeface="Times New Roman"/>
                <a:cs typeface="Times New Roman"/>
              </a:rPr>
              <a:t>ei</a:t>
            </a:r>
            <a:r>
              <a:rPr sz="2200" spc="-210" dirty="0">
                <a:solidFill>
                  <a:srgbClr val="FFFFFF"/>
                </a:solidFill>
                <a:latin typeface="Times New Roman"/>
                <a:cs typeface="Times New Roman"/>
              </a:rPr>
              <a:t>v</a:t>
            </a:r>
            <a:r>
              <a:rPr sz="2200" spc="-90" dirty="0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sz="2200" spc="-175" dirty="0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sz="2200" spc="90" dirty="0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300">
              <a:latin typeface="Times New Roman"/>
              <a:cs typeface="Times New Roman"/>
            </a:endParaRPr>
          </a:p>
          <a:p>
            <a:pPr marL="12700" marR="5080">
              <a:lnSpc>
                <a:spcPts val="2270"/>
              </a:lnSpc>
              <a:spcBef>
                <a:spcPts val="5"/>
              </a:spcBef>
            </a:pPr>
            <a:r>
              <a:rPr sz="2200" spc="-85" dirty="0">
                <a:solidFill>
                  <a:srgbClr val="FFFFFF"/>
                </a:solidFill>
                <a:latin typeface="Times New Roman"/>
                <a:cs typeface="Times New Roman"/>
              </a:rPr>
              <a:t>There</a:t>
            </a:r>
            <a:r>
              <a:rPr sz="2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9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2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95" dirty="0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r>
              <a:rPr sz="2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25" dirty="0">
                <a:solidFill>
                  <a:srgbClr val="FFFFFF"/>
                </a:solidFill>
                <a:latin typeface="Times New Roman"/>
                <a:cs typeface="Times New Roman"/>
              </a:rPr>
              <a:t>possible</a:t>
            </a:r>
            <a:r>
              <a:rPr sz="2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14" dirty="0">
                <a:solidFill>
                  <a:srgbClr val="FFFFFF"/>
                </a:solidFill>
                <a:latin typeface="Times New Roman"/>
                <a:cs typeface="Times New Roman"/>
              </a:rPr>
              <a:t>encoding</a:t>
            </a:r>
            <a:r>
              <a:rPr sz="2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0" dirty="0">
                <a:solidFill>
                  <a:srgbClr val="FFFFFF"/>
                </a:solidFill>
                <a:latin typeface="Times New Roman"/>
                <a:cs typeface="Times New Roman"/>
              </a:rPr>
              <a:t>techniques</a:t>
            </a:r>
            <a:r>
              <a:rPr sz="2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75" dirty="0">
                <a:solidFill>
                  <a:srgbClr val="FFFFFF"/>
                </a:solidFill>
                <a:latin typeface="Times New Roman"/>
                <a:cs typeface="Times New Roman"/>
              </a:rPr>
              <a:t>that</a:t>
            </a:r>
            <a:r>
              <a:rPr sz="2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35" dirty="0">
                <a:solidFill>
                  <a:srgbClr val="FFFFFF"/>
                </a:solidFill>
                <a:latin typeface="Times New Roman"/>
                <a:cs typeface="Times New Roman"/>
              </a:rPr>
              <a:t>can</a:t>
            </a:r>
            <a:r>
              <a:rPr sz="2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5" dirty="0">
                <a:solidFill>
                  <a:srgbClr val="FFFFFF"/>
                </a:solidFill>
                <a:latin typeface="Times New Roman"/>
                <a:cs typeface="Times New Roman"/>
              </a:rPr>
              <a:t>be</a:t>
            </a:r>
            <a:r>
              <a:rPr sz="2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14" dirty="0">
                <a:solidFill>
                  <a:srgbClr val="FFFFFF"/>
                </a:solidFill>
                <a:latin typeface="Times New Roman"/>
                <a:cs typeface="Times New Roman"/>
              </a:rPr>
              <a:t>used</a:t>
            </a:r>
            <a:r>
              <a:rPr sz="2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95" dirty="0">
                <a:solidFill>
                  <a:srgbClr val="FFFFFF"/>
                </a:solidFill>
                <a:latin typeface="Times New Roman"/>
                <a:cs typeface="Times New Roman"/>
              </a:rPr>
              <a:t>on</a:t>
            </a:r>
            <a:r>
              <a:rPr sz="2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65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85" dirty="0">
                <a:solidFill>
                  <a:srgbClr val="FFFFFF"/>
                </a:solidFill>
                <a:latin typeface="Times New Roman"/>
                <a:cs typeface="Times New Roman"/>
              </a:rPr>
              <a:t>data:</a:t>
            </a:r>
            <a:r>
              <a:rPr sz="2200" spc="-1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95" dirty="0">
                <a:solidFill>
                  <a:srgbClr val="FFFFFF"/>
                </a:solidFill>
                <a:latin typeface="Times New Roman"/>
                <a:cs typeface="Times New Roman"/>
              </a:rPr>
              <a:t>Digital- </a:t>
            </a:r>
            <a:r>
              <a:rPr sz="2200" spc="-5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35" dirty="0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sz="2200" spc="-45" dirty="0">
                <a:solidFill>
                  <a:srgbClr val="FFFFFF"/>
                </a:solidFill>
                <a:latin typeface="Times New Roman"/>
                <a:cs typeface="Times New Roman"/>
              </a:rPr>
              <a:t>o</a:t>
            </a:r>
            <a:r>
              <a:rPr sz="2200" spc="-55" dirty="0">
                <a:solidFill>
                  <a:srgbClr val="FFFFFF"/>
                </a:solidFill>
                <a:latin typeface="Times New Roman"/>
                <a:cs typeface="Times New Roman"/>
              </a:rPr>
              <a:t>-</a:t>
            </a:r>
            <a:r>
              <a:rPr sz="2200" spc="-120" dirty="0">
                <a:solidFill>
                  <a:srgbClr val="FFFFFF"/>
                </a:solidFill>
                <a:latin typeface="Times New Roman"/>
                <a:cs typeface="Times New Roman"/>
              </a:rPr>
              <a:t>di</a:t>
            </a:r>
            <a:r>
              <a:rPr sz="2200" spc="-110" dirty="0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sz="2200" spc="-50" dirty="0">
                <a:solidFill>
                  <a:srgbClr val="FFFFFF"/>
                </a:solidFill>
                <a:latin typeface="Times New Roman"/>
                <a:cs typeface="Times New Roman"/>
              </a:rPr>
              <a:t>ital,</a:t>
            </a:r>
            <a:r>
              <a:rPr sz="2200" spc="-1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40" dirty="0">
                <a:solidFill>
                  <a:srgbClr val="FFFFFF"/>
                </a:solidFill>
                <a:latin typeface="Times New Roman"/>
                <a:cs typeface="Times New Roman"/>
              </a:rPr>
              <a:t>Di</a:t>
            </a:r>
            <a:r>
              <a:rPr sz="2200" spc="-100" dirty="0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sz="2200" spc="-85" dirty="0">
                <a:solidFill>
                  <a:srgbClr val="FFFFFF"/>
                </a:solidFill>
                <a:latin typeface="Times New Roman"/>
                <a:cs typeface="Times New Roman"/>
              </a:rPr>
              <a:t>ital</a:t>
            </a:r>
            <a:r>
              <a:rPr sz="2200" spc="-55" dirty="0">
                <a:solidFill>
                  <a:srgbClr val="FFFFFF"/>
                </a:solidFill>
                <a:latin typeface="Times New Roman"/>
                <a:cs typeface="Times New Roman"/>
              </a:rPr>
              <a:t>-</a:t>
            </a:r>
            <a:r>
              <a:rPr sz="2200" spc="-35" dirty="0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sz="2200" spc="-45" dirty="0">
                <a:solidFill>
                  <a:srgbClr val="FFFFFF"/>
                </a:solidFill>
                <a:latin typeface="Times New Roman"/>
                <a:cs typeface="Times New Roman"/>
              </a:rPr>
              <a:t>o</a:t>
            </a:r>
            <a:r>
              <a:rPr sz="2200" spc="-55" dirty="0">
                <a:solidFill>
                  <a:srgbClr val="FFFFFF"/>
                </a:solidFill>
                <a:latin typeface="Times New Roman"/>
                <a:cs typeface="Times New Roman"/>
              </a:rPr>
              <a:t>-</a:t>
            </a:r>
            <a:r>
              <a:rPr sz="2200" spc="-210" dirty="0">
                <a:solidFill>
                  <a:srgbClr val="FFFFFF"/>
                </a:solidFill>
                <a:latin typeface="Times New Roman"/>
                <a:cs typeface="Times New Roman"/>
              </a:rPr>
              <a:t>An</a:t>
            </a:r>
            <a:r>
              <a:rPr sz="2200" spc="-145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200" spc="-120" dirty="0">
                <a:solidFill>
                  <a:srgbClr val="FFFFFF"/>
                </a:solidFill>
                <a:latin typeface="Times New Roman"/>
                <a:cs typeface="Times New Roman"/>
              </a:rPr>
              <a:t>lo</a:t>
            </a:r>
            <a:r>
              <a:rPr sz="2200" spc="-185" dirty="0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sz="2200" spc="90" dirty="0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sz="2200" spc="-2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210" dirty="0">
                <a:solidFill>
                  <a:srgbClr val="FFFFFF"/>
                </a:solidFill>
                <a:latin typeface="Times New Roman"/>
                <a:cs typeface="Times New Roman"/>
              </a:rPr>
              <a:t>An</a:t>
            </a:r>
            <a:r>
              <a:rPr sz="2200" spc="-145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200" spc="-120" dirty="0">
                <a:solidFill>
                  <a:srgbClr val="FFFFFF"/>
                </a:solidFill>
                <a:latin typeface="Times New Roman"/>
                <a:cs typeface="Times New Roman"/>
              </a:rPr>
              <a:t>lo</a:t>
            </a:r>
            <a:r>
              <a:rPr sz="2200" spc="-140" dirty="0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sz="2200" spc="-55" dirty="0">
                <a:solidFill>
                  <a:srgbClr val="FFFFFF"/>
                </a:solidFill>
                <a:latin typeface="Times New Roman"/>
                <a:cs typeface="Times New Roman"/>
              </a:rPr>
              <a:t>-</a:t>
            </a:r>
            <a:r>
              <a:rPr sz="2200" spc="-35" dirty="0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sz="2200" spc="-40" dirty="0">
                <a:solidFill>
                  <a:srgbClr val="FFFFFF"/>
                </a:solidFill>
                <a:latin typeface="Times New Roman"/>
                <a:cs typeface="Times New Roman"/>
              </a:rPr>
              <a:t>o</a:t>
            </a:r>
            <a:r>
              <a:rPr sz="2200" spc="-55" dirty="0">
                <a:solidFill>
                  <a:srgbClr val="FFFFFF"/>
                </a:solidFill>
                <a:latin typeface="Times New Roman"/>
                <a:cs typeface="Times New Roman"/>
              </a:rPr>
              <a:t>-</a:t>
            </a:r>
            <a:r>
              <a:rPr sz="2200" spc="-160" dirty="0">
                <a:solidFill>
                  <a:srgbClr val="FFFFFF"/>
                </a:solidFill>
                <a:latin typeface="Times New Roman"/>
                <a:cs typeface="Times New Roman"/>
              </a:rPr>
              <a:t>an</a:t>
            </a:r>
            <a:r>
              <a:rPr sz="2200" spc="-145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200" spc="-120" dirty="0">
                <a:solidFill>
                  <a:srgbClr val="FFFFFF"/>
                </a:solidFill>
                <a:latin typeface="Times New Roman"/>
                <a:cs typeface="Times New Roman"/>
              </a:rPr>
              <a:t>lo</a:t>
            </a:r>
            <a:r>
              <a:rPr sz="2200" spc="-185" dirty="0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sz="2200" spc="90" dirty="0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sz="2200" spc="-2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210" dirty="0">
                <a:solidFill>
                  <a:srgbClr val="FFFFFF"/>
                </a:solidFill>
                <a:latin typeface="Times New Roman"/>
                <a:cs typeface="Times New Roman"/>
              </a:rPr>
              <a:t>An</a:t>
            </a:r>
            <a:r>
              <a:rPr sz="2200" spc="-145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200" spc="-120" dirty="0">
                <a:solidFill>
                  <a:srgbClr val="FFFFFF"/>
                </a:solidFill>
                <a:latin typeface="Times New Roman"/>
                <a:cs typeface="Times New Roman"/>
              </a:rPr>
              <a:t>lo</a:t>
            </a:r>
            <a:r>
              <a:rPr sz="2200" spc="-140" dirty="0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sz="2200" spc="-55" dirty="0">
                <a:solidFill>
                  <a:srgbClr val="FFFFFF"/>
                </a:solidFill>
                <a:latin typeface="Times New Roman"/>
                <a:cs typeface="Times New Roman"/>
              </a:rPr>
              <a:t>-</a:t>
            </a:r>
            <a:r>
              <a:rPr sz="2200" spc="-35" dirty="0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sz="2200" spc="-45" dirty="0">
                <a:solidFill>
                  <a:srgbClr val="FFFFFF"/>
                </a:solidFill>
                <a:latin typeface="Times New Roman"/>
                <a:cs typeface="Times New Roman"/>
              </a:rPr>
              <a:t>o</a:t>
            </a:r>
            <a:r>
              <a:rPr sz="2200" spc="-55" dirty="0">
                <a:solidFill>
                  <a:srgbClr val="FFFFFF"/>
                </a:solidFill>
                <a:latin typeface="Times New Roman"/>
                <a:cs typeface="Times New Roman"/>
              </a:rPr>
              <a:t>-</a:t>
            </a:r>
            <a:r>
              <a:rPr sz="2200" spc="-120" dirty="0">
                <a:solidFill>
                  <a:srgbClr val="FFFFFF"/>
                </a:solidFill>
                <a:latin typeface="Times New Roman"/>
                <a:cs typeface="Times New Roman"/>
              </a:rPr>
              <a:t>di</a:t>
            </a:r>
            <a:r>
              <a:rPr sz="2200" spc="-110" dirty="0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sz="2200" spc="-50" dirty="0">
                <a:solidFill>
                  <a:srgbClr val="FFFFFF"/>
                </a:solidFill>
                <a:latin typeface="Times New Roman"/>
                <a:cs typeface="Times New Roman"/>
              </a:rPr>
              <a:t>ital.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45082" y="452754"/>
            <a:ext cx="605409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300" dirty="0">
                <a:latin typeface="Times New Roman"/>
                <a:cs typeface="Times New Roman"/>
              </a:rPr>
              <a:t>Di</a:t>
            </a:r>
            <a:r>
              <a:rPr sz="4800" spc="-200" dirty="0">
                <a:latin typeface="Times New Roman"/>
                <a:cs typeface="Times New Roman"/>
              </a:rPr>
              <a:t>g</a:t>
            </a:r>
            <a:r>
              <a:rPr sz="4800" spc="-190" dirty="0">
                <a:latin typeface="Times New Roman"/>
                <a:cs typeface="Times New Roman"/>
              </a:rPr>
              <a:t>ita</a:t>
            </a:r>
            <a:r>
              <a:rPr sz="4800" spc="-150" dirty="0">
                <a:latin typeface="Times New Roman"/>
                <a:cs typeface="Times New Roman"/>
              </a:rPr>
              <a:t>l</a:t>
            </a:r>
            <a:r>
              <a:rPr sz="4800" spc="-105" dirty="0">
                <a:latin typeface="Times New Roman"/>
                <a:cs typeface="Times New Roman"/>
              </a:rPr>
              <a:t>-</a:t>
            </a:r>
            <a:r>
              <a:rPr sz="4800" spc="-50" dirty="0">
                <a:latin typeface="Times New Roman"/>
                <a:cs typeface="Times New Roman"/>
              </a:rPr>
              <a:t>t</a:t>
            </a:r>
            <a:r>
              <a:rPr sz="4800" spc="-95" dirty="0">
                <a:latin typeface="Times New Roman"/>
                <a:cs typeface="Times New Roman"/>
              </a:rPr>
              <a:t>o</a:t>
            </a:r>
            <a:r>
              <a:rPr sz="4800" spc="-105" dirty="0">
                <a:latin typeface="Times New Roman"/>
                <a:cs typeface="Times New Roman"/>
              </a:rPr>
              <a:t>-</a:t>
            </a:r>
            <a:r>
              <a:rPr sz="4800" spc="-300" dirty="0">
                <a:latin typeface="Times New Roman"/>
                <a:cs typeface="Times New Roman"/>
              </a:rPr>
              <a:t>Di</a:t>
            </a:r>
            <a:r>
              <a:rPr sz="4800" spc="-200" dirty="0">
                <a:latin typeface="Times New Roman"/>
                <a:cs typeface="Times New Roman"/>
              </a:rPr>
              <a:t>g</a:t>
            </a:r>
            <a:r>
              <a:rPr sz="4800" spc="-185" dirty="0">
                <a:latin typeface="Times New Roman"/>
                <a:cs typeface="Times New Roman"/>
              </a:rPr>
              <a:t>ital</a:t>
            </a:r>
            <a:r>
              <a:rPr sz="4800" spc="-165" dirty="0">
                <a:latin typeface="Times New Roman"/>
                <a:cs typeface="Times New Roman"/>
              </a:rPr>
              <a:t> </a:t>
            </a:r>
            <a:r>
              <a:rPr sz="4800" spc="-280" dirty="0">
                <a:latin typeface="Times New Roman"/>
                <a:cs typeface="Times New Roman"/>
              </a:rPr>
              <a:t>Encoding</a:t>
            </a:r>
            <a:endParaRPr sz="4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1140" y="1361008"/>
            <a:ext cx="8568055" cy="19323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3825" indent="-111760">
              <a:lnSpc>
                <a:spcPct val="100000"/>
              </a:lnSpc>
              <a:spcBef>
                <a:spcPts val="105"/>
              </a:spcBef>
              <a:buChar char="•"/>
              <a:tabLst>
                <a:tab pos="124460" algn="l"/>
              </a:tabLst>
            </a:pPr>
            <a:r>
              <a:rPr sz="2000" spc="-100" dirty="0">
                <a:latin typeface="Times New Roman"/>
                <a:cs typeface="Times New Roman"/>
              </a:rPr>
              <a:t>The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100" dirty="0">
                <a:latin typeface="Times New Roman"/>
                <a:cs typeface="Times New Roman"/>
              </a:rPr>
              <a:t>binary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130" dirty="0">
                <a:latin typeface="Times New Roman"/>
                <a:cs typeface="Times New Roman"/>
              </a:rPr>
              <a:t>signals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75" dirty="0">
                <a:latin typeface="Times New Roman"/>
                <a:cs typeface="Times New Roman"/>
              </a:rPr>
              <a:t>created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150" dirty="0">
                <a:latin typeface="Times New Roman"/>
                <a:cs typeface="Times New Roman"/>
              </a:rPr>
              <a:t>by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95" dirty="0">
                <a:latin typeface="Times New Roman"/>
                <a:cs typeface="Times New Roman"/>
              </a:rPr>
              <a:t>your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70" dirty="0">
                <a:latin typeface="Times New Roman"/>
                <a:cs typeface="Times New Roman"/>
              </a:rPr>
              <a:t>computer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100" dirty="0">
                <a:latin typeface="Times New Roman"/>
                <a:cs typeface="Times New Roman"/>
              </a:rPr>
              <a:t>(DTE)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80" dirty="0">
                <a:latin typeface="Times New Roman"/>
                <a:cs typeface="Times New Roman"/>
              </a:rPr>
              <a:t>are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75" dirty="0">
                <a:latin typeface="Times New Roman"/>
                <a:cs typeface="Times New Roman"/>
              </a:rPr>
              <a:t>translated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spc="-60" dirty="0">
                <a:latin typeface="Times New Roman"/>
                <a:cs typeface="Times New Roman"/>
              </a:rPr>
              <a:t>into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155" dirty="0">
                <a:latin typeface="Times New Roman"/>
                <a:cs typeface="Times New Roman"/>
              </a:rPr>
              <a:t>a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100" dirty="0">
                <a:latin typeface="Times New Roman"/>
                <a:cs typeface="Times New Roman"/>
              </a:rPr>
              <a:t>sequence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120" dirty="0">
                <a:latin typeface="Times New Roman"/>
                <a:cs typeface="Times New Roman"/>
              </a:rPr>
              <a:t>of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10" dirty="0">
                <a:latin typeface="Times New Roman"/>
                <a:cs typeface="Times New Roman"/>
              </a:rPr>
              <a:t>voltage</a:t>
            </a:r>
            <a:endParaRPr sz="2000">
              <a:latin typeface="Times New Roman"/>
              <a:cs typeface="Times New Roman"/>
            </a:endParaRPr>
          </a:p>
          <a:p>
            <a:pPr marL="123825">
              <a:lnSpc>
                <a:spcPct val="100000"/>
              </a:lnSpc>
            </a:pPr>
            <a:r>
              <a:rPr sz="2000" spc="-110" dirty="0">
                <a:latin typeface="Times New Roman"/>
                <a:cs typeface="Times New Roman"/>
              </a:rPr>
              <a:t>pulses</a:t>
            </a:r>
            <a:r>
              <a:rPr sz="2000" spc="-65" dirty="0">
                <a:latin typeface="Times New Roman"/>
                <a:cs typeface="Times New Roman"/>
              </a:rPr>
              <a:t> that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125" dirty="0">
                <a:latin typeface="Times New Roman"/>
                <a:cs typeface="Times New Roman"/>
              </a:rPr>
              <a:t>can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90" dirty="0">
                <a:latin typeface="Times New Roman"/>
                <a:cs typeface="Times New Roman"/>
              </a:rPr>
              <a:t>be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75" dirty="0">
                <a:latin typeface="Times New Roman"/>
                <a:cs typeface="Times New Roman"/>
              </a:rPr>
              <a:t>sent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85" dirty="0">
                <a:latin typeface="Times New Roman"/>
                <a:cs typeface="Times New Roman"/>
              </a:rPr>
              <a:t>through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60" dirty="0">
                <a:latin typeface="Times New Roman"/>
                <a:cs typeface="Times New Roman"/>
              </a:rPr>
              <a:t>the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100" dirty="0">
                <a:latin typeface="Times New Roman"/>
                <a:cs typeface="Times New Roman"/>
              </a:rPr>
              <a:t>transmission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75" dirty="0">
                <a:latin typeface="Times New Roman"/>
                <a:cs typeface="Times New Roman"/>
              </a:rPr>
              <a:t>medium.</a:t>
            </a:r>
            <a:endParaRPr sz="2000">
              <a:latin typeface="Times New Roman"/>
              <a:cs typeface="Times New Roman"/>
            </a:endParaRPr>
          </a:p>
          <a:p>
            <a:pPr marL="123825" indent="-111760">
              <a:lnSpc>
                <a:spcPct val="100000"/>
              </a:lnSpc>
              <a:spcBef>
                <a:spcPts val="1010"/>
              </a:spcBef>
              <a:buChar char="•"/>
              <a:tabLst>
                <a:tab pos="124460" algn="l"/>
              </a:tabLst>
            </a:pPr>
            <a:r>
              <a:rPr sz="2000" spc="-135" dirty="0">
                <a:latin typeface="Times New Roman"/>
                <a:cs typeface="Times New Roman"/>
              </a:rPr>
              <a:t>Binary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130" dirty="0">
                <a:latin typeface="Times New Roman"/>
                <a:cs typeface="Times New Roman"/>
              </a:rPr>
              <a:t>signals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spc="-155" dirty="0">
                <a:latin typeface="Times New Roman"/>
                <a:cs typeface="Times New Roman"/>
              </a:rPr>
              <a:t>have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80" dirty="0">
                <a:latin typeface="Times New Roman"/>
                <a:cs typeface="Times New Roman"/>
              </a:rPr>
              <a:t>two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125" dirty="0">
                <a:latin typeface="Times New Roman"/>
                <a:cs typeface="Times New Roman"/>
              </a:rPr>
              <a:t>basic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65" dirty="0">
                <a:latin typeface="Times New Roman"/>
                <a:cs typeface="Times New Roman"/>
              </a:rPr>
              <a:t>parameters:</a:t>
            </a:r>
            <a:r>
              <a:rPr sz="2000" spc="-135" dirty="0">
                <a:latin typeface="Times New Roman"/>
                <a:cs typeface="Times New Roman"/>
              </a:rPr>
              <a:t> </a:t>
            </a:r>
            <a:r>
              <a:rPr sz="2000" spc="-90" dirty="0">
                <a:latin typeface="Times New Roman"/>
                <a:cs typeface="Times New Roman"/>
              </a:rPr>
              <a:t>amplitude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spc="-110" dirty="0">
                <a:latin typeface="Times New Roman"/>
                <a:cs typeface="Times New Roman"/>
              </a:rPr>
              <a:t>and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spc="-60" dirty="0">
                <a:latin typeface="Times New Roman"/>
                <a:cs typeface="Times New Roman"/>
              </a:rPr>
              <a:t>duration.</a:t>
            </a:r>
            <a:endParaRPr sz="2000">
              <a:latin typeface="Times New Roman"/>
              <a:cs typeface="Times New Roman"/>
            </a:endParaRPr>
          </a:p>
          <a:p>
            <a:pPr marL="123825" indent="-111760">
              <a:lnSpc>
                <a:spcPct val="100000"/>
              </a:lnSpc>
              <a:spcBef>
                <a:spcPts val="994"/>
              </a:spcBef>
              <a:buChar char="•"/>
              <a:tabLst>
                <a:tab pos="124460" algn="l"/>
              </a:tabLst>
            </a:pPr>
            <a:r>
              <a:rPr sz="2000" spc="-204" dirty="0">
                <a:latin typeface="Times New Roman"/>
                <a:cs typeface="Times New Roman"/>
              </a:rPr>
              <a:t>As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60" dirty="0">
                <a:latin typeface="Times New Roman"/>
                <a:cs typeface="Times New Roman"/>
              </a:rPr>
              <a:t>the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80" dirty="0">
                <a:latin typeface="Times New Roman"/>
                <a:cs typeface="Times New Roman"/>
              </a:rPr>
              <a:t>number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114" dirty="0">
                <a:latin typeface="Times New Roman"/>
                <a:cs typeface="Times New Roman"/>
              </a:rPr>
              <a:t>of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spc="-80" dirty="0">
                <a:latin typeface="Times New Roman"/>
                <a:cs typeface="Times New Roman"/>
              </a:rPr>
              <a:t>bits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70" dirty="0">
                <a:latin typeface="Times New Roman"/>
                <a:cs typeface="Times New Roman"/>
              </a:rPr>
              <a:t>sent</a:t>
            </a:r>
            <a:r>
              <a:rPr sz="2000" spc="-45" dirty="0">
                <a:latin typeface="Times New Roman"/>
                <a:cs typeface="Times New Roman"/>
              </a:rPr>
              <a:t> per</a:t>
            </a:r>
            <a:r>
              <a:rPr sz="2000" spc="-65" dirty="0">
                <a:latin typeface="Times New Roman"/>
                <a:cs typeface="Times New Roman"/>
              </a:rPr>
              <a:t> unit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114" dirty="0">
                <a:latin typeface="Times New Roman"/>
                <a:cs typeface="Times New Roman"/>
              </a:rPr>
              <a:t>of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65" dirty="0">
                <a:latin typeface="Times New Roman"/>
                <a:cs typeface="Times New Roman"/>
              </a:rPr>
              <a:t>time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85" dirty="0">
                <a:latin typeface="Times New Roman"/>
                <a:cs typeface="Times New Roman"/>
              </a:rPr>
              <a:t>increases,</a:t>
            </a:r>
            <a:r>
              <a:rPr sz="2000" spc="-114" dirty="0">
                <a:latin typeface="Times New Roman"/>
                <a:cs typeface="Times New Roman"/>
              </a:rPr>
              <a:t> </a:t>
            </a:r>
            <a:r>
              <a:rPr sz="2000" spc="-60" dirty="0">
                <a:latin typeface="Times New Roman"/>
                <a:cs typeface="Times New Roman"/>
              </a:rPr>
              <a:t>the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60" dirty="0">
                <a:latin typeface="Times New Roman"/>
                <a:cs typeface="Times New Roman"/>
              </a:rPr>
              <a:t>bit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75" dirty="0">
                <a:latin typeface="Times New Roman"/>
                <a:cs typeface="Times New Roman"/>
              </a:rPr>
              <a:t>duration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spc="-85" dirty="0">
                <a:latin typeface="Times New Roman"/>
                <a:cs typeface="Times New Roman"/>
              </a:rPr>
              <a:t>decreases.</a:t>
            </a:r>
            <a:endParaRPr sz="2000">
              <a:latin typeface="Times New Roman"/>
              <a:cs typeface="Times New Roman"/>
            </a:endParaRPr>
          </a:p>
          <a:p>
            <a:pPr marL="123825" indent="-111760">
              <a:lnSpc>
                <a:spcPct val="100000"/>
              </a:lnSpc>
              <a:spcBef>
                <a:spcPts val="1000"/>
              </a:spcBef>
              <a:buChar char="•"/>
              <a:tabLst>
                <a:tab pos="124460" algn="l"/>
              </a:tabLst>
            </a:pPr>
            <a:r>
              <a:rPr sz="2000" spc="-100" dirty="0">
                <a:latin typeface="Times New Roman"/>
                <a:cs typeface="Times New Roman"/>
              </a:rPr>
              <a:t>The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imes New Roman"/>
                <a:cs typeface="Times New Roman"/>
              </a:rPr>
              <a:t>three </a:t>
            </a:r>
            <a:r>
              <a:rPr sz="2000" spc="-85" dirty="0">
                <a:latin typeface="Times New Roman"/>
                <a:cs typeface="Times New Roman"/>
              </a:rPr>
              <a:t>most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105" dirty="0">
                <a:latin typeface="Times New Roman"/>
                <a:cs typeface="Times New Roman"/>
              </a:rPr>
              <a:t>common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90" dirty="0">
                <a:latin typeface="Times New Roman"/>
                <a:cs typeface="Times New Roman"/>
              </a:rPr>
              <a:t>methods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spc="-120" dirty="0">
                <a:latin typeface="Times New Roman"/>
                <a:cs typeface="Times New Roman"/>
              </a:rPr>
              <a:t>of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105" dirty="0">
                <a:latin typeface="Times New Roman"/>
                <a:cs typeface="Times New Roman"/>
              </a:rPr>
              <a:t>encoding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100" dirty="0">
                <a:latin typeface="Times New Roman"/>
                <a:cs typeface="Times New Roman"/>
              </a:rPr>
              <a:t>used</a:t>
            </a:r>
            <a:r>
              <a:rPr sz="2000" spc="-55" dirty="0">
                <a:latin typeface="Times New Roman"/>
                <a:cs typeface="Times New Roman"/>
              </a:rPr>
              <a:t> are:</a:t>
            </a:r>
            <a:r>
              <a:rPr sz="2000" spc="-135" dirty="0">
                <a:latin typeface="Times New Roman"/>
                <a:cs typeface="Times New Roman"/>
              </a:rPr>
              <a:t> </a:t>
            </a:r>
            <a:r>
              <a:rPr sz="2000" i="1" spc="-175" dirty="0">
                <a:latin typeface="Times New Roman"/>
                <a:cs typeface="Times New Roman"/>
              </a:rPr>
              <a:t>unipolar</a:t>
            </a:r>
            <a:r>
              <a:rPr sz="2000" i="1" spc="-75" dirty="0">
                <a:latin typeface="Times New Roman"/>
                <a:cs typeface="Times New Roman"/>
              </a:rPr>
              <a:t> </a:t>
            </a:r>
            <a:r>
              <a:rPr sz="2000" spc="85" dirty="0">
                <a:latin typeface="Times New Roman"/>
                <a:cs typeface="Times New Roman"/>
              </a:rPr>
              <a:t>,</a:t>
            </a:r>
            <a:r>
              <a:rPr sz="2000" spc="-130" dirty="0">
                <a:latin typeface="Times New Roman"/>
                <a:cs typeface="Times New Roman"/>
              </a:rPr>
              <a:t> </a:t>
            </a:r>
            <a:r>
              <a:rPr sz="2000" i="1" spc="-200" dirty="0">
                <a:latin typeface="Times New Roman"/>
                <a:cs typeface="Times New Roman"/>
              </a:rPr>
              <a:t>polar</a:t>
            </a:r>
            <a:r>
              <a:rPr sz="2000" i="1" spc="-80" dirty="0">
                <a:latin typeface="Times New Roman"/>
                <a:cs typeface="Times New Roman"/>
              </a:rPr>
              <a:t> </a:t>
            </a:r>
            <a:r>
              <a:rPr sz="2000" spc="85" dirty="0">
                <a:latin typeface="Times New Roman"/>
                <a:cs typeface="Times New Roman"/>
              </a:rPr>
              <a:t>,</a:t>
            </a:r>
            <a:r>
              <a:rPr sz="2000" spc="-130" dirty="0">
                <a:latin typeface="Times New Roman"/>
                <a:cs typeface="Times New Roman"/>
              </a:rPr>
              <a:t> </a:t>
            </a:r>
            <a:r>
              <a:rPr sz="2000" spc="-110" dirty="0">
                <a:latin typeface="Times New Roman"/>
                <a:cs typeface="Times New Roman"/>
              </a:rPr>
              <a:t>and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i="1" spc="-195" dirty="0">
                <a:latin typeface="Times New Roman"/>
                <a:cs typeface="Times New Roman"/>
              </a:rPr>
              <a:t>bipolar</a:t>
            </a:r>
            <a:r>
              <a:rPr sz="2000" i="1" spc="-85" dirty="0">
                <a:latin typeface="Times New Roman"/>
                <a:cs typeface="Times New Roman"/>
              </a:rPr>
              <a:t> </a:t>
            </a:r>
            <a:r>
              <a:rPr sz="2000" spc="85" dirty="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3648" y="4190936"/>
            <a:ext cx="8345424" cy="1532001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642569"/>
            <a:ext cx="470408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80" dirty="0"/>
              <a:t>UNIPOLAR</a:t>
            </a:r>
            <a:r>
              <a:rPr sz="4000" spc="-65" dirty="0"/>
              <a:t> </a:t>
            </a:r>
            <a:r>
              <a:rPr sz="4000" spc="-5" dirty="0"/>
              <a:t>ENCODING</a:t>
            </a:r>
            <a:endParaRPr sz="4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9387" y="1710085"/>
            <a:ext cx="7754436" cy="222327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85800" y="4419600"/>
            <a:ext cx="7543800" cy="1247775"/>
          </a:xfrm>
          <a:prstGeom prst="rect">
            <a:avLst/>
          </a:prstGeom>
          <a:ln w="57150">
            <a:solidFill>
              <a:srgbClr val="FF0066"/>
            </a:solidFill>
          </a:ln>
        </p:spPr>
        <p:txBody>
          <a:bodyPr vert="horz" wrap="square" lIns="0" tIns="635" rIns="0" bIns="0" rtlCol="0">
            <a:spAutoFit/>
          </a:bodyPr>
          <a:lstStyle/>
          <a:p>
            <a:pPr marL="3309620" marR="203835" indent="-3098800">
              <a:lnSpc>
                <a:spcPts val="4320"/>
              </a:lnSpc>
              <a:spcBef>
                <a:spcPts val="5"/>
              </a:spcBef>
            </a:pPr>
            <a:r>
              <a:rPr sz="3600" b="1" i="1" spc="-50" dirty="0">
                <a:latin typeface="Times New Roman"/>
                <a:cs typeface="Times New Roman"/>
              </a:rPr>
              <a:t>Unipo</a:t>
            </a:r>
            <a:r>
              <a:rPr sz="3600" b="1" i="1" spc="-45" dirty="0">
                <a:latin typeface="Times New Roman"/>
                <a:cs typeface="Times New Roman"/>
              </a:rPr>
              <a:t>l</a:t>
            </a:r>
            <a:r>
              <a:rPr sz="3600" b="1" i="1" spc="-10" dirty="0">
                <a:latin typeface="Times New Roman"/>
                <a:cs typeface="Times New Roman"/>
              </a:rPr>
              <a:t>ar</a:t>
            </a:r>
            <a:r>
              <a:rPr sz="3600" b="1" i="1" spc="-85" dirty="0">
                <a:latin typeface="Times New Roman"/>
                <a:cs typeface="Times New Roman"/>
              </a:rPr>
              <a:t> </a:t>
            </a:r>
            <a:r>
              <a:rPr sz="3600" b="1" i="1" spc="-140" dirty="0">
                <a:latin typeface="Times New Roman"/>
                <a:cs typeface="Times New Roman"/>
              </a:rPr>
              <a:t>encoding</a:t>
            </a:r>
            <a:r>
              <a:rPr sz="3600" b="1" i="1" spc="-80" dirty="0">
                <a:latin typeface="Times New Roman"/>
                <a:cs typeface="Times New Roman"/>
              </a:rPr>
              <a:t> </a:t>
            </a:r>
            <a:r>
              <a:rPr sz="3600" b="1" i="1" spc="-160" dirty="0">
                <a:latin typeface="Times New Roman"/>
                <a:cs typeface="Times New Roman"/>
              </a:rPr>
              <a:t>uses</a:t>
            </a:r>
            <a:r>
              <a:rPr sz="3600" b="1" i="1" spc="-90" dirty="0">
                <a:latin typeface="Times New Roman"/>
                <a:cs typeface="Times New Roman"/>
              </a:rPr>
              <a:t> </a:t>
            </a:r>
            <a:r>
              <a:rPr sz="3600" b="1" i="1" spc="-170" dirty="0">
                <a:latin typeface="Times New Roman"/>
                <a:cs typeface="Times New Roman"/>
              </a:rPr>
              <a:t>on</a:t>
            </a:r>
            <a:r>
              <a:rPr sz="3600" b="1" i="1" spc="-155" dirty="0">
                <a:latin typeface="Times New Roman"/>
                <a:cs typeface="Times New Roman"/>
              </a:rPr>
              <a:t>l</a:t>
            </a:r>
            <a:r>
              <a:rPr sz="3600" b="1" i="1" spc="-140" dirty="0">
                <a:latin typeface="Times New Roman"/>
                <a:cs typeface="Times New Roman"/>
              </a:rPr>
              <a:t>y</a:t>
            </a:r>
            <a:r>
              <a:rPr sz="3600" b="1" i="1" spc="-90" dirty="0">
                <a:latin typeface="Times New Roman"/>
                <a:cs typeface="Times New Roman"/>
              </a:rPr>
              <a:t> </a:t>
            </a:r>
            <a:r>
              <a:rPr sz="3600" b="1" i="1" spc="-190" dirty="0">
                <a:latin typeface="Times New Roman"/>
                <a:cs typeface="Times New Roman"/>
              </a:rPr>
              <a:t>one</a:t>
            </a:r>
            <a:r>
              <a:rPr sz="3600" b="1" i="1" spc="-80" dirty="0">
                <a:latin typeface="Times New Roman"/>
                <a:cs typeface="Times New Roman"/>
              </a:rPr>
              <a:t> </a:t>
            </a:r>
            <a:r>
              <a:rPr sz="3600" b="1" i="1" spc="-175" dirty="0">
                <a:latin typeface="Times New Roman"/>
                <a:cs typeface="Times New Roman"/>
              </a:rPr>
              <a:t>v</a:t>
            </a:r>
            <a:r>
              <a:rPr sz="3600" b="1" i="1" spc="-20" dirty="0">
                <a:latin typeface="Times New Roman"/>
                <a:cs typeface="Times New Roman"/>
              </a:rPr>
              <a:t>olt</a:t>
            </a:r>
            <a:r>
              <a:rPr sz="3600" b="1" i="1" spc="-114" dirty="0">
                <a:latin typeface="Times New Roman"/>
                <a:cs typeface="Times New Roman"/>
              </a:rPr>
              <a:t>a</a:t>
            </a:r>
            <a:r>
              <a:rPr sz="3600" b="1" i="1" spc="-150" dirty="0">
                <a:latin typeface="Times New Roman"/>
                <a:cs typeface="Times New Roman"/>
              </a:rPr>
              <a:t>g</a:t>
            </a:r>
            <a:r>
              <a:rPr sz="3600" b="1" i="1" spc="-100" dirty="0">
                <a:latin typeface="Times New Roman"/>
                <a:cs typeface="Times New Roman"/>
              </a:rPr>
              <a:t>e  </a:t>
            </a:r>
            <a:r>
              <a:rPr sz="3600" b="1" i="1" spc="-70" dirty="0">
                <a:latin typeface="Times New Roman"/>
                <a:cs typeface="Times New Roman"/>
              </a:rPr>
              <a:t>level.</a:t>
            </a:r>
            <a:endParaRPr sz="3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688974"/>
            <a:ext cx="508952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i="1" spc="-260" dirty="0">
                <a:solidFill>
                  <a:srgbClr val="000000"/>
                </a:solidFill>
                <a:latin typeface="Arial"/>
                <a:cs typeface="Arial"/>
              </a:rPr>
              <a:t>L</a:t>
            </a:r>
            <a:r>
              <a:rPr sz="4000" b="1" i="1" spc="-229" dirty="0">
                <a:solidFill>
                  <a:srgbClr val="000000"/>
                </a:solidFill>
                <a:latin typeface="Arial"/>
                <a:cs typeface="Arial"/>
              </a:rPr>
              <a:t>a</a:t>
            </a:r>
            <a:r>
              <a:rPr sz="4000" b="1" i="1" spc="-355" dirty="0">
                <a:solidFill>
                  <a:srgbClr val="000000"/>
                </a:solidFill>
                <a:latin typeface="Arial"/>
                <a:cs typeface="Arial"/>
              </a:rPr>
              <a:t>c</a:t>
            </a:r>
            <a:r>
              <a:rPr sz="4000" b="1" i="1" spc="-270" dirty="0">
                <a:solidFill>
                  <a:srgbClr val="000000"/>
                </a:solidFill>
                <a:latin typeface="Arial"/>
                <a:cs typeface="Arial"/>
              </a:rPr>
              <a:t>k</a:t>
            </a:r>
            <a:r>
              <a:rPr sz="4000" b="1" i="1" spc="-13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4000" b="1" i="1" spc="-250" dirty="0">
                <a:solidFill>
                  <a:srgbClr val="000000"/>
                </a:solidFill>
                <a:latin typeface="Arial"/>
                <a:cs typeface="Arial"/>
              </a:rPr>
              <a:t>of</a:t>
            </a:r>
            <a:r>
              <a:rPr sz="4000" b="1" i="1" spc="-9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4000" b="1" i="1" spc="-375" dirty="0">
                <a:solidFill>
                  <a:srgbClr val="000000"/>
                </a:solidFill>
                <a:latin typeface="Arial"/>
                <a:cs typeface="Arial"/>
              </a:rPr>
              <a:t>s</a:t>
            </a:r>
            <a:r>
              <a:rPr sz="4000" b="1" i="1" spc="-340" dirty="0">
                <a:solidFill>
                  <a:srgbClr val="000000"/>
                </a:solidFill>
                <a:latin typeface="Arial"/>
                <a:cs typeface="Arial"/>
              </a:rPr>
              <a:t>ync</a:t>
            </a:r>
            <a:r>
              <a:rPr sz="4000" b="1" i="1" spc="-380" dirty="0">
                <a:solidFill>
                  <a:srgbClr val="000000"/>
                </a:solidFill>
                <a:latin typeface="Arial"/>
                <a:cs typeface="Arial"/>
              </a:rPr>
              <a:t>h</a:t>
            </a:r>
            <a:r>
              <a:rPr sz="4000" b="1" i="1" spc="-290" dirty="0">
                <a:solidFill>
                  <a:srgbClr val="000000"/>
                </a:solidFill>
                <a:latin typeface="Arial"/>
                <a:cs typeface="Arial"/>
              </a:rPr>
              <a:t>ron</a:t>
            </a:r>
            <a:r>
              <a:rPr sz="4000" b="1" i="1" spc="-165" dirty="0">
                <a:solidFill>
                  <a:srgbClr val="000000"/>
                </a:solidFill>
                <a:latin typeface="Arial"/>
                <a:cs typeface="Arial"/>
              </a:rPr>
              <a:t>i</a:t>
            </a:r>
            <a:r>
              <a:rPr sz="4000" b="1" i="1" spc="-200" dirty="0">
                <a:solidFill>
                  <a:srgbClr val="000000"/>
                </a:solidFill>
                <a:latin typeface="Arial"/>
                <a:cs typeface="Arial"/>
              </a:rPr>
              <a:t>z</a:t>
            </a:r>
            <a:r>
              <a:rPr sz="4000" b="1" i="1" spc="-210" dirty="0">
                <a:solidFill>
                  <a:srgbClr val="000000"/>
                </a:solidFill>
                <a:latin typeface="Arial"/>
                <a:cs typeface="Arial"/>
              </a:rPr>
              <a:t>a</a:t>
            </a:r>
            <a:r>
              <a:rPr sz="4000" b="1" i="1" spc="-170" dirty="0">
                <a:solidFill>
                  <a:srgbClr val="000000"/>
                </a:solidFill>
                <a:latin typeface="Arial"/>
                <a:cs typeface="Arial"/>
              </a:rPr>
              <a:t>ti</a:t>
            </a:r>
            <a:r>
              <a:rPr sz="4000" b="1" i="1" spc="-330" dirty="0">
                <a:solidFill>
                  <a:srgbClr val="000000"/>
                </a:solidFill>
                <a:latin typeface="Arial"/>
                <a:cs typeface="Arial"/>
              </a:rPr>
              <a:t>o</a:t>
            </a:r>
            <a:r>
              <a:rPr sz="4000" b="1" i="1" spc="-254" dirty="0">
                <a:solidFill>
                  <a:srgbClr val="000000"/>
                </a:solidFill>
                <a:latin typeface="Arial"/>
                <a:cs typeface="Arial"/>
              </a:rPr>
              <a:t>n</a:t>
            </a:r>
            <a:endParaRPr sz="40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9357" y="2014428"/>
            <a:ext cx="5723760" cy="4037266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688974"/>
            <a:ext cx="393128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35" dirty="0"/>
              <a:t>POLAR</a:t>
            </a:r>
            <a:r>
              <a:rPr sz="4000" spc="-50" dirty="0"/>
              <a:t> </a:t>
            </a:r>
            <a:r>
              <a:rPr sz="4000" spc="-10" dirty="0"/>
              <a:t>ENCODING</a:t>
            </a:r>
            <a:endParaRPr sz="4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800" y="2285873"/>
            <a:ext cx="7772400" cy="1751076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657225" y="4779264"/>
            <a:ext cx="7600950" cy="1554480"/>
            <a:chOff x="657225" y="4779264"/>
            <a:chExt cx="7600950" cy="1554480"/>
          </a:xfrm>
        </p:grpSpPr>
        <p:sp>
          <p:nvSpPr>
            <p:cNvPr id="5" name="object 5"/>
            <p:cNvSpPr/>
            <p:nvPr/>
          </p:nvSpPr>
          <p:spPr>
            <a:xfrm>
              <a:off x="685800" y="4876800"/>
              <a:ext cx="7543800" cy="1247775"/>
            </a:xfrm>
            <a:custGeom>
              <a:avLst/>
              <a:gdLst/>
              <a:ahLst/>
              <a:cxnLst/>
              <a:rect l="l" t="t" r="r" b="b"/>
              <a:pathLst>
                <a:path w="7543800" h="1247775">
                  <a:moveTo>
                    <a:pt x="0" y="1247775"/>
                  </a:moveTo>
                  <a:lnTo>
                    <a:pt x="7543800" y="1247775"/>
                  </a:lnTo>
                  <a:lnTo>
                    <a:pt x="7543800" y="0"/>
                  </a:lnTo>
                  <a:lnTo>
                    <a:pt x="0" y="0"/>
                  </a:lnTo>
                  <a:lnTo>
                    <a:pt x="0" y="1247775"/>
                  </a:lnTo>
                  <a:close/>
                </a:path>
              </a:pathLst>
            </a:custGeom>
            <a:ln w="57150">
              <a:solidFill>
                <a:srgbClr val="FF00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36676" y="4779264"/>
              <a:ext cx="7374635" cy="100584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68067" y="5327904"/>
              <a:ext cx="4806696" cy="1005840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1106830" y="4846777"/>
            <a:ext cx="6703059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43965" marR="5080" indent="-1231900">
              <a:lnSpc>
                <a:spcPct val="100000"/>
              </a:lnSpc>
              <a:spcBef>
                <a:spcPts val="100"/>
              </a:spcBef>
            </a:pPr>
            <a:r>
              <a:rPr sz="3600" b="1" i="1" spc="-280" dirty="0">
                <a:latin typeface="Times New Roman"/>
                <a:cs typeface="Times New Roman"/>
              </a:rPr>
              <a:t>P</a:t>
            </a:r>
            <a:r>
              <a:rPr sz="3600" b="1" i="1" spc="-70" dirty="0">
                <a:latin typeface="Times New Roman"/>
                <a:cs typeface="Times New Roman"/>
              </a:rPr>
              <a:t>olar</a:t>
            </a:r>
            <a:r>
              <a:rPr sz="3600" b="1" i="1" spc="-90" dirty="0">
                <a:latin typeface="Times New Roman"/>
                <a:cs typeface="Times New Roman"/>
              </a:rPr>
              <a:t> </a:t>
            </a:r>
            <a:r>
              <a:rPr sz="3600" b="1" i="1" spc="-150" dirty="0">
                <a:latin typeface="Times New Roman"/>
                <a:cs typeface="Times New Roman"/>
              </a:rPr>
              <a:t>encodi</a:t>
            </a:r>
            <a:r>
              <a:rPr sz="3600" b="1" i="1" spc="-195" dirty="0">
                <a:latin typeface="Times New Roman"/>
                <a:cs typeface="Times New Roman"/>
              </a:rPr>
              <a:t>n</a:t>
            </a:r>
            <a:r>
              <a:rPr sz="3600" b="1" i="1" spc="-35" dirty="0">
                <a:latin typeface="Times New Roman"/>
                <a:cs typeface="Times New Roman"/>
              </a:rPr>
              <a:t>g</a:t>
            </a:r>
            <a:r>
              <a:rPr sz="3600" b="1" i="1" spc="-95" dirty="0">
                <a:latin typeface="Times New Roman"/>
                <a:cs typeface="Times New Roman"/>
              </a:rPr>
              <a:t> </a:t>
            </a:r>
            <a:r>
              <a:rPr sz="3600" b="1" i="1" spc="-160" dirty="0">
                <a:latin typeface="Times New Roman"/>
                <a:cs typeface="Times New Roman"/>
              </a:rPr>
              <a:t>uses</a:t>
            </a:r>
            <a:r>
              <a:rPr sz="3600" b="1" i="1" spc="-90" dirty="0">
                <a:latin typeface="Times New Roman"/>
                <a:cs typeface="Times New Roman"/>
              </a:rPr>
              <a:t> </a:t>
            </a:r>
            <a:r>
              <a:rPr sz="3600" b="1" i="1" spc="25" dirty="0">
                <a:latin typeface="Times New Roman"/>
                <a:cs typeface="Times New Roman"/>
              </a:rPr>
              <a:t>t</a:t>
            </a:r>
            <a:r>
              <a:rPr sz="3600" b="1" i="1" spc="45" dirty="0">
                <a:latin typeface="Times New Roman"/>
                <a:cs typeface="Times New Roman"/>
              </a:rPr>
              <a:t>w</a:t>
            </a:r>
            <a:r>
              <a:rPr sz="3600" b="1" i="1" spc="-265" dirty="0">
                <a:latin typeface="Times New Roman"/>
                <a:cs typeface="Times New Roman"/>
              </a:rPr>
              <a:t>o</a:t>
            </a:r>
            <a:r>
              <a:rPr sz="3600" b="1" i="1" spc="-90" dirty="0">
                <a:latin typeface="Times New Roman"/>
                <a:cs typeface="Times New Roman"/>
              </a:rPr>
              <a:t> </a:t>
            </a:r>
            <a:r>
              <a:rPr sz="3600" b="1" i="1" spc="-175" dirty="0">
                <a:latin typeface="Times New Roman"/>
                <a:cs typeface="Times New Roman"/>
              </a:rPr>
              <a:t>v</a:t>
            </a:r>
            <a:r>
              <a:rPr sz="3600" b="1" i="1" spc="-20" dirty="0">
                <a:latin typeface="Times New Roman"/>
                <a:cs typeface="Times New Roman"/>
              </a:rPr>
              <a:t>olt</a:t>
            </a:r>
            <a:r>
              <a:rPr sz="3600" b="1" i="1" spc="-114" dirty="0">
                <a:latin typeface="Times New Roman"/>
                <a:cs typeface="Times New Roman"/>
              </a:rPr>
              <a:t>a</a:t>
            </a:r>
            <a:r>
              <a:rPr sz="3600" b="1" i="1" spc="-145" dirty="0">
                <a:latin typeface="Times New Roman"/>
                <a:cs typeface="Times New Roman"/>
              </a:rPr>
              <a:t>g</a:t>
            </a:r>
            <a:r>
              <a:rPr sz="3600" b="1" i="1" spc="-140" dirty="0">
                <a:latin typeface="Times New Roman"/>
                <a:cs typeface="Times New Roman"/>
              </a:rPr>
              <a:t>e</a:t>
            </a:r>
            <a:r>
              <a:rPr sz="3600" b="1" i="1" spc="-90" dirty="0">
                <a:latin typeface="Times New Roman"/>
                <a:cs typeface="Times New Roman"/>
              </a:rPr>
              <a:t> </a:t>
            </a:r>
            <a:r>
              <a:rPr sz="3600" b="1" i="1" spc="-50" dirty="0">
                <a:latin typeface="Times New Roman"/>
                <a:cs typeface="Times New Roman"/>
              </a:rPr>
              <a:t>l</a:t>
            </a:r>
            <a:r>
              <a:rPr sz="3600" b="1" i="1" spc="-140" dirty="0">
                <a:latin typeface="Times New Roman"/>
                <a:cs typeface="Times New Roman"/>
              </a:rPr>
              <a:t>ev</a:t>
            </a:r>
            <a:r>
              <a:rPr sz="3600" b="1" i="1" spc="-85" dirty="0">
                <a:latin typeface="Times New Roman"/>
                <a:cs typeface="Times New Roman"/>
              </a:rPr>
              <a:t>els  </a:t>
            </a:r>
            <a:r>
              <a:rPr sz="3600" b="1" i="1" spc="-40" dirty="0">
                <a:latin typeface="Times New Roman"/>
                <a:cs typeface="Times New Roman"/>
              </a:rPr>
              <a:t>(positive</a:t>
            </a:r>
            <a:r>
              <a:rPr sz="3600" b="1" i="1" spc="-85" dirty="0">
                <a:latin typeface="Times New Roman"/>
                <a:cs typeface="Times New Roman"/>
              </a:rPr>
              <a:t> </a:t>
            </a:r>
            <a:r>
              <a:rPr sz="3600" b="1" i="1" spc="-70" dirty="0">
                <a:latin typeface="Times New Roman"/>
                <a:cs typeface="Times New Roman"/>
              </a:rPr>
              <a:t>and</a:t>
            </a:r>
            <a:r>
              <a:rPr sz="3600" b="1" i="1" spc="-95" dirty="0">
                <a:latin typeface="Times New Roman"/>
                <a:cs typeface="Times New Roman"/>
              </a:rPr>
              <a:t> </a:t>
            </a:r>
            <a:r>
              <a:rPr sz="3600" b="1" i="1" spc="-45" dirty="0">
                <a:latin typeface="Times New Roman"/>
                <a:cs typeface="Times New Roman"/>
              </a:rPr>
              <a:t>negative).</a:t>
            </a:r>
            <a:endParaRPr sz="3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8340" y="418541"/>
            <a:ext cx="215709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350" dirty="0">
                <a:latin typeface="Times New Roman"/>
                <a:cs typeface="Times New Roman"/>
              </a:rPr>
              <a:t>Ma</a:t>
            </a:r>
            <a:r>
              <a:rPr sz="4000" spc="-254" dirty="0">
                <a:latin typeface="Times New Roman"/>
                <a:cs typeface="Times New Roman"/>
              </a:rPr>
              <a:t>n</a:t>
            </a:r>
            <a:r>
              <a:rPr sz="4000" spc="-165" dirty="0">
                <a:latin typeface="Times New Roman"/>
                <a:cs typeface="Times New Roman"/>
              </a:rPr>
              <a:t>c</a:t>
            </a:r>
            <a:r>
              <a:rPr sz="4000" spc="-160" dirty="0">
                <a:latin typeface="Times New Roman"/>
                <a:cs typeface="Times New Roman"/>
              </a:rPr>
              <a:t>hest</a:t>
            </a:r>
            <a:r>
              <a:rPr sz="4000" spc="-190" dirty="0">
                <a:latin typeface="Times New Roman"/>
                <a:cs typeface="Times New Roman"/>
              </a:rPr>
              <a:t>e</a:t>
            </a:r>
            <a:r>
              <a:rPr sz="4000" spc="40" dirty="0">
                <a:latin typeface="Times New Roman"/>
                <a:cs typeface="Times New Roman"/>
              </a:rPr>
              <a:t>r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09600" y="1829435"/>
            <a:ext cx="7696200" cy="4495165"/>
          </a:xfrm>
          <a:custGeom>
            <a:avLst/>
            <a:gdLst/>
            <a:ahLst/>
            <a:cxnLst/>
            <a:rect l="l" t="t" r="r" b="b"/>
            <a:pathLst>
              <a:path w="7696200" h="4495165">
                <a:moveTo>
                  <a:pt x="0" y="122809"/>
                </a:moveTo>
                <a:lnTo>
                  <a:pt x="9654" y="75009"/>
                </a:lnTo>
                <a:lnTo>
                  <a:pt x="35982" y="35972"/>
                </a:lnTo>
                <a:lnTo>
                  <a:pt x="75030" y="9651"/>
                </a:lnTo>
                <a:lnTo>
                  <a:pt x="122847" y="0"/>
                </a:lnTo>
                <a:lnTo>
                  <a:pt x="7573391" y="0"/>
                </a:lnTo>
                <a:lnTo>
                  <a:pt x="7621190" y="9651"/>
                </a:lnTo>
                <a:lnTo>
                  <a:pt x="7660227" y="35972"/>
                </a:lnTo>
                <a:lnTo>
                  <a:pt x="7686548" y="75009"/>
                </a:lnTo>
                <a:lnTo>
                  <a:pt x="7696200" y="122809"/>
                </a:lnTo>
                <a:lnTo>
                  <a:pt x="7696200" y="614172"/>
                </a:lnTo>
                <a:lnTo>
                  <a:pt x="7686548" y="662045"/>
                </a:lnTo>
                <a:lnTo>
                  <a:pt x="7660227" y="701119"/>
                </a:lnTo>
                <a:lnTo>
                  <a:pt x="7621190" y="727454"/>
                </a:lnTo>
                <a:lnTo>
                  <a:pt x="7573391" y="737107"/>
                </a:lnTo>
                <a:lnTo>
                  <a:pt x="122847" y="737107"/>
                </a:lnTo>
                <a:lnTo>
                  <a:pt x="75030" y="727454"/>
                </a:lnTo>
                <a:lnTo>
                  <a:pt x="35982" y="701119"/>
                </a:lnTo>
                <a:lnTo>
                  <a:pt x="9654" y="662045"/>
                </a:lnTo>
                <a:lnTo>
                  <a:pt x="0" y="614172"/>
                </a:lnTo>
                <a:lnTo>
                  <a:pt x="0" y="122809"/>
                </a:lnTo>
                <a:close/>
              </a:path>
              <a:path w="7696200" h="4495165">
                <a:moveTo>
                  <a:pt x="0" y="874267"/>
                </a:moveTo>
                <a:lnTo>
                  <a:pt x="9654" y="826468"/>
                </a:lnTo>
                <a:lnTo>
                  <a:pt x="35982" y="787431"/>
                </a:lnTo>
                <a:lnTo>
                  <a:pt x="75030" y="761111"/>
                </a:lnTo>
                <a:lnTo>
                  <a:pt x="122847" y="751459"/>
                </a:lnTo>
                <a:lnTo>
                  <a:pt x="7573391" y="751459"/>
                </a:lnTo>
                <a:lnTo>
                  <a:pt x="7621190" y="761111"/>
                </a:lnTo>
                <a:lnTo>
                  <a:pt x="7660227" y="787431"/>
                </a:lnTo>
                <a:lnTo>
                  <a:pt x="7686548" y="826468"/>
                </a:lnTo>
                <a:lnTo>
                  <a:pt x="7696200" y="874267"/>
                </a:lnTo>
                <a:lnTo>
                  <a:pt x="7696200" y="1365757"/>
                </a:lnTo>
                <a:lnTo>
                  <a:pt x="7686548" y="1413557"/>
                </a:lnTo>
                <a:lnTo>
                  <a:pt x="7660227" y="1452594"/>
                </a:lnTo>
                <a:lnTo>
                  <a:pt x="7621190" y="1478914"/>
                </a:lnTo>
                <a:lnTo>
                  <a:pt x="7573391" y="1488566"/>
                </a:lnTo>
                <a:lnTo>
                  <a:pt x="122847" y="1488566"/>
                </a:lnTo>
                <a:lnTo>
                  <a:pt x="75030" y="1478914"/>
                </a:lnTo>
                <a:lnTo>
                  <a:pt x="35982" y="1452594"/>
                </a:lnTo>
                <a:lnTo>
                  <a:pt x="9654" y="1413557"/>
                </a:lnTo>
                <a:lnTo>
                  <a:pt x="0" y="1365757"/>
                </a:lnTo>
                <a:lnTo>
                  <a:pt x="0" y="874267"/>
                </a:lnTo>
                <a:close/>
              </a:path>
              <a:path w="7696200" h="4495165">
                <a:moveTo>
                  <a:pt x="0" y="1625853"/>
                </a:moveTo>
                <a:lnTo>
                  <a:pt x="9654" y="1577980"/>
                </a:lnTo>
                <a:lnTo>
                  <a:pt x="35982" y="1538906"/>
                </a:lnTo>
                <a:lnTo>
                  <a:pt x="75030" y="1512571"/>
                </a:lnTo>
                <a:lnTo>
                  <a:pt x="122847" y="1502917"/>
                </a:lnTo>
                <a:lnTo>
                  <a:pt x="7573391" y="1502917"/>
                </a:lnTo>
                <a:lnTo>
                  <a:pt x="7621190" y="1512571"/>
                </a:lnTo>
                <a:lnTo>
                  <a:pt x="7660227" y="1538906"/>
                </a:lnTo>
                <a:lnTo>
                  <a:pt x="7686548" y="1577980"/>
                </a:lnTo>
                <a:lnTo>
                  <a:pt x="7696200" y="1625853"/>
                </a:lnTo>
                <a:lnTo>
                  <a:pt x="7696200" y="2117216"/>
                </a:lnTo>
                <a:lnTo>
                  <a:pt x="7686548" y="2165016"/>
                </a:lnTo>
                <a:lnTo>
                  <a:pt x="7660227" y="2204053"/>
                </a:lnTo>
                <a:lnTo>
                  <a:pt x="7621190" y="2230374"/>
                </a:lnTo>
                <a:lnTo>
                  <a:pt x="7573391" y="2240026"/>
                </a:lnTo>
                <a:lnTo>
                  <a:pt x="122847" y="2240026"/>
                </a:lnTo>
                <a:lnTo>
                  <a:pt x="75030" y="2230374"/>
                </a:lnTo>
                <a:lnTo>
                  <a:pt x="35982" y="2204053"/>
                </a:lnTo>
                <a:lnTo>
                  <a:pt x="9654" y="2165016"/>
                </a:lnTo>
                <a:lnTo>
                  <a:pt x="0" y="2117216"/>
                </a:lnTo>
                <a:lnTo>
                  <a:pt x="0" y="1625853"/>
                </a:lnTo>
                <a:close/>
              </a:path>
              <a:path w="7696200" h="4495165">
                <a:moveTo>
                  <a:pt x="0" y="2377313"/>
                </a:moveTo>
                <a:lnTo>
                  <a:pt x="9654" y="2329513"/>
                </a:lnTo>
                <a:lnTo>
                  <a:pt x="35982" y="2290476"/>
                </a:lnTo>
                <a:lnTo>
                  <a:pt x="75030" y="2264155"/>
                </a:lnTo>
                <a:lnTo>
                  <a:pt x="122847" y="2254504"/>
                </a:lnTo>
                <a:lnTo>
                  <a:pt x="7573391" y="2254504"/>
                </a:lnTo>
                <a:lnTo>
                  <a:pt x="7621190" y="2264155"/>
                </a:lnTo>
                <a:lnTo>
                  <a:pt x="7660227" y="2290476"/>
                </a:lnTo>
                <a:lnTo>
                  <a:pt x="7686548" y="2329513"/>
                </a:lnTo>
                <a:lnTo>
                  <a:pt x="7696200" y="2377313"/>
                </a:lnTo>
                <a:lnTo>
                  <a:pt x="7696200" y="2868676"/>
                </a:lnTo>
                <a:lnTo>
                  <a:pt x="7686548" y="2916549"/>
                </a:lnTo>
                <a:lnTo>
                  <a:pt x="7660227" y="2955623"/>
                </a:lnTo>
                <a:lnTo>
                  <a:pt x="7621190" y="2981958"/>
                </a:lnTo>
                <a:lnTo>
                  <a:pt x="7573391" y="2991612"/>
                </a:lnTo>
                <a:lnTo>
                  <a:pt x="122847" y="2991612"/>
                </a:lnTo>
                <a:lnTo>
                  <a:pt x="75030" y="2981958"/>
                </a:lnTo>
                <a:lnTo>
                  <a:pt x="35982" y="2955623"/>
                </a:lnTo>
                <a:lnTo>
                  <a:pt x="9654" y="2916549"/>
                </a:lnTo>
                <a:lnTo>
                  <a:pt x="0" y="2868676"/>
                </a:lnTo>
                <a:lnTo>
                  <a:pt x="0" y="2377313"/>
                </a:lnTo>
                <a:close/>
              </a:path>
              <a:path w="7696200" h="4495165">
                <a:moveTo>
                  <a:pt x="0" y="3128772"/>
                </a:moveTo>
                <a:lnTo>
                  <a:pt x="9654" y="3080972"/>
                </a:lnTo>
                <a:lnTo>
                  <a:pt x="35982" y="3041935"/>
                </a:lnTo>
                <a:lnTo>
                  <a:pt x="75030" y="3015615"/>
                </a:lnTo>
                <a:lnTo>
                  <a:pt x="122847" y="3005963"/>
                </a:lnTo>
                <a:lnTo>
                  <a:pt x="7573391" y="3005963"/>
                </a:lnTo>
                <a:lnTo>
                  <a:pt x="7621190" y="3015615"/>
                </a:lnTo>
                <a:lnTo>
                  <a:pt x="7660227" y="3041935"/>
                </a:lnTo>
                <a:lnTo>
                  <a:pt x="7686548" y="3080972"/>
                </a:lnTo>
                <a:lnTo>
                  <a:pt x="7696200" y="3128772"/>
                </a:lnTo>
                <a:lnTo>
                  <a:pt x="7696200" y="3620262"/>
                </a:lnTo>
                <a:lnTo>
                  <a:pt x="7686548" y="3668061"/>
                </a:lnTo>
                <a:lnTo>
                  <a:pt x="7660227" y="3707098"/>
                </a:lnTo>
                <a:lnTo>
                  <a:pt x="7621190" y="3733419"/>
                </a:lnTo>
                <a:lnTo>
                  <a:pt x="7573391" y="3743071"/>
                </a:lnTo>
                <a:lnTo>
                  <a:pt x="122847" y="3743071"/>
                </a:lnTo>
                <a:lnTo>
                  <a:pt x="75030" y="3733418"/>
                </a:lnTo>
                <a:lnTo>
                  <a:pt x="35982" y="3707098"/>
                </a:lnTo>
                <a:lnTo>
                  <a:pt x="9654" y="3668061"/>
                </a:lnTo>
                <a:lnTo>
                  <a:pt x="0" y="3620262"/>
                </a:lnTo>
                <a:lnTo>
                  <a:pt x="0" y="3128772"/>
                </a:lnTo>
                <a:close/>
              </a:path>
              <a:path w="7696200" h="4495165">
                <a:moveTo>
                  <a:pt x="0" y="3880319"/>
                </a:moveTo>
                <a:lnTo>
                  <a:pt x="9654" y="3832490"/>
                </a:lnTo>
                <a:lnTo>
                  <a:pt x="35982" y="3793424"/>
                </a:lnTo>
                <a:lnTo>
                  <a:pt x="75030" y="3767082"/>
                </a:lnTo>
                <a:lnTo>
                  <a:pt x="122847" y="3757422"/>
                </a:lnTo>
                <a:lnTo>
                  <a:pt x="7573391" y="3757422"/>
                </a:lnTo>
                <a:lnTo>
                  <a:pt x="7621190" y="3767082"/>
                </a:lnTo>
                <a:lnTo>
                  <a:pt x="7660227" y="3793424"/>
                </a:lnTo>
                <a:lnTo>
                  <a:pt x="7686548" y="3832490"/>
                </a:lnTo>
                <a:lnTo>
                  <a:pt x="7696200" y="3880319"/>
                </a:lnTo>
                <a:lnTo>
                  <a:pt x="7696200" y="4371708"/>
                </a:lnTo>
                <a:lnTo>
                  <a:pt x="7686548" y="4419531"/>
                </a:lnTo>
                <a:lnTo>
                  <a:pt x="7660227" y="4458584"/>
                </a:lnTo>
                <a:lnTo>
                  <a:pt x="7621190" y="4484913"/>
                </a:lnTo>
                <a:lnTo>
                  <a:pt x="7573391" y="4494568"/>
                </a:lnTo>
                <a:lnTo>
                  <a:pt x="122847" y="4494568"/>
                </a:lnTo>
                <a:lnTo>
                  <a:pt x="75030" y="4484913"/>
                </a:lnTo>
                <a:lnTo>
                  <a:pt x="35982" y="4458584"/>
                </a:lnTo>
                <a:lnTo>
                  <a:pt x="9654" y="4419531"/>
                </a:lnTo>
                <a:lnTo>
                  <a:pt x="0" y="4371708"/>
                </a:lnTo>
                <a:lnTo>
                  <a:pt x="0" y="3880319"/>
                </a:lnTo>
                <a:close/>
              </a:path>
            </a:pathLst>
          </a:custGeom>
          <a:ln w="12700">
            <a:solidFill>
              <a:srgbClr val="BE401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88340" y="1072641"/>
            <a:ext cx="7379334" cy="4867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15" dirty="0">
                <a:solidFill>
                  <a:srgbClr val="696363"/>
                </a:solidFill>
                <a:latin typeface="Franklin Gothic Medium"/>
                <a:cs typeface="Franklin Gothic Medium"/>
              </a:rPr>
              <a:t>(or</a:t>
            </a:r>
            <a:r>
              <a:rPr sz="3200" dirty="0">
                <a:solidFill>
                  <a:srgbClr val="696363"/>
                </a:solidFill>
                <a:latin typeface="Franklin Gothic Medium"/>
                <a:cs typeface="Franklin Gothic Medium"/>
              </a:rPr>
              <a:t> </a:t>
            </a:r>
            <a:r>
              <a:rPr sz="3200" spc="-15" dirty="0">
                <a:solidFill>
                  <a:srgbClr val="696363"/>
                </a:solidFill>
                <a:latin typeface="Franklin Gothic Medium"/>
                <a:cs typeface="Franklin Gothic Medium"/>
              </a:rPr>
              <a:t>diphase</a:t>
            </a:r>
            <a:r>
              <a:rPr sz="3200" spc="-30" dirty="0">
                <a:solidFill>
                  <a:srgbClr val="696363"/>
                </a:solidFill>
                <a:latin typeface="Franklin Gothic Medium"/>
                <a:cs typeface="Franklin Gothic Medium"/>
              </a:rPr>
              <a:t> </a:t>
            </a:r>
            <a:r>
              <a:rPr sz="3200" spc="-20" dirty="0">
                <a:solidFill>
                  <a:srgbClr val="696363"/>
                </a:solidFill>
                <a:latin typeface="Franklin Gothic Medium"/>
                <a:cs typeface="Franklin Gothic Medium"/>
              </a:rPr>
              <a:t>or</a:t>
            </a:r>
            <a:r>
              <a:rPr sz="3200" spc="-25" dirty="0">
                <a:solidFill>
                  <a:srgbClr val="696363"/>
                </a:solidFill>
                <a:latin typeface="Franklin Gothic Medium"/>
                <a:cs typeface="Franklin Gothic Medium"/>
              </a:rPr>
              <a:t> </a:t>
            </a:r>
            <a:r>
              <a:rPr sz="3200" spc="-20" dirty="0">
                <a:solidFill>
                  <a:srgbClr val="696363"/>
                </a:solidFill>
                <a:latin typeface="Franklin Gothic Medium"/>
                <a:cs typeface="Franklin Gothic Medium"/>
              </a:rPr>
              <a:t>biphase</a:t>
            </a:r>
            <a:r>
              <a:rPr sz="3200" spc="-15" dirty="0">
                <a:solidFill>
                  <a:srgbClr val="696363"/>
                </a:solidFill>
                <a:latin typeface="Franklin Gothic Medium"/>
                <a:cs typeface="Franklin Gothic Medium"/>
              </a:rPr>
              <a:t> </a:t>
            </a:r>
            <a:r>
              <a:rPr sz="3200" spc="-20" dirty="0">
                <a:solidFill>
                  <a:srgbClr val="696363"/>
                </a:solidFill>
                <a:latin typeface="Franklin Gothic Medium"/>
                <a:cs typeface="Franklin Gothic Medium"/>
              </a:rPr>
              <a:t>encoding)</a:t>
            </a:r>
            <a:endParaRPr sz="3200">
              <a:latin typeface="Franklin Gothic Medium"/>
              <a:cs typeface="Franklin Gothic Medium"/>
            </a:endParaRPr>
          </a:p>
          <a:p>
            <a:pPr marL="48260">
              <a:lnSpc>
                <a:spcPct val="100000"/>
              </a:lnSpc>
              <a:spcBef>
                <a:spcPts val="3045"/>
              </a:spcBef>
            </a:pPr>
            <a:r>
              <a:rPr sz="2400" spc="-145" dirty="0">
                <a:latin typeface="Times New Roman"/>
                <a:cs typeface="Times New Roman"/>
              </a:rPr>
              <a:t>T</a:t>
            </a:r>
            <a:r>
              <a:rPr sz="2400" spc="-110" dirty="0">
                <a:latin typeface="Times New Roman"/>
                <a:cs typeface="Times New Roman"/>
              </a:rPr>
              <a:t>h</a:t>
            </a:r>
            <a:r>
              <a:rPr sz="2400" spc="-150" dirty="0">
                <a:latin typeface="Times New Roman"/>
                <a:cs typeface="Times New Roman"/>
              </a:rPr>
              <a:t>is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14" dirty="0">
                <a:latin typeface="Times New Roman"/>
                <a:cs typeface="Times New Roman"/>
              </a:rPr>
              <a:t>c</a:t>
            </a:r>
            <a:r>
              <a:rPr sz="2400" spc="-125" dirty="0">
                <a:latin typeface="Times New Roman"/>
                <a:cs typeface="Times New Roman"/>
              </a:rPr>
              <a:t>o</a:t>
            </a:r>
            <a:r>
              <a:rPr sz="2400" spc="-100" dirty="0">
                <a:latin typeface="Times New Roman"/>
                <a:cs typeface="Times New Roman"/>
              </a:rPr>
              <a:t>de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50" dirty="0">
                <a:latin typeface="Times New Roman"/>
                <a:cs typeface="Times New Roman"/>
              </a:rPr>
              <a:t>is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40" dirty="0">
                <a:latin typeface="Times New Roman"/>
                <a:cs typeface="Times New Roman"/>
              </a:rPr>
              <a:t>self</a:t>
            </a:r>
            <a:r>
              <a:rPr sz="2400" spc="-50" dirty="0">
                <a:latin typeface="Times New Roman"/>
                <a:cs typeface="Times New Roman"/>
              </a:rPr>
              <a:t>-</a:t>
            </a:r>
            <a:r>
              <a:rPr sz="2400" spc="-100" dirty="0">
                <a:latin typeface="Times New Roman"/>
                <a:cs typeface="Times New Roman"/>
              </a:rPr>
              <a:t>cl</a:t>
            </a:r>
            <a:r>
              <a:rPr sz="2400" spc="-135" dirty="0">
                <a:latin typeface="Times New Roman"/>
                <a:cs typeface="Times New Roman"/>
              </a:rPr>
              <a:t>o</a:t>
            </a:r>
            <a:r>
              <a:rPr sz="2400" spc="-100" dirty="0">
                <a:latin typeface="Times New Roman"/>
                <a:cs typeface="Times New Roman"/>
              </a:rPr>
              <a:t>c</a:t>
            </a:r>
            <a:r>
              <a:rPr sz="2400" spc="-175" dirty="0">
                <a:latin typeface="Times New Roman"/>
                <a:cs typeface="Times New Roman"/>
              </a:rPr>
              <a:t>k</a:t>
            </a:r>
            <a:r>
              <a:rPr sz="2400" spc="-90" dirty="0">
                <a:latin typeface="Times New Roman"/>
                <a:cs typeface="Times New Roman"/>
              </a:rPr>
              <a:t>i</a:t>
            </a:r>
            <a:r>
              <a:rPr sz="2400" spc="-105" dirty="0">
                <a:latin typeface="Times New Roman"/>
                <a:cs typeface="Times New Roman"/>
              </a:rPr>
              <a:t>n</a:t>
            </a:r>
            <a:r>
              <a:rPr sz="2400" spc="-415" dirty="0">
                <a:latin typeface="Times New Roman"/>
                <a:cs typeface="Times New Roman"/>
              </a:rPr>
              <a:t>g</a:t>
            </a:r>
            <a:r>
              <a:rPr sz="2400" spc="10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48260" marR="241935">
              <a:lnSpc>
                <a:spcPts val="2470"/>
              </a:lnSpc>
              <a:spcBef>
                <a:spcPts val="2225"/>
              </a:spcBef>
            </a:pPr>
            <a:r>
              <a:rPr sz="2400" spc="-125" dirty="0">
                <a:latin typeface="Times New Roman"/>
                <a:cs typeface="Times New Roman"/>
              </a:rPr>
              <a:t>Provides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90" dirty="0">
                <a:latin typeface="Times New Roman"/>
                <a:cs typeface="Times New Roman"/>
              </a:rPr>
              <a:t>a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i="1" spc="-195" dirty="0">
                <a:latin typeface="Times New Roman"/>
                <a:cs typeface="Times New Roman"/>
              </a:rPr>
              <a:t>transition</a:t>
            </a:r>
            <a:r>
              <a:rPr sz="2400" i="1" spc="-55" dirty="0">
                <a:latin typeface="Times New Roman"/>
                <a:cs typeface="Times New Roman"/>
              </a:rPr>
              <a:t> </a:t>
            </a:r>
            <a:r>
              <a:rPr sz="2400" spc="-85" dirty="0">
                <a:latin typeface="Times New Roman"/>
                <a:cs typeface="Times New Roman"/>
              </a:rPr>
              <a:t>for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25" dirty="0">
                <a:latin typeface="Times New Roman"/>
                <a:cs typeface="Times New Roman"/>
              </a:rPr>
              <a:t>every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70" dirty="0">
                <a:latin typeface="Times New Roman"/>
                <a:cs typeface="Times New Roman"/>
              </a:rPr>
              <a:t>bit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110" dirty="0">
                <a:latin typeface="Times New Roman"/>
                <a:cs typeface="Times New Roman"/>
              </a:rPr>
              <a:t>in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70" dirty="0">
                <a:latin typeface="Times New Roman"/>
                <a:cs typeface="Times New Roman"/>
              </a:rPr>
              <a:t>the </a:t>
            </a:r>
            <a:r>
              <a:rPr sz="2400" i="1" spc="-229" dirty="0">
                <a:latin typeface="Times New Roman"/>
                <a:cs typeface="Times New Roman"/>
              </a:rPr>
              <a:t>middle</a:t>
            </a:r>
            <a:r>
              <a:rPr sz="2400" i="1" spc="-60" dirty="0">
                <a:latin typeface="Times New Roman"/>
                <a:cs typeface="Times New Roman"/>
              </a:rPr>
              <a:t> </a:t>
            </a:r>
            <a:r>
              <a:rPr sz="2400" spc="-140" dirty="0">
                <a:latin typeface="Times New Roman"/>
                <a:cs typeface="Times New Roman"/>
              </a:rPr>
              <a:t>of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75" dirty="0">
                <a:latin typeface="Times New Roman"/>
                <a:cs typeface="Times New Roman"/>
              </a:rPr>
              <a:t>the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70" dirty="0">
                <a:latin typeface="Times New Roman"/>
                <a:cs typeface="Times New Roman"/>
              </a:rPr>
              <a:t>bit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65" dirty="0">
                <a:latin typeface="Times New Roman"/>
                <a:cs typeface="Times New Roman"/>
              </a:rPr>
              <a:t>cell.</a:t>
            </a:r>
            <a:r>
              <a:rPr sz="2400" spc="-440" dirty="0">
                <a:latin typeface="Times New Roman"/>
                <a:cs typeface="Times New Roman"/>
              </a:rPr>
              <a:t> </a:t>
            </a:r>
            <a:r>
              <a:rPr sz="2400" spc="-140" dirty="0">
                <a:latin typeface="Times New Roman"/>
                <a:cs typeface="Times New Roman"/>
              </a:rPr>
              <a:t>This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85" dirty="0">
                <a:latin typeface="Times New Roman"/>
                <a:cs typeface="Times New Roman"/>
              </a:rPr>
              <a:t>transition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50" dirty="0">
                <a:latin typeface="Times New Roman"/>
                <a:cs typeface="Times New Roman"/>
              </a:rPr>
              <a:t>is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20" dirty="0">
                <a:latin typeface="Times New Roman"/>
                <a:cs typeface="Times New Roman"/>
              </a:rPr>
              <a:t>used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35" dirty="0">
                <a:latin typeface="Times New Roman"/>
                <a:cs typeface="Times New Roman"/>
              </a:rPr>
              <a:t>only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35" dirty="0">
                <a:latin typeface="Times New Roman"/>
                <a:cs typeface="Times New Roman"/>
              </a:rPr>
              <a:t>to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14" dirty="0">
                <a:latin typeface="Times New Roman"/>
                <a:cs typeface="Times New Roman"/>
              </a:rPr>
              <a:t>provide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25" dirty="0">
                <a:latin typeface="Times New Roman"/>
                <a:cs typeface="Times New Roman"/>
              </a:rPr>
              <a:t>clocking.</a:t>
            </a:r>
            <a:endParaRPr sz="2400">
              <a:latin typeface="Times New Roman"/>
              <a:cs typeface="Times New Roman"/>
            </a:endParaRPr>
          </a:p>
          <a:p>
            <a:pPr marL="48260">
              <a:lnSpc>
                <a:spcPct val="100000"/>
              </a:lnSpc>
              <a:spcBef>
                <a:spcPts val="1789"/>
              </a:spcBef>
            </a:pPr>
            <a:r>
              <a:rPr sz="2400" spc="25" dirty="0">
                <a:latin typeface="Times New Roman"/>
                <a:cs typeface="Times New Roman"/>
              </a:rPr>
              <a:t>+</a:t>
            </a:r>
            <a:r>
              <a:rPr sz="2400" spc="-35" dirty="0">
                <a:latin typeface="Times New Roman"/>
                <a:cs typeface="Times New Roman"/>
              </a:rPr>
              <a:t>v</a:t>
            </a:r>
            <a:r>
              <a:rPr sz="2400" spc="-95" dirty="0">
                <a:latin typeface="Times New Roman"/>
                <a:cs typeface="Times New Roman"/>
              </a:rPr>
              <a:t>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35" dirty="0">
                <a:latin typeface="Times New Roman"/>
                <a:cs typeface="Times New Roman"/>
              </a:rPr>
              <a:t>to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-</a:t>
            </a:r>
            <a:r>
              <a:rPr sz="2400" spc="-254" dirty="0">
                <a:latin typeface="Times New Roman"/>
                <a:cs typeface="Times New Roman"/>
              </a:rPr>
              <a:t>v</a:t>
            </a:r>
            <a:r>
              <a:rPr sz="2400" spc="-95" dirty="0">
                <a:latin typeface="Times New Roman"/>
                <a:cs typeface="Times New Roman"/>
              </a:rPr>
              <a:t>e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85" dirty="0">
                <a:latin typeface="Times New Roman"/>
                <a:cs typeface="Times New Roman"/>
              </a:rPr>
              <a:t>tran</a:t>
            </a:r>
            <a:r>
              <a:rPr sz="2400" spc="-80" dirty="0">
                <a:latin typeface="Times New Roman"/>
                <a:cs typeface="Times New Roman"/>
              </a:rPr>
              <a:t>sitio</a:t>
            </a:r>
            <a:r>
              <a:rPr sz="2400" spc="-105" dirty="0">
                <a:latin typeface="Times New Roman"/>
                <a:cs typeface="Times New Roman"/>
              </a:rPr>
              <a:t>n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85" dirty="0">
                <a:latin typeface="Times New Roman"/>
                <a:cs typeface="Times New Roman"/>
              </a:rPr>
              <a:t>for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90" dirty="0">
                <a:latin typeface="Times New Roman"/>
                <a:cs typeface="Times New Roman"/>
              </a:rPr>
              <a:t>a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"</a:t>
            </a:r>
            <a:r>
              <a:rPr sz="2400" spc="-55" dirty="0">
                <a:latin typeface="Times New Roman"/>
                <a:cs typeface="Times New Roman"/>
              </a:rPr>
              <a:t>0"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60" dirty="0">
                <a:latin typeface="Times New Roman"/>
                <a:cs typeface="Times New Roman"/>
              </a:rPr>
              <a:t>b</a:t>
            </a:r>
            <a:r>
              <a:rPr sz="2400" spc="-85" dirty="0">
                <a:latin typeface="Times New Roman"/>
                <a:cs typeface="Times New Roman"/>
              </a:rPr>
              <a:t>i</a:t>
            </a:r>
            <a:r>
              <a:rPr sz="2400" spc="30" dirty="0">
                <a:latin typeface="Times New Roman"/>
                <a:cs typeface="Times New Roman"/>
              </a:rPr>
              <a:t>t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600">
              <a:latin typeface="Times New Roman"/>
              <a:cs typeface="Times New Roman"/>
            </a:endParaRPr>
          </a:p>
          <a:p>
            <a:pPr marL="48260">
              <a:lnSpc>
                <a:spcPct val="100000"/>
              </a:lnSpc>
            </a:pPr>
            <a:r>
              <a:rPr sz="2400" spc="-50" dirty="0">
                <a:latin typeface="Times New Roman"/>
                <a:cs typeface="Times New Roman"/>
              </a:rPr>
              <a:t>-</a:t>
            </a:r>
            <a:r>
              <a:rPr sz="2400" spc="-254" dirty="0">
                <a:latin typeface="Times New Roman"/>
                <a:cs typeface="Times New Roman"/>
              </a:rPr>
              <a:t>v</a:t>
            </a:r>
            <a:r>
              <a:rPr sz="2400" spc="-95" dirty="0">
                <a:latin typeface="Times New Roman"/>
                <a:cs typeface="Times New Roman"/>
              </a:rPr>
              <a:t>e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35" dirty="0">
                <a:latin typeface="Times New Roman"/>
                <a:cs typeface="Times New Roman"/>
              </a:rPr>
              <a:t>to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25" dirty="0">
                <a:latin typeface="Times New Roman"/>
                <a:cs typeface="Times New Roman"/>
              </a:rPr>
              <a:t>+</a:t>
            </a:r>
            <a:r>
              <a:rPr sz="2400" spc="-35" dirty="0">
                <a:latin typeface="Times New Roman"/>
                <a:cs typeface="Times New Roman"/>
              </a:rPr>
              <a:t>v</a:t>
            </a:r>
            <a:r>
              <a:rPr sz="2400" spc="-95" dirty="0">
                <a:latin typeface="Times New Roman"/>
                <a:cs typeface="Times New Roman"/>
              </a:rPr>
              <a:t>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85" dirty="0">
                <a:latin typeface="Times New Roman"/>
                <a:cs typeface="Times New Roman"/>
              </a:rPr>
              <a:t>tran</a:t>
            </a:r>
            <a:r>
              <a:rPr sz="2400" spc="-80" dirty="0">
                <a:latin typeface="Times New Roman"/>
                <a:cs typeface="Times New Roman"/>
              </a:rPr>
              <a:t>sitio</a:t>
            </a:r>
            <a:r>
              <a:rPr sz="2400" spc="-105" dirty="0">
                <a:latin typeface="Times New Roman"/>
                <a:cs typeface="Times New Roman"/>
              </a:rPr>
              <a:t>n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85" dirty="0">
                <a:latin typeface="Times New Roman"/>
                <a:cs typeface="Times New Roman"/>
              </a:rPr>
              <a:t>for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90" dirty="0">
                <a:latin typeface="Times New Roman"/>
                <a:cs typeface="Times New Roman"/>
              </a:rPr>
              <a:t>a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"</a:t>
            </a:r>
            <a:r>
              <a:rPr sz="2400" spc="-55" dirty="0">
                <a:latin typeface="Times New Roman"/>
                <a:cs typeface="Times New Roman"/>
              </a:rPr>
              <a:t>1"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60" dirty="0">
                <a:latin typeface="Times New Roman"/>
                <a:cs typeface="Times New Roman"/>
              </a:rPr>
              <a:t>b</a:t>
            </a:r>
            <a:r>
              <a:rPr sz="2400" spc="-85" dirty="0">
                <a:latin typeface="Times New Roman"/>
                <a:cs typeface="Times New Roman"/>
              </a:rPr>
              <a:t>i</a:t>
            </a:r>
            <a:r>
              <a:rPr sz="2400" spc="30" dirty="0">
                <a:latin typeface="Times New Roman"/>
                <a:cs typeface="Times New Roman"/>
              </a:rPr>
              <a:t>t</a:t>
            </a:r>
            <a:endParaRPr sz="2400">
              <a:latin typeface="Times New Roman"/>
              <a:cs typeface="Times New Roman"/>
            </a:endParaRPr>
          </a:p>
          <a:p>
            <a:pPr marL="48260" marR="5080">
              <a:lnSpc>
                <a:spcPts val="2470"/>
              </a:lnSpc>
              <a:spcBef>
                <a:spcPts val="2225"/>
              </a:spcBef>
            </a:pPr>
            <a:r>
              <a:rPr sz="2400" spc="-135" dirty="0">
                <a:latin typeface="Times New Roman"/>
                <a:cs typeface="Times New Roman"/>
              </a:rPr>
              <a:t>Residual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30" dirty="0">
                <a:latin typeface="Times New Roman"/>
                <a:cs typeface="Times New Roman"/>
              </a:rPr>
              <a:t>DC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Times New Roman"/>
                <a:cs typeface="Times New Roman"/>
              </a:rPr>
              <a:t>component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spc="-150" dirty="0">
                <a:latin typeface="Times New Roman"/>
                <a:cs typeface="Times New Roman"/>
              </a:rPr>
              <a:t>is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eliminated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85" dirty="0">
                <a:latin typeface="Times New Roman"/>
                <a:cs typeface="Times New Roman"/>
              </a:rPr>
              <a:t>by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75" dirty="0">
                <a:latin typeface="Times New Roman"/>
                <a:cs typeface="Times New Roman"/>
              </a:rPr>
              <a:t>having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85" dirty="0">
                <a:latin typeface="Times New Roman"/>
                <a:cs typeface="Times New Roman"/>
              </a:rPr>
              <a:t>both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polarities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85" dirty="0">
                <a:latin typeface="Times New Roman"/>
                <a:cs typeface="Times New Roman"/>
              </a:rPr>
              <a:t>for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135" dirty="0">
                <a:latin typeface="Times New Roman"/>
                <a:cs typeface="Times New Roman"/>
              </a:rPr>
              <a:t>e</a:t>
            </a:r>
            <a:r>
              <a:rPr sz="2400" spc="-254" dirty="0">
                <a:latin typeface="Times New Roman"/>
                <a:cs typeface="Times New Roman"/>
              </a:rPr>
              <a:t>v</a:t>
            </a:r>
            <a:r>
              <a:rPr sz="2400" spc="-40" dirty="0">
                <a:latin typeface="Times New Roman"/>
                <a:cs typeface="Times New Roman"/>
              </a:rPr>
              <a:t>e</a:t>
            </a:r>
            <a:r>
              <a:rPr sz="2400" spc="-10" dirty="0">
                <a:latin typeface="Times New Roman"/>
                <a:cs typeface="Times New Roman"/>
              </a:rPr>
              <a:t>r</a:t>
            </a:r>
            <a:r>
              <a:rPr sz="2400" spc="-200" dirty="0">
                <a:latin typeface="Times New Roman"/>
                <a:cs typeface="Times New Roman"/>
              </a:rPr>
              <a:t>y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55" dirty="0">
                <a:latin typeface="Times New Roman"/>
                <a:cs typeface="Times New Roman"/>
              </a:rPr>
              <a:t>b</a:t>
            </a:r>
            <a:r>
              <a:rPr sz="2400" spc="-85" dirty="0">
                <a:latin typeface="Times New Roman"/>
                <a:cs typeface="Times New Roman"/>
              </a:rPr>
              <a:t>i</a:t>
            </a:r>
            <a:r>
              <a:rPr sz="2400" spc="65" dirty="0">
                <a:latin typeface="Times New Roman"/>
                <a:cs typeface="Times New Roman"/>
              </a:rPr>
              <a:t>t.</a:t>
            </a:r>
            <a:endParaRPr sz="2400">
              <a:latin typeface="Times New Roman"/>
              <a:cs typeface="Times New Roman"/>
            </a:endParaRPr>
          </a:p>
          <a:p>
            <a:pPr marL="48260">
              <a:lnSpc>
                <a:spcPct val="100000"/>
              </a:lnSpc>
              <a:spcBef>
                <a:spcPts val="555"/>
              </a:spcBef>
            </a:pPr>
            <a:r>
              <a:rPr sz="2400" i="1" spc="-210" dirty="0">
                <a:latin typeface="Times New Roman"/>
                <a:cs typeface="Times New Roman"/>
              </a:rPr>
              <a:t>Thi</a:t>
            </a:r>
            <a:r>
              <a:rPr sz="2400" i="1" spc="-180" dirty="0">
                <a:latin typeface="Times New Roman"/>
                <a:cs typeface="Times New Roman"/>
              </a:rPr>
              <a:t>s</a:t>
            </a:r>
            <a:r>
              <a:rPr sz="2400" i="1" spc="-65" dirty="0">
                <a:latin typeface="Times New Roman"/>
                <a:cs typeface="Times New Roman"/>
              </a:rPr>
              <a:t> </a:t>
            </a:r>
            <a:r>
              <a:rPr sz="2400" i="1" spc="-310" dirty="0">
                <a:latin typeface="Times New Roman"/>
                <a:cs typeface="Times New Roman"/>
              </a:rPr>
              <a:t>scheme</a:t>
            </a:r>
            <a:r>
              <a:rPr sz="2400" i="1" spc="-55" dirty="0">
                <a:latin typeface="Times New Roman"/>
                <a:cs typeface="Times New Roman"/>
              </a:rPr>
              <a:t> </a:t>
            </a:r>
            <a:r>
              <a:rPr sz="2400" i="1" spc="-185" dirty="0">
                <a:latin typeface="Times New Roman"/>
                <a:cs typeface="Times New Roman"/>
              </a:rPr>
              <a:t>i</a:t>
            </a:r>
            <a:r>
              <a:rPr sz="2400" i="1" spc="-250" dirty="0">
                <a:latin typeface="Times New Roman"/>
                <a:cs typeface="Times New Roman"/>
              </a:rPr>
              <a:t>s</a:t>
            </a:r>
            <a:r>
              <a:rPr sz="2400" i="1" spc="-65" dirty="0">
                <a:latin typeface="Times New Roman"/>
                <a:cs typeface="Times New Roman"/>
              </a:rPr>
              <a:t> </a:t>
            </a:r>
            <a:r>
              <a:rPr sz="2400" i="1" spc="-275" dirty="0">
                <a:latin typeface="Times New Roman"/>
                <a:cs typeface="Times New Roman"/>
              </a:rPr>
              <a:t>used</a:t>
            </a:r>
            <a:r>
              <a:rPr sz="2400" i="1" spc="-60" dirty="0">
                <a:latin typeface="Times New Roman"/>
                <a:cs typeface="Times New Roman"/>
              </a:rPr>
              <a:t> </a:t>
            </a:r>
            <a:r>
              <a:rPr sz="2400" i="1" spc="-110" dirty="0">
                <a:latin typeface="Times New Roman"/>
                <a:cs typeface="Times New Roman"/>
              </a:rPr>
              <a:t>i</a:t>
            </a:r>
            <a:r>
              <a:rPr sz="2400" i="1" spc="-190" dirty="0">
                <a:latin typeface="Times New Roman"/>
                <a:cs typeface="Times New Roman"/>
              </a:rPr>
              <a:t>n</a:t>
            </a:r>
            <a:r>
              <a:rPr sz="2400" i="1" spc="-55" dirty="0">
                <a:latin typeface="Times New Roman"/>
                <a:cs typeface="Times New Roman"/>
              </a:rPr>
              <a:t> </a:t>
            </a:r>
            <a:r>
              <a:rPr sz="2400" i="1" spc="-235" dirty="0">
                <a:latin typeface="Times New Roman"/>
                <a:cs typeface="Times New Roman"/>
              </a:rPr>
              <a:t>Eth</a:t>
            </a:r>
            <a:r>
              <a:rPr sz="2400" i="1" spc="-220" dirty="0">
                <a:latin typeface="Times New Roman"/>
                <a:cs typeface="Times New Roman"/>
              </a:rPr>
              <a:t>e</a:t>
            </a:r>
            <a:r>
              <a:rPr sz="2400" i="1" spc="-210" dirty="0">
                <a:latin typeface="Times New Roman"/>
                <a:cs typeface="Times New Roman"/>
              </a:rPr>
              <a:t>r</a:t>
            </a:r>
            <a:r>
              <a:rPr sz="2400" i="1" spc="-190" dirty="0">
                <a:latin typeface="Times New Roman"/>
                <a:cs typeface="Times New Roman"/>
              </a:rPr>
              <a:t>net</a:t>
            </a:r>
            <a:r>
              <a:rPr sz="2400" i="1" spc="-70" dirty="0">
                <a:latin typeface="Times New Roman"/>
                <a:cs typeface="Times New Roman"/>
              </a:rPr>
              <a:t> </a:t>
            </a:r>
            <a:r>
              <a:rPr sz="2400" i="1" spc="-235" dirty="0">
                <a:latin typeface="Times New Roman"/>
                <a:cs typeface="Times New Roman"/>
              </a:rPr>
              <a:t>and</a:t>
            </a:r>
            <a:r>
              <a:rPr sz="2400" i="1" spc="-55" dirty="0">
                <a:latin typeface="Times New Roman"/>
                <a:cs typeface="Times New Roman"/>
              </a:rPr>
              <a:t> </a:t>
            </a:r>
            <a:r>
              <a:rPr sz="2400" i="1" spc="-195" dirty="0">
                <a:latin typeface="Times New Roman"/>
                <a:cs typeface="Times New Roman"/>
              </a:rPr>
              <a:t>I</a:t>
            </a:r>
            <a:r>
              <a:rPr sz="2400" i="1" spc="-350" dirty="0">
                <a:latin typeface="Times New Roman"/>
                <a:cs typeface="Times New Roman"/>
              </a:rPr>
              <a:t>E</a:t>
            </a:r>
            <a:r>
              <a:rPr sz="2400" i="1" spc="-370" dirty="0">
                <a:latin typeface="Times New Roman"/>
                <a:cs typeface="Times New Roman"/>
              </a:rPr>
              <a:t>EE</a:t>
            </a:r>
            <a:r>
              <a:rPr sz="2400" i="1" spc="-60" dirty="0">
                <a:latin typeface="Times New Roman"/>
                <a:cs typeface="Times New Roman"/>
              </a:rPr>
              <a:t> </a:t>
            </a:r>
            <a:r>
              <a:rPr sz="2400" i="1" spc="-105" dirty="0">
                <a:latin typeface="Times New Roman"/>
                <a:cs typeface="Times New Roman"/>
              </a:rPr>
              <a:t>8</a:t>
            </a:r>
            <a:r>
              <a:rPr sz="2400" i="1" spc="-95" dirty="0">
                <a:latin typeface="Times New Roman"/>
                <a:cs typeface="Times New Roman"/>
              </a:rPr>
              <a:t>0</a:t>
            </a:r>
            <a:r>
              <a:rPr sz="2400" i="1" spc="-60" dirty="0">
                <a:latin typeface="Times New Roman"/>
                <a:cs typeface="Times New Roman"/>
              </a:rPr>
              <a:t>2.3</a:t>
            </a:r>
            <a:r>
              <a:rPr sz="2400" i="1" spc="-75" dirty="0">
                <a:latin typeface="Times New Roman"/>
                <a:cs typeface="Times New Roman"/>
              </a:rPr>
              <a:t> </a:t>
            </a:r>
            <a:r>
              <a:rPr sz="2400" i="1" spc="-220" dirty="0">
                <a:latin typeface="Times New Roman"/>
                <a:cs typeface="Times New Roman"/>
              </a:rPr>
              <a:t>compliant</a:t>
            </a:r>
            <a:r>
              <a:rPr sz="2400" i="1" spc="-50" dirty="0">
                <a:latin typeface="Times New Roman"/>
                <a:cs typeface="Times New Roman"/>
              </a:rPr>
              <a:t> </a:t>
            </a:r>
            <a:r>
              <a:rPr sz="2400" i="1" spc="-275" dirty="0">
                <a:latin typeface="Times New Roman"/>
                <a:cs typeface="Times New Roman"/>
              </a:rPr>
              <a:t>LA</a:t>
            </a:r>
            <a:r>
              <a:rPr sz="2400" i="1" spc="-305" dirty="0">
                <a:latin typeface="Times New Roman"/>
                <a:cs typeface="Times New Roman"/>
              </a:rPr>
              <a:t>N</a:t>
            </a:r>
            <a:r>
              <a:rPr sz="2400" i="1" spc="-335" dirty="0">
                <a:latin typeface="Times New Roman"/>
                <a:cs typeface="Times New Roman"/>
              </a:rPr>
              <a:t>s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0739" y="357581"/>
            <a:ext cx="473265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spc="-20" dirty="0">
                <a:latin typeface="Times New Roman"/>
                <a:cs typeface="Times New Roman"/>
              </a:rPr>
              <a:t>Manchester</a:t>
            </a:r>
            <a:r>
              <a:rPr sz="4000" b="1" spc="-140" dirty="0">
                <a:latin typeface="Times New Roman"/>
                <a:cs typeface="Times New Roman"/>
              </a:rPr>
              <a:t> </a:t>
            </a:r>
            <a:r>
              <a:rPr sz="4000" b="1" spc="-20" dirty="0">
                <a:latin typeface="Times New Roman"/>
                <a:cs typeface="Times New Roman"/>
              </a:rPr>
              <a:t>Encoding</a:t>
            </a:r>
            <a:endParaRPr sz="4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9414" y="1484253"/>
            <a:ext cx="7681371" cy="2393793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650748" y="4017264"/>
            <a:ext cx="8051800" cy="2472690"/>
            <a:chOff x="650748" y="4017264"/>
            <a:chExt cx="8051800" cy="2472690"/>
          </a:xfrm>
        </p:grpSpPr>
        <p:sp>
          <p:nvSpPr>
            <p:cNvPr id="5" name="object 5"/>
            <p:cNvSpPr/>
            <p:nvPr/>
          </p:nvSpPr>
          <p:spPr>
            <a:xfrm>
              <a:off x="838200" y="4114800"/>
              <a:ext cx="7543800" cy="2346325"/>
            </a:xfrm>
            <a:custGeom>
              <a:avLst/>
              <a:gdLst/>
              <a:ahLst/>
              <a:cxnLst/>
              <a:rect l="l" t="t" r="r" b="b"/>
              <a:pathLst>
                <a:path w="7543800" h="2346325">
                  <a:moveTo>
                    <a:pt x="0" y="2346325"/>
                  </a:moveTo>
                  <a:lnTo>
                    <a:pt x="7543800" y="2346325"/>
                  </a:lnTo>
                  <a:lnTo>
                    <a:pt x="7543800" y="0"/>
                  </a:lnTo>
                  <a:lnTo>
                    <a:pt x="0" y="0"/>
                  </a:lnTo>
                  <a:lnTo>
                    <a:pt x="0" y="2346325"/>
                  </a:lnTo>
                  <a:close/>
                </a:path>
              </a:pathLst>
            </a:custGeom>
            <a:ln w="57150">
              <a:solidFill>
                <a:srgbClr val="FF00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0748" y="4017264"/>
              <a:ext cx="8051292" cy="100584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15568" y="4565904"/>
              <a:ext cx="7121652" cy="100584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00100" y="5114544"/>
              <a:ext cx="7647432" cy="1005840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920902" y="4084701"/>
            <a:ext cx="7378700" cy="1671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3600" b="1" i="1" spc="-110" dirty="0">
                <a:latin typeface="Times New Roman"/>
                <a:cs typeface="Times New Roman"/>
              </a:rPr>
              <a:t>I</a:t>
            </a:r>
            <a:r>
              <a:rPr sz="3600" b="1" i="1" spc="-150" dirty="0">
                <a:latin typeface="Times New Roman"/>
                <a:cs typeface="Times New Roman"/>
              </a:rPr>
              <a:t>n</a:t>
            </a:r>
            <a:r>
              <a:rPr sz="3600" b="1" i="1" spc="-95" dirty="0">
                <a:latin typeface="Times New Roman"/>
                <a:cs typeface="Times New Roman"/>
              </a:rPr>
              <a:t> </a:t>
            </a:r>
            <a:r>
              <a:rPr sz="3600" b="1" i="1" spc="-140" dirty="0">
                <a:latin typeface="Times New Roman"/>
                <a:cs typeface="Times New Roman"/>
              </a:rPr>
              <a:t>Manchester</a:t>
            </a:r>
            <a:r>
              <a:rPr sz="3600" b="1" i="1" spc="-80" dirty="0">
                <a:latin typeface="Times New Roman"/>
                <a:cs typeface="Times New Roman"/>
              </a:rPr>
              <a:t> </a:t>
            </a:r>
            <a:r>
              <a:rPr sz="3600" b="1" i="1" spc="-140" dirty="0">
                <a:latin typeface="Times New Roman"/>
                <a:cs typeface="Times New Roman"/>
              </a:rPr>
              <a:t>encodin</a:t>
            </a:r>
            <a:r>
              <a:rPr sz="3600" b="1" i="1" spc="-190" dirty="0">
                <a:latin typeface="Times New Roman"/>
                <a:cs typeface="Times New Roman"/>
              </a:rPr>
              <a:t>g</a:t>
            </a:r>
            <a:r>
              <a:rPr sz="3600" b="1" i="1" spc="35" dirty="0">
                <a:latin typeface="Times New Roman"/>
                <a:cs typeface="Times New Roman"/>
              </a:rPr>
              <a:t>,</a:t>
            </a:r>
            <a:r>
              <a:rPr sz="3600" b="1" i="1" spc="-434" dirty="0">
                <a:latin typeface="Times New Roman"/>
                <a:cs typeface="Times New Roman"/>
              </a:rPr>
              <a:t> </a:t>
            </a:r>
            <a:r>
              <a:rPr sz="3600" b="1" i="1" spc="-40" dirty="0">
                <a:latin typeface="Times New Roman"/>
                <a:cs typeface="Times New Roman"/>
              </a:rPr>
              <a:t>the</a:t>
            </a:r>
            <a:r>
              <a:rPr sz="3600" b="1" i="1" spc="-95" dirty="0">
                <a:latin typeface="Times New Roman"/>
                <a:cs typeface="Times New Roman"/>
              </a:rPr>
              <a:t> </a:t>
            </a:r>
            <a:r>
              <a:rPr sz="3600" b="1" i="1" spc="195" dirty="0">
                <a:latin typeface="Times New Roman"/>
                <a:cs typeface="Times New Roman"/>
              </a:rPr>
              <a:t>t</a:t>
            </a:r>
            <a:r>
              <a:rPr sz="3600" b="1" i="1" spc="-140" dirty="0">
                <a:latin typeface="Times New Roman"/>
                <a:cs typeface="Times New Roman"/>
              </a:rPr>
              <a:t>r</a:t>
            </a:r>
            <a:r>
              <a:rPr sz="3600" b="1" i="1" spc="-70" dirty="0">
                <a:latin typeface="Times New Roman"/>
                <a:cs typeface="Times New Roman"/>
              </a:rPr>
              <a:t>ansition</a:t>
            </a:r>
            <a:r>
              <a:rPr sz="3600" b="1" i="1" spc="-75" dirty="0">
                <a:latin typeface="Times New Roman"/>
                <a:cs typeface="Times New Roman"/>
              </a:rPr>
              <a:t> </a:t>
            </a:r>
            <a:r>
              <a:rPr sz="3600" b="1" i="1" spc="-40" dirty="0">
                <a:latin typeface="Times New Roman"/>
                <a:cs typeface="Times New Roman"/>
              </a:rPr>
              <a:t>a</a:t>
            </a:r>
            <a:r>
              <a:rPr sz="3600" b="1" i="1" spc="185" dirty="0">
                <a:latin typeface="Times New Roman"/>
                <a:cs typeface="Times New Roman"/>
              </a:rPr>
              <a:t>t  </a:t>
            </a:r>
            <a:r>
              <a:rPr sz="3600" b="1" i="1" spc="-40" dirty="0">
                <a:latin typeface="Times New Roman"/>
                <a:cs typeface="Times New Roman"/>
              </a:rPr>
              <a:t>the </a:t>
            </a:r>
            <a:r>
              <a:rPr sz="3600" b="1" i="1" spc="-70" dirty="0">
                <a:latin typeface="Times New Roman"/>
                <a:cs typeface="Times New Roman"/>
              </a:rPr>
              <a:t>middle </a:t>
            </a:r>
            <a:r>
              <a:rPr sz="3600" b="1" i="1" spc="-170" dirty="0">
                <a:latin typeface="Times New Roman"/>
                <a:cs typeface="Times New Roman"/>
              </a:rPr>
              <a:t>of </a:t>
            </a:r>
            <a:r>
              <a:rPr sz="3600" b="1" i="1" spc="-40" dirty="0">
                <a:latin typeface="Times New Roman"/>
                <a:cs typeface="Times New Roman"/>
              </a:rPr>
              <a:t>the </a:t>
            </a:r>
            <a:r>
              <a:rPr sz="3600" b="1" i="1" spc="50" dirty="0">
                <a:latin typeface="Times New Roman"/>
                <a:cs typeface="Times New Roman"/>
              </a:rPr>
              <a:t>bit </a:t>
            </a:r>
            <a:r>
              <a:rPr sz="3600" b="1" i="1" spc="-80" dirty="0">
                <a:latin typeface="Times New Roman"/>
                <a:cs typeface="Times New Roman"/>
              </a:rPr>
              <a:t>is </a:t>
            </a:r>
            <a:r>
              <a:rPr sz="3600" b="1" i="1" spc="-130" dirty="0">
                <a:latin typeface="Times New Roman"/>
                <a:cs typeface="Times New Roman"/>
              </a:rPr>
              <a:t>used </a:t>
            </a:r>
            <a:r>
              <a:rPr sz="3600" b="1" i="1" spc="-145" dirty="0">
                <a:latin typeface="Times New Roman"/>
                <a:cs typeface="Times New Roman"/>
              </a:rPr>
              <a:t>for </a:t>
            </a:r>
            <a:r>
              <a:rPr sz="3600" b="1" i="1" spc="-75" dirty="0">
                <a:latin typeface="Times New Roman"/>
                <a:cs typeface="Times New Roman"/>
              </a:rPr>
              <a:t>both </a:t>
            </a:r>
            <a:r>
              <a:rPr sz="3600" b="1" i="1" spc="-70" dirty="0">
                <a:latin typeface="Times New Roman"/>
                <a:cs typeface="Times New Roman"/>
              </a:rPr>
              <a:t> </a:t>
            </a:r>
            <a:r>
              <a:rPr sz="3600" b="1" i="1" spc="-105" dirty="0">
                <a:latin typeface="Times New Roman"/>
                <a:cs typeface="Times New Roman"/>
              </a:rPr>
              <a:t>synchronization</a:t>
            </a:r>
            <a:r>
              <a:rPr sz="3600" b="1" i="1" spc="-60" dirty="0">
                <a:latin typeface="Times New Roman"/>
                <a:cs typeface="Times New Roman"/>
              </a:rPr>
              <a:t> </a:t>
            </a:r>
            <a:r>
              <a:rPr sz="3600" b="1" i="1" spc="-70" dirty="0">
                <a:latin typeface="Times New Roman"/>
                <a:cs typeface="Times New Roman"/>
              </a:rPr>
              <a:t>and</a:t>
            </a:r>
            <a:r>
              <a:rPr sz="3600" b="1" i="1" spc="-90" dirty="0">
                <a:latin typeface="Times New Roman"/>
                <a:cs typeface="Times New Roman"/>
              </a:rPr>
              <a:t> </a:t>
            </a:r>
            <a:r>
              <a:rPr sz="3600" b="1" i="1" spc="50" dirty="0">
                <a:latin typeface="Times New Roman"/>
                <a:cs typeface="Times New Roman"/>
              </a:rPr>
              <a:t>bit</a:t>
            </a:r>
            <a:r>
              <a:rPr sz="3600" b="1" i="1" spc="-95" dirty="0">
                <a:latin typeface="Times New Roman"/>
                <a:cs typeface="Times New Roman"/>
              </a:rPr>
              <a:t> </a:t>
            </a:r>
            <a:r>
              <a:rPr sz="3600" b="1" i="1" spc="-65" dirty="0">
                <a:latin typeface="Times New Roman"/>
                <a:cs typeface="Times New Roman"/>
              </a:rPr>
              <a:t>representation.</a:t>
            </a:r>
            <a:endParaRPr sz="3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0739" y="204927"/>
            <a:ext cx="583755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95" dirty="0">
                <a:solidFill>
                  <a:srgbClr val="585858"/>
                </a:solidFill>
                <a:latin typeface="Times New Roman"/>
                <a:cs typeface="Times New Roman"/>
              </a:rPr>
              <a:t>Diffe</a:t>
            </a:r>
            <a:r>
              <a:rPr sz="4000" spc="-175" dirty="0">
                <a:solidFill>
                  <a:srgbClr val="585858"/>
                </a:solidFill>
                <a:latin typeface="Times New Roman"/>
                <a:cs typeface="Times New Roman"/>
              </a:rPr>
              <a:t>r</a:t>
            </a:r>
            <a:r>
              <a:rPr sz="4000" spc="-155" dirty="0">
                <a:solidFill>
                  <a:srgbClr val="585858"/>
                </a:solidFill>
                <a:latin typeface="Times New Roman"/>
                <a:cs typeface="Times New Roman"/>
              </a:rPr>
              <a:t>ential</a:t>
            </a:r>
            <a:r>
              <a:rPr sz="4000" spc="-95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4000" spc="-325" dirty="0">
                <a:solidFill>
                  <a:srgbClr val="585858"/>
                </a:solidFill>
                <a:latin typeface="Times New Roman"/>
                <a:cs typeface="Times New Roman"/>
              </a:rPr>
              <a:t>Man</a:t>
            </a:r>
            <a:r>
              <a:rPr sz="4000" spc="-155" dirty="0">
                <a:solidFill>
                  <a:srgbClr val="585858"/>
                </a:solidFill>
                <a:latin typeface="Times New Roman"/>
                <a:cs typeface="Times New Roman"/>
              </a:rPr>
              <a:t>c</a:t>
            </a:r>
            <a:r>
              <a:rPr sz="4000" spc="-130" dirty="0">
                <a:solidFill>
                  <a:srgbClr val="585858"/>
                </a:solidFill>
                <a:latin typeface="Times New Roman"/>
                <a:cs typeface="Times New Roman"/>
              </a:rPr>
              <a:t>hester</a:t>
            </a:r>
            <a:r>
              <a:rPr sz="4000" spc="-85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4000" spc="-200" dirty="0">
                <a:solidFill>
                  <a:srgbClr val="585858"/>
                </a:solidFill>
                <a:latin typeface="Times New Roman"/>
                <a:cs typeface="Times New Roman"/>
              </a:rPr>
              <a:t>Co</a:t>
            </a:r>
            <a:r>
              <a:rPr sz="4000" spc="-155" dirty="0">
                <a:solidFill>
                  <a:srgbClr val="585858"/>
                </a:solidFill>
                <a:latin typeface="Times New Roman"/>
                <a:cs typeface="Times New Roman"/>
              </a:rPr>
              <a:t>d</a:t>
            </a:r>
            <a:r>
              <a:rPr sz="4000" spc="-235" dirty="0">
                <a:solidFill>
                  <a:srgbClr val="585858"/>
                </a:solidFill>
                <a:latin typeface="Times New Roman"/>
                <a:cs typeface="Times New Roman"/>
              </a:rPr>
              <a:t>ing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40739" y="1742821"/>
            <a:ext cx="7397750" cy="223647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87020" indent="-274955">
              <a:lnSpc>
                <a:spcPct val="100000"/>
              </a:lnSpc>
              <a:spcBef>
                <a:spcPts val="700"/>
              </a:spcBef>
              <a:buClr>
                <a:srgbClr val="D24717"/>
              </a:buClr>
              <a:buSzPct val="85416"/>
              <a:buFont typeface="Segoe UI Symbol"/>
              <a:buChar char="⚫"/>
              <a:tabLst>
                <a:tab pos="287020" algn="l"/>
                <a:tab pos="287655" algn="l"/>
              </a:tabLst>
            </a:pPr>
            <a:r>
              <a:rPr sz="2400" spc="-135" dirty="0">
                <a:latin typeface="Times New Roman"/>
                <a:cs typeface="Times New Roman"/>
              </a:rPr>
              <a:t>C</a:t>
            </a:r>
            <a:r>
              <a:rPr sz="2400" spc="-95" dirty="0">
                <a:latin typeface="Times New Roman"/>
                <a:cs typeface="Times New Roman"/>
              </a:rPr>
              <a:t>o</a:t>
            </a:r>
            <a:r>
              <a:rPr sz="2400" spc="-100" dirty="0">
                <a:latin typeface="Times New Roman"/>
                <a:cs typeface="Times New Roman"/>
              </a:rPr>
              <a:t>de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50" dirty="0">
                <a:latin typeface="Times New Roman"/>
                <a:cs typeface="Times New Roman"/>
              </a:rPr>
              <a:t>is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40" dirty="0">
                <a:latin typeface="Times New Roman"/>
                <a:cs typeface="Times New Roman"/>
              </a:rPr>
              <a:t>self</a:t>
            </a:r>
            <a:r>
              <a:rPr sz="2400" spc="-50" dirty="0">
                <a:latin typeface="Times New Roman"/>
                <a:cs typeface="Times New Roman"/>
              </a:rPr>
              <a:t>-</a:t>
            </a:r>
            <a:r>
              <a:rPr sz="2400" spc="-100" dirty="0">
                <a:latin typeface="Times New Roman"/>
                <a:cs typeface="Times New Roman"/>
              </a:rPr>
              <a:t>cl</a:t>
            </a:r>
            <a:r>
              <a:rPr sz="2400" spc="-135" dirty="0">
                <a:latin typeface="Times New Roman"/>
                <a:cs typeface="Times New Roman"/>
              </a:rPr>
              <a:t>o</a:t>
            </a:r>
            <a:r>
              <a:rPr sz="2400" spc="-100" dirty="0">
                <a:latin typeface="Times New Roman"/>
                <a:cs typeface="Times New Roman"/>
              </a:rPr>
              <a:t>c</a:t>
            </a:r>
            <a:r>
              <a:rPr sz="2400" spc="-175" dirty="0">
                <a:latin typeface="Times New Roman"/>
                <a:cs typeface="Times New Roman"/>
              </a:rPr>
              <a:t>k</a:t>
            </a:r>
            <a:r>
              <a:rPr sz="2400" spc="-90" dirty="0">
                <a:latin typeface="Times New Roman"/>
                <a:cs typeface="Times New Roman"/>
              </a:rPr>
              <a:t>i</a:t>
            </a:r>
            <a:r>
              <a:rPr sz="2400" spc="-150" dirty="0">
                <a:latin typeface="Times New Roman"/>
                <a:cs typeface="Times New Roman"/>
              </a:rPr>
              <a:t>ng</a:t>
            </a:r>
            <a:endParaRPr sz="2400">
              <a:latin typeface="Times New Roman"/>
              <a:cs typeface="Times New Roman"/>
            </a:endParaRPr>
          </a:p>
          <a:p>
            <a:pPr marL="287020" indent="-274955">
              <a:lnSpc>
                <a:spcPct val="100000"/>
              </a:lnSpc>
              <a:spcBef>
                <a:spcPts val="605"/>
              </a:spcBef>
              <a:buClr>
                <a:srgbClr val="D24717"/>
              </a:buClr>
              <a:buSzPct val="85416"/>
              <a:buFont typeface="Segoe UI Symbol"/>
              <a:buChar char="⚫"/>
              <a:tabLst>
                <a:tab pos="287020" algn="l"/>
                <a:tab pos="287655" algn="l"/>
              </a:tabLst>
            </a:pPr>
            <a:r>
              <a:rPr sz="2400" i="1" spc="-425" dirty="0">
                <a:latin typeface="Times New Roman"/>
                <a:cs typeface="Times New Roman"/>
              </a:rPr>
              <a:t>T</a:t>
            </a:r>
            <a:r>
              <a:rPr sz="2400" i="1" spc="-340" dirty="0">
                <a:latin typeface="Times New Roman"/>
                <a:cs typeface="Times New Roman"/>
              </a:rPr>
              <a:t>r</a:t>
            </a:r>
            <a:r>
              <a:rPr sz="2400" i="1" spc="-195" dirty="0">
                <a:latin typeface="Times New Roman"/>
                <a:cs typeface="Times New Roman"/>
              </a:rPr>
              <a:t>ansition</a:t>
            </a:r>
            <a:r>
              <a:rPr sz="2400" i="1" spc="-65" dirty="0">
                <a:latin typeface="Times New Roman"/>
                <a:cs typeface="Times New Roman"/>
              </a:rPr>
              <a:t> </a:t>
            </a:r>
            <a:r>
              <a:rPr sz="2400" spc="-114" dirty="0">
                <a:latin typeface="Times New Roman"/>
                <a:cs typeface="Times New Roman"/>
              </a:rPr>
              <a:t>f</a:t>
            </a:r>
            <a:r>
              <a:rPr sz="2400" spc="-165" dirty="0">
                <a:latin typeface="Times New Roman"/>
                <a:cs typeface="Times New Roman"/>
              </a:rPr>
              <a:t>o</a:t>
            </a:r>
            <a:r>
              <a:rPr sz="2400" spc="25" dirty="0">
                <a:latin typeface="Times New Roman"/>
                <a:cs typeface="Times New Roman"/>
              </a:rPr>
              <a:t>r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135" dirty="0">
                <a:latin typeface="Times New Roman"/>
                <a:cs typeface="Times New Roman"/>
              </a:rPr>
              <a:t>e</a:t>
            </a:r>
            <a:r>
              <a:rPr sz="2400" spc="-254" dirty="0">
                <a:latin typeface="Times New Roman"/>
                <a:cs typeface="Times New Roman"/>
              </a:rPr>
              <a:t>v</a:t>
            </a:r>
            <a:r>
              <a:rPr sz="2400" spc="-40" dirty="0">
                <a:latin typeface="Times New Roman"/>
                <a:cs typeface="Times New Roman"/>
              </a:rPr>
              <a:t>e</a:t>
            </a:r>
            <a:r>
              <a:rPr sz="2400" spc="-10" dirty="0">
                <a:latin typeface="Times New Roman"/>
                <a:cs typeface="Times New Roman"/>
              </a:rPr>
              <a:t>r</a:t>
            </a:r>
            <a:r>
              <a:rPr sz="2400" spc="-200" dirty="0">
                <a:latin typeface="Times New Roman"/>
                <a:cs typeface="Times New Roman"/>
              </a:rPr>
              <a:t>y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60" dirty="0">
                <a:latin typeface="Times New Roman"/>
                <a:cs typeface="Times New Roman"/>
              </a:rPr>
              <a:t>b</a:t>
            </a:r>
            <a:r>
              <a:rPr sz="2400" spc="-85" dirty="0">
                <a:latin typeface="Times New Roman"/>
                <a:cs typeface="Times New Roman"/>
              </a:rPr>
              <a:t>i</a:t>
            </a:r>
            <a:r>
              <a:rPr sz="2400" spc="30" dirty="0">
                <a:latin typeface="Times New Roman"/>
                <a:cs typeface="Times New Roman"/>
              </a:rPr>
              <a:t>t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110" dirty="0">
                <a:latin typeface="Times New Roman"/>
                <a:cs typeface="Times New Roman"/>
              </a:rPr>
              <a:t>in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70" dirty="0">
                <a:latin typeface="Times New Roman"/>
                <a:cs typeface="Times New Roman"/>
              </a:rPr>
              <a:t>the </a:t>
            </a:r>
            <a:r>
              <a:rPr sz="2400" i="1" spc="-360" dirty="0">
                <a:latin typeface="Times New Roman"/>
                <a:cs typeface="Times New Roman"/>
              </a:rPr>
              <a:t>m</a:t>
            </a:r>
            <a:r>
              <a:rPr sz="2400" i="1" spc="-200" dirty="0">
                <a:latin typeface="Times New Roman"/>
                <a:cs typeface="Times New Roman"/>
              </a:rPr>
              <a:t>iddl</a:t>
            </a:r>
            <a:r>
              <a:rPr sz="2400" i="1" spc="-225" dirty="0">
                <a:latin typeface="Times New Roman"/>
                <a:cs typeface="Times New Roman"/>
              </a:rPr>
              <a:t>e</a:t>
            </a:r>
            <a:r>
              <a:rPr sz="2400" i="1" spc="-70" dirty="0">
                <a:latin typeface="Times New Roman"/>
                <a:cs typeface="Times New Roman"/>
              </a:rPr>
              <a:t> </a:t>
            </a:r>
            <a:r>
              <a:rPr sz="2400" spc="-140" dirty="0">
                <a:latin typeface="Times New Roman"/>
                <a:cs typeface="Times New Roman"/>
              </a:rPr>
              <a:t>of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70" dirty="0">
                <a:latin typeface="Times New Roman"/>
                <a:cs typeface="Times New Roman"/>
              </a:rPr>
              <a:t>the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25" dirty="0">
                <a:latin typeface="Times New Roman"/>
                <a:cs typeface="Times New Roman"/>
              </a:rPr>
              <a:t>b</a:t>
            </a:r>
            <a:r>
              <a:rPr sz="2400" spc="-45" dirty="0">
                <a:latin typeface="Times New Roman"/>
                <a:cs typeface="Times New Roman"/>
              </a:rPr>
              <a:t>it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cell</a:t>
            </a:r>
            <a:endParaRPr sz="2400">
              <a:latin typeface="Times New Roman"/>
              <a:cs typeface="Times New Roman"/>
            </a:endParaRPr>
          </a:p>
          <a:p>
            <a:pPr marL="287020" indent="-274955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5416"/>
              <a:buFont typeface="Segoe UI Symbol"/>
              <a:buChar char="⚫"/>
              <a:tabLst>
                <a:tab pos="287020" algn="l"/>
                <a:tab pos="287655" algn="l"/>
              </a:tabLst>
            </a:pPr>
            <a:r>
              <a:rPr sz="2400" i="1" spc="-229" dirty="0">
                <a:latin typeface="Times New Roman"/>
                <a:cs typeface="Times New Roman"/>
              </a:rPr>
              <a:t>Transition</a:t>
            </a:r>
            <a:r>
              <a:rPr sz="2400" i="1" spc="-65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at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75" dirty="0">
                <a:latin typeface="Times New Roman"/>
                <a:cs typeface="Times New Roman"/>
              </a:rPr>
              <a:t>the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25" dirty="0">
                <a:latin typeface="Times New Roman"/>
                <a:cs typeface="Times New Roman"/>
              </a:rPr>
              <a:t>beginning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40" dirty="0">
                <a:latin typeface="Times New Roman"/>
                <a:cs typeface="Times New Roman"/>
              </a:rPr>
              <a:t>of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75" dirty="0">
                <a:latin typeface="Times New Roman"/>
                <a:cs typeface="Times New Roman"/>
              </a:rPr>
              <a:t>the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70" dirty="0">
                <a:latin typeface="Times New Roman"/>
                <a:cs typeface="Times New Roman"/>
              </a:rPr>
              <a:t>bit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cell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50" dirty="0">
                <a:latin typeface="Times New Roman"/>
                <a:cs typeface="Times New Roman"/>
              </a:rPr>
              <a:t>if</a:t>
            </a:r>
            <a:r>
              <a:rPr sz="2400" spc="-70" dirty="0">
                <a:latin typeface="Times New Roman"/>
                <a:cs typeface="Times New Roman"/>
              </a:rPr>
              <a:t> the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65" dirty="0">
                <a:latin typeface="Times New Roman"/>
                <a:cs typeface="Times New Roman"/>
              </a:rPr>
              <a:t>next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70" dirty="0">
                <a:latin typeface="Times New Roman"/>
                <a:cs typeface="Times New Roman"/>
              </a:rPr>
              <a:t>bit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150" dirty="0">
                <a:latin typeface="Times New Roman"/>
                <a:cs typeface="Times New Roman"/>
              </a:rPr>
              <a:t>is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"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i="1" spc="-105" dirty="0">
                <a:latin typeface="Times New Roman"/>
                <a:cs typeface="Times New Roman"/>
              </a:rPr>
              <a:t>0</a:t>
            </a:r>
            <a:r>
              <a:rPr sz="2400" i="1" spc="-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"</a:t>
            </a:r>
            <a:endParaRPr sz="2400">
              <a:latin typeface="Times New Roman"/>
              <a:cs typeface="Times New Roman"/>
            </a:endParaRPr>
          </a:p>
          <a:p>
            <a:pPr marL="287020" indent="-274955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5416"/>
              <a:buFont typeface="Segoe UI Symbol"/>
              <a:buChar char="⚫"/>
              <a:tabLst>
                <a:tab pos="287020" algn="l"/>
                <a:tab pos="287655" algn="l"/>
              </a:tabLst>
            </a:pPr>
            <a:r>
              <a:rPr sz="2400" i="1" spc="-270" dirty="0">
                <a:latin typeface="Times New Roman"/>
                <a:cs typeface="Times New Roman"/>
              </a:rPr>
              <a:t>NO</a:t>
            </a:r>
            <a:r>
              <a:rPr sz="2400" i="1" spc="-355" dirty="0">
                <a:latin typeface="Times New Roman"/>
                <a:cs typeface="Times New Roman"/>
              </a:rPr>
              <a:t> </a:t>
            </a:r>
            <a:r>
              <a:rPr sz="2400" i="1" spc="-229" dirty="0">
                <a:latin typeface="Times New Roman"/>
                <a:cs typeface="Times New Roman"/>
              </a:rPr>
              <a:t>Transition</a:t>
            </a:r>
            <a:r>
              <a:rPr sz="2400" i="1" spc="-70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at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75" dirty="0">
                <a:latin typeface="Times New Roman"/>
                <a:cs typeface="Times New Roman"/>
              </a:rPr>
              <a:t>the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25" dirty="0">
                <a:latin typeface="Times New Roman"/>
                <a:cs typeface="Times New Roman"/>
              </a:rPr>
              <a:t>beginning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40" dirty="0">
                <a:latin typeface="Times New Roman"/>
                <a:cs typeface="Times New Roman"/>
              </a:rPr>
              <a:t>of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75" dirty="0">
                <a:latin typeface="Times New Roman"/>
                <a:cs typeface="Times New Roman"/>
              </a:rPr>
              <a:t>the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70" dirty="0">
                <a:latin typeface="Times New Roman"/>
                <a:cs typeface="Times New Roman"/>
              </a:rPr>
              <a:t>bit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cell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50" dirty="0">
                <a:latin typeface="Times New Roman"/>
                <a:cs typeface="Times New Roman"/>
              </a:rPr>
              <a:t>if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70" dirty="0">
                <a:latin typeface="Times New Roman"/>
                <a:cs typeface="Times New Roman"/>
              </a:rPr>
              <a:t>the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65" dirty="0">
                <a:latin typeface="Times New Roman"/>
                <a:cs typeface="Times New Roman"/>
              </a:rPr>
              <a:t>next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70" dirty="0">
                <a:latin typeface="Times New Roman"/>
                <a:cs typeface="Times New Roman"/>
              </a:rPr>
              <a:t>bit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150" dirty="0">
                <a:latin typeface="Times New Roman"/>
                <a:cs typeface="Times New Roman"/>
              </a:rPr>
              <a:t>is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"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i="1" spc="-105" dirty="0">
                <a:latin typeface="Times New Roman"/>
                <a:cs typeface="Times New Roman"/>
              </a:rPr>
              <a:t>1</a:t>
            </a:r>
            <a:r>
              <a:rPr sz="2400" i="1" spc="-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"</a:t>
            </a:r>
            <a:endParaRPr sz="2400">
              <a:latin typeface="Times New Roman"/>
              <a:cs typeface="Times New Roman"/>
            </a:endParaRPr>
          </a:p>
          <a:p>
            <a:pPr marL="287020" indent="-274955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5416"/>
              <a:buFont typeface="Segoe UI Symbol"/>
              <a:buChar char="⚫"/>
              <a:tabLst>
                <a:tab pos="287020" algn="l"/>
                <a:tab pos="287655" algn="l"/>
              </a:tabLst>
            </a:pPr>
            <a:r>
              <a:rPr sz="2400" i="1" spc="-305" dirty="0">
                <a:latin typeface="Times New Roman"/>
                <a:cs typeface="Times New Roman"/>
              </a:rPr>
              <a:t>Used</a:t>
            </a:r>
            <a:r>
              <a:rPr sz="2400" i="1" spc="-65" dirty="0">
                <a:latin typeface="Times New Roman"/>
                <a:cs typeface="Times New Roman"/>
              </a:rPr>
              <a:t> </a:t>
            </a:r>
            <a:r>
              <a:rPr sz="2400" i="1" spc="-150" dirty="0">
                <a:latin typeface="Times New Roman"/>
                <a:cs typeface="Times New Roman"/>
              </a:rPr>
              <a:t>in</a:t>
            </a:r>
            <a:r>
              <a:rPr sz="2400" i="1" spc="-355" dirty="0">
                <a:latin typeface="Times New Roman"/>
                <a:cs typeface="Times New Roman"/>
              </a:rPr>
              <a:t> </a:t>
            </a:r>
            <a:r>
              <a:rPr sz="2400" i="1" spc="-300" dirty="0">
                <a:latin typeface="Times New Roman"/>
                <a:cs typeface="Times New Roman"/>
              </a:rPr>
              <a:t>Token</a:t>
            </a:r>
            <a:r>
              <a:rPr sz="2400" i="1" spc="-65" dirty="0">
                <a:latin typeface="Times New Roman"/>
                <a:cs typeface="Times New Roman"/>
              </a:rPr>
              <a:t> </a:t>
            </a:r>
            <a:r>
              <a:rPr sz="2400" i="1" spc="-204" dirty="0">
                <a:latin typeface="Times New Roman"/>
                <a:cs typeface="Times New Roman"/>
              </a:rPr>
              <a:t>Ring</a:t>
            </a:r>
            <a:r>
              <a:rPr sz="2400" i="1" spc="-60" dirty="0">
                <a:latin typeface="Times New Roman"/>
                <a:cs typeface="Times New Roman"/>
              </a:rPr>
              <a:t> </a:t>
            </a:r>
            <a:r>
              <a:rPr sz="2400" i="1" spc="-295" dirty="0">
                <a:latin typeface="Times New Roman"/>
                <a:cs typeface="Times New Roman"/>
              </a:rPr>
              <a:t>or</a:t>
            </a:r>
            <a:r>
              <a:rPr sz="2400" i="1" spc="-70" dirty="0">
                <a:latin typeface="Times New Roman"/>
                <a:cs typeface="Times New Roman"/>
              </a:rPr>
              <a:t> </a:t>
            </a:r>
            <a:r>
              <a:rPr sz="2400" i="1" spc="-320" dirty="0">
                <a:latin typeface="Times New Roman"/>
                <a:cs typeface="Times New Roman"/>
              </a:rPr>
              <a:t>IEEE</a:t>
            </a:r>
            <a:r>
              <a:rPr sz="2400" i="1" spc="-60" dirty="0">
                <a:latin typeface="Times New Roman"/>
                <a:cs typeface="Times New Roman"/>
              </a:rPr>
              <a:t> </a:t>
            </a:r>
            <a:r>
              <a:rPr sz="2400" i="1" spc="-160" dirty="0">
                <a:latin typeface="Times New Roman"/>
                <a:cs typeface="Times New Roman"/>
              </a:rPr>
              <a:t>802.5-compliant</a:t>
            </a:r>
            <a:r>
              <a:rPr sz="2400" i="1" spc="-90" dirty="0">
                <a:latin typeface="Times New Roman"/>
                <a:cs typeface="Times New Roman"/>
              </a:rPr>
              <a:t> </a:t>
            </a:r>
            <a:r>
              <a:rPr sz="2400" i="1" spc="-245" dirty="0">
                <a:latin typeface="Times New Roman"/>
                <a:cs typeface="Times New Roman"/>
              </a:rPr>
              <a:t>LANs.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4040" y="194564"/>
            <a:ext cx="55397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75" dirty="0">
                <a:solidFill>
                  <a:srgbClr val="585858"/>
                </a:solidFill>
                <a:latin typeface="Times New Roman"/>
                <a:cs typeface="Times New Roman"/>
              </a:rPr>
              <a:t>Differ</a:t>
            </a:r>
            <a:r>
              <a:rPr spc="-135" dirty="0">
                <a:solidFill>
                  <a:srgbClr val="585858"/>
                </a:solidFill>
                <a:latin typeface="Times New Roman"/>
                <a:cs typeface="Times New Roman"/>
              </a:rPr>
              <a:t>enti</a:t>
            </a:r>
            <a:r>
              <a:rPr spc="-155" dirty="0">
                <a:solidFill>
                  <a:srgbClr val="585858"/>
                </a:solidFill>
                <a:latin typeface="Times New Roman"/>
                <a:cs typeface="Times New Roman"/>
              </a:rPr>
              <a:t>a</a:t>
            </a:r>
            <a:r>
              <a:rPr spc="-140" dirty="0">
                <a:solidFill>
                  <a:srgbClr val="585858"/>
                </a:solidFill>
                <a:latin typeface="Times New Roman"/>
                <a:cs typeface="Times New Roman"/>
              </a:rPr>
              <a:t>l</a:t>
            </a:r>
            <a:r>
              <a:rPr spc="-95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pc="-290" dirty="0">
                <a:solidFill>
                  <a:srgbClr val="585858"/>
                </a:solidFill>
                <a:latin typeface="Times New Roman"/>
                <a:cs typeface="Times New Roman"/>
              </a:rPr>
              <a:t>Man</a:t>
            </a:r>
            <a:r>
              <a:rPr spc="-155" dirty="0">
                <a:solidFill>
                  <a:srgbClr val="585858"/>
                </a:solidFill>
                <a:latin typeface="Times New Roman"/>
                <a:cs typeface="Times New Roman"/>
              </a:rPr>
              <a:t>c</a:t>
            </a:r>
            <a:r>
              <a:rPr spc="-114" dirty="0">
                <a:solidFill>
                  <a:srgbClr val="585858"/>
                </a:solidFill>
                <a:latin typeface="Times New Roman"/>
                <a:cs typeface="Times New Roman"/>
              </a:rPr>
              <a:t>hester</a:t>
            </a:r>
            <a:r>
              <a:rPr spc="-90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pc="-135" dirty="0">
                <a:solidFill>
                  <a:srgbClr val="585858"/>
                </a:solidFill>
                <a:latin typeface="Times New Roman"/>
                <a:cs typeface="Times New Roman"/>
              </a:rPr>
              <a:t>e</a:t>
            </a:r>
            <a:r>
              <a:rPr spc="-170" dirty="0">
                <a:solidFill>
                  <a:srgbClr val="585858"/>
                </a:solidFill>
                <a:latin typeface="Times New Roman"/>
                <a:cs typeface="Times New Roman"/>
              </a:rPr>
              <a:t>nc</a:t>
            </a:r>
            <a:r>
              <a:rPr spc="-195" dirty="0">
                <a:solidFill>
                  <a:srgbClr val="585858"/>
                </a:solidFill>
                <a:latin typeface="Times New Roman"/>
                <a:cs typeface="Times New Roman"/>
              </a:rPr>
              <a:t>oding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7059" y="953494"/>
            <a:ext cx="7757481" cy="3029805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831850" y="4411979"/>
            <a:ext cx="7616190" cy="2359660"/>
            <a:chOff x="831850" y="4411979"/>
            <a:chExt cx="7616190" cy="2359660"/>
          </a:xfrm>
        </p:grpSpPr>
        <p:sp>
          <p:nvSpPr>
            <p:cNvPr id="5" name="object 5"/>
            <p:cNvSpPr/>
            <p:nvPr/>
          </p:nvSpPr>
          <p:spPr>
            <a:xfrm>
              <a:off x="838200" y="4495799"/>
              <a:ext cx="7543800" cy="2062480"/>
            </a:xfrm>
            <a:custGeom>
              <a:avLst/>
              <a:gdLst/>
              <a:ahLst/>
              <a:cxnLst/>
              <a:rect l="l" t="t" r="r" b="b"/>
              <a:pathLst>
                <a:path w="7543800" h="2062479">
                  <a:moveTo>
                    <a:pt x="0" y="2062099"/>
                  </a:moveTo>
                  <a:lnTo>
                    <a:pt x="7543800" y="2062099"/>
                  </a:lnTo>
                  <a:lnTo>
                    <a:pt x="7543800" y="0"/>
                  </a:lnTo>
                  <a:lnTo>
                    <a:pt x="0" y="0"/>
                  </a:lnTo>
                  <a:lnTo>
                    <a:pt x="0" y="2062099"/>
                  </a:lnTo>
                  <a:close/>
                </a:path>
              </a:pathLst>
            </a:custGeom>
            <a:ln w="12700">
              <a:solidFill>
                <a:srgbClr val="D2471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2876" y="4411979"/>
              <a:ext cx="7516368" cy="89611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96111" y="4899659"/>
              <a:ext cx="7551420" cy="89611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30223" y="5387339"/>
              <a:ext cx="7280148" cy="89611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723644" y="5875019"/>
              <a:ext cx="5800344" cy="896112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1134262" y="4471796"/>
            <a:ext cx="6990715" cy="19773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40005" algn="ctr">
              <a:lnSpc>
                <a:spcPct val="100000"/>
              </a:lnSpc>
              <a:spcBef>
                <a:spcPts val="100"/>
              </a:spcBef>
            </a:pPr>
            <a:r>
              <a:rPr sz="3200" i="1" spc="-250" dirty="0">
                <a:latin typeface="Times New Roman"/>
                <a:cs typeface="Times New Roman"/>
              </a:rPr>
              <a:t>In </a:t>
            </a:r>
            <a:r>
              <a:rPr sz="3200" i="1" spc="-240" dirty="0">
                <a:latin typeface="Times New Roman"/>
                <a:cs typeface="Times New Roman"/>
              </a:rPr>
              <a:t>differential </a:t>
            </a:r>
            <a:r>
              <a:rPr sz="3200" i="1" spc="-355" dirty="0">
                <a:latin typeface="Times New Roman"/>
                <a:cs typeface="Times New Roman"/>
              </a:rPr>
              <a:t>Manchester</a:t>
            </a:r>
            <a:r>
              <a:rPr sz="3200" i="1" spc="-350" dirty="0">
                <a:latin typeface="Times New Roman"/>
                <a:cs typeface="Times New Roman"/>
              </a:rPr>
              <a:t> </a:t>
            </a:r>
            <a:r>
              <a:rPr sz="3200" i="1" spc="-295" dirty="0">
                <a:latin typeface="Times New Roman"/>
                <a:cs typeface="Times New Roman"/>
              </a:rPr>
              <a:t>encoding, </a:t>
            </a:r>
            <a:r>
              <a:rPr sz="3200" i="1" spc="-250" dirty="0">
                <a:latin typeface="Times New Roman"/>
                <a:cs typeface="Times New Roman"/>
              </a:rPr>
              <a:t>the </a:t>
            </a:r>
            <a:r>
              <a:rPr sz="3200" i="1" spc="-254" dirty="0">
                <a:latin typeface="Times New Roman"/>
                <a:cs typeface="Times New Roman"/>
              </a:rPr>
              <a:t>transition</a:t>
            </a:r>
            <a:r>
              <a:rPr sz="3200" i="1" spc="-250" dirty="0">
                <a:latin typeface="Times New Roman"/>
                <a:cs typeface="Times New Roman"/>
              </a:rPr>
              <a:t> </a:t>
            </a:r>
            <a:r>
              <a:rPr sz="3200" i="1" spc="-215" dirty="0">
                <a:latin typeface="Times New Roman"/>
                <a:cs typeface="Times New Roman"/>
              </a:rPr>
              <a:t>at </a:t>
            </a:r>
            <a:r>
              <a:rPr sz="3200" i="1" spc="-210" dirty="0">
                <a:latin typeface="Times New Roman"/>
                <a:cs typeface="Times New Roman"/>
              </a:rPr>
              <a:t> </a:t>
            </a:r>
            <a:r>
              <a:rPr sz="3200" i="1" spc="-250" dirty="0">
                <a:latin typeface="Times New Roman"/>
                <a:cs typeface="Times New Roman"/>
              </a:rPr>
              <a:t>the</a:t>
            </a:r>
            <a:r>
              <a:rPr sz="3200" i="1" spc="-70" dirty="0">
                <a:latin typeface="Times New Roman"/>
                <a:cs typeface="Times New Roman"/>
              </a:rPr>
              <a:t> </a:t>
            </a:r>
            <a:r>
              <a:rPr sz="3200" i="1" spc="-305" dirty="0">
                <a:latin typeface="Times New Roman"/>
                <a:cs typeface="Times New Roman"/>
              </a:rPr>
              <a:t>middle</a:t>
            </a:r>
            <a:r>
              <a:rPr sz="3200" i="1" spc="-80" dirty="0">
                <a:latin typeface="Times New Roman"/>
                <a:cs typeface="Times New Roman"/>
              </a:rPr>
              <a:t> </a:t>
            </a:r>
            <a:r>
              <a:rPr sz="3200" i="1" spc="-280" dirty="0">
                <a:latin typeface="Times New Roman"/>
                <a:cs typeface="Times New Roman"/>
              </a:rPr>
              <a:t>of</a:t>
            </a:r>
            <a:r>
              <a:rPr sz="3200" i="1" spc="-80" dirty="0">
                <a:latin typeface="Times New Roman"/>
                <a:cs typeface="Times New Roman"/>
              </a:rPr>
              <a:t> </a:t>
            </a:r>
            <a:r>
              <a:rPr sz="3200" i="1" spc="-250" dirty="0">
                <a:latin typeface="Times New Roman"/>
                <a:cs typeface="Times New Roman"/>
              </a:rPr>
              <a:t>the</a:t>
            </a:r>
            <a:r>
              <a:rPr sz="3200" i="1" spc="-70" dirty="0">
                <a:latin typeface="Times New Roman"/>
                <a:cs typeface="Times New Roman"/>
              </a:rPr>
              <a:t> </a:t>
            </a:r>
            <a:r>
              <a:rPr sz="3200" i="1" spc="-204" dirty="0">
                <a:latin typeface="Times New Roman"/>
                <a:cs typeface="Times New Roman"/>
              </a:rPr>
              <a:t>bit</a:t>
            </a:r>
            <a:r>
              <a:rPr sz="3200" i="1" spc="-60" dirty="0">
                <a:latin typeface="Times New Roman"/>
                <a:cs typeface="Times New Roman"/>
              </a:rPr>
              <a:t> </a:t>
            </a:r>
            <a:r>
              <a:rPr sz="3200" i="1" spc="-285" dirty="0">
                <a:latin typeface="Times New Roman"/>
                <a:cs typeface="Times New Roman"/>
              </a:rPr>
              <a:t>is</a:t>
            </a:r>
            <a:r>
              <a:rPr sz="3200" i="1" spc="-70" dirty="0">
                <a:latin typeface="Times New Roman"/>
                <a:cs typeface="Times New Roman"/>
              </a:rPr>
              <a:t> </a:t>
            </a:r>
            <a:r>
              <a:rPr sz="3200" i="1" spc="-365" dirty="0">
                <a:latin typeface="Times New Roman"/>
                <a:cs typeface="Times New Roman"/>
              </a:rPr>
              <a:t>used</a:t>
            </a:r>
            <a:r>
              <a:rPr sz="3200" i="1" spc="-75" dirty="0">
                <a:latin typeface="Times New Roman"/>
                <a:cs typeface="Times New Roman"/>
              </a:rPr>
              <a:t> </a:t>
            </a:r>
            <a:r>
              <a:rPr sz="3200" i="1" spc="-285" dirty="0">
                <a:latin typeface="Times New Roman"/>
                <a:cs typeface="Times New Roman"/>
              </a:rPr>
              <a:t>only</a:t>
            </a:r>
            <a:r>
              <a:rPr sz="3200" i="1" spc="-70" dirty="0">
                <a:latin typeface="Times New Roman"/>
                <a:cs typeface="Times New Roman"/>
              </a:rPr>
              <a:t> </a:t>
            </a:r>
            <a:r>
              <a:rPr sz="3200" i="1" spc="-320" dirty="0">
                <a:latin typeface="Times New Roman"/>
                <a:cs typeface="Times New Roman"/>
              </a:rPr>
              <a:t>for</a:t>
            </a:r>
            <a:r>
              <a:rPr sz="3200" i="1" spc="-65" dirty="0">
                <a:latin typeface="Times New Roman"/>
                <a:cs typeface="Times New Roman"/>
              </a:rPr>
              <a:t> </a:t>
            </a:r>
            <a:r>
              <a:rPr sz="3200" i="1" spc="-260" dirty="0">
                <a:latin typeface="Times New Roman"/>
                <a:cs typeface="Times New Roman"/>
              </a:rPr>
              <a:t>synchronization.</a:t>
            </a:r>
            <a:endParaRPr sz="3200">
              <a:latin typeface="Times New Roman"/>
              <a:cs typeface="Times New Roman"/>
            </a:endParaRPr>
          </a:p>
          <a:p>
            <a:pPr marL="146685" marR="180340" algn="ctr">
              <a:lnSpc>
                <a:spcPct val="100000"/>
              </a:lnSpc>
              <a:spcBef>
                <a:spcPts val="5"/>
              </a:spcBef>
            </a:pPr>
            <a:r>
              <a:rPr sz="3200" i="1" spc="-305" dirty="0">
                <a:latin typeface="Times New Roman"/>
                <a:cs typeface="Times New Roman"/>
              </a:rPr>
              <a:t>The</a:t>
            </a:r>
            <a:r>
              <a:rPr sz="3200" i="1" spc="-300" dirty="0">
                <a:latin typeface="Times New Roman"/>
                <a:cs typeface="Times New Roman"/>
              </a:rPr>
              <a:t> </a:t>
            </a:r>
            <a:r>
              <a:rPr sz="3200" i="1" spc="-210" dirty="0">
                <a:latin typeface="Times New Roman"/>
                <a:cs typeface="Times New Roman"/>
              </a:rPr>
              <a:t>bit </a:t>
            </a:r>
            <a:r>
              <a:rPr sz="3200" i="1" spc="-315" dirty="0">
                <a:latin typeface="Times New Roman"/>
                <a:cs typeface="Times New Roman"/>
              </a:rPr>
              <a:t>representation</a:t>
            </a:r>
            <a:r>
              <a:rPr sz="3200" i="1" spc="-310" dirty="0">
                <a:latin typeface="Times New Roman"/>
                <a:cs typeface="Times New Roman"/>
              </a:rPr>
              <a:t> </a:t>
            </a:r>
            <a:r>
              <a:rPr sz="3200" i="1" spc="-285" dirty="0">
                <a:latin typeface="Times New Roman"/>
                <a:cs typeface="Times New Roman"/>
              </a:rPr>
              <a:t>is defined </a:t>
            </a:r>
            <a:r>
              <a:rPr sz="3200" i="1" spc="-380" dirty="0">
                <a:latin typeface="Times New Roman"/>
                <a:cs typeface="Times New Roman"/>
              </a:rPr>
              <a:t>by</a:t>
            </a:r>
            <a:r>
              <a:rPr sz="3200" i="1" spc="-375" dirty="0">
                <a:latin typeface="Times New Roman"/>
                <a:cs typeface="Times New Roman"/>
              </a:rPr>
              <a:t> </a:t>
            </a:r>
            <a:r>
              <a:rPr sz="3200" i="1" spc="-250" dirty="0">
                <a:latin typeface="Times New Roman"/>
                <a:cs typeface="Times New Roman"/>
              </a:rPr>
              <a:t>the </a:t>
            </a:r>
            <a:r>
              <a:rPr sz="3200" i="1" spc="-320" dirty="0">
                <a:latin typeface="Times New Roman"/>
                <a:cs typeface="Times New Roman"/>
              </a:rPr>
              <a:t>inversion</a:t>
            </a:r>
            <a:r>
              <a:rPr sz="3200" i="1" spc="-315" dirty="0">
                <a:latin typeface="Times New Roman"/>
                <a:cs typeface="Times New Roman"/>
              </a:rPr>
              <a:t> </a:t>
            </a:r>
            <a:r>
              <a:rPr sz="3200" i="1" spc="-395" dirty="0">
                <a:latin typeface="Times New Roman"/>
                <a:cs typeface="Times New Roman"/>
              </a:rPr>
              <a:t>or </a:t>
            </a:r>
            <a:r>
              <a:rPr sz="3200" i="1" spc="-790" dirty="0">
                <a:latin typeface="Times New Roman"/>
                <a:cs typeface="Times New Roman"/>
              </a:rPr>
              <a:t> </a:t>
            </a:r>
            <a:r>
              <a:rPr sz="3200" i="1" spc="-265" dirty="0">
                <a:latin typeface="Times New Roman"/>
                <a:cs typeface="Times New Roman"/>
              </a:rPr>
              <a:t>noni</a:t>
            </a:r>
            <a:r>
              <a:rPr sz="3200" i="1" spc="-365" dirty="0">
                <a:latin typeface="Times New Roman"/>
                <a:cs typeface="Times New Roman"/>
              </a:rPr>
              <a:t>n</a:t>
            </a:r>
            <a:r>
              <a:rPr sz="3200" i="1" spc="-380" dirty="0">
                <a:latin typeface="Times New Roman"/>
                <a:cs typeface="Times New Roman"/>
              </a:rPr>
              <a:t>v</a:t>
            </a:r>
            <a:r>
              <a:rPr sz="3200" i="1" spc="-409" dirty="0">
                <a:latin typeface="Times New Roman"/>
                <a:cs typeface="Times New Roman"/>
              </a:rPr>
              <a:t>e</a:t>
            </a:r>
            <a:r>
              <a:rPr sz="3200" i="1" spc="-350" dirty="0">
                <a:latin typeface="Times New Roman"/>
                <a:cs typeface="Times New Roman"/>
              </a:rPr>
              <a:t>r</a:t>
            </a:r>
            <a:r>
              <a:rPr sz="3200" i="1" spc="-315" dirty="0">
                <a:latin typeface="Times New Roman"/>
                <a:cs typeface="Times New Roman"/>
              </a:rPr>
              <a:t>sion</a:t>
            </a:r>
            <a:r>
              <a:rPr sz="3200" i="1" spc="-55" dirty="0">
                <a:latin typeface="Times New Roman"/>
                <a:cs typeface="Times New Roman"/>
              </a:rPr>
              <a:t> </a:t>
            </a:r>
            <a:r>
              <a:rPr sz="3200" i="1" spc="-370" dirty="0">
                <a:latin typeface="Times New Roman"/>
                <a:cs typeface="Times New Roman"/>
              </a:rPr>
              <a:t>a</a:t>
            </a:r>
            <a:r>
              <a:rPr sz="3200" i="1" spc="-60" dirty="0">
                <a:latin typeface="Times New Roman"/>
                <a:cs typeface="Times New Roman"/>
              </a:rPr>
              <a:t>t</a:t>
            </a:r>
            <a:r>
              <a:rPr sz="3200" i="1" spc="-80" dirty="0">
                <a:latin typeface="Times New Roman"/>
                <a:cs typeface="Times New Roman"/>
              </a:rPr>
              <a:t> </a:t>
            </a:r>
            <a:r>
              <a:rPr sz="3200" i="1" spc="-70" dirty="0">
                <a:latin typeface="Times New Roman"/>
                <a:cs typeface="Times New Roman"/>
              </a:rPr>
              <a:t>t</a:t>
            </a:r>
            <a:r>
              <a:rPr sz="3200" i="1" spc="-345" dirty="0">
                <a:latin typeface="Times New Roman"/>
                <a:cs typeface="Times New Roman"/>
              </a:rPr>
              <a:t>he</a:t>
            </a:r>
            <a:r>
              <a:rPr sz="3200" i="1" spc="-70" dirty="0">
                <a:latin typeface="Times New Roman"/>
                <a:cs typeface="Times New Roman"/>
              </a:rPr>
              <a:t> </a:t>
            </a:r>
            <a:r>
              <a:rPr sz="3200" i="1" spc="-455" dirty="0">
                <a:latin typeface="Times New Roman"/>
                <a:cs typeface="Times New Roman"/>
              </a:rPr>
              <a:t>b</a:t>
            </a:r>
            <a:r>
              <a:rPr sz="3200" i="1" spc="-395" dirty="0">
                <a:latin typeface="Times New Roman"/>
                <a:cs typeface="Times New Roman"/>
              </a:rPr>
              <a:t>e</a:t>
            </a:r>
            <a:r>
              <a:rPr sz="3200" i="1" spc="-335" dirty="0">
                <a:latin typeface="Times New Roman"/>
                <a:cs typeface="Times New Roman"/>
              </a:rPr>
              <a:t>g</a:t>
            </a:r>
            <a:r>
              <a:rPr sz="3200" i="1" spc="-215" dirty="0">
                <a:latin typeface="Times New Roman"/>
                <a:cs typeface="Times New Roman"/>
              </a:rPr>
              <a:t>inn</a:t>
            </a:r>
            <a:r>
              <a:rPr sz="3200" i="1" spc="-155" dirty="0">
                <a:latin typeface="Times New Roman"/>
                <a:cs typeface="Times New Roman"/>
              </a:rPr>
              <a:t>i</a:t>
            </a:r>
            <a:r>
              <a:rPr sz="3200" i="1" spc="-320" dirty="0">
                <a:latin typeface="Times New Roman"/>
                <a:cs typeface="Times New Roman"/>
              </a:rPr>
              <a:t>ng</a:t>
            </a:r>
            <a:r>
              <a:rPr sz="3200" i="1" spc="-60" dirty="0">
                <a:latin typeface="Times New Roman"/>
                <a:cs typeface="Times New Roman"/>
              </a:rPr>
              <a:t> </a:t>
            </a:r>
            <a:r>
              <a:rPr sz="3200" i="1" spc="-360" dirty="0">
                <a:latin typeface="Times New Roman"/>
                <a:cs typeface="Times New Roman"/>
              </a:rPr>
              <a:t>o</a:t>
            </a:r>
            <a:r>
              <a:rPr sz="3200" i="1" spc="-200" dirty="0">
                <a:latin typeface="Times New Roman"/>
                <a:cs typeface="Times New Roman"/>
              </a:rPr>
              <a:t>f</a:t>
            </a:r>
            <a:r>
              <a:rPr sz="3200" i="1" spc="-70" dirty="0">
                <a:latin typeface="Times New Roman"/>
                <a:cs typeface="Times New Roman"/>
              </a:rPr>
              <a:t> </a:t>
            </a:r>
            <a:r>
              <a:rPr sz="3200" i="1" spc="-250" dirty="0">
                <a:latin typeface="Times New Roman"/>
                <a:cs typeface="Times New Roman"/>
              </a:rPr>
              <a:t>the</a:t>
            </a:r>
            <a:r>
              <a:rPr sz="3200" i="1" spc="-80" dirty="0">
                <a:latin typeface="Times New Roman"/>
                <a:cs typeface="Times New Roman"/>
              </a:rPr>
              <a:t> </a:t>
            </a:r>
            <a:r>
              <a:rPr sz="3200" i="1" spc="-425" dirty="0">
                <a:latin typeface="Times New Roman"/>
                <a:cs typeface="Times New Roman"/>
              </a:rPr>
              <a:t>b</a:t>
            </a:r>
            <a:r>
              <a:rPr sz="3200" i="1" spc="-55" dirty="0">
                <a:latin typeface="Times New Roman"/>
                <a:cs typeface="Times New Roman"/>
              </a:rPr>
              <a:t>it.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688974"/>
            <a:ext cx="154749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45" dirty="0"/>
              <a:t>Out</a:t>
            </a:r>
            <a:r>
              <a:rPr sz="4000" spc="-35" dirty="0"/>
              <a:t>line</a:t>
            </a:r>
            <a:endParaRPr sz="4000"/>
          </a:p>
        </p:txBody>
      </p:sp>
      <p:sp>
        <p:nvSpPr>
          <p:cNvPr id="3" name="object 3"/>
          <p:cNvSpPr/>
          <p:nvPr/>
        </p:nvSpPr>
        <p:spPr>
          <a:xfrm>
            <a:off x="914400" y="1450594"/>
            <a:ext cx="7467600" cy="5100320"/>
          </a:xfrm>
          <a:custGeom>
            <a:avLst/>
            <a:gdLst/>
            <a:ahLst/>
            <a:cxnLst/>
            <a:rect l="l" t="t" r="r" b="b"/>
            <a:pathLst>
              <a:path w="7467600" h="5100320">
                <a:moveTo>
                  <a:pt x="0" y="77215"/>
                </a:moveTo>
                <a:lnTo>
                  <a:pt x="6067" y="47148"/>
                </a:lnTo>
                <a:lnTo>
                  <a:pt x="22615" y="22605"/>
                </a:lnTo>
                <a:lnTo>
                  <a:pt x="47159" y="6064"/>
                </a:lnTo>
                <a:lnTo>
                  <a:pt x="77215" y="0"/>
                </a:lnTo>
                <a:lnTo>
                  <a:pt x="7390383" y="0"/>
                </a:lnTo>
                <a:lnTo>
                  <a:pt x="7420451" y="6064"/>
                </a:lnTo>
                <a:lnTo>
                  <a:pt x="7444994" y="22606"/>
                </a:lnTo>
                <a:lnTo>
                  <a:pt x="7461535" y="47148"/>
                </a:lnTo>
                <a:lnTo>
                  <a:pt x="7467600" y="77215"/>
                </a:lnTo>
                <a:lnTo>
                  <a:pt x="7467600" y="386079"/>
                </a:lnTo>
                <a:lnTo>
                  <a:pt x="7461535" y="416147"/>
                </a:lnTo>
                <a:lnTo>
                  <a:pt x="7444994" y="440689"/>
                </a:lnTo>
                <a:lnTo>
                  <a:pt x="7420451" y="457231"/>
                </a:lnTo>
                <a:lnTo>
                  <a:pt x="7390383" y="463295"/>
                </a:lnTo>
                <a:lnTo>
                  <a:pt x="77215" y="463295"/>
                </a:lnTo>
                <a:lnTo>
                  <a:pt x="47159" y="457231"/>
                </a:lnTo>
                <a:lnTo>
                  <a:pt x="22615" y="440689"/>
                </a:lnTo>
                <a:lnTo>
                  <a:pt x="6067" y="416147"/>
                </a:lnTo>
                <a:lnTo>
                  <a:pt x="0" y="386079"/>
                </a:lnTo>
                <a:lnTo>
                  <a:pt x="0" y="77215"/>
                </a:lnTo>
                <a:close/>
              </a:path>
              <a:path w="7467600" h="5100320">
                <a:moveTo>
                  <a:pt x="0" y="592454"/>
                </a:moveTo>
                <a:lnTo>
                  <a:pt x="6067" y="562387"/>
                </a:lnTo>
                <a:lnTo>
                  <a:pt x="22615" y="537844"/>
                </a:lnTo>
                <a:lnTo>
                  <a:pt x="47159" y="521303"/>
                </a:lnTo>
                <a:lnTo>
                  <a:pt x="77215" y="515238"/>
                </a:lnTo>
                <a:lnTo>
                  <a:pt x="7390383" y="515238"/>
                </a:lnTo>
                <a:lnTo>
                  <a:pt x="7420451" y="521303"/>
                </a:lnTo>
                <a:lnTo>
                  <a:pt x="7444994" y="537845"/>
                </a:lnTo>
                <a:lnTo>
                  <a:pt x="7461535" y="562387"/>
                </a:lnTo>
                <a:lnTo>
                  <a:pt x="7467600" y="592454"/>
                </a:lnTo>
                <a:lnTo>
                  <a:pt x="7467600" y="901318"/>
                </a:lnTo>
                <a:lnTo>
                  <a:pt x="7461535" y="931386"/>
                </a:lnTo>
                <a:lnTo>
                  <a:pt x="7444994" y="955928"/>
                </a:lnTo>
                <a:lnTo>
                  <a:pt x="7420451" y="972470"/>
                </a:lnTo>
                <a:lnTo>
                  <a:pt x="7390383" y="978534"/>
                </a:lnTo>
                <a:lnTo>
                  <a:pt x="77215" y="978534"/>
                </a:lnTo>
                <a:lnTo>
                  <a:pt x="47159" y="972470"/>
                </a:lnTo>
                <a:lnTo>
                  <a:pt x="22615" y="955928"/>
                </a:lnTo>
                <a:lnTo>
                  <a:pt x="6067" y="931386"/>
                </a:lnTo>
                <a:lnTo>
                  <a:pt x="0" y="901318"/>
                </a:lnTo>
                <a:lnTo>
                  <a:pt x="0" y="592454"/>
                </a:lnTo>
                <a:close/>
              </a:path>
              <a:path w="7467600" h="5100320">
                <a:moveTo>
                  <a:pt x="0" y="1107566"/>
                </a:moveTo>
                <a:lnTo>
                  <a:pt x="6067" y="1077499"/>
                </a:lnTo>
                <a:lnTo>
                  <a:pt x="22615" y="1052956"/>
                </a:lnTo>
                <a:lnTo>
                  <a:pt x="47159" y="1036415"/>
                </a:lnTo>
                <a:lnTo>
                  <a:pt x="77215" y="1030351"/>
                </a:lnTo>
                <a:lnTo>
                  <a:pt x="7390383" y="1030351"/>
                </a:lnTo>
                <a:lnTo>
                  <a:pt x="7420451" y="1036415"/>
                </a:lnTo>
                <a:lnTo>
                  <a:pt x="7444994" y="1052957"/>
                </a:lnTo>
                <a:lnTo>
                  <a:pt x="7461535" y="1077499"/>
                </a:lnTo>
                <a:lnTo>
                  <a:pt x="7467600" y="1107566"/>
                </a:lnTo>
                <a:lnTo>
                  <a:pt x="7467600" y="1416430"/>
                </a:lnTo>
                <a:lnTo>
                  <a:pt x="7461535" y="1446498"/>
                </a:lnTo>
                <a:lnTo>
                  <a:pt x="7444994" y="1471040"/>
                </a:lnTo>
                <a:lnTo>
                  <a:pt x="7420451" y="1487582"/>
                </a:lnTo>
                <a:lnTo>
                  <a:pt x="7390383" y="1493646"/>
                </a:lnTo>
                <a:lnTo>
                  <a:pt x="77215" y="1493646"/>
                </a:lnTo>
                <a:lnTo>
                  <a:pt x="47159" y="1487582"/>
                </a:lnTo>
                <a:lnTo>
                  <a:pt x="22615" y="1471040"/>
                </a:lnTo>
                <a:lnTo>
                  <a:pt x="6067" y="1446498"/>
                </a:lnTo>
                <a:lnTo>
                  <a:pt x="0" y="1416430"/>
                </a:lnTo>
                <a:lnTo>
                  <a:pt x="0" y="1107566"/>
                </a:lnTo>
                <a:close/>
              </a:path>
              <a:path w="7467600" h="5100320">
                <a:moveTo>
                  <a:pt x="0" y="1622678"/>
                </a:moveTo>
                <a:lnTo>
                  <a:pt x="6067" y="1592665"/>
                </a:lnTo>
                <a:lnTo>
                  <a:pt x="22615" y="1568116"/>
                </a:lnTo>
                <a:lnTo>
                  <a:pt x="47159" y="1551545"/>
                </a:lnTo>
                <a:lnTo>
                  <a:pt x="77215" y="1545463"/>
                </a:lnTo>
                <a:lnTo>
                  <a:pt x="7390383" y="1545463"/>
                </a:lnTo>
                <a:lnTo>
                  <a:pt x="7420451" y="1551545"/>
                </a:lnTo>
                <a:lnTo>
                  <a:pt x="7444994" y="1568116"/>
                </a:lnTo>
                <a:lnTo>
                  <a:pt x="7461535" y="1592665"/>
                </a:lnTo>
                <a:lnTo>
                  <a:pt x="7467600" y="1622678"/>
                </a:lnTo>
                <a:lnTo>
                  <a:pt x="7467600" y="1931542"/>
                </a:lnTo>
                <a:lnTo>
                  <a:pt x="7461535" y="1961630"/>
                </a:lnTo>
                <a:lnTo>
                  <a:pt x="7444994" y="1986216"/>
                </a:lnTo>
                <a:lnTo>
                  <a:pt x="7420451" y="2002801"/>
                </a:lnTo>
                <a:lnTo>
                  <a:pt x="7390383" y="2008885"/>
                </a:lnTo>
                <a:lnTo>
                  <a:pt x="77215" y="2008885"/>
                </a:lnTo>
                <a:lnTo>
                  <a:pt x="47159" y="2002801"/>
                </a:lnTo>
                <a:lnTo>
                  <a:pt x="22615" y="1986216"/>
                </a:lnTo>
                <a:lnTo>
                  <a:pt x="6067" y="1961630"/>
                </a:lnTo>
                <a:lnTo>
                  <a:pt x="0" y="1931542"/>
                </a:lnTo>
                <a:lnTo>
                  <a:pt x="0" y="1622678"/>
                </a:lnTo>
                <a:close/>
              </a:path>
              <a:path w="7467600" h="5100320">
                <a:moveTo>
                  <a:pt x="0" y="2137917"/>
                </a:moveTo>
                <a:lnTo>
                  <a:pt x="6067" y="2107850"/>
                </a:lnTo>
                <a:lnTo>
                  <a:pt x="22615" y="2083307"/>
                </a:lnTo>
                <a:lnTo>
                  <a:pt x="47159" y="2066766"/>
                </a:lnTo>
                <a:lnTo>
                  <a:pt x="77215" y="2060702"/>
                </a:lnTo>
                <a:lnTo>
                  <a:pt x="7390383" y="2060702"/>
                </a:lnTo>
                <a:lnTo>
                  <a:pt x="7420451" y="2066766"/>
                </a:lnTo>
                <a:lnTo>
                  <a:pt x="7444994" y="2083308"/>
                </a:lnTo>
                <a:lnTo>
                  <a:pt x="7461535" y="2107850"/>
                </a:lnTo>
                <a:lnTo>
                  <a:pt x="7467600" y="2137917"/>
                </a:lnTo>
                <a:lnTo>
                  <a:pt x="7467600" y="2446781"/>
                </a:lnTo>
                <a:lnTo>
                  <a:pt x="7461535" y="2476849"/>
                </a:lnTo>
                <a:lnTo>
                  <a:pt x="7444994" y="2501391"/>
                </a:lnTo>
                <a:lnTo>
                  <a:pt x="7420451" y="2517933"/>
                </a:lnTo>
                <a:lnTo>
                  <a:pt x="7390383" y="2523997"/>
                </a:lnTo>
                <a:lnTo>
                  <a:pt x="77215" y="2523997"/>
                </a:lnTo>
                <a:lnTo>
                  <a:pt x="47159" y="2517933"/>
                </a:lnTo>
                <a:lnTo>
                  <a:pt x="22615" y="2501391"/>
                </a:lnTo>
                <a:lnTo>
                  <a:pt x="6067" y="2476849"/>
                </a:lnTo>
                <a:lnTo>
                  <a:pt x="0" y="2446781"/>
                </a:lnTo>
                <a:lnTo>
                  <a:pt x="0" y="2137917"/>
                </a:lnTo>
                <a:close/>
              </a:path>
              <a:path w="7467600" h="5100320">
                <a:moveTo>
                  <a:pt x="0" y="2653029"/>
                </a:moveTo>
                <a:lnTo>
                  <a:pt x="6067" y="2622962"/>
                </a:lnTo>
                <a:lnTo>
                  <a:pt x="22615" y="2598419"/>
                </a:lnTo>
                <a:lnTo>
                  <a:pt x="47159" y="2581878"/>
                </a:lnTo>
                <a:lnTo>
                  <a:pt x="77215" y="2575813"/>
                </a:lnTo>
                <a:lnTo>
                  <a:pt x="7390383" y="2575813"/>
                </a:lnTo>
                <a:lnTo>
                  <a:pt x="7420451" y="2581878"/>
                </a:lnTo>
                <a:lnTo>
                  <a:pt x="7444994" y="2598419"/>
                </a:lnTo>
                <a:lnTo>
                  <a:pt x="7461535" y="2622962"/>
                </a:lnTo>
                <a:lnTo>
                  <a:pt x="7467600" y="2653029"/>
                </a:lnTo>
                <a:lnTo>
                  <a:pt x="7467600" y="2961893"/>
                </a:lnTo>
                <a:lnTo>
                  <a:pt x="7461535" y="2991961"/>
                </a:lnTo>
                <a:lnTo>
                  <a:pt x="7444994" y="3016504"/>
                </a:lnTo>
                <a:lnTo>
                  <a:pt x="7420451" y="3033045"/>
                </a:lnTo>
                <a:lnTo>
                  <a:pt x="7390383" y="3039110"/>
                </a:lnTo>
                <a:lnTo>
                  <a:pt x="77215" y="3039110"/>
                </a:lnTo>
                <a:lnTo>
                  <a:pt x="47159" y="3033045"/>
                </a:lnTo>
                <a:lnTo>
                  <a:pt x="22615" y="3016504"/>
                </a:lnTo>
                <a:lnTo>
                  <a:pt x="6067" y="2991961"/>
                </a:lnTo>
                <a:lnTo>
                  <a:pt x="0" y="2961893"/>
                </a:lnTo>
                <a:lnTo>
                  <a:pt x="0" y="2653029"/>
                </a:lnTo>
                <a:close/>
              </a:path>
              <a:path w="7467600" h="5100320">
                <a:moveTo>
                  <a:pt x="0" y="3168268"/>
                </a:moveTo>
                <a:lnTo>
                  <a:pt x="6067" y="3138181"/>
                </a:lnTo>
                <a:lnTo>
                  <a:pt x="22615" y="3113595"/>
                </a:lnTo>
                <a:lnTo>
                  <a:pt x="47159" y="3097010"/>
                </a:lnTo>
                <a:lnTo>
                  <a:pt x="77215" y="3090925"/>
                </a:lnTo>
                <a:lnTo>
                  <a:pt x="7390383" y="3090925"/>
                </a:lnTo>
                <a:lnTo>
                  <a:pt x="7420451" y="3097010"/>
                </a:lnTo>
                <a:lnTo>
                  <a:pt x="7444994" y="3113595"/>
                </a:lnTo>
                <a:lnTo>
                  <a:pt x="7461535" y="3138181"/>
                </a:lnTo>
                <a:lnTo>
                  <a:pt x="7467600" y="3168268"/>
                </a:lnTo>
                <a:lnTo>
                  <a:pt x="7467600" y="3477132"/>
                </a:lnTo>
                <a:lnTo>
                  <a:pt x="7461535" y="3507146"/>
                </a:lnTo>
                <a:lnTo>
                  <a:pt x="7444994" y="3531695"/>
                </a:lnTo>
                <a:lnTo>
                  <a:pt x="7420451" y="3548266"/>
                </a:lnTo>
                <a:lnTo>
                  <a:pt x="7390383" y="3554349"/>
                </a:lnTo>
                <a:lnTo>
                  <a:pt x="77215" y="3554349"/>
                </a:lnTo>
                <a:lnTo>
                  <a:pt x="47159" y="3548266"/>
                </a:lnTo>
                <a:lnTo>
                  <a:pt x="22615" y="3531695"/>
                </a:lnTo>
                <a:lnTo>
                  <a:pt x="6067" y="3507146"/>
                </a:lnTo>
                <a:lnTo>
                  <a:pt x="0" y="3477132"/>
                </a:lnTo>
                <a:lnTo>
                  <a:pt x="0" y="3168268"/>
                </a:lnTo>
                <a:close/>
              </a:path>
              <a:path w="7467600" h="5100320">
                <a:moveTo>
                  <a:pt x="0" y="3683380"/>
                </a:moveTo>
                <a:lnTo>
                  <a:pt x="6067" y="3653313"/>
                </a:lnTo>
                <a:lnTo>
                  <a:pt x="22615" y="3628770"/>
                </a:lnTo>
                <a:lnTo>
                  <a:pt x="47159" y="3612229"/>
                </a:lnTo>
                <a:lnTo>
                  <a:pt x="77215" y="3606164"/>
                </a:lnTo>
                <a:lnTo>
                  <a:pt x="7390383" y="3606164"/>
                </a:lnTo>
                <a:lnTo>
                  <a:pt x="7420451" y="3612229"/>
                </a:lnTo>
                <a:lnTo>
                  <a:pt x="7444994" y="3628770"/>
                </a:lnTo>
                <a:lnTo>
                  <a:pt x="7461535" y="3653313"/>
                </a:lnTo>
                <a:lnTo>
                  <a:pt x="7467600" y="3683380"/>
                </a:lnTo>
                <a:lnTo>
                  <a:pt x="7467600" y="3992244"/>
                </a:lnTo>
                <a:lnTo>
                  <a:pt x="7461535" y="4022312"/>
                </a:lnTo>
                <a:lnTo>
                  <a:pt x="7444994" y="4046854"/>
                </a:lnTo>
                <a:lnTo>
                  <a:pt x="7420451" y="4063396"/>
                </a:lnTo>
                <a:lnTo>
                  <a:pt x="7390383" y="4069460"/>
                </a:lnTo>
                <a:lnTo>
                  <a:pt x="77215" y="4069460"/>
                </a:lnTo>
                <a:lnTo>
                  <a:pt x="47159" y="4063396"/>
                </a:lnTo>
                <a:lnTo>
                  <a:pt x="22615" y="4046854"/>
                </a:lnTo>
                <a:lnTo>
                  <a:pt x="6067" y="4022312"/>
                </a:lnTo>
                <a:lnTo>
                  <a:pt x="0" y="3992244"/>
                </a:lnTo>
                <a:lnTo>
                  <a:pt x="0" y="3683380"/>
                </a:lnTo>
                <a:close/>
              </a:path>
              <a:path w="7467600" h="5100320">
                <a:moveTo>
                  <a:pt x="0" y="4198531"/>
                </a:moveTo>
                <a:lnTo>
                  <a:pt x="6067" y="4168463"/>
                </a:lnTo>
                <a:lnTo>
                  <a:pt x="22615" y="4143906"/>
                </a:lnTo>
                <a:lnTo>
                  <a:pt x="47159" y="4127348"/>
                </a:lnTo>
                <a:lnTo>
                  <a:pt x="77215" y="4121277"/>
                </a:lnTo>
                <a:lnTo>
                  <a:pt x="7390383" y="4121277"/>
                </a:lnTo>
                <a:lnTo>
                  <a:pt x="7420451" y="4127348"/>
                </a:lnTo>
                <a:lnTo>
                  <a:pt x="7444994" y="4143906"/>
                </a:lnTo>
                <a:lnTo>
                  <a:pt x="7461535" y="4168463"/>
                </a:lnTo>
                <a:lnTo>
                  <a:pt x="7467600" y="4198531"/>
                </a:lnTo>
                <a:lnTo>
                  <a:pt x="7467600" y="4507407"/>
                </a:lnTo>
                <a:lnTo>
                  <a:pt x="7461535" y="4537464"/>
                </a:lnTo>
                <a:lnTo>
                  <a:pt x="7444994" y="4562008"/>
                </a:lnTo>
                <a:lnTo>
                  <a:pt x="7420451" y="4578555"/>
                </a:lnTo>
                <a:lnTo>
                  <a:pt x="7390383" y="4584623"/>
                </a:lnTo>
                <a:lnTo>
                  <a:pt x="77215" y="4584623"/>
                </a:lnTo>
                <a:lnTo>
                  <a:pt x="47159" y="4578555"/>
                </a:lnTo>
                <a:lnTo>
                  <a:pt x="22615" y="4562008"/>
                </a:lnTo>
                <a:lnTo>
                  <a:pt x="6067" y="4537464"/>
                </a:lnTo>
                <a:lnTo>
                  <a:pt x="0" y="4507407"/>
                </a:lnTo>
                <a:lnTo>
                  <a:pt x="0" y="4198531"/>
                </a:lnTo>
                <a:close/>
              </a:path>
              <a:path w="7467600" h="5100320">
                <a:moveTo>
                  <a:pt x="0" y="4713681"/>
                </a:moveTo>
                <a:lnTo>
                  <a:pt x="6067" y="4683624"/>
                </a:lnTo>
                <a:lnTo>
                  <a:pt x="22615" y="4659080"/>
                </a:lnTo>
                <a:lnTo>
                  <a:pt x="47159" y="4642533"/>
                </a:lnTo>
                <a:lnTo>
                  <a:pt x="77215" y="4636465"/>
                </a:lnTo>
                <a:lnTo>
                  <a:pt x="7390383" y="4636465"/>
                </a:lnTo>
                <a:lnTo>
                  <a:pt x="7420451" y="4642533"/>
                </a:lnTo>
                <a:lnTo>
                  <a:pt x="7444994" y="4659080"/>
                </a:lnTo>
                <a:lnTo>
                  <a:pt x="7461535" y="4683624"/>
                </a:lnTo>
                <a:lnTo>
                  <a:pt x="7467600" y="4713681"/>
                </a:lnTo>
                <a:lnTo>
                  <a:pt x="7467600" y="5022557"/>
                </a:lnTo>
                <a:lnTo>
                  <a:pt x="7461535" y="5052621"/>
                </a:lnTo>
                <a:lnTo>
                  <a:pt x="7444994" y="5077169"/>
                </a:lnTo>
                <a:lnTo>
                  <a:pt x="7420451" y="5093718"/>
                </a:lnTo>
                <a:lnTo>
                  <a:pt x="7390383" y="5099786"/>
                </a:lnTo>
                <a:lnTo>
                  <a:pt x="77215" y="5099786"/>
                </a:lnTo>
                <a:lnTo>
                  <a:pt x="47159" y="5093718"/>
                </a:lnTo>
                <a:lnTo>
                  <a:pt x="22615" y="5077169"/>
                </a:lnTo>
                <a:lnTo>
                  <a:pt x="6067" y="5052621"/>
                </a:lnTo>
                <a:lnTo>
                  <a:pt x="0" y="5022557"/>
                </a:lnTo>
                <a:lnTo>
                  <a:pt x="0" y="4713681"/>
                </a:lnTo>
                <a:close/>
              </a:path>
            </a:pathLst>
          </a:custGeom>
          <a:ln w="12700">
            <a:solidFill>
              <a:srgbClr val="BE401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000760" y="1470406"/>
            <a:ext cx="7293609" cy="49682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15" dirty="0">
                <a:solidFill>
                  <a:srgbClr val="BEBEBE"/>
                </a:solidFill>
                <a:latin typeface="Times New Roman"/>
                <a:cs typeface="Times New Roman"/>
              </a:rPr>
              <a:t>Introduction</a:t>
            </a:r>
            <a:r>
              <a:rPr sz="2000" b="1" spc="-85" dirty="0">
                <a:solidFill>
                  <a:srgbClr val="BEBEBE"/>
                </a:solidFill>
                <a:latin typeface="Times New Roman"/>
                <a:cs typeface="Times New Roman"/>
              </a:rPr>
              <a:t> </a:t>
            </a:r>
            <a:r>
              <a:rPr sz="2000" b="1" spc="20" dirty="0">
                <a:solidFill>
                  <a:srgbClr val="BEBEBE"/>
                </a:solidFill>
                <a:latin typeface="Times New Roman"/>
                <a:cs typeface="Times New Roman"/>
              </a:rPr>
              <a:t>of</a:t>
            </a:r>
            <a:r>
              <a:rPr sz="2000" b="1" spc="-50" dirty="0">
                <a:solidFill>
                  <a:srgbClr val="BEBEBE"/>
                </a:solidFill>
                <a:latin typeface="Times New Roman"/>
                <a:cs typeface="Times New Roman"/>
              </a:rPr>
              <a:t> </a:t>
            </a:r>
            <a:r>
              <a:rPr sz="2000" b="1" spc="-175" dirty="0">
                <a:solidFill>
                  <a:srgbClr val="BEBEBE"/>
                </a:solidFill>
                <a:latin typeface="Times New Roman"/>
                <a:cs typeface="Times New Roman"/>
              </a:rPr>
              <a:t>LAN;</a:t>
            </a:r>
            <a:r>
              <a:rPr sz="2000" b="1" spc="-120" dirty="0">
                <a:solidFill>
                  <a:srgbClr val="BEBEBE"/>
                </a:solidFill>
                <a:latin typeface="Times New Roman"/>
                <a:cs typeface="Times New Roman"/>
              </a:rPr>
              <a:t> </a:t>
            </a:r>
            <a:r>
              <a:rPr sz="2000" b="1" spc="-135" dirty="0">
                <a:solidFill>
                  <a:srgbClr val="BEBEBE"/>
                </a:solidFill>
                <a:latin typeface="Times New Roman"/>
                <a:cs typeface="Times New Roman"/>
              </a:rPr>
              <a:t>MAN;WAN;</a:t>
            </a:r>
            <a:r>
              <a:rPr sz="2000" b="1" spc="-140" dirty="0">
                <a:solidFill>
                  <a:srgbClr val="BEBEBE"/>
                </a:solidFill>
                <a:latin typeface="Times New Roman"/>
                <a:cs typeface="Times New Roman"/>
              </a:rPr>
              <a:t> </a:t>
            </a:r>
            <a:r>
              <a:rPr sz="2000" b="1" spc="-130" dirty="0">
                <a:solidFill>
                  <a:srgbClr val="BEBEBE"/>
                </a:solidFill>
                <a:latin typeface="Times New Roman"/>
                <a:cs typeface="Times New Roman"/>
              </a:rPr>
              <a:t>PAN,</a:t>
            </a:r>
            <a:r>
              <a:rPr sz="2000" b="1" spc="-215" dirty="0">
                <a:solidFill>
                  <a:srgbClr val="BEBEBE"/>
                </a:solidFill>
                <a:latin typeface="Times New Roman"/>
                <a:cs typeface="Times New Roman"/>
              </a:rPr>
              <a:t> </a:t>
            </a:r>
            <a:r>
              <a:rPr sz="2000" b="1" spc="25" dirty="0">
                <a:solidFill>
                  <a:srgbClr val="BEBEBE"/>
                </a:solidFill>
                <a:latin typeface="Times New Roman"/>
                <a:cs typeface="Times New Roman"/>
              </a:rPr>
              <a:t>Ad-hoc</a:t>
            </a:r>
            <a:r>
              <a:rPr sz="2000" b="1" spc="-45" dirty="0">
                <a:solidFill>
                  <a:srgbClr val="BEBEBE"/>
                </a:solidFill>
                <a:latin typeface="Times New Roman"/>
                <a:cs typeface="Times New Roman"/>
              </a:rPr>
              <a:t> </a:t>
            </a:r>
            <a:r>
              <a:rPr sz="2000" b="1" spc="-5" dirty="0">
                <a:solidFill>
                  <a:srgbClr val="BEBEBE"/>
                </a:solidFill>
                <a:latin typeface="Times New Roman"/>
                <a:cs typeface="Times New Roman"/>
              </a:rPr>
              <a:t>Network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655"/>
              </a:spcBef>
            </a:pPr>
            <a:r>
              <a:rPr sz="2000" b="1" spc="5" dirty="0">
                <a:solidFill>
                  <a:srgbClr val="BEBEBE"/>
                </a:solidFill>
                <a:latin typeface="Times New Roman"/>
                <a:cs typeface="Times New Roman"/>
              </a:rPr>
              <a:t>Topologies</a:t>
            </a:r>
            <a:endParaRPr sz="2000">
              <a:latin typeface="Times New Roman"/>
              <a:cs typeface="Times New Roman"/>
            </a:endParaRPr>
          </a:p>
          <a:p>
            <a:pPr marL="12700" marR="4799965">
              <a:lnSpc>
                <a:spcPct val="169000"/>
              </a:lnSpc>
            </a:pPr>
            <a:r>
              <a:rPr sz="2000" b="1" spc="-35" dirty="0">
                <a:solidFill>
                  <a:srgbClr val="BEBEBE"/>
                </a:solidFill>
                <a:latin typeface="Times New Roman"/>
                <a:cs typeface="Times New Roman"/>
              </a:rPr>
              <a:t>Ne</a:t>
            </a:r>
            <a:r>
              <a:rPr sz="2000" b="1" spc="25" dirty="0">
                <a:solidFill>
                  <a:srgbClr val="BEBEBE"/>
                </a:solidFill>
                <a:latin typeface="Times New Roman"/>
                <a:cs typeface="Times New Roman"/>
              </a:rPr>
              <a:t>t</a:t>
            </a:r>
            <a:r>
              <a:rPr sz="2000" b="1" dirty="0">
                <a:solidFill>
                  <a:srgbClr val="BEBEBE"/>
                </a:solidFill>
                <a:latin typeface="Times New Roman"/>
                <a:cs typeface="Times New Roman"/>
              </a:rPr>
              <a:t>w</a:t>
            </a:r>
            <a:r>
              <a:rPr sz="2000" b="1" spc="5" dirty="0">
                <a:solidFill>
                  <a:srgbClr val="BEBEBE"/>
                </a:solidFill>
                <a:latin typeface="Times New Roman"/>
                <a:cs typeface="Times New Roman"/>
              </a:rPr>
              <a:t>o</a:t>
            </a:r>
            <a:r>
              <a:rPr sz="2000" b="1" spc="10" dirty="0">
                <a:solidFill>
                  <a:srgbClr val="BEBEBE"/>
                </a:solidFill>
                <a:latin typeface="Times New Roman"/>
                <a:cs typeface="Times New Roman"/>
              </a:rPr>
              <a:t>r</a:t>
            </a:r>
            <a:r>
              <a:rPr sz="2000" b="1" spc="15" dirty="0">
                <a:solidFill>
                  <a:srgbClr val="BEBEBE"/>
                </a:solidFill>
                <a:latin typeface="Times New Roman"/>
                <a:cs typeface="Times New Roman"/>
              </a:rPr>
              <a:t>k</a:t>
            </a:r>
            <a:r>
              <a:rPr sz="2000" b="1" spc="-140" dirty="0">
                <a:solidFill>
                  <a:srgbClr val="BEBEBE"/>
                </a:solidFill>
                <a:latin typeface="Times New Roman"/>
                <a:cs typeface="Times New Roman"/>
              </a:rPr>
              <a:t> </a:t>
            </a:r>
            <a:r>
              <a:rPr sz="2000" b="1" spc="-50" dirty="0">
                <a:solidFill>
                  <a:srgbClr val="BEBEBE"/>
                </a:solidFill>
                <a:latin typeface="Times New Roman"/>
                <a:cs typeface="Times New Roman"/>
              </a:rPr>
              <a:t>Arc</a:t>
            </a:r>
            <a:r>
              <a:rPr sz="2000" b="1" spc="25" dirty="0">
                <a:solidFill>
                  <a:srgbClr val="BEBEBE"/>
                </a:solidFill>
                <a:latin typeface="Times New Roman"/>
                <a:cs typeface="Times New Roman"/>
              </a:rPr>
              <a:t>hit</a:t>
            </a:r>
            <a:r>
              <a:rPr sz="2000" b="1" spc="20" dirty="0">
                <a:solidFill>
                  <a:srgbClr val="BEBEBE"/>
                </a:solidFill>
                <a:latin typeface="Times New Roman"/>
                <a:cs typeface="Times New Roman"/>
              </a:rPr>
              <a:t>e</a:t>
            </a:r>
            <a:r>
              <a:rPr sz="2000" b="1" spc="35" dirty="0">
                <a:solidFill>
                  <a:srgbClr val="BEBEBE"/>
                </a:solidFill>
                <a:latin typeface="Times New Roman"/>
                <a:cs typeface="Times New Roman"/>
              </a:rPr>
              <a:t>c</a:t>
            </a:r>
            <a:r>
              <a:rPr sz="2000" b="1" spc="15" dirty="0">
                <a:solidFill>
                  <a:srgbClr val="BEBEBE"/>
                </a:solidFill>
                <a:latin typeface="Times New Roman"/>
                <a:cs typeface="Times New Roman"/>
              </a:rPr>
              <a:t>t</a:t>
            </a:r>
            <a:r>
              <a:rPr sz="2000" b="1" spc="-15" dirty="0">
                <a:solidFill>
                  <a:srgbClr val="BEBEBE"/>
                </a:solidFill>
                <a:latin typeface="Times New Roman"/>
                <a:cs typeface="Times New Roman"/>
              </a:rPr>
              <a:t>ures  </a:t>
            </a:r>
            <a:r>
              <a:rPr sz="2000" b="1" spc="-185" dirty="0">
                <a:solidFill>
                  <a:srgbClr val="BEBEBE"/>
                </a:solidFill>
                <a:latin typeface="Times New Roman"/>
                <a:cs typeface="Times New Roman"/>
              </a:rPr>
              <a:t>O</a:t>
            </a:r>
            <a:r>
              <a:rPr sz="2000" b="1" spc="-140" dirty="0">
                <a:solidFill>
                  <a:srgbClr val="BEBEBE"/>
                </a:solidFill>
                <a:latin typeface="Times New Roman"/>
                <a:cs typeface="Times New Roman"/>
              </a:rPr>
              <a:t>S</a:t>
            </a:r>
            <a:r>
              <a:rPr sz="2000" b="1" spc="-50" dirty="0">
                <a:solidFill>
                  <a:srgbClr val="BEBEBE"/>
                </a:solidFill>
                <a:latin typeface="Times New Roman"/>
                <a:cs typeface="Times New Roman"/>
              </a:rPr>
              <a:t>I </a:t>
            </a:r>
            <a:r>
              <a:rPr sz="2000" b="1" spc="5" dirty="0">
                <a:solidFill>
                  <a:srgbClr val="BEBEBE"/>
                </a:solidFill>
                <a:latin typeface="Times New Roman"/>
                <a:cs typeface="Times New Roman"/>
              </a:rPr>
              <a:t>Mo</a:t>
            </a:r>
            <a:r>
              <a:rPr sz="2000" b="1" spc="35" dirty="0">
                <a:solidFill>
                  <a:srgbClr val="BEBEBE"/>
                </a:solidFill>
                <a:latin typeface="Times New Roman"/>
                <a:cs typeface="Times New Roman"/>
              </a:rPr>
              <a:t>del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660"/>
              </a:spcBef>
            </a:pPr>
            <a:r>
              <a:rPr sz="2000" b="1" spc="-195" dirty="0">
                <a:solidFill>
                  <a:srgbClr val="BEBEBE"/>
                </a:solidFill>
                <a:latin typeface="Times New Roman"/>
                <a:cs typeface="Times New Roman"/>
              </a:rPr>
              <a:t>TC</a:t>
            </a:r>
            <a:r>
              <a:rPr sz="2000" b="1" spc="-165" dirty="0">
                <a:solidFill>
                  <a:srgbClr val="BEBEBE"/>
                </a:solidFill>
                <a:latin typeface="Times New Roman"/>
                <a:cs typeface="Times New Roman"/>
              </a:rPr>
              <a:t>P</a:t>
            </a:r>
            <a:r>
              <a:rPr sz="2000" b="1" spc="105" dirty="0">
                <a:solidFill>
                  <a:srgbClr val="BEBEBE"/>
                </a:solidFill>
                <a:latin typeface="Times New Roman"/>
                <a:cs typeface="Times New Roman"/>
              </a:rPr>
              <a:t>/IP</a:t>
            </a:r>
            <a:r>
              <a:rPr sz="2000" b="1" spc="-75" dirty="0">
                <a:solidFill>
                  <a:srgbClr val="BEBEBE"/>
                </a:solidFill>
                <a:latin typeface="Times New Roman"/>
                <a:cs typeface="Times New Roman"/>
              </a:rPr>
              <a:t> </a:t>
            </a:r>
            <a:r>
              <a:rPr sz="2000" b="1" spc="25" dirty="0">
                <a:solidFill>
                  <a:srgbClr val="BEBEBE"/>
                </a:solidFill>
                <a:latin typeface="Times New Roman"/>
                <a:cs typeface="Times New Roman"/>
              </a:rPr>
              <a:t>Model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655"/>
              </a:spcBef>
            </a:pPr>
            <a:r>
              <a:rPr sz="2000" b="1" spc="5" dirty="0">
                <a:solidFill>
                  <a:srgbClr val="BEBEBE"/>
                </a:solidFill>
                <a:latin typeface="Times New Roman"/>
                <a:cs typeface="Times New Roman"/>
              </a:rPr>
              <a:t>Design</a:t>
            </a:r>
            <a:r>
              <a:rPr sz="2000" b="1" spc="-80" dirty="0">
                <a:solidFill>
                  <a:srgbClr val="BEBEBE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BEBEBE"/>
                </a:solidFill>
                <a:latin typeface="Times New Roman"/>
                <a:cs typeface="Times New Roman"/>
              </a:rPr>
              <a:t>issues</a:t>
            </a:r>
            <a:r>
              <a:rPr sz="2000" b="1" spc="-70" dirty="0">
                <a:solidFill>
                  <a:srgbClr val="BEBEBE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BEBEBE"/>
                </a:solidFill>
                <a:latin typeface="Times New Roman"/>
                <a:cs typeface="Times New Roman"/>
              </a:rPr>
              <a:t>for</a:t>
            </a:r>
            <a:r>
              <a:rPr sz="2000" b="1" spc="-75" dirty="0">
                <a:solidFill>
                  <a:srgbClr val="BEBEBE"/>
                </a:solidFill>
                <a:latin typeface="Times New Roman"/>
                <a:cs typeface="Times New Roman"/>
              </a:rPr>
              <a:t> </a:t>
            </a:r>
            <a:r>
              <a:rPr sz="2000" b="1" spc="-100" dirty="0">
                <a:solidFill>
                  <a:srgbClr val="BEBEBE"/>
                </a:solidFill>
                <a:latin typeface="Times New Roman"/>
                <a:cs typeface="Times New Roman"/>
              </a:rPr>
              <a:t>Layers</a:t>
            </a:r>
            <a:endParaRPr sz="2000">
              <a:latin typeface="Times New Roman"/>
              <a:cs typeface="Times New Roman"/>
            </a:endParaRPr>
          </a:p>
          <a:p>
            <a:pPr marL="12700" marR="4808220">
              <a:lnSpc>
                <a:spcPct val="169000"/>
              </a:lnSpc>
              <a:spcBef>
                <a:spcPts val="5"/>
              </a:spcBef>
            </a:pPr>
            <a:r>
              <a:rPr sz="2000" b="1" spc="-370" dirty="0">
                <a:solidFill>
                  <a:srgbClr val="BEBEBE"/>
                </a:solidFill>
                <a:latin typeface="Times New Roman"/>
                <a:cs typeface="Times New Roman"/>
              </a:rPr>
              <a:t>T</a:t>
            </a:r>
            <a:r>
              <a:rPr sz="2000" b="1" spc="-20" dirty="0">
                <a:solidFill>
                  <a:srgbClr val="BEBEBE"/>
                </a:solidFill>
                <a:latin typeface="Times New Roman"/>
                <a:cs typeface="Times New Roman"/>
              </a:rPr>
              <a:t>ransmissio</a:t>
            </a:r>
            <a:r>
              <a:rPr sz="2000" b="1" spc="15" dirty="0">
                <a:solidFill>
                  <a:srgbClr val="BEBEBE"/>
                </a:solidFill>
                <a:latin typeface="Times New Roman"/>
                <a:cs typeface="Times New Roman"/>
              </a:rPr>
              <a:t>n</a:t>
            </a:r>
            <a:r>
              <a:rPr sz="2000" b="1" spc="-85" dirty="0">
                <a:solidFill>
                  <a:srgbClr val="BEBEBE"/>
                </a:solidFill>
                <a:latin typeface="Times New Roman"/>
                <a:cs typeface="Times New Roman"/>
              </a:rPr>
              <a:t> </a:t>
            </a:r>
            <a:r>
              <a:rPr sz="2000" b="1" spc="-15" dirty="0">
                <a:solidFill>
                  <a:srgbClr val="BEBEBE"/>
                </a:solidFill>
                <a:latin typeface="Times New Roman"/>
                <a:cs typeface="Times New Roman"/>
              </a:rPr>
              <a:t>M</a:t>
            </a:r>
            <a:r>
              <a:rPr sz="2000" b="1" spc="-20" dirty="0">
                <a:solidFill>
                  <a:srgbClr val="BEBEBE"/>
                </a:solidFill>
                <a:latin typeface="Times New Roman"/>
                <a:cs typeface="Times New Roman"/>
              </a:rPr>
              <a:t>e</a:t>
            </a:r>
            <a:r>
              <a:rPr sz="2000" b="1" spc="30" dirty="0">
                <a:solidFill>
                  <a:srgbClr val="BEBEBE"/>
                </a:solidFill>
                <a:latin typeface="Times New Roman"/>
                <a:cs typeface="Times New Roman"/>
              </a:rPr>
              <a:t>di</a:t>
            </a:r>
            <a:r>
              <a:rPr sz="2000" b="1" spc="-25" dirty="0">
                <a:solidFill>
                  <a:srgbClr val="BEBEBE"/>
                </a:solidFill>
                <a:latin typeface="Times New Roman"/>
                <a:cs typeface="Times New Roman"/>
              </a:rPr>
              <a:t>ums  </a:t>
            </a:r>
            <a:r>
              <a:rPr sz="2000" b="1" spc="-5" dirty="0">
                <a:solidFill>
                  <a:srgbClr val="BEBEBE"/>
                </a:solidFill>
                <a:latin typeface="Times New Roman"/>
                <a:cs typeface="Times New Roman"/>
              </a:rPr>
              <a:t>Network</a:t>
            </a:r>
            <a:r>
              <a:rPr sz="2000" b="1" spc="-65" dirty="0">
                <a:solidFill>
                  <a:srgbClr val="BEBEBE"/>
                </a:solidFill>
                <a:latin typeface="Times New Roman"/>
                <a:cs typeface="Times New Roman"/>
              </a:rPr>
              <a:t> </a:t>
            </a:r>
            <a:r>
              <a:rPr sz="2000" b="1" spc="10" dirty="0">
                <a:solidFill>
                  <a:srgbClr val="BEBEBE"/>
                </a:solidFill>
                <a:latin typeface="Times New Roman"/>
                <a:cs typeface="Times New Roman"/>
              </a:rPr>
              <a:t>Devices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655"/>
              </a:spcBef>
            </a:pPr>
            <a:r>
              <a:rPr sz="2000" b="1" spc="-15" dirty="0">
                <a:solidFill>
                  <a:srgbClr val="BEBEBE"/>
                </a:solidFill>
                <a:latin typeface="Times New Roman"/>
                <a:cs typeface="Times New Roman"/>
              </a:rPr>
              <a:t>Manchester</a:t>
            </a:r>
            <a:r>
              <a:rPr sz="2000" b="1" spc="-30" dirty="0">
                <a:solidFill>
                  <a:srgbClr val="BEBEBE"/>
                </a:solidFill>
                <a:latin typeface="Times New Roman"/>
                <a:cs typeface="Times New Roman"/>
              </a:rPr>
              <a:t> </a:t>
            </a:r>
            <a:r>
              <a:rPr sz="2000" b="1" spc="-15" dirty="0">
                <a:solidFill>
                  <a:srgbClr val="BEBEBE"/>
                </a:solidFill>
                <a:latin typeface="Times New Roman"/>
                <a:cs typeface="Times New Roman"/>
              </a:rPr>
              <a:t>and</a:t>
            </a:r>
            <a:r>
              <a:rPr sz="2000" b="1" spc="-30" dirty="0">
                <a:solidFill>
                  <a:srgbClr val="BEBEBE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BEBEBE"/>
                </a:solidFill>
                <a:latin typeface="Times New Roman"/>
                <a:cs typeface="Times New Roman"/>
              </a:rPr>
              <a:t>Differential</a:t>
            </a:r>
            <a:r>
              <a:rPr sz="2000" b="1" spc="-40" dirty="0">
                <a:solidFill>
                  <a:srgbClr val="BEBEBE"/>
                </a:solidFill>
                <a:latin typeface="Times New Roman"/>
                <a:cs typeface="Times New Roman"/>
              </a:rPr>
              <a:t> </a:t>
            </a:r>
            <a:r>
              <a:rPr sz="2000" b="1" spc="-15" dirty="0">
                <a:solidFill>
                  <a:srgbClr val="BEBEBE"/>
                </a:solidFill>
                <a:latin typeface="Times New Roman"/>
                <a:cs typeface="Times New Roman"/>
              </a:rPr>
              <a:t>Manchester</a:t>
            </a:r>
            <a:r>
              <a:rPr sz="2000" b="1" spc="-25" dirty="0">
                <a:solidFill>
                  <a:srgbClr val="BEBEBE"/>
                </a:solidFill>
                <a:latin typeface="Times New Roman"/>
                <a:cs typeface="Times New Roman"/>
              </a:rPr>
              <a:t> </a:t>
            </a:r>
            <a:r>
              <a:rPr sz="2000" b="1" spc="-30" dirty="0">
                <a:solidFill>
                  <a:srgbClr val="BEBEBE"/>
                </a:solidFill>
                <a:latin typeface="Times New Roman"/>
                <a:cs typeface="Times New Roman"/>
              </a:rPr>
              <a:t>Encodings;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655"/>
              </a:spcBef>
            </a:pPr>
            <a:r>
              <a:rPr sz="2000" b="1" spc="-145" dirty="0">
                <a:solidFill>
                  <a:srgbClr val="FF0000"/>
                </a:solidFill>
                <a:latin typeface="Times New Roman"/>
                <a:cs typeface="Times New Roman"/>
              </a:rPr>
              <a:t>IEEE802.11:</a:t>
            </a:r>
            <a:r>
              <a:rPr sz="2000" b="1" spc="-1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Frequency</a:t>
            </a:r>
            <a:r>
              <a:rPr sz="2000" b="1" spc="-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spc="30" dirty="0">
                <a:solidFill>
                  <a:srgbClr val="FF0000"/>
                </a:solidFill>
                <a:latin typeface="Times New Roman"/>
                <a:cs typeface="Times New Roman"/>
              </a:rPr>
              <a:t>Hopping</a:t>
            </a:r>
            <a:r>
              <a:rPr sz="2000" b="1" spc="-8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spc="-95" dirty="0">
                <a:solidFill>
                  <a:srgbClr val="FF0000"/>
                </a:solidFill>
                <a:latin typeface="Times New Roman"/>
                <a:cs typeface="Times New Roman"/>
              </a:rPr>
              <a:t>(FHSS)</a:t>
            </a:r>
            <a:r>
              <a:rPr sz="2000" b="1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spc="-15" dirty="0">
                <a:solidFill>
                  <a:srgbClr val="FF0000"/>
                </a:solidFill>
                <a:latin typeface="Times New Roman"/>
                <a:cs typeface="Times New Roman"/>
              </a:rPr>
              <a:t>and</a:t>
            </a:r>
            <a:r>
              <a:rPr sz="2000" b="1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spc="5" dirty="0">
                <a:solidFill>
                  <a:srgbClr val="FF0000"/>
                </a:solidFill>
                <a:latin typeface="Times New Roman"/>
                <a:cs typeface="Times New Roman"/>
              </a:rPr>
              <a:t>Direct</a:t>
            </a:r>
            <a:r>
              <a:rPr sz="2000" b="1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spc="5" dirty="0">
                <a:solidFill>
                  <a:srgbClr val="FF0000"/>
                </a:solidFill>
                <a:latin typeface="Times New Roman"/>
                <a:cs typeface="Times New Roman"/>
              </a:rPr>
              <a:t>Sequence</a:t>
            </a:r>
            <a:r>
              <a:rPr sz="2000" b="1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spc="-80" dirty="0">
                <a:solidFill>
                  <a:srgbClr val="FF0000"/>
                </a:solidFill>
                <a:latin typeface="Times New Roman"/>
                <a:cs typeface="Times New Roman"/>
              </a:rPr>
              <a:t>(DSSS)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9195" y="81788"/>
            <a:ext cx="347281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15" dirty="0">
                <a:solidFill>
                  <a:srgbClr val="FF0000"/>
                </a:solidFill>
              </a:rPr>
              <a:t>IEEE</a:t>
            </a:r>
            <a:r>
              <a:rPr sz="3200" spc="-55" dirty="0">
                <a:solidFill>
                  <a:srgbClr val="FF0000"/>
                </a:solidFill>
              </a:rPr>
              <a:t> </a:t>
            </a:r>
            <a:r>
              <a:rPr sz="3200" dirty="0">
                <a:solidFill>
                  <a:srgbClr val="FF0000"/>
                </a:solidFill>
              </a:rPr>
              <a:t>802</a:t>
            </a:r>
            <a:r>
              <a:rPr sz="3200" spc="-65" dirty="0">
                <a:solidFill>
                  <a:srgbClr val="FF0000"/>
                </a:solidFill>
              </a:rPr>
              <a:t> </a:t>
            </a:r>
            <a:r>
              <a:rPr sz="3200" spc="-20" dirty="0">
                <a:solidFill>
                  <a:srgbClr val="FF0000"/>
                </a:solidFill>
              </a:rPr>
              <a:t>Standards</a:t>
            </a:r>
            <a:endParaRPr sz="3200"/>
          </a:p>
        </p:txBody>
      </p:sp>
      <p:sp>
        <p:nvSpPr>
          <p:cNvPr id="3" name="object 3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18236" y="6342231"/>
            <a:ext cx="311785" cy="202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65"/>
              </a:lnSpc>
            </a:pPr>
            <a:r>
              <a:rPr sz="1400" spc="-20" dirty="0">
                <a:solidFill>
                  <a:srgbClr val="FFFFFF"/>
                </a:solidFill>
                <a:latin typeface="Franklin Gothic Medium"/>
                <a:cs typeface="Franklin Gothic Medium"/>
              </a:rPr>
              <a:t>1</a:t>
            </a:r>
            <a:r>
              <a:rPr sz="1400" dirty="0">
                <a:solidFill>
                  <a:srgbClr val="FFFFFF"/>
                </a:solidFill>
                <a:latin typeface="Franklin Gothic Medium"/>
                <a:cs typeface="Franklin Gothic Medium"/>
              </a:rPr>
              <a:t>58</a:t>
            </a:r>
            <a:endParaRPr sz="1400">
              <a:latin typeface="Franklin Gothic Medium"/>
              <a:cs typeface="Franklin Gothic Medium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5699" y="672363"/>
            <a:ext cx="7595515" cy="5244338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207822" y="5983935"/>
            <a:ext cx="8305800" cy="701675"/>
          </a:xfrm>
          <a:custGeom>
            <a:avLst/>
            <a:gdLst/>
            <a:ahLst/>
            <a:cxnLst/>
            <a:rect l="l" t="t" r="r" b="b"/>
            <a:pathLst>
              <a:path w="8305800" h="701675">
                <a:moveTo>
                  <a:pt x="8305800" y="0"/>
                </a:moveTo>
                <a:lnTo>
                  <a:pt x="0" y="0"/>
                </a:lnTo>
                <a:lnTo>
                  <a:pt x="0" y="701675"/>
                </a:lnTo>
                <a:lnTo>
                  <a:pt x="8305800" y="701675"/>
                </a:lnTo>
                <a:lnTo>
                  <a:pt x="83058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07822" y="5983935"/>
            <a:ext cx="8305800" cy="701675"/>
          </a:xfrm>
          <a:prstGeom prst="rect">
            <a:avLst/>
          </a:prstGeom>
          <a:ln w="12700">
            <a:solidFill>
              <a:srgbClr val="9B2C1F"/>
            </a:solidFill>
          </a:ln>
        </p:spPr>
        <p:txBody>
          <a:bodyPr vert="horz" wrap="square" lIns="0" tIns="18415" rIns="0" bIns="0" rtlCol="0">
            <a:spAutoFit/>
          </a:bodyPr>
          <a:lstStyle/>
          <a:p>
            <a:pPr marL="91440">
              <a:lnSpc>
                <a:spcPts val="2370"/>
              </a:lnSpc>
              <a:spcBef>
                <a:spcPts val="145"/>
              </a:spcBef>
            </a:pPr>
            <a:r>
              <a:rPr sz="2000" spc="-100" dirty="0">
                <a:latin typeface="Times New Roman"/>
                <a:cs typeface="Times New Roman"/>
              </a:rPr>
              <a:t>The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spc="-55" dirty="0">
                <a:latin typeface="Times New Roman"/>
                <a:cs typeface="Times New Roman"/>
              </a:rPr>
              <a:t>important </a:t>
            </a:r>
            <a:r>
              <a:rPr sz="2000" spc="-105" dirty="0">
                <a:latin typeface="Times New Roman"/>
                <a:cs typeface="Times New Roman"/>
              </a:rPr>
              <a:t>ones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80" dirty="0">
                <a:latin typeface="Times New Roman"/>
                <a:cs typeface="Times New Roman"/>
              </a:rPr>
              <a:t>are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100" dirty="0">
                <a:latin typeface="Times New Roman"/>
                <a:cs typeface="Times New Roman"/>
              </a:rPr>
              <a:t>marked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spc="-80" dirty="0">
                <a:latin typeface="Times New Roman"/>
                <a:cs typeface="Times New Roman"/>
              </a:rPr>
              <a:t>with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*.</a:t>
            </a:r>
            <a:r>
              <a:rPr sz="2000" spc="80" dirty="0">
                <a:latin typeface="Times New Roman"/>
                <a:cs typeface="Times New Roman"/>
              </a:rPr>
              <a:t> </a:t>
            </a:r>
            <a:r>
              <a:rPr sz="2000" spc="-100" dirty="0">
                <a:latin typeface="Times New Roman"/>
                <a:cs typeface="Times New Roman"/>
              </a:rPr>
              <a:t>The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105" dirty="0">
                <a:latin typeface="Times New Roman"/>
                <a:cs typeface="Times New Roman"/>
              </a:rPr>
              <a:t>ones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100" dirty="0">
                <a:latin typeface="Times New Roman"/>
                <a:cs typeface="Times New Roman"/>
              </a:rPr>
              <a:t>marked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spc="-80" dirty="0">
                <a:latin typeface="Times New Roman"/>
                <a:cs typeface="Times New Roman"/>
              </a:rPr>
              <a:t>with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Wingdings"/>
                <a:cs typeface="Wingdings"/>
              </a:rPr>
              <a:t>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85" dirty="0">
                <a:latin typeface="Times New Roman"/>
                <a:cs typeface="Times New Roman"/>
              </a:rPr>
              <a:t>are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85" dirty="0">
                <a:latin typeface="Times New Roman"/>
                <a:cs typeface="Times New Roman"/>
              </a:rPr>
              <a:t>hibernating.</a:t>
            </a:r>
            <a:r>
              <a:rPr sz="2000" spc="90" dirty="0">
                <a:latin typeface="Times New Roman"/>
                <a:cs typeface="Times New Roman"/>
              </a:rPr>
              <a:t> </a:t>
            </a:r>
            <a:r>
              <a:rPr sz="2000" spc="-100" dirty="0">
                <a:latin typeface="Times New Roman"/>
                <a:cs typeface="Times New Roman"/>
              </a:rPr>
              <a:t>The</a:t>
            </a:r>
            <a:endParaRPr sz="2000">
              <a:latin typeface="Times New Roman"/>
              <a:cs typeface="Times New Roman"/>
            </a:endParaRPr>
          </a:p>
          <a:p>
            <a:pPr marL="91440">
              <a:lnSpc>
                <a:spcPts val="2370"/>
              </a:lnSpc>
            </a:pPr>
            <a:r>
              <a:rPr sz="2000" spc="-85" dirty="0">
                <a:latin typeface="Times New Roman"/>
                <a:cs typeface="Times New Roman"/>
              </a:rPr>
              <a:t>o</a:t>
            </a:r>
            <a:r>
              <a:rPr sz="2000" spc="-100" dirty="0">
                <a:latin typeface="Times New Roman"/>
                <a:cs typeface="Times New Roman"/>
              </a:rPr>
              <a:t>n</a:t>
            </a:r>
            <a:r>
              <a:rPr sz="2000" spc="-75" dirty="0">
                <a:latin typeface="Times New Roman"/>
                <a:cs typeface="Times New Roman"/>
              </a:rPr>
              <a:t>e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105" dirty="0">
                <a:latin typeface="Times New Roman"/>
                <a:cs typeface="Times New Roman"/>
              </a:rPr>
              <a:t>ma</a:t>
            </a:r>
            <a:r>
              <a:rPr sz="2000" spc="-70" dirty="0">
                <a:latin typeface="Times New Roman"/>
                <a:cs typeface="Times New Roman"/>
              </a:rPr>
              <a:t>r</a:t>
            </a:r>
            <a:r>
              <a:rPr sz="2000" spc="-165" dirty="0">
                <a:latin typeface="Times New Roman"/>
                <a:cs typeface="Times New Roman"/>
              </a:rPr>
              <a:t>k</a:t>
            </a:r>
            <a:r>
              <a:rPr sz="2000" spc="-80" dirty="0">
                <a:latin typeface="Times New Roman"/>
                <a:cs typeface="Times New Roman"/>
              </a:rPr>
              <a:t>ed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spc="-150" dirty="0">
                <a:latin typeface="Times New Roman"/>
                <a:cs typeface="Times New Roman"/>
              </a:rPr>
              <a:t>w</a:t>
            </a:r>
            <a:r>
              <a:rPr sz="2000" spc="-70" dirty="0">
                <a:latin typeface="Times New Roman"/>
                <a:cs typeface="Times New Roman"/>
              </a:rPr>
              <a:t>i</a:t>
            </a:r>
            <a:r>
              <a:rPr sz="2000" spc="-50" dirty="0">
                <a:latin typeface="Times New Roman"/>
                <a:cs typeface="Times New Roman"/>
              </a:rPr>
              <a:t>th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90" dirty="0">
                <a:latin typeface="Times New Roman"/>
                <a:cs typeface="Times New Roman"/>
              </a:rPr>
              <a:t> </a:t>
            </a:r>
            <a:r>
              <a:rPr sz="2000" spc="-165" dirty="0">
                <a:latin typeface="Times New Roman"/>
                <a:cs typeface="Times New Roman"/>
              </a:rPr>
              <a:t>†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170" dirty="0">
                <a:latin typeface="Times New Roman"/>
                <a:cs typeface="Times New Roman"/>
              </a:rPr>
              <a:t>g</a:t>
            </a:r>
            <a:r>
              <a:rPr sz="2000" spc="-215" dirty="0">
                <a:latin typeface="Times New Roman"/>
                <a:cs typeface="Times New Roman"/>
              </a:rPr>
              <a:t>a</a:t>
            </a:r>
            <a:r>
              <a:rPr sz="2000" spc="-200" dirty="0">
                <a:latin typeface="Times New Roman"/>
                <a:cs typeface="Times New Roman"/>
              </a:rPr>
              <a:t>v</a:t>
            </a:r>
            <a:r>
              <a:rPr sz="2000" spc="-75" dirty="0">
                <a:latin typeface="Times New Roman"/>
                <a:cs typeface="Times New Roman"/>
              </a:rPr>
              <a:t>e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spc="-85" dirty="0">
                <a:latin typeface="Times New Roman"/>
                <a:cs typeface="Times New Roman"/>
              </a:rPr>
              <a:t>u</a:t>
            </a:r>
            <a:r>
              <a:rPr sz="2000" spc="-195" dirty="0">
                <a:latin typeface="Times New Roman"/>
                <a:cs typeface="Times New Roman"/>
              </a:rPr>
              <a:t>p</a:t>
            </a:r>
            <a:r>
              <a:rPr sz="2000" spc="85" dirty="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6613" y="353948"/>
            <a:ext cx="7531734" cy="619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900" b="1" spc="-170" dirty="0">
                <a:solidFill>
                  <a:srgbClr val="696363"/>
                </a:solidFill>
                <a:latin typeface="Arial"/>
                <a:cs typeface="Arial"/>
              </a:rPr>
              <a:t>I</a:t>
            </a:r>
            <a:r>
              <a:rPr sz="3900" b="1" spc="-390" dirty="0">
                <a:solidFill>
                  <a:srgbClr val="696363"/>
                </a:solidFill>
                <a:latin typeface="Arial"/>
                <a:cs typeface="Arial"/>
              </a:rPr>
              <a:t>E</a:t>
            </a:r>
            <a:r>
              <a:rPr sz="3900" b="1" spc="-465" dirty="0">
                <a:solidFill>
                  <a:srgbClr val="696363"/>
                </a:solidFill>
                <a:latin typeface="Arial"/>
                <a:cs typeface="Arial"/>
              </a:rPr>
              <a:t>EE</a:t>
            </a:r>
            <a:r>
              <a:rPr sz="3900" b="1" spc="-125" dirty="0">
                <a:solidFill>
                  <a:srgbClr val="696363"/>
                </a:solidFill>
                <a:latin typeface="Arial"/>
                <a:cs typeface="Arial"/>
              </a:rPr>
              <a:t> </a:t>
            </a:r>
            <a:r>
              <a:rPr sz="3900" b="1" spc="125" dirty="0">
                <a:solidFill>
                  <a:srgbClr val="FF0000"/>
                </a:solidFill>
                <a:latin typeface="Arial"/>
                <a:cs typeface="Arial"/>
              </a:rPr>
              <a:t>80</a:t>
            </a:r>
            <a:r>
              <a:rPr sz="3900" b="1" spc="110" dirty="0">
                <a:solidFill>
                  <a:srgbClr val="FF0000"/>
                </a:solidFill>
                <a:latin typeface="Arial"/>
                <a:cs typeface="Arial"/>
              </a:rPr>
              <a:t>2</a:t>
            </a:r>
            <a:r>
              <a:rPr sz="3900" b="1" spc="-265" dirty="0">
                <a:solidFill>
                  <a:srgbClr val="FF0000"/>
                </a:solidFill>
                <a:latin typeface="Arial"/>
                <a:cs typeface="Arial"/>
              </a:rPr>
              <a:t>.</a:t>
            </a:r>
            <a:r>
              <a:rPr sz="3900" b="1" spc="45" dirty="0">
                <a:solidFill>
                  <a:srgbClr val="FF0000"/>
                </a:solidFill>
                <a:latin typeface="Arial"/>
                <a:cs typeface="Arial"/>
              </a:rPr>
              <a:t>1</a:t>
            </a:r>
            <a:r>
              <a:rPr sz="3900" b="1" spc="114" dirty="0">
                <a:solidFill>
                  <a:srgbClr val="FF0000"/>
                </a:solidFill>
                <a:latin typeface="Arial"/>
                <a:cs typeface="Arial"/>
              </a:rPr>
              <a:t>1</a:t>
            </a:r>
            <a:r>
              <a:rPr sz="3900" b="1" spc="-1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900" b="1" spc="-484" dirty="0">
                <a:solidFill>
                  <a:srgbClr val="696363"/>
                </a:solidFill>
                <a:latin typeface="Arial"/>
                <a:cs typeface="Arial"/>
              </a:rPr>
              <a:t>W</a:t>
            </a:r>
            <a:r>
              <a:rPr sz="3900" b="1" spc="-180" dirty="0">
                <a:solidFill>
                  <a:srgbClr val="696363"/>
                </a:solidFill>
                <a:latin typeface="Arial"/>
                <a:cs typeface="Arial"/>
              </a:rPr>
              <a:t>i</a:t>
            </a:r>
            <a:r>
              <a:rPr sz="3900" b="1" spc="-155" dirty="0">
                <a:solidFill>
                  <a:srgbClr val="696363"/>
                </a:solidFill>
                <a:latin typeface="Arial"/>
                <a:cs typeface="Arial"/>
              </a:rPr>
              <a:t>r</a:t>
            </a:r>
            <a:r>
              <a:rPr sz="3900" b="1" spc="-210" dirty="0">
                <a:solidFill>
                  <a:srgbClr val="696363"/>
                </a:solidFill>
                <a:latin typeface="Arial"/>
                <a:cs typeface="Arial"/>
              </a:rPr>
              <a:t>e</a:t>
            </a:r>
            <a:r>
              <a:rPr sz="3900" b="1" spc="-265" dirty="0">
                <a:solidFill>
                  <a:srgbClr val="696363"/>
                </a:solidFill>
                <a:latin typeface="Arial"/>
                <a:cs typeface="Arial"/>
              </a:rPr>
              <a:t>less</a:t>
            </a:r>
            <a:r>
              <a:rPr sz="3900" b="1" spc="-140" dirty="0">
                <a:solidFill>
                  <a:srgbClr val="696363"/>
                </a:solidFill>
                <a:latin typeface="Arial"/>
                <a:cs typeface="Arial"/>
              </a:rPr>
              <a:t> </a:t>
            </a:r>
            <a:r>
              <a:rPr sz="3900" b="1" spc="-550" dirty="0">
                <a:solidFill>
                  <a:srgbClr val="696363"/>
                </a:solidFill>
                <a:latin typeface="Arial"/>
                <a:cs typeface="Arial"/>
              </a:rPr>
              <a:t>L</a:t>
            </a:r>
            <a:r>
              <a:rPr sz="3900" b="1" spc="-635" dirty="0">
                <a:solidFill>
                  <a:srgbClr val="696363"/>
                </a:solidFill>
                <a:latin typeface="Arial"/>
                <a:cs typeface="Arial"/>
              </a:rPr>
              <a:t>A</a:t>
            </a:r>
            <a:r>
              <a:rPr sz="3900" b="1" spc="-254" dirty="0">
                <a:solidFill>
                  <a:srgbClr val="696363"/>
                </a:solidFill>
                <a:latin typeface="Arial"/>
                <a:cs typeface="Arial"/>
              </a:rPr>
              <a:t>N</a:t>
            </a:r>
            <a:r>
              <a:rPr sz="3900" b="1" spc="-135" dirty="0">
                <a:solidFill>
                  <a:srgbClr val="696363"/>
                </a:solidFill>
                <a:latin typeface="Arial"/>
                <a:cs typeface="Arial"/>
              </a:rPr>
              <a:t> </a:t>
            </a:r>
            <a:r>
              <a:rPr sz="3900" b="1" spc="-380" dirty="0">
                <a:solidFill>
                  <a:srgbClr val="696363"/>
                </a:solidFill>
                <a:latin typeface="Arial"/>
                <a:cs typeface="Arial"/>
              </a:rPr>
              <a:t>S</a:t>
            </a:r>
            <a:r>
              <a:rPr sz="3900" b="1" spc="-80" dirty="0">
                <a:solidFill>
                  <a:srgbClr val="696363"/>
                </a:solidFill>
                <a:latin typeface="Arial"/>
                <a:cs typeface="Arial"/>
              </a:rPr>
              <a:t>t</a:t>
            </a:r>
            <a:r>
              <a:rPr sz="3900" b="1" spc="-110" dirty="0">
                <a:solidFill>
                  <a:srgbClr val="696363"/>
                </a:solidFill>
                <a:latin typeface="Arial"/>
                <a:cs typeface="Arial"/>
              </a:rPr>
              <a:t>a</a:t>
            </a:r>
            <a:r>
              <a:rPr sz="3900" b="1" spc="-245" dirty="0">
                <a:solidFill>
                  <a:srgbClr val="696363"/>
                </a:solidFill>
                <a:latin typeface="Arial"/>
                <a:cs typeface="Arial"/>
              </a:rPr>
              <a:t>nda</a:t>
            </a:r>
            <a:r>
              <a:rPr sz="3900" b="1" spc="-229" dirty="0">
                <a:solidFill>
                  <a:srgbClr val="696363"/>
                </a:solidFill>
                <a:latin typeface="Arial"/>
                <a:cs typeface="Arial"/>
              </a:rPr>
              <a:t>r</a:t>
            </a:r>
            <a:r>
              <a:rPr sz="3900" b="1" spc="-285" dirty="0">
                <a:solidFill>
                  <a:srgbClr val="696363"/>
                </a:solidFill>
                <a:latin typeface="Arial"/>
                <a:cs typeface="Arial"/>
              </a:rPr>
              <a:t>d</a:t>
            </a:r>
            <a:endParaRPr sz="39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06319" y="1088128"/>
            <a:ext cx="8470900" cy="2769235"/>
            <a:chOff x="306319" y="1088128"/>
            <a:chExt cx="8470900" cy="276923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6319" y="1088128"/>
              <a:ext cx="8470421" cy="276911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63696" y="2513076"/>
              <a:ext cx="3429000" cy="117348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32866" y="1416557"/>
            <a:ext cx="7643495" cy="1849120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12700" marR="5080">
              <a:lnSpc>
                <a:spcPts val="4540"/>
              </a:lnSpc>
              <a:spcBef>
                <a:spcPts val="869"/>
              </a:spcBef>
            </a:pPr>
            <a:r>
              <a:rPr sz="4400" spc="-415" dirty="0">
                <a:solidFill>
                  <a:srgbClr val="000000"/>
                </a:solidFill>
                <a:latin typeface="Times New Roman"/>
                <a:cs typeface="Times New Roman"/>
              </a:rPr>
              <a:t>IEEE</a:t>
            </a:r>
            <a:r>
              <a:rPr sz="4400" spc="-1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4400" spc="-185" dirty="0">
                <a:solidFill>
                  <a:srgbClr val="000000"/>
                </a:solidFill>
                <a:latin typeface="Times New Roman"/>
                <a:cs typeface="Times New Roman"/>
              </a:rPr>
              <a:t>d</a:t>
            </a:r>
            <a:r>
              <a:rPr sz="4400" spc="-245" dirty="0">
                <a:solidFill>
                  <a:srgbClr val="000000"/>
                </a:solidFill>
                <a:latin typeface="Times New Roman"/>
                <a:cs typeface="Times New Roman"/>
              </a:rPr>
              <a:t>e</a:t>
            </a:r>
            <a:r>
              <a:rPr sz="4400" spc="-450" dirty="0">
                <a:solidFill>
                  <a:srgbClr val="000000"/>
                </a:solidFill>
                <a:latin typeface="Times New Roman"/>
                <a:cs typeface="Times New Roman"/>
              </a:rPr>
              <a:t>v</a:t>
            </a:r>
            <a:r>
              <a:rPr sz="4400" spc="-175" dirty="0">
                <a:solidFill>
                  <a:srgbClr val="000000"/>
                </a:solidFill>
                <a:latin typeface="Times New Roman"/>
                <a:cs typeface="Times New Roman"/>
              </a:rPr>
              <a:t>eloped</a:t>
            </a:r>
            <a:r>
              <a:rPr sz="4400" spc="-1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4400" spc="-125" dirty="0">
                <a:solidFill>
                  <a:srgbClr val="000000"/>
                </a:solidFill>
                <a:latin typeface="Times New Roman"/>
                <a:cs typeface="Times New Roman"/>
              </a:rPr>
              <a:t>the</a:t>
            </a:r>
            <a:r>
              <a:rPr sz="4400" spc="-1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4400" spc="-160" dirty="0">
                <a:solidFill>
                  <a:srgbClr val="000000"/>
                </a:solidFill>
                <a:latin typeface="Times New Roman"/>
                <a:cs typeface="Times New Roman"/>
              </a:rPr>
              <a:t>fi</a:t>
            </a:r>
            <a:r>
              <a:rPr sz="4400" spc="-110" dirty="0">
                <a:solidFill>
                  <a:srgbClr val="000000"/>
                </a:solidFill>
                <a:latin typeface="Times New Roman"/>
                <a:cs typeface="Times New Roman"/>
              </a:rPr>
              <a:t>r</a:t>
            </a:r>
            <a:r>
              <a:rPr sz="4400" spc="-120" dirty="0">
                <a:solidFill>
                  <a:srgbClr val="000000"/>
                </a:solidFill>
                <a:latin typeface="Times New Roman"/>
                <a:cs typeface="Times New Roman"/>
              </a:rPr>
              <a:t>st  </a:t>
            </a:r>
            <a:r>
              <a:rPr sz="4400" spc="-175" dirty="0">
                <a:solidFill>
                  <a:srgbClr val="000000"/>
                </a:solidFill>
                <a:latin typeface="Times New Roman"/>
                <a:cs typeface="Times New Roman"/>
              </a:rPr>
              <a:t>internationally</a:t>
            </a:r>
            <a:r>
              <a:rPr sz="4400" spc="-1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4400" spc="-210" dirty="0">
                <a:solidFill>
                  <a:srgbClr val="000000"/>
                </a:solidFill>
                <a:latin typeface="Times New Roman"/>
                <a:cs typeface="Times New Roman"/>
              </a:rPr>
              <a:t>recognized</a:t>
            </a:r>
            <a:r>
              <a:rPr sz="4400" spc="-10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4400" spc="-204" dirty="0">
                <a:solidFill>
                  <a:srgbClr val="000000"/>
                </a:solidFill>
                <a:latin typeface="Times New Roman"/>
                <a:cs typeface="Times New Roman"/>
              </a:rPr>
              <a:t>wireless </a:t>
            </a:r>
            <a:r>
              <a:rPr sz="4400" spc="-2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4400" spc="-430" dirty="0">
                <a:solidFill>
                  <a:srgbClr val="000000"/>
                </a:solidFill>
                <a:latin typeface="Times New Roman"/>
                <a:cs typeface="Times New Roman"/>
              </a:rPr>
              <a:t>LAN</a:t>
            </a:r>
            <a:r>
              <a:rPr sz="4400" spc="-1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4400" spc="-190" dirty="0">
                <a:solidFill>
                  <a:srgbClr val="000000"/>
                </a:solidFill>
                <a:latin typeface="Times New Roman"/>
                <a:cs typeface="Times New Roman"/>
              </a:rPr>
              <a:t>standa</a:t>
            </a:r>
            <a:r>
              <a:rPr sz="4400" spc="-165" dirty="0">
                <a:solidFill>
                  <a:srgbClr val="000000"/>
                </a:solidFill>
                <a:latin typeface="Times New Roman"/>
                <a:cs typeface="Times New Roman"/>
              </a:rPr>
              <a:t>r</a:t>
            </a:r>
            <a:r>
              <a:rPr sz="4400" spc="-185" dirty="0">
                <a:solidFill>
                  <a:srgbClr val="000000"/>
                </a:solidFill>
                <a:latin typeface="Times New Roman"/>
                <a:cs typeface="Times New Roman"/>
              </a:rPr>
              <a:t>d</a:t>
            </a:r>
            <a:r>
              <a:rPr sz="4400" spc="-1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4400" dirty="0">
                <a:solidFill>
                  <a:srgbClr val="000000"/>
                </a:solidFill>
                <a:latin typeface="Times New Roman"/>
                <a:cs typeface="Times New Roman"/>
              </a:rPr>
              <a:t>–</a:t>
            </a:r>
            <a:r>
              <a:rPr sz="4400" spc="-1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4400" b="1" spc="-530" dirty="0">
                <a:solidFill>
                  <a:srgbClr val="FF0000"/>
                </a:solidFill>
                <a:latin typeface="Times New Roman"/>
                <a:cs typeface="Times New Roman"/>
              </a:rPr>
              <a:t>IEE</a:t>
            </a:r>
            <a:r>
              <a:rPr sz="4400" b="1" spc="-610" dirty="0">
                <a:solidFill>
                  <a:srgbClr val="FF0000"/>
                </a:solidFill>
                <a:latin typeface="Times New Roman"/>
                <a:cs typeface="Times New Roman"/>
              </a:rPr>
              <a:t>E</a:t>
            </a:r>
            <a:r>
              <a:rPr sz="4400" b="1" spc="-114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4400" b="1" spc="-150" dirty="0">
                <a:solidFill>
                  <a:srgbClr val="FF0000"/>
                </a:solidFill>
                <a:latin typeface="Times New Roman"/>
                <a:cs typeface="Times New Roman"/>
              </a:rPr>
              <a:t>802.1</a:t>
            </a:r>
            <a:r>
              <a:rPr sz="4400" b="1" spc="-160" dirty="0">
                <a:solidFill>
                  <a:srgbClr val="FF0000"/>
                </a:solidFill>
                <a:latin typeface="Times New Roman"/>
                <a:cs typeface="Times New Roman"/>
              </a:rPr>
              <a:t>1</a:t>
            </a:r>
            <a:r>
              <a:rPr sz="4400" b="1" spc="-114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4400" spc="-200" dirty="0">
                <a:solidFill>
                  <a:srgbClr val="000000"/>
                </a:solidFill>
                <a:latin typeface="Times New Roman"/>
                <a:cs typeface="Times New Roman"/>
              </a:rPr>
              <a:t>in</a:t>
            </a:r>
            <a:r>
              <a:rPr sz="4400" spc="-1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4400" spc="-185" dirty="0">
                <a:solidFill>
                  <a:srgbClr val="000000"/>
                </a:solidFill>
                <a:latin typeface="Times New Roman"/>
                <a:cs typeface="Times New Roman"/>
              </a:rPr>
              <a:t>1997</a:t>
            </a:r>
            <a:endParaRPr sz="4400">
              <a:latin typeface="Times New Roman"/>
              <a:cs typeface="Times New Roman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97179" y="3904488"/>
            <a:ext cx="8478520" cy="2395855"/>
            <a:chOff x="297179" y="3904488"/>
            <a:chExt cx="8478520" cy="2395855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2419" y="3904488"/>
              <a:ext cx="8462771" cy="2395728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97179" y="4855463"/>
              <a:ext cx="7816596" cy="1173480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614578" y="4336796"/>
            <a:ext cx="7148830" cy="1273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910"/>
              </a:lnSpc>
              <a:spcBef>
                <a:spcPts val="100"/>
              </a:spcBef>
            </a:pPr>
            <a:r>
              <a:rPr sz="4400" spc="-285" dirty="0">
                <a:latin typeface="Times New Roman"/>
                <a:cs typeface="Times New Roman"/>
              </a:rPr>
              <a:t>Scope</a:t>
            </a:r>
            <a:r>
              <a:rPr sz="4400" spc="-110" dirty="0">
                <a:latin typeface="Times New Roman"/>
                <a:cs typeface="Times New Roman"/>
              </a:rPr>
              <a:t> </a:t>
            </a:r>
            <a:r>
              <a:rPr sz="4400" spc="-200" dirty="0">
                <a:latin typeface="Times New Roman"/>
                <a:cs typeface="Times New Roman"/>
              </a:rPr>
              <a:t>o</a:t>
            </a:r>
            <a:r>
              <a:rPr sz="4400" spc="-325" dirty="0">
                <a:latin typeface="Times New Roman"/>
                <a:cs typeface="Times New Roman"/>
              </a:rPr>
              <a:t>f</a:t>
            </a:r>
            <a:r>
              <a:rPr sz="4400" spc="-110" dirty="0">
                <a:latin typeface="Times New Roman"/>
                <a:cs typeface="Times New Roman"/>
              </a:rPr>
              <a:t> </a:t>
            </a:r>
            <a:r>
              <a:rPr sz="4400" spc="-415" dirty="0">
                <a:latin typeface="Times New Roman"/>
                <a:cs typeface="Times New Roman"/>
              </a:rPr>
              <a:t>IEEE</a:t>
            </a:r>
            <a:r>
              <a:rPr sz="4400" spc="-125" dirty="0">
                <a:latin typeface="Times New Roman"/>
                <a:cs typeface="Times New Roman"/>
              </a:rPr>
              <a:t> 802.1</a:t>
            </a:r>
            <a:r>
              <a:rPr sz="4400" spc="-135" dirty="0">
                <a:latin typeface="Times New Roman"/>
                <a:cs typeface="Times New Roman"/>
              </a:rPr>
              <a:t>1</a:t>
            </a:r>
            <a:r>
              <a:rPr sz="4400" spc="-110" dirty="0">
                <a:latin typeface="Times New Roman"/>
                <a:cs typeface="Times New Roman"/>
              </a:rPr>
              <a:t> </a:t>
            </a:r>
            <a:r>
              <a:rPr sz="4400" spc="-275" dirty="0">
                <a:latin typeface="Times New Roman"/>
                <a:cs typeface="Times New Roman"/>
              </a:rPr>
              <a:t>is</a:t>
            </a:r>
            <a:r>
              <a:rPr sz="4400" spc="-110" dirty="0">
                <a:latin typeface="Times New Roman"/>
                <a:cs typeface="Times New Roman"/>
              </a:rPr>
              <a:t> </a:t>
            </a:r>
            <a:r>
              <a:rPr sz="4400" spc="-165" dirty="0">
                <a:latin typeface="Times New Roman"/>
                <a:cs typeface="Times New Roman"/>
              </a:rPr>
              <a:t>limite</a:t>
            </a:r>
            <a:r>
              <a:rPr sz="4400" spc="-200" dirty="0">
                <a:latin typeface="Times New Roman"/>
                <a:cs typeface="Times New Roman"/>
              </a:rPr>
              <a:t>d</a:t>
            </a:r>
            <a:r>
              <a:rPr sz="4400" spc="-130" dirty="0">
                <a:latin typeface="Times New Roman"/>
                <a:cs typeface="Times New Roman"/>
              </a:rPr>
              <a:t> </a:t>
            </a:r>
            <a:r>
              <a:rPr sz="4400" spc="-60" dirty="0">
                <a:latin typeface="Times New Roman"/>
                <a:cs typeface="Times New Roman"/>
              </a:rPr>
              <a:t>to</a:t>
            </a:r>
            <a:endParaRPr sz="4400">
              <a:latin typeface="Times New Roman"/>
              <a:cs typeface="Times New Roman"/>
            </a:endParaRPr>
          </a:p>
          <a:p>
            <a:pPr marL="12700">
              <a:lnSpc>
                <a:spcPts val="4910"/>
              </a:lnSpc>
            </a:pPr>
            <a:r>
              <a:rPr sz="4400" b="1" spc="-300" dirty="0">
                <a:solidFill>
                  <a:srgbClr val="FF0000"/>
                </a:solidFill>
                <a:latin typeface="Times New Roman"/>
                <a:cs typeface="Times New Roman"/>
              </a:rPr>
              <a:t>P</a:t>
            </a:r>
            <a:r>
              <a:rPr sz="4400" b="1" spc="-150" dirty="0">
                <a:solidFill>
                  <a:srgbClr val="FF0000"/>
                </a:solidFill>
                <a:latin typeface="Times New Roman"/>
                <a:cs typeface="Times New Roman"/>
              </a:rPr>
              <a:t>h</a:t>
            </a:r>
            <a:r>
              <a:rPr sz="44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ysical</a:t>
            </a:r>
            <a:r>
              <a:rPr sz="4400" b="1" spc="-1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4400" b="1" spc="-30" dirty="0">
                <a:solidFill>
                  <a:srgbClr val="FF0000"/>
                </a:solidFill>
                <a:latin typeface="Times New Roman"/>
                <a:cs typeface="Times New Roman"/>
              </a:rPr>
              <a:t>an</a:t>
            </a:r>
            <a:r>
              <a:rPr sz="44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d</a:t>
            </a:r>
            <a:r>
              <a:rPr sz="4400" b="1" spc="-1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4400" b="1" spc="-120" dirty="0">
                <a:solidFill>
                  <a:srgbClr val="FF0000"/>
                </a:solidFill>
                <a:latin typeface="Times New Roman"/>
                <a:cs typeface="Times New Roman"/>
              </a:rPr>
              <a:t>D</a:t>
            </a:r>
            <a:r>
              <a:rPr sz="4400" b="1" spc="-145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4400" b="1" spc="-60" dirty="0">
                <a:solidFill>
                  <a:srgbClr val="FF0000"/>
                </a:solidFill>
                <a:latin typeface="Times New Roman"/>
                <a:cs typeface="Times New Roman"/>
              </a:rPr>
              <a:t>t</a:t>
            </a:r>
            <a:r>
              <a:rPr sz="4400" b="1" spc="-80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4400" b="1" spc="-114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4400" b="1" spc="-140" dirty="0">
                <a:solidFill>
                  <a:srgbClr val="FF0000"/>
                </a:solidFill>
                <a:latin typeface="Times New Roman"/>
                <a:cs typeface="Times New Roman"/>
              </a:rPr>
              <a:t>Link</a:t>
            </a:r>
            <a:r>
              <a:rPr sz="4400" b="1" spc="-1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4400" b="1" spc="-690" dirty="0">
                <a:solidFill>
                  <a:srgbClr val="FF0000"/>
                </a:solidFill>
                <a:latin typeface="Times New Roman"/>
                <a:cs typeface="Times New Roman"/>
              </a:rPr>
              <a:t>L</a:t>
            </a:r>
            <a:r>
              <a:rPr sz="4400" b="1" spc="-350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4400" b="1" spc="-130" dirty="0">
                <a:solidFill>
                  <a:srgbClr val="FF0000"/>
                </a:solidFill>
                <a:latin typeface="Times New Roman"/>
                <a:cs typeface="Times New Roman"/>
              </a:rPr>
              <a:t>y</a:t>
            </a:r>
            <a:r>
              <a:rPr sz="4400" b="1" spc="-35" dirty="0">
                <a:solidFill>
                  <a:srgbClr val="FF0000"/>
                </a:solidFill>
                <a:latin typeface="Times New Roman"/>
                <a:cs typeface="Times New Roman"/>
              </a:rPr>
              <a:t>e</a:t>
            </a:r>
            <a:r>
              <a:rPr sz="4400" b="1" spc="5" dirty="0">
                <a:solidFill>
                  <a:srgbClr val="FF0000"/>
                </a:solidFill>
                <a:latin typeface="Times New Roman"/>
                <a:cs typeface="Times New Roman"/>
              </a:rPr>
              <a:t>r</a:t>
            </a:r>
            <a:r>
              <a:rPr sz="4400" b="1" spc="-35" dirty="0">
                <a:solidFill>
                  <a:srgbClr val="FF0000"/>
                </a:solidFill>
                <a:latin typeface="Times New Roman"/>
                <a:cs typeface="Times New Roman"/>
              </a:rPr>
              <a:t>s.</a:t>
            </a:r>
            <a:endParaRPr sz="4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949" y="481660"/>
            <a:ext cx="4904740" cy="620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900" spc="15" dirty="0"/>
              <a:t>IEEE</a:t>
            </a:r>
            <a:r>
              <a:rPr sz="3900" spc="-30" dirty="0"/>
              <a:t> </a:t>
            </a:r>
            <a:r>
              <a:rPr sz="3900" spc="-35" dirty="0">
                <a:solidFill>
                  <a:srgbClr val="FF0000"/>
                </a:solidFill>
              </a:rPr>
              <a:t>802.11 </a:t>
            </a:r>
            <a:r>
              <a:rPr sz="3900" spc="-25" dirty="0"/>
              <a:t>Standards</a:t>
            </a:r>
            <a:endParaRPr sz="3900"/>
          </a:p>
        </p:txBody>
      </p:sp>
      <p:sp>
        <p:nvSpPr>
          <p:cNvPr id="3" name="object 3"/>
          <p:cNvSpPr txBox="1"/>
          <p:nvPr/>
        </p:nvSpPr>
        <p:spPr>
          <a:xfrm>
            <a:off x="666699" y="1219936"/>
            <a:ext cx="2922905" cy="4659630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297180" indent="-285115">
              <a:lnSpc>
                <a:spcPct val="100000"/>
              </a:lnSpc>
              <a:spcBef>
                <a:spcPts val="735"/>
              </a:spcBef>
              <a:buClr>
                <a:srgbClr val="9B2C1F"/>
              </a:buClr>
              <a:buSzPct val="85000"/>
              <a:buFont typeface="Wingdings"/>
              <a:buChar char=""/>
              <a:tabLst>
                <a:tab pos="297180" algn="l"/>
                <a:tab pos="297815" algn="l"/>
              </a:tabLst>
            </a:pPr>
            <a:r>
              <a:rPr sz="2000" spc="-85" dirty="0">
                <a:latin typeface="Times New Roman"/>
                <a:cs typeface="Times New Roman"/>
              </a:rPr>
              <a:t>8</a:t>
            </a:r>
            <a:r>
              <a:rPr sz="2000" spc="-100" dirty="0">
                <a:latin typeface="Times New Roman"/>
                <a:cs typeface="Times New Roman"/>
              </a:rPr>
              <a:t>0</a:t>
            </a:r>
            <a:r>
              <a:rPr sz="2000" spc="-25" dirty="0">
                <a:latin typeface="Times New Roman"/>
                <a:cs typeface="Times New Roman"/>
              </a:rPr>
              <a:t>2.</a:t>
            </a:r>
            <a:r>
              <a:rPr sz="2000" spc="-45" dirty="0">
                <a:latin typeface="Times New Roman"/>
                <a:cs typeface="Times New Roman"/>
              </a:rPr>
              <a:t>1</a:t>
            </a:r>
            <a:r>
              <a:rPr sz="2000" spc="-120" dirty="0">
                <a:latin typeface="Times New Roman"/>
                <a:cs typeface="Times New Roman"/>
              </a:rPr>
              <a:t>1a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75" dirty="0">
                <a:latin typeface="Times New Roman"/>
                <a:cs typeface="Times New Roman"/>
              </a:rPr>
              <a:t>(O</a:t>
            </a:r>
            <a:r>
              <a:rPr sz="2000" spc="-85" dirty="0">
                <a:latin typeface="Times New Roman"/>
                <a:cs typeface="Times New Roman"/>
              </a:rPr>
              <a:t>F</a:t>
            </a:r>
            <a:r>
              <a:rPr sz="2000" spc="-175" dirty="0">
                <a:latin typeface="Times New Roman"/>
                <a:cs typeface="Times New Roman"/>
              </a:rPr>
              <a:t>DM</a:t>
            </a:r>
            <a:r>
              <a:rPr sz="2000" spc="-310" dirty="0">
                <a:latin typeface="Times New Roman"/>
                <a:cs typeface="Times New Roman"/>
              </a:rPr>
              <a:t> </a:t>
            </a:r>
            <a:r>
              <a:rPr sz="2000" spc="-260" dirty="0">
                <a:latin typeface="Times New Roman"/>
                <a:cs typeface="Times New Roman"/>
              </a:rPr>
              <a:t>W</a:t>
            </a:r>
            <a:r>
              <a:rPr sz="2000" spc="-225" dirty="0">
                <a:latin typeface="Times New Roman"/>
                <a:cs typeface="Times New Roman"/>
              </a:rPr>
              <a:t>a</a:t>
            </a:r>
            <a:r>
              <a:rPr sz="2000" spc="-200" dirty="0">
                <a:latin typeface="Times New Roman"/>
                <a:cs typeface="Times New Roman"/>
              </a:rPr>
              <a:t>v</a:t>
            </a:r>
            <a:r>
              <a:rPr sz="2000" spc="-95" dirty="0">
                <a:latin typeface="Times New Roman"/>
                <a:cs typeface="Times New Roman"/>
              </a:rPr>
              <a:t>ef</a:t>
            </a:r>
            <a:r>
              <a:rPr sz="2000" spc="-130" dirty="0">
                <a:latin typeface="Times New Roman"/>
                <a:cs typeface="Times New Roman"/>
              </a:rPr>
              <a:t>o</a:t>
            </a:r>
            <a:r>
              <a:rPr sz="2000" spc="70" dirty="0">
                <a:latin typeface="Times New Roman"/>
                <a:cs typeface="Times New Roman"/>
              </a:rPr>
              <a:t>r</a:t>
            </a:r>
            <a:r>
              <a:rPr sz="2000" spc="-85" dirty="0">
                <a:latin typeface="Times New Roman"/>
                <a:cs typeface="Times New Roman"/>
              </a:rPr>
              <a:t>m)</a:t>
            </a:r>
            <a:endParaRPr sz="2000">
              <a:latin typeface="Times New Roman"/>
              <a:cs typeface="Times New Roman"/>
            </a:endParaRPr>
          </a:p>
          <a:p>
            <a:pPr marL="297180" indent="-285115">
              <a:lnSpc>
                <a:spcPct val="100000"/>
              </a:lnSpc>
              <a:spcBef>
                <a:spcPts val="635"/>
              </a:spcBef>
              <a:buClr>
                <a:srgbClr val="9B2C1F"/>
              </a:buClr>
              <a:buSzPct val="85000"/>
              <a:buFont typeface="Wingdings"/>
              <a:buChar char=""/>
              <a:tabLst>
                <a:tab pos="297180" algn="l"/>
                <a:tab pos="297815" algn="l"/>
              </a:tabLst>
            </a:pPr>
            <a:r>
              <a:rPr sz="2000" spc="-65" dirty="0">
                <a:latin typeface="Times New Roman"/>
                <a:cs typeface="Times New Roman"/>
              </a:rPr>
              <a:t>802.11b</a:t>
            </a:r>
            <a:endParaRPr sz="2000">
              <a:latin typeface="Times New Roman"/>
              <a:cs typeface="Times New Roman"/>
            </a:endParaRPr>
          </a:p>
          <a:p>
            <a:pPr marL="297180" indent="-285115">
              <a:lnSpc>
                <a:spcPct val="100000"/>
              </a:lnSpc>
              <a:spcBef>
                <a:spcPts val="650"/>
              </a:spcBef>
              <a:buClr>
                <a:srgbClr val="9B2C1F"/>
              </a:buClr>
              <a:buSzPct val="85000"/>
              <a:buFont typeface="Wingdings"/>
              <a:buChar char=""/>
              <a:tabLst>
                <a:tab pos="297180" algn="l"/>
                <a:tab pos="297815" algn="l"/>
              </a:tabLst>
            </a:pPr>
            <a:r>
              <a:rPr sz="2000" spc="-75" dirty="0">
                <a:latin typeface="Times New Roman"/>
                <a:cs typeface="Times New Roman"/>
              </a:rPr>
              <a:t>802.11g</a:t>
            </a:r>
            <a:endParaRPr sz="2000">
              <a:latin typeface="Times New Roman"/>
              <a:cs typeface="Times New Roman"/>
            </a:endParaRPr>
          </a:p>
          <a:p>
            <a:pPr marL="297180" indent="-285115">
              <a:lnSpc>
                <a:spcPct val="100000"/>
              </a:lnSpc>
              <a:spcBef>
                <a:spcPts val="635"/>
              </a:spcBef>
              <a:buClr>
                <a:srgbClr val="9B2C1F"/>
              </a:buClr>
              <a:buSzPct val="85000"/>
              <a:buFont typeface="Wingdings"/>
              <a:buChar char=""/>
              <a:tabLst>
                <a:tab pos="297180" algn="l"/>
                <a:tab pos="297815" algn="l"/>
              </a:tabLst>
            </a:pPr>
            <a:r>
              <a:rPr sz="2000" spc="-65" dirty="0">
                <a:latin typeface="Times New Roman"/>
                <a:cs typeface="Times New Roman"/>
              </a:rPr>
              <a:t>802.11n</a:t>
            </a:r>
            <a:endParaRPr sz="2000">
              <a:latin typeface="Times New Roman"/>
              <a:cs typeface="Times New Roman"/>
            </a:endParaRPr>
          </a:p>
          <a:p>
            <a:pPr marL="297180" indent="-285115">
              <a:lnSpc>
                <a:spcPct val="100000"/>
              </a:lnSpc>
              <a:spcBef>
                <a:spcPts val="635"/>
              </a:spcBef>
              <a:buClr>
                <a:srgbClr val="9B2C1F"/>
              </a:buClr>
              <a:buSzPct val="85000"/>
              <a:buFont typeface="Wingdings"/>
              <a:buChar char=""/>
              <a:tabLst>
                <a:tab pos="297180" algn="l"/>
                <a:tab pos="297815" algn="l"/>
              </a:tabLst>
            </a:pPr>
            <a:r>
              <a:rPr sz="2000" spc="-80" dirty="0">
                <a:latin typeface="Times New Roman"/>
                <a:cs typeface="Times New Roman"/>
              </a:rPr>
              <a:t>802.11ac</a:t>
            </a:r>
            <a:endParaRPr sz="2000">
              <a:latin typeface="Times New Roman"/>
              <a:cs typeface="Times New Roman"/>
            </a:endParaRPr>
          </a:p>
          <a:p>
            <a:pPr marL="297180" indent="-285115">
              <a:lnSpc>
                <a:spcPct val="100000"/>
              </a:lnSpc>
              <a:spcBef>
                <a:spcPts val="650"/>
              </a:spcBef>
              <a:buClr>
                <a:srgbClr val="9B2C1F"/>
              </a:buClr>
              <a:buSzPct val="85000"/>
              <a:buFont typeface="Wingdings"/>
              <a:buChar char=""/>
              <a:tabLst>
                <a:tab pos="297180" algn="l"/>
                <a:tab pos="297815" algn="l"/>
              </a:tabLst>
            </a:pPr>
            <a:r>
              <a:rPr sz="2000" spc="-75" dirty="0">
                <a:latin typeface="Times New Roman"/>
                <a:cs typeface="Times New Roman"/>
              </a:rPr>
              <a:t>802.11ad</a:t>
            </a:r>
            <a:endParaRPr sz="2000">
              <a:latin typeface="Times New Roman"/>
              <a:cs typeface="Times New Roman"/>
            </a:endParaRPr>
          </a:p>
          <a:p>
            <a:pPr marL="297180" indent="-285115">
              <a:lnSpc>
                <a:spcPct val="100000"/>
              </a:lnSpc>
              <a:spcBef>
                <a:spcPts val="635"/>
              </a:spcBef>
              <a:buClr>
                <a:srgbClr val="9B2C1F"/>
              </a:buClr>
              <a:buSzPct val="85000"/>
              <a:buFont typeface="Wingdings"/>
              <a:buChar char=""/>
              <a:tabLst>
                <a:tab pos="297180" algn="l"/>
                <a:tab pos="297815" algn="l"/>
              </a:tabLst>
            </a:pPr>
            <a:r>
              <a:rPr sz="2000" spc="-85" dirty="0">
                <a:latin typeface="Times New Roman"/>
                <a:cs typeface="Times New Roman"/>
              </a:rPr>
              <a:t>802.11af</a:t>
            </a:r>
            <a:endParaRPr sz="2000">
              <a:latin typeface="Times New Roman"/>
              <a:cs typeface="Times New Roman"/>
            </a:endParaRPr>
          </a:p>
          <a:p>
            <a:pPr marL="297180" indent="-285115">
              <a:lnSpc>
                <a:spcPct val="100000"/>
              </a:lnSpc>
              <a:spcBef>
                <a:spcPts val="640"/>
              </a:spcBef>
              <a:buClr>
                <a:srgbClr val="9B2C1F"/>
              </a:buClr>
              <a:buSzPct val="85000"/>
              <a:buFont typeface="Wingdings"/>
              <a:buChar char=""/>
              <a:tabLst>
                <a:tab pos="297180" algn="l"/>
                <a:tab pos="297815" algn="l"/>
              </a:tabLst>
            </a:pPr>
            <a:r>
              <a:rPr sz="2000" spc="-85" dirty="0">
                <a:latin typeface="Times New Roman"/>
                <a:cs typeface="Times New Roman"/>
              </a:rPr>
              <a:t>802.11ah</a:t>
            </a:r>
            <a:endParaRPr sz="2000">
              <a:latin typeface="Times New Roman"/>
              <a:cs typeface="Times New Roman"/>
            </a:endParaRPr>
          </a:p>
          <a:p>
            <a:pPr marL="297180" indent="-285115">
              <a:lnSpc>
                <a:spcPct val="100000"/>
              </a:lnSpc>
              <a:spcBef>
                <a:spcPts val="650"/>
              </a:spcBef>
              <a:buClr>
                <a:srgbClr val="9B2C1F"/>
              </a:buClr>
              <a:buSzPct val="85000"/>
              <a:buFont typeface="Wingdings"/>
              <a:buChar char=""/>
              <a:tabLst>
                <a:tab pos="297180" algn="l"/>
                <a:tab pos="297815" algn="l"/>
              </a:tabLst>
            </a:pPr>
            <a:r>
              <a:rPr sz="2000" spc="-80" dirty="0">
                <a:latin typeface="Times New Roman"/>
                <a:cs typeface="Times New Roman"/>
              </a:rPr>
              <a:t>802.11ai</a:t>
            </a:r>
            <a:endParaRPr sz="2000">
              <a:latin typeface="Times New Roman"/>
              <a:cs typeface="Times New Roman"/>
            </a:endParaRPr>
          </a:p>
          <a:p>
            <a:pPr marL="297180" indent="-285115">
              <a:lnSpc>
                <a:spcPct val="100000"/>
              </a:lnSpc>
              <a:spcBef>
                <a:spcPts val="635"/>
              </a:spcBef>
              <a:buClr>
                <a:srgbClr val="9B2C1F"/>
              </a:buClr>
              <a:buSzPct val="85000"/>
              <a:buFont typeface="Wingdings"/>
              <a:buChar char=""/>
              <a:tabLst>
                <a:tab pos="297180" algn="l"/>
                <a:tab pos="297815" algn="l"/>
              </a:tabLst>
            </a:pPr>
            <a:r>
              <a:rPr sz="2000" spc="-80" dirty="0">
                <a:latin typeface="Times New Roman"/>
                <a:cs typeface="Times New Roman"/>
              </a:rPr>
              <a:t>802.11aj</a:t>
            </a:r>
            <a:endParaRPr sz="2000">
              <a:latin typeface="Times New Roman"/>
              <a:cs typeface="Times New Roman"/>
            </a:endParaRPr>
          </a:p>
          <a:p>
            <a:pPr marL="297180" indent="-285115">
              <a:lnSpc>
                <a:spcPct val="100000"/>
              </a:lnSpc>
              <a:spcBef>
                <a:spcPts val="635"/>
              </a:spcBef>
              <a:buClr>
                <a:srgbClr val="9B2C1F"/>
              </a:buClr>
              <a:buSzPct val="85000"/>
              <a:buFont typeface="Wingdings"/>
              <a:buChar char=""/>
              <a:tabLst>
                <a:tab pos="297180" algn="l"/>
                <a:tab pos="297815" algn="l"/>
              </a:tabLst>
            </a:pPr>
            <a:r>
              <a:rPr sz="2000" spc="-80" dirty="0">
                <a:latin typeface="Times New Roman"/>
                <a:cs typeface="Times New Roman"/>
              </a:rPr>
              <a:t>802.11aq</a:t>
            </a:r>
            <a:endParaRPr sz="2000">
              <a:latin typeface="Times New Roman"/>
              <a:cs typeface="Times New Roman"/>
            </a:endParaRPr>
          </a:p>
          <a:p>
            <a:pPr marL="297180" indent="-285115">
              <a:lnSpc>
                <a:spcPct val="100000"/>
              </a:lnSpc>
              <a:spcBef>
                <a:spcPts val="650"/>
              </a:spcBef>
              <a:buClr>
                <a:srgbClr val="9B2C1F"/>
              </a:buClr>
              <a:buSzPct val="85000"/>
              <a:buFont typeface="Wingdings"/>
              <a:buChar char=""/>
              <a:tabLst>
                <a:tab pos="297180" algn="l"/>
                <a:tab pos="297815" algn="l"/>
              </a:tabLst>
            </a:pPr>
            <a:r>
              <a:rPr sz="2000" spc="-75" dirty="0">
                <a:latin typeface="Times New Roman"/>
                <a:cs typeface="Times New Roman"/>
              </a:rPr>
              <a:t>802.11ax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23409" y="89915"/>
            <a:ext cx="7673975" cy="1094740"/>
            <a:chOff x="923409" y="89915"/>
            <a:chExt cx="7673975" cy="1094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23409" y="387510"/>
              <a:ext cx="3103173" cy="46699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25240" y="89915"/>
              <a:ext cx="4771644" cy="1094231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75182" y="219583"/>
            <a:ext cx="7390130" cy="619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900" b="1" spc="-315" dirty="0">
                <a:solidFill>
                  <a:srgbClr val="FF0000"/>
                </a:solidFill>
                <a:latin typeface="Arial"/>
                <a:cs typeface="Arial"/>
              </a:rPr>
              <a:t>Physical</a:t>
            </a:r>
            <a:r>
              <a:rPr sz="3900" b="1" spc="-14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900" b="1" spc="-160" dirty="0">
                <a:solidFill>
                  <a:srgbClr val="FF0000"/>
                </a:solidFill>
                <a:latin typeface="Arial"/>
                <a:cs typeface="Arial"/>
              </a:rPr>
              <a:t>Media</a:t>
            </a:r>
            <a:r>
              <a:rPr sz="3900" b="1" spc="-9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900" b="1" spc="-245" dirty="0">
                <a:latin typeface="Arial"/>
                <a:cs typeface="Arial"/>
              </a:rPr>
              <a:t>of</a:t>
            </a:r>
            <a:r>
              <a:rPr sz="3900" b="1" spc="-105" dirty="0">
                <a:latin typeface="Arial"/>
                <a:cs typeface="Arial"/>
              </a:rPr>
              <a:t> </a:t>
            </a:r>
            <a:r>
              <a:rPr sz="3900" b="1" spc="40" dirty="0">
                <a:latin typeface="Arial"/>
                <a:cs typeface="Arial"/>
              </a:rPr>
              <a:t>802.11</a:t>
            </a:r>
            <a:r>
              <a:rPr sz="3900" b="1" spc="-135" dirty="0">
                <a:latin typeface="Arial"/>
                <a:cs typeface="Arial"/>
              </a:rPr>
              <a:t> </a:t>
            </a:r>
            <a:r>
              <a:rPr sz="3900" b="1" spc="-229" dirty="0">
                <a:latin typeface="Arial"/>
                <a:cs typeface="Arial"/>
              </a:rPr>
              <a:t>Standard</a:t>
            </a:r>
            <a:endParaRPr sz="39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408997" y="1315275"/>
            <a:ext cx="5462905" cy="1404620"/>
            <a:chOff x="3408997" y="1315275"/>
            <a:chExt cx="5462905" cy="1404620"/>
          </a:xfrm>
        </p:grpSpPr>
        <p:sp>
          <p:nvSpPr>
            <p:cNvPr id="7" name="object 7"/>
            <p:cNvSpPr/>
            <p:nvPr/>
          </p:nvSpPr>
          <p:spPr>
            <a:xfrm>
              <a:off x="3413759" y="1320038"/>
              <a:ext cx="5453380" cy="1395095"/>
            </a:xfrm>
            <a:custGeom>
              <a:avLst/>
              <a:gdLst/>
              <a:ahLst/>
              <a:cxnLst/>
              <a:rect l="l" t="t" r="r" b="b"/>
              <a:pathLst>
                <a:path w="5453380" h="1395095">
                  <a:moveTo>
                    <a:pt x="5220716" y="0"/>
                  </a:moveTo>
                  <a:lnTo>
                    <a:pt x="0" y="0"/>
                  </a:lnTo>
                  <a:lnTo>
                    <a:pt x="0" y="1394714"/>
                  </a:lnTo>
                  <a:lnTo>
                    <a:pt x="5220716" y="1394714"/>
                  </a:lnTo>
                  <a:lnTo>
                    <a:pt x="5267566" y="1389993"/>
                  </a:lnTo>
                  <a:lnTo>
                    <a:pt x="5311197" y="1376455"/>
                  </a:lnTo>
                  <a:lnTo>
                    <a:pt x="5350676" y="1355032"/>
                  </a:lnTo>
                  <a:lnTo>
                    <a:pt x="5385069" y="1326657"/>
                  </a:lnTo>
                  <a:lnTo>
                    <a:pt x="5413444" y="1292264"/>
                  </a:lnTo>
                  <a:lnTo>
                    <a:pt x="5434867" y="1252785"/>
                  </a:lnTo>
                  <a:lnTo>
                    <a:pt x="5448405" y="1209154"/>
                  </a:lnTo>
                  <a:lnTo>
                    <a:pt x="5453125" y="1162303"/>
                  </a:lnTo>
                  <a:lnTo>
                    <a:pt x="5453125" y="232410"/>
                  </a:lnTo>
                  <a:lnTo>
                    <a:pt x="5448405" y="185559"/>
                  </a:lnTo>
                  <a:lnTo>
                    <a:pt x="5434867" y="141928"/>
                  </a:lnTo>
                  <a:lnTo>
                    <a:pt x="5413444" y="102449"/>
                  </a:lnTo>
                  <a:lnTo>
                    <a:pt x="5385069" y="68056"/>
                  </a:lnTo>
                  <a:lnTo>
                    <a:pt x="5350676" y="39681"/>
                  </a:lnTo>
                  <a:lnTo>
                    <a:pt x="5311197" y="18258"/>
                  </a:lnTo>
                  <a:lnTo>
                    <a:pt x="5267566" y="4720"/>
                  </a:lnTo>
                  <a:lnTo>
                    <a:pt x="5220716" y="0"/>
                  </a:lnTo>
                  <a:close/>
                </a:path>
              </a:pathLst>
            </a:custGeom>
            <a:solidFill>
              <a:srgbClr val="DFDBD3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413759" y="1320038"/>
              <a:ext cx="5453380" cy="1395095"/>
            </a:xfrm>
            <a:custGeom>
              <a:avLst/>
              <a:gdLst/>
              <a:ahLst/>
              <a:cxnLst/>
              <a:rect l="l" t="t" r="r" b="b"/>
              <a:pathLst>
                <a:path w="5453380" h="1395095">
                  <a:moveTo>
                    <a:pt x="5453125" y="232410"/>
                  </a:moveTo>
                  <a:lnTo>
                    <a:pt x="5453125" y="1162303"/>
                  </a:lnTo>
                  <a:lnTo>
                    <a:pt x="5448405" y="1209154"/>
                  </a:lnTo>
                  <a:lnTo>
                    <a:pt x="5434867" y="1252785"/>
                  </a:lnTo>
                  <a:lnTo>
                    <a:pt x="5413444" y="1292264"/>
                  </a:lnTo>
                  <a:lnTo>
                    <a:pt x="5385069" y="1326657"/>
                  </a:lnTo>
                  <a:lnTo>
                    <a:pt x="5350676" y="1355032"/>
                  </a:lnTo>
                  <a:lnTo>
                    <a:pt x="5311197" y="1376455"/>
                  </a:lnTo>
                  <a:lnTo>
                    <a:pt x="5267566" y="1389993"/>
                  </a:lnTo>
                  <a:lnTo>
                    <a:pt x="5220716" y="1394714"/>
                  </a:lnTo>
                  <a:lnTo>
                    <a:pt x="0" y="1394714"/>
                  </a:lnTo>
                  <a:lnTo>
                    <a:pt x="0" y="0"/>
                  </a:lnTo>
                  <a:lnTo>
                    <a:pt x="5220716" y="0"/>
                  </a:lnTo>
                  <a:lnTo>
                    <a:pt x="5267566" y="4720"/>
                  </a:lnTo>
                  <a:lnTo>
                    <a:pt x="5311197" y="18258"/>
                  </a:lnTo>
                  <a:lnTo>
                    <a:pt x="5350676" y="39681"/>
                  </a:lnTo>
                  <a:lnTo>
                    <a:pt x="5385069" y="68056"/>
                  </a:lnTo>
                  <a:lnTo>
                    <a:pt x="5413444" y="102449"/>
                  </a:lnTo>
                  <a:lnTo>
                    <a:pt x="5434867" y="141928"/>
                  </a:lnTo>
                  <a:lnTo>
                    <a:pt x="5448405" y="185559"/>
                  </a:lnTo>
                  <a:lnTo>
                    <a:pt x="5453125" y="232410"/>
                  </a:lnTo>
                  <a:close/>
                </a:path>
              </a:pathLst>
            </a:custGeom>
            <a:ln w="9525">
              <a:solidFill>
                <a:srgbClr val="DFDB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493134" y="1400302"/>
            <a:ext cx="4138295" cy="11245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Char char="•"/>
              <a:tabLst>
                <a:tab pos="241300" algn="l"/>
              </a:tabLst>
            </a:pPr>
            <a:r>
              <a:rPr sz="2400" spc="-45" dirty="0">
                <a:latin typeface="Times New Roman"/>
                <a:cs typeface="Times New Roman"/>
              </a:rPr>
              <a:t>Op</a:t>
            </a:r>
            <a:r>
              <a:rPr sz="2400" spc="-85" dirty="0">
                <a:latin typeface="Times New Roman"/>
                <a:cs typeface="Times New Roman"/>
              </a:rPr>
              <a:t>er</a:t>
            </a:r>
            <a:r>
              <a:rPr sz="2400" spc="-120" dirty="0">
                <a:latin typeface="Times New Roman"/>
                <a:cs typeface="Times New Roman"/>
              </a:rPr>
              <a:t>a</a:t>
            </a:r>
            <a:r>
              <a:rPr sz="2400" spc="-100" dirty="0">
                <a:latin typeface="Times New Roman"/>
                <a:cs typeface="Times New Roman"/>
              </a:rPr>
              <a:t>ting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10" dirty="0">
                <a:latin typeface="Times New Roman"/>
                <a:cs typeface="Times New Roman"/>
              </a:rPr>
              <a:t>in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35" dirty="0">
                <a:latin typeface="Times New Roman"/>
                <a:cs typeface="Times New Roman"/>
              </a:rPr>
              <a:t>2.4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65" dirty="0">
                <a:latin typeface="Times New Roman"/>
                <a:cs typeface="Times New Roman"/>
              </a:rPr>
              <a:t>GHz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265" dirty="0">
                <a:latin typeface="Times New Roman"/>
                <a:cs typeface="Times New Roman"/>
              </a:rPr>
              <a:t>ISM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40" dirty="0">
                <a:latin typeface="Times New Roman"/>
                <a:cs typeface="Times New Roman"/>
              </a:rPr>
              <a:t>ban</a:t>
            </a:r>
            <a:r>
              <a:rPr sz="2400" spc="-105" dirty="0">
                <a:latin typeface="Times New Roman"/>
                <a:cs typeface="Times New Roman"/>
              </a:rPr>
              <a:t>d</a:t>
            </a:r>
            <a:endParaRPr sz="24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buChar char="•"/>
              <a:tabLst>
                <a:tab pos="241300" algn="l"/>
              </a:tabLst>
            </a:pPr>
            <a:r>
              <a:rPr sz="2400" spc="-204" dirty="0">
                <a:latin typeface="Times New Roman"/>
                <a:cs typeface="Times New Roman"/>
              </a:rPr>
              <a:t>L</a:t>
            </a:r>
            <a:r>
              <a:rPr sz="2400" spc="-240" dirty="0">
                <a:latin typeface="Times New Roman"/>
                <a:cs typeface="Times New Roman"/>
              </a:rPr>
              <a:t>o</a:t>
            </a:r>
            <a:r>
              <a:rPr sz="2400" spc="-225" dirty="0">
                <a:latin typeface="Times New Roman"/>
                <a:cs typeface="Times New Roman"/>
              </a:rPr>
              <a:t>w</a:t>
            </a:r>
            <a:r>
              <a:rPr sz="2400" spc="-35" dirty="0">
                <a:latin typeface="Times New Roman"/>
                <a:cs typeface="Times New Roman"/>
              </a:rPr>
              <a:t>er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55" dirty="0">
                <a:latin typeface="Times New Roman"/>
                <a:cs typeface="Times New Roman"/>
              </a:rPr>
              <a:t>co</a:t>
            </a:r>
            <a:r>
              <a:rPr sz="2400" spc="-120" dirty="0">
                <a:latin typeface="Times New Roman"/>
                <a:cs typeface="Times New Roman"/>
              </a:rPr>
              <a:t>s</a:t>
            </a:r>
            <a:r>
              <a:rPr sz="2400" spc="65" dirty="0">
                <a:latin typeface="Times New Roman"/>
                <a:cs typeface="Times New Roman"/>
              </a:rPr>
              <a:t>t,</a:t>
            </a:r>
            <a:r>
              <a:rPr sz="2400" spc="-170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p</a:t>
            </a:r>
            <a:r>
              <a:rPr sz="2400" spc="-170" dirty="0">
                <a:latin typeface="Times New Roman"/>
                <a:cs typeface="Times New Roman"/>
              </a:rPr>
              <a:t>o</a:t>
            </a:r>
            <a:r>
              <a:rPr sz="2400" spc="-225" dirty="0">
                <a:latin typeface="Times New Roman"/>
                <a:cs typeface="Times New Roman"/>
              </a:rPr>
              <a:t>w</a:t>
            </a:r>
            <a:r>
              <a:rPr sz="2400" spc="-35" dirty="0">
                <a:latin typeface="Times New Roman"/>
                <a:cs typeface="Times New Roman"/>
              </a:rPr>
              <a:t>er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14" dirty="0">
                <a:latin typeface="Times New Roman"/>
                <a:cs typeface="Times New Roman"/>
              </a:rPr>
              <a:t>con</a:t>
            </a:r>
            <a:r>
              <a:rPr sz="2400" spc="-125" dirty="0">
                <a:latin typeface="Times New Roman"/>
                <a:cs typeface="Times New Roman"/>
              </a:rPr>
              <a:t>s</a:t>
            </a:r>
            <a:r>
              <a:rPr sz="2400" spc="-155" dirty="0">
                <a:latin typeface="Times New Roman"/>
                <a:cs typeface="Times New Roman"/>
              </a:rPr>
              <a:t>um</a:t>
            </a:r>
            <a:r>
              <a:rPr sz="2400" spc="-95" dirty="0">
                <a:latin typeface="Times New Roman"/>
                <a:cs typeface="Times New Roman"/>
              </a:rPr>
              <a:t>p</a:t>
            </a:r>
            <a:r>
              <a:rPr sz="2400" spc="-75" dirty="0">
                <a:latin typeface="Times New Roman"/>
                <a:cs typeface="Times New Roman"/>
              </a:rPr>
              <a:t>tion</a:t>
            </a:r>
            <a:endParaRPr sz="24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10"/>
              </a:spcBef>
              <a:buChar char="•"/>
              <a:tabLst>
                <a:tab pos="241300" algn="l"/>
              </a:tabLst>
            </a:pPr>
            <a:r>
              <a:rPr sz="2400" spc="-190" dirty="0">
                <a:latin typeface="Times New Roman"/>
                <a:cs typeface="Times New Roman"/>
              </a:rPr>
              <a:t>Mos</a:t>
            </a:r>
            <a:r>
              <a:rPr sz="2400" spc="30" dirty="0">
                <a:latin typeface="Times New Roman"/>
                <a:cs typeface="Times New Roman"/>
              </a:rPr>
              <a:t>t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20" dirty="0">
                <a:latin typeface="Times New Roman"/>
                <a:cs typeface="Times New Roman"/>
              </a:rPr>
              <a:t>t</a:t>
            </a:r>
            <a:r>
              <a:rPr sz="2400" spc="-90" dirty="0">
                <a:latin typeface="Times New Roman"/>
                <a:cs typeface="Times New Roman"/>
              </a:rPr>
              <a:t>olera</a:t>
            </a:r>
            <a:r>
              <a:rPr sz="2400" spc="-105" dirty="0">
                <a:latin typeface="Times New Roman"/>
                <a:cs typeface="Times New Roman"/>
              </a:rPr>
              <a:t>n</a:t>
            </a:r>
            <a:r>
              <a:rPr sz="2400" spc="30" dirty="0">
                <a:latin typeface="Times New Roman"/>
                <a:cs typeface="Times New Roman"/>
              </a:rPr>
              <a:t>t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20" dirty="0">
                <a:latin typeface="Times New Roman"/>
                <a:cs typeface="Times New Roman"/>
              </a:rPr>
              <a:t>t</a:t>
            </a:r>
            <a:r>
              <a:rPr sz="2400" spc="-105" dirty="0">
                <a:latin typeface="Times New Roman"/>
                <a:cs typeface="Times New Roman"/>
              </a:rPr>
              <a:t>o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80" dirty="0">
                <a:latin typeface="Times New Roman"/>
                <a:cs typeface="Times New Roman"/>
              </a:rPr>
              <a:t>s</a:t>
            </a:r>
            <a:r>
              <a:rPr sz="2400" spc="-140" dirty="0">
                <a:latin typeface="Times New Roman"/>
                <a:cs typeface="Times New Roman"/>
              </a:rPr>
              <a:t>ignal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65" dirty="0">
                <a:latin typeface="Times New Roman"/>
                <a:cs typeface="Times New Roman"/>
              </a:rPr>
              <a:t>interfe</a:t>
            </a:r>
            <a:r>
              <a:rPr sz="2400" spc="-85" dirty="0">
                <a:latin typeface="Times New Roman"/>
                <a:cs typeface="Times New Roman"/>
              </a:rPr>
              <a:t>r</a:t>
            </a:r>
            <a:r>
              <a:rPr sz="2400" spc="-110" dirty="0">
                <a:latin typeface="Times New Roman"/>
                <a:cs typeface="Times New Roman"/>
              </a:rPr>
              <a:t>ence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04800" y="1129283"/>
            <a:ext cx="8567420" cy="3421379"/>
            <a:chOff x="304800" y="1129283"/>
            <a:chExt cx="8567420" cy="3421379"/>
          </a:xfrm>
        </p:grpSpPr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4800" y="1129283"/>
              <a:ext cx="3188207" cy="1911096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3413760" y="3150742"/>
              <a:ext cx="5453380" cy="1395095"/>
            </a:xfrm>
            <a:custGeom>
              <a:avLst/>
              <a:gdLst/>
              <a:ahLst/>
              <a:cxnLst/>
              <a:rect l="l" t="t" r="r" b="b"/>
              <a:pathLst>
                <a:path w="5453380" h="1395095">
                  <a:moveTo>
                    <a:pt x="5220716" y="0"/>
                  </a:moveTo>
                  <a:lnTo>
                    <a:pt x="0" y="0"/>
                  </a:lnTo>
                  <a:lnTo>
                    <a:pt x="0" y="1394714"/>
                  </a:lnTo>
                  <a:lnTo>
                    <a:pt x="5220716" y="1394714"/>
                  </a:lnTo>
                  <a:lnTo>
                    <a:pt x="5267566" y="1389993"/>
                  </a:lnTo>
                  <a:lnTo>
                    <a:pt x="5311197" y="1376455"/>
                  </a:lnTo>
                  <a:lnTo>
                    <a:pt x="5350676" y="1355032"/>
                  </a:lnTo>
                  <a:lnTo>
                    <a:pt x="5385069" y="1326657"/>
                  </a:lnTo>
                  <a:lnTo>
                    <a:pt x="5413444" y="1292264"/>
                  </a:lnTo>
                  <a:lnTo>
                    <a:pt x="5434867" y="1252785"/>
                  </a:lnTo>
                  <a:lnTo>
                    <a:pt x="5448405" y="1209154"/>
                  </a:lnTo>
                  <a:lnTo>
                    <a:pt x="5453125" y="1162304"/>
                  </a:lnTo>
                  <a:lnTo>
                    <a:pt x="5453125" y="232410"/>
                  </a:lnTo>
                  <a:lnTo>
                    <a:pt x="5448405" y="185559"/>
                  </a:lnTo>
                  <a:lnTo>
                    <a:pt x="5434867" y="141928"/>
                  </a:lnTo>
                  <a:lnTo>
                    <a:pt x="5413444" y="102449"/>
                  </a:lnTo>
                  <a:lnTo>
                    <a:pt x="5385069" y="68056"/>
                  </a:lnTo>
                  <a:lnTo>
                    <a:pt x="5350676" y="39681"/>
                  </a:lnTo>
                  <a:lnTo>
                    <a:pt x="5311197" y="18258"/>
                  </a:lnTo>
                  <a:lnTo>
                    <a:pt x="5267566" y="4720"/>
                  </a:lnTo>
                  <a:lnTo>
                    <a:pt x="5220716" y="0"/>
                  </a:lnTo>
                  <a:close/>
                </a:path>
              </a:pathLst>
            </a:custGeom>
            <a:solidFill>
              <a:srgbClr val="DED6D2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413760" y="3150742"/>
              <a:ext cx="5453380" cy="1395095"/>
            </a:xfrm>
            <a:custGeom>
              <a:avLst/>
              <a:gdLst/>
              <a:ahLst/>
              <a:cxnLst/>
              <a:rect l="l" t="t" r="r" b="b"/>
              <a:pathLst>
                <a:path w="5453380" h="1395095">
                  <a:moveTo>
                    <a:pt x="5453125" y="232410"/>
                  </a:moveTo>
                  <a:lnTo>
                    <a:pt x="5453125" y="1162304"/>
                  </a:lnTo>
                  <a:lnTo>
                    <a:pt x="5448405" y="1209154"/>
                  </a:lnTo>
                  <a:lnTo>
                    <a:pt x="5434867" y="1252785"/>
                  </a:lnTo>
                  <a:lnTo>
                    <a:pt x="5413444" y="1292264"/>
                  </a:lnTo>
                  <a:lnTo>
                    <a:pt x="5385069" y="1326657"/>
                  </a:lnTo>
                  <a:lnTo>
                    <a:pt x="5350676" y="1355032"/>
                  </a:lnTo>
                  <a:lnTo>
                    <a:pt x="5311197" y="1376455"/>
                  </a:lnTo>
                  <a:lnTo>
                    <a:pt x="5267566" y="1389993"/>
                  </a:lnTo>
                  <a:lnTo>
                    <a:pt x="5220716" y="1394714"/>
                  </a:lnTo>
                  <a:lnTo>
                    <a:pt x="0" y="1394714"/>
                  </a:lnTo>
                  <a:lnTo>
                    <a:pt x="0" y="0"/>
                  </a:lnTo>
                  <a:lnTo>
                    <a:pt x="5220716" y="0"/>
                  </a:lnTo>
                  <a:lnTo>
                    <a:pt x="5267566" y="4720"/>
                  </a:lnTo>
                  <a:lnTo>
                    <a:pt x="5311197" y="18258"/>
                  </a:lnTo>
                  <a:lnTo>
                    <a:pt x="5350676" y="39681"/>
                  </a:lnTo>
                  <a:lnTo>
                    <a:pt x="5385069" y="68056"/>
                  </a:lnTo>
                  <a:lnTo>
                    <a:pt x="5413444" y="102449"/>
                  </a:lnTo>
                  <a:lnTo>
                    <a:pt x="5434867" y="141928"/>
                  </a:lnTo>
                  <a:lnTo>
                    <a:pt x="5448405" y="185559"/>
                  </a:lnTo>
                  <a:lnTo>
                    <a:pt x="5453125" y="232410"/>
                  </a:lnTo>
                  <a:close/>
                </a:path>
              </a:pathLst>
            </a:custGeom>
            <a:ln w="9525">
              <a:solidFill>
                <a:srgbClr val="DED6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3493134" y="3231260"/>
            <a:ext cx="4748530" cy="11245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Char char="•"/>
              <a:tabLst>
                <a:tab pos="241300" algn="l"/>
              </a:tabLst>
            </a:pPr>
            <a:r>
              <a:rPr sz="2400" spc="-45" dirty="0">
                <a:latin typeface="Times New Roman"/>
                <a:cs typeface="Times New Roman"/>
              </a:rPr>
              <a:t>Op</a:t>
            </a:r>
            <a:r>
              <a:rPr sz="2400" spc="-85" dirty="0">
                <a:latin typeface="Times New Roman"/>
                <a:cs typeface="Times New Roman"/>
              </a:rPr>
              <a:t>er</a:t>
            </a:r>
            <a:r>
              <a:rPr sz="2400" spc="-120" dirty="0">
                <a:latin typeface="Times New Roman"/>
                <a:cs typeface="Times New Roman"/>
              </a:rPr>
              <a:t>a</a:t>
            </a:r>
            <a:r>
              <a:rPr sz="2400" spc="-100" dirty="0">
                <a:latin typeface="Times New Roman"/>
                <a:cs typeface="Times New Roman"/>
              </a:rPr>
              <a:t>ting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10" dirty="0">
                <a:latin typeface="Times New Roman"/>
                <a:cs typeface="Times New Roman"/>
              </a:rPr>
              <a:t>in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35" dirty="0">
                <a:latin typeface="Times New Roman"/>
                <a:cs typeface="Times New Roman"/>
              </a:rPr>
              <a:t>2.4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65" dirty="0">
                <a:latin typeface="Times New Roman"/>
                <a:cs typeface="Times New Roman"/>
              </a:rPr>
              <a:t>GHz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265" dirty="0">
                <a:latin typeface="Times New Roman"/>
                <a:cs typeface="Times New Roman"/>
              </a:rPr>
              <a:t>ISM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40" dirty="0">
                <a:latin typeface="Times New Roman"/>
                <a:cs typeface="Times New Roman"/>
              </a:rPr>
              <a:t>ban</a:t>
            </a:r>
            <a:r>
              <a:rPr sz="2400" spc="-105" dirty="0">
                <a:latin typeface="Times New Roman"/>
                <a:cs typeface="Times New Roman"/>
              </a:rPr>
              <a:t>d</a:t>
            </a:r>
            <a:endParaRPr sz="24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buChar char="•"/>
              <a:tabLst>
                <a:tab pos="241300" algn="l"/>
              </a:tabLst>
            </a:pPr>
            <a:r>
              <a:rPr sz="2400" spc="-150" dirty="0">
                <a:latin typeface="Times New Roman"/>
                <a:cs typeface="Times New Roman"/>
              </a:rPr>
              <a:t>Supp</a:t>
            </a:r>
            <a:r>
              <a:rPr sz="2400" spc="-140" dirty="0">
                <a:latin typeface="Times New Roman"/>
                <a:cs typeface="Times New Roman"/>
              </a:rPr>
              <a:t>o</a:t>
            </a:r>
            <a:r>
              <a:rPr sz="2400" spc="105" dirty="0">
                <a:latin typeface="Times New Roman"/>
                <a:cs typeface="Times New Roman"/>
              </a:rPr>
              <a:t>r</a:t>
            </a:r>
            <a:r>
              <a:rPr sz="2400" spc="-75" dirty="0">
                <a:latin typeface="Times New Roman"/>
                <a:cs typeface="Times New Roman"/>
              </a:rPr>
              <a:t>ts </a:t>
            </a:r>
            <a:r>
              <a:rPr sz="2400" spc="-114" dirty="0">
                <a:latin typeface="Times New Roman"/>
                <a:cs typeface="Times New Roman"/>
              </a:rPr>
              <a:t>higher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55" dirty="0">
                <a:latin typeface="Times New Roman"/>
                <a:cs typeface="Times New Roman"/>
              </a:rPr>
              <a:t>d</a:t>
            </a:r>
            <a:r>
              <a:rPr sz="2400" spc="-165" dirty="0">
                <a:latin typeface="Times New Roman"/>
                <a:cs typeface="Times New Roman"/>
              </a:rPr>
              <a:t>a</a:t>
            </a:r>
            <a:r>
              <a:rPr sz="2400" spc="-80" dirty="0">
                <a:latin typeface="Times New Roman"/>
                <a:cs typeface="Times New Roman"/>
              </a:rPr>
              <a:t>ta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75" dirty="0">
                <a:latin typeface="Times New Roman"/>
                <a:cs typeface="Times New Roman"/>
              </a:rPr>
              <a:t>r</a:t>
            </a:r>
            <a:r>
              <a:rPr sz="2400" spc="-130" dirty="0">
                <a:latin typeface="Times New Roman"/>
                <a:cs typeface="Times New Roman"/>
              </a:rPr>
              <a:t>a</a:t>
            </a:r>
            <a:r>
              <a:rPr sz="2400" spc="-25" dirty="0">
                <a:latin typeface="Times New Roman"/>
                <a:cs typeface="Times New Roman"/>
              </a:rPr>
              <a:t>t</a:t>
            </a:r>
            <a:r>
              <a:rPr sz="2400" spc="-45" dirty="0">
                <a:latin typeface="Times New Roman"/>
                <a:cs typeface="Times New Roman"/>
              </a:rPr>
              <a:t>e</a:t>
            </a:r>
            <a:r>
              <a:rPr sz="2400" spc="-185" dirty="0">
                <a:latin typeface="Times New Roman"/>
                <a:cs typeface="Times New Roman"/>
              </a:rPr>
              <a:t>s</a:t>
            </a:r>
            <a:endParaRPr sz="24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15"/>
              </a:spcBef>
              <a:buChar char="•"/>
              <a:tabLst>
                <a:tab pos="241300" algn="l"/>
              </a:tabLst>
            </a:pPr>
            <a:r>
              <a:rPr sz="2400" spc="-145" dirty="0">
                <a:latin typeface="Times New Roman"/>
                <a:cs typeface="Times New Roman"/>
              </a:rPr>
              <a:t>Mo</a:t>
            </a:r>
            <a:r>
              <a:rPr sz="2400" spc="-90" dirty="0">
                <a:latin typeface="Times New Roman"/>
                <a:cs typeface="Times New Roman"/>
              </a:rPr>
              <a:t>r</a:t>
            </a:r>
            <a:r>
              <a:rPr sz="2400" spc="-95" dirty="0">
                <a:latin typeface="Times New Roman"/>
                <a:cs typeface="Times New Roman"/>
              </a:rPr>
              <a:t>e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20" dirty="0">
                <a:latin typeface="Times New Roman"/>
                <a:cs typeface="Times New Roman"/>
              </a:rPr>
              <a:t>rang</a:t>
            </a:r>
            <a:r>
              <a:rPr sz="2400" spc="-114" dirty="0">
                <a:latin typeface="Times New Roman"/>
                <a:cs typeface="Times New Roman"/>
              </a:rPr>
              <a:t>e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20" dirty="0">
                <a:latin typeface="Times New Roman"/>
                <a:cs typeface="Times New Roman"/>
              </a:rPr>
              <a:t>t</a:t>
            </a:r>
            <a:r>
              <a:rPr sz="2400" spc="-150" dirty="0">
                <a:latin typeface="Times New Roman"/>
                <a:cs typeface="Times New Roman"/>
              </a:rPr>
              <a:t>han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85" dirty="0">
                <a:latin typeface="Times New Roman"/>
                <a:cs typeface="Times New Roman"/>
              </a:rPr>
              <a:t>FH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40" dirty="0">
                <a:latin typeface="Times New Roman"/>
                <a:cs typeface="Times New Roman"/>
              </a:rPr>
              <a:t>or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80" dirty="0">
                <a:latin typeface="Times New Roman"/>
                <a:cs typeface="Times New Roman"/>
              </a:rPr>
              <a:t>IR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p</a:t>
            </a:r>
            <a:r>
              <a:rPr sz="2400" spc="-195" dirty="0">
                <a:latin typeface="Times New Roman"/>
                <a:cs typeface="Times New Roman"/>
              </a:rPr>
              <a:t>h</a:t>
            </a:r>
            <a:r>
              <a:rPr sz="2400" spc="-155" dirty="0">
                <a:latin typeface="Times New Roman"/>
                <a:cs typeface="Times New Roman"/>
              </a:rPr>
              <a:t>ysical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14" dirty="0">
                <a:latin typeface="Times New Roman"/>
                <a:cs typeface="Times New Roman"/>
              </a:rPr>
              <a:t>l</a:t>
            </a:r>
            <a:r>
              <a:rPr sz="2400" spc="-260" dirty="0">
                <a:latin typeface="Times New Roman"/>
                <a:cs typeface="Times New Roman"/>
              </a:rPr>
              <a:t>a</a:t>
            </a:r>
            <a:r>
              <a:rPr sz="2400" spc="-245" dirty="0">
                <a:latin typeface="Times New Roman"/>
                <a:cs typeface="Times New Roman"/>
              </a:rPr>
              <a:t>y</a:t>
            </a:r>
            <a:r>
              <a:rPr sz="2400" spc="-40" dirty="0">
                <a:latin typeface="Times New Roman"/>
                <a:cs typeface="Times New Roman"/>
              </a:rPr>
              <a:t>e</a:t>
            </a:r>
            <a:r>
              <a:rPr sz="2400" spc="15" dirty="0">
                <a:latin typeface="Times New Roman"/>
                <a:cs typeface="Times New Roman"/>
              </a:rPr>
              <a:t>r</a:t>
            </a:r>
            <a:r>
              <a:rPr sz="2400" spc="-185" dirty="0">
                <a:latin typeface="Times New Roman"/>
                <a:cs typeface="Times New Roman"/>
              </a:rPr>
              <a:t>s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15" name="object 1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71272" y="2959607"/>
            <a:ext cx="3317748" cy="1911095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555142" y="1198321"/>
            <a:ext cx="2652395" cy="3308985"/>
          </a:xfrm>
          <a:prstGeom prst="rect">
            <a:avLst/>
          </a:prstGeom>
        </p:spPr>
        <p:txBody>
          <a:bodyPr vert="horz" wrap="square" lIns="0" tIns="90805" rIns="0" bIns="0" rtlCol="0">
            <a:spAutoFit/>
          </a:bodyPr>
          <a:lstStyle/>
          <a:p>
            <a:pPr marL="106680" marR="101600" indent="635" algn="ctr">
              <a:lnSpc>
                <a:spcPts val="3610"/>
              </a:lnSpc>
              <a:spcBef>
                <a:spcPts val="715"/>
              </a:spcBef>
            </a:pPr>
            <a:r>
              <a:rPr sz="3500" spc="-160" dirty="0">
                <a:latin typeface="Times New Roman"/>
                <a:cs typeface="Times New Roman"/>
              </a:rPr>
              <a:t>Frequency- </a:t>
            </a:r>
            <a:r>
              <a:rPr sz="3500" spc="-155" dirty="0">
                <a:latin typeface="Times New Roman"/>
                <a:cs typeface="Times New Roman"/>
              </a:rPr>
              <a:t> </a:t>
            </a:r>
            <a:r>
              <a:rPr sz="3500" spc="-165" dirty="0">
                <a:latin typeface="Times New Roman"/>
                <a:cs typeface="Times New Roman"/>
              </a:rPr>
              <a:t>hop</a:t>
            </a:r>
            <a:r>
              <a:rPr sz="3500" spc="-160" dirty="0">
                <a:latin typeface="Times New Roman"/>
                <a:cs typeface="Times New Roman"/>
              </a:rPr>
              <a:t>p</a:t>
            </a:r>
            <a:r>
              <a:rPr sz="3500" spc="-204" dirty="0">
                <a:latin typeface="Times New Roman"/>
                <a:cs typeface="Times New Roman"/>
              </a:rPr>
              <a:t>ing</a:t>
            </a:r>
            <a:r>
              <a:rPr sz="3500" spc="-114" dirty="0">
                <a:latin typeface="Times New Roman"/>
                <a:cs typeface="Times New Roman"/>
              </a:rPr>
              <a:t> </a:t>
            </a:r>
            <a:r>
              <a:rPr sz="3500" spc="-135" dirty="0">
                <a:latin typeface="Times New Roman"/>
                <a:cs typeface="Times New Roman"/>
              </a:rPr>
              <a:t>sp</a:t>
            </a:r>
            <a:r>
              <a:rPr sz="3500" spc="-140" dirty="0">
                <a:latin typeface="Times New Roman"/>
                <a:cs typeface="Times New Roman"/>
              </a:rPr>
              <a:t>r</a:t>
            </a:r>
            <a:r>
              <a:rPr sz="3500" spc="-150" dirty="0">
                <a:latin typeface="Times New Roman"/>
                <a:cs typeface="Times New Roman"/>
              </a:rPr>
              <a:t>ead  </a:t>
            </a:r>
            <a:r>
              <a:rPr sz="3500" spc="-120" dirty="0">
                <a:latin typeface="Times New Roman"/>
                <a:cs typeface="Times New Roman"/>
              </a:rPr>
              <a:t>spectrum</a:t>
            </a:r>
            <a:endParaRPr sz="3500">
              <a:latin typeface="Times New Roman"/>
              <a:cs typeface="Times New Roman"/>
            </a:endParaRPr>
          </a:p>
          <a:p>
            <a:pPr marL="12065" marR="5080" algn="ctr">
              <a:lnSpc>
                <a:spcPct val="86000"/>
              </a:lnSpc>
              <a:spcBef>
                <a:spcPts val="3565"/>
              </a:spcBef>
            </a:pPr>
            <a:r>
              <a:rPr sz="3500" spc="-120" dirty="0">
                <a:latin typeface="Times New Roman"/>
                <a:cs typeface="Times New Roman"/>
              </a:rPr>
              <a:t>Di</a:t>
            </a:r>
            <a:r>
              <a:rPr sz="3500" spc="-105" dirty="0">
                <a:latin typeface="Times New Roman"/>
                <a:cs typeface="Times New Roman"/>
              </a:rPr>
              <a:t>r</a:t>
            </a:r>
            <a:r>
              <a:rPr sz="3500" spc="-170" dirty="0">
                <a:latin typeface="Times New Roman"/>
                <a:cs typeface="Times New Roman"/>
              </a:rPr>
              <a:t>e</a:t>
            </a:r>
            <a:r>
              <a:rPr sz="3500" spc="-180" dirty="0">
                <a:latin typeface="Times New Roman"/>
                <a:cs typeface="Times New Roman"/>
              </a:rPr>
              <a:t>c</a:t>
            </a:r>
            <a:r>
              <a:rPr sz="3500" spc="40" dirty="0">
                <a:latin typeface="Times New Roman"/>
                <a:cs typeface="Times New Roman"/>
              </a:rPr>
              <a:t>t</a:t>
            </a:r>
            <a:r>
              <a:rPr sz="3500" spc="-75" dirty="0">
                <a:latin typeface="Times New Roman"/>
                <a:cs typeface="Times New Roman"/>
              </a:rPr>
              <a:t>-</a:t>
            </a:r>
            <a:r>
              <a:rPr sz="3500" spc="-190" dirty="0">
                <a:latin typeface="Times New Roman"/>
                <a:cs typeface="Times New Roman"/>
              </a:rPr>
              <a:t>s</a:t>
            </a:r>
            <a:r>
              <a:rPr sz="3500" spc="-229" dirty="0">
                <a:latin typeface="Times New Roman"/>
                <a:cs typeface="Times New Roman"/>
              </a:rPr>
              <a:t>e</a:t>
            </a:r>
            <a:r>
              <a:rPr sz="3500" spc="-140" dirty="0">
                <a:latin typeface="Times New Roman"/>
                <a:cs typeface="Times New Roman"/>
              </a:rPr>
              <a:t>quence  </a:t>
            </a:r>
            <a:r>
              <a:rPr sz="3500" spc="-160" dirty="0">
                <a:latin typeface="Times New Roman"/>
                <a:cs typeface="Times New Roman"/>
              </a:rPr>
              <a:t>spread </a:t>
            </a:r>
            <a:r>
              <a:rPr sz="3500" spc="-155" dirty="0">
                <a:latin typeface="Times New Roman"/>
                <a:cs typeface="Times New Roman"/>
              </a:rPr>
              <a:t> </a:t>
            </a:r>
            <a:r>
              <a:rPr sz="3500" spc="-120" dirty="0">
                <a:latin typeface="Times New Roman"/>
                <a:cs typeface="Times New Roman"/>
              </a:rPr>
              <a:t>spectrum</a:t>
            </a:r>
            <a:endParaRPr sz="3500">
              <a:latin typeface="Times New Roman"/>
              <a:cs typeface="Times New Roman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3408997" y="4976685"/>
            <a:ext cx="5462905" cy="1404620"/>
            <a:chOff x="3408997" y="4976685"/>
            <a:chExt cx="5462905" cy="1404620"/>
          </a:xfrm>
        </p:grpSpPr>
        <p:sp>
          <p:nvSpPr>
            <p:cNvPr id="18" name="object 18"/>
            <p:cNvSpPr/>
            <p:nvPr/>
          </p:nvSpPr>
          <p:spPr>
            <a:xfrm>
              <a:off x="3413759" y="4981447"/>
              <a:ext cx="5453380" cy="1395095"/>
            </a:xfrm>
            <a:custGeom>
              <a:avLst/>
              <a:gdLst/>
              <a:ahLst/>
              <a:cxnLst/>
              <a:rect l="l" t="t" r="r" b="b"/>
              <a:pathLst>
                <a:path w="5453380" h="1395095">
                  <a:moveTo>
                    <a:pt x="5220716" y="0"/>
                  </a:moveTo>
                  <a:lnTo>
                    <a:pt x="0" y="0"/>
                  </a:lnTo>
                  <a:lnTo>
                    <a:pt x="0" y="1394752"/>
                  </a:lnTo>
                  <a:lnTo>
                    <a:pt x="5220716" y="1394752"/>
                  </a:lnTo>
                  <a:lnTo>
                    <a:pt x="5267566" y="1390029"/>
                  </a:lnTo>
                  <a:lnTo>
                    <a:pt x="5311197" y="1376483"/>
                  </a:lnTo>
                  <a:lnTo>
                    <a:pt x="5350676" y="1355050"/>
                  </a:lnTo>
                  <a:lnTo>
                    <a:pt x="5385069" y="1326664"/>
                  </a:lnTo>
                  <a:lnTo>
                    <a:pt x="5413444" y="1292259"/>
                  </a:lnTo>
                  <a:lnTo>
                    <a:pt x="5434867" y="1252770"/>
                  </a:lnTo>
                  <a:lnTo>
                    <a:pt x="5448405" y="1209131"/>
                  </a:lnTo>
                  <a:lnTo>
                    <a:pt x="5453125" y="1162278"/>
                  </a:lnTo>
                  <a:lnTo>
                    <a:pt x="5453125" y="232409"/>
                  </a:lnTo>
                  <a:lnTo>
                    <a:pt x="5448405" y="185559"/>
                  </a:lnTo>
                  <a:lnTo>
                    <a:pt x="5434867" y="141928"/>
                  </a:lnTo>
                  <a:lnTo>
                    <a:pt x="5413444" y="102449"/>
                  </a:lnTo>
                  <a:lnTo>
                    <a:pt x="5385069" y="68056"/>
                  </a:lnTo>
                  <a:lnTo>
                    <a:pt x="5350676" y="39681"/>
                  </a:lnTo>
                  <a:lnTo>
                    <a:pt x="5311197" y="18258"/>
                  </a:lnTo>
                  <a:lnTo>
                    <a:pt x="5267566" y="4720"/>
                  </a:lnTo>
                  <a:lnTo>
                    <a:pt x="5220716" y="0"/>
                  </a:lnTo>
                  <a:close/>
                </a:path>
              </a:pathLst>
            </a:custGeom>
            <a:solidFill>
              <a:srgbClr val="DDD2D0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413759" y="4981447"/>
              <a:ext cx="5453380" cy="1395095"/>
            </a:xfrm>
            <a:custGeom>
              <a:avLst/>
              <a:gdLst/>
              <a:ahLst/>
              <a:cxnLst/>
              <a:rect l="l" t="t" r="r" b="b"/>
              <a:pathLst>
                <a:path w="5453380" h="1395095">
                  <a:moveTo>
                    <a:pt x="5453125" y="232409"/>
                  </a:moveTo>
                  <a:lnTo>
                    <a:pt x="5453125" y="1162278"/>
                  </a:lnTo>
                  <a:lnTo>
                    <a:pt x="5448405" y="1209131"/>
                  </a:lnTo>
                  <a:lnTo>
                    <a:pt x="5434867" y="1252770"/>
                  </a:lnTo>
                  <a:lnTo>
                    <a:pt x="5413444" y="1292259"/>
                  </a:lnTo>
                  <a:lnTo>
                    <a:pt x="5385069" y="1326664"/>
                  </a:lnTo>
                  <a:lnTo>
                    <a:pt x="5350676" y="1355050"/>
                  </a:lnTo>
                  <a:lnTo>
                    <a:pt x="5311197" y="1376483"/>
                  </a:lnTo>
                  <a:lnTo>
                    <a:pt x="5267566" y="1390029"/>
                  </a:lnTo>
                  <a:lnTo>
                    <a:pt x="5220716" y="1394752"/>
                  </a:lnTo>
                  <a:lnTo>
                    <a:pt x="0" y="1394752"/>
                  </a:lnTo>
                  <a:lnTo>
                    <a:pt x="0" y="0"/>
                  </a:lnTo>
                  <a:lnTo>
                    <a:pt x="5220716" y="0"/>
                  </a:lnTo>
                  <a:lnTo>
                    <a:pt x="5267566" y="4720"/>
                  </a:lnTo>
                  <a:lnTo>
                    <a:pt x="5311197" y="18258"/>
                  </a:lnTo>
                  <a:lnTo>
                    <a:pt x="5350676" y="39681"/>
                  </a:lnTo>
                  <a:lnTo>
                    <a:pt x="5385069" y="68056"/>
                  </a:lnTo>
                  <a:lnTo>
                    <a:pt x="5413444" y="102449"/>
                  </a:lnTo>
                  <a:lnTo>
                    <a:pt x="5434867" y="141928"/>
                  </a:lnTo>
                  <a:lnTo>
                    <a:pt x="5448405" y="185559"/>
                  </a:lnTo>
                  <a:lnTo>
                    <a:pt x="5453125" y="232409"/>
                  </a:lnTo>
                  <a:close/>
                </a:path>
              </a:pathLst>
            </a:custGeom>
            <a:ln w="9525">
              <a:solidFill>
                <a:srgbClr val="DDD2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3493134" y="5062473"/>
            <a:ext cx="5212080" cy="11245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Char char="•"/>
              <a:tabLst>
                <a:tab pos="241300" algn="l"/>
              </a:tabLst>
            </a:pPr>
            <a:r>
              <a:rPr sz="2400" spc="-204" dirty="0">
                <a:latin typeface="Times New Roman"/>
                <a:cs typeface="Times New Roman"/>
              </a:rPr>
              <a:t>L</a:t>
            </a:r>
            <a:r>
              <a:rPr sz="2400" spc="-240" dirty="0">
                <a:latin typeface="Times New Roman"/>
                <a:cs typeface="Times New Roman"/>
              </a:rPr>
              <a:t>o</a:t>
            </a:r>
            <a:r>
              <a:rPr sz="2400" spc="-225" dirty="0">
                <a:latin typeface="Times New Roman"/>
                <a:cs typeface="Times New Roman"/>
              </a:rPr>
              <a:t>w</a:t>
            </a:r>
            <a:r>
              <a:rPr sz="2400" spc="-85" dirty="0">
                <a:latin typeface="Times New Roman"/>
                <a:cs typeface="Times New Roman"/>
              </a:rPr>
              <a:t>est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55" dirty="0">
                <a:latin typeface="Times New Roman"/>
                <a:cs typeface="Times New Roman"/>
              </a:rPr>
              <a:t>co</a:t>
            </a:r>
            <a:r>
              <a:rPr sz="2400" spc="-120" dirty="0">
                <a:latin typeface="Times New Roman"/>
                <a:cs typeface="Times New Roman"/>
              </a:rPr>
              <a:t>s</a:t>
            </a:r>
            <a:r>
              <a:rPr sz="2400" spc="30" dirty="0">
                <a:latin typeface="Times New Roman"/>
                <a:cs typeface="Times New Roman"/>
              </a:rPr>
              <a:t>t</a:t>
            </a:r>
            <a:endParaRPr sz="24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buChar char="•"/>
              <a:tabLst>
                <a:tab pos="241300" algn="l"/>
              </a:tabLst>
            </a:pPr>
            <a:r>
              <a:rPr sz="2400" spc="-204" dirty="0">
                <a:latin typeface="Times New Roman"/>
                <a:cs typeface="Times New Roman"/>
              </a:rPr>
              <a:t>L</a:t>
            </a:r>
            <a:r>
              <a:rPr sz="2400" spc="-240" dirty="0">
                <a:latin typeface="Times New Roman"/>
                <a:cs typeface="Times New Roman"/>
              </a:rPr>
              <a:t>o</a:t>
            </a:r>
            <a:r>
              <a:rPr sz="2400" spc="-225" dirty="0">
                <a:latin typeface="Times New Roman"/>
                <a:cs typeface="Times New Roman"/>
              </a:rPr>
              <a:t>w</a:t>
            </a:r>
            <a:r>
              <a:rPr sz="2400" spc="-85" dirty="0">
                <a:latin typeface="Times New Roman"/>
                <a:cs typeface="Times New Roman"/>
              </a:rPr>
              <a:t>est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20" dirty="0">
                <a:latin typeface="Times New Roman"/>
                <a:cs typeface="Times New Roman"/>
              </a:rPr>
              <a:t>rang</a:t>
            </a:r>
            <a:r>
              <a:rPr sz="2400" spc="-114" dirty="0">
                <a:latin typeface="Times New Roman"/>
                <a:cs typeface="Times New Roman"/>
              </a:rPr>
              <a:t>e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25" dirty="0">
                <a:latin typeface="Times New Roman"/>
                <a:cs typeface="Times New Roman"/>
              </a:rPr>
              <a:t>com</a:t>
            </a:r>
            <a:r>
              <a:rPr sz="2400" spc="-105" dirty="0">
                <a:latin typeface="Times New Roman"/>
                <a:cs typeface="Times New Roman"/>
              </a:rPr>
              <a:t>p</a:t>
            </a:r>
            <a:r>
              <a:rPr sz="2400" spc="-100" dirty="0">
                <a:latin typeface="Times New Roman"/>
                <a:cs typeface="Times New Roman"/>
              </a:rPr>
              <a:t>a</a:t>
            </a:r>
            <a:r>
              <a:rPr sz="2400" spc="-95" dirty="0">
                <a:latin typeface="Times New Roman"/>
                <a:cs typeface="Times New Roman"/>
              </a:rPr>
              <a:t>r</a:t>
            </a:r>
            <a:r>
              <a:rPr sz="2400" spc="-100" dirty="0">
                <a:latin typeface="Times New Roman"/>
                <a:cs typeface="Times New Roman"/>
              </a:rPr>
              <a:t>ed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35" dirty="0">
                <a:latin typeface="Times New Roman"/>
                <a:cs typeface="Times New Roman"/>
              </a:rPr>
              <a:t>to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25" dirty="0">
                <a:latin typeface="Times New Roman"/>
                <a:cs typeface="Times New Roman"/>
              </a:rPr>
              <a:t>s</a:t>
            </a:r>
            <a:r>
              <a:rPr sz="2400" spc="-155" dirty="0">
                <a:latin typeface="Times New Roman"/>
                <a:cs typeface="Times New Roman"/>
              </a:rPr>
              <a:t>p</a:t>
            </a:r>
            <a:r>
              <a:rPr sz="2400" dirty="0">
                <a:latin typeface="Times New Roman"/>
                <a:cs typeface="Times New Roman"/>
              </a:rPr>
              <a:t>r</a:t>
            </a:r>
            <a:r>
              <a:rPr sz="2400" spc="-130" dirty="0">
                <a:latin typeface="Times New Roman"/>
                <a:cs typeface="Times New Roman"/>
              </a:rPr>
              <a:t>ead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25" dirty="0">
                <a:latin typeface="Times New Roman"/>
                <a:cs typeface="Times New Roman"/>
              </a:rPr>
              <a:t>s</a:t>
            </a:r>
            <a:r>
              <a:rPr sz="2400" spc="-155" dirty="0">
                <a:latin typeface="Times New Roman"/>
                <a:cs typeface="Times New Roman"/>
              </a:rPr>
              <a:t>p</a:t>
            </a:r>
            <a:r>
              <a:rPr sz="2400" spc="-80" dirty="0">
                <a:latin typeface="Times New Roman"/>
                <a:cs typeface="Times New Roman"/>
              </a:rPr>
              <a:t>ec</a:t>
            </a:r>
            <a:r>
              <a:rPr sz="2400" spc="-60" dirty="0">
                <a:latin typeface="Times New Roman"/>
                <a:cs typeface="Times New Roman"/>
              </a:rPr>
              <a:t>t</a:t>
            </a:r>
            <a:r>
              <a:rPr sz="2400" spc="80" dirty="0">
                <a:latin typeface="Times New Roman"/>
                <a:cs typeface="Times New Roman"/>
              </a:rPr>
              <a:t>r</a:t>
            </a:r>
            <a:r>
              <a:rPr sz="2400" spc="-125" dirty="0">
                <a:latin typeface="Times New Roman"/>
                <a:cs typeface="Times New Roman"/>
              </a:rPr>
              <a:t>um</a:t>
            </a:r>
            <a:endParaRPr sz="24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10"/>
              </a:spcBef>
              <a:buChar char="•"/>
              <a:tabLst>
                <a:tab pos="241300" algn="l"/>
              </a:tabLst>
            </a:pPr>
            <a:r>
              <a:rPr sz="2400" spc="-125" dirty="0">
                <a:latin typeface="Times New Roman"/>
                <a:cs typeface="Times New Roman"/>
              </a:rPr>
              <a:t>Doesn</a:t>
            </a:r>
            <a:r>
              <a:rPr sz="2400" spc="-225" dirty="0">
                <a:latin typeface="Times New Roman"/>
                <a:cs typeface="Times New Roman"/>
              </a:rPr>
              <a:t>’</a:t>
            </a:r>
            <a:r>
              <a:rPr sz="2400" spc="30" dirty="0">
                <a:latin typeface="Times New Roman"/>
                <a:cs typeface="Times New Roman"/>
              </a:rPr>
              <a:t>t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75" dirty="0">
                <a:latin typeface="Times New Roman"/>
                <a:cs typeface="Times New Roman"/>
              </a:rPr>
              <a:t>penetr</a:t>
            </a:r>
            <a:r>
              <a:rPr sz="2400" spc="-110" dirty="0">
                <a:latin typeface="Times New Roman"/>
                <a:cs typeface="Times New Roman"/>
              </a:rPr>
              <a:t>a</a:t>
            </a:r>
            <a:r>
              <a:rPr sz="2400" spc="-30" dirty="0">
                <a:latin typeface="Times New Roman"/>
                <a:cs typeface="Times New Roman"/>
              </a:rPr>
              <a:t>te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60" dirty="0">
                <a:latin typeface="Times New Roman"/>
                <a:cs typeface="Times New Roman"/>
              </a:rPr>
              <a:t>w</a:t>
            </a:r>
            <a:r>
              <a:rPr sz="2400" spc="-105" dirty="0">
                <a:latin typeface="Times New Roman"/>
                <a:cs typeface="Times New Roman"/>
              </a:rPr>
              <a:t>alls</a:t>
            </a:r>
            <a:r>
              <a:rPr sz="2400" spc="-70" dirty="0">
                <a:latin typeface="Times New Roman"/>
                <a:cs typeface="Times New Roman"/>
              </a:rPr>
              <a:t>,</a:t>
            </a:r>
            <a:r>
              <a:rPr sz="2400" spc="-160" dirty="0">
                <a:latin typeface="Times New Roman"/>
                <a:cs typeface="Times New Roman"/>
              </a:rPr>
              <a:t> </a:t>
            </a:r>
            <a:r>
              <a:rPr sz="2400" spc="-145" dirty="0">
                <a:latin typeface="Times New Roman"/>
                <a:cs typeface="Times New Roman"/>
              </a:rPr>
              <a:t>so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no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40" dirty="0">
                <a:latin typeface="Times New Roman"/>
                <a:cs typeface="Times New Roman"/>
              </a:rPr>
              <a:t>e</a:t>
            </a:r>
            <a:r>
              <a:rPr sz="2400" spc="-215" dirty="0">
                <a:latin typeface="Times New Roman"/>
                <a:cs typeface="Times New Roman"/>
              </a:rPr>
              <a:t>a</a:t>
            </a:r>
            <a:r>
              <a:rPr sz="2400" spc="-254" dirty="0">
                <a:latin typeface="Times New Roman"/>
                <a:cs typeface="Times New Roman"/>
              </a:rPr>
              <a:t>v</a:t>
            </a:r>
            <a:r>
              <a:rPr sz="2400" spc="-120" dirty="0">
                <a:latin typeface="Times New Roman"/>
                <a:cs typeface="Times New Roman"/>
              </a:rPr>
              <a:t>es</a:t>
            </a:r>
            <a:r>
              <a:rPr sz="2400" spc="-140" dirty="0">
                <a:latin typeface="Times New Roman"/>
                <a:cs typeface="Times New Roman"/>
              </a:rPr>
              <a:t>d</a:t>
            </a:r>
            <a:r>
              <a:rPr sz="2400" dirty="0">
                <a:latin typeface="Times New Roman"/>
                <a:cs typeface="Times New Roman"/>
              </a:rPr>
              <a:t>r</a:t>
            </a:r>
            <a:r>
              <a:rPr sz="2400" spc="-105" dirty="0">
                <a:latin typeface="Times New Roman"/>
                <a:cs typeface="Times New Roman"/>
              </a:rPr>
              <a:t>o</a:t>
            </a:r>
            <a:r>
              <a:rPr sz="2400" spc="-100" dirty="0">
                <a:latin typeface="Times New Roman"/>
                <a:cs typeface="Times New Roman"/>
              </a:rPr>
              <a:t>ppi</a:t>
            </a:r>
            <a:r>
              <a:rPr sz="2400" spc="-120" dirty="0">
                <a:latin typeface="Times New Roman"/>
                <a:cs typeface="Times New Roman"/>
              </a:rPr>
              <a:t>n</a:t>
            </a:r>
            <a:r>
              <a:rPr sz="2400" spc="-200" dirty="0">
                <a:latin typeface="Times New Roman"/>
                <a:cs typeface="Times New Roman"/>
              </a:rPr>
              <a:t>g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21" name="object 2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04800" y="4789932"/>
            <a:ext cx="3150107" cy="1827276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1224178" y="5319166"/>
            <a:ext cx="1311910" cy="559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500" spc="-160" dirty="0">
                <a:latin typeface="Times New Roman"/>
                <a:cs typeface="Times New Roman"/>
              </a:rPr>
              <a:t>Inf</a:t>
            </a:r>
            <a:r>
              <a:rPr sz="3500" spc="-135" dirty="0">
                <a:latin typeface="Times New Roman"/>
                <a:cs typeface="Times New Roman"/>
              </a:rPr>
              <a:t>r</a:t>
            </a:r>
            <a:r>
              <a:rPr sz="3500" spc="-140" dirty="0">
                <a:latin typeface="Times New Roman"/>
                <a:cs typeface="Times New Roman"/>
              </a:rPr>
              <a:t>a</a:t>
            </a:r>
            <a:r>
              <a:rPr sz="3500" spc="-130" dirty="0">
                <a:latin typeface="Times New Roman"/>
                <a:cs typeface="Times New Roman"/>
              </a:rPr>
              <a:t>r</a:t>
            </a:r>
            <a:r>
              <a:rPr sz="3500" spc="-140" dirty="0">
                <a:latin typeface="Times New Roman"/>
                <a:cs typeface="Times New Roman"/>
              </a:rPr>
              <a:t>ed</a:t>
            </a:r>
            <a:endParaRPr sz="35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3996" y="688974"/>
            <a:ext cx="75819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5" dirty="0"/>
              <a:t>What</a:t>
            </a:r>
            <a:r>
              <a:rPr sz="4000" spc="-10" dirty="0"/>
              <a:t> </a:t>
            </a:r>
            <a:r>
              <a:rPr sz="4000" spc="-15" dirty="0"/>
              <a:t>is</a:t>
            </a:r>
            <a:r>
              <a:rPr sz="4000" spc="-25" dirty="0"/>
              <a:t> </a:t>
            </a:r>
            <a:r>
              <a:rPr sz="4000" spc="-75" dirty="0"/>
              <a:t>meant</a:t>
            </a:r>
            <a:r>
              <a:rPr sz="4000" dirty="0"/>
              <a:t> </a:t>
            </a:r>
            <a:r>
              <a:rPr sz="4000" spc="-90" dirty="0"/>
              <a:t>by</a:t>
            </a:r>
            <a:r>
              <a:rPr sz="4000" spc="30" dirty="0"/>
              <a:t> </a:t>
            </a:r>
            <a:r>
              <a:rPr sz="4000" spc="-25" dirty="0">
                <a:solidFill>
                  <a:srgbClr val="FF0000"/>
                </a:solidFill>
              </a:rPr>
              <a:t>Spread</a:t>
            </a:r>
            <a:r>
              <a:rPr sz="4000" spc="-10" dirty="0">
                <a:solidFill>
                  <a:srgbClr val="FF0000"/>
                </a:solidFill>
              </a:rPr>
              <a:t> </a:t>
            </a:r>
            <a:r>
              <a:rPr sz="4000" spc="-50" dirty="0">
                <a:solidFill>
                  <a:srgbClr val="FF0000"/>
                </a:solidFill>
              </a:rPr>
              <a:t>Spectrum</a:t>
            </a:r>
            <a:endParaRPr sz="4000"/>
          </a:p>
        </p:txBody>
      </p:sp>
      <p:grpSp>
        <p:nvGrpSpPr>
          <p:cNvPr id="3" name="object 3"/>
          <p:cNvGrpSpPr/>
          <p:nvPr/>
        </p:nvGrpSpPr>
        <p:grpSpPr>
          <a:xfrm>
            <a:off x="420623" y="1510271"/>
            <a:ext cx="8303259" cy="2273935"/>
            <a:chOff x="420623" y="1510271"/>
            <a:chExt cx="8303259" cy="227393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6711" y="1510271"/>
              <a:ext cx="8296667" cy="227382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11451" y="1997964"/>
              <a:ext cx="6780276" cy="88239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20623" y="2444496"/>
              <a:ext cx="2052827" cy="882396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29768" y="3840453"/>
            <a:ext cx="8289035" cy="1569755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376427" y="5465022"/>
            <a:ext cx="8343900" cy="915035"/>
            <a:chOff x="376427" y="5465022"/>
            <a:chExt cx="8343900" cy="915035"/>
          </a:xfrm>
        </p:grpSpPr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22147" y="5465022"/>
              <a:ext cx="8298180" cy="87969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76427" y="5498592"/>
              <a:ext cx="2151888" cy="880871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610311" y="1716151"/>
            <a:ext cx="7825105" cy="434911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57150" marR="5080">
              <a:lnSpc>
                <a:spcPct val="89900"/>
              </a:lnSpc>
              <a:spcBef>
                <a:spcPts val="425"/>
              </a:spcBef>
            </a:pPr>
            <a:r>
              <a:rPr sz="2700" b="1" spc="-55" dirty="0">
                <a:latin typeface="Times New Roman"/>
                <a:cs typeface="Times New Roman"/>
              </a:rPr>
              <a:t>Spread</a:t>
            </a:r>
            <a:r>
              <a:rPr sz="2700" b="1" spc="-70" dirty="0">
                <a:latin typeface="Times New Roman"/>
                <a:cs typeface="Times New Roman"/>
              </a:rPr>
              <a:t> </a:t>
            </a:r>
            <a:r>
              <a:rPr sz="2700" b="1" dirty="0">
                <a:latin typeface="Times New Roman"/>
                <a:cs typeface="Times New Roman"/>
              </a:rPr>
              <a:t>spectrum</a:t>
            </a:r>
            <a:r>
              <a:rPr sz="2700" b="1" spc="-55" dirty="0">
                <a:latin typeface="Times New Roman"/>
                <a:cs typeface="Times New Roman"/>
              </a:rPr>
              <a:t> </a:t>
            </a:r>
            <a:r>
              <a:rPr sz="2700" spc="-170" dirty="0">
                <a:latin typeface="Times New Roman"/>
                <a:cs typeface="Times New Roman"/>
              </a:rPr>
              <a:t>is</a:t>
            </a:r>
            <a:r>
              <a:rPr sz="2700" spc="-70" dirty="0">
                <a:latin typeface="Times New Roman"/>
                <a:cs typeface="Times New Roman"/>
              </a:rPr>
              <a:t> </a:t>
            </a:r>
            <a:r>
              <a:rPr sz="2700" spc="-215" dirty="0">
                <a:latin typeface="Times New Roman"/>
                <a:cs typeface="Times New Roman"/>
              </a:rPr>
              <a:t>a</a:t>
            </a:r>
            <a:r>
              <a:rPr sz="2700" spc="-80" dirty="0">
                <a:latin typeface="Times New Roman"/>
                <a:cs typeface="Times New Roman"/>
              </a:rPr>
              <a:t> </a:t>
            </a:r>
            <a:r>
              <a:rPr sz="2700" spc="-95" dirty="0">
                <a:latin typeface="Times New Roman"/>
                <a:cs typeface="Times New Roman"/>
              </a:rPr>
              <a:t>form</a:t>
            </a:r>
            <a:r>
              <a:rPr sz="2700" spc="-70" dirty="0">
                <a:latin typeface="Times New Roman"/>
                <a:cs typeface="Times New Roman"/>
              </a:rPr>
              <a:t> </a:t>
            </a:r>
            <a:r>
              <a:rPr sz="2700" spc="-160" dirty="0">
                <a:latin typeface="Times New Roman"/>
                <a:cs typeface="Times New Roman"/>
              </a:rPr>
              <a:t>of</a:t>
            </a:r>
            <a:r>
              <a:rPr sz="2700" spc="-70" dirty="0">
                <a:latin typeface="Times New Roman"/>
                <a:cs typeface="Times New Roman"/>
              </a:rPr>
              <a:t> </a:t>
            </a:r>
            <a:r>
              <a:rPr sz="2700" spc="-130" dirty="0">
                <a:latin typeface="Times New Roman"/>
                <a:cs typeface="Times New Roman"/>
              </a:rPr>
              <a:t>wireless</a:t>
            </a:r>
            <a:r>
              <a:rPr sz="2700" spc="-65" dirty="0">
                <a:latin typeface="Times New Roman"/>
                <a:cs typeface="Times New Roman"/>
              </a:rPr>
              <a:t> </a:t>
            </a:r>
            <a:r>
              <a:rPr sz="2700" spc="-135" dirty="0">
                <a:latin typeface="Times New Roman"/>
                <a:cs typeface="Times New Roman"/>
              </a:rPr>
              <a:t>communications</a:t>
            </a:r>
            <a:r>
              <a:rPr sz="2700" spc="-95" dirty="0">
                <a:latin typeface="Times New Roman"/>
                <a:cs typeface="Times New Roman"/>
              </a:rPr>
              <a:t> </a:t>
            </a:r>
            <a:r>
              <a:rPr sz="2700" spc="-125" dirty="0">
                <a:latin typeface="Times New Roman"/>
                <a:cs typeface="Times New Roman"/>
              </a:rPr>
              <a:t>in </a:t>
            </a:r>
            <a:r>
              <a:rPr sz="2700" spc="-120" dirty="0">
                <a:latin typeface="Times New Roman"/>
                <a:cs typeface="Times New Roman"/>
              </a:rPr>
              <a:t> </a:t>
            </a:r>
            <a:r>
              <a:rPr sz="2700" spc="-185" dirty="0">
                <a:latin typeface="Times New Roman"/>
                <a:cs typeface="Times New Roman"/>
              </a:rPr>
              <a:t>wh</a:t>
            </a:r>
            <a:r>
              <a:rPr sz="2700" spc="-80" dirty="0">
                <a:latin typeface="Times New Roman"/>
                <a:cs typeface="Times New Roman"/>
              </a:rPr>
              <a:t>i</a:t>
            </a:r>
            <a:r>
              <a:rPr sz="2700" spc="-114" dirty="0">
                <a:latin typeface="Times New Roman"/>
                <a:cs typeface="Times New Roman"/>
              </a:rPr>
              <a:t>c</a:t>
            </a:r>
            <a:r>
              <a:rPr sz="2700" spc="-170" dirty="0">
                <a:latin typeface="Times New Roman"/>
                <a:cs typeface="Times New Roman"/>
              </a:rPr>
              <a:t>h</a:t>
            </a:r>
            <a:r>
              <a:rPr sz="2700" spc="-85" dirty="0">
                <a:latin typeface="Times New Roman"/>
                <a:cs typeface="Times New Roman"/>
              </a:rPr>
              <a:t> </a:t>
            </a:r>
            <a:r>
              <a:rPr sz="2700" spc="-50" dirty="0">
                <a:latin typeface="Times New Roman"/>
                <a:cs typeface="Times New Roman"/>
              </a:rPr>
              <a:t>t</a:t>
            </a:r>
            <a:r>
              <a:rPr sz="2700" spc="-80" dirty="0">
                <a:latin typeface="Times New Roman"/>
                <a:cs typeface="Times New Roman"/>
              </a:rPr>
              <a:t>h</a:t>
            </a:r>
            <a:r>
              <a:rPr sz="2700" spc="-105" dirty="0">
                <a:latin typeface="Times New Roman"/>
                <a:cs typeface="Times New Roman"/>
              </a:rPr>
              <a:t>e</a:t>
            </a:r>
            <a:r>
              <a:rPr sz="2700" spc="-55" dirty="0">
                <a:latin typeface="Times New Roman"/>
                <a:cs typeface="Times New Roman"/>
              </a:rPr>
              <a:t> </a:t>
            </a:r>
            <a:r>
              <a:rPr sz="3200" b="1" spc="-105" dirty="0">
                <a:solidFill>
                  <a:srgbClr val="FF0000"/>
                </a:solidFill>
                <a:latin typeface="Cambria"/>
                <a:cs typeface="Cambria"/>
              </a:rPr>
              <a:t>f</a:t>
            </a:r>
            <a:r>
              <a:rPr sz="3200" b="1" spc="-190" dirty="0">
                <a:solidFill>
                  <a:srgbClr val="FF0000"/>
                </a:solidFill>
                <a:latin typeface="Cambria"/>
                <a:cs typeface="Cambria"/>
              </a:rPr>
              <a:t>r</a:t>
            </a:r>
            <a:r>
              <a:rPr sz="3200" b="1" spc="-80" dirty="0">
                <a:solidFill>
                  <a:srgbClr val="FF0000"/>
                </a:solidFill>
                <a:latin typeface="Cambria"/>
                <a:cs typeface="Cambria"/>
              </a:rPr>
              <a:t>equenc</a:t>
            </a:r>
            <a:r>
              <a:rPr sz="3200" b="1" spc="-75" dirty="0">
                <a:solidFill>
                  <a:srgbClr val="FF0000"/>
                </a:solidFill>
                <a:latin typeface="Cambria"/>
                <a:cs typeface="Cambria"/>
              </a:rPr>
              <a:t>y</a:t>
            </a:r>
            <a:r>
              <a:rPr sz="3200" b="1" spc="6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3200" b="1" spc="15" dirty="0">
                <a:solidFill>
                  <a:srgbClr val="FF0000"/>
                </a:solidFill>
                <a:latin typeface="Cambria"/>
                <a:cs typeface="Cambria"/>
              </a:rPr>
              <a:t>o</a:t>
            </a:r>
            <a:r>
              <a:rPr sz="3200" b="1" spc="-114" dirty="0">
                <a:solidFill>
                  <a:srgbClr val="FF0000"/>
                </a:solidFill>
                <a:latin typeface="Cambria"/>
                <a:cs typeface="Cambria"/>
              </a:rPr>
              <a:t>f</a:t>
            </a:r>
            <a:r>
              <a:rPr sz="3200" b="1" spc="7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3200" b="1" spc="-229" dirty="0">
                <a:solidFill>
                  <a:srgbClr val="FF0000"/>
                </a:solidFill>
                <a:latin typeface="Cambria"/>
                <a:cs typeface="Cambria"/>
              </a:rPr>
              <a:t>t</a:t>
            </a:r>
            <a:r>
              <a:rPr sz="3200" b="1" spc="-165" dirty="0">
                <a:solidFill>
                  <a:srgbClr val="FF0000"/>
                </a:solidFill>
                <a:latin typeface="Cambria"/>
                <a:cs typeface="Cambria"/>
              </a:rPr>
              <a:t>h</a:t>
            </a:r>
            <a:r>
              <a:rPr sz="3200" b="1" spc="-125" dirty="0">
                <a:solidFill>
                  <a:srgbClr val="FF0000"/>
                </a:solidFill>
                <a:latin typeface="Cambria"/>
                <a:cs typeface="Cambria"/>
              </a:rPr>
              <a:t>e</a:t>
            </a:r>
            <a:r>
              <a:rPr sz="3200" b="1" spc="7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3200" b="1" spc="-229" dirty="0">
                <a:solidFill>
                  <a:srgbClr val="FF0000"/>
                </a:solidFill>
                <a:latin typeface="Cambria"/>
                <a:cs typeface="Cambria"/>
              </a:rPr>
              <a:t>t</a:t>
            </a:r>
            <a:r>
              <a:rPr sz="3200" b="1" spc="-190" dirty="0">
                <a:solidFill>
                  <a:srgbClr val="FF0000"/>
                </a:solidFill>
                <a:latin typeface="Cambria"/>
                <a:cs typeface="Cambria"/>
              </a:rPr>
              <a:t>r</a:t>
            </a:r>
            <a:r>
              <a:rPr sz="3200" b="1" spc="-95" dirty="0">
                <a:solidFill>
                  <a:srgbClr val="FF0000"/>
                </a:solidFill>
                <a:latin typeface="Cambria"/>
                <a:cs typeface="Cambria"/>
              </a:rPr>
              <a:t>a</a:t>
            </a:r>
            <a:r>
              <a:rPr sz="3200" b="1" spc="-100" dirty="0">
                <a:solidFill>
                  <a:srgbClr val="FF0000"/>
                </a:solidFill>
                <a:latin typeface="Cambria"/>
                <a:cs typeface="Cambria"/>
              </a:rPr>
              <a:t>n</a:t>
            </a:r>
            <a:r>
              <a:rPr sz="3200" b="1" spc="-175" dirty="0">
                <a:solidFill>
                  <a:srgbClr val="FF0000"/>
                </a:solidFill>
                <a:latin typeface="Cambria"/>
                <a:cs typeface="Cambria"/>
              </a:rPr>
              <a:t>smitte</a:t>
            </a:r>
            <a:r>
              <a:rPr sz="3200" b="1" spc="-210" dirty="0">
                <a:solidFill>
                  <a:srgbClr val="FF0000"/>
                </a:solidFill>
                <a:latin typeface="Cambria"/>
                <a:cs typeface="Cambria"/>
              </a:rPr>
              <a:t>d</a:t>
            </a:r>
            <a:r>
              <a:rPr sz="3200" b="1" spc="5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3200" b="1" spc="95" dirty="0">
                <a:solidFill>
                  <a:srgbClr val="FF0000"/>
                </a:solidFill>
                <a:latin typeface="Cambria"/>
                <a:cs typeface="Cambria"/>
              </a:rPr>
              <a:t>s</a:t>
            </a:r>
            <a:r>
              <a:rPr sz="3200" b="1" spc="-130" dirty="0">
                <a:solidFill>
                  <a:srgbClr val="FF0000"/>
                </a:solidFill>
                <a:latin typeface="Cambria"/>
                <a:cs typeface="Cambria"/>
              </a:rPr>
              <a:t>i</a:t>
            </a:r>
            <a:r>
              <a:rPr sz="3200" b="1" spc="-55" dirty="0">
                <a:solidFill>
                  <a:srgbClr val="FF0000"/>
                </a:solidFill>
                <a:latin typeface="Cambria"/>
                <a:cs typeface="Cambria"/>
              </a:rPr>
              <a:t>gn</a:t>
            </a:r>
            <a:r>
              <a:rPr sz="3200" b="1" spc="-40" dirty="0">
                <a:solidFill>
                  <a:srgbClr val="FF0000"/>
                </a:solidFill>
                <a:latin typeface="Cambria"/>
                <a:cs typeface="Cambria"/>
              </a:rPr>
              <a:t>a</a:t>
            </a:r>
            <a:r>
              <a:rPr sz="3200" b="1" spc="-90" dirty="0">
                <a:solidFill>
                  <a:srgbClr val="FF0000"/>
                </a:solidFill>
                <a:latin typeface="Cambria"/>
                <a:cs typeface="Cambria"/>
              </a:rPr>
              <a:t>l  </a:t>
            </a:r>
            <a:r>
              <a:rPr sz="3200" b="1" spc="-20" dirty="0">
                <a:solidFill>
                  <a:srgbClr val="FF0000"/>
                </a:solidFill>
                <a:latin typeface="Cambria"/>
                <a:cs typeface="Cambria"/>
              </a:rPr>
              <a:t>is</a:t>
            </a:r>
            <a:r>
              <a:rPr sz="3200" b="1" spc="8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3200" b="1" spc="-100" dirty="0">
                <a:solidFill>
                  <a:srgbClr val="FF0000"/>
                </a:solidFill>
                <a:latin typeface="Cambria"/>
                <a:cs typeface="Cambria"/>
              </a:rPr>
              <a:t>varied</a:t>
            </a:r>
            <a:r>
              <a:rPr sz="2700" spc="-100" dirty="0">
                <a:latin typeface="Times New Roman"/>
                <a:cs typeface="Times New Roman"/>
              </a:rPr>
              <a:t>.This</a:t>
            </a:r>
            <a:r>
              <a:rPr sz="2700" spc="-85" dirty="0">
                <a:latin typeface="Times New Roman"/>
                <a:cs typeface="Times New Roman"/>
              </a:rPr>
              <a:t> </a:t>
            </a:r>
            <a:r>
              <a:rPr sz="2700" spc="-105" dirty="0">
                <a:latin typeface="Times New Roman"/>
                <a:cs typeface="Times New Roman"/>
              </a:rPr>
              <a:t>results</a:t>
            </a:r>
            <a:r>
              <a:rPr sz="2700" spc="-60" dirty="0">
                <a:latin typeface="Times New Roman"/>
                <a:cs typeface="Times New Roman"/>
              </a:rPr>
              <a:t> </a:t>
            </a:r>
            <a:r>
              <a:rPr sz="2700" spc="-125" dirty="0">
                <a:latin typeface="Times New Roman"/>
                <a:cs typeface="Times New Roman"/>
              </a:rPr>
              <a:t>in</a:t>
            </a:r>
            <a:r>
              <a:rPr sz="2700" spc="-65" dirty="0">
                <a:latin typeface="Times New Roman"/>
                <a:cs typeface="Times New Roman"/>
              </a:rPr>
              <a:t> </a:t>
            </a:r>
            <a:r>
              <a:rPr sz="2700" spc="-215" dirty="0">
                <a:latin typeface="Times New Roman"/>
                <a:cs typeface="Times New Roman"/>
              </a:rPr>
              <a:t>a</a:t>
            </a:r>
            <a:r>
              <a:rPr sz="2700" spc="-70" dirty="0">
                <a:latin typeface="Times New Roman"/>
                <a:cs typeface="Times New Roman"/>
              </a:rPr>
              <a:t> </a:t>
            </a:r>
            <a:r>
              <a:rPr sz="2700" spc="-145" dirty="0">
                <a:latin typeface="Times New Roman"/>
                <a:cs typeface="Times New Roman"/>
              </a:rPr>
              <a:t>much</a:t>
            </a:r>
            <a:r>
              <a:rPr sz="2700" spc="-65" dirty="0">
                <a:latin typeface="Times New Roman"/>
                <a:cs typeface="Times New Roman"/>
              </a:rPr>
              <a:t> </a:t>
            </a:r>
            <a:r>
              <a:rPr sz="2700" spc="-85" dirty="0">
                <a:latin typeface="Times New Roman"/>
                <a:cs typeface="Times New Roman"/>
              </a:rPr>
              <a:t>greater</a:t>
            </a:r>
            <a:r>
              <a:rPr sz="2700" spc="-60" dirty="0">
                <a:latin typeface="Times New Roman"/>
                <a:cs typeface="Times New Roman"/>
              </a:rPr>
              <a:t> </a:t>
            </a:r>
            <a:r>
              <a:rPr sz="2700" spc="-130" dirty="0">
                <a:latin typeface="Times New Roman"/>
                <a:cs typeface="Times New Roman"/>
              </a:rPr>
              <a:t>bandwidth</a:t>
            </a:r>
            <a:r>
              <a:rPr sz="2700" spc="-80" dirty="0">
                <a:latin typeface="Times New Roman"/>
                <a:cs typeface="Times New Roman"/>
              </a:rPr>
              <a:t> </a:t>
            </a:r>
            <a:r>
              <a:rPr sz="2700" spc="-114" dirty="0">
                <a:latin typeface="Times New Roman"/>
                <a:cs typeface="Times New Roman"/>
              </a:rPr>
              <a:t>than</a:t>
            </a:r>
            <a:r>
              <a:rPr sz="2700" spc="-75" dirty="0">
                <a:latin typeface="Times New Roman"/>
                <a:cs typeface="Times New Roman"/>
              </a:rPr>
              <a:t> </a:t>
            </a:r>
            <a:r>
              <a:rPr sz="2700" spc="-80" dirty="0">
                <a:latin typeface="Times New Roman"/>
                <a:cs typeface="Times New Roman"/>
              </a:rPr>
              <a:t>the </a:t>
            </a:r>
            <a:r>
              <a:rPr sz="2700" spc="-660" dirty="0">
                <a:latin typeface="Times New Roman"/>
                <a:cs typeface="Times New Roman"/>
              </a:rPr>
              <a:t> </a:t>
            </a:r>
            <a:r>
              <a:rPr sz="2700" spc="-165" dirty="0">
                <a:latin typeface="Times New Roman"/>
                <a:cs typeface="Times New Roman"/>
              </a:rPr>
              <a:t>signal</a:t>
            </a:r>
            <a:r>
              <a:rPr sz="2700" spc="-70" dirty="0">
                <a:latin typeface="Times New Roman"/>
                <a:cs typeface="Times New Roman"/>
              </a:rPr>
              <a:t> </a:t>
            </a:r>
            <a:r>
              <a:rPr sz="2700" spc="-65" dirty="0">
                <a:latin typeface="Times New Roman"/>
                <a:cs typeface="Times New Roman"/>
              </a:rPr>
              <a:t>(</a:t>
            </a:r>
            <a:r>
              <a:rPr sz="2700" spc="-280" dirty="0">
                <a:latin typeface="Times New Roman"/>
                <a:cs typeface="Times New Roman"/>
              </a:rPr>
              <a:t>Bss</a:t>
            </a:r>
            <a:r>
              <a:rPr sz="2700" spc="-75" dirty="0">
                <a:latin typeface="Times New Roman"/>
                <a:cs typeface="Times New Roman"/>
              </a:rPr>
              <a:t> </a:t>
            </a:r>
            <a:r>
              <a:rPr sz="2000" spc="200" dirty="0">
                <a:latin typeface="Times New Roman"/>
                <a:cs typeface="Times New Roman"/>
              </a:rPr>
              <a:t>&gt;</a:t>
            </a:r>
            <a:r>
              <a:rPr sz="2000" spc="210" dirty="0">
                <a:latin typeface="Times New Roman"/>
                <a:cs typeface="Times New Roman"/>
              </a:rPr>
              <a:t>&gt;</a:t>
            </a:r>
            <a:r>
              <a:rPr sz="2000" spc="105" dirty="0">
                <a:latin typeface="Times New Roman"/>
                <a:cs typeface="Times New Roman"/>
              </a:rPr>
              <a:t> </a:t>
            </a:r>
            <a:r>
              <a:rPr sz="2700" spc="-240" dirty="0">
                <a:latin typeface="Times New Roman"/>
                <a:cs typeface="Times New Roman"/>
              </a:rPr>
              <a:t>B)</a:t>
            </a:r>
            <a:endParaRPr sz="2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100">
              <a:latin typeface="Times New Roman"/>
              <a:cs typeface="Times New Roman"/>
            </a:endParaRPr>
          </a:p>
          <a:p>
            <a:pPr marL="45720" marR="95885">
              <a:lnSpc>
                <a:spcPts val="3410"/>
              </a:lnSpc>
              <a:spcBef>
                <a:spcPts val="2245"/>
              </a:spcBef>
            </a:pPr>
            <a:r>
              <a:rPr sz="3300" spc="-195" dirty="0">
                <a:latin typeface="Times New Roman"/>
                <a:cs typeface="Times New Roman"/>
              </a:rPr>
              <a:t>This</a:t>
            </a:r>
            <a:r>
              <a:rPr sz="3300" spc="-85" dirty="0">
                <a:latin typeface="Times New Roman"/>
                <a:cs typeface="Times New Roman"/>
              </a:rPr>
              <a:t> te</a:t>
            </a:r>
            <a:r>
              <a:rPr sz="3300" spc="-50" dirty="0">
                <a:latin typeface="Times New Roman"/>
                <a:cs typeface="Times New Roman"/>
              </a:rPr>
              <a:t>c</a:t>
            </a:r>
            <a:r>
              <a:rPr sz="3300" spc="-160" dirty="0">
                <a:latin typeface="Times New Roman"/>
                <a:cs typeface="Times New Roman"/>
              </a:rPr>
              <a:t>hnique</a:t>
            </a:r>
            <a:r>
              <a:rPr sz="3300" spc="-85" dirty="0">
                <a:latin typeface="Times New Roman"/>
                <a:cs typeface="Times New Roman"/>
              </a:rPr>
              <a:t> </a:t>
            </a:r>
            <a:r>
              <a:rPr sz="3300" spc="-114" dirty="0">
                <a:latin typeface="Times New Roman"/>
                <a:cs typeface="Times New Roman"/>
              </a:rPr>
              <a:t>decr</a:t>
            </a:r>
            <a:r>
              <a:rPr sz="3300" spc="-204" dirty="0">
                <a:latin typeface="Times New Roman"/>
                <a:cs typeface="Times New Roman"/>
              </a:rPr>
              <a:t>eases</a:t>
            </a:r>
            <a:r>
              <a:rPr sz="3300" spc="-85" dirty="0">
                <a:latin typeface="Times New Roman"/>
                <a:cs typeface="Times New Roman"/>
              </a:rPr>
              <a:t> </a:t>
            </a:r>
            <a:r>
              <a:rPr sz="3300" spc="30" dirty="0">
                <a:latin typeface="Times New Roman"/>
                <a:cs typeface="Times New Roman"/>
              </a:rPr>
              <a:t>t</a:t>
            </a:r>
            <a:r>
              <a:rPr sz="3300" spc="-170" dirty="0">
                <a:latin typeface="Times New Roman"/>
                <a:cs typeface="Times New Roman"/>
              </a:rPr>
              <a:t>he</a:t>
            </a:r>
            <a:r>
              <a:rPr sz="3300" spc="-75" dirty="0">
                <a:latin typeface="Times New Roman"/>
                <a:cs typeface="Times New Roman"/>
              </a:rPr>
              <a:t> </a:t>
            </a:r>
            <a:r>
              <a:rPr sz="3300" spc="-120" dirty="0">
                <a:latin typeface="Times New Roman"/>
                <a:cs typeface="Times New Roman"/>
              </a:rPr>
              <a:t>potentia</a:t>
            </a:r>
            <a:r>
              <a:rPr sz="3300" spc="-80" dirty="0">
                <a:latin typeface="Times New Roman"/>
                <a:cs typeface="Times New Roman"/>
              </a:rPr>
              <a:t>l</a:t>
            </a:r>
            <a:r>
              <a:rPr sz="3300" spc="-85" dirty="0">
                <a:latin typeface="Times New Roman"/>
                <a:cs typeface="Times New Roman"/>
              </a:rPr>
              <a:t> </a:t>
            </a:r>
            <a:r>
              <a:rPr sz="3300" spc="-90" dirty="0">
                <a:latin typeface="Times New Roman"/>
                <a:cs typeface="Times New Roman"/>
              </a:rPr>
              <a:t>interfe</a:t>
            </a:r>
            <a:r>
              <a:rPr sz="3300" spc="-110" dirty="0">
                <a:latin typeface="Times New Roman"/>
                <a:cs typeface="Times New Roman"/>
              </a:rPr>
              <a:t>r</a:t>
            </a:r>
            <a:r>
              <a:rPr sz="3300" spc="-125" dirty="0">
                <a:latin typeface="Times New Roman"/>
                <a:cs typeface="Times New Roman"/>
              </a:rPr>
              <a:t>ence  </a:t>
            </a:r>
            <a:r>
              <a:rPr sz="3300" spc="-50" dirty="0">
                <a:latin typeface="Times New Roman"/>
                <a:cs typeface="Times New Roman"/>
              </a:rPr>
              <a:t>to</a:t>
            </a:r>
            <a:r>
              <a:rPr sz="3300" spc="-85" dirty="0">
                <a:latin typeface="Times New Roman"/>
                <a:cs typeface="Times New Roman"/>
              </a:rPr>
              <a:t> </a:t>
            </a:r>
            <a:r>
              <a:rPr sz="3300" spc="-95" dirty="0">
                <a:latin typeface="Times New Roman"/>
                <a:cs typeface="Times New Roman"/>
              </a:rPr>
              <a:t>ot</a:t>
            </a:r>
            <a:r>
              <a:rPr sz="3300" spc="-130" dirty="0">
                <a:latin typeface="Times New Roman"/>
                <a:cs typeface="Times New Roman"/>
              </a:rPr>
              <a:t>h</a:t>
            </a:r>
            <a:r>
              <a:rPr sz="3300" spc="-45" dirty="0">
                <a:latin typeface="Times New Roman"/>
                <a:cs typeface="Times New Roman"/>
              </a:rPr>
              <a:t>er</a:t>
            </a:r>
            <a:r>
              <a:rPr sz="3300" spc="-75" dirty="0">
                <a:latin typeface="Times New Roman"/>
                <a:cs typeface="Times New Roman"/>
              </a:rPr>
              <a:t> </a:t>
            </a:r>
            <a:r>
              <a:rPr sz="3300" dirty="0">
                <a:latin typeface="Times New Roman"/>
                <a:cs typeface="Times New Roman"/>
              </a:rPr>
              <a:t>r</a:t>
            </a:r>
            <a:r>
              <a:rPr sz="3300" spc="-150" dirty="0">
                <a:latin typeface="Times New Roman"/>
                <a:cs typeface="Times New Roman"/>
              </a:rPr>
              <a:t>ec</a:t>
            </a:r>
            <a:r>
              <a:rPr sz="3300" spc="-145" dirty="0">
                <a:latin typeface="Times New Roman"/>
                <a:cs typeface="Times New Roman"/>
              </a:rPr>
              <a:t>e</a:t>
            </a:r>
            <a:r>
              <a:rPr sz="3300" spc="-160" dirty="0">
                <a:latin typeface="Times New Roman"/>
                <a:cs typeface="Times New Roman"/>
              </a:rPr>
              <a:t>i</a:t>
            </a:r>
            <a:r>
              <a:rPr sz="3300" spc="-340" dirty="0">
                <a:latin typeface="Times New Roman"/>
                <a:cs typeface="Times New Roman"/>
              </a:rPr>
              <a:t>v</a:t>
            </a:r>
            <a:r>
              <a:rPr sz="3300" spc="-55" dirty="0">
                <a:latin typeface="Times New Roman"/>
                <a:cs typeface="Times New Roman"/>
              </a:rPr>
              <a:t>e</a:t>
            </a:r>
            <a:r>
              <a:rPr sz="3300" spc="25" dirty="0">
                <a:latin typeface="Times New Roman"/>
                <a:cs typeface="Times New Roman"/>
              </a:rPr>
              <a:t>r</a:t>
            </a:r>
            <a:r>
              <a:rPr sz="3300" spc="-254" dirty="0">
                <a:latin typeface="Times New Roman"/>
                <a:cs typeface="Times New Roman"/>
              </a:rPr>
              <a:t>s</a:t>
            </a:r>
            <a:r>
              <a:rPr sz="3300" spc="-110" dirty="0">
                <a:latin typeface="Times New Roman"/>
                <a:cs typeface="Times New Roman"/>
              </a:rPr>
              <a:t> </a:t>
            </a:r>
            <a:r>
              <a:rPr sz="3300" spc="-229" dirty="0">
                <a:latin typeface="Times New Roman"/>
                <a:cs typeface="Times New Roman"/>
              </a:rPr>
              <a:t>w</a:t>
            </a:r>
            <a:r>
              <a:rPr sz="3300" spc="-170" dirty="0">
                <a:latin typeface="Times New Roman"/>
                <a:cs typeface="Times New Roman"/>
              </a:rPr>
              <a:t>h</a:t>
            </a:r>
            <a:r>
              <a:rPr sz="3300" spc="-140" dirty="0">
                <a:latin typeface="Times New Roman"/>
                <a:cs typeface="Times New Roman"/>
              </a:rPr>
              <a:t>ile</a:t>
            </a:r>
            <a:r>
              <a:rPr sz="3300" spc="-85" dirty="0">
                <a:latin typeface="Times New Roman"/>
                <a:cs typeface="Times New Roman"/>
              </a:rPr>
              <a:t> </a:t>
            </a:r>
            <a:r>
              <a:rPr sz="3300" spc="-235" dirty="0">
                <a:latin typeface="Times New Roman"/>
                <a:cs typeface="Times New Roman"/>
              </a:rPr>
              <a:t>a</a:t>
            </a:r>
            <a:r>
              <a:rPr sz="3300" spc="-175" dirty="0">
                <a:latin typeface="Times New Roman"/>
                <a:cs typeface="Times New Roman"/>
              </a:rPr>
              <a:t>c</a:t>
            </a:r>
            <a:r>
              <a:rPr sz="3300" spc="-160" dirty="0">
                <a:latin typeface="Times New Roman"/>
                <a:cs typeface="Times New Roman"/>
              </a:rPr>
              <a:t>hi</a:t>
            </a:r>
            <a:r>
              <a:rPr sz="3300" spc="-229" dirty="0">
                <a:latin typeface="Times New Roman"/>
                <a:cs typeface="Times New Roman"/>
              </a:rPr>
              <a:t>e</a:t>
            </a:r>
            <a:r>
              <a:rPr sz="3300" spc="-215" dirty="0">
                <a:latin typeface="Times New Roman"/>
                <a:cs typeface="Times New Roman"/>
              </a:rPr>
              <a:t>ving</a:t>
            </a:r>
            <a:r>
              <a:rPr sz="3300" spc="-80" dirty="0">
                <a:latin typeface="Times New Roman"/>
                <a:cs typeface="Times New Roman"/>
              </a:rPr>
              <a:t> </a:t>
            </a:r>
            <a:r>
              <a:rPr sz="3300" spc="-65" dirty="0">
                <a:latin typeface="Times New Roman"/>
                <a:cs typeface="Times New Roman"/>
              </a:rPr>
              <a:t>p</a:t>
            </a:r>
            <a:r>
              <a:rPr sz="3300" spc="15" dirty="0">
                <a:latin typeface="Times New Roman"/>
                <a:cs typeface="Times New Roman"/>
              </a:rPr>
              <a:t>r</a:t>
            </a:r>
            <a:r>
              <a:rPr sz="3300" spc="-160" dirty="0">
                <a:latin typeface="Times New Roman"/>
                <a:cs typeface="Times New Roman"/>
              </a:rPr>
              <a:t>i</a:t>
            </a:r>
            <a:r>
              <a:rPr sz="3300" spc="-325" dirty="0">
                <a:latin typeface="Times New Roman"/>
                <a:cs typeface="Times New Roman"/>
              </a:rPr>
              <a:t>v</a:t>
            </a:r>
            <a:r>
              <a:rPr sz="3300" spc="-235" dirty="0">
                <a:latin typeface="Times New Roman"/>
                <a:cs typeface="Times New Roman"/>
              </a:rPr>
              <a:t>a</a:t>
            </a:r>
            <a:r>
              <a:rPr sz="3300" spc="-190" dirty="0">
                <a:latin typeface="Times New Roman"/>
                <a:cs typeface="Times New Roman"/>
              </a:rPr>
              <a:t>c</a:t>
            </a:r>
            <a:r>
              <a:rPr sz="3300" spc="-610" dirty="0">
                <a:latin typeface="Times New Roman"/>
                <a:cs typeface="Times New Roman"/>
              </a:rPr>
              <a:t>y</a:t>
            </a:r>
            <a:r>
              <a:rPr sz="3300" spc="135" dirty="0">
                <a:latin typeface="Times New Roman"/>
                <a:cs typeface="Times New Roman"/>
              </a:rPr>
              <a:t>.</a:t>
            </a:r>
            <a:endParaRPr sz="3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3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3300" spc="-500" dirty="0">
                <a:solidFill>
                  <a:srgbClr val="FF0000"/>
                </a:solidFill>
                <a:latin typeface="Times New Roman"/>
                <a:cs typeface="Times New Roman"/>
              </a:rPr>
              <a:t>T</a:t>
            </a:r>
            <a:r>
              <a:rPr sz="3300" spc="-315" dirty="0">
                <a:solidFill>
                  <a:srgbClr val="FF0000"/>
                </a:solidFill>
                <a:latin typeface="Times New Roman"/>
                <a:cs typeface="Times New Roman"/>
              </a:rPr>
              <a:t>w</a:t>
            </a:r>
            <a:r>
              <a:rPr sz="3300" spc="-140" dirty="0">
                <a:solidFill>
                  <a:srgbClr val="FF0000"/>
                </a:solidFill>
                <a:latin typeface="Times New Roman"/>
                <a:cs typeface="Times New Roman"/>
              </a:rPr>
              <a:t>o</a:t>
            </a:r>
            <a:r>
              <a:rPr sz="3300" spc="-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300" spc="-150" dirty="0">
                <a:solidFill>
                  <a:srgbClr val="FF0000"/>
                </a:solidFill>
                <a:latin typeface="Times New Roman"/>
                <a:cs typeface="Times New Roman"/>
              </a:rPr>
              <a:t>types</a:t>
            </a:r>
            <a:r>
              <a:rPr sz="3300" spc="-9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300" spc="-235" dirty="0">
                <a:latin typeface="Times New Roman"/>
                <a:cs typeface="Times New Roman"/>
              </a:rPr>
              <a:t>o</a:t>
            </a:r>
            <a:r>
              <a:rPr sz="3300" spc="-155" dirty="0">
                <a:latin typeface="Times New Roman"/>
                <a:cs typeface="Times New Roman"/>
              </a:rPr>
              <a:t>f</a:t>
            </a:r>
            <a:r>
              <a:rPr sz="3300" spc="-85" dirty="0">
                <a:latin typeface="Times New Roman"/>
                <a:cs typeface="Times New Roman"/>
              </a:rPr>
              <a:t> </a:t>
            </a:r>
            <a:r>
              <a:rPr sz="3300" spc="-215" dirty="0">
                <a:latin typeface="Times New Roman"/>
                <a:cs typeface="Times New Roman"/>
              </a:rPr>
              <a:t>Sp</a:t>
            </a:r>
            <a:r>
              <a:rPr sz="3300" spc="-160" dirty="0">
                <a:latin typeface="Times New Roman"/>
                <a:cs typeface="Times New Roman"/>
              </a:rPr>
              <a:t>r</a:t>
            </a:r>
            <a:r>
              <a:rPr sz="3300" spc="-175" dirty="0">
                <a:latin typeface="Times New Roman"/>
                <a:cs typeface="Times New Roman"/>
              </a:rPr>
              <a:t>ead</a:t>
            </a:r>
            <a:r>
              <a:rPr sz="3300" spc="-95" dirty="0">
                <a:latin typeface="Times New Roman"/>
                <a:cs typeface="Times New Roman"/>
              </a:rPr>
              <a:t> </a:t>
            </a:r>
            <a:r>
              <a:rPr sz="3300" spc="-145" dirty="0">
                <a:latin typeface="Times New Roman"/>
                <a:cs typeface="Times New Roman"/>
              </a:rPr>
              <a:t>Spect</a:t>
            </a:r>
            <a:r>
              <a:rPr sz="3300" spc="-25" dirty="0">
                <a:latin typeface="Times New Roman"/>
                <a:cs typeface="Times New Roman"/>
              </a:rPr>
              <a:t>r</a:t>
            </a:r>
            <a:r>
              <a:rPr sz="3300" spc="-165" dirty="0">
                <a:latin typeface="Times New Roman"/>
                <a:cs typeface="Times New Roman"/>
              </a:rPr>
              <a:t>um</a:t>
            </a:r>
            <a:r>
              <a:rPr sz="3300" spc="-70" dirty="0">
                <a:latin typeface="Times New Roman"/>
                <a:cs typeface="Times New Roman"/>
              </a:rPr>
              <a:t>-</a:t>
            </a:r>
            <a:r>
              <a:rPr sz="3300" spc="-95" dirty="0">
                <a:latin typeface="Times New Roman"/>
                <a:cs typeface="Times New Roman"/>
              </a:rPr>
              <a:t> </a:t>
            </a:r>
            <a:r>
              <a:rPr sz="3300" spc="-370" dirty="0">
                <a:latin typeface="Times New Roman"/>
                <a:cs typeface="Times New Roman"/>
              </a:rPr>
              <a:t>FHS</a:t>
            </a:r>
            <a:r>
              <a:rPr sz="3300" spc="-335" dirty="0">
                <a:latin typeface="Times New Roman"/>
                <a:cs typeface="Times New Roman"/>
              </a:rPr>
              <a:t>S</a:t>
            </a:r>
            <a:r>
              <a:rPr sz="3300" spc="-100" dirty="0">
                <a:latin typeface="Times New Roman"/>
                <a:cs typeface="Times New Roman"/>
              </a:rPr>
              <a:t> </a:t>
            </a:r>
            <a:r>
              <a:rPr sz="3300" spc="-180" dirty="0">
                <a:latin typeface="Times New Roman"/>
                <a:cs typeface="Times New Roman"/>
              </a:rPr>
              <a:t>an</a:t>
            </a:r>
            <a:r>
              <a:rPr sz="3300" spc="-185" dirty="0">
                <a:latin typeface="Times New Roman"/>
                <a:cs typeface="Times New Roman"/>
              </a:rPr>
              <a:t>d</a:t>
            </a:r>
            <a:r>
              <a:rPr sz="3300" spc="-85" dirty="0">
                <a:latin typeface="Times New Roman"/>
                <a:cs typeface="Times New Roman"/>
              </a:rPr>
              <a:t> </a:t>
            </a:r>
            <a:r>
              <a:rPr sz="3300" spc="-390" dirty="0">
                <a:latin typeface="Times New Roman"/>
                <a:cs typeface="Times New Roman"/>
              </a:rPr>
              <a:t>DSSS</a:t>
            </a:r>
            <a:endParaRPr sz="33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" y="533400"/>
            <a:ext cx="8763000" cy="0"/>
          </a:xfrm>
          <a:custGeom>
            <a:avLst/>
            <a:gdLst/>
            <a:ahLst/>
            <a:cxnLst/>
            <a:rect l="l" t="t" r="r" b="b"/>
            <a:pathLst>
              <a:path w="8763000">
                <a:moveTo>
                  <a:pt x="0" y="0"/>
                </a:moveTo>
                <a:lnTo>
                  <a:pt x="8763000" y="0"/>
                </a:lnTo>
              </a:path>
            </a:pathLst>
          </a:custGeom>
          <a:ln w="7620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152400" y="687323"/>
            <a:ext cx="8763000" cy="818515"/>
            <a:chOff x="152400" y="687323"/>
            <a:chExt cx="8763000" cy="818515"/>
          </a:xfrm>
        </p:grpSpPr>
        <p:sp>
          <p:nvSpPr>
            <p:cNvPr id="4" name="object 4"/>
            <p:cNvSpPr/>
            <p:nvPr/>
          </p:nvSpPr>
          <p:spPr>
            <a:xfrm>
              <a:off x="152400" y="1371600"/>
              <a:ext cx="8763000" cy="0"/>
            </a:xfrm>
            <a:custGeom>
              <a:avLst/>
              <a:gdLst/>
              <a:ahLst/>
              <a:cxnLst/>
              <a:rect l="l" t="t" r="r" b="b"/>
              <a:pathLst>
                <a:path w="8763000">
                  <a:moveTo>
                    <a:pt x="0" y="0"/>
                  </a:moveTo>
                  <a:lnTo>
                    <a:pt x="8763000" y="0"/>
                  </a:lnTo>
                </a:path>
              </a:pathLst>
            </a:custGeom>
            <a:ln w="19050">
              <a:solidFill>
                <a:srgbClr val="CC99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6116" y="687323"/>
              <a:ext cx="3174492" cy="818388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83540" y="781557"/>
            <a:ext cx="2712085" cy="4679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9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Spread</a:t>
            </a:r>
            <a:r>
              <a:rPr sz="2900" b="1" spc="-8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900" b="1" dirty="0">
                <a:solidFill>
                  <a:srgbClr val="404040"/>
                </a:solidFill>
                <a:latin typeface="Times New Roman"/>
                <a:cs typeface="Times New Roman"/>
              </a:rPr>
              <a:t>spectrum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52400" y="6248400"/>
            <a:ext cx="8763000" cy="0"/>
          </a:xfrm>
          <a:custGeom>
            <a:avLst/>
            <a:gdLst/>
            <a:ahLst/>
            <a:cxnLst/>
            <a:rect l="l" t="t" r="r" b="b"/>
            <a:pathLst>
              <a:path w="8763000">
                <a:moveTo>
                  <a:pt x="0" y="0"/>
                </a:moveTo>
                <a:lnTo>
                  <a:pt x="8763000" y="0"/>
                </a:lnTo>
              </a:path>
            </a:pathLst>
          </a:custGeom>
          <a:ln w="7620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3725" y="2383694"/>
            <a:ext cx="7788275" cy="2967928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3923" y="370738"/>
            <a:ext cx="7467600" cy="1290955"/>
            <a:chOff x="153923" y="370738"/>
            <a:chExt cx="7467600" cy="12909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9452" y="370738"/>
              <a:ext cx="7151989" cy="44415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3923" y="649223"/>
              <a:ext cx="1921764" cy="1011936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25297" y="221107"/>
            <a:ext cx="719709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b="1" spc="-490" dirty="0">
                <a:latin typeface="Arial"/>
                <a:cs typeface="Arial"/>
              </a:rPr>
              <a:t>F</a:t>
            </a:r>
            <a:r>
              <a:rPr b="1" spc="-210" dirty="0">
                <a:latin typeface="Arial"/>
                <a:cs typeface="Arial"/>
              </a:rPr>
              <a:t>r</a:t>
            </a:r>
            <a:r>
              <a:rPr b="1" spc="-195" dirty="0">
                <a:latin typeface="Arial"/>
                <a:cs typeface="Arial"/>
              </a:rPr>
              <a:t>e</a:t>
            </a:r>
            <a:r>
              <a:rPr b="1" spc="-235" dirty="0">
                <a:latin typeface="Arial"/>
                <a:cs typeface="Arial"/>
              </a:rPr>
              <a:t>q</a:t>
            </a:r>
            <a:r>
              <a:rPr b="1" spc="-200" dirty="0">
                <a:latin typeface="Arial"/>
                <a:cs typeface="Arial"/>
              </a:rPr>
              <a:t>u</a:t>
            </a:r>
            <a:r>
              <a:rPr b="1" spc="-195" dirty="0">
                <a:latin typeface="Arial"/>
                <a:cs typeface="Arial"/>
              </a:rPr>
              <a:t>e</a:t>
            </a:r>
            <a:r>
              <a:rPr b="1" spc="-365" dirty="0">
                <a:latin typeface="Arial"/>
                <a:cs typeface="Arial"/>
              </a:rPr>
              <a:t>ncy</a:t>
            </a:r>
            <a:r>
              <a:rPr b="1" spc="-140" dirty="0">
                <a:latin typeface="Arial"/>
                <a:cs typeface="Arial"/>
              </a:rPr>
              <a:t> </a:t>
            </a:r>
            <a:r>
              <a:rPr b="1" spc="-280" dirty="0">
                <a:latin typeface="Arial"/>
                <a:cs typeface="Arial"/>
              </a:rPr>
              <a:t>H</a:t>
            </a:r>
            <a:r>
              <a:rPr b="1" spc="-325" dirty="0">
                <a:latin typeface="Arial"/>
                <a:cs typeface="Arial"/>
              </a:rPr>
              <a:t>o</a:t>
            </a:r>
            <a:r>
              <a:rPr b="1" spc="-285" dirty="0">
                <a:latin typeface="Arial"/>
                <a:cs typeface="Arial"/>
              </a:rPr>
              <a:t>p</a:t>
            </a:r>
            <a:r>
              <a:rPr b="1" spc="-270" dirty="0">
                <a:latin typeface="Arial"/>
                <a:cs typeface="Arial"/>
              </a:rPr>
              <a:t>p</a:t>
            </a:r>
            <a:r>
              <a:rPr b="1" spc="-260" dirty="0">
                <a:latin typeface="Arial"/>
                <a:cs typeface="Arial"/>
              </a:rPr>
              <a:t>in</a:t>
            </a:r>
            <a:r>
              <a:rPr b="1" spc="-350" dirty="0">
                <a:latin typeface="Arial"/>
                <a:cs typeface="Arial"/>
              </a:rPr>
              <a:t>g</a:t>
            </a:r>
            <a:r>
              <a:rPr b="1" spc="-140" dirty="0">
                <a:latin typeface="Arial"/>
                <a:cs typeface="Arial"/>
              </a:rPr>
              <a:t> </a:t>
            </a:r>
            <a:r>
              <a:rPr b="1" spc="-350" dirty="0">
                <a:latin typeface="Arial"/>
                <a:cs typeface="Arial"/>
              </a:rPr>
              <a:t>S</a:t>
            </a:r>
            <a:r>
              <a:rPr b="1" spc="-305" dirty="0">
                <a:latin typeface="Arial"/>
                <a:cs typeface="Arial"/>
              </a:rPr>
              <a:t>p</a:t>
            </a:r>
            <a:r>
              <a:rPr b="1" spc="-180" dirty="0">
                <a:latin typeface="Arial"/>
                <a:cs typeface="Arial"/>
              </a:rPr>
              <a:t>r</a:t>
            </a:r>
            <a:r>
              <a:rPr b="1" spc="-165" dirty="0">
                <a:latin typeface="Arial"/>
                <a:cs typeface="Arial"/>
              </a:rPr>
              <a:t>ead</a:t>
            </a:r>
            <a:r>
              <a:rPr b="1" spc="-130" dirty="0">
                <a:latin typeface="Arial"/>
                <a:cs typeface="Arial"/>
              </a:rPr>
              <a:t> </a:t>
            </a:r>
            <a:r>
              <a:rPr b="1" spc="-350" dirty="0">
                <a:latin typeface="Arial"/>
                <a:cs typeface="Arial"/>
              </a:rPr>
              <a:t>S</a:t>
            </a:r>
            <a:r>
              <a:rPr b="1" spc="-220" dirty="0">
                <a:latin typeface="Arial"/>
                <a:cs typeface="Arial"/>
              </a:rPr>
              <a:t>p</a:t>
            </a:r>
            <a:r>
              <a:rPr b="1" spc="-185" dirty="0">
                <a:latin typeface="Arial"/>
                <a:cs typeface="Arial"/>
              </a:rPr>
              <a:t>e</a:t>
            </a:r>
            <a:r>
              <a:rPr b="1" spc="-200" dirty="0">
                <a:latin typeface="Arial"/>
                <a:cs typeface="Arial"/>
              </a:rPr>
              <a:t>ctrum  </a:t>
            </a:r>
            <a:r>
              <a:rPr b="1" spc="-275" dirty="0">
                <a:latin typeface="Arial"/>
                <a:cs typeface="Arial"/>
              </a:rPr>
              <a:t>(FHSS)</a:t>
            </a: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27100" y="4113784"/>
            <a:ext cx="202692" cy="19913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27100" y="4493259"/>
            <a:ext cx="202692" cy="199136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27100" y="4874259"/>
            <a:ext cx="202692" cy="199136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494487" y="1398778"/>
            <a:ext cx="8451850" cy="407733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87020" marR="850900" indent="-274320">
              <a:lnSpc>
                <a:spcPts val="3020"/>
              </a:lnSpc>
              <a:spcBef>
                <a:spcPts val="480"/>
              </a:spcBef>
              <a:buClr>
                <a:srgbClr val="696363"/>
              </a:buClr>
              <a:buSzPct val="96428"/>
              <a:buFont typeface="Wingdings"/>
              <a:buChar char=""/>
              <a:tabLst>
                <a:tab pos="330200" algn="l"/>
              </a:tabLst>
            </a:pPr>
            <a:r>
              <a:rPr sz="2800" spc="-204" dirty="0">
                <a:latin typeface="Times New Roman"/>
                <a:cs typeface="Times New Roman"/>
              </a:rPr>
              <a:t>Signal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spc="-180" dirty="0">
                <a:latin typeface="Times New Roman"/>
                <a:cs typeface="Times New Roman"/>
              </a:rPr>
              <a:t>is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135" dirty="0">
                <a:latin typeface="Times New Roman"/>
                <a:cs typeface="Times New Roman"/>
              </a:rPr>
              <a:t>broadcast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145" dirty="0">
                <a:latin typeface="Times New Roman"/>
                <a:cs typeface="Times New Roman"/>
              </a:rPr>
              <a:t>over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spc="-170" dirty="0">
                <a:latin typeface="Times New Roman"/>
                <a:cs typeface="Times New Roman"/>
              </a:rPr>
              <a:t>seemingly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125" dirty="0">
                <a:latin typeface="Times New Roman"/>
                <a:cs typeface="Times New Roman"/>
              </a:rPr>
              <a:t>random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spc="-120" dirty="0">
                <a:latin typeface="Times New Roman"/>
                <a:cs typeface="Times New Roman"/>
              </a:rPr>
              <a:t>series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spc="-165" dirty="0">
                <a:latin typeface="Times New Roman"/>
                <a:cs typeface="Times New Roman"/>
              </a:rPr>
              <a:t>of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spc="-120" dirty="0">
                <a:latin typeface="Times New Roman"/>
                <a:cs typeface="Times New Roman"/>
              </a:rPr>
              <a:t>radio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130" dirty="0">
                <a:latin typeface="Times New Roman"/>
                <a:cs typeface="Times New Roman"/>
              </a:rPr>
              <a:t>frequencies</a:t>
            </a:r>
            <a:endParaRPr sz="2800">
              <a:latin typeface="Times New Roman"/>
              <a:cs typeface="Times New Roman"/>
            </a:endParaRPr>
          </a:p>
          <a:p>
            <a:pPr marL="329565" indent="-317500">
              <a:lnSpc>
                <a:spcPct val="100000"/>
              </a:lnSpc>
              <a:spcBef>
                <a:spcPts val="225"/>
              </a:spcBef>
              <a:buClr>
                <a:srgbClr val="696363"/>
              </a:buClr>
              <a:buSzPct val="96428"/>
              <a:buFont typeface="Wingdings"/>
              <a:buChar char=""/>
              <a:tabLst>
                <a:tab pos="330200" algn="l"/>
              </a:tabLst>
            </a:pPr>
            <a:r>
              <a:rPr sz="2800" spc="-204" dirty="0">
                <a:latin typeface="Times New Roman"/>
                <a:cs typeface="Times New Roman"/>
              </a:rPr>
              <a:t>Signal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160" dirty="0">
                <a:latin typeface="Times New Roman"/>
                <a:cs typeface="Times New Roman"/>
              </a:rPr>
              <a:t>hops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125" dirty="0">
                <a:latin typeface="Times New Roman"/>
                <a:cs typeface="Times New Roman"/>
              </a:rPr>
              <a:t>from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spc="-130" dirty="0">
                <a:latin typeface="Times New Roman"/>
                <a:cs typeface="Times New Roman"/>
              </a:rPr>
              <a:t>frequency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spc="-45" dirty="0">
                <a:latin typeface="Times New Roman"/>
                <a:cs typeface="Times New Roman"/>
              </a:rPr>
              <a:t>to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130" dirty="0">
                <a:latin typeface="Times New Roman"/>
                <a:cs typeface="Times New Roman"/>
              </a:rPr>
              <a:t>frequency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spc="-110" dirty="0">
                <a:latin typeface="Times New Roman"/>
                <a:cs typeface="Times New Roman"/>
              </a:rPr>
              <a:t>at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150" dirty="0">
                <a:latin typeface="Times New Roman"/>
                <a:cs typeface="Times New Roman"/>
              </a:rPr>
              <a:t>fixed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spc="-120" dirty="0">
                <a:latin typeface="Times New Roman"/>
                <a:cs typeface="Times New Roman"/>
              </a:rPr>
              <a:t>intervals</a:t>
            </a:r>
            <a:endParaRPr sz="2800">
              <a:latin typeface="Times New Roman"/>
              <a:cs typeface="Times New Roman"/>
            </a:endParaRPr>
          </a:p>
          <a:p>
            <a:pPr marL="287020" marR="41275" indent="-274320">
              <a:lnSpc>
                <a:spcPts val="3020"/>
              </a:lnSpc>
              <a:spcBef>
                <a:spcPts val="650"/>
              </a:spcBef>
              <a:buClr>
                <a:srgbClr val="696363"/>
              </a:buClr>
              <a:buSzPct val="96428"/>
              <a:buFont typeface="Wingdings"/>
              <a:buChar char=""/>
              <a:tabLst>
                <a:tab pos="330200" algn="l"/>
              </a:tabLst>
            </a:pPr>
            <a:r>
              <a:rPr sz="2800" spc="-140" dirty="0">
                <a:latin typeface="Times New Roman"/>
                <a:cs typeface="Times New Roman"/>
              </a:rPr>
              <a:t>Receiver,</a:t>
            </a:r>
            <a:r>
              <a:rPr sz="2800" spc="-175" dirty="0">
                <a:latin typeface="Times New Roman"/>
                <a:cs typeface="Times New Roman"/>
              </a:rPr>
              <a:t> </a:t>
            </a:r>
            <a:r>
              <a:rPr sz="2800" spc="-150" dirty="0">
                <a:latin typeface="Times New Roman"/>
                <a:cs typeface="Times New Roman"/>
              </a:rPr>
              <a:t>hopping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spc="-120" dirty="0">
                <a:latin typeface="Times New Roman"/>
                <a:cs typeface="Times New Roman"/>
              </a:rPr>
              <a:t>between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spc="-130" dirty="0">
                <a:latin typeface="Times New Roman"/>
                <a:cs typeface="Times New Roman"/>
              </a:rPr>
              <a:t>frequencies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130" dirty="0">
                <a:latin typeface="Times New Roman"/>
                <a:cs typeface="Times New Roman"/>
              </a:rPr>
              <a:t>in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140" dirty="0">
                <a:latin typeface="Times New Roman"/>
                <a:cs typeface="Times New Roman"/>
              </a:rPr>
              <a:t>synchronization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spc="-114" dirty="0">
                <a:latin typeface="Times New Roman"/>
                <a:cs typeface="Times New Roman"/>
              </a:rPr>
              <a:t>with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85" dirty="0">
                <a:latin typeface="Times New Roman"/>
                <a:cs typeface="Times New Roman"/>
              </a:rPr>
              <a:t>transmitte</a:t>
            </a:r>
            <a:r>
              <a:rPr sz="2800" spc="-220" dirty="0">
                <a:latin typeface="Times New Roman"/>
                <a:cs typeface="Times New Roman"/>
              </a:rPr>
              <a:t>r</a:t>
            </a:r>
            <a:r>
              <a:rPr sz="2800" spc="114" dirty="0">
                <a:latin typeface="Times New Roman"/>
                <a:cs typeface="Times New Roman"/>
              </a:rPr>
              <a:t>,</a:t>
            </a:r>
            <a:r>
              <a:rPr sz="2800" spc="-200" dirty="0">
                <a:latin typeface="Times New Roman"/>
                <a:cs typeface="Times New Roman"/>
              </a:rPr>
              <a:t> </a:t>
            </a:r>
            <a:r>
              <a:rPr sz="2800" spc="-135" dirty="0">
                <a:latin typeface="Times New Roman"/>
                <a:cs typeface="Times New Roman"/>
              </a:rPr>
              <a:t>pi</a:t>
            </a:r>
            <a:r>
              <a:rPr sz="2800" spc="-100" dirty="0">
                <a:latin typeface="Times New Roman"/>
                <a:cs typeface="Times New Roman"/>
              </a:rPr>
              <a:t>c</a:t>
            </a:r>
            <a:r>
              <a:rPr sz="2800" spc="-195" dirty="0">
                <a:latin typeface="Times New Roman"/>
                <a:cs typeface="Times New Roman"/>
              </a:rPr>
              <a:t>ks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spc="-120" dirty="0">
                <a:latin typeface="Times New Roman"/>
                <a:cs typeface="Times New Roman"/>
              </a:rPr>
              <a:t>up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185" dirty="0">
                <a:latin typeface="Times New Roman"/>
                <a:cs typeface="Times New Roman"/>
              </a:rPr>
              <a:t>m</a:t>
            </a:r>
            <a:r>
              <a:rPr sz="2800" spc="-95" dirty="0">
                <a:latin typeface="Times New Roman"/>
                <a:cs typeface="Times New Roman"/>
              </a:rPr>
              <a:t>e</a:t>
            </a:r>
            <a:r>
              <a:rPr sz="2800" spc="-200" dirty="0">
                <a:latin typeface="Times New Roman"/>
                <a:cs typeface="Times New Roman"/>
              </a:rPr>
              <a:t>ssage</a:t>
            </a:r>
            <a:endParaRPr sz="2800">
              <a:latin typeface="Times New Roman"/>
              <a:cs typeface="Times New Roman"/>
            </a:endParaRPr>
          </a:p>
          <a:p>
            <a:pPr marL="329565" indent="-317500">
              <a:lnSpc>
                <a:spcPct val="100000"/>
              </a:lnSpc>
              <a:spcBef>
                <a:spcPts val="225"/>
              </a:spcBef>
              <a:buClr>
                <a:srgbClr val="696363"/>
              </a:buClr>
              <a:buSzPct val="96428"/>
              <a:buFont typeface="Wingdings"/>
              <a:buChar char=""/>
              <a:tabLst>
                <a:tab pos="330200" algn="l"/>
              </a:tabLst>
            </a:pPr>
            <a:r>
              <a:rPr sz="2800" spc="-195" dirty="0">
                <a:latin typeface="Times New Roman"/>
                <a:cs typeface="Times New Roman"/>
              </a:rPr>
              <a:t>Advantages</a:t>
            </a:r>
            <a:endParaRPr sz="2800">
              <a:latin typeface="Times New Roman"/>
              <a:cs typeface="Times New Roman"/>
            </a:endParaRPr>
          </a:p>
          <a:p>
            <a:pPr marL="560705" marR="3216910">
              <a:lnSpc>
                <a:spcPct val="103699"/>
              </a:lnSpc>
              <a:spcBef>
                <a:spcPts val="55"/>
              </a:spcBef>
            </a:pPr>
            <a:r>
              <a:rPr sz="2400" spc="-145" dirty="0">
                <a:latin typeface="Times New Roman"/>
                <a:cs typeface="Times New Roman"/>
              </a:rPr>
              <a:t>Efficie</a:t>
            </a:r>
            <a:r>
              <a:rPr sz="2400" spc="-180" dirty="0">
                <a:latin typeface="Times New Roman"/>
                <a:cs typeface="Times New Roman"/>
              </a:rPr>
              <a:t>n</a:t>
            </a:r>
            <a:r>
              <a:rPr sz="2400" spc="30" dirty="0">
                <a:latin typeface="Times New Roman"/>
                <a:cs typeface="Times New Roman"/>
              </a:rPr>
              <a:t>t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10" dirty="0">
                <a:latin typeface="Times New Roman"/>
                <a:cs typeface="Times New Roman"/>
              </a:rPr>
              <a:t>utiliz</a:t>
            </a:r>
            <a:r>
              <a:rPr sz="2400" spc="-165" dirty="0">
                <a:latin typeface="Times New Roman"/>
                <a:cs typeface="Times New Roman"/>
              </a:rPr>
              <a:t>a</a:t>
            </a:r>
            <a:r>
              <a:rPr sz="2400" spc="-75" dirty="0">
                <a:latin typeface="Times New Roman"/>
                <a:cs typeface="Times New Roman"/>
              </a:rPr>
              <a:t>tion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40" dirty="0">
                <a:latin typeface="Times New Roman"/>
                <a:cs typeface="Times New Roman"/>
              </a:rPr>
              <a:t>of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265" dirty="0">
                <a:latin typeface="Times New Roman"/>
                <a:cs typeface="Times New Roman"/>
              </a:rPr>
              <a:t>a</a:t>
            </a:r>
            <a:r>
              <a:rPr sz="2400" spc="-245" dirty="0">
                <a:latin typeface="Times New Roman"/>
                <a:cs typeface="Times New Roman"/>
              </a:rPr>
              <a:t>v</a:t>
            </a:r>
            <a:r>
              <a:rPr sz="2400" spc="-140" dirty="0">
                <a:latin typeface="Times New Roman"/>
                <a:cs typeface="Times New Roman"/>
              </a:rPr>
              <a:t>aila</a:t>
            </a:r>
            <a:r>
              <a:rPr sz="2400" spc="-215" dirty="0">
                <a:latin typeface="Times New Roman"/>
                <a:cs typeface="Times New Roman"/>
              </a:rPr>
              <a:t>b</a:t>
            </a:r>
            <a:r>
              <a:rPr sz="2400" spc="-75" dirty="0">
                <a:latin typeface="Times New Roman"/>
                <a:cs typeface="Times New Roman"/>
              </a:rPr>
              <a:t>l</a:t>
            </a:r>
            <a:r>
              <a:rPr sz="2400" spc="-114" dirty="0">
                <a:latin typeface="Times New Roman"/>
                <a:cs typeface="Times New Roman"/>
              </a:rPr>
              <a:t>e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40" dirty="0">
                <a:latin typeface="Times New Roman"/>
                <a:cs typeface="Times New Roman"/>
              </a:rPr>
              <a:t>ban</a:t>
            </a:r>
            <a:r>
              <a:rPr sz="2400" spc="-150" dirty="0">
                <a:latin typeface="Times New Roman"/>
                <a:cs typeface="Times New Roman"/>
              </a:rPr>
              <a:t>d</a:t>
            </a:r>
            <a:r>
              <a:rPr sz="2400" spc="-85" dirty="0">
                <a:latin typeface="Times New Roman"/>
                <a:cs typeface="Times New Roman"/>
              </a:rPr>
              <a:t>width  </a:t>
            </a:r>
            <a:r>
              <a:rPr sz="2400" spc="-250" dirty="0">
                <a:latin typeface="Times New Roman"/>
                <a:cs typeface="Times New Roman"/>
              </a:rPr>
              <a:t>E</a:t>
            </a:r>
            <a:r>
              <a:rPr sz="2400" spc="-260" dirty="0">
                <a:latin typeface="Times New Roman"/>
                <a:cs typeface="Times New Roman"/>
              </a:rPr>
              <a:t>a</a:t>
            </a:r>
            <a:r>
              <a:rPr sz="2400" spc="-254" dirty="0">
                <a:latin typeface="Times New Roman"/>
                <a:cs typeface="Times New Roman"/>
              </a:rPr>
              <a:t>v</a:t>
            </a:r>
            <a:r>
              <a:rPr sz="2400" spc="-120" dirty="0">
                <a:latin typeface="Times New Roman"/>
                <a:cs typeface="Times New Roman"/>
              </a:rPr>
              <a:t>es</a:t>
            </a:r>
            <a:r>
              <a:rPr sz="2400" spc="-140" dirty="0">
                <a:latin typeface="Times New Roman"/>
                <a:cs typeface="Times New Roman"/>
              </a:rPr>
              <a:t>d</a:t>
            </a:r>
            <a:r>
              <a:rPr sz="2400" dirty="0">
                <a:latin typeface="Times New Roman"/>
                <a:cs typeface="Times New Roman"/>
              </a:rPr>
              <a:t>r</a:t>
            </a:r>
            <a:r>
              <a:rPr sz="2400" spc="-105" dirty="0">
                <a:latin typeface="Times New Roman"/>
                <a:cs typeface="Times New Roman"/>
              </a:rPr>
              <a:t>o</a:t>
            </a:r>
            <a:r>
              <a:rPr sz="2400" spc="-100" dirty="0">
                <a:latin typeface="Times New Roman"/>
                <a:cs typeface="Times New Roman"/>
              </a:rPr>
              <a:t>p</a:t>
            </a:r>
            <a:r>
              <a:rPr sz="2400" spc="-60" dirty="0">
                <a:latin typeface="Times New Roman"/>
                <a:cs typeface="Times New Roman"/>
              </a:rPr>
              <a:t>per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hear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o</a:t>
            </a:r>
            <a:r>
              <a:rPr sz="2400" spc="-125" dirty="0">
                <a:latin typeface="Times New Roman"/>
                <a:cs typeface="Times New Roman"/>
              </a:rPr>
              <a:t>n</a:t>
            </a:r>
            <a:r>
              <a:rPr sz="2400" spc="-114" dirty="0">
                <a:latin typeface="Times New Roman"/>
                <a:cs typeface="Times New Roman"/>
              </a:rPr>
              <a:t>l</a:t>
            </a:r>
            <a:r>
              <a:rPr sz="2400" spc="-200" dirty="0">
                <a:latin typeface="Times New Roman"/>
                <a:cs typeface="Times New Roman"/>
              </a:rPr>
              <a:t>y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u</a:t>
            </a:r>
            <a:r>
              <a:rPr sz="2400" spc="-100" dirty="0">
                <a:latin typeface="Times New Roman"/>
                <a:cs typeface="Times New Roman"/>
              </a:rPr>
              <a:t>n</a:t>
            </a:r>
            <a:r>
              <a:rPr sz="2400" spc="-95" dirty="0">
                <a:latin typeface="Times New Roman"/>
                <a:cs typeface="Times New Roman"/>
              </a:rPr>
              <a:t>intelli</a:t>
            </a:r>
            <a:r>
              <a:rPr sz="2400" spc="-100" dirty="0">
                <a:latin typeface="Times New Roman"/>
                <a:cs typeface="Times New Roman"/>
              </a:rPr>
              <a:t>g</a:t>
            </a:r>
            <a:r>
              <a:rPr sz="2400" spc="-90" dirty="0">
                <a:latin typeface="Times New Roman"/>
                <a:cs typeface="Times New Roman"/>
              </a:rPr>
              <a:t>i</a:t>
            </a:r>
            <a:r>
              <a:rPr sz="2400" spc="-190" dirty="0">
                <a:latin typeface="Times New Roman"/>
                <a:cs typeface="Times New Roman"/>
              </a:rPr>
              <a:t>b</a:t>
            </a:r>
            <a:r>
              <a:rPr sz="2400" spc="-75" dirty="0">
                <a:latin typeface="Times New Roman"/>
                <a:cs typeface="Times New Roman"/>
              </a:rPr>
              <a:t>l</a:t>
            </a:r>
            <a:r>
              <a:rPr sz="2400" spc="-114" dirty="0">
                <a:latin typeface="Times New Roman"/>
                <a:cs typeface="Times New Roman"/>
              </a:rPr>
              <a:t>e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165" dirty="0">
                <a:latin typeface="Times New Roman"/>
                <a:cs typeface="Times New Roman"/>
              </a:rPr>
              <a:t>b</a:t>
            </a:r>
            <a:r>
              <a:rPr sz="2400" spc="-90" dirty="0">
                <a:latin typeface="Times New Roman"/>
                <a:cs typeface="Times New Roman"/>
              </a:rPr>
              <a:t>li</a:t>
            </a:r>
            <a:r>
              <a:rPr sz="2400" spc="-150" dirty="0">
                <a:latin typeface="Times New Roman"/>
                <a:cs typeface="Times New Roman"/>
              </a:rPr>
              <a:t>p</a:t>
            </a:r>
            <a:r>
              <a:rPr sz="2400" spc="-185" dirty="0">
                <a:latin typeface="Times New Roman"/>
                <a:cs typeface="Times New Roman"/>
              </a:rPr>
              <a:t>s</a:t>
            </a:r>
            <a:endParaRPr sz="2400">
              <a:latin typeface="Times New Roman"/>
              <a:cs typeface="Times New Roman"/>
            </a:endParaRPr>
          </a:p>
          <a:p>
            <a:pPr marL="560705" marR="5080">
              <a:lnSpc>
                <a:spcPts val="2600"/>
              </a:lnSpc>
              <a:spcBef>
                <a:spcPts val="439"/>
              </a:spcBef>
            </a:pPr>
            <a:r>
              <a:rPr sz="2400" spc="-95" dirty="0">
                <a:latin typeface="Times New Roman"/>
                <a:cs typeface="Times New Roman"/>
              </a:rPr>
              <a:t>Attempts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35" dirty="0">
                <a:latin typeface="Times New Roman"/>
                <a:cs typeface="Times New Roman"/>
              </a:rPr>
              <a:t>to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50" dirty="0">
                <a:latin typeface="Times New Roman"/>
                <a:cs typeface="Times New Roman"/>
              </a:rPr>
              <a:t>jam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50" dirty="0">
                <a:latin typeface="Times New Roman"/>
                <a:cs typeface="Times New Roman"/>
              </a:rPr>
              <a:t>signal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on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one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10" dirty="0">
                <a:latin typeface="Times New Roman"/>
                <a:cs typeface="Times New Roman"/>
              </a:rPr>
              <a:t>frequency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25" dirty="0">
                <a:latin typeface="Times New Roman"/>
                <a:cs typeface="Times New Roman"/>
              </a:rPr>
              <a:t>succeed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40" dirty="0">
                <a:latin typeface="Times New Roman"/>
                <a:cs typeface="Times New Roman"/>
              </a:rPr>
              <a:t>only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at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30" dirty="0">
                <a:latin typeface="Times New Roman"/>
                <a:cs typeface="Times New Roman"/>
              </a:rPr>
              <a:t>knocking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55" dirty="0">
                <a:latin typeface="Times New Roman"/>
                <a:cs typeface="Times New Roman"/>
              </a:rPr>
              <a:t>out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190" dirty="0">
                <a:latin typeface="Times New Roman"/>
                <a:cs typeface="Times New Roman"/>
              </a:rPr>
              <a:t>a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150" dirty="0">
                <a:latin typeface="Times New Roman"/>
                <a:cs typeface="Times New Roman"/>
              </a:rPr>
              <a:t>few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bits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" y="533400"/>
            <a:ext cx="8763000" cy="0"/>
          </a:xfrm>
          <a:custGeom>
            <a:avLst/>
            <a:gdLst/>
            <a:ahLst/>
            <a:cxnLst/>
            <a:rect l="l" t="t" r="r" b="b"/>
            <a:pathLst>
              <a:path w="8763000">
                <a:moveTo>
                  <a:pt x="0" y="0"/>
                </a:moveTo>
                <a:lnTo>
                  <a:pt x="8763000" y="0"/>
                </a:lnTo>
              </a:path>
            </a:pathLst>
          </a:custGeom>
          <a:ln w="7620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52400" y="1371600"/>
            <a:ext cx="8763000" cy="0"/>
          </a:xfrm>
          <a:custGeom>
            <a:avLst/>
            <a:gdLst/>
            <a:ahLst/>
            <a:cxnLst/>
            <a:rect l="l" t="t" r="r" b="b"/>
            <a:pathLst>
              <a:path w="8763000">
                <a:moveTo>
                  <a:pt x="0" y="0"/>
                </a:moveTo>
                <a:lnTo>
                  <a:pt x="8763000" y="0"/>
                </a:lnTo>
              </a:path>
            </a:pathLst>
          </a:custGeom>
          <a:ln w="1905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9100" y="887382"/>
            <a:ext cx="5152644" cy="27040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83540" y="787654"/>
            <a:ext cx="518795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30" dirty="0">
                <a:solidFill>
                  <a:srgbClr val="000000"/>
                </a:solidFill>
              </a:rPr>
              <a:t>Frequency</a:t>
            </a:r>
            <a:r>
              <a:rPr sz="2200" spc="20" dirty="0">
                <a:solidFill>
                  <a:srgbClr val="000000"/>
                </a:solidFill>
              </a:rPr>
              <a:t> </a:t>
            </a:r>
            <a:r>
              <a:rPr sz="2200" spc="-25" dirty="0">
                <a:solidFill>
                  <a:srgbClr val="000000"/>
                </a:solidFill>
              </a:rPr>
              <a:t>hopping</a:t>
            </a:r>
            <a:r>
              <a:rPr sz="2200" spc="-15" dirty="0">
                <a:solidFill>
                  <a:srgbClr val="000000"/>
                </a:solidFill>
              </a:rPr>
              <a:t> </a:t>
            </a:r>
            <a:r>
              <a:rPr sz="2200" spc="-10" dirty="0">
                <a:solidFill>
                  <a:srgbClr val="000000"/>
                </a:solidFill>
              </a:rPr>
              <a:t>spread</a:t>
            </a:r>
            <a:r>
              <a:rPr sz="2200" spc="15" dirty="0">
                <a:solidFill>
                  <a:srgbClr val="000000"/>
                </a:solidFill>
              </a:rPr>
              <a:t> </a:t>
            </a:r>
            <a:r>
              <a:rPr sz="2200" spc="-25" dirty="0">
                <a:solidFill>
                  <a:srgbClr val="000000"/>
                </a:solidFill>
              </a:rPr>
              <a:t>spectrum</a:t>
            </a:r>
            <a:r>
              <a:rPr sz="2200" spc="25" dirty="0">
                <a:solidFill>
                  <a:srgbClr val="000000"/>
                </a:solidFill>
              </a:rPr>
              <a:t> </a:t>
            </a:r>
            <a:r>
              <a:rPr sz="2200" spc="-10" dirty="0">
                <a:solidFill>
                  <a:srgbClr val="000000"/>
                </a:solidFill>
              </a:rPr>
              <a:t>(FHSS)</a:t>
            </a:r>
            <a:endParaRPr sz="2200"/>
          </a:p>
        </p:txBody>
      </p:sp>
      <p:sp>
        <p:nvSpPr>
          <p:cNvPr id="6" name="object 6"/>
          <p:cNvSpPr/>
          <p:nvPr/>
        </p:nvSpPr>
        <p:spPr>
          <a:xfrm>
            <a:off x="152400" y="6248400"/>
            <a:ext cx="8763000" cy="0"/>
          </a:xfrm>
          <a:custGeom>
            <a:avLst/>
            <a:gdLst/>
            <a:ahLst/>
            <a:cxnLst/>
            <a:rect l="l" t="t" r="r" b="b"/>
            <a:pathLst>
              <a:path w="8763000">
                <a:moveTo>
                  <a:pt x="0" y="0"/>
                </a:moveTo>
                <a:lnTo>
                  <a:pt x="8763000" y="0"/>
                </a:lnTo>
              </a:path>
            </a:pathLst>
          </a:custGeom>
          <a:ln w="7620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05633" y="1693926"/>
            <a:ext cx="7254964" cy="4402074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" y="533400"/>
            <a:ext cx="8763000" cy="0"/>
          </a:xfrm>
          <a:custGeom>
            <a:avLst/>
            <a:gdLst/>
            <a:ahLst/>
            <a:cxnLst/>
            <a:rect l="l" t="t" r="r" b="b"/>
            <a:pathLst>
              <a:path w="8763000">
                <a:moveTo>
                  <a:pt x="0" y="0"/>
                </a:moveTo>
                <a:lnTo>
                  <a:pt x="8763000" y="0"/>
                </a:lnTo>
              </a:path>
            </a:pathLst>
          </a:custGeom>
          <a:ln w="7620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152400" y="707136"/>
            <a:ext cx="8763000" cy="702945"/>
            <a:chOff x="152400" y="707136"/>
            <a:chExt cx="8763000" cy="702945"/>
          </a:xfrm>
        </p:grpSpPr>
        <p:sp>
          <p:nvSpPr>
            <p:cNvPr id="4" name="object 4"/>
            <p:cNvSpPr/>
            <p:nvPr/>
          </p:nvSpPr>
          <p:spPr>
            <a:xfrm>
              <a:off x="152400" y="1371600"/>
              <a:ext cx="8763000" cy="0"/>
            </a:xfrm>
            <a:custGeom>
              <a:avLst/>
              <a:gdLst/>
              <a:ahLst/>
              <a:cxnLst/>
              <a:rect l="l" t="t" r="r" b="b"/>
              <a:pathLst>
                <a:path w="8763000">
                  <a:moveTo>
                    <a:pt x="0" y="0"/>
                  </a:moveTo>
                  <a:lnTo>
                    <a:pt x="8763000" y="0"/>
                  </a:lnTo>
                </a:path>
              </a:pathLst>
            </a:custGeom>
            <a:ln w="19050">
              <a:solidFill>
                <a:srgbClr val="CC99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9644" y="707136"/>
              <a:ext cx="5478780" cy="702563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83540" y="751078"/>
            <a:ext cx="508508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spc="-130" dirty="0">
                <a:solidFill>
                  <a:srgbClr val="000000"/>
                </a:solidFill>
                <a:latin typeface="Times New Roman"/>
                <a:cs typeface="Times New Roman"/>
              </a:rPr>
              <a:t>Frequency</a:t>
            </a:r>
            <a:r>
              <a:rPr sz="25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500" spc="-135" dirty="0">
                <a:solidFill>
                  <a:srgbClr val="000000"/>
                </a:solidFill>
                <a:latin typeface="Times New Roman"/>
                <a:cs typeface="Times New Roman"/>
              </a:rPr>
              <a:t>hopping</a:t>
            </a:r>
            <a:r>
              <a:rPr sz="25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500" spc="-120" dirty="0">
                <a:solidFill>
                  <a:srgbClr val="000000"/>
                </a:solidFill>
                <a:latin typeface="Times New Roman"/>
                <a:cs typeface="Times New Roman"/>
              </a:rPr>
              <a:t>spread</a:t>
            </a:r>
            <a:r>
              <a:rPr sz="2500" spc="-4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500" spc="-90" dirty="0">
                <a:solidFill>
                  <a:srgbClr val="000000"/>
                </a:solidFill>
                <a:latin typeface="Times New Roman"/>
                <a:cs typeface="Times New Roman"/>
              </a:rPr>
              <a:t>spectrum</a:t>
            </a:r>
            <a:r>
              <a:rPr sz="2500" spc="-3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500" spc="-200" dirty="0">
                <a:solidFill>
                  <a:srgbClr val="000000"/>
                </a:solidFill>
                <a:latin typeface="Times New Roman"/>
                <a:cs typeface="Times New Roman"/>
              </a:rPr>
              <a:t>(FHSS)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52400" y="6248400"/>
            <a:ext cx="8763000" cy="0"/>
          </a:xfrm>
          <a:custGeom>
            <a:avLst/>
            <a:gdLst/>
            <a:ahLst/>
            <a:cxnLst/>
            <a:rect l="l" t="t" r="r" b="b"/>
            <a:pathLst>
              <a:path w="8763000">
                <a:moveTo>
                  <a:pt x="0" y="0"/>
                </a:moveTo>
                <a:lnTo>
                  <a:pt x="8763000" y="0"/>
                </a:lnTo>
              </a:path>
            </a:pathLst>
          </a:custGeom>
          <a:ln w="7620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9600" y="1629956"/>
            <a:ext cx="7321550" cy="431464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" y="533400"/>
            <a:ext cx="8763000" cy="0"/>
          </a:xfrm>
          <a:custGeom>
            <a:avLst/>
            <a:gdLst/>
            <a:ahLst/>
            <a:cxnLst/>
            <a:rect l="l" t="t" r="r" b="b"/>
            <a:pathLst>
              <a:path w="8763000">
                <a:moveTo>
                  <a:pt x="0" y="0"/>
                </a:moveTo>
                <a:lnTo>
                  <a:pt x="8763000" y="0"/>
                </a:lnTo>
              </a:path>
            </a:pathLst>
          </a:custGeom>
          <a:ln w="7620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52400" y="1371600"/>
            <a:ext cx="8763000" cy="0"/>
          </a:xfrm>
          <a:custGeom>
            <a:avLst/>
            <a:gdLst/>
            <a:ahLst/>
            <a:cxnLst/>
            <a:rect l="l" t="t" r="r" b="b"/>
            <a:pathLst>
              <a:path w="8763000">
                <a:moveTo>
                  <a:pt x="0" y="0"/>
                </a:moveTo>
                <a:lnTo>
                  <a:pt x="8763000" y="0"/>
                </a:lnTo>
              </a:path>
            </a:pathLst>
          </a:custGeom>
          <a:ln w="1905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8932" y="887382"/>
            <a:ext cx="1411546" cy="26582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83540" y="787654"/>
            <a:ext cx="144462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solidFill>
                  <a:srgbClr val="000000"/>
                </a:solidFill>
              </a:rPr>
              <a:t>FHSS</a:t>
            </a:r>
            <a:r>
              <a:rPr sz="2200" spc="-65" dirty="0">
                <a:solidFill>
                  <a:srgbClr val="000000"/>
                </a:solidFill>
              </a:rPr>
              <a:t> </a:t>
            </a:r>
            <a:r>
              <a:rPr sz="2200" spc="-25" dirty="0">
                <a:solidFill>
                  <a:srgbClr val="000000"/>
                </a:solidFill>
              </a:rPr>
              <a:t>cycles</a:t>
            </a:r>
            <a:endParaRPr sz="2200"/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69987" y="1704312"/>
            <a:ext cx="6966735" cy="4343189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" y="533400"/>
            <a:ext cx="8763000" cy="0"/>
          </a:xfrm>
          <a:custGeom>
            <a:avLst/>
            <a:gdLst/>
            <a:ahLst/>
            <a:cxnLst/>
            <a:rect l="l" t="t" r="r" b="b"/>
            <a:pathLst>
              <a:path w="8763000">
                <a:moveTo>
                  <a:pt x="0" y="0"/>
                </a:moveTo>
                <a:lnTo>
                  <a:pt x="8763000" y="0"/>
                </a:lnTo>
              </a:path>
            </a:pathLst>
          </a:custGeom>
          <a:ln w="7620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52400" y="1371600"/>
            <a:ext cx="8763000" cy="0"/>
          </a:xfrm>
          <a:custGeom>
            <a:avLst/>
            <a:gdLst/>
            <a:ahLst/>
            <a:cxnLst/>
            <a:rect l="l" t="t" r="r" b="b"/>
            <a:pathLst>
              <a:path w="8763000">
                <a:moveTo>
                  <a:pt x="0" y="0"/>
                </a:moveTo>
                <a:lnTo>
                  <a:pt x="8763000" y="0"/>
                </a:lnTo>
              </a:path>
            </a:pathLst>
          </a:custGeom>
          <a:ln w="1905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9144" y="887382"/>
            <a:ext cx="6374806" cy="27040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83540" y="787654"/>
            <a:ext cx="640651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25" dirty="0">
                <a:solidFill>
                  <a:srgbClr val="000000"/>
                </a:solidFill>
              </a:rPr>
              <a:t>Bandwidth</a:t>
            </a:r>
            <a:r>
              <a:rPr sz="2200" spc="-5" dirty="0">
                <a:solidFill>
                  <a:srgbClr val="000000"/>
                </a:solidFill>
              </a:rPr>
              <a:t> </a:t>
            </a:r>
            <a:r>
              <a:rPr sz="2200" spc="-20" dirty="0">
                <a:solidFill>
                  <a:srgbClr val="000000"/>
                </a:solidFill>
              </a:rPr>
              <a:t>sharing</a:t>
            </a:r>
            <a:r>
              <a:rPr sz="2200" spc="-15" dirty="0">
                <a:solidFill>
                  <a:srgbClr val="000000"/>
                </a:solidFill>
              </a:rPr>
              <a:t> </a:t>
            </a:r>
            <a:r>
              <a:rPr sz="2200" spc="-20" dirty="0">
                <a:solidFill>
                  <a:srgbClr val="000000"/>
                </a:solidFill>
              </a:rPr>
              <a:t>difference</a:t>
            </a:r>
            <a:r>
              <a:rPr sz="2200" spc="45" dirty="0">
                <a:solidFill>
                  <a:srgbClr val="000000"/>
                </a:solidFill>
              </a:rPr>
              <a:t> </a:t>
            </a:r>
            <a:r>
              <a:rPr sz="2200" spc="-30" dirty="0">
                <a:solidFill>
                  <a:srgbClr val="000000"/>
                </a:solidFill>
              </a:rPr>
              <a:t>between</a:t>
            </a:r>
            <a:r>
              <a:rPr sz="2200" spc="35" dirty="0">
                <a:solidFill>
                  <a:srgbClr val="000000"/>
                </a:solidFill>
              </a:rPr>
              <a:t> </a:t>
            </a:r>
            <a:r>
              <a:rPr sz="2200" spc="-5" dirty="0">
                <a:solidFill>
                  <a:srgbClr val="000000"/>
                </a:solidFill>
              </a:rPr>
              <a:t>FDM</a:t>
            </a:r>
            <a:r>
              <a:rPr sz="2200" spc="5" dirty="0">
                <a:solidFill>
                  <a:srgbClr val="000000"/>
                </a:solidFill>
              </a:rPr>
              <a:t> </a:t>
            </a:r>
            <a:r>
              <a:rPr sz="2200" spc="-15" dirty="0">
                <a:solidFill>
                  <a:srgbClr val="000000"/>
                </a:solidFill>
              </a:rPr>
              <a:t>and</a:t>
            </a:r>
            <a:r>
              <a:rPr sz="2200" dirty="0">
                <a:solidFill>
                  <a:srgbClr val="000000"/>
                </a:solidFill>
              </a:rPr>
              <a:t> </a:t>
            </a:r>
            <a:r>
              <a:rPr sz="2200" spc="-5" dirty="0">
                <a:solidFill>
                  <a:srgbClr val="000000"/>
                </a:solidFill>
              </a:rPr>
              <a:t>FHSS</a:t>
            </a:r>
            <a:endParaRPr sz="2200"/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8600" y="2001901"/>
            <a:ext cx="8650245" cy="3800423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69391" y="100584"/>
            <a:ext cx="8408035" cy="1012190"/>
            <a:chOff x="469391" y="100584"/>
            <a:chExt cx="8408035" cy="101219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9391" y="370738"/>
              <a:ext cx="4654296" cy="43499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43856" y="100584"/>
              <a:ext cx="3933444" cy="1011935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25297" y="221107"/>
            <a:ext cx="81451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200" dirty="0">
                <a:latin typeface="Arial"/>
                <a:cs typeface="Arial"/>
              </a:rPr>
              <a:t>Direct</a:t>
            </a:r>
            <a:r>
              <a:rPr b="1" spc="-130" dirty="0">
                <a:latin typeface="Arial"/>
                <a:cs typeface="Arial"/>
              </a:rPr>
              <a:t> </a:t>
            </a:r>
            <a:r>
              <a:rPr b="1" spc="-235" dirty="0">
                <a:latin typeface="Arial"/>
                <a:cs typeface="Arial"/>
              </a:rPr>
              <a:t>Sequence</a:t>
            </a:r>
            <a:r>
              <a:rPr b="1" spc="-130" dirty="0">
                <a:latin typeface="Arial"/>
                <a:cs typeface="Arial"/>
              </a:rPr>
              <a:t> </a:t>
            </a:r>
            <a:r>
              <a:rPr b="1" spc="-225" dirty="0">
                <a:latin typeface="Arial"/>
                <a:cs typeface="Arial"/>
              </a:rPr>
              <a:t>Spread</a:t>
            </a:r>
            <a:r>
              <a:rPr b="1" spc="-110" dirty="0">
                <a:latin typeface="Arial"/>
                <a:cs typeface="Arial"/>
              </a:rPr>
              <a:t> </a:t>
            </a:r>
            <a:r>
              <a:rPr b="1" spc="-240" dirty="0">
                <a:latin typeface="Arial"/>
                <a:cs typeface="Arial"/>
              </a:rPr>
              <a:t>Spectrum</a:t>
            </a:r>
            <a:r>
              <a:rPr b="1" spc="-130" dirty="0">
                <a:latin typeface="Arial"/>
                <a:cs typeface="Arial"/>
              </a:rPr>
              <a:t> </a:t>
            </a:r>
            <a:r>
              <a:rPr b="1" spc="-270" dirty="0">
                <a:latin typeface="Arial"/>
                <a:cs typeface="Arial"/>
              </a:rPr>
              <a:t>(DSSS)</a:t>
            </a: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27100" y="3614928"/>
            <a:ext cx="202692" cy="19913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27100" y="3994403"/>
            <a:ext cx="202692" cy="199136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27100" y="4375403"/>
            <a:ext cx="202692" cy="199136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494487" y="1503680"/>
            <a:ext cx="7738109" cy="3144520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287020" marR="5080" indent="-274320">
              <a:lnSpc>
                <a:spcPts val="2810"/>
              </a:lnSpc>
              <a:spcBef>
                <a:spcPts val="455"/>
              </a:spcBef>
              <a:buClr>
                <a:srgbClr val="696363"/>
              </a:buClr>
              <a:buSzPct val="96153"/>
              <a:buFont typeface="Wingdings"/>
              <a:buChar char=""/>
              <a:tabLst>
                <a:tab pos="308610" algn="l"/>
              </a:tabLst>
            </a:pPr>
            <a:r>
              <a:rPr sz="2600" spc="-220" dirty="0">
                <a:latin typeface="Times New Roman"/>
                <a:cs typeface="Times New Roman"/>
              </a:rPr>
              <a:t>Ea</a:t>
            </a:r>
            <a:r>
              <a:rPr sz="2600" spc="-150" dirty="0">
                <a:latin typeface="Times New Roman"/>
                <a:cs typeface="Times New Roman"/>
              </a:rPr>
              <a:t>c</a:t>
            </a:r>
            <a:r>
              <a:rPr sz="2600" spc="-160" dirty="0">
                <a:latin typeface="Times New Roman"/>
                <a:cs typeface="Times New Roman"/>
              </a:rPr>
              <a:t>h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75" dirty="0">
                <a:latin typeface="Times New Roman"/>
                <a:cs typeface="Times New Roman"/>
              </a:rPr>
              <a:t>bit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in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50" dirty="0">
                <a:latin typeface="Times New Roman"/>
                <a:cs typeface="Times New Roman"/>
              </a:rPr>
              <a:t>o</a:t>
            </a:r>
            <a:r>
              <a:rPr sz="2600" spc="10" dirty="0">
                <a:latin typeface="Times New Roman"/>
                <a:cs typeface="Times New Roman"/>
              </a:rPr>
              <a:t>r</a:t>
            </a:r>
            <a:r>
              <a:rPr sz="2600" spc="-125" dirty="0">
                <a:latin typeface="Times New Roman"/>
                <a:cs typeface="Times New Roman"/>
              </a:rPr>
              <a:t>i</a:t>
            </a:r>
            <a:r>
              <a:rPr sz="2600" spc="-180" dirty="0">
                <a:latin typeface="Times New Roman"/>
                <a:cs typeface="Times New Roman"/>
              </a:rPr>
              <a:t>g</a:t>
            </a:r>
            <a:r>
              <a:rPr sz="2600" spc="-135" dirty="0">
                <a:latin typeface="Times New Roman"/>
                <a:cs typeface="Times New Roman"/>
              </a:rPr>
              <a:t>inal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170" dirty="0">
                <a:latin typeface="Times New Roman"/>
                <a:cs typeface="Times New Roman"/>
              </a:rPr>
              <a:t>sign</a:t>
            </a:r>
            <a:r>
              <a:rPr sz="2600" spc="-190" dirty="0">
                <a:latin typeface="Times New Roman"/>
                <a:cs typeface="Times New Roman"/>
              </a:rPr>
              <a:t>a</a:t>
            </a:r>
            <a:r>
              <a:rPr sz="2600" spc="-100" dirty="0">
                <a:latin typeface="Times New Roman"/>
                <a:cs typeface="Times New Roman"/>
              </a:rPr>
              <a:t>l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65" dirty="0">
                <a:latin typeface="Times New Roman"/>
                <a:cs typeface="Times New Roman"/>
              </a:rPr>
              <a:t>is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Times New Roman"/>
                <a:cs typeface="Times New Roman"/>
              </a:rPr>
              <a:t>r</a:t>
            </a:r>
            <a:r>
              <a:rPr sz="2600" spc="-65" dirty="0">
                <a:latin typeface="Times New Roman"/>
                <a:cs typeface="Times New Roman"/>
              </a:rPr>
              <a:t>ep</a:t>
            </a:r>
            <a:r>
              <a:rPr sz="2600" spc="-80" dirty="0">
                <a:latin typeface="Times New Roman"/>
                <a:cs typeface="Times New Roman"/>
              </a:rPr>
              <a:t>r</a:t>
            </a:r>
            <a:r>
              <a:rPr sz="2600" spc="-100" dirty="0">
                <a:latin typeface="Times New Roman"/>
                <a:cs typeface="Times New Roman"/>
              </a:rPr>
              <a:t>esen</a:t>
            </a:r>
            <a:r>
              <a:rPr sz="2600" spc="-75" dirty="0">
                <a:latin typeface="Times New Roman"/>
                <a:cs typeface="Times New Roman"/>
              </a:rPr>
              <a:t>t</a:t>
            </a:r>
            <a:r>
              <a:rPr sz="2600" spc="-105" dirty="0">
                <a:latin typeface="Times New Roman"/>
                <a:cs typeface="Times New Roman"/>
              </a:rPr>
              <a:t>ed</a:t>
            </a:r>
            <a:r>
              <a:rPr sz="2600" spc="-95" dirty="0">
                <a:latin typeface="Times New Roman"/>
                <a:cs typeface="Times New Roman"/>
              </a:rPr>
              <a:t> </a:t>
            </a:r>
            <a:r>
              <a:rPr sz="2600" spc="-185" dirty="0">
                <a:latin typeface="Times New Roman"/>
                <a:cs typeface="Times New Roman"/>
              </a:rPr>
              <a:t>b</a:t>
            </a:r>
            <a:r>
              <a:rPr sz="2600" spc="-215" dirty="0">
                <a:latin typeface="Times New Roman"/>
                <a:cs typeface="Times New Roman"/>
              </a:rPr>
              <a:t>y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80" dirty="0">
                <a:latin typeface="Times New Roman"/>
                <a:cs typeface="Times New Roman"/>
              </a:rPr>
              <a:t>m</a:t>
            </a:r>
            <a:r>
              <a:rPr sz="2600" spc="-65" dirty="0">
                <a:latin typeface="Times New Roman"/>
                <a:cs typeface="Times New Roman"/>
              </a:rPr>
              <a:t>ul</a:t>
            </a:r>
            <a:r>
              <a:rPr sz="2600" spc="-60" dirty="0">
                <a:latin typeface="Times New Roman"/>
                <a:cs typeface="Times New Roman"/>
              </a:rPr>
              <a:t>t</a:t>
            </a:r>
            <a:r>
              <a:rPr sz="2600" spc="-110" dirty="0">
                <a:latin typeface="Times New Roman"/>
                <a:cs typeface="Times New Roman"/>
              </a:rPr>
              <a:t>iple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05" dirty="0">
                <a:latin typeface="Times New Roman"/>
                <a:cs typeface="Times New Roman"/>
              </a:rPr>
              <a:t>bits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in</a:t>
            </a:r>
            <a:r>
              <a:rPr sz="2600" spc="-65" dirty="0">
                <a:latin typeface="Times New Roman"/>
                <a:cs typeface="Times New Roman"/>
              </a:rPr>
              <a:t> the  </a:t>
            </a:r>
            <a:r>
              <a:rPr sz="2600" spc="-80" dirty="0">
                <a:latin typeface="Times New Roman"/>
                <a:cs typeface="Times New Roman"/>
              </a:rPr>
              <a:t>transmitted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60" dirty="0">
                <a:latin typeface="Times New Roman"/>
                <a:cs typeface="Times New Roman"/>
              </a:rPr>
              <a:t>signal</a:t>
            </a:r>
            <a:endParaRPr sz="2600">
              <a:latin typeface="Times New Roman"/>
              <a:cs typeface="Times New Roman"/>
            </a:endParaRPr>
          </a:p>
          <a:p>
            <a:pPr marL="307975" indent="-295910">
              <a:lnSpc>
                <a:spcPct val="100000"/>
              </a:lnSpc>
              <a:spcBef>
                <a:spcPts val="245"/>
              </a:spcBef>
              <a:buClr>
                <a:srgbClr val="696363"/>
              </a:buClr>
              <a:buSzPct val="96153"/>
              <a:buFont typeface="Wingdings"/>
              <a:buChar char=""/>
              <a:tabLst>
                <a:tab pos="308610" algn="l"/>
              </a:tabLst>
            </a:pPr>
            <a:r>
              <a:rPr sz="2600" spc="-150" dirty="0">
                <a:latin typeface="Times New Roman"/>
                <a:cs typeface="Times New Roman"/>
              </a:rPr>
              <a:t>Spreading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code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35" dirty="0">
                <a:latin typeface="Times New Roman"/>
                <a:cs typeface="Times New Roman"/>
              </a:rPr>
              <a:t>spreads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60" dirty="0">
                <a:latin typeface="Times New Roman"/>
                <a:cs typeface="Times New Roman"/>
              </a:rPr>
              <a:t>signal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45" dirty="0">
                <a:latin typeface="Times New Roman"/>
                <a:cs typeface="Times New Roman"/>
              </a:rPr>
              <a:t>across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204" dirty="0">
                <a:latin typeface="Times New Roman"/>
                <a:cs typeface="Times New Roman"/>
              </a:rPr>
              <a:t>a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90" dirty="0">
                <a:latin typeface="Times New Roman"/>
                <a:cs typeface="Times New Roman"/>
              </a:rPr>
              <a:t>wider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Times New Roman"/>
                <a:cs typeface="Times New Roman"/>
              </a:rPr>
              <a:t>frequency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45" dirty="0">
                <a:latin typeface="Times New Roman"/>
                <a:cs typeface="Times New Roman"/>
              </a:rPr>
              <a:t>band</a:t>
            </a:r>
            <a:endParaRPr sz="2600">
              <a:latin typeface="Times New Roman"/>
              <a:cs typeface="Times New Roman"/>
            </a:endParaRPr>
          </a:p>
          <a:p>
            <a:pPr marL="287020" marR="787400" indent="-274320">
              <a:lnSpc>
                <a:spcPts val="2810"/>
              </a:lnSpc>
              <a:spcBef>
                <a:spcPts val="640"/>
              </a:spcBef>
              <a:buClr>
                <a:srgbClr val="696363"/>
              </a:buClr>
              <a:buSzPct val="96153"/>
              <a:buFont typeface="Wingdings"/>
              <a:buChar char=""/>
              <a:tabLst>
                <a:tab pos="308610" algn="l"/>
              </a:tabLst>
            </a:pPr>
            <a:r>
              <a:rPr sz="2600" spc="-310" dirty="0">
                <a:latin typeface="Times New Roman"/>
                <a:cs typeface="Times New Roman"/>
              </a:rPr>
              <a:t>DSSS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165" dirty="0">
                <a:latin typeface="Times New Roman"/>
                <a:cs typeface="Times New Roman"/>
              </a:rPr>
              <a:t>is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80" dirty="0">
                <a:latin typeface="Times New Roman"/>
                <a:cs typeface="Times New Roman"/>
              </a:rPr>
              <a:t>the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only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70" dirty="0">
                <a:latin typeface="Times New Roman"/>
                <a:cs typeface="Times New Roman"/>
              </a:rPr>
              <a:t>physical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layer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35" dirty="0">
                <a:latin typeface="Times New Roman"/>
                <a:cs typeface="Times New Roman"/>
              </a:rPr>
              <a:t>specified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95" dirty="0">
                <a:latin typeface="Times New Roman"/>
                <a:cs typeface="Times New Roman"/>
              </a:rPr>
              <a:t>for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75" dirty="0">
                <a:latin typeface="Times New Roman"/>
                <a:cs typeface="Times New Roman"/>
              </a:rPr>
              <a:t>the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85" dirty="0">
                <a:latin typeface="Times New Roman"/>
                <a:cs typeface="Times New Roman"/>
              </a:rPr>
              <a:t>802.11b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-135" dirty="0">
                <a:latin typeface="Times New Roman"/>
                <a:cs typeface="Times New Roman"/>
              </a:rPr>
              <a:t>specification</a:t>
            </a:r>
            <a:endParaRPr sz="2600">
              <a:latin typeface="Times New Roman"/>
              <a:cs typeface="Times New Roman"/>
            </a:endParaRPr>
          </a:p>
          <a:p>
            <a:pPr marL="560705" marR="1242060">
              <a:lnSpc>
                <a:spcPts val="2990"/>
              </a:lnSpc>
              <a:spcBef>
                <a:spcPts val="90"/>
              </a:spcBef>
            </a:pPr>
            <a:r>
              <a:rPr sz="2400" spc="-85" dirty="0">
                <a:latin typeface="Times New Roman"/>
                <a:cs typeface="Times New Roman"/>
              </a:rPr>
              <a:t>802.11a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spc="-135" dirty="0">
                <a:latin typeface="Times New Roman"/>
                <a:cs typeface="Times New Roman"/>
              </a:rPr>
              <a:t>and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75" dirty="0">
                <a:latin typeface="Times New Roman"/>
                <a:cs typeface="Times New Roman"/>
              </a:rPr>
              <a:t>802.11b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110" dirty="0">
                <a:latin typeface="Times New Roman"/>
                <a:cs typeface="Times New Roman"/>
              </a:rPr>
              <a:t>differ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10" dirty="0">
                <a:latin typeface="Times New Roman"/>
                <a:cs typeface="Times New Roman"/>
              </a:rPr>
              <a:t>in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25" dirty="0">
                <a:latin typeface="Times New Roman"/>
                <a:cs typeface="Times New Roman"/>
              </a:rPr>
              <a:t>use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140" dirty="0">
                <a:latin typeface="Times New Roman"/>
                <a:cs typeface="Times New Roman"/>
              </a:rPr>
              <a:t>of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25" dirty="0">
                <a:latin typeface="Times New Roman"/>
                <a:cs typeface="Times New Roman"/>
              </a:rPr>
              <a:t>chipping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method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8</a:t>
            </a:r>
            <a:r>
              <a:rPr sz="2400" spc="-100" dirty="0">
                <a:latin typeface="Times New Roman"/>
                <a:cs typeface="Times New Roman"/>
              </a:rPr>
              <a:t>0</a:t>
            </a:r>
            <a:r>
              <a:rPr sz="2400" spc="-50" dirty="0">
                <a:latin typeface="Times New Roman"/>
                <a:cs typeface="Times New Roman"/>
              </a:rPr>
              <a:t>2.1</a:t>
            </a:r>
            <a:r>
              <a:rPr sz="2400" spc="-55" dirty="0">
                <a:latin typeface="Times New Roman"/>
                <a:cs typeface="Times New Roman"/>
              </a:rPr>
              <a:t>1</a:t>
            </a:r>
            <a:r>
              <a:rPr sz="2400" spc="-190" dirty="0">
                <a:latin typeface="Times New Roman"/>
                <a:cs typeface="Times New Roman"/>
              </a:rPr>
              <a:t>a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spc="-160" dirty="0">
                <a:latin typeface="Times New Roman"/>
                <a:cs typeface="Times New Roman"/>
              </a:rPr>
              <a:t>u</a:t>
            </a:r>
            <a:r>
              <a:rPr sz="2400" spc="-120" dirty="0">
                <a:latin typeface="Times New Roman"/>
                <a:cs typeface="Times New Roman"/>
              </a:rPr>
              <a:t>s</a:t>
            </a:r>
            <a:r>
              <a:rPr sz="2400" spc="-140" dirty="0">
                <a:latin typeface="Times New Roman"/>
                <a:cs typeface="Times New Roman"/>
              </a:rPr>
              <a:t>es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1</a:t>
            </a:r>
            <a:r>
              <a:rPr sz="2400" spc="-90" dirty="0">
                <a:latin typeface="Times New Roman"/>
                <a:cs typeface="Times New Roman"/>
              </a:rPr>
              <a:t>1</a:t>
            </a:r>
            <a:r>
              <a:rPr sz="2400" spc="-50" dirty="0">
                <a:latin typeface="Times New Roman"/>
                <a:cs typeface="Times New Roman"/>
              </a:rPr>
              <a:t>-</a:t>
            </a:r>
            <a:r>
              <a:rPr sz="2400" spc="-70" dirty="0">
                <a:latin typeface="Times New Roman"/>
                <a:cs typeface="Times New Roman"/>
              </a:rPr>
              <a:t>bit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spc="-110" dirty="0">
                <a:latin typeface="Times New Roman"/>
                <a:cs typeface="Times New Roman"/>
              </a:rPr>
              <a:t>ba</a:t>
            </a:r>
            <a:r>
              <a:rPr sz="2400" spc="-70" dirty="0">
                <a:latin typeface="Times New Roman"/>
                <a:cs typeface="Times New Roman"/>
              </a:rPr>
              <a:t>r</a:t>
            </a:r>
            <a:r>
              <a:rPr sz="2400" spc="-185" dirty="0">
                <a:latin typeface="Times New Roman"/>
                <a:cs typeface="Times New Roman"/>
              </a:rPr>
              <a:t>k</a:t>
            </a:r>
            <a:r>
              <a:rPr sz="2400" spc="-35" dirty="0">
                <a:latin typeface="Times New Roman"/>
                <a:cs typeface="Times New Roman"/>
              </a:rPr>
              <a:t>er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c</a:t>
            </a:r>
            <a:r>
              <a:rPr sz="2400" spc="-135" dirty="0">
                <a:latin typeface="Times New Roman"/>
                <a:cs typeface="Times New Roman"/>
              </a:rPr>
              <a:t>hi</a:t>
            </a:r>
            <a:r>
              <a:rPr sz="2400" spc="-105" dirty="0">
                <a:latin typeface="Times New Roman"/>
                <a:cs typeface="Times New Roman"/>
              </a:rPr>
              <a:t>p</a:t>
            </a:r>
            <a:endParaRPr sz="2400">
              <a:latin typeface="Times New Roman"/>
              <a:cs typeface="Times New Roman"/>
            </a:endParaRPr>
          </a:p>
          <a:p>
            <a:pPr marL="560705">
              <a:lnSpc>
                <a:spcPct val="100000"/>
              </a:lnSpc>
              <a:spcBef>
                <a:spcPts val="5"/>
              </a:spcBef>
            </a:pPr>
            <a:r>
              <a:rPr sz="2400" spc="-100" dirty="0">
                <a:latin typeface="Times New Roman"/>
                <a:cs typeface="Times New Roman"/>
              </a:rPr>
              <a:t>80</a:t>
            </a:r>
            <a:r>
              <a:rPr sz="2400" spc="-50" dirty="0">
                <a:latin typeface="Times New Roman"/>
                <a:cs typeface="Times New Roman"/>
              </a:rPr>
              <a:t>2.11</a:t>
            </a:r>
            <a:r>
              <a:rPr sz="2400" spc="-125" dirty="0">
                <a:latin typeface="Times New Roman"/>
                <a:cs typeface="Times New Roman"/>
              </a:rPr>
              <a:t>b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145" dirty="0">
                <a:latin typeface="Times New Roman"/>
                <a:cs typeface="Times New Roman"/>
              </a:rPr>
              <a:t>us</a:t>
            </a:r>
            <a:r>
              <a:rPr sz="2400" spc="-140" dirty="0">
                <a:latin typeface="Times New Roman"/>
                <a:cs typeface="Times New Roman"/>
              </a:rPr>
              <a:t>es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8</a:t>
            </a:r>
            <a:r>
              <a:rPr sz="2400" spc="-50" dirty="0">
                <a:latin typeface="Times New Roman"/>
                <a:cs typeface="Times New Roman"/>
              </a:rPr>
              <a:t>-</a:t>
            </a:r>
            <a:r>
              <a:rPr sz="2400" spc="-70" dirty="0">
                <a:latin typeface="Times New Roman"/>
                <a:cs typeface="Times New Roman"/>
              </a:rPr>
              <a:t>bit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spc="-125" dirty="0">
                <a:latin typeface="Times New Roman"/>
                <a:cs typeface="Times New Roman"/>
              </a:rPr>
              <a:t>compl</a:t>
            </a:r>
            <a:r>
              <a:rPr sz="2400" spc="-65" dirty="0">
                <a:latin typeface="Times New Roman"/>
                <a:cs typeface="Times New Roman"/>
              </a:rPr>
              <a:t>i</a:t>
            </a:r>
            <a:r>
              <a:rPr sz="2400" spc="-85" dirty="0">
                <a:latin typeface="Times New Roman"/>
                <a:cs typeface="Times New Roman"/>
              </a:rPr>
              <a:t>menta</a:t>
            </a:r>
            <a:r>
              <a:rPr sz="2400" spc="-40" dirty="0">
                <a:latin typeface="Times New Roman"/>
                <a:cs typeface="Times New Roman"/>
              </a:rPr>
              <a:t>r</a:t>
            </a:r>
            <a:r>
              <a:rPr sz="2400" spc="-200" dirty="0">
                <a:latin typeface="Times New Roman"/>
                <a:cs typeface="Times New Roman"/>
              </a:rPr>
              <a:t>y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110" dirty="0">
                <a:latin typeface="Times New Roman"/>
                <a:cs typeface="Times New Roman"/>
              </a:rPr>
              <a:t>code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80" dirty="0">
                <a:latin typeface="Times New Roman"/>
                <a:cs typeface="Times New Roman"/>
              </a:rPr>
              <a:t>k</a:t>
            </a:r>
            <a:r>
              <a:rPr sz="2400" spc="-135" dirty="0">
                <a:latin typeface="Times New Roman"/>
                <a:cs typeface="Times New Roman"/>
              </a:rPr>
              <a:t>e</a:t>
            </a:r>
            <a:r>
              <a:rPr sz="2400" spc="-155" dirty="0">
                <a:latin typeface="Times New Roman"/>
                <a:cs typeface="Times New Roman"/>
              </a:rPr>
              <a:t>ying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120" dirty="0">
                <a:latin typeface="Times New Roman"/>
                <a:cs typeface="Times New Roman"/>
              </a:rPr>
              <a:t>(CCK)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50" dirty="0">
                <a:latin typeface="Times New Roman"/>
                <a:cs typeface="Times New Roman"/>
              </a:rPr>
              <a:t>al</a:t>
            </a:r>
            <a:r>
              <a:rPr sz="2400" spc="-204" dirty="0">
                <a:latin typeface="Times New Roman"/>
                <a:cs typeface="Times New Roman"/>
              </a:rPr>
              <a:t>g</a:t>
            </a:r>
            <a:r>
              <a:rPr sz="2400" spc="-45" dirty="0">
                <a:latin typeface="Times New Roman"/>
                <a:cs typeface="Times New Roman"/>
              </a:rPr>
              <a:t>o</a:t>
            </a:r>
            <a:r>
              <a:rPr sz="2400" spc="20" dirty="0">
                <a:latin typeface="Times New Roman"/>
                <a:cs typeface="Times New Roman"/>
              </a:rPr>
              <a:t>r</a:t>
            </a:r>
            <a:r>
              <a:rPr sz="2400" spc="-95" dirty="0">
                <a:latin typeface="Times New Roman"/>
                <a:cs typeface="Times New Roman"/>
              </a:rPr>
              <a:t>ithm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" y="533400"/>
            <a:ext cx="8763000" cy="0"/>
          </a:xfrm>
          <a:custGeom>
            <a:avLst/>
            <a:gdLst/>
            <a:ahLst/>
            <a:cxnLst/>
            <a:rect l="l" t="t" r="r" b="b"/>
            <a:pathLst>
              <a:path w="8763000">
                <a:moveTo>
                  <a:pt x="0" y="0"/>
                </a:moveTo>
                <a:lnTo>
                  <a:pt x="8763000" y="0"/>
                </a:lnTo>
              </a:path>
            </a:pathLst>
          </a:custGeom>
          <a:ln w="7620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52400" y="1371600"/>
            <a:ext cx="8763000" cy="0"/>
          </a:xfrm>
          <a:custGeom>
            <a:avLst/>
            <a:gdLst/>
            <a:ahLst/>
            <a:cxnLst/>
            <a:rect l="l" t="t" r="r" b="b"/>
            <a:pathLst>
              <a:path w="8763000">
                <a:moveTo>
                  <a:pt x="0" y="0"/>
                </a:moveTo>
                <a:lnTo>
                  <a:pt x="8763000" y="0"/>
                </a:lnTo>
              </a:path>
            </a:pathLst>
          </a:custGeom>
          <a:ln w="1905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3912" y="876669"/>
            <a:ext cx="4902600" cy="288741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83540" y="764793"/>
            <a:ext cx="492379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5" dirty="0">
                <a:solidFill>
                  <a:srgbClr val="000000"/>
                </a:solidFill>
                <a:latin typeface="Times New Roman"/>
                <a:cs typeface="Times New Roman"/>
              </a:rPr>
              <a:t>Direct</a:t>
            </a:r>
            <a:r>
              <a:rPr sz="2200" b="1" spc="-4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200" b="1" spc="5" dirty="0">
                <a:solidFill>
                  <a:srgbClr val="000000"/>
                </a:solidFill>
                <a:latin typeface="Times New Roman"/>
                <a:cs typeface="Times New Roman"/>
              </a:rPr>
              <a:t>Sequence</a:t>
            </a:r>
            <a:r>
              <a:rPr sz="2200" b="1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200" b="1" spc="-50" dirty="0">
                <a:solidFill>
                  <a:srgbClr val="000000"/>
                </a:solidFill>
                <a:latin typeface="Times New Roman"/>
                <a:cs typeface="Times New Roman"/>
              </a:rPr>
              <a:t>Spread</a:t>
            </a:r>
            <a:r>
              <a:rPr sz="2200" b="1" spc="-3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200" b="1" spc="-20" dirty="0">
                <a:solidFill>
                  <a:srgbClr val="000000"/>
                </a:solidFill>
                <a:latin typeface="Times New Roman"/>
                <a:cs typeface="Times New Roman"/>
              </a:rPr>
              <a:t>Spectrum</a:t>
            </a:r>
            <a:r>
              <a:rPr sz="2200" b="1" spc="-3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200" b="1" spc="-90" dirty="0">
                <a:solidFill>
                  <a:srgbClr val="000000"/>
                </a:solidFill>
                <a:latin typeface="Times New Roman"/>
                <a:cs typeface="Times New Roman"/>
              </a:rPr>
              <a:t>(DSSS)</a:t>
            </a:r>
            <a:endParaRPr sz="22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0642" y="2490851"/>
            <a:ext cx="8100530" cy="2766949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" y="533400"/>
            <a:ext cx="8763000" cy="0"/>
          </a:xfrm>
          <a:custGeom>
            <a:avLst/>
            <a:gdLst/>
            <a:ahLst/>
            <a:cxnLst/>
            <a:rect l="l" t="t" r="r" b="b"/>
            <a:pathLst>
              <a:path w="8763000">
                <a:moveTo>
                  <a:pt x="0" y="0"/>
                </a:moveTo>
                <a:lnTo>
                  <a:pt x="8763000" y="0"/>
                </a:lnTo>
              </a:path>
            </a:pathLst>
          </a:custGeom>
          <a:ln w="7620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52400" y="1371600"/>
            <a:ext cx="8763000" cy="0"/>
          </a:xfrm>
          <a:custGeom>
            <a:avLst/>
            <a:gdLst/>
            <a:ahLst/>
            <a:cxnLst/>
            <a:rect l="l" t="t" r="r" b="b"/>
            <a:pathLst>
              <a:path w="8763000">
                <a:moveTo>
                  <a:pt x="0" y="0"/>
                </a:moveTo>
                <a:lnTo>
                  <a:pt x="8763000" y="0"/>
                </a:lnTo>
              </a:path>
            </a:pathLst>
          </a:custGeom>
          <a:ln w="1905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3997" y="867525"/>
            <a:ext cx="1670032" cy="288741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83540" y="755649"/>
            <a:ext cx="168465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135" dirty="0">
                <a:solidFill>
                  <a:srgbClr val="000000"/>
                </a:solidFill>
                <a:latin typeface="Times New Roman"/>
                <a:cs typeface="Times New Roman"/>
              </a:rPr>
              <a:t>D</a:t>
            </a:r>
            <a:r>
              <a:rPr sz="2200" b="1" spc="-100" dirty="0">
                <a:solidFill>
                  <a:srgbClr val="000000"/>
                </a:solidFill>
                <a:latin typeface="Times New Roman"/>
                <a:cs typeface="Times New Roman"/>
              </a:rPr>
              <a:t>S</a:t>
            </a:r>
            <a:r>
              <a:rPr sz="2200" b="1" spc="-220" dirty="0">
                <a:solidFill>
                  <a:srgbClr val="000000"/>
                </a:solidFill>
                <a:latin typeface="Times New Roman"/>
                <a:cs typeface="Times New Roman"/>
              </a:rPr>
              <a:t>SS</a:t>
            </a:r>
            <a:r>
              <a:rPr sz="2200" b="1" spc="-3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200" b="1" spc="-10" dirty="0">
                <a:solidFill>
                  <a:srgbClr val="000000"/>
                </a:solidFill>
                <a:latin typeface="Times New Roman"/>
                <a:cs typeface="Times New Roman"/>
              </a:rPr>
              <a:t>exa</a:t>
            </a:r>
            <a:r>
              <a:rPr sz="2200" b="1" spc="-5" dirty="0">
                <a:solidFill>
                  <a:srgbClr val="000000"/>
                </a:solidFill>
                <a:latin typeface="Times New Roman"/>
                <a:cs typeface="Times New Roman"/>
              </a:rPr>
              <a:t>m</a:t>
            </a:r>
            <a:r>
              <a:rPr sz="2200" b="1" spc="35" dirty="0">
                <a:solidFill>
                  <a:srgbClr val="000000"/>
                </a:solidFill>
                <a:latin typeface="Times New Roman"/>
                <a:cs typeface="Times New Roman"/>
              </a:rPr>
              <a:t>ple</a:t>
            </a:r>
            <a:endParaRPr sz="22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1735" y="2057400"/>
            <a:ext cx="8870115" cy="3497240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82136" y="552653"/>
            <a:ext cx="283781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FHSS</a:t>
            </a:r>
            <a:r>
              <a:rPr spc="-50" dirty="0"/>
              <a:t> </a:t>
            </a:r>
            <a:r>
              <a:rPr spc="10" dirty="0">
                <a:solidFill>
                  <a:srgbClr val="FF0000"/>
                </a:solidFill>
              </a:rPr>
              <a:t>Vs</a:t>
            </a:r>
            <a:r>
              <a:rPr spc="-10" dirty="0">
                <a:solidFill>
                  <a:srgbClr val="FF0000"/>
                </a:solidFill>
              </a:rPr>
              <a:t> </a:t>
            </a:r>
            <a:r>
              <a:rPr spc="-15" dirty="0"/>
              <a:t>DSSS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31596" y="1406397"/>
            <a:ext cx="7665720" cy="434467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86385" marR="554990" indent="-274320">
              <a:lnSpc>
                <a:spcPts val="2590"/>
              </a:lnSpc>
              <a:spcBef>
                <a:spcPts val="425"/>
              </a:spcBef>
              <a:buClr>
                <a:srgbClr val="D24717"/>
              </a:buClr>
              <a:buSzPct val="85416"/>
              <a:buFont typeface="Segoe UI Symbol"/>
              <a:buChar char="⚫"/>
              <a:tabLst>
                <a:tab pos="286385" algn="l"/>
                <a:tab pos="287020" algn="l"/>
              </a:tabLst>
            </a:pPr>
            <a:r>
              <a:rPr sz="2400" spc="-185" dirty="0">
                <a:latin typeface="Times New Roman"/>
                <a:cs typeface="Times New Roman"/>
              </a:rPr>
              <a:t>FH</a:t>
            </a:r>
            <a:r>
              <a:rPr sz="2400" spc="-180" dirty="0">
                <a:latin typeface="Times New Roman"/>
                <a:cs typeface="Times New Roman"/>
              </a:rPr>
              <a:t> </a:t>
            </a:r>
            <a:r>
              <a:rPr sz="2400" spc="-140" dirty="0">
                <a:latin typeface="Times New Roman"/>
                <a:cs typeface="Times New Roman"/>
              </a:rPr>
              <a:t>systems </a:t>
            </a:r>
            <a:r>
              <a:rPr sz="2400" spc="-125" dirty="0">
                <a:latin typeface="Times New Roman"/>
                <a:cs typeface="Times New Roman"/>
              </a:rPr>
              <a:t>use </a:t>
            </a:r>
            <a:r>
              <a:rPr sz="2400" spc="-190" dirty="0">
                <a:latin typeface="Times New Roman"/>
                <a:cs typeface="Times New Roman"/>
              </a:rPr>
              <a:t>a</a:t>
            </a:r>
            <a:r>
              <a:rPr sz="2400" spc="-185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radio </a:t>
            </a:r>
            <a:r>
              <a:rPr sz="2400" spc="-55" dirty="0">
                <a:latin typeface="Times New Roman"/>
                <a:cs typeface="Times New Roman"/>
              </a:rPr>
              <a:t>carrier </a:t>
            </a:r>
            <a:r>
              <a:rPr sz="2400" spc="-75" dirty="0">
                <a:latin typeface="Times New Roman"/>
                <a:cs typeface="Times New Roman"/>
              </a:rPr>
              <a:t>that </a:t>
            </a:r>
            <a:r>
              <a:rPr sz="2400" spc="-195" dirty="0">
                <a:latin typeface="Times New Roman"/>
                <a:cs typeface="Times New Roman"/>
              </a:rPr>
              <a:t>“hops” </a:t>
            </a:r>
            <a:r>
              <a:rPr sz="2400" spc="-105" dirty="0">
                <a:latin typeface="Times New Roman"/>
                <a:cs typeface="Times New Roman"/>
              </a:rPr>
              <a:t>from </a:t>
            </a:r>
            <a:r>
              <a:rPr sz="2400" spc="-110" dirty="0">
                <a:latin typeface="Times New Roman"/>
                <a:cs typeface="Times New Roman"/>
              </a:rPr>
              <a:t>frequency </a:t>
            </a:r>
            <a:r>
              <a:rPr sz="2400" spc="-35" dirty="0">
                <a:latin typeface="Times New Roman"/>
                <a:cs typeface="Times New Roman"/>
              </a:rPr>
              <a:t>to 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75" dirty="0">
                <a:latin typeface="Times New Roman"/>
                <a:cs typeface="Times New Roman"/>
              </a:rPr>
              <a:t>f</a:t>
            </a:r>
            <a:r>
              <a:rPr sz="2400" spc="-100" dirty="0">
                <a:latin typeface="Times New Roman"/>
                <a:cs typeface="Times New Roman"/>
              </a:rPr>
              <a:t>r</a:t>
            </a:r>
            <a:r>
              <a:rPr sz="2400" spc="-105" dirty="0">
                <a:latin typeface="Times New Roman"/>
                <a:cs typeface="Times New Roman"/>
              </a:rPr>
              <a:t>equ</a:t>
            </a:r>
            <a:r>
              <a:rPr sz="2400" spc="-114" dirty="0">
                <a:latin typeface="Times New Roman"/>
                <a:cs typeface="Times New Roman"/>
              </a:rPr>
              <a:t>en</a:t>
            </a:r>
            <a:r>
              <a:rPr sz="2400" spc="-75" dirty="0">
                <a:latin typeface="Times New Roman"/>
                <a:cs typeface="Times New Roman"/>
              </a:rPr>
              <a:t>c</a:t>
            </a:r>
            <a:r>
              <a:rPr sz="2400" spc="-200" dirty="0">
                <a:latin typeface="Times New Roman"/>
                <a:cs typeface="Times New Roman"/>
              </a:rPr>
              <a:t>y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10" dirty="0">
                <a:latin typeface="Times New Roman"/>
                <a:cs typeface="Times New Roman"/>
              </a:rPr>
              <a:t>in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90" dirty="0">
                <a:latin typeface="Times New Roman"/>
                <a:cs typeface="Times New Roman"/>
              </a:rPr>
              <a:t>a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55" dirty="0">
                <a:latin typeface="Times New Roman"/>
                <a:cs typeface="Times New Roman"/>
              </a:rPr>
              <a:t>p</a:t>
            </a:r>
            <a:r>
              <a:rPr sz="2400" spc="-160" dirty="0">
                <a:latin typeface="Times New Roman"/>
                <a:cs typeface="Times New Roman"/>
              </a:rPr>
              <a:t>a</a:t>
            </a:r>
            <a:r>
              <a:rPr sz="2400" spc="30" dirty="0">
                <a:latin typeface="Times New Roman"/>
                <a:cs typeface="Times New Roman"/>
              </a:rPr>
              <a:t>t</a:t>
            </a:r>
            <a:r>
              <a:rPr sz="2400" spc="20" dirty="0">
                <a:latin typeface="Times New Roman"/>
                <a:cs typeface="Times New Roman"/>
              </a:rPr>
              <a:t>t</a:t>
            </a:r>
            <a:r>
              <a:rPr sz="2400" spc="-40" dirty="0">
                <a:latin typeface="Times New Roman"/>
                <a:cs typeface="Times New Roman"/>
              </a:rPr>
              <a:t>e</a:t>
            </a:r>
            <a:r>
              <a:rPr sz="2400" spc="40" dirty="0">
                <a:latin typeface="Times New Roman"/>
                <a:cs typeface="Times New Roman"/>
              </a:rPr>
              <a:t>r</a:t>
            </a:r>
            <a:r>
              <a:rPr sz="2400" spc="-105" dirty="0">
                <a:latin typeface="Times New Roman"/>
                <a:cs typeface="Times New Roman"/>
              </a:rPr>
              <a:t>n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20" dirty="0">
                <a:latin typeface="Times New Roman"/>
                <a:cs typeface="Times New Roman"/>
              </a:rPr>
              <a:t>kn</a:t>
            </a:r>
            <a:r>
              <a:rPr sz="2400" spc="-185" dirty="0">
                <a:latin typeface="Times New Roman"/>
                <a:cs typeface="Times New Roman"/>
              </a:rPr>
              <a:t>o</a:t>
            </a:r>
            <a:r>
              <a:rPr sz="2400" spc="-120" dirty="0">
                <a:latin typeface="Times New Roman"/>
                <a:cs typeface="Times New Roman"/>
              </a:rPr>
              <a:t>wn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35" dirty="0">
                <a:latin typeface="Times New Roman"/>
                <a:cs typeface="Times New Roman"/>
              </a:rPr>
              <a:t>to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14" dirty="0">
                <a:latin typeface="Times New Roman"/>
                <a:cs typeface="Times New Roman"/>
              </a:rPr>
              <a:t>b</a:t>
            </a:r>
            <a:r>
              <a:rPr sz="2400" spc="-110" dirty="0">
                <a:latin typeface="Times New Roman"/>
                <a:cs typeface="Times New Roman"/>
              </a:rPr>
              <a:t>o</a:t>
            </a:r>
            <a:r>
              <a:rPr sz="2400" spc="-60" dirty="0">
                <a:latin typeface="Times New Roman"/>
                <a:cs typeface="Times New Roman"/>
              </a:rPr>
              <a:t>th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85" dirty="0">
                <a:latin typeface="Times New Roman"/>
                <a:cs typeface="Times New Roman"/>
              </a:rPr>
              <a:t>trans</a:t>
            </a:r>
            <a:r>
              <a:rPr sz="2400" spc="-65" dirty="0">
                <a:latin typeface="Times New Roman"/>
                <a:cs typeface="Times New Roman"/>
              </a:rPr>
              <a:t>mitt</a:t>
            </a:r>
            <a:r>
              <a:rPr sz="2400" spc="-75" dirty="0">
                <a:latin typeface="Times New Roman"/>
                <a:cs typeface="Times New Roman"/>
              </a:rPr>
              <a:t>e</a:t>
            </a:r>
            <a:r>
              <a:rPr sz="2400" spc="25" dirty="0">
                <a:latin typeface="Times New Roman"/>
                <a:cs typeface="Times New Roman"/>
              </a:rPr>
              <a:t>r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135" dirty="0">
                <a:latin typeface="Times New Roman"/>
                <a:cs typeface="Times New Roman"/>
              </a:rPr>
              <a:t>an</a:t>
            </a:r>
            <a:r>
              <a:rPr sz="2400" spc="-140" dirty="0">
                <a:latin typeface="Times New Roman"/>
                <a:cs typeface="Times New Roman"/>
              </a:rPr>
              <a:t>d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</a:t>
            </a:r>
            <a:r>
              <a:rPr sz="2400" spc="-125" dirty="0">
                <a:latin typeface="Times New Roman"/>
                <a:cs typeface="Times New Roman"/>
              </a:rPr>
              <a:t>ecei</a:t>
            </a:r>
            <a:r>
              <a:rPr sz="2400" spc="-210" dirty="0">
                <a:latin typeface="Times New Roman"/>
                <a:cs typeface="Times New Roman"/>
              </a:rPr>
              <a:t>v</a:t>
            </a:r>
            <a:r>
              <a:rPr sz="2400" spc="-35" dirty="0">
                <a:latin typeface="Times New Roman"/>
                <a:cs typeface="Times New Roman"/>
              </a:rPr>
              <a:t>er</a:t>
            </a:r>
            <a:endParaRPr sz="2400">
              <a:latin typeface="Times New Roman"/>
              <a:cs typeface="Times New Roman"/>
            </a:endParaRPr>
          </a:p>
          <a:p>
            <a:pPr marL="561340" lvl="1" indent="-228600">
              <a:lnSpc>
                <a:spcPct val="100000"/>
              </a:lnSpc>
              <a:spcBef>
                <a:spcPts val="160"/>
              </a:spcBef>
              <a:buClr>
                <a:srgbClr val="9B2C1F"/>
              </a:buClr>
              <a:buSzPct val="85000"/>
              <a:buFont typeface="Segoe UI Symbol"/>
              <a:buChar char="⚫"/>
              <a:tabLst>
                <a:tab pos="561340" algn="l"/>
              </a:tabLst>
            </a:pPr>
            <a:r>
              <a:rPr sz="2000" spc="-170" dirty="0">
                <a:latin typeface="Times New Roman"/>
                <a:cs typeface="Times New Roman"/>
              </a:rPr>
              <a:t>Easy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spc="-30" dirty="0">
                <a:latin typeface="Times New Roman"/>
                <a:cs typeface="Times New Roman"/>
              </a:rPr>
              <a:t>to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100" dirty="0">
                <a:latin typeface="Times New Roman"/>
                <a:cs typeface="Times New Roman"/>
              </a:rPr>
              <a:t>im</a:t>
            </a:r>
            <a:r>
              <a:rPr sz="2000" spc="-105" dirty="0">
                <a:latin typeface="Times New Roman"/>
                <a:cs typeface="Times New Roman"/>
              </a:rPr>
              <a:t>p</a:t>
            </a:r>
            <a:r>
              <a:rPr sz="2000" spc="-75" dirty="0">
                <a:latin typeface="Times New Roman"/>
                <a:cs typeface="Times New Roman"/>
              </a:rPr>
              <a:t>lement</a:t>
            </a:r>
            <a:endParaRPr sz="2000">
              <a:latin typeface="Times New Roman"/>
              <a:cs typeface="Times New Roman"/>
            </a:endParaRPr>
          </a:p>
          <a:p>
            <a:pPr marL="561340" lvl="1" indent="-228600">
              <a:lnSpc>
                <a:spcPct val="100000"/>
              </a:lnSpc>
              <a:spcBef>
                <a:spcPts val="170"/>
              </a:spcBef>
              <a:buClr>
                <a:srgbClr val="9B2C1F"/>
              </a:buClr>
              <a:buSzPct val="85000"/>
              <a:buFont typeface="Segoe UI Symbol"/>
              <a:buChar char="⚫"/>
              <a:tabLst>
                <a:tab pos="561340" algn="l"/>
              </a:tabLst>
            </a:pPr>
            <a:r>
              <a:rPr sz="2000" spc="-140" dirty="0">
                <a:latin typeface="Times New Roman"/>
                <a:cs typeface="Times New Roman"/>
              </a:rPr>
              <a:t>Res</a:t>
            </a:r>
            <a:r>
              <a:rPr sz="2000" spc="-85" dirty="0">
                <a:latin typeface="Times New Roman"/>
                <a:cs typeface="Times New Roman"/>
              </a:rPr>
              <a:t>i</a:t>
            </a:r>
            <a:r>
              <a:rPr sz="2000" spc="-95" dirty="0">
                <a:latin typeface="Times New Roman"/>
                <a:cs typeface="Times New Roman"/>
              </a:rPr>
              <a:t>stan</a:t>
            </a:r>
            <a:r>
              <a:rPr sz="2000" spc="-114" dirty="0">
                <a:latin typeface="Times New Roman"/>
                <a:cs typeface="Times New Roman"/>
              </a:rPr>
              <a:t>c</a:t>
            </a:r>
            <a:r>
              <a:rPr sz="2000" spc="-75" dirty="0">
                <a:latin typeface="Times New Roman"/>
                <a:cs typeface="Times New Roman"/>
              </a:rPr>
              <a:t>e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30" dirty="0">
                <a:latin typeface="Times New Roman"/>
                <a:cs typeface="Times New Roman"/>
              </a:rPr>
              <a:t>to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spc="-85" dirty="0">
                <a:latin typeface="Times New Roman"/>
                <a:cs typeface="Times New Roman"/>
              </a:rPr>
              <a:t>n</a:t>
            </a:r>
            <a:r>
              <a:rPr sz="2000" spc="-100" dirty="0">
                <a:latin typeface="Times New Roman"/>
                <a:cs typeface="Times New Roman"/>
              </a:rPr>
              <a:t>o</a:t>
            </a:r>
            <a:r>
              <a:rPr sz="2000" spc="-105" dirty="0">
                <a:latin typeface="Times New Roman"/>
                <a:cs typeface="Times New Roman"/>
              </a:rPr>
              <a:t>i</a:t>
            </a:r>
            <a:r>
              <a:rPr sz="2000" spc="-155" dirty="0">
                <a:latin typeface="Times New Roman"/>
                <a:cs typeface="Times New Roman"/>
              </a:rPr>
              <a:t>s</a:t>
            </a:r>
            <a:r>
              <a:rPr sz="2000" spc="-75" dirty="0">
                <a:latin typeface="Times New Roman"/>
                <a:cs typeface="Times New Roman"/>
              </a:rPr>
              <a:t>e</a:t>
            </a:r>
            <a:endParaRPr sz="2000">
              <a:latin typeface="Times New Roman"/>
              <a:cs typeface="Times New Roman"/>
            </a:endParaRPr>
          </a:p>
          <a:p>
            <a:pPr marL="561340" lvl="1" indent="-228600">
              <a:lnSpc>
                <a:spcPct val="100000"/>
              </a:lnSpc>
              <a:spcBef>
                <a:spcPts val="160"/>
              </a:spcBef>
              <a:buClr>
                <a:srgbClr val="9B2C1F"/>
              </a:buClr>
              <a:buSzPct val="85000"/>
              <a:buFont typeface="Segoe UI Symbol"/>
              <a:buChar char="⚫"/>
              <a:tabLst>
                <a:tab pos="561340" algn="l"/>
              </a:tabLst>
            </a:pPr>
            <a:r>
              <a:rPr sz="2000" spc="-95" dirty="0">
                <a:latin typeface="Times New Roman"/>
                <a:cs typeface="Times New Roman"/>
              </a:rPr>
              <a:t>Limited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th</a:t>
            </a:r>
            <a:r>
              <a:rPr sz="2000" spc="-55" dirty="0">
                <a:latin typeface="Times New Roman"/>
                <a:cs typeface="Times New Roman"/>
              </a:rPr>
              <a:t>r</a:t>
            </a:r>
            <a:r>
              <a:rPr sz="2000" spc="-85" dirty="0">
                <a:latin typeface="Times New Roman"/>
                <a:cs typeface="Times New Roman"/>
              </a:rPr>
              <a:t>o</a:t>
            </a:r>
            <a:r>
              <a:rPr sz="2000" spc="-100" dirty="0">
                <a:latin typeface="Times New Roman"/>
                <a:cs typeface="Times New Roman"/>
              </a:rPr>
              <a:t>u</a:t>
            </a:r>
            <a:r>
              <a:rPr sz="2000" spc="-114" dirty="0">
                <a:latin typeface="Times New Roman"/>
                <a:cs typeface="Times New Roman"/>
              </a:rPr>
              <a:t>ghp</a:t>
            </a:r>
            <a:r>
              <a:rPr sz="2000" spc="-125" dirty="0">
                <a:latin typeface="Times New Roman"/>
                <a:cs typeface="Times New Roman"/>
              </a:rPr>
              <a:t>u</a:t>
            </a:r>
            <a:r>
              <a:rPr sz="2000" spc="25" dirty="0">
                <a:latin typeface="Times New Roman"/>
                <a:cs typeface="Times New Roman"/>
              </a:rPr>
              <a:t>t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imes New Roman"/>
                <a:cs typeface="Times New Roman"/>
              </a:rPr>
              <a:t>(</a:t>
            </a:r>
            <a:r>
              <a:rPr sz="2000" spc="-80" dirty="0">
                <a:latin typeface="Times New Roman"/>
                <a:cs typeface="Times New Roman"/>
              </a:rPr>
              <a:t>2</a:t>
            </a:r>
            <a:r>
              <a:rPr sz="2000" spc="-45" dirty="0">
                <a:latin typeface="Times New Roman"/>
                <a:cs typeface="Times New Roman"/>
              </a:rPr>
              <a:t>-</a:t>
            </a:r>
            <a:r>
              <a:rPr sz="2000" spc="-85" dirty="0">
                <a:latin typeface="Times New Roman"/>
                <a:cs typeface="Times New Roman"/>
              </a:rPr>
              <a:t>3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145" dirty="0">
                <a:latin typeface="Times New Roman"/>
                <a:cs typeface="Times New Roman"/>
              </a:rPr>
              <a:t>Mbps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@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spc="-30" dirty="0">
                <a:latin typeface="Times New Roman"/>
                <a:cs typeface="Times New Roman"/>
              </a:rPr>
              <a:t>2.4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spc="-130" dirty="0">
                <a:latin typeface="Times New Roman"/>
                <a:cs typeface="Times New Roman"/>
              </a:rPr>
              <a:t>G</a:t>
            </a:r>
            <a:r>
              <a:rPr sz="2000" spc="-105" dirty="0">
                <a:latin typeface="Times New Roman"/>
                <a:cs typeface="Times New Roman"/>
              </a:rPr>
              <a:t>Hz)</a:t>
            </a:r>
            <a:endParaRPr sz="2000">
              <a:latin typeface="Times New Roman"/>
              <a:cs typeface="Times New Roman"/>
            </a:endParaRPr>
          </a:p>
          <a:p>
            <a:pPr marL="286385" marR="5080" indent="-274320">
              <a:lnSpc>
                <a:spcPct val="90000"/>
              </a:lnSpc>
              <a:spcBef>
                <a:spcPts val="560"/>
              </a:spcBef>
              <a:buClr>
                <a:srgbClr val="D24717"/>
              </a:buClr>
              <a:buSzPct val="85416"/>
              <a:buFont typeface="Segoe UI Symbol"/>
              <a:buChar char="⚫"/>
              <a:tabLst>
                <a:tab pos="286385" algn="l"/>
                <a:tab pos="287020" algn="l"/>
              </a:tabLst>
            </a:pPr>
            <a:r>
              <a:rPr sz="2400" spc="-235" dirty="0">
                <a:latin typeface="Times New Roman"/>
                <a:cs typeface="Times New Roman"/>
              </a:rPr>
              <a:t>DS</a:t>
            </a:r>
            <a:r>
              <a:rPr sz="2400" spc="-229" dirty="0">
                <a:latin typeface="Times New Roman"/>
                <a:cs typeface="Times New Roman"/>
              </a:rPr>
              <a:t> </a:t>
            </a:r>
            <a:r>
              <a:rPr sz="2400" spc="-140" dirty="0">
                <a:latin typeface="Times New Roman"/>
                <a:cs typeface="Times New Roman"/>
              </a:rPr>
              <a:t>systems </a:t>
            </a:r>
            <a:r>
              <a:rPr sz="2400" spc="-125" dirty="0">
                <a:latin typeface="Times New Roman"/>
                <a:cs typeface="Times New Roman"/>
              </a:rPr>
              <a:t>use </a:t>
            </a:r>
            <a:r>
              <a:rPr sz="2400" spc="-190" dirty="0">
                <a:latin typeface="Times New Roman"/>
                <a:cs typeface="Times New Roman"/>
              </a:rPr>
              <a:t>a </a:t>
            </a:r>
            <a:r>
              <a:rPr sz="2400" spc="-55" dirty="0">
                <a:latin typeface="Times New Roman"/>
                <a:cs typeface="Times New Roman"/>
              </a:rPr>
              <a:t>carrier </a:t>
            </a:r>
            <a:r>
              <a:rPr sz="2400" spc="-75" dirty="0">
                <a:latin typeface="Times New Roman"/>
                <a:cs typeface="Times New Roman"/>
              </a:rPr>
              <a:t>that </a:t>
            </a:r>
            <a:r>
              <a:rPr sz="2400" spc="-120" dirty="0">
                <a:latin typeface="Times New Roman"/>
                <a:cs typeface="Times New Roman"/>
              </a:rPr>
              <a:t>remains </a:t>
            </a:r>
            <a:r>
              <a:rPr sz="2400" spc="-130" dirty="0">
                <a:latin typeface="Times New Roman"/>
                <a:cs typeface="Times New Roman"/>
              </a:rPr>
              <a:t>fixed </a:t>
            </a:r>
            <a:r>
              <a:rPr sz="2400" spc="-35" dirty="0">
                <a:latin typeface="Times New Roman"/>
                <a:cs typeface="Times New Roman"/>
              </a:rPr>
              <a:t>to </a:t>
            </a:r>
            <a:r>
              <a:rPr sz="2400" spc="-190" dirty="0">
                <a:latin typeface="Times New Roman"/>
                <a:cs typeface="Times New Roman"/>
              </a:rPr>
              <a:t>a</a:t>
            </a:r>
            <a:r>
              <a:rPr sz="2400" spc="-185" dirty="0">
                <a:latin typeface="Times New Roman"/>
                <a:cs typeface="Times New Roman"/>
              </a:rPr>
              <a:t> </a:t>
            </a:r>
            <a:r>
              <a:rPr sz="2400" spc="-135" dirty="0">
                <a:latin typeface="Times New Roman"/>
                <a:cs typeface="Times New Roman"/>
              </a:rPr>
              <a:t>specific </a:t>
            </a:r>
            <a:r>
              <a:rPr sz="2400" spc="-110" dirty="0">
                <a:latin typeface="Times New Roman"/>
                <a:cs typeface="Times New Roman"/>
              </a:rPr>
              <a:t>frequency 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spc="-80" dirty="0">
                <a:latin typeface="Times New Roman"/>
                <a:cs typeface="Times New Roman"/>
              </a:rPr>
              <a:t>band.The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120" dirty="0">
                <a:latin typeface="Times New Roman"/>
                <a:cs typeface="Times New Roman"/>
              </a:rPr>
              <a:t>data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50" dirty="0">
                <a:latin typeface="Times New Roman"/>
                <a:cs typeface="Times New Roman"/>
              </a:rPr>
              <a:t>signal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50" dirty="0">
                <a:latin typeface="Times New Roman"/>
                <a:cs typeface="Times New Roman"/>
              </a:rPr>
              <a:t>is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10" dirty="0">
                <a:latin typeface="Times New Roman"/>
                <a:cs typeface="Times New Roman"/>
              </a:rPr>
              <a:t>spread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70" dirty="0">
                <a:latin typeface="Times New Roman"/>
                <a:cs typeface="Times New Roman"/>
              </a:rPr>
              <a:t>onto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190" dirty="0">
                <a:latin typeface="Times New Roman"/>
                <a:cs typeface="Times New Roman"/>
              </a:rPr>
              <a:t>a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30" dirty="0">
                <a:latin typeface="Times New Roman"/>
                <a:cs typeface="Times New Roman"/>
              </a:rPr>
              <a:t>much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Times New Roman"/>
                <a:cs typeface="Times New Roman"/>
              </a:rPr>
              <a:t>larger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14" dirty="0">
                <a:latin typeface="Times New Roman"/>
                <a:cs typeface="Times New Roman"/>
              </a:rPr>
              <a:t>range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140" dirty="0">
                <a:latin typeface="Times New Roman"/>
                <a:cs typeface="Times New Roman"/>
              </a:rPr>
              <a:t>of </a:t>
            </a:r>
            <a:r>
              <a:rPr sz="2400" spc="-135" dirty="0">
                <a:latin typeface="Times New Roman"/>
                <a:cs typeface="Times New Roman"/>
              </a:rPr>
              <a:t> </a:t>
            </a:r>
            <a:r>
              <a:rPr sz="2400" spc="-114" dirty="0">
                <a:latin typeface="Times New Roman"/>
                <a:cs typeface="Times New Roman"/>
              </a:rPr>
              <a:t>frequencies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75" dirty="0">
                <a:latin typeface="Times New Roman"/>
                <a:cs typeface="Times New Roman"/>
              </a:rPr>
              <a:t>(at </a:t>
            </a:r>
            <a:r>
              <a:rPr sz="2400" spc="-190" dirty="0">
                <a:latin typeface="Times New Roman"/>
                <a:cs typeface="Times New Roman"/>
              </a:rPr>
              <a:t>a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30" dirty="0">
                <a:latin typeface="Times New Roman"/>
                <a:cs typeface="Times New Roman"/>
              </a:rPr>
              <a:t>much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14" dirty="0">
                <a:latin typeface="Times New Roman"/>
                <a:cs typeface="Times New Roman"/>
              </a:rPr>
              <a:t>lower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14" dirty="0">
                <a:latin typeface="Times New Roman"/>
                <a:cs typeface="Times New Roman"/>
              </a:rPr>
              <a:t>power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20" dirty="0">
                <a:latin typeface="Times New Roman"/>
                <a:cs typeface="Times New Roman"/>
              </a:rPr>
              <a:t>level)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45" dirty="0">
                <a:latin typeface="Times New Roman"/>
                <a:cs typeface="Times New Roman"/>
              </a:rPr>
              <a:t>using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90" dirty="0">
                <a:latin typeface="Times New Roman"/>
                <a:cs typeface="Times New Roman"/>
              </a:rPr>
              <a:t>a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35" dirty="0">
                <a:latin typeface="Times New Roman"/>
                <a:cs typeface="Times New Roman"/>
              </a:rPr>
              <a:t>specific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20" dirty="0">
                <a:latin typeface="Times New Roman"/>
                <a:cs typeface="Times New Roman"/>
              </a:rPr>
              <a:t>encoding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scheme.</a:t>
            </a:r>
            <a:endParaRPr sz="2400">
              <a:latin typeface="Times New Roman"/>
              <a:cs typeface="Times New Roman"/>
            </a:endParaRPr>
          </a:p>
          <a:p>
            <a:pPr marL="561340" lvl="1" indent="-228600">
              <a:lnSpc>
                <a:spcPct val="100000"/>
              </a:lnSpc>
              <a:spcBef>
                <a:spcPts val="195"/>
              </a:spcBef>
              <a:buClr>
                <a:srgbClr val="9B2C1F"/>
              </a:buClr>
              <a:buSzPct val="85000"/>
              <a:buFont typeface="Segoe UI Symbol"/>
              <a:buChar char="⚫"/>
              <a:tabLst>
                <a:tab pos="561340" algn="l"/>
              </a:tabLst>
            </a:pPr>
            <a:r>
              <a:rPr sz="2000" spc="-135" dirty="0">
                <a:latin typeface="Times New Roman"/>
                <a:cs typeface="Times New Roman"/>
              </a:rPr>
              <a:t>Much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spc="-95" dirty="0">
                <a:latin typeface="Times New Roman"/>
                <a:cs typeface="Times New Roman"/>
              </a:rPr>
              <a:t>higher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75" dirty="0">
                <a:latin typeface="Times New Roman"/>
                <a:cs typeface="Times New Roman"/>
              </a:rPr>
              <a:t>throughput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85" dirty="0">
                <a:latin typeface="Times New Roman"/>
                <a:cs typeface="Times New Roman"/>
              </a:rPr>
              <a:t>than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spc="-155" dirty="0">
                <a:latin typeface="Times New Roman"/>
                <a:cs typeface="Times New Roman"/>
              </a:rPr>
              <a:t>FH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spc="-70" dirty="0">
                <a:latin typeface="Times New Roman"/>
                <a:cs typeface="Times New Roman"/>
              </a:rPr>
              <a:t>(11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spc="-125" dirty="0">
                <a:latin typeface="Times New Roman"/>
                <a:cs typeface="Times New Roman"/>
              </a:rPr>
              <a:t>Mbps)</a:t>
            </a:r>
            <a:endParaRPr sz="2000">
              <a:latin typeface="Times New Roman"/>
              <a:cs typeface="Times New Roman"/>
            </a:endParaRPr>
          </a:p>
          <a:p>
            <a:pPr marL="561340" lvl="1" indent="-228600">
              <a:lnSpc>
                <a:spcPct val="100000"/>
              </a:lnSpc>
              <a:spcBef>
                <a:spcPts val="170"/>
              </a:spcBef>
              <a:buClr>
                <a:srgbClr val="9B2C1F"/>
              </a:buClr>
              <a:buSzPct val="85000"/>
              <a:buFont typeface="Segoe UI Symbol"/>
              <a:buChar char="⚫"/>
              <a:tabLst>
                <a:tab pos="561340" algn="l"/>
              </a:tabLst>
            </a:pPr>
            <a:r>
              <a:rPr sz="2000" spc="-80" dirty="0">
                <a:latin typeface="Times New Roman"/>
                <a:cs typeface="Times New Roman"/>
              </a:rPr>
              <a:t>Bette</a:t>
            </a:r>
            <a:r>
              <a:rPr sz="2000" spc="20" dirty="0">
                <a:latin typeface="Times New Roman"/>
                <a:cs typeface="Times New Roman"/>
              </a:rPr>
              <a:t>r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75" dirty="0">
                <a:latin typeface="Times New Roman"/>
                <a:cs typeface="Times New Roman"/>
              </a:rPr>
              <a:t>ra</a:t>
            </a:r>
            <a:r>
              <a:rPr sz="2000" spc="-100" dirty="0">
                <a:latin typeface="Times New Roman"/>
                <a:cs typeface="Times New Roman"/>
              </a:rPr>
              <a:t>n</a:t>
            </a:r>
            <a:r>
              <a:rPr sz="2000" spc="-120" dirty="0">
                <a:latin typeface="Times New Roman"/>
                <a:cs typeface="Times New Roman"/>
              </a:rPr>
              <a:t>ge</a:t>
            </a:r>
            <a:endParaRPr sz="2000">
              <a:latin typeface="Times New Roman"/>
              <a:cs typeface="Times New Roman"/>
            </a:endParaRPr>
          </a:p>
          <a:p>
            <a:pPr marL="561340" marR="210185" lvl="1" indent="-228600">
              <a:lnSpc>
                <a:spcPts val="2160"/>
              </a:lnSpc>
              <a:spcBef>
                <a:spcPts val="425"/>
              </a:spcBef>
              <a:buClr>
                <a:srgbClr val="9B2C1F"/>
              </a:buClr>
              <a:buSzPct val="85000"/>
              <a:buFont typeface="Segoe UI Symbol"/>
              <a:buChar char="⚫"/>
              <a:tabLst>
                <a:tab pos="561340" algn="l"/>
              </a:tabLst>
            </a:pPr>
            <a:r>
              <a:rPr sz="2000" spc="-150" dirty="0">
                <a:latin typeface="Times New Roman"/>
                <a:cs typeface="Times New Roman"/>
              </a:rPr>
              <a:t>Less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spc="-75" dirty="0">
                <a:latin typeface="Times New Roman"/>
                <a:cs typeface="Times New Roman"/>
              </a:rPr>
              <a:t>resistant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to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spc="-105" dirty="0">
                <a:latin typeface="Times New Roman"/>
                <a:cs typeface="Times New Roman"/>
              </a:rPr>
              <a:t>noise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100" dirty="0">
                <a:latin typeface="Times New Roman"/>
                <a:cs typeface="Times New Roman"/>
              </a:rPr>
              <a:t>(made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90" dirty="0">
                <a:latin typeface="Times New Roman"/>
                <a:cs typeface="Times New Roman"/>
              </a:rPr>
              <a:t>up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spc="-75" dirty="0">
                <a:latin typeface="Times New Roman"/>
                <a:cs typeface="Times New Roman"/>
              </a:rPr>
              <a:t>for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55" dirty="0">
                <a:latin typeface="Times New Roman"/>
                <a:cs typeface="Times New Roman"/>
              </a:rPr>
              <a:t>by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95" dirty="0">
                <a:latin typeface="Times New Roman"/>
                <a:cs typeface="Times New Roman"/>
              </a:rPr>
              <a:t>redundancy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–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35" dirty="0">
                <a:latin typeface="Times New Roman"/>
                <a:cs typeface="Times New Roman"/>
              </a:rPr>
              <a:t>it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80" dirty="0">
                <a:latin typeface="Times New Roman"/>
                <a:cs typeface="Times New Roman"/>
              </a:rPr>
              <a:t>transmits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75" dirty="0">
                <a:latin typeface="Times New Roman"/>
                <a:cs typeface="Times New Roman"/>
              </a:rPr>
              <a:t>at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90" dirty="0">
                <a:latin typeface="Times New Roman"/>
                <a:cs typeface="Times New Roman"/>
              </a:rPr>
              <a:t>least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spc="-85" dirty="0">
                <a:latin typeface="Times New Roman"/>
                <a:cs typeface="Times New Roman"/>
              </a:rPr>
              <a:t>10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spc="-120" dirty="0">
                <a:latin typeface="Times New Roman"/>
                <a:cs typeface="Times New Roman"/>
              </a:rPr>
              <a:t>fully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75" dirty="0">
                <a:latin typeface="Times New Roman"/>
                <a:cs typeface="Times New Roman"/>
              </a:rPr>
              <a:t>redundant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spc="-105" dirty="0">
                <a:latin typeface="Times New Roman"/>
                <a:cs typeface="Times New Roman"/>
              </a:rPr>
              <a:t>copies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14" dirty="0">
                <a:latin typeface="Times New Roman"/>
                <a:cs typeface="Times New Roman"/>
              </a:rPr>
              <a:t>of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spc="-55" dirty="0">
                <a:latin typeface="Times New Roman"/>
                <a:cs typeface="Times New Roman"/>
              </a:rPr>
              <a:t>the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spc="-90" dirty="0">
                <a:latin typeface="Times New Roman"/>
                <a:cs typeface="Times New Roman"/>
              </a:rPr>
              <a:t>original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125" dirty="0">
                <a:latin typeface="Times New Roman"/>
                <a:cs typeface="Times New Roman"/>
              </a:rPr>
              <a:t>signal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spc="-80" dirty="0">
                <a:latin typeface="Times New Roman"/>
                <a:cs typeface="Times New Roman"/>
              </a:rPr>
              <a:t>at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60" dirty="0">
                <a:latin typeface="Times New Roman"/>
                <a:cs typeface="Times New Roman"/>
              </a:rPr>
              <a:t>the </a:t>
            </a:r>
            <a:r>
              <a:rPr sz="2000" spc="-125" dirty="0">
                <a:latin typeface="Times New Roman"/>
                <a:cs typeface="Times New Roman"/>
              </a:rPr>
              <a:t>same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spc="-60" dirty="0">
                <a:latin typeface="Times New Roman"/>
                <a:cs typeface="Times New Roman"/>
              </a:rPr>
              <a:t>time)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688974"/>
            <a:ext cx="154749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45" dirty="0"/>
              <a:t>Out</a:t>
            </a:r>
            <a:r>
              <a:rPr sz="4000" spc="-35" dirty="0"/>
              <a:t>line</a:t>
            </a:r>
            <a:endParaRPr sz="4000"/>
          </a:p>
        </p:txBody>
      </p:sp>
      <p:sp>
        <p:nvSpPr>
          <p:cNvPr id="3" name="object 3"/>
          <p:cNvSpPr/>
          <p:nvPr/>
        </p:nvSpPr>
        <p:spPr>
          <a:xfrm>
            <a:off x="914400" y="1450594"/>
            <a:ext cx="7467600" cy="5100320"/>
          </a:xfrm>
          <a:custGeom>
            <a:avLst/>
            <a:gdLst/>
            <a:ahLst/>
            <a:cxnLst/>
            <a:rect l="l" t="t" r="r" b="b"/>
            <a:pathLst>
              <a:path w="7467600" h="5100320">
                <a:moveTo>
                  <a:pt x="0" y="77215"/>
                </a:moveTo>
                <a:lnTo>
                  <a:pt x="6067" y="47148"/>
                </a:lnTo>
                <a:lnTo>
                  <a:pt x="22615" y="22605"/>
                </a:lnTo>
                <a:lnTo>
                  <a:pt x="47159" y="6064"/>
                </a:lnTo>
                <a:lnTo>
                  <a:pt x="77215" y="0"/>
                </a:lnTo>
                <a:lnTo>
                  <a:pt x="7390383" y="0"/>
                </a:lnTo>
                <a:lnTo>
                  <a:pt x="7420451" y="6064"/>
                </a:lnTo>
                <a:lnTo>
                  <a:pt x="7444994" y="22606"/>
                </a:lnTo>
                <a:lnTo>
                  <a:pt x="7461535" y="47148"/>
                </a:lnTo>
                <a:lnTo>
                  <a:pt x="7467600" y="77215"/>
                </a:lnTo>
                <a:lnTo>
                  <a:pt x="7467600" y="386079"/>
                </a:lnTo>
                <a:lnTo>
                  <a:pt x="7461535" y="416147"/>
                </a:lnTo>
                <a:lnTo>
                  <a:pt x="7444994" y="440689"/>
                </a:lnTo>
                <a:lnTo>
                  <a:pt x="7420451" y="457231"/>
                </a:lnTo>
                <a:lnTo>
                  <a:pt x="7390383" y="463295"/>
                </a:lnTo>
                <a:lnTo>
                  <a:pt x="77215" y="463295"/>
                </a:lnTo>
                <a:lnTo>
                  <a:pt x="47159" y="457231"/>
                </a:lnTo>
                <a:lnTo>
                  <a:pt x="22615" y="440689"/>
                </a:lnTo>
                <a:lnTo>
                  <a:pt x="6067" y="416147"/>
                </a:lnTo>
                <a:lnTo>
                  <a:pt x="0" y="386079"/>
                </a:lnTo>
                <a:lnTo>
                  <a:pt x="0" y="77215"/>
                </a:lnTo>
                <a:close/>
              </a:path>
              <a:path w="7467600" h="5100320">
                <a:moveTo>
                  <a:pt x="0" y="592454"/>
                </a:moveTo>
                <a:lnTo>
                  <a:pt x="6067" y="562387"/>
                </a:lnTo>
                <a:lnTo>
                  <a:pt x="22615" y="537844"/>
                </a:lnTo>
                <a:lnTo>
                  <a:pt x="47159" y="521303"/>
                </a:lnTo>
                <a:lnTo>
                  <a:pt x="77215" y="515238"/>
                </a:lnTo>
                <a:lnTo>
                  <a:pt x="7390383" y="515238"/>
                </a:lnTo>
                <a:lnTo>
                  <a:pt x="7420451" y="521303"/>
                </a:lnTo>
                <a:lnTo>
                  <a:pt x="7444994" y="537845"/>
                </a:lnTo>
                <a:lnTo>
                  <a:pt x="7461535" y="562387"/>
                </a:lnTo>
                <a:lnTo>
                  <a:pt x="7467600" y="592454"/>
                </a:lnTo>
                <a:lnTo>
                  <a:pt x="7467600" y="901318"/>
                </a:lnTo>
                <a:lnTo>
                  <a:pt x="7461535" y="931386"/>
                </a:lnTo>
                <a:lnTo>
                  <a:pt x="7444994" y="955928"/>
                </a:lnTo>
                <a:lnTo>
                  <a:pt x="7420451" y="972470"/>
                </a:lnTo>
                <a:lnTo>
                  <a:pt x="7390383" y="978534"/>
                </a:lnTo>
                <a:lnTo>
                  <a:pt x="77215" y="978534"/>
                </a:lnTo>
                <a:lnTo>
                  <a:pt x="47159" y="972470"/>
                </a:lnTo>
                <a:lnTo>
                  <a:pt x="22615" y="955928"/>
                </a:lnTo>
                <a:lnTo>
                  <a:pt x="6067" y="931386"/>
                </a:lnTo>
                <a:lnTo>
                  <a:pt x="0" y="901318"/>
                </a:lnTo>
                <a:lnTo>
                  <a:pt x="0" y="592454"/>
                </a:lnTo>
                <a:close/>
              </a:path>
              <a:path w="7467600" h="5100320">
                <a:moveTo>
                  <a:pt x="0" y="1107566"/>
                </a:moveTo>
                <a:lnTo>
                  <a:pt x="6067" y="1077499"/>
                </a:lnTo>
                <a:lnTo>
                  <a:pt x="22615" y="1052956"/>
                </a:lnTo>
                <a:lnTo>
                  <a:pt x="47159" y="1036415"/>
                </a:lnTo>
                <a:lnTo>
                  <a:pt x="77215" y="1030351"/>
                </a:lnTo>
                <a:lnTo>
                  <a:pt x="7390383" y="1030351"/>
                </a:lnTo>
                <a:lnTo>
                  <a:pt x="7420451" y="1036415"/>
                </a:lnTo>
                <a:lnTo>
                  <a:pt x="7444994" y="1052957"/>
                </a:lnTo>
                <a:lnTo>
                  <a:pt x="7461535" y="1077499"/>
                </a:lnTo>
                <a:lnTo>
                  <a:pt x="7467600" y="1107566"/>
                </a:lnTo>
                <a:lnTo>
                  <a:pt x="7467600" y="1416430"/>
                </a:lnTo>
                <a:lnTo>
                  <a:pt x="7461535" y="1446498"/>
                </a:lnTo>
                <a:lnTo>
                  <a:pt x="7444994" y="1471040"/>
                </a:lnTo>
                <a:lnTo>
                  <a:pt x="7420451" y="1487582"/>
                </a:lnTo>
                <a:lnTo>
                  <a:pt x="7390383" y="1493646"/>
                </a:lnTo>
                <a:lnTo>
                  <a:pt x="77215" y="1493646"/>
                </a:lnTo>
                <a:lnTo>
                  <a:pt x="47159" y="1487582"/>
                </a:lnTo>
                <a:lnTo>
                  <a:pt x="22615" y="1471040"/>
                </a:lnTo>
                <a:lnTo>
                  <a:pt x="6067" y="1446498"/>
                </a:lnTo>
                <a:lnTo>
                  <a:pt x="0" y="1416430"/>
                </a:lnTo>
                <a:lnTo>
                  <a:pt x="0" y="1107566"/>
                </a:lnTo>
                <a:close/>
              </a:path>
              <a:path w="7467600" h="5100320">
                <a:moveTo>
                  <a:pt x="0" y="1622678"/>
                </a:moveTo>
                <a:lnTo>
                  <a:pt x="6067" y="1592665"/>
                </a:lnTo>
                <a:lnTo>
                  <a:pt x="22615" y="1568116"/>
                </a:lnTo>
                <a:lnTo>
                  <a:pt x="47159" y="1551545"/>
                </a:lnTo>
                <a:lnTo>
                  <a:pt x="77215" y="1545463"/>
                </a:lnTo>
                <a:lnTo>
                  <a:pt x="7390383" y="1545463"/>
                </a:lnTo>
                <a:lnTo>
                  <a:pt x="7420451" y="1551545"/>
                </a:lnTo>
                <a:lnTo>
                  <a:pt x="7444994" y="1568116"/>
                </a:lnTo>
                <a:lnTo>
                  <a:pt x="7461535" y="1592665"/>
                </a:lnTo>
                <a:lnTo>
                  <a:pt x="7467600" y="1622678"/>
                </a:lnTo>
                <a:lnTo>
                  <a:pt x="7467600" y="1931542"/>
                </a:lnTo>
                <a:lnTo>
                  <a:pt x="7461535" y="1961630"/>
                </a:lnTo>
                <a:lnTo>
                  <a:pt x="7444994" y="1986216"/>
                </a:lnTo>
                <a:lnTo>
                  <a:pt x="7420451" y="2002801"/>
                </a:lnTo>
                <a:lnTo>
                  <a:pt x="7390383" y="2008885"/>
                </a:lnTo>
                <a:lnTo>
                  <a:pt x="77215" y="2008885"/>
                </a:lnTo>
                <a:lnTo>
                  <a:pt x="47159" y="2002801"/>
                </a:lnTo>
                <a:lnTo>
                  <a:pt x="22615" y="1986216"/>
                </a:lnTo>
                <a:lnTo>
                  <a:pt x="6067" y="1961630"/>
                </a:lnTo>
                <a:lnTo>
                  <a:pt x="0" y="1931542"/>
                </a:lnTo>
                <a:lnTo>
                  <a:pt x="0" y="1622678"/>
                </a:lnTo>
                <a:close/>
              </a:path>
              <a:path w="7467600" h="5100320">
                <a:moveTo>
                  <a:pt x="0" y="2137917"/>
                </a:moveTo>
                <a:lnTo>
                  <a:pt x="6067" y="2107850"/>
                </a:lnTo>
                <a:lnTo>
                  <a:pt x="22615" y="2083307"/>
                </a:lnTo>
                <a:lnTo>
                  <a:pt x="47159" y="2066766"/>
                </a:lnTo>
                <a:lnTo>
                  <a:pt x="77215" y="2060702"/>
                </a:lnTo>
                <a:lnTo>
                  <a:pt x="7390383" y="2060702"/>
                </a:lnTo>
                <a:lnTo>
                  <a:pt x="7420451" y="2066766"/>
                </a:lnTo>
                <a:lnTo>
                  <a:pt x="7444994" y="2083308"/>
                </a:lnTo>
                <a:lnTo>
                  <a:pt x="7461535" y="2107850"/>
                </a:lnTo>
                <a:lnTo>
                  <a:pt x="7467600" y="2137917"/>
                </a:lnTo>
                <a:lnTo>
                  <a:pt x="7467600" y="2446781"/>
                </a:lnTo>
                <a:lnTo>
                  <a:pt x="7461535" y="2476849"/>
                </a:lnTo>
                <a:lnTo>
                  <a:pt x="7444994" y="2501391"/>
                </a:lnTo>
                <a:lnTo>
                  <a:pt x="7420451" y="2517933"/>
                </a:lnTo>
                <a:lnTo>
                  <a:pt x="7390383" y="2523997"/>
                </a:lnTo>
                <a:lnTo>
                  <a:pt x="77215" y="2523997"/>
                </a:lnTo>
                <a:lnTo>
                  <a:pt x="47159" y="2517933"/>
                </a:lnTo>
                <a:lnTo>
                  <a:pt x="22615" y="2501391"/>
                </a:lnTo>
                <a:lnTo>
                  <a:pt x="6067" y="2476849"/>
                </a:lnTo>
                <a:lnTo>
                  <a:pt x="0" y="2446781"/>
                </a:lnTo>
                <a:lnTo>
                  <a:pt x="0" y="2137917"/>
                </a:lnTo>
                <a:close/>
              </a:path>
              <a:path w="7467600" h="5100320">
                <a:moveTo>
                  <a:pt x="0" y="2653029"/>
                </a:moveTo>
                <a:lnTo>
                  <a:pt x="6067" y="2622962"/>
                </a:lnTo>
                <a:lnTo>
                  <a:pt x="22615" y="2598419"/>
                </a:lnTo>
                <a:lnTo>
                  <a:pt x="47159" y="2581878"/>
                </a:lnTo>
                <a:lnTo>
                  <a:pt x="77215" y="2575813"/>
                </a:lnTo>
                <a:lnTo>
                  <a:pt x="7390383" y="2575813"/>
                </a:lnTo>
                <a:lnTo>
                  <a:pt x="7420451" y="2581878"/>
                </a:lnTo>
                <a:lnTo>
                  <a:pt x="7444994" y="2598419"/>
                </a:lnTo>
                <a:lnTo>
                  <a:pt x="7461535" y="2622962"/>
                </a:lnTo>
                <a:lnTo>
                  <a:pt x="7467600" y="2653029"/>
                </a:lnTo>
                <a:lnTo>
                  <a:pt x="7467600" y="2961893"/>
                </a:lnTo>
                <a:lnTo>
                  <a:pt x="7461535" y="2991961"/>
                </a:lnTo>
                <a:lnTo>
                  <a:pt x="7444994" y="3016504"/>
                </a:lnTo>
                <a:lnTo>
                  <a:pt x="7420451" y="3033045"/>
                </a:lnTo>
                <a:lnTo>
                  <a:pt x="7390383" y="3039110"/>
                </a:lnTo>
                <a:lnTo>
                  <a:pt x="77215" y="3039110"/>
                </a:lnTo>
                <a:lnTo>
                  <a:pt x="47159" y="3033045"/>
                </a:lnTo>
                <a:lnTo>
                  <a:pt x="22615" y="3016504"/>
                </a:lnTo>
                <a:lnTo>
                  <a:pt x="6067" y="2991961"/>
                </a:lnTo>
                <a:lnTo>
                  <a:pt x="0" y="2961893"/>
                </a:lnTo>
                <a:lnTo>
                  <a:pt x="0" y="2653029"/>
                </a:lnTo>
                <a:close/>
              </a:path>
              <a:path w="7467600" h="5100320">
                <a:moveTo>
                  <a:pt x="0" y="3168268"/>
                </a:moveTo>
                <a:lnTo>
                  <a:pt x="6067" y="3138181"/>
                </a:lnTo>
                <a:lnTo>
                  <a:pt x="22615" y="3113595"/>
                </a:lnTo>
                <a:lnTo>
                  <a:pt x="47159" y="3097010"/>
                </a:lnTo>
                <a:lnTo>
                  <a:pt x="77215" y="3090925"/>
                </a:lnTo>
                <a:lnTo>
                  <a:pt x="7390383" y="3090925"/>
                </a:lnTo>
                <a:lnTo>
                  <a:pt x="7420451" y="3097010"/>
                </a:lnTo>
                <a:lnTo>
                  <a:pt x="7444994" y="3113595"/>
                </a:lnTo>
                <a:lnTo>
                  <a:pt x="7461535" y="3138181"/>
                </a:lnTo>
                <a:lnTo>
                  <a:pt x="7467600" y="3168268"/>
                </a:lnTo>
                <a:lnTo>
                  <a:pt x="7467600" y="3477132"/>
                </a:lnTo>
                <a:lnTo>
                  <a:pt x="7461535" y="3507146"/>
                </a:lnTo>
                <a:lnTo>
                  <a:pt x="7444994" y="3531695"/>
                </a:lnTo>
                <a:lnTo>
                  <a:pt x="7420451" y="3548266"/>
                </a:lnTo>
                <a:lnTo>
                  <a:pt x="7390383" y="3554349"/>
                </a:lnTo>
                <a:lnTo>
                  <a:pt x="77215" y="3554349"/>
                </a:lnTo>
                <a:lnTo>
                  <a:pt x="47159" y="3548266"/>
                </a:lnTo>
                <a:lnTo>
                  <a:pt x="22615" y="3531695"/>
                </a:lnTo>
                <a:lnTo>
                  <a:pt x="6067" y="3507146"/>
                </a:lnTo>
                <a:lnTo>
                  <a:pt x="0" y="3477132"/>
                </a:lnTo>
                <a:lnTo>
                  <a:pt x="0" y="3168268"/>
                </a:lnTo>
                <a:close/>
              </a:path>
              <a:path w="7467600" h="5100320">
                <a:moveTo>
                  <a:pt x="0" y="3683380"/>
                </a:moveTo>
                <a:lnTo>
                  <a:pt x="6067" y="3653313"/>
                </a:lnTo>
                <a:lnTo>
                  <a:pt x="22615" y="3628770"/>
                </a:lnTo>
                <a:lnTo>
                  <a:pt x="47159" y="3612229"/>
                </a:lnTo>
                <a:lnTo>
                  <a:pt x="77215" y="3606164"/>
                </a:lnTo>
                <a:lnTo>
                  <a:pt x="7390383" y="3606164"/>
                </a:lnTo>
                <a:lnTo>
                  <a:pt x="7420451" y="3612229"/>
                </a:lnTo>
                <a:lnTo>
                  <a:pt x="7444994" y="3628770"/>
                </a:lnTo>
                <a:lnTo>
                  <a:pt x="7461535" y="3653313"/>
                </a:lnTo>
                <a:lnTo>
                  <a:pt x="7467600" y="3683380"/>
                </a:lnTo>
                <a:lnTo>
                  <a:pt x="7467600" y="3992244"/>
                </a:lnTo>
                <a:lnTo>
                  <a:pt x="7461535" y="4022312"/>
                </a:lnTo>
                <a:lnTo>
                  <a:pt x="7444994" y="4046854"/>
                </a:lnTo>
                <a:lnTo>
                  <a:pt x="7420451" y="4063396"/>
                </a:lnTo>
                <a:lnTo>
                  <a:pt x="7390383" y="4069460"/>
                </a:lnTo>
                <a:lnTo>
                  <a:pt x="77215" y="4069460"/>
                </a:lnTo>
                <a:lnTo>
                  <a:pt x="47159" y="4063396"/>
                </a:lnTo>
                <a:lnTo>
                  <a:pt x="22615" y="4046854"/>
                </a:lnTo>
                <a:lnTo>
                  <a:pt x="6067" y="4022312"/>
                </a:lnTo>
                <a:lnTo>
                  <a:pt x="0" y="3992244"/>
                </a:lnTo>
                <a:lnTo>
                  <a:pt x="0" y="3683380"/>
                </a:lnTo>
                <a:close/>
              </a:path>
              <a:path w="7467600" h="5100320">
                <a:moveTo>
                  <a:pt x="0" y="4198531"/>
                </a:moveTo>
                <a:lnTo>
                  <a:pt x="6067" y="4168463"/>
                </a:lnTo>
                <a:lnTo>
                  <a:pt x="22615" y="4143906"/>
                </a:lnTo>
                <a:lnTo>
                  <a:pt x="47159" y="4127348"/>
                </a:lnTo>
                <a:lnTo>
                  <a:pt x="77215" y="4121277"/>
                </a:lnTo>
                <a:lnTo>
                  <a:pt x="7390383" y="4121277"/>
                </a:lnTo>
                <a:lnTo>
                  <a:pt x="7420451" y="4127348"/>
                </a:lnTo>
                <a:lnTo>
                  <a:pt x="7444994" y="4143906"/>
                </a:lnTo>
                <a:lnTo>
                  <a:pt x="7461535" y="4168463"/>
                </a:lnTo>
                <a:lnTo>
                  <a:pt x="7467600" y="4198531"/>
                </a:lnTo>
                <a:lnTo>
                  <a:pt x="7467600" y="4507407"/>
                </a:lnTo>
                <a:lnTo>
                  <a:pt x="7461535" y="4537464"/>
                </a:lnTo>
                <a:lnTo>
                  <a:pt x="7444994" y="4562008"/>
                </a:lnTo>
                <a:lnTo>
                  <a:pt x="7420451" y="4578555"/>
                </a:lnTo>
                <a:lnTo>
                  <a:pt x="7390383" y="4584623"/>
                </a:lnTo>
                <a:lnTo>
                  <a:pt x="77215" y="4584623"/>
                </a:lnTo>
                <a:lnTo>
                  <a:pt x="47159" y="4578555"/>
                </a:lnTo>
                <a:lnTo>
                  <a:pt x="22615" y="4562008"/>
                </a:lnTo>
                <a:lnTo>
                  <a:pt x="6067" y="4537464"/>
                </a:lnTo>
                <a:lnTo>
                  <a:pt x="0" y="4507407"/>
                </a:lnTo>
                <a:lnTo>
                  <a:pt x="0" y="4198531"/>
                </a:lnTo>
                <a:close/>
              </a:path>
              <a:path w="7467600" h="5100320">
                <a:moveTo>
                  <a:pt x="0" y="4713681"/>
                </a:moveTo>
                <a:lnTo>
                  <a:pt x="6067" y="4683624"/>
                </a:lnTo>
                <a:lnTo>
                  <a:pt x="22615" y="4659080"/>
                </a:lnTo>
                <a:lnTo>
                  <a:pt x="47159" y="4642533"/>
                </a:lnTo>
                <a:lnTo>
                  <a:pt x="77215" y="4636465"/>
                </a:lnTo>
                <a:lnTo>
                  <a:pt x="7390383" y="4636465"/>
                </a:lnTo>
                <a:lnTo>
                  <a:pt x="7420451" y="4642533"/>
                </a:lnTo>
                <a:lnTo>
                  <a:pt x="7444994" y="4659080"/>
                </a:lnTo>
                <a:lnTo>
                  <a:pt x="7461535" y="4683624"/>
                </a:lnTo>
                <a:lnTo>
                  <a:pt x="7467600" y="4713681"/>
                </a:lnTo>
                <a:lnTo>
                  <a:pt x="7467600" y="5022557"/>
                </a:lnTo>
                <a:lnTo>
                  <a:pt x="7461535" y="5052621"/>
                </a:lnTo>
                <a:lnTo>
                  <a:pt x="7444994" y="5077169"/>
                </a:lnTo>
                <a:lnTo>
                  <a:pt x="7420451" y="5093718"/>
                </a:lnTo>
                <a:lnTo>
                  <a:pt x="7390383" y="5099786"/>
                </a:lnTo>
                <a:lnTo>
                  <a:pt x="77215" y="5099786"/>
                </a:lnTo>
                <a:lnTo>
                  <a:pt x="47159" y="5093718"/>
                </a:lnTo>
                <a:lnTo>
                  <a:pt x="22615" y="5077169"/>
                </a:lnTo>
                <a:lnTo>
                  <a:pt x="6067" y="5052621"/>
                </a:lnTo>
                <a:lnTo>
                  <a:pt x="0" y="5022557"/>
                </a:lnTo>
                <a:lnTo>
                  <a:pt x="0" y="4713681"/>
                </a:lnTo>
                <a:close/>
              </a:path>
            </a:pathLst>
          </a:custGeom>
          <a:ln w="12700">
            <a:solidFill>
              <a:srgbClr val="BE401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000760" y="1470406"/>
            <a:ext cx="7293609" cy="49682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15" dirty="0">
                <a:solidFill>
                  <a:srgbClr val="BEBEBE"/>
                </a:solidFill>
                <a:latin typeface="Times New Roman"/>
                <a:cs typeface="Times New Roman"/>
              </a:rPr>
              <a:t>Introduction</a:t>
            </a:r>
            <a:r>
              <a:rPr sz="2000" b="1" spc="-85" dirty="0">
                <a:solidFill>
                  <a:srgbClr val="BEBEBE"/>
                </a:solidFill>
                <a:latin typeface="Times New Roman"/>
                <a:cs typeface="Times New Roman"/>
              </a:rPr>
              <a:t> </a:t>
            </a:r>
            <a:r>
              <a:rPr sz="2000" b="1" spc="20" dirty="0">
                <a:solidFill>
                  <a:srgbClr val="BEBEBE"/>
                </a:solidFill>
                <a:latin typeface="Times New Roman"/>
                <a:cs typeface="Times New Roman"/>
              </a:rPr>
              <a:t>of</a:t>
            </a:r>
            <a:r>
              <a:rPr sz="2000" b="1" spc="-50" dirty="0">
                <a:solidFill>
                  <a:srgbClr val="BEBEBE"/>
                </a:solidFill>
                <a:latin typeface="Times New Roman"/>
                <a:cs typeface="Times New Roman"/>
              </a:rPr>
              <a:t> </a:t>
            </a:r>
            <a:r>
              <a:rPr sz="2000" b="1" spc="-175" dirty="0">
                <a:solidFill>
                  <a:srgbClr val="BEBEBE"/>
                </a:solidFill>
                <a:latin typeface="Times New Roman"/>
                <a:cs typeface="Times New Roman"/>
              </a:rPr>
              <a:t>LAN;</a:t>
            </a:r>
            <a:r>
              <a:rPr sz="2000" b="1" spc="-120" dirty="0">
                <a:solidFill>
                  <a:srgbClr val="BEBEBE"/>
                </a:solidFill>
                <a:latin typeface="Times New Roman"/>
                <a:cs typeface="Times New Roman"/>
              </a:rPr>
              <a:t> </a:t>
            </a:r>
            <a:r>
              <a:rPr sz="2000" b="1" spc="-135" dirty="0">
                <a:solidFill>
                  <a:srgbClr val="BEBEBE"/>
                </a:solidFill>
                <a:latin typeface="Times New Roman"/>
                <a:cs typeface="Times New Roman"/>
              </a:rPr>
              <a:t>MAN;WAN;</a:t>
            </a:r>
            <a:r>
              <a:rPr sz="2000" b="1" spc="-140" dirty="0">
                <a:solidFill>
                  <a:srgbClr val="BEBEBE"/>
                </a:solidFill>
                <a:latin typeface="Times New Roman"/>
                <a:cs typeface="Times New Roman"/>
              </a:rPr>
              <a:t> </a:t>
            </a:r>
            <a:r>
              <a:rPr sz="2000" b="1" spc="-130" dirty="0">
                <a:solidFill>
                  <a:srgbClr val="BEBEBE"/>
                </a:solidFill>
                <a:latin typeface="Times New Roman"/>
                <a:cs typeface="Times New Roman"/>
              </a:rPr>
              <a:t>PAN,</a:t>
            </a:r>
            <a:r>
              <a:rPr sz="2000" b="1" spc="-215" dirty="0">
                <a:solidFill>
                  <a:srgbClr val="BEBEBE"/>
                </a:solidFill>
                <a:latin typeface="Times New Roman"/>
                <a:cs typeface="Times New Roman"/>
              </a:rPr>
              <a:t> </a:t>
            </a:r>
            <a:r>
              <a:rPr sz="2000" b="1" spc="25" dirty="0">
                <a:solidFill>
                  <a:srgbClr val="BEBEBE"/>
                </a:solidFill>
                <a:latin typeface="Times New Roman"/>
                <a:cs typeface="Times New Roman"/>
              </a:rPr>
              <a:t>Ad-hoc</a:t>
            </a:r>
            <a:r>
              <a:rPr sz="2000" b="1" spc="-45" dirty="0">
                <a:solidFill>
                  <a:srgbClr val="BEBEBE"/>
                </a:solidFill>
                <a:latin typeface="Times New Roman"/>
                <a:cs typeface="Times New Roman"/>
              </a:rPr>
              <a:t> </a:t>
            </a:r>
            <a:r>
              <a:rPr sz="2000" b="1" spc="-5" dirty="0">
                <a:solidFill>
                  <a:srgbClr val="BEBEBE"/>
                </a:solidFill>
                <a:latin typeface="Times New Roman"/>
                <a:cs typeface="Times New Roman"/>
              </a:rPr>
              <a:t>Network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655"/>
              </a:spcBef>
            </a:pPr>
            <a:r>
              <a:rPr sz="2000" b="1" spc="5" dirty="0">
                <a:solidFill>
                  <a:srgbClr val="BEBEBE"/>
                </a:solidFill>
                <a:latin typeface="Times New Roman"/>
                <a:cs typeface="Times New Roman"/>
              </a:rPr>
              <a:t>Topologies</a:t>
            </a:r>
            <a:endParaRPr sz="2000">
              <a:latin typeface="Times New Roman"/>
              <a:cs typeface="Times New Roman"/>
            </a:endParaRPr>
          </a:p>
          <a:p>
            <a:pPr marL="12700" marR="4799965">
              <a:lnSpc>
                <a:spcPct val="169000"/>
              </a:lnSpc>
            </a:pPr>
            <a:r>
              <a:rPr sz="2000" b="1" spc="-35" dirty="0">
                <a:solidFill>
                  <a:srgbClr val="BEBEBE"/>
                </a:solidFill>
                <a:latin typeface="Times New Roman"/>
                <a:cs typeface="Times New Roman"/>
              </a:rPr>
              <a:t>Ne</a:t>
            </a:r>
            <a:r>
              <a:rPr sz="2000" b="1" spc="25" dirty="0">
                <a:solidFill>
                  <a:srgbClr val="BEBEBE"/>
                </a:solidFill>
                <a:latin typeface="Times New Roman"/>
                <a:cs typeface="Times New Roman"/>
              </a:rPr>
              <a:t>t</a:t>
            </a:r>
            <a:r>
              <a:rPr sz="2000" b="1" dirty="0">
                <a:solidFill>
                  <a:srgbClr val="BEBEBE"/>
                </a:solidFill>
                <a:latin typeface="Times New Roman"/>
                <a:cs typeface="Times New Roman"/>
              </a:rPr>
              <a:t>w</a:t>
            </a:r>
            <a:r>
              <a:rPr sz="2000" b="1" spc="5" dirty="0">
                <a:solidFill>
                  <a:srgbClr val="BEBEBE"/>
                </a:solidFill>
                <a:latin typeface="Times New Roman"/>
                <a:cs typeface="Times New Roman"/>
              </a:rPr>
              <a:t>o</a:t>
            </a:r>
            <a:r>
              <a:rPr sz="2000" b="1" spc="10" dirty="0">
                <a:solidFill>
                  <a:srgbClr val="BEBEBE"/>
                </a:solidFill>
                <a:latin typeface="Times New Roman"/>
                <a:cs typeface="Times New Roman"/>
              </a:rPr>
              <a:t>r</a:t>
            </a:r>
            <a:r>
              <a:rPr sz="2000" b="1" spc="15" dirty="0">
                <a:solidFill>
                  <a:srgbClr val="BEBEBE"/>
                </a:solidFill>
                <a:latin typeface="Times New Roman"/>
                <a:cs typeface="Times New Roman"/>
              </a:rPr>
              <a:t>k</a:t>
            </a:r>
            <a:r>
              <a:rPr sz="2000" b="1" spc="-140" dirty="0">
                <a:solidFill>
                  <a:srgbClr val="BEBEBE"/>
                </a:solidFill>
                <a:latin typeface="Times New Roman"/>
                <a:cs typeface="Times New Roman"/>
              </a:rPr>
              <a:t> </a:t>
            </a:r>
            <a:r>
              <a:rPr sz="2000" b="1" spc="-50" dirty="0">
                <a:solidFill>
                  <a:srgbClr val="BEBEBE"/>
                </a:solidFill>
                <a:latin typeface="Times New Roman"/>
                <a:cs typeface="Times New Roman"/>
              </a:rPr>
              <a:t>Arc</a:t>
            </a:r>
            <a:r>
              <a:rPr sz="2000" b="1" spc="25" dirty="0">
                <a:solidFill>
                  <a:srgbClr val="BEBEBE"/>
                </a:solidFill>
                <a:latin typeface="Times New Roman"/>
                <a:cs typeface="Times New Roman"/>
              </a:rPr>
              <a:t>hit</a:t>
            </a:r>
            <a:r>
              <a:rPr sz="2000" b="1" spc="20" dirty="0">
                <a:solidFill>
                  <a:srgbClr val="BEBEBE"/>
                </a:solidFill>
                <a:latin typeface="Times New Roman"/>
                <a:cs typeface="Times New Roman"/>
              </a:rPr>
              <a:t>e</a:t>
            </a:r>
            <a:r>
              <a:rPr sz="2000" b="1" spc="35" dirty="0">
                <a:solidFill>
                  <a:srgbClr val="BEBEBE"/>
                </a:solidFill>
                <a:latin typeface="Times New Roman"/>
                <a:cs typeface="Times New Roman"/>
              </a:rPr>
              <a:t>c</a:t>
            </a:r>
            <a:r>
              <a:rPr sz="2000" b="1" spc="15" dirty="0">
                <a:solidFill>
                  <a:srgbClr val="BEBEBE"/>
                </a:solidFill>
                <a:latin typeface="Times New Roman"/>
                <a:cs typeface="Times New Roman"/>
              </a:rPr>
              <a:t>t</a:t>
            </a:r>
            <a:r>
              <a:rPr sz="2000" b="1" spc="-15" dirty="0">
                <a:solidFill>
                  <a:srgbClr val="BEBEBE"/>
                </a:solidFill>
                <a:latin typeface="Times New Roman"/>
                <a:cs typeface="Times New Roman"/>
              </a:rPr>
              <a:t>ures  </a:t>
            </a:r>
            <a:r>
              <a:rPr sz="2000" b="1" spc="-185" dirty="0">
                <a:solidFill>
                  <a:srgbClr val="BEBEBE"/>
                </a:solidFill>
                <a:latin typeface="Times New Roman"/>
                <a:cs typeface="Times New Roman"/>
              </a:rPr>
              <a:t>O</a:t>
            </a:r>
            <a:r>
              <a:rPr sz="2000" b="1" spc="-140" dirty="0">
                <a:solidFill>
                  <a:srgbClr val="BEBEBE"/>
                </a:solidFill>
                <a:latin typeface="Times New Roman"/>
                <a:cs typeface="Times New Roman"/>
              </a:rPr>
              <a:t>S</a:t>
            </a:r>
            <a:r>
              <a:rPr sz="2000" b="1" spc="-50" dirty="0">
                <a:solidFill>
                  <a:srgbClr val="BEBEBE"/>
                </a:solidFill>
                <a:latin typeface="Times New Roman"/>
                <a:cs typeface="Times New Roman"/>
              </a:rPr>
              <a:t>I </a:t>
            </a:r>
            <a:r>
              <a:rPr sz="2000" b="1" spc="5" dirty="0">
                <a:solidFill>
                  <a:srgbClr val="BEBEBE"/>
                </a:solidFill>
                <a:latin typeface="Times New Roman"/>
                <a:cs typeface="Times New Roman"/>
              </a:rPr>
              <a:t>Mo</a:t>
            </a:r>
            <a:r>
              <a:rPr sz="2000" b="1" spc="35" dirty="0">
                <a:solidFill>
                  <a:srgbClr val="BEBEBE"/>
                </a:solidFill>
                <a:latin typeface="Times New Roman"/>
                <a:cs typeface="Times New Roman"/>
              </a:rPr>
              <a:t>del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660"/>
              </a:spcBef>
            </a:pPr>
            <a:r>
              <a:rPr sz="2000" b="1" spc="-195" dirty="0">
                <a:solidFill>
                  <a:srgbClr val="BEBEBE"/>
                </a:solidFill>
                <a:latin typeface="Times New Roman"/>
                <a:cs typeface="Times New Roman"/>
              </a:rPr>
              <a:t>TC</a:t>
            </a:r>
            <a:r>
              <a:rPr sz="2000" b="1" spc="-165" dirty="0">
                <a:solidFill>
                  <a:srgbClr val="BEBEBE"/>
                </a:solidFill>
                <a:latin typeface="Times New Roman"/>
                <a:cs typeface="Times New Roman"/>
              </a:rPr>
              <a:t>P</a:t>
            </a:r>
            <a:r>
              <a:rPr sz="2000" b="1" spc="105" dirty="0">
                <a:solidFill>
                  <a:srgbClr val="BEBEBE"/>
                </a:solidFill>
                <a:latin typeface="Times New Roman"/>
                <a:cs typeface="Times New Roman"/>
              </a:rPr>
              <a:t>/IP</a:t>
            </a:r>
            <a:r>
              <a:rPr sz="2000" b="1" spc="-75" dirty="0">
                <a:solidFill>
                  <a:srgbClr val="BEBEBE"/>
                </a:solidFill>
                <a:latin typeface="Times New Roman"/>
                <a:cs typeface="Times New Roman"/>
              </a:rPr>
              <a:t> </a:t>
            </a:r>
            <a:r>
              <a:rPr sz="2000" b="1" spc="25" dirty="0">
                <a:solidFill>
                  <a:srgbClr val="BEBEBE"/>
                </a:solidFill>
                <a:latin typeface="Times New Roman"/>
                <a:cs typeface="Times New Roman"/>
              </a:rPr>
              <a:t>Model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655"/>
              </a:spcBef>
            </a:pPr>
            <a:r>
              <a:rPr sz="2000" b="1" spc="5" dirty="0">
                <a:solidFill>
                  <a:srgbClr val="BEBEBE"/>
                </a:solidFill>
                <a:latin typeface="Times New Roman"/>
                <a:cs typeface="Times New Roman"/>
              </a:rPr>
              <a:t>Design</a:t>
            </a:r>
            <a:r>
              <a:rPr sz="2000" b="1" spc="-80" dirty="0">
                <a:solidFill>
                  <a:srgbClr val="BEBEBE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BEBEBE"/>
                </a:solidFill>
                <a:latin typeface="Times New Roman"/>
                <a:cs typeface="Times New Roman"/>
              </a:rPr>
              <a:t>issues</a:t>
            </a:r>
            <a:r>
              <a:rPr sz="2000" b="1" spc="-70" dirty="0">
                <a:solidFill>
                  <a:srgbClr val="BEBEBE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BEBEBE"/>
                </a:solidFill>
                <a:latin typeface="Times New Roman"/>
                <a:cs typeface="Times New Roman"/>
              </a:rPr>
              <a:t>for</a:t>
            </a:r>
            <a:r>
              <a:rPr sz="2000" b="1" spc="-75" dirty="0">
                <a:solidFill>
                  <a:srgbClr val="BEBEBE"/>
                </a:solidFill>
                <a:latin typeface="Times New Roman"/>
                <a:cs typeface="Times New Roman"/>
              </a:rPr>
              <a:t> </a:t>
            </a:r>
            <a:r>
              <a:rPr sz="2000" b="1" spc="-100" dirty="0">
                <a:solidFill>
                  <a:srgbClr val="BEBEBE"/>
                </a:solidFill>
                <a:latin typeface="Times New Roman"/>
                <a:cs typeface="Times New Roman"/>
              </a:rPr>
              <a:t>Layers</a:t>
            </a:r>
            <a:endParaRPr sz="2000">
              <a:latin typeface="Times New Roman"/>
              <a:cs typeface="Times New Roman"/>
            </a:endParaRPr>
          </a:p>
          <a:p>
            <a:pPr marL="12700" marR="4808220">
              <a:lnSpc>
                <a:spcPct val="169000"/>
              </a:lnSpc>
              <a:spcBef>
                <a:spcPts val="5"/>
              </a:spcBef>
            </a:pPr>
            <a:r>
              <a:rPr sz="2000" b="1" spc="-370" dirty="0">
                <a:solidFill>
                  <a:srgbClr val="BEBEBE"/>
                </a:solidFill>
                <a:latin typeface="Times New Roman"/>
                <a:cs typeface="Times New Roman"/>
              </a:rPr>
              <a:t>T</a:t>
            </a:r>
            <a:r>
              <a:rPr sz="2000" b="1" spc="-20" dirty="0">
                <a:solidFill>
                  <a:srgbClr val="BEBEBE"/>
                </a:solidFill>
                <a:latin typeface="Times New Roman"/>
                <a:cs typeface="Times New Roman"/>
              </a:rPr>
              <a:t>ransmissio</a:t>
            </a:r>
            <a:r>
              <a:rPr sz="2000" b="1" spc="15" dirty="0">
                <a:solidFill>
                  <a:srgbClr val="BEBEBE"/>
                </a:solidFill>
                <a:latin typeface="Times New Roman"/>
                <a:cs typeface="Times New Roman"/>
              </a:rPr>
              <a:t>n</a:t>
            </a:r>
            <a:r>
              <a:rPr sz="2000" b="1" spc="-85" dirty="0">
                <a:solidFill>
                  <a:srgbClr val="BEBEBE"/>
                </a:solidFill>
                <a:latin typeface="Times New Roman"/>
                <a:cs typeface="Times New Roman"/>
              </a:rPr>
              <a:t> </a:t>
            </a:r>
            <a:r>
              <a:rPr sz="2000" b="1" spc="-15" dirty="0">
                <a:solidFill>
                  <a:srgbClr val="BEBEBE"/>
                </a:solidFill>
                <a:latin typeface="Times New Roman"/>
                <a:cs typeface="Times New Roman"/>
              </a:rPr>
              <a:t>M</a:t>
            </a:r>
            <a:r>
              <a:rPr sz="2000" b="1" spc="-20" dirty="0">
                <a:solidFill>
                  <a:srgbClr val="BEBEBE"/>
                </a:solidFill>
                <a:latin typeface="Times New Roman"/>
                <a:cs typeface="Times New Roman"/>
              </a:rPr>
              <a:t>e</a:t>
            </a:r>
            <a:r>
              <a:rPr sz="2000" b="1" spc="30" dirty="0">
                <a:solidFill>
                  <a:srgbClr val="BEBEBE"/>
                </a:solidFill>
                <a:latin typeface="Times New Roman"/>
                <a:cs typeface="Times New Roman"/>
              </a:rPr>
              <a:t>di</a:t>
            </a:r>
            <a:r>
              <a:rPr sz="2000" b="1" spc="-25" dirty="0">
                <a:solidFill>
                  <a:srgbClr val="BEBEBE"/>
                </a:solidFill>
                <a:latin typeface="Times New Roman"/>
                <a:cs typeface="Times New Roman"/>
              </a:rPr>
              <a:t>ums  </a:t>
            </a:r>
            <a:r>
              <a:rPr sz="2000" b="1" spc="-5" dirty="0">
                <a:solidFill>
                  <a:srgbClr val="BEBEBE"/>
                </a:solidFill>
                <a:latin typeface="Times New Roman"/>
                <a:cs typeface="Times New Roman"/>
              </a:rPr>
              <a:t>Network</a:t>
            </a:r>
            <a:r>
              <a:rPr sz="2000" b="1" spc="-65" dirty="0">
                <a:solidFill>
                  <a:srgbClr val="BEBEBE"/>
                </a:solidFill>
                <a:latin typeface="Times New Roman"/>
                <a:cs typeface="Times New Roman"/>
              </a:rPr>
              <a:t> </a:t>
            </a:r>
            <a:r>
              <a:rPr sz="2000" b="1" spc="10" dirty="0">
                <a:solidFill>
                  <a:srgbClr val="BEBEBE"/>
                </a:solidFill>
                <a:latin typeface="Times New Roman"/>
                <a:cs typeface="Times New Roman"/>
              </a:rPr>
              <a:t>Devices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655"/>
              </a:spcBef>
            </a:pPr>
            <a:r>
              <a:rPr sz="2000" b="1" spc="-15" dirty="0">
                <a:solidFill>
                  <a:srgbClr val="BEBEBE"/>
                </a:solidFill>
                <a:latin typeface="Times New Roman"/>
                <a:cs typeface="Times New Roman"/>
              </a:rPr>
              <a:t>Manchester</a:t>
            </a:r>
            <a:r>
              <a:rPr sz="2000" b="1" spc="-30" dirty="0">
                <a:solidFill>
                  <a:srgbClr val="BEBEBE"/>
                </a:solidFill>
                <a:latin typeface="Times New Roman"/>
                <a:cs typeface="Times New Roman"/>
              </a:rPr>
              <a:t> </a:t>
            </a:r>
            <a:r>
              <a:rPr sz="2000" b="1" spc="-15" dirty="0">
                <a:solidFill>
                  <a:srgbClr val="BEBEBE"/>
                </a:solidFill>
                <a:latin typeface="Times New Roman"/>
                <a:cs typeface="Times New Roman"/>
              </a:rPr>
              <a:t>and</a:t>
            </a:r>
            <a:r>
              <a:rPr sz="2000" b="1" spc="-30" dirty="0">
                <a:solidFill>
                  <a:srgbClr val="BEBEBE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BEBEBE"/>
                </a:solidFill>
                <a:latin typeface="Times New Roman"/>
                <a:cs typeface="Times New Roman"/>
              </a:rPr>
              <a:t>Differential</a:t>
            </a:r>
            <a:r>
              <a:rPr sz="2000" b="1" spc="-40" dirty="0">
                <a:solidFill>
                  <a:srgbClr val="BEBEBE"/>
                </a:solidFill>
                <a:latin typeface="Times New Roman"/>
                <a:cs typeface="Times New Roman"/>
              </a:rPr>
              <a:t> </a:t>
            </a:r>
            <a:r>
              <a:rPr sz="2000" b="1" spc="-15" dirty="0">
                <a:solidFill>
                  <a:srgbClr val="BEBEBE"/>
                </a:solidFill>
                <a:latin typeface="Times New Roman"/>
                <a:cs typeface="Times New Roman"/>
              </a:rPr>
              <a:t>Manchester</a:t>
            </a:r>
            <a:r>
              <a:rPr sz="2000" b="1" spc="-25" dirty="0">
                <a:solidFill>
                  <a:srgbClr val="BEBEBE"/>
                </a:solidFill>
                <a:latin typeface="Times New Roman"/>
                <a:cs typeface="Times New Roman"/>
              </a:rPr>
              <a:t> </a:t>
            </a:r>
            <a:r>
              <a:rPr sz="2000" b="1" spc="-30" dirty="0">
                <a:solidFill>
                  <a:srgbClr val="BEBEBE"/>
                </a:solidFill>
                <a:latin typeface="Times New Roman"/>
                <a:cs typeface="Times New Roman"/>
              </a:rPr>
              <a:t>Encodings;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655"/>
              </a:spcBef>
            </a:pPr>
            <a:r>
              <a:rPr sz="2000" b="1" spc="-145" dirty="0">
                <a:solidFill>
                  <a:srgbClr val="A6A6A6"/>
                </a:solidFill>
                <a:latin typeface="Times New Roman"/>
                <a:cs typeface="Times New Roman"/>
              </a:rPr>
              <a:t>IEEE802.11:</a:t>
            </a:r>
            <a:r>
              <a:rPr sz="2000" b="1" spc="-120" dirty="0">
                <a:solidFill>
                  <a:srgbClr val="A6A6A6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A6A6A6"/>
                </a:solidFill>
                <a:latin typeface="Times New Roman"/>
                <a:cs typeface="Times New Roman"/>
              </a:rPr>
              <a:t>Frequency</a:t>
            </a:r>
            <a:r>
              <a:rPr sz="2000" b="1" spc="-75" dirty="0">
                <a:solidFill>
                  <a:srgbClr val="A6A6A6"/>
                </a:solidFill>
                <a:latin typeface="Times New Roman"/>
                <a:cs typeface="Times New Roman"/>
              </a:rPr>
              <a:t> </a:t>
            </a:r>
            <a:r>
              <a:rPr sz="2000" b="1" spc="30" dirty="0">
                <a:solidFill>
                  <a:srgbClr val="A6A6A6"/>
                </a:solidFill>
                <a:latin typeface="Times New Roman"/>
                <a:cs typeface="Times New Roman"/>
              </a:rPr>
              <a:t>Hopping</a:t>
            </a:r>
            <a:r>
              <a:rPr sz="2000" b="1" spc="-80" dirty="0">
                <a:solidFill>
                  <a:srgbClr val="A6A6A6"/>
                </a:solidFill>
                <a:latin typeface="Times New Roman"/>
                <a:cs typeface="Times New Roman"/>
              </a:rPr>
              <a:t> </a:t>
            </a:r>
            <a:r>
              <a:rPr sz="2000" b="1" spc="-95" dirty="0">
                <a:solidFill>
                  <a:srgbClr val="A6A6A6"/>
                </a:solidFill>
                <a:latin typeface="Times New Roman"/>
                <a:cs typeface="Times New Roman"/>
              </a:rPr>
              <a:t>(FHSS)</a:t>
            </a:r>
            <a:r>
              <a:rPr sz="2000" b="1" spc="-55" dirty="0">
                <a:solidFill>
                  <a:srgbClr val="A6A6A6"/>
                </a:solidFill>
                <a:latin typeface="Times New Roman"/>
                <a:cs typeface="Times New Roman"/>
              </a:rPr>
              <a:t> </a:t>
            </a:r>
            <a:r>
              <a:rPr sz="2000" b="1" spc="-15" dirty="0">
                <a:solidFill>
                  <a:srgbClr val="A6A6A6"/>
                </a:solidFill>
                <a:latin typeface="Times New Roman"/>
                <a:cs typeface="Times New Roman"/>
              </a:rPr>
              <a:t>and</a:t>
            </a:r>
            <a:r>
              <a:rPr sz="2000" b="1" spc="-45" dirty="0">
                <a:solidFill>
                  <a:srgbClr val="A6A6A6"/>
                </a:solidFill>
                <a:latin typeface="Times New Roman"/>
                <a:cs typeface="Times New Roman"/>
              </a:rPr>
              <a:t> </a:t>
            </a:r>
            <a:r>
              <a:rPr sz="2000" b="1" spc="5" dirty="0">
                <a:solidFill>
                  <a:srgbClr val="A6A6A6"/>
                </a:solidFill>
                <a:latin typeface="Times New Roman"/>
                <a:cs typeface="Times New Roman"/>
              </a:rPr>
              <a:t>Direct</a:t>
            </a:r>
            <a:r>
              <a:rPr sz="2000" b="1" spc="-65" dirty="0">
                <a:solidFill>
                  <a:srgbClr val="A6A6A6"/>
                </a:solidFill>
                <a:latin typeface="Times New Roman"/>
                <a:cs typeface="Times New Roman"/>
              </a:rPr>
              <a:t> </a:t>
            </a:r>
            <a:r>
              <a:rPr sz="2000" b="1" spc="5" dirty="0">
                <a:solidFill>
                  <a:srgbClr val="A6A6A6"/>
                </a:solidFill>
                <a:latin typeface="Times New Roman"/>
                <a:cs typeface="Times New Roman"/>
              </a:rPr>
              <a:t>Sequence</a:t>
            </a:r>
            <a:r>
              <a:rPr sz="2000" b="1" spc="-60" dirty="0">
                <a:solidFill>
                  <a:srgbClr val="A6A6A6"/>
                </a:solidFill>
                <a:latin typeface="Times New Roman"/>
                <a:cs typeface="Times New Roman"/>
              </a:rPr>
              <a:t> </a:t>
            </a:r>
            <a:r>
              <a:rPr sz="2000" b="1" spc="-80" dirty="0">
                <a:solidFill>
                  <a:srgbClr val="A6A6A6"/>
                </a:solidFill>
                <a:latin typeface="Times New Roman"/>
                <a:cs typeface="Times New Roman"/>
              </a:rPr>
              <a:t>(DSSS)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688974"/>
            <a:ext cx="243776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45" dirty="0"/>
              <a:t>References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459740" y="1398777"/>
            <a:ext cx="8098790" cy="50565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55" dirty="0">
                <a:latin typeface="Times New Roman"/>
                <a:cs typeface="Times New Roman"/>
              </a:rPr>
              <a:t>Websites:</a:t>
            </a:r>
            <a:endParaRPr sz="200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spcBef>
                <a:spcPts val="120"/>
              </a:spcBef>
              <a:buClr>
                <a:srgbClr val="D24717"/>
              </a:buClr>
              <a:buSzPct val="85000"/>
              <a:buFont typeface="Segoe UI Symbol"/>
              <a:buChar char="⚫"/>
              <a:tabLst>
                <a:tab pos="286385" algn="l"/>
                <a:tab pos="287020" algn="l"/>
              </a:tabLst>
            </a:pPr>
            <a:r>
              <a:rPr sz="2000" i="1" u="sng" spc="-135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Times New Roman"/>
                <a:cs typeface="Times New Roman"/>
                <a:hlinkClick r:id="rId2"/>
              </a:rPr>
              <a:t>http://www.studytonight.com/computer-networks/</a:t>
            </a:r>
            <a:endParaRPr sz="200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spcBef>
                <a:spcPts val="120"/>
              </a:spcBef>
              <a:buClr>
                <a:srgbClr val="D24717"/>
              </a:buClr>
              <a:buSzPct val="85000"/>
              <a:buFont typeface="Segoe UI Symbol"/>
              <a:buChar char="⚫"/>
              <a:tabLst>
                <a:tab pos="286385" algn="l"/>
                <a:tab pos="287020" algn="l"/>
              </a:tabLst>
            </a:pPr>
            <a:r>
              <a:rPr sz="2000" i="1" u="sng" spc="-80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Times New Roman"/>
                <a:cs typeface="Times New Roman"/>
                <a:hlinkClick r:id="rId2"/>
              </a:rPr>
              <a:t>https://cs.fit.edu/~pkc/classes/dc/slides/ch3.ppt</a:t>
            </a:r>
            <a:endParaRPr sz="200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spcBef>
                <a:spcPts val="120"/>
              </a:spcBef>
              <a:buClr>
                <a:srgbClr val="D24717"/>
              </a:buClr>
              <a:buSzPct val="85000"/>
              <a:buFont typeface="Segoe UI Symbol"/>
              <a:buChar char="⚫"/>
              <a:tabLst>
                <a:tab pos="286385" algn="l"/>
                <a:tab pos="287020" algn="l"/>
              </a:tabLst>
            </a:pPr>
            <a:r>
              <a:rPr sz="2000" i="1" u="sng" spc="-145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Times New Roman"/>
                <a:cs typeface="Times New Roman"/>
                <a:hlinkClick r:id="rId3"/>
              </a:rPr>
              <a:t>https://www.techopedia.com/</a:t>
            </a:r>
            <a:r>
              <a:rPr sz="1400" i="1" u="sng" spc="-145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Times New Roman"/>
                <a:cs typeface="Times New Roman"/>
                <a:hlinkClick r:id="rId3"/>
              </a:rPr>
              <a:t>2/29090</a:t>
            </a:r>
            <a:r>
              <a:rPr sz="2000" i="1" u="sng" spc="-145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Times New Roman"/>
                <a:cs typeface="Times New Roman"/>
                <a:hlinkClick r:id="rId3"/>
              </a:rPr>
              <a:t>/networks/lanwanman-an-overview-of-network-types</a:t>
            </a:r>
            <a:endParaRPr sz="200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spcBef>
                <a:spcPts val="120"/>
              </a:spcBef>
              <a:buClr>
                <a:srgbClr val="D24717"/>
              </a:buClr>
              <a:buSzPct val="85000"/>
              <a:buFont typeface="Segoe UI Symbol"/>
              <a:buChar char="⚫"/>
              <a:tabLst>
                <a:tab pos="286385" algn="l"/>
                <a:tab pos="287020" algn="l"/>
              </a:tabLst>
            </a:pPr>
            <a:r>
              <a:rPr sz="2000" i="1" u="sng" spc="-155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Times New Roman"/>
                <a:cs typeface="Times New Roman"/>
                <a:hlinkClick r:id="rId4"/>
              </a:rPr>
              <a:t>https://www.slideshare.net/ENGMSHARI/adhoc-networks</a:t>
            </a:r>
            <a:endParaRPr sz="200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spcBef>
                <a:spcPts val="120"/>
              </a:spcBef>
              <a:buClr>
                <a:srgbClr val="D24717"/>
              </a:buClr>
              <a:buSzPct val="85000"/>
              <a:buFont typeface="Segoe UI Symbol"/>
              <a:buChar char="⚫"/>
              <a:tabLst>
                <a:tab pos="286385" algn="l"/>
                <a:tab pos="287020" algn="l"/>
              </a:tabLst>
            </a:pPr>
            <a:r>
              <a:rPr sz="2000" i="1" u="sng" spc="-150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Times New Roman"/>
                <a:cs typeface="Times New Roman"/>
                <a:hlinkClick r:id="rId5"/>
              </a:rPr>
              <a:t>http://www.businessdictionary.com/definition/distributed-network-architecture-DNA.html</a:t>
            </a:r>
            <a:endParaRPr sz="200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spcBef>
                <a:spcPts val="120"/>
              </a:spcBef>
              <a:buClr>
                <a:srgbClr val="D24717"/>
              </a:buClr>
              <a:buSzPct val="85000"/>
              <a:buFont typeface="Segoe UI Symbol"/>
              <a:buChar char="⚫"/>
              <a:tabLst>
                <a:tab pos="286385" algn="l"/>
                <a:tab pos="287020" algn="l"/>
              </a:tabLst>
            </a:pPr>
            <a:r>
              <a:rPr sz="2000" i="1" u="sng" spc="-120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Times New Roman"/>
                <a:cs typeface="Times New Roman"/>
                <a:hlinkClick r:id="rId6"/>
              </a:rPr>
              <a:t>https://en.wikipedia.org/wiki/Optical_fiber_cable</a:t>
            </a:r>
            <a:endParaRPr sz="200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spcBef>
                <a:spcPts val="125"/>
              </a:spcBef>
              <a:buClr>
                <a:srgbClr val="D24717"/>
              </a:buClr>
              <a:buSzPct val="85000"/>
              <a:buFont typeface="Segoe UI Symbol"/>
              <a:buChar char="⚫"/>
              <a:tabLst>
                <a:tab pos="286385" algn="l"/>
                <a:tab pos="287020" algn="l"/>
              </a:tabLst>
            </a:pPr>
            <a:r>
              <a:rPr sz="2000" i="1" u="sng" spc="-120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Times New Roman"/>
                <a:cs typeface="Times New Roman"/>
                <a:hlinkClick r:id="rId7"/>
              </a:rPr>
              <a:t>https://en.wikipedia.org/wiki/Radio_spectrum</a:t>
            </a:r>
            <a:endParaRPr sz="200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spcBef>
                <a:spcPts val="120"/>
              </a:spcBef>
              <a:buClr>
                <a:srgbClr val="D24717"/>
              </a:buClr>
              <a:buSzPct val="85000"/>
              <a:buFont typeface="Segoe UI Symbol"/>
              <a:buChar char="⚫"/>
              <a:tabLst>
                <a:tab pos="286385" algn="l"/>
                <a:tab pos="287020" algn="l"/>
              </a:tabLst>
            </a:pPr>
            <a:r>
              <a:rPr sz="2000" i="1" u="sng" spc="-135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Times New Roman"/>
                <a:cs typeface="Times New Roman"/>
                <a:hlinkClick r:id="rId8"/>
              </a:rPr>
              <a:t>https://www.slideshare.net/rupinderj/networking-devices-</a:t>
            </a:r>
            <a:r>
              <a:rPr sz="1400" i="1" u="sng" spc="-135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Times New Roman"/>
                <a:cs typeface="Times New Roman"/>
                <a:hlinkClick r:id="rId8"/>
              </a:rPr>
              <a:t>12807479</a:t>
            </a:r>
            <a:endParaRPr sz="140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spcBef>
                <a:spcPts val="120"/>
              </a:spcBef>
              <a:buClr>
                <a:srgbClr val="D24717"/>
              </a:buClr>
              <a:buSzPct val="85000"/>
              <a:buFont typeface="Segoe UI Symbol"/>
              <a:buChar char="⚫"/>
              <a:tabLst>
                <a:tab pos="286385" algn="l"/>
                <a:tab pos="287020" algn="l"/>
              </a:tabLst>
            </a:pPr>
            <a:r>
              <a:rPr sz="2000" i="1" u="sng" spc="-130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Times New Roman"/>
                <a:cs typeface="Times New Roman"/>
                <a:hlinkClick r:id="rId9"/>
              </a:rPr>
              <a:t>https://en.wikipedia.org/wiki/Wireless_access_point</a:t>
            </a:r>
            <a:endParaRPr sz="200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spcBef>
                <a:spcPts val="120"/>
              </a:spcBef>
              <a:buClr>
                <a:srgbClr val="D24717"/>
              </a:buClr>
              <a:buSzPct val="85000"/>
              <a:buFont typeface="Segoe UI Symbol"/>
              <a:buChar char="⚫"/>
              <a:tabLst>
                <a:tab pos="286385" algn="l"/>
                <a:tab pos="287020" algn="l"/>
              </a:tabLst>
            </a:pPr>
            <a:r>
              <a:rPr sz="2000" i="1" u="sng" spc="-135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Times New Roman"/>
                <a:cs typeface="Times New Roman"/>
                <a:hlinkClick r:id="rId10"/>
              </a:rPr>
              <a:t>https://www.slideshare.net/LukaXavi/data-encoding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D24717"/>
              </a:buClr>
              <a:buFont typeface="Segoe UI Symbol"/>
              <a:buChar char="⚫"/>
            </a:pPr>
            <a:endParaRPr sz="22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b="1" spc="-380" dirty="0">
                <a:latin typeface="Times New Roman"/>
                <a:cs typeface="Times New Roman"/>
              </a:rPr>
              <a:t>T</a:t>
            </a:r>
            <a:r>
              <a:rPr sz="2000" b="1" spc="65" dirty="0">
                <a:latin typeface="Times New Roman"/>
                <a:cs typeface="Times New Roman"/>
              </a:rPr>
              <a:t>e</a:t>
            </a:r>
            <a:r>
              <a:rPr sz="2000" b="1" spc="70" dirty="0">
                <a:latin typeface="Times New Roman"/>
                <a:cs typeface="Times New Roman"/>
              </a:rPr>
              <a:t>x</a:t>
            </a:r>
            <a:r>
              <a:rPr sz="2000" b="1" spc="20" dirty="0">
                <a:latin typeface="Times New Roman"/>
                <a:cs typeface="Times New Roman"/>
              </a:rPr>
              <a:t>t</a:t>
            </a:r>
            <a:r>
              <a:rPr sz="2000" b="1" spc="-65" dirty="0">
                <a:latin typeface="Times New Roman"/>
                <a:cs typeface="Times New Roman"/>
              </a:rPr>
              <a:t> </a:t>
            </a:r>
            <a:r>
              <a:rPr sz="2000" b="1" spc="-15" dirty="0">
                <a:latin typeface="Times New Roman"/>
                <a:cs typeface="Times New Roman"/>
              </a:rPr>
              <a:t>B</a:t>
            </a:r>
            <a:r>
              <a:rPr sz="2000" b="1" spc="-5" dirty="0">
                <a:latin typeface="Times New Roman"/>
                <a:cs typeface="Times New Roman"/>
              </a:rPr>
              <a:t>o</a:t>
            </a:r>
            <a:r>
              <a:rPr sz="2000" b="1" spc="15" dirty="0">
                <a:latin typeface="Times New Roman"/>
                <a:cs typeface="Times New Roman"/>
              </a:rPr>
              <a:t>oks</a:t>
            </a:r>
            <a:r>
              <a:rPr sz="2000" b="1" spc="-150" dirty="0">
                <a:latin typeface="Times New Roman"/>
                <a:cs typeface="Times New Roman"/>
              </a:rPr>
              <a:t>:</a:t>
            </a:r>
            <a:endParaRPr sz="200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spcBef>
                <a:spcPts val="120"/>
              </a:spcBef>
              <a:buClr>
                <a:srgbClr val="D24717"/>
              </a:buClr>
              <a:buSzPct val="85000"/>
              <a:buFont typeface="Segoe UI Symbol"/>
              <a:buChar char="⚫"/>
              <a:tabLst>
                <a:tab pos="286385" algn="l"/>
                <a:tab pos="287020" algn="l"/>
              </a:tabLst>
            </a:pPr>
            <a:r>
              <a:rPr sz="2000" spc="-114" dirty="0">
                <a:latin typeface="Times New Roman"/>
                <a:cs typeface="Times New Roman"/>
              </a:rPr>
              <a:t>Andrew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95" dirty="0">
                <a:latin typeface="Times New Roman"/>
                <a:cs typeface="Times New Roman"/>
              </a:rPr>
              <a:t>S.Tenenbaum,</a:t>
            </a:r>
            <a:r>
              <a:rPr sz="2000" spc="-215" dirty="0">
                <a:latin typeface="Times New Roman"/>
                <a:cs typeface="Times New Roman"/>
              </a:rPr>
              <a:t> </a:t>
            </a:r>
            <a:r>
              <a:rPr sz="2000" spc="-90" dirty="0">
                <a:latin typeface="Times New Roman"/>
                <a:cs typeface="Times New Roman"/>
              </a:rPr>
              <a:t>“Computer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85" dirty="0">
                <a:latin typeface="Times New Roman"/>
                <a:cs typeface="Times New Roman"/>
              </a:rPr>
              <a:t>Networks”,5th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70" dirty="0">
                <a:latin typeface="Times New Roman"/>
                <a:cs typeface="Times New Roman"/>
              </a:rPr>
              <a:t>Edition,</a:t>
            </a:r>
            <a:r>
              <a:rPr sz="2000" spc="-90" dirty="0">
                <a:latin typeface="Times New Roman"/>
                <a:cs typeface="Times New Roman"/>
              </a:rPr>
              <a:t> </a:t>
            </a:r>
            <a:r>
              <a:rPr sz="2000" spc="-70" dirty="0">
                <a:latin typeface="Times New Roman"/>
                <a:cs typeface="Times New Roman"/>
              </a:rPr>
              <a:t>PHI,</a:t>
            </a:r>
            <a:r>
              <a:rPr sz="2000" spc="-120" dirty="0">
                <a:latin typeface="Times New Roman"/>
                <a:cs typeface="Times New Roman"/>
              </a:rPr>
              <a:t> </a:t>
            </a:r>
            <a:r>
              <a:rPr sz="2000" spc="-215" dirty="0">
                <a:latin typeface="Times New Roman"/>
                <a:cs typeface="Times New Roman"/>
              </a:rPr>
              <a:t>ISBN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1800" spc="-60" dirty="0">
                <a:latin typeface="Times New Roman"/>
                <a:cs typeface="Times New Roman"/>
              </a:rPr>
              <a:t>81-203-2175-8.</a:t>
            </a:r>
            <a:endParaRPr sz="1800">
              <a:latin typeface="Times New Roman"/>
              <a:cs typeface="Times New Roman"/>
            </a:endParaRPr>
          </a:p>
          <a:p>
            <a:pPr marL="286385" marR="149860" indent="-274320">
              <a:lnSpc>
                <a:spcPts val="1920"/>
              </a:lnSpc>
              <a:spcBef>
                <a:spcPts val="580"/>
              </a:spcBef>
              <a:buClr>
                <a:srgbClr val="D24717"/>
              </a:buClr>
              <a:buSzPct val="85000"/>
              <a:buFont typeface="Segoe UI Symbol"/>
              <a:buChar char="⚫"/>
              <a:tabLst>
                <a:tab pos="286385" algn="l"/>
                <a:tab pos="287020" algn="l"/>
              </a:tabLst>
            </a:pPr>
            <a:r>
              <a:rPr sz="2000" spc="-125" dirty="0">
                <a:latin typeface="Times New Roman"/>
                <a:cs typeface="Times New Roman"/>
              </a:rPr>
              <a:t>Fourauzan </a:t>
            </a:r>
            <a:r>
              <a:rPr sz="2000" spc="-70" dirty="0">
                <a:latin typeface="Times New Roman"/>
                <a:cs typeface="Times New Roman"/>
              </a:rPr>
              <a:t>B., </a:t>
            </a:r>
            <a:r>
              <a:rPr sz="2000" spc="-85" dirty="0">
                <a:latin typeface="Times New Roman"/>
                <a:cs typeface="Times New Roman"/>
              </a:rPr>
              <a:t>"Data </a:t>
            </a:r>
            <a:r>
              <a:rPr sz="2000" spc="-105" dirty="0">
                <a:latin typeface="Times New Roman"/>
                <a:cs typeface="Times New Roman"/>
              </a:rPr>
              <a:t>Communications </a:t>
            </a:r>
            <a:r>
              <a:rPr sz="2000" spc="-110" dirty="0">
                <a:latin typeface="Times New Roman"/>
                <a:cs typeface="Times New Roman"/>
              </a:rPr>
              <a:t>and </a:t>
            </a:r>
            <a:r>
              <a:rPr sz="2000" spc="-70" dirty="0">
                <a:latin typeface="Times New Roman"/>
                <a:cs typeface="Times New Roman"/>
              </a:rPr>
              <a:t>Networking", </a:t>
            </a:r>
            <a:r>
              <a:rPr sz="2000" spc="-60" dirty="0">
                <a:latin typeface="Times New Roman"/>
                <a:cs typeface="Times New Roman"/>
              </a:rPr>
              <a:t>5th </a:t>
            </a:r>
            <a:r>
              <a:rPr sz="2000" spc="-70" dirty="0">
                <a:latin typeface="Times New Roman"/>
                <a:cs typeface="Times New Roman"/>
              </a:rPr>
              <a:t>Edition, </a:t>
            </a:r>
            <a:r>
              <a:rPr sz="2000" spc="-155" dirty="0">
                <a:latin typeface="Times New Roman"/>
                <a:cs typeface="Times New Roman"/>
              </a:rPr>
              <a:t>Tata </a:t>
            </a:r>
            <a:r>
              <a:rPr sz="2000" spc="-120" dirty="0">
                <a:latin typeface="Times New Roman"/>
                <a:cs typeface="Times New Roman"/>
              </a:rPr>
              <a:t>McGraw-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spc="-60" dirty="0">
                <a:latin typeface="Times New Roman"/>
                <a:cs typeface="Times New Roman"/>
              </a:rPr>
              <a:t>Hill,</a:t>
            </a:r>
            <a:r>
              <a:rPr sz="2000" spc="-140" dirty="0">
                <a:latin typeface="Times New Roman"/>
                <a:cs typeface="Times New Roman"/>
              </a:rPr>
              <a:t> </a:t>
            </a:r>
            <a:r>
              <a:rPr sz="2000" spc="-90" dirty="0">
                <a:latin typeface="Times New Roman"/>
                <a:cs typeface="Times New Roman"/>
              </a:rPr>
              <a:t>Publications,</a:t>
            </a:r>
            <a:r>
              <a:rPr sz="2000" spc="-120" dirty="0">
                <a:latin typeface="Times New Roman"/>
                <a:cs typeface="Times New Roman"/>
              </a:rPr>
              <a:t> </a:t>
            </a:r>
            <a:r>
              <a:rPr sz="2000" spc="-90" dirty="0">
                <a:latin typeface="Times New Roman"/>
                <a:cs typeface="Times New Roman"/>
              </a:rPr>
              <a:t>2006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CC99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</TotalTime>
  <Words>4164</Words>
  <Application>Microsoft Office PowerPoint</Application>
  <PresentationFormat>On-screen Show (4:3)</PresentationFormat>
  <Paragraphs>563</Paragraphs>
  <Slides>75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75</vt:i4>
      </vt:variant>
    </vt:vector>
  </HeadingPairs>
  <TitlesOfParts>
    <vt:vector size="84" baseType="lpstr">
      <vt:lpstr>Arial</vt:lpstr>
      <vt:lpstr>Arial MT</vt:lpstr>
      <vt:lpstr>Calibri</vt:lpstr>
      <vt:lpstr>Cambria</vt:lpstr>
      <vt:lpstr>Franklin Gothic Medium</vt:lpstr>
      <vt:lpstr>Segoe UI Symbol</vt:lpstr>
      <vt:lpstr>Times New Roman</vt:lpstr>
      <vt:lpstr>Wingdings</vt:lpstr>
      <vt:lpstr>Office Theme</vt:lpstr>
      <vt:lpstr>             Computer Networks   Unit II – Physical Layer</vt:lpstr>
      <vt:lpstr>Outline</vt:lpstr>
      <vt:lpstr>Transmission Mediums</vt:lpstr>
      <vt:lpstr>Common network cable types</vt:lpstr>
      <vt:lpstr>UTP characteristics</vt:lpstr>
      <vt:lpstr>UTP categories</vt:lpstr>
      <vt:lpstr>Categories of UTP: CAT 5</vt:lpstr>
      <vt:lpstr>Categories of UTP: CAT 5e</vt:lpstr>
      <vt:lpstr>Categories of UTP: CAT 6</vt:lpstr>
      <vt:lpstr>Comparison between CAT5,5e and 6</vt:lpstr>
      <vt:lpstr>OFC- Optical fiber cable</vt:lpstr>
      <vt:lpstr>Fiber Media</vt:lpstr>
      <vt:lpstr>Total Internal Reflection</vt:lpstr>
      <vt:lpstr>Fiber Media</vt:lpstr>
      <vt:lpstr>Single and Multimode Fiber</vt:lpstr>
      <vt:lpstr>Fiber Media</vt:lpstr>
      <vt:lpstr>Fiber-Optic Cable</vt:lpstr>
      <vt:lpstr>Fiber Optic Cable</vt:lpstr>
      <vt:lpstr>Radio Spectrum</vt:lpstr>
      <vt:lpstr>Frequency Band</vt:lpstr>
      <vt:lpstr>Outline</vt:lpstr>
      <vt:lpstr>Devices and the layers at which they  operate</vt:lpstr>
      <vt:lpstr>Network Devices:</vt:lpstr>
      <vt:lpstr>Hubs</vt:lpstr>
      <vt:lpstr>Repeaters</vt:lpstr>
      <vt:lpstr>PowerPoint Presentation</vt:lpstr>
      <vt:lpstr>Switches</vt:lpstr>
      <vt:lpstr>Store and Forward Switches</vt:lpstr>
      <vt:lpstr>Cut Through Switch</vt:lpstr>
      <vt:lpstr>Unmanaged/Intelligent switches</vt:lpstr>
      <vt:lpstr>Comparison of Hub and Switch</vt:lpstr>
      <vt:lpstr>Bridges</vt:lpstr>
      <vt:lpstr>PowerPoint Presentation</vt:lpstr>
      <vt:lpstr>How BridgesWork</vt:lpstr>
      <vt:lpstr>Characteristics of Bridges</vt:lpstr>
      <vt:lpstr>Types of Bridges</vt:lpstr>
      <vt:lpstr>Advantages And Disadvantages Of Bridges</vt:lpstr>
      <vt:lpstr>Comparison of Switch and Bridge</vt:lpstr>
      <vt:lpstr>Two and Three layer switches</vt:lpstr>
      <vt:lpstr>3-layer switches- Router</vt:lpstr>
      <vt:lpstr>Advantages and Disadvantages of Routers</vt:lpstr>
      <vt:lpstr>Routers versus Bridges</vt:lpstr>
      <vt:lpstr>PowerPoint Presentation</vt:lpstr>
      <vt:lpstr>Brouters: Bridging Routers</vt:lpstr>
      <vt:lpstr>Gateway</vt:lpstr>
      <vt:lpstr>Access Point</vt:lpstr>
      <vt:lpstr>Access Point</vt:lpstr>
      <vt:lpstr>Outline</vt:lpstr>
      <vt:lpstr>Encoding</vt:lpstr>
      <vt:lpstr>Digital-to-Digital Encoding</vt:lpstr>
      <vt:lpstr>UNIPOLAR ENCODING</vt:lpstr>
      <vt:lpstr>Lack of synchronization</vt:lpstr>
      <vt:lpstr>POLAR ENCODING</vt:lpstr>
      <vt:lpstr>Manchester</vt:lpstr>
      <vt:lpstr>Manchester Encoding</vt:lpstr>
      <vt:lpstr>Differential Manchester Coding</vt:lpstr>
      <vt:lpstr>Differential Manchester encoding</vt:lpstr>
      <vt:lpstr>Outline</vt:lpstr>
      <vt:lpstr>IEEE 802 Standards</vt:lpstr>
      <vt:lpstr>IEEE developed the first  internationally recognized wireless  LAN standard – IEEE 802.11 in 1997</vt:lpstr>
      <vt:lpstr>IEEE 802.11 Standards</vt:lpstr>
      <vt:lpstr>Physical Media of 802.11 Standard</vt:lpstr>
      <vt:lpstr>What is meant by Spread Spectrum</vt:lpstr>
      <vt:lpstr>Spread spectrum</vt:lpstr>
      <vt:lpstr>Frequency Hopping Spread Spectrum  (FHSS)</vt:lpstr>
      <vt:lpstr>Frequency hopping spread spectrum (FHSS)</vt:lpstr>
      <vt:lpstr>Frequency hopping spread spectrum (FHSS)</vt:lpstr>
      <vt:lpstr>FHSS cycles</vt:lpstr>
      <vt:lpstr>Bandwidth sharing difference between FDM and FHSS</vt:lpstr>
      <vt:lpstr>Direct Sequence Spread Spectrum (DSSS)</vt:lpstr>
      <vt:lpstr>Direct Sequence Spread Spectrum (DSSS)</vt:lpstr>
      <vt:lpstr>DSSS example</vt:lpstr>
      <vt:lpstr>FHSS Vs DSSS</vt:lpstr>
      <vt:lpstr>Outline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Networks(2015 Pattern) Unit I- Physical Layer</dc:title>
  <dc:creator>Administrator</dc:creator>
  <cp:lastModifiedBy>Lenovo</cp:lastModifiedBy>
  <cp:revision>3</cp:revision>
  <dcterms:created xsi:type="dcterms:W3CDTF">2023-07-06T16:38:04Z</dcterms:created>
  <dcterms:modified xsi:type="dcterms:W3CDTF">2024-01-10T07:09:14Z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2017-06-19T00:00:00Z</vt:filetime>
  </property>
  <property fmtid="{D5CDD505-2E9C-101B-9397-08002B2CF9AE}" pid="3" name="Creator">
    <vt:lpwstr>Microsoft® PowerPoint® 2010</vt:lpwstr>
  </property>
  <property fmtid="{D5CDD505-2E9C-101B-9397-08002B2CF9AE}" pid="4" name="LastSaved">
    <vt:filetime>2023-07-06T00:00:00Z</vt:filetime>
  </property>
</Properties>
</file>