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256" r:id="rId2"/>
    <p:sldId id="257" r:id="rId3"/>
    <p:sldId id="258" r:id="rId4"/>
    <p:sldId id="259" r:id="rId5"/>
    <p:sldId id="260" r:id="rId6"/>
    <p:sldId id="261" r:id="rId7"/>
    <p:sldId id="285" r:id="rId8"/>
    <p:sldId id="286" r:id="rId9"/>
    <p:sldId id="287" r:id="rId10"/>
    <p:sldId id="262" r:id="rId11"/>
    <p:sldId id="264" r:id="rId12"/>
    <p:sldId id="266" r:id="rId13"/>
    <p:sldId id="263" r:id="rId14"/>
    <p:sldId id="267" r:id="rId15"/>
    <p:sldId id="268" r:id="rId16"/>
    <p:sldId id="269" r:id="rId17"/>
    <p:sldId id="270" r:id="rId18"/>
    <p:sldId id="271" r:id="rId19"/>
    <p:sldId id="272" r:id="rId20"/>
    <p:sldId id="273" r:id="rId21"/>
    <p:sldId id="274" r:id="rId22"/>
    <p:sldId id="275" r:id="rId23"/>
    <p:sldId id="282" r:id="rId24"/>
    <p:sldId id="276" r:id="rId25"/>
    <p:sldId id="281" r:id="rId26"/>
    <p:sldId id="277" r:id="rId27"/>
    <p:sldId id="278" r:id="rId28"/>
    <p:sldId id="280" r:id="rId29"/>
    <p:sldId id="283" r:id="rId30"/>
    <p:sldId id="284" r:id="rId31"/>
    <p:sldId id="288" r:id="rId32"/>
    <p:sldId id="289" r:id="rId33"/>
    <p:sldId id="290" r:id="rId34"/>
    <p:sldId id="291" r:id="rId35"/>
    <p:sldId id="292" r:id="rId36"/>
    <p:sldId id="293" r:id="rId37"/>
    <p:sldId id="416" r:id="rId38"/>
    <p:sldId id="298" r:id="rId39"/>
    <p:sldId id="297" r:id="rId40"/>
    <p:sldId id="296" r:id="rId41"/>
    <p:sldId id="294" r:id="rId42"/>
    <p:sldId id="299" r:id="rId43"/>
    <p:sldId id="415" r:id="rId44"/>
    <p:sldId id="295" r:id="rId45"/>
    <p:sldId id="301" r:id="rId46"/>
    <p:sldId id="300" r:id="rId47"/>
    <p:sldId id="414" r:id="rId48"/>
    <p:sldId id="309" r:id="rId49"/>
    <p:sldId id="310" r:id="rId50"/>
    <p:sldId id="311" r:id="rId51"/>
    <p:sldId id="302" r:id="rId52"/>
    <p:sldId id="303" r:id="rId53"/>
    <p:sldId id="312" r:id="rId54"/>
    <p:sldId id="313" r:id="rId55"/>
    <p:sldId id="304" r:id="rId56"/>
    <p:sldId id="305" r:id="rId57"/>
    <p:sldId id="314" r:id="rId58"/>
    <p:sldId id="315" r:id="rId59"/>
    <p:sldId id="316" r:id="rId60"/>
    <p:sldId id="317" r:id="rId61"/>
    <p:sldId id="306" r:id="rId62"/>
    <p:sldId id="318" r:id="rId63"/>
    <p:sldId id="319" r:id="rId64"/>
    <p:sldId id="307" r:id="rId65"/>
    <p:sldId id="329" r:id="rId66"/>
    <p:sldId id="330" r:id="rId67"/>
    <p:sldId id="331" r:id="rId68"/>
    <p:sldId id="332" r:id="rId69"/>
    <p:sldId id="333" r:id="rId70"/>
    <p:sldId id="334" r:id="rId71"/>
    <p:sldId id="340" r:id="rId72"/>
    <p:sldId id="341" r:id="rId73"/>
    <p:sldId id="342" r:id="rId74"/>
    <p:sldId id="343" r:id="rId75"/>
    <p:sldId id="344" r:id="rId76"/>
    <p:sldId id="346" r:id="rId77"/>
    <p:sldId id="345" r:id="rId78"/>
    <p:sldId id="347" r:id="rId79"/>
    <p:sldId id="348" r:id="rId80"/>
    <p:sldId id="349" r:id="rId81"/>
    <p:sldId id="308" r:id="rId82"/>
    <p:sldId id="335" r:id="rId83"/>
    <p:sldId id="350" r:id="rId84"/>
    <p:sldId id="351" r:id="rId85"/>
    <p:sldId id="320" r:id="rId86"/>
    <p:sldId id="321" r:id="rId87"/>
    <p:sldId id="322" r:id="rId88"/>
    <p:sldId id="336" r:id="rId89"/>
    <p:sldId id="337" r:id="rId90"/>
    <p:sldId id="338" r:id="rId91"/>
    <p:sldId id="339" r:id="rId92"/>
    <p:sldId id="323" r:id="rId93"/>
    <p:sldId id="324" r:id="rId94"/>
    <p:sldId id="352" r:id="rId95"/>
    <p:sldId id="353" r:id="rId96"/>
    <p:sldId id="354" r:id="rId97"/>
    <p:sldId id="355" r:id="rId98"/>
    <p:sldId id="325" r:id="rId99"/>
    <p:sldId id="326" r:id="rId100"/>
    <p:sldId id="327" r:id="rId101"/>
    <p:sldId id="356" r:id="rId102"/>
    <p:sldId id="357" r:id="rId103"/>
    <p:sldId id="328" r:id="rId104"/>
    <p:sldId id="359" r:id="rId105"/>
    <p:sldId id="360" r:id="rId106"/>
    <p:sldId id="358"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5" r:id="rId139"/>
    <p:sldId id="392" r:id="rId140"/>
    <p:sldId id="396" r:id="rId141"/>
    <p:sldId id="393" r:id="rId142"/>
    <p:sldId id="397" r:id="rId143"/>
    <p:sldId id="398" r:id="rId144"/>
    <p:sldId id="394" r:id="rId145"/>
    <p:sldId id="399" r:id="rId146"/>
    <p:sldId id="400" r:id="rId147"/>
    <p:sldId id="401" r:id="rId148"/>
    <p:sldId id="402" r:id="rId149"/>
    <p:sldId id="403" r:id="rId150"/>
    <p:sldId id="405" r:id="rId151"/>
    <p:sldId id="404" r:id="rId152"/>
    <p:sldId id="406" r:id="rId153"/>
    <p:sldId id="408" r:id="rId154"/>
    <p:sldId id="407" r:id="rId155"/>
    <p:sldId id="409" r:id="rId156"/>
    <p:sldId id="410" r:id="rId157"/>
    <p:sldId id="411" r:id="rId158"/>
    <p:sldId id="412" r:id="rId159"/>
    <p:sldId id="413" r:id="rId1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7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1FE243-5B38-4430-9457-BDA1975DD53F}" type="datetimeFigureOut">
              <a:rPr lang="en-US" smtClean="0"/>
              <a:t>3/6/2025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A51EF9-85A6-412F-8EA2-AF6F42D49D1B}" type="slidenum">
              <a:rPr lang="en-US" smtClean="0"/>
              <a:t>‹#›</a:t>
            </a:fld>
            <a:endParaRPr lang="en-US"/>
          </a:p>
        </p:txBody>
      </p:sp>
    </p:spTree>
    <p:extLst>
      <p:ext uri="{BB962C8B-B14F-4D97-AF65-F5344CB8AC3E}">
        <p14:creationId xmlns:p14="http://schemas.microsoft.com/office/powerpoint/2010/main" val="57598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 Continue to do something.</a:t>
            </a:r>
          </a:p>
        </p:txBody>
      </p:sp>
      <p:sp>
        <p:nvSpPr>
          <p:cNvPr id="4" name="Slide Number Placeholder 3"/>
          <p:cNvSpPr>
            <a:spLocks noGrp="1"/>
          </p:cNvSpPr>
          <p:nvPr>
            <p:ph type="sldNum" sz="quarter" idx="5"/>
          </p:nvPr>
        </p:nvSpPr>
        <p:spPr/>
        <p:txBody>
          <a:bodyPr/>
          <a:lstStyle/>
          <a:p>
            <a:fld id="{AFA51EF9-85A6-412F-8EA2-AF6F42D49D1B}" type="slidenum">
              <a:rPr lang="en-US" smtClean="0"/>
              <a:t>35</a:t>
            </a:fld>
            <a:endParaRPr lang="en-US"/>
          </a:p>
        </p:txBody>
      </p:sp>
    </p:spTree>
    <p:extLst>
      <p:ext uri="{BB962C8B-B14F-4D97-AF65-F5344CB8AC3E}">
        <p14:creationId xmlns:p14="http://schemas.microsoft.com/office/powerpoint/2010/main" val="1859262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B5F69B-9411-4377-96C7-CAAA5B548455}"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5F69B-9411-4377-96C7-CAAA5B548455}"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B5F69B-9411-4377-96C7-CAAA5B548455}"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B5F69B-9411-4377-96C7-CAAA5B548455}"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B5F69B-9411-4377-96C7-CAAA5B548455}" type="datetimeFigureOut">
              <a:rPr lang="en-US" smtClean="0"/>
              <a:pPr/>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B5F69B-9411-4377-96C7-CAAA5B548455}" type="datetimeFigureOut">
              <a:rPr lang="en-US" smtClean="0"/>
              <a:pPr/>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5F69B-9411-4377-96C7-CAAA5B548455}" type="datetimeFigureOut">
              <a:rPr lang="en-US" smtClean="0"/>
              <a:pPr/>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B5F69B-9411-4377-96C7-CAAA5B548455}"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B5F69B-9411-4377-96C7-CAAA5B548455}" type="datetimeFigureOut">
              <a:rPr lang="en-US" smtClean="0"/>
              <a:pPr/>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5F69B-9411-4377-96C7-CAAA5B548455}"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5F69B-9411-4377-96C7-CAAA5B548455}" type="datetimeFigureOut">
              <a:rPr lang="en-US" smtClean="0"/>
              <a:pPr/>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75042-EC41-4E7C-BAD2-25B46C0B15E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5F69B-9411-4377-96C7-CAAA5B548455}" type="datetimeFigureOut">
              <a:rPr lang="en-US" smtClean="0"/>
              <a:pPr/>
              <a:t>3/6/2025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C75042-EC41-4E7C-BAD2-25B46C0B15E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hyperlink" Target="http://en.wikipedia.org/wiki/Automatic_repeat_request" TargetMode="External"/><Relationship Id="rId2" Type="http://schemas.openxmlformats.org/officeDocument/2006/relationships/hyperlink" Target="http://en.wikipedia.org/wiki/Flow_control_(data)" TargetMode="External"/><Relationship Id="rId1" Type="http://schemas.openxmlformats.org/officeDocument/2006/relationships/slideLayout" Target="../slideLayouts/slideLayout7.xml"/><Relationship Id="rId5" Type="http://schemas.openxmlformats.org/officeDocument/2006/relationships/hyperlink" Target="http://en.wikipedia.org/wiki/Network_layer" TargetMode="External"/><Relationship Id="rId4" Type="http://schemas.openxmlformats.org/officeDocument/2006/relationships/hyperlink" Target="http://en.wikipedia.org/wiki/Media_access_control"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hyperlink" Target="http://compnetworking.about.com/cs/bluetooth/g/bldef_bluetooth.htm" TargetMode="External"/><Relationship Id="rId2" Type="http://schemas.openxmlformats.org/officeDocument/2006/relationships/hyperlink" Target="http://compnetworking.about.com/cs/wireless80211/g/bldef_wifi.htm" TargetMode="Externa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hyperlink" Target="http://compnetworking.about.com/od/speedtests/g/bldef_bandwidth.htm" TargetMode="External"/><Relationship Id="rId2" Type="http://schemas.openxmlformats.org/officeDocument/2006/relationships/hyperlink" Target="http://linux.about.com/cs/linux101/g/wlan.htm" TargetMode="External"/><Relationship Id="rId1" Type="http://schemas.openxmlformats.org/officeDocument/2006/relationships/slideLayout" Target="../slideLayouts/slideLayout7.xml"/><Relationship Id="rId5" Type="http://schemas.openxmlformats.org/officeDocument/2006/relationships/hyperlink" Target="http://compnetworking.about.com/od/wireless/ss/wirelessgear_3.htm" TargetMode="External"/><Relationship Id="rId4" Type="http://schemas.openxmlformats.org/officeDocument/2006/relationships/hyperlink" Target="http://compnetworking.about.com/od/speedtests/g/kbps-mbps-gbps-network-bit-rates.htm" TargetMode="External"/></Relationships>
</file>

<file path=ppt/slides/_rels/slide1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hyperlink" Target="http://compnetworking.about.com/od/wirelessfaqs/g/ghz.htm" TargetMode="External"/><Relationship Id="rId2" Type="http://schemas.openxmlformats.org/officeDocument/2006/relationships/hyperlink" Target="http://compnetworking.about.com/cs/ethernet1/g/bldef_ethernet.htm" TargetMode="Externa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hyperlink" Target="http://compnetworking.about.com/od/wifihomenetworking/tp/kits80211g.htm" TargetMode="Externa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hyperlink" Target="http://compnetworking.about.com/od/hardwarenetworkgear/g/bldef_adapter.htm" TargetMode="External"/><Relationship Id="rId2" Type="http://schemas.openxmlformats.org/officeDocument/2006/relationships/hyperlink" Target="http://compnetworking.about.com/cs/wireless/g/bldef_ap.htm" TargetMode="Externa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hyperlink" Target="http://compnetworking.about.com/od/wireless/f/80211n-300-mbps.htm" TargetMode="External"/><Relationship Id="rId2" Type="http://schemas.openxmlformats.org/officeDocument/2006/relationships/hyperlink" Target="http://compnetworking.about.com/od/wireless80211/f/what-is-wireless-n.htm" TargetMode="Externa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hyperlink" Target="https://en.wikipedia.org/wiki/WiMAX" TargetMode="Externa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143000" y="2514600"/>
            <a:ext cx="6858000" cy="1723549"/>
          </a:xfrm>
          <a:prstGeom prst="rect">
            <a:avLst/>
          </a:prstGeom>
          <a:noFill/>
          <a:ln w="9525">
            <a:noFill/>
            <a:miter lim="800000"/>
            <a:headEnd/>
            <a:tailEnd/>
          </a:ln>
        </p:spPr>
        <p:txBody>
          <a:bodyPr>
            <a:spAutoFit/>
          </a:bodyPr>
          <a:lstStyle/>
          <a:p>
            <a:pPr algn="ctr"/>
            <a:r>
              <a:rPr lang="en-US" altLang="en-US" sz="4400" b="1" dirty="0">
                <a:latin typeface="Arial" charset="0"/>
              </a:rPr>
              <a:t>UNIT-III</a:t>
            </a:r>
          </a:p>
          <a:p>
            <a:pPr algn="ctr"/>
            <a:endParaRPr lang="en-US" altLang="en-US" b="1" dirty="0">
              <a:latin typeface="Arial" charset="0"/>
            </a:endParaRPr>
          </a:p>
          <a:p>
            <a:pPr algn="ctr"/>
            <a:r>
              <a:rPr lang="en-US" sz="4400" b="1" dirty="0">
                <a:latin typeface="Arial" charset="0"/>
              </a:rPr>
              <a:t>Medium Access Control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p:cNvSpPr txBox="1">
            <a:spLocks noChangeArrowheads="1"/>
          </p:cNvSpPr>
          <p:nvPr/>
        </p:nvSpPr>
        <p:spPr bwMode="auto">
          <a:xfrm>
            <a:off x="762000" y="0"/>
            <a:ext cx="7772400" cy="762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Multiple Access</a:t>
            </a:r>
          </a:p>
        </p:txBody>
      </p:sp>
      <p:pic>
        <p:nvPicPr>
          <p:cNvPr id="3" name="Picture 1027"/>
          <p:cNvPicPr>
            <a:picLocks noChangeAspect="1" noChangeArrowheads="1"/>
          </p:cNvPicPr>
          <p:nvPr/>
        </p:nvPicPr>
        <p:blipFill>
          <a:blip r:embed="rId2"/>
          <a:srcRect/>
          <a:stretch>
            <a:fillRect/>
          </a:stretch>
        </p:blipFill>
        <p:spPr bwMode="auto">
          <a:xfrm>
            <a:off x="685800" y="3096567"/>
            <a:ext cx="7315200" cy="3456633"/>
          </a:xfrm>
          <a:prstGeom prst="rect">
            <a:avLst/>
          </a:prstGeom>
          <a:noFill/>
          <a:ln>
            <a:miter lim="800000"/>
            <a:headEnd/>
            <a:tailEnd/>
          </a:ln>
        </p:spPr>
      </p:pic>
      <p:sp>
        <p:nvSpPr>
          <p:cNvPr id="4" name="Text Box 1028"/>
          <p:cNvSpPr txBox="1">
            <a:spLocks noChangeArrowheads="1"/>
          </p:cNvSpPr>
          <p:nvPr/>
        </p:nvSpPr>
        <p:spPr bwMode="auto">
          <a:xfrm>
            <a:off x="609600" y="1143000"/>
            <a:ext cx="8077200" cy="1569660"/>
          </a:xfrm>
          <a:prstGeom prst="rect">
            <a:avLst/>
          </a:prstGeom>
          <a:noFill/>
          <a:ln w="9525">
            <a:noFill/>
            <a:miter lim="800000"/>
            <a:headEnd/>
            <a:tailEnd/>
          </a:ln>
        </p:spPr>
        <p:txBody>
          <a:bodyPr wrap="square">
            <a:spAutoFit/>
          </a:bodyPr>
          <a:lstStyle/>
          <a:p>
            <a:pPr>
              <a:spcBef>
                <a:spcPct val="50000"/>
              </a:spcBef>
            </a:pPr>
            <a:r>
              <a:rPr lang="en-US" sz="3200" b="1" dirty="0">
                <a:latin typeface="Times New Roman" pitchFamily="18" charset="0"/>
              </a:rPr>
              <a:t>Broadcast link</a:t>
            </a:r>
            <a:r>
              <a:rPr lang="en-US" sz="3200" dirty="0">
                <a:latin typeface="Times New Roman" pitchFamily="18" charset="0"/>
              </a:rPr>
              <a:t> used in LAN consists of    </a:t>
            </a:r>
            <a:r>
              <a:rPr lang="en-US" sz="3200" u="sng" dirty="0">
                <a:latin typeface="Times New Roman" pitchFamily="18" charset="0"/>
              </a:rPr>
              <a:t>multiple sending</a:t>
            </a:r>
            <a:r>
              <a:rPr lang="en-US" sz="3200" dirty="0">
                <a:latin typeface="Times New Roman" pitchFamily="18" charset="0"/>
              </a:rPr>
              <a:t> and </a:t>
            </a:r>
            <a:r>
              <a:rPr lang="en-US" sz="3200" u="sng" dirty="0">
                <a:latin typeface="Times New Roman" pitchFamily="18" charset="0"/>
              </a:rPr>
              <a:t>receiving nodes</a:t>
            </a:r>
            <a:r>
              <a:rPr lang="en-US" sz="3200" dirty="0">
                <a:latin typeface="Times New Roman" pitchFamily="18" charset="0"/>
              </a:rPr>
              <a:t> connected to or use a </a:t>
            </a:r>
            <a:r>
              <a:rPr lang="en-US" sz="3200" u="sng" dirty="0">
                <a:latin typeface="Times New Roman" pitchFamily="18" charset="0"/>
              </a:rPr>
              <a:t>single shared link</a:t>
            </a:r>
            <a:r>
              <a:rPr lang="en-US" sz="3200" b="1" dirty="0">
                <a:latin typeface="Times New Roman"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3"/>
          <p:cNvSpPr>
            <a:spLocks noChangeShapeType="1"/>
          </p:cNvSpPr>
          <p:nvPr/>
        </p:nvSpPr>
        <p:spPr bwMode="auto">
          <a:xfrm>
            <a:off x="152400" y="1447800"/>
            <a:ext cx="8763000" cy="0"/>
          </a:xfrm>
          <a:prstGeom prst="line">
            <a:avLst/>
          </a:prstGeom>
          <a:noFill/>
          <a:ln w="19050">
            <a:solidFill>
              <a:schemeClr val="hlink"/>
            </a:solidFill>
            <a:round/>
            <a:headEnd/>
            <a:tailEnd/>
          </a:ln>
        </p:spPr>
        <p:txBody>
          <a:bodyPr/>
          <a:lstStyle/>
          <a:p>
            <a:endParaRPr lang="en-US"/>
          </a:p>
        </p:txBody>
      </p:sp>
      <p:sp>
        <p:nvSpPr>
          <p:cNvPr id="4" name="Text Box 4"/>
          <p:cNvSpPr txBox="1">
            <a:spLocks noChangeArrowheads="1"/>
          </p:cNvSpPr>
          <p:nvPr/>
        </p:nvSpPr>
        <p:spPr bwMode="auto">
          <a:xfrm>
            <a:off x="304800" y="381000"/>
            <a:ext cx="8195449" cy="1077218"/>
          </a:xfrm>
          <a:prstGeom prst="rect">
            <a:avLst/>
          </a:prstGeom>
          <a:noFill/>
          <a:ln w="9525">
            <a:noFill/>
            <a:miter lim="800000"/>
            <a:headEnd/>
            <a:tailEnd/>
          </a:ln>
        </p:spPr>
        <p:txBody>
          <a:bodyPr wrap="none">
            <a:spAutoFit/>
          </a:bodyPr>
          <a:lstStyle/>
          <a:p>
            <a:r>
              <a:rPr lang="en-US" sz="3200" b="1" dirty="0">
                <a:latin typeface="Times New Roman" pitchFamily="18" charset="0"/>
              </a:rPr>
              <a:t>Data link layer divided into two functionality-</a:t>
            </a:r>
          </a:p>
          <a:p>
            <a:r>
              <a:rPr lang="en-US" sz="3200" b="1" dirty="0">
                <a:latin typeface="Times New Roman" pitchFamily="18" charset="0"/>
              </a:rPr>
              <a:t>oriented sublayers:</a:t>
            </a:r>
          </a:p>
        </p:txBody>
      </p:sp>
      <p:pic>
        <p:nvPicPr>
          <p:cNvPr id="5" name="Picture 6"/>
          <p:cNvPicPr>
            <a:picLocks noChangeAspect="1" noChangeArrowheads="1"/>
          </p:cNvPicPr>
          <p:nvPr/>
        </p:nvPicPr>
        <p:blipFill>
          <a:blip r:embed="rId2"/>
          <a:srcRect/>
          <a:stretch>
            <a:fillRect/>
          </a:stretch>
        </p:blipFill>
        <p:spPr bwMode="auto">
          <a:xfrm>
            <a:off x="1635125" y="2409825"/>
            <a:ext cx="5375275" cy="2533650"/>
          </a:xfrm>
          <a:prstGeom prst="rect">
            <a:avLst/>
          </a:prstGeom>
          <a:noFill/>
          <a:ln w="9525">
            <a:noFill/>
            <a:miter lim="800000"/>
            <a:headEnd/>
            <a:tailEnd/>
          </a:ln>
        </p:spPr>
      </p:pic>
      <p:sp>
        <p:nvSpPr>
          <p:cNvPr id="6" name="Text Box 7"/>
          <p:cNvSpPr txBox="1">
            <a:spLocks noChangeArrowheads="1"/>
          </p:cNvSpPr>
          <p:nvPr/>
        </p:nvSpPr>
        <p:spPr bwMode="auto">
          <a:xfrm>
            <a:off x="3124200" y="3419475"/>
            <a:ext cx="2286000" cy="274638"/>
          </a:xfrm>
          <a:prstGeom prst="rect">
            <a:avLst/>
          </a:prstGeom>
          <a:noFill/>
          <a:ln w="9525">
            <a:noFill/>
            <a:miter lim="800000"/>
            <a:headEnd/>
            <a:tailEnd/>
          </a:ln>
        </p:spPr>
        <p:txBody>
          <a:bodyPr>
            <a:spAutoFit/>
          </a:bodyPr>
          <a:lstStyle/>
          <a:p>
            <a:pPr algn="ctr">
              <a:spcBef>
                <a:spcPct val="50000"/>
              </a:spcBef>
            </a:pPr>
            <a:r>
              <a:rPr lang="en-US" sz="1200" b="1">
                <a:latin typeface="Arial" charset="0"/>
                <a:cs typeface="Arial" charset="0"/>
              </a:rPr>
              <a:t>Link Layer Control</a:t>
            </a:r>
            <a:r>
              <a:rPr lang="en-US" sz="1200" b="1"/>
              <a:t> (LLC)</a:t>
            </a:r>
          </a:p>
        </p:txBody>
      </p:sp>
      <p:sp>
        <p:nvSpPr>
          <p:cNvPr id="7" name="Text Box 8"/>
          <p:cNvSpPr txBox="1">
            <a:spLocks noChangeArrowheads="1"/>
          </p:cNvSpPr>
          <p:nvPr/>
        </p:nvSpPr>
        <p:spPr bwMode="auto">
          <a:xfrm>
            <a:off x="3810000" y="4346575"/>
            <a:ext cx="685800" cy="396875"/>
          </a:xfrm>
          <a:prstGeom prst="rect">
            <a:avLst/>
          </a:prstGeom>
          <a:noFill/>
          <a:ln w="9525">
            <a:noFill/>
            <a:miter lim="800000"/>
            <a:headEnd/>
            <a:tailEnd/>
          </a:ln>
        </p:spPr>
        <p:txBody>
          <a:bodyPr>
            <a:spAutoFit/>
          </a:bodyPr>
          <a:lstStyle/>
          <a:p>
            <a:pPr>
              <a:spcBef>
                <a:spcPct val="50000"/>
              </a:spcBef>
            </a:pPr>
            <a:r>
              <a:rPr lang="en-US"/>
              <a:t>MAC</a:t>
            </a:r>
          </a:p>
        </p:txBody>
      </p:sp>
      <p:sp>
        <p:nvSpPr>
          <p:cNvPr id="8" name="Text Box 9"/>
          <p:cNvSpPr txBox="1">
            <a:spLocks noChangeArrowheads="1"/>
          </p:cNvSpPr>
          <p:nvPr/>
        </p:nvSpPr>
        <p:spPr bwMode="auto">
          <a:xfrm>
            <a:off x="6096000" y="1600200"/>
            <a:ext cx="2895600" cy="830997"/>
          </a:xfrm>
          <a:prstGeom prst="rect">
            <a:avLst/>
          </a:prstGeom>
          <a:noFill/>
          <a:ln w="9525">
            <a:noFill/>
            <a:miter lim="800000"/>
            <a:headEnd/>
            <a:tailEnd/>
          </a:ln>
        </p:spPr>
        <p:txBody>
          <a:bodyPr wrap="square">
            <a:spAutoFit/>
          </a:bodyPr>
          <a:lstStyle/>
          <a:p>
            <a:pPr>
              <a:spcBef>
                <a:spcPct val="50000"/>
              </a:spcBef>
            </a:pPr>
            <a:r>
              <a:rPr lang="en-US" sz="2400" dirty="0">
                <a:latin typeface="Times New Roman" pitchFamily="18" charset="0"/>
              </a:rPr>
              <a:t>Responsible for error and flow control</a:t>
            </a:r>
          </a:p>
        </p:txBody>
      </p:sp>
      <p:sp>
        <p:nvSpPr>
          <p:cNvPr id="9" name="Line 10"/>
          <p:cNvSpPr>
            <a:spLocks noChangeShapeType="1"/>
          </p:cNvSpPr>
          <p:nvPr/>
        </p:nvSpPr>
        <p:spPr bwMode="auto">
          <a:xfrm flipH="1">
            <a:off x="5486400" y="2352675"/>
            <a:ext cx="762000" cy="838200"/>
          </a:xfrm>
          <a:prstGeom prst="line">
            <a:avLst/>
          </a:prstGeom>
          <a:noFill/>
          <a:ln w="9525">
            <a:solidFill>
              <a:schemeClr val="tx1"/>
            </a:solidFill>
            <a:round/>
            <a:headEnd/>
            <a:tailEnd type="triangle" w="med" len="med"/>
          </a:ln>
        </p:spPr>
        <p:txBody>
          <a:bodyPr/>
          <a:lstStyle/>
          <a:p>
            <a:endParaRPr lang="en-US"/>
          </a:p>
        </p:txBody>
      </p:sp>
      <p:sp>
        <p:nvSpPr>
          <p:cNvPr id="10" name="Rectangle 11"/>
          <p:cNvSpPr>
            <a:spLocks noChangeArrowheads="1"/>
          </p:cNvSpPr>
          <p:nvPr/>
        </p:nvSpPr>
        <p:spPr bwMode="auto">
          <a:xfrm>
            <a:off x="4584700" y="4067175"/>
            <a:ext cx="1066800" cy="457200"/>
          </a:xfrm>
          <a:prstGeom prst="rect">
            <a:avLst/>
          </a:prstGeom>
          <a:solidFill>
            <a:srgbClr val="FFFF00"/>
          </a:solidFill>
          <a:ln w="9525">
            <a:noFill/>
            <a:miter lim="800000"/>
            <a:headEnd/>
            <a:tailEnd/>
          </a:ln>
        </p:spPr>
        <p:txBody>
          <a:bodyPr wrap="none" anchor="ctr"/>
          <a:lstStyle/>
          <a:p>
            <a:r>
              <a:rPr lang="en-US"/>
              <a:t>Control</a:t>
            </a:r>
          </a:p>
        </p:txBody>
      </p:sp>
      <p:cxnSp>
        <p:nvCxnSpPr>
          <p:cNvPr id="11" name="Straight Arrow Connector 12"/>
          <p:cNvCxnSpPr>
            <a:cxnSpLocks noChangeShapeType="1"/>
          </p:cNvCxnSpPr>
          <p:nvPr/>
        </p:nvCxnSpPr>
        <p:spPr bwMode="auto">
          <a:xfrm>
            <a:off x="5638800" y="4410075"/>
            <a:ext cx="1371600" cy="914400"/>
          </a:xfrm>
          <a:prstGeom prst="straightConnector1">
            <a:avLst/>
          </a:prstGeom>
          <a:noFill/>
          <a:ln w="9525" algn="ctr">
            <a:solidFill>
              <a:schemeClr val="tx1"/>
            </a:solidFill>
            <a:round/>
            <a:headEnd type="triangle" w="med" len="med"/>
            <a:tailEnd/>
          </a:ln>
        </p:spPr>
      </p:cxnSp>
      <p:sp>
        <p:nvSpPr>
          <p:cNvPr id="12" name="Text Box 9"/>
          <p:cNvSpPr txBox="1">
            <a:spLocks noChangeArrowheads="1"/>
          </p:cNvSpPr>
          <p:nvPr/>
        </p:nvSpPr>
        <p:spPr bwMode="auto">
          <a:xfrm>
            <a:off x="5715000" y="5172075"/>
            <a:ext cx="2971800" cy="1569660"/>
          </a:xfrm>
          <a:prstGeom prst="rect">
            <a:avLst/>
          </a:prstGeom>
          <a:noFill/>
          <a:ln w="9525">
            <a:noFill/>
            <a:miter lim="800000"/>
            <a:headEnd/>
            <a:tailEnd/>
          </a:ln>
        </p:spPr>
        <p:txBody>
          <a:bodyPr wrap="square">
            <a:spAutoFit/>
          </a:bodyPr>
          <a:lstStyle/>
          <a:p>
            <a:pPr>
              <a:spcBef>
                <a:spcPct val="50000"/>
              </a:spcBef>
            </a:pPr>
            <a:r>
              <a:rPr lang="en-US" sz="2400" dirty="0">
                <a:latin typeface="Times New Roman" pitchFamily="18" charset="0"/>
              </a:rPr>
              <a:t>Responsible framing and MAC address and Multiple Access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685800" y="0"/>
            <a:ext cx="7772400" cy="6858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Multiple Access</a:t>
            </a:r>
          </a:p>
        </p:txBody>
      </p:sp>
      <p:sp>
        <p:nvSpPr>
          <p:cNvPr id="3" name="Rectangle 3"/>
          <p:cNvSpPr txBox="1">
            <a:spLocks noChangeArrowheads="1"/>
          </p:cNvSpPr>
          <p:nvPr/>
        </p:nvSpPr>
        <p:spPr bwMode="auto">
          <a:xfrm>
            <a:off x="685800" y="1066800"/>
            <a:ext cx="7772400" cy="51054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auto" latinLnBrk="0" hangingPunct="1">
              <a:lnSpc>
                <a:spcPct val="100000"/>
              </a:lnSpc>
              <a:spcBef>
                <a:spcPct val="50000"/>
              </a:spcBef>
              <a:spcAft>
                <a:spcPts val="0"/>
              </a:spcAft>
              <a:buClrTx/>
              <a:buSzTx/>
              <a:buFont typeface="Wingdings" pitchFamily="2" charset="2"/>
              <a:buChar char="§"/>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Problem</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When two or more nodes transmit at the same time, their frames </a:t>
            </a:r>
            <a:r>
              <a:rPr kumimoji="0" lang="en-US" sz="3200" b="0" i="0" u="sng"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will collide</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and the link bandwidth is</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wasted</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during collision </a:t>
            </a:r>
          </a:p>
          <a:p>
            <a:pPr marL="742950" marR="0" lvl="1" indent="-285750" algn="l" defTabSz="914400" rtl="0" eaLnBrk="1" fontAlgn="auto" latinLnBrk="0" hangingPunct="1">
              <a:lnSpc>
                <a:spcPct val="100000"/>
              </a:lnSpc>
              <a:spcBef>
                <a:spcPct val="50000"/>
              </a:spcBef>
              <a:spcAft>
                <a:spcPts val="0"/>
              </a:spcAft>
              <a:buClrTx/>
              <a:buSzTx/>
              <a:buFont typeface="Wingdings" pitchFamily="2" charset="2"/>
              <a:buChar char="§"/>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How to coordinate the access of multiple sending/receiving nodes to the shared link</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Solution</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We need a </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protocol</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to coordinate the transmission of the active nodes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2400"/>
            <a:ext cx="8382000" cy="6506397"/>
          </a:xfrm>
          <a:prstGeom prst="rect">
            <a:avLst/>
          </a:prstGeom>
        </p:spPr>
        <p:txBody>
          <a:bodyPr wrap="square">
            <a:spAutoFit/>
          </a:bodyPr>
          <a:lstStyle/>
          <a:p>
            <a:pPr marL="342900" lvl="0" indent="-342900">
              <a:spcBef>
                <a:spcPct val="20000"/>
              </a:spcBef>
              <a:buFont typeface="Arial" pitchFamily="34" charset="0"/>
              <a:buChar char="•"/>
              <a:defRPr/>
            </a:pPr>
            <a:r>
              <a:rPr lang="en-US" sz="3200" dirty="0">
                <a:latin typeface="Times New Roman" pitchFamily="18" charset="0"/>
                <a:cs typeface="Times New Roman" pitchFamily="18" charset="0"/>
              </a:rPr>
              <a:t>These protocols are called </a:t>
            </a:r>
            <a:r>
              <a:rPr lang="en-US" sz="3200" b="1" dirty="0">
                <a:latin typeface="Times New Roman" pitchFamily="18" charset="0"/>
                <a:cs typeface="Times New Roman" pitchFamily="18" charset="0"/>
              </a:rPr>
              <a:t>Medium or Multiple Access Control (MAC) Protocols</a:t>
            </a:r>
            <a:r>
              <a:rPr lang="en-US" sz="3200" dirty="0">
                <a:latin typeface="Times New Roman" pitchFamily="18" charset="0"/>
                <a:cs typeface="Times New Roman" pitchFamily="18" charset="0"/>
              </a:rPr>
              <a:t> belong to a </a:t>
            </a:r>
            <a:r>
              <a:rPr lang="en-US" sz="3200" b="1" dirty="0">
                <a:latin typeface="Times New Roman" pitchFamily="18" charset="0"/>
                <a:cs typeface="Times New Roman" pitchFamily="18" charset="0"/>
              </a:rPr>
              <a:t>sublayer</a:t>
            </a:r>
            <a:r>
              <a:rPr lang="en-US" sz="3200" dirty="0">
                <a:latin typeface="Times New Roman" pitchFamily="18" charset="0"/>
                <a:cs typeface="Times New Roman" pitchFamily="18" charset="0"/>
              </a:rPr>
              <a:t> of the data link layer called </a:t>
            </a:r>
            <a:r>
              <a:rPr lang="en-US" sz="3200" b="1" dirty="0">
                <a:latin typeface="Times New Roman" pitchFamily="18" charset="0"/>
                <a:cs typeface="Times New Roman" pitchFamily="18" charset="0"/>
              </a:rPr>
              <a:t>MAC</a:t>
            </a:r>
            <a:r>
              <a:rPr lang="en-US" sz="3200" dirty="0">
                <a:latin typeface="Times New Roman" pitchFamily="18" charset="0"/>
                <a:cs typeface="Times New Roman" pitchFamily="18" charset="0"/>
              </a:rPr>
              <a:t> (Medium Access Control)</a:t>
            </a:r>
          </a:p>
          <a:p>
            <a:pPr marL="342900" lvl="0" indent="-342900">
              <a:spcBef>
                <a:spcPct val="20000"/>
              </a:spcBef>
              <a:buFont typeface="Arial" pitchFamily="34" charset="0"/>
              <a:buChar char="•"/>
              <a:defRPr/>
            </a:pPr>
            <a:r>
              <a:rPr lang="en-US" sz="3200" dirty="0">
                <a:latin typeface="Times New Roman" pitchFamily="18" charset="0"/>
                <a:cs typeface="Times New Roman" pitchFamily="18" charset="0"/>
              </a:rPr>
              <a:t>What is expected from Multiple Access Protocols:</a:t>
            </a:r>
          </a:p>
          <a:p>
            <a:pPr marL="742950" lvl="1" indent="-285750">
              <a:spcBef>
                <a:spcPct val="20000"/>
              </a:spcBef>
              <a:buFont typeface="Arial" pitchFamily="34" charset="0"/>
              <a:buChar char="–"/>
              <a:defRPr/>
            </a:pPr>
            <a:r>
              <a:rPr lang="en-US" sz="2800" dirty="0">
                <a:latin typeface="Times New Roman" pitchFamily="18" charset="0"/>
                <a:cs typeface="Times New Roman" pitchFamily="18" charset="0"/>
              </a:rPr>
              <a:t>Main task is to </a:t>
            </a:r>
            <a:r>
              <a:rPr lang="en-US" sz="2800" b="1" dirty="0">
                <a:latin typeface="Times New Roman" pitchFamily="18" charset="0"/>
                <a:cs typeface="Times New Roman" pitchFamily="18" charset="0"/>
              </a:rPr>
              <a:t>minimize collisions </a:t>
            </a:r>
            <a:r>
              <a:rPr lang="en-US" sz="2800" dirty="0">
                <a:latin typeface="Times New Roman" pitchFamily="18" charset="0"/>
                <a:cs typeface="Times New Roman" pitchFamily="18" charset="0"/>
              </a:rPr>
              <a:t>in order to </a:t>
            </a:r>
            <a:r>
              <a:rPr lang="en-US" sz="2800" b="1" dirty="0">
                <a:latin typeface="Times New Roman" pitchFamily="18" charset="0"/>
                <a:cs typeface="Times New Roman" pitchFamily="18" charset="0"/>
              </a:rPr>
              <a:t>utilize the bandwidth</a:t>
            </a:r>
            <a:r>
              <a:rPr lang="en-US" sz="2800" dirty="0">
                <a:latin typeface="Times New Roman" pitchFamily="18" charset="0"/>
                <a:cs typeface="Times New Roman" pitchFamily="18" charset="0"/>
              </a:rPr>
              <a:t> by: </a:t>
            </a:r>
          </a:p>
          <a:p>
            <a:pPr marL="1143000" lvl="2" indent="-228600">
              <a:spcBef>
                <a:spcPct val="20000"/>
              </a:spcBef>
              <a:buFont typeface="Arial" pitchFamily="34" charset="0"/>
              <a:buChar char="•"/>
              <a:defRPr/>
            </a:pPr>
            <a:r>
              <a:rPr lang="en-US" sz="2800" dirty="0">
                <a:latin typeface="Times New Roman" pitchFamily="18" charset="0"/>
                <a:cs typeface="Times New Roman" pitchFamily="18" charset="0"/>
              </a:rPr>
              <a:t>Determining </a:t>
            </a:r>
            <a:r>
              <a:rPr lang="en-US" sz="2800" b="1" dirty="0">
                <a:latin typeface="Times New Roman" pitchFamily="18" charset="0"/>
                <a:cs typeface="Times New Roman" pitchFamily="18" charset="0"/>
              </a:rPr>
              <a:t>when </a:t>
            </a:r>
            <a:r>
              <a:rPr lang="en-US" sz="2800" dirty="0">
                <a:latin typeface="Times New Roman" pitchFamily="18" charset="0"/>
                <a:cs typeface="Times New Roman" pitchFamily="18" charset="0"/>
              </a:rPr>
              <a:t> a station can use the link (medium)</a:t>
            </a:r>
          </a:p>
          <a:p>
            <a:pPr marL="1143000" lvl="2" indent="-228600">
              <a:spcBef>
                <a:spcPct val="20000"/>
              </a:spcBef>
              <a:buFont typeface="Arial" pitchFamily="34" charset="0"/>
              <a:buChar char="•"/>
              <a:defRPr/>
            </a:pPr>
            <a:r>
              <a:rPr lang="en-US" sz="2800" b="1" dirty="0">
                <a:latin typeface="Times New Roman" pitchFamily="18" charset="0"/>
                <a:cs typeface="Times New Roman" pitchFamily="18" charset="0"/>
              </a:rPr>
              <a:t>what </a:t>
            </a:r>
            <a:r>
              <a:rPr lang="en-US" sz="2800" dirty="0">
                <a:latin typeface="Times New Roman" pitchFamily="18" charset="0"/>
                <a:cs typeface="Times New Roman" pitchFamily="18" charset="0"/>
              </a:rPr>
              <a:t>a station should do when the link is </a:t>
            </a:r>
            <a:r>
              <a:rPr lang="en-US" sz="2800" b="1" dirty="0">
                <a:latin typeface="Times New Roman" pitchFamily="18" charset="0"/>
                <a:cs typeface="Times New Roman" pitchFamily="18" charset="0"/>
              </a:rPr>
              <a:t>busy</a:t>
            </a:r>
          </a:p>
          <a:p>
            <a:pPr marL="1143000" lvl="2" indent="-228600">
              <a:spcBef>
                <a:spcPct val="20000"/>
              </a:spcBef>
              <a:buFont typeface="Arial" pitchFamily="34" charset="0"/>
              <a:buChar char="•"/>
              <a:defRPr/>
            </a:pPr>
            <a:r>
              <a:rPr lang="en-US" sz="2800" b="1" dirty="0">
                <a:latin typeface="Times New Roman" pitchFamily="18" charset="0"/>
                <a:cs typeface="Times New Roman" pitchFamily="18" charset="0"/>
              </a:rPr>
              <a:t>what</a:t>
            </a:r>
            <a:r>
              <a:rPr lang="en-US" sz="2800" dirty="0">
                <a:latin typeface="Times New Roman" pitchFamily="18" charset="0"/>
                <a:cs typeface="Times New Roman" pitchFamily="18" charset="0"/>
              </a:rPr>
              <a:t> the station should do when it is involved in </a:t>
            </a:r>
            <a:r>
              <a:rPr lang="en-US" sz="2800" b="1" dirty="0">
                <a:latin typeface="Times New Roman" pitchFamily="18" charset="0"/>
                <a:cs typeface="Times New Roman" pitchFamily="18" charset="0"/>
              </a:rPr>
              <a:t>collision</a:t>
            </a:r>
            <a:r>
              <a:rPr lang="en-US" sz="2800" dirty="0">
                <a:latin typeface="Times New Roman" pitchFamily="18" charset="0"/>
                <a:cs typeface="Times New Roman" pitchFamily="18" charset="0"/>
              </a:rPr>
              <a:t> </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p:spPr>
        <p:txBody>
          <a:bodyPr/>
          <a:lstStyle/>
          <a:p>
            <a:endParaRPr lang="en-US"/>
          </a:p>
        </p:txBody>
      </p:sp>
      <p:sp>
        <p:nvSpPr>
          <p:cNvPr id="4" name="Text Box 4"/>
          <p:cNvSpPr txBox="1">
            <a:spLocks noChangeArrowheads="1"/>
          </p:cNvSpPr>
          <p:nvPr/>
        </p:nvSpPr>
        <p:spPr bwMode="auto">
          <a:xfrm>
            <a:off x="980527" y="304800"/>
            <a:ext cx="6944273" cy="584775"/>
          </a:xfrm>
          <a:prstGeom prst="rect">
            <a:avLst/>
          </a:prstGeom>
          <a:noFill/>
          <a:ln w="9525">
            <a:noFill/>
            <a:miter lim="800000"/>
            <a:headEnd/>
            <a:tailEnd/>
          </a:ln>
        </p:spPr>
        <p:txBody>
          <a:bodyPr wrap="none">
            <a:spAutoFit/>
          </a:bodyPr>
          <a:lstStyle/>
          <a:p>
            <a:r>
              <a:rPr lang="en-US" sz="3200" b="1" dirty="0">
                <a:latin typeface="Times New Roman" pitchFamily="18" charset="0"/>
              </a:rPr>
              <a:t>Taxonomy of multiple-access protocols</a:t>
            </a:r>
          </a:p>
        </p:txBody>
      </p:sp>
      <p:pic>
        <p:nvPicPr>
          <p:cNvPr id="5" name="Picture 6"/>
          <p:cNvPicPr>
            <a:picLocks noChangeAspect="1" noChangeArrowheads="1"/>
          </p:cNvPicPr>
          <p:nvPr/>
        </p:nvPicPr>
        <p:blipFill>
          <a:blip r:embed="rId2"/>
          <a:srcRect/>
          <a:stretch>
            <a:fillRect/>
          </a:stretch>
        </p:blipFill>
        <p:spPr bwMode="auto">
          <a:xfrm>
            <a:off x="382325" y="1897063"/>
            <a:ext cx="8228275" cy="412310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612845"/>
            <a:ext cx="8458200" cy="5509200"/>
          </a:xfrm>
          <a:prstGeom prst="rect">
            <a:avLst/>
          </a:prstGeom>
        </p:spPr>
        <p:txBody>
          <a:bodyPr wrap="square">
            <a:spAutoFit/>
          </a:bodyPr>
          <a:lstStyle/>
          <a:p>
            <a:r>
              <a:rPr lang="en-US" sz="3200" b="1" dirty="0">
                <a:latin typeface="Times New Roman" pitchFamily="18" charset="0"/>
                <a:cs typeface="Times New Roman" pitchFamily="18" charset="0"/>
              </a:rPr>
              <a:t>Channel Allocation Basic problem</a:t>
            </a:r>
            <a:r>
              <a:rPr lang="en-US" sz="3200" dirty="0">
                <a:latin typeface="Times New Roman" pitchFamily="18" charset="0"/>
                <a:cs typeface="Times New Roman" pitchFamily="18" charset="0"/>
              </a:rPr>
              <a:t>: How to allocate a multi-access channel among competing users.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In other words, we need a set of rules (i.e. a protocol) to allow each user to communicate and avoid interference. There are a variety of solutions to this problem that are used in practice.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These solutions can be classified as either static or dynamic.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0"/>
            <a:ext cx="8001000" cy="3539430"/>
          </a:xfrm>
          <a:prstGeom prst="rect">
            <a:avLst/>
          </a:prstGeom>
        </p:spPr>
        <p:txBody>
          <a:bodyPr wrap="square">
            <a:spAutoFit/>
          </a:bodyPr>
          <a:lstStyle/>
          <a:p>
            <a:r>
              <a:rPr lang="en-US" sz="3200" dirty="0">
                <a:latin typeface="Times New Roman" pitchFamily="18" charset="0"/>
                <a:cs typeface="Times New Roman" pitchFamily="18" charset="0"/>
              </a:rPr>
              <a:t>With a static approach, the channel's capacity is essentially divided into fixed portions; each user is then allocated a portion for all time.</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If the user has no traffic to use in its portion, then it goes unused. </a:t>
            </a:r>
          </a:p>
          <a:p>
            <a:endParaRPr lang="en-US" sz="32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533400"/>
            <a:ext cx="7848600" cy="5016758"/>
          </a:xfrm>
          <a:prstGeom prst="rect">
            <a:avLst/>
          </a:prstGeom>
        </p:spPr>
        <p:txBody>
          <a:bodyPr wrap="square">
            <a:spAutoFit/>
          </a:bodyPr>
          <a:lstStyle/>
          <a:p>
            <a:r>
              <a:rPr lang="en-US" sz="3200" dirty="0">
                <a:latin typeface="Times New Roman" pitchFamily="18" charset="0"/>
                <a:cs typeface="Times New Roman" pitchFamily="18" charset="0"/>
              </a:rPr>
              <a:t>With a dynamic approach the allocation of the channel changes based on the traffic generated by the users.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Generally, a static allocation performs better when the traffic is predictable.</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A dynamic channel allocation tries to get better utilization and lower delay on a channel when the traffic is unpredictable.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152400"/>
            <a:ext cx="8229600" cy="9906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Random Access</a:t>
            </a:r>
          </a:p>
        </p:txBody>
      </p:sp>
      <p:sp>
        <p:nvSpPr>
          <p:cNvPr id="3" name="Rectangle 3"/>
          <p:cNvSpPr txBox="1">
            <a:spLocks noChangeArrowheads="1"/>
          </p:cNvSpPr>
          <p:nvPr/>
        </p:nvSpPr>
        <p:spPr>
          <a:xfrm>
            <a:off x="457200" y="1219200"/>
            <a:ext cx="8229600" cy="4953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Also called </a:t>
            </a:r>
            <a:r>
              <a:rPr kumimoji="0" lang="en-US" sz="3200" b="0" i="0" u="none" strike="noStrike" kern="1200" cap="none" spc="0" normalizeH="0" baseline="0" noProof="0" dirty="0">
                <a:ln>
                  <a:noFill/>
                </a:ln>
                <a:solidFill>
                  <a:schemeClr val="folHlink"/>
                </a:solidFill>
                <a:effectLst/>
                <a:uLnTx/>
                <a:uFillTx/>
                <a:latin typeface="+mn-lt"/>
                <a:ea typeface="+mn-ea"/>
                <a:cs typeface="+mn-cs"/>
              </a:rPr>
              <a:t>contention-based</a:t>
            </a:r>
            <a:r>
              <a:rPr kumimoji="0" lang="en-US" sz="3200" b="0" i="0" u="none" strike="noStrike" kern="1200" cap="none" spc="0" normalizeH="0" baseline="0" noProof="0" dirty="0">
                <a:ln>
                  <a:noFill/>
                </a:ln>
                <a:solidFill>
                  <a:schemeClr val="tx1"/>
                </a:solidFill>
                <a:effectLst/>
                <a:uLnTx/>
                <a:uFillTx/>
                <a:latin typeface="+mn-lt"/>
                <a:ea typeface="+mn-ea"/>
                <a:cs typeface="+mn-cs"/>
              </a:rPr>
              <a:t> access method.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No station is assigned to control another.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lang="en-US" sz="3200" dirty="0"/>
              <a:t>No station is superior to another station.</a:t>
            </a:r>
          </a:p>
          <a:p>
            <a:pPr marL="342900" lvl="0" indent="-342900">
              <a:spcBef>
                <a:spcPct val="20000"/>
              </a:spcBef>
              <a:buFont typeface="Arial" pitchFamily="34" charset="0"/>
              <a:buChar char="•"/>
              <a:defRPr/>
            </a:pPr>
            <a:endParaRPr lang="en-US" sz="3200" dirty="0"/>
          </a:p>
          <a:p>
            <a:pPr>
              <a:buFont typeface="Arial" pitchFamily="34" charset="0"/>
              <a:buChar char="•"/>
            </a:pPr>
            <a:r>
              <a:rPr kumimoji="0" lang="en-US" sz="3200" b="0" i="0" u="none" strike="noStrike" kern="1200" cap="none" spc="0" normalizeH="0" baseline="0" noProof="0" dirty="0">
                <a:ln>
                  <a:noFill/>
                </a:ln>
                <a:solidFill>
                  <a:schemeClr val="tx1"/>
                </a:solidFill>
                <a:effectLst/>
                <a:uLnTx/>
                <a:uFillTx/>
                <a:latin typeface="+mn-lt"/>
                <a:ea typeface="+mn-ea"/>
                <a:cs typeface="+mn-cs"/>
              </a:rPr>
              <a:t>  </a:t>
            </a:r>
            <a:r>
              <a:rPr lang="en-US" sz="3200" dirty="0"/>
              <a:t>No station permits, or does not permit,</a:t>
            </a:r>
          </a:p>
          <a:p>
            <a:r>
              <a:rPr lang="en-US" sz="3200" dirty="0"/>
              <a:t>    another station to send.</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457201"/>
            <a:ext cx="7848600" cy="5509200"/>
          </a:xfrm>
          <a:prstGeom prst="rect">
            <a:avLst/>
          </a:prstGeom>
        </p:spPr>
        <p:txBody>
          <a:bodyPr wrap="square">
            <a:spAutoFit/>
          </a:bodyPr>
          <a:lstStyle/>
          <a:p>
            <a:r>
              <a:rPr lang="en-US" sz="3200" dirty="0">
                <a:latin typeface="Times New Roman" pitchFamily="18" charset="0"/>
                <a:cs typeface="Times New Roman" pitchFamily="18" charset="0"/>
              </a:rPr>
              <a:t>Two features give this method its name.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First, there is no scheduled time for a station</a:t>
            </a:r>
          </a:p>
          <a:p>
            <a:r>
              <a:rPr lang="en-US" sz="3200" dirty="0">
                <a:latin typeface="Times New Roman" pitchFamily="18" charset="0"/>
                <a:cs typeface="Times New Roman" pitchFamily="18" charset="0"/>
              </a:rPr>
              <a:t>to transmit. Transmission is random among the stations. That is why these methods are</a:t>
            </a:r>
          </a:p>
          <a:p>
            <a:r>
              <a:rPr lang="en-US" sz="3200" dirty="0">
                <a:latin typeface="Times New Roman" pitchFamily="18" charset="0"/>
                <a:cs typeface="Times New Roman" pitchFamily="18" charset="0"/>
              </a:rPr>
              <a:t>called </a:t>
            </a:r>
            <a:r>
              <a:rPr lang="en-US" sz="3200" i="1" dirty="0">
                <a:latin typeface="Times New Roman" pitchFamily="18" charset="0"/>
                <a:cs typeface="Times New Roman" pitchFamily="18" charset="0"/>
              </a:rPr>
              <a:t>random access. </a:t>
            </a:r>
          </a:p>
          <a:p>
            <a:endParaRPr lang="en-US" sz="3200" i="1" dirty="0">
              <a:latin typeface="Times New Roman" pitchFamily="18" charset="0"/>
              <a:cs typeface="Times New Roman" pitchFamily="18" charset="0"/>
            </a:endParaRPr>
          </a:p>
          <a:p>
            <a:r>
              <a:rPr lang="en-US" sz="3200" i="1" dirty="0">
                <a:latin typeface="Times New Roman" pitchFamily="18" charset="0"/>
                <a:cs typeface="Times New Roman" pitchFamily="18" charset="0"/>
              </a:rPr>
              <a:t>Second, no rules specify which station should send next. Stations </a:t>
            </a:r>
            <a:r>
              <a:rPr lang="en-US" sz="3200" dirty="0">
                <a:latin typeface="Times New Roman" pitchFamily="18" charset="0"/>
                <a:cs typeface="Times New Roman" pitchFamily="18" charset="0"/>
              </a:rPr>
              <a:t>compete with one another to access the medium. That is why these methods are also called </a:t>
            </a:r>
            <a:r>
              <a:rPr lang="en-US" sz="3200" i="1" dirty="0">
                <a:latin typeface="Times New Roman" pitchFamily="18" charset="0"/>
                <a:cs typeface="Times New Roman" pitchFamily="18" charset="0"/>
              </a:rPr>
              <a:t>contention methods.</a:t>
            </a:r>
            <a:endParaRPr lang="en-US" sz="32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382000" cy="6001643"/>
          </a:xfrm>
          <a:prstGeom prst="rect">
            <a:avLst/>
          </a:prstGeom>
        </p:spPr>
        <p:txBody>
          <a:bodyPr wrap="square">
            <a:spAutoFit/>
          </a:bodyPr>
          <a:lstStyle/>
          <a:p>
            <a:pPr algn="ctr"/>
            <a:r>
              <a:rPr lang="en-US" sz="3200" b="1" dirty="0">
                <a:latin typeface="Times New Roman" pitchFamily="18" charset="0"/>
                <a:cs typeface="Times New Roman" pitchFamily="18" charset="0"/>
              </a:rPr>
              <a:t>ALOHA</a:t>
            </a:r>
          </a:p>
          <a:p>
            <a:r>
              <a:rPr lang="en-US" sz="3200" dirty="0">
                <a:latin typeface="Times New Roman" pitchFamily="18" charset="0"/>
                <a:cs typeface="Times New Roman" pitchFamily="18" charset="0"/>
              </a:rPr>
              <a:t>ALOHA, the earliest random access method, was developed by </a:t>
            </a:r>
            <a:r>
              <a:rPr lang="en-US" sz="3200" b="1" dirty="0">
                <a:latin typeface="Times New Roman" pitchFamily="18" charset="0"/>
                <a:cs typeface="Times New Roman" pitchFamily="18" charset="0"/>
              </a:rPr>
              <a:t>Norman Manuel Abramson </a:t>
            </a:r>
            <a:r>
              <a:rPr lang="en-US" sz="3200" dirty="0">
                <a:latin typeface="Times New Roman" pitchFamily="18" charset="0"/>
                <a:cs typeface="Times New Roman" pitchFamily="18" charset="0"/>
              </a:rPr>
              <a:t>at the </a:t>
            </a:r>
            <a:r>
              <a:rPr lang="en-US" sz="3200" b="1" dirty="0">
                <a:latin typeface="Times New Roman" pitchFamily="18" charset="0"/>
                <a:cs typeface="Times New Roman" pitchFamily="18" charset="0"/>
              </a:rPr>
              <a:t>University of Hawaii in early 1970. </a:t>
            </a:r>
            <a:r>
              <a:rPr lang="en-US" sz="3200" dirty="0">
                <a:latin typeface="Times New Roman" pitchFamily="18" charset="0"/>
                <a:cs typeface="Times New Roman" pitchFamily="18" charset="0"/>
              </a:rPr>
              <a:t>It was designed for a radio (wireless) LAN, but it can be used on any shared medium.</a:t>
            </a:r>
          </a:p>
          <a:p>
            <a:r>
              <a:rPr lang="en-US" sz="3200" dirty="0">
                <a:latin typeface="Times New Roman" pitchFamily="18" charset="0"/>
                <a:cs typeface="Times New Roman" pitchFamily="18" charset="0"/>
              </a:rPr>
              <a:t>It is obvious that there are potential collisions in this arrangement. The medium is shared between the stations. When a station sends data, another station may attempt to do so at the same time. The data from the two stations collide and become garbled.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152400"/>
            <a:ext cx="8229600" cy="9906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ALOHA Network</a:t>
            </a:r>
          </a:p>
        </p:txBody>
      </p:sp>
      <p:pic>
        <p:nvPicPr>
          <p:cNvPr id="3" name="Picture 4"/>
          <p:cNvPicPr>
            <a:picLocks noChangeAspect="1" noChangeArrowheads="1"/>
          </p:cNvPicPr>
          <p:nvPr/>
        </p:nvPicPr>
        <p:blipFill>
          <a:blip r:embed="rId2" cstate="print"/>
          <a:srcRect/>
          <a:stretch>
            <a:fillRect/>
          </a:stretch>
        </p:blipFill>
        <p:spPr bwMode="auto">
          <a:xfrm>
            <a:off x="517525" y="2444750"/>
            <a:ext cx="7788275" cy="29654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143000" y="304800"/>
            <a:ext cx="7063216"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Frames in a pure ALOHA network</a:t>
            </a:r>
          </a:p>
        </p:txBody>
      </p:sp>
      <p:pic>
        <p:nvPicPr>
          <p:cNvPr id="5" name="Picture 7"/>
          <p:cNvPicPr>
            <a:picLocks noChangeAspect="1" noChangeArrowheads="1"/>
          </p:cNvPicPr>
          <p:nvPr/>
        </p:nvPicPr>
        <p:blipFill>
          <a:blip r:embed="rId2"/>
          <a:srcRect/>
          <a:stretch>
            <a:fillRect/>
          </a:stretch>
        </p:blipFill>
        <p:spPr bwMode="auto">
          <a:xfrm>
            <a:off x="219075" y="1600200"/>
            <a:ext cx="8620125" cy="40608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98084"/>
            <a:ext cx="8610600" cy="5607689"/>
          </a:xfrm>
          <a:prstGeom prst="rect">
            <a:avLst/>
          </a:prstGeom>
        </p:spPr>
        <p:txBody>
          <a:bodyPr wrap="square">
            <a:spAutoFit/>
          </a:bodyPr>
          <a:lstStyle/>
          <a:p>
            <a:pPr>
              <a:lnSpc>
                <a:spcPct val="80000"/>
              </a:lnSpc>
            </a:pPr>
            <a:r>
              <a:rPr lang="en-US" sz="2800" b="1" dirty="0">
                <a:latin typeface="Times New Roman" pitchFamily="18" charset="0"/>
                <a:cs typeface="Times New Roman" pitchFamily="18" charset="0"/>
              </a:rPr>
              <a:t>Pure ALOHA Protocol Description: </a:t>
            </a:r>
            <a:r>
              <a:rPr lang="en-US" sz="2800" dirty="0">
                <a:latin typeface="Times New Roman" pitchFamily="18" charset="0"/>
                <a:cs typeface="Times New Roman" pitchFamily="18" charset="0"/>
              </a:rPr>
              <a:t>-</a:t>
            </a:r>
          </a:p>
          <a:p>
            <a:pPr>
              <a:lnSpc>
                <a:spcPct val="80000"/>
              </a:lnSpc>
            </a:pPr>
            <a:endParaRPr lang="en-US" sz="2800" dirty="0">
              <a:latin typeface="Times New Roman" pitchFamily="18" charset="0"/>
              <a:cs typeface="Times New Roman" pitchFamily="18" charset="0"/>
            </a:endParaRPr>
          </a:p>
          <a:p>
            <a:pPr lvl="1">
              <a:lnSpc>
                <a:spcPct val="80000"/>
              </a:lnSpc>
              <a:buFont typeface="Wingdings" pitchFamily="2" charset="2"/>
              <a:buChar char="§"/>
            </a:pPr>
            <a:r>
              <a:rPr lang="en-US" sz="2800" dirty="0">
                <a:latin typeface="Times New Roman" pitchFamily="18" charset="0"/>
                <a:cs typeface="Times New Roman" pitchFamily="18" charset="0"/>
              </a:rPr>
              <a:t>All frames from any station are of fixed length (L bits)</a:t>
            </a:r>
          </a:p>
          <a:p>
            <a:pPr lvl="1">
              <a:lnSpc>
                <a:spcPct val="80000"/>
              </a:lnSpc>
              <a:buFont typeface="Wingdings" pitchFamily="2" charset="2"/>
              <a:buChar char="§"/>
            </a:pPr>
            <a:endParaRPr lang="en-US" sz="2800" dirty="0">
              <a:latin typeface="Times New Roman" pitchFamily="18" charset="0"/>
              <a:cs typeface="Times New Roman" pitchFamily="18" charset="0"/>
            </a:endParaRPr>
          </a:p>
          <a:p>
            <a:pPr lvl="1">
              <a:lnSpc>
                <a:spcPct val="80000"/>
              </a:lnSpc>
              <a:buFont typeface="Wingdings" pitchFamily="2" charset="2"/>
              <a:buChar char="§"/>
            </a:pPr>
            <a:r>
              <a:rPr lang="en-US" sz="2800" dirty="0">
                <a:latin typeface="Times New Roman" pitchFamily="18" charset="0"/>
                <a:cs typeface="Times New Roman" pitchFamily="18" charset="0"/>
              </a:rPr>
              <a:t>Stations transmit at equal transmission time (all </a:t>
            </a:r>
          </a:p>
          <a:p>
            <a:pPr lvl="1">
              <a:lnSpc>
                <a:spcPct val="80000"/>
              </a:lnSpc>
            </a:pPr>
            <a:r>
              <a:rPr lang="en-US" sz="2800" dirty="0">
                <a:latin typeface="Times New Roman" pitchFamily="18" charset="0"/>
                <a:cs typeface="Times New Roman" pitchFamily="18" charset="0"/>
              </a:rPr>
              <a:t>  stations produce frames with equal frame lengths).</a:t>
            </a:r>
          </a:p>
          <a:p>
            <a:pPr lvl="1">
              <a:lnSpc>
                <a:spcPct val="80000"/>
              </a:lnSpc>
            </a:pPr>
            <a:endParaRPr lang="en-US" sz="2800" dirty="0">
              <a:latin typeface="Times New Roman" pitchFamily="18" charset="0"/>
              <a:cs typeface="Times New Roman" pitchFamily="18" charset="0"/>
            </a:endParaRPr>
          </a:p>
          <a:p>
            <a:pPr lvl="1">
              <a:lnSpc>
                <a:spcPct val="80000"/>
              </a:lnSpc>
              <a:buFont typeface="Wingdings" pitchFamily="2" charset="2"/>
              <a:buChar char="§"/>
            </a:pPr>
            <a:r>
              <a:rPr lang="en-US" sz="2800" dirty="0">
                <a:latin typeface="Times New Roman" pitchFamily="18" charset="0"/>
                <a:cs typeface="Times New Roman" pitchFamily="18" charset="0"/>
              </a:rPr>
              <a:t>A station that has data can transmit at any time.</a:t>
            </a:r>
          </a:p>
          <a:p>
            <a:pPr lvl="1">
              <a:lnSpc>
                <a:spcPct val="80000"/>
              </a:lnSpc>
              <a:buFont typeface="Wingdings" pitchFamily="2" charset="2"/>
              <a:buChar char="§"/>
            </a:pPr>
            <a:endParaRPr lang="en-US" sz="2800" dirty="0">
              <a:latin typeface="Times New Roman" pitchFamily="18" charset="0"/>
              <a:cs typeface="Times New Roman" pitchFamily="18" charset="0"/>
            </a:endParaRPr>
          </a:p>
          <a:p>
            <a:pPr lvl="1">
              <a:lnSpc>
                <a:spcPct val="80000"/>
              </a:lnSpc>
              <a:buFont typeface="Wingdings" pitchFamily="2" charset="2"/>
              <a:buChar char="§"/>
            </a:pPr>
            <a:r>
              <a:rPr lang="en-US" sz="2800" dirty="0">
                <a:latin typeface="Times New Roman" pitchFamily="18" charset="0"/>
                <a:cs typeface="Times New Roman" pitchFamily="18" charset="0"/>
              </a:rPr>
              <a:t> After transmitting a frame, the sender waits for an </a:t>
            </a:r>
          </a:p>
          <a:p>
            <a:pPr lvl="1">
              <a:lnSpc>
                <a:spcPct val="80000"/>
              </a:lnSpc>
            </a:pPr>
            <a:r>
              <a:rPr lang="en-US" sz="2800" dirty="0">
                <a:latin typeface="Times New Roman" pitchFamily="18" charset="0"/>
                <a:cs typeface="Times New Roman" pitchFamily="18" charset="0"/>
              </a:rPr>
              <a:t>   acknowledgment for an amount of time (time out). </a:t>
            </a:r>
          </a:p>
          <a:p>
            <a:pPr lvl="1">
              <a:lnSpc>
                <a:spcPct val="80000"/>
              </a:lnSpc>
            </a:pPr>
            <a:r>
              <a:rPr lang="en-US" sz="2800" dirty="0">
                <a:latin typeface="Times New Roman" pitchFamily="18" charset="0"/>
                <a:cs typeface="Times New Roman" pitchFamily="18" charset="0"/>
              </a:rPr>
              <a:t>   </a:t>
            </a:r>
          </a:p>
          <a:p>
            <a:pPr lvl="1">
              <a:lnSpc>
                <a:spcPct val="80000"/>
              </a:lnSpc>
              <a:buFont typeface="Wingdings" pitchFamily="2" charset="2"/>
              <a:buChar char="§"/>
            </a:pPr>
            <a:r>
              <a:rPr lang="en-US" sz="2800" dirty="0">
                <a:latin typeface="Times New Roman" pitchFamily="18" charset="0"/>
                <a:cs typeface="Times New Roman" pitchFamily="18" charset="0"/>
              </a:rPr>
              <a:t> If  no ACK was received, sender assumes that the </a:t>
            </a:r>
          </a:p>
          <a:p>
            <a:pPr lvl="1">
              <a:lnSpc>
                <a:spcPct val="80000"/>
              </a:lnSpc>
            </a:pPr>
            <a:r>
              <a:rPr lang="en-US" sz="2800" dirty="0">
                <a:latin typeface="Times New Roman" pitchFamily="18" charset="0"/>
                <a:cs typeface="Times New Roman" pitchFamily="18" charset="0"/>
              </a:rPr>
              <a:t>   frame or ACK has been destroyed  and resends that </a:t>
            </a:r>
          </a:p>
          <a:p>
            <a:pPr lvl="1">
              <a:lnSpc>
                <a:spcPct val="80000"/>
              </a:lnSpc>
            </a:pPr>
            <a:r>
              <a:rPr lang="en-US" sz="2800" dirty="0">
                <a:latin typeface="Times New Roman" pitchFamily="18" charset="0"/>
                <a:cs typeface="Times New Roman" pitchFamily="18" charset="0"/>
              </a:rPr>
              <a:t>   frame after it waits for a random amount of time.</a:t>
            </a:r>
          </a:p>
          <a:p>
            <a:pPr lvl="1">
              <a:lnSpc>
                <a:spcPct val="80000"/>
              </a:lnSpc>
              <a:buFont typeface="Wingdings" pitchFamily="2" charset="2"/>
              <a:buChar char="§"/>
            </a:pPr>
            <a:endParaRPr lang="en-US" sz="28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685800"/>
            <a:ext cx="7848600" cy="5262979"/>
          </a:xfrm>
          <a:prstGeom prst="rect">
            <a:avLst/>
          </a:prstGeom>
        </p:spPr>
        <p:txBody>
          <a:bodyPr wrap="square">
            <a:spAutoFit/>
          </a:bodyPr>
          <a:lstStyle/>
          <a:p>
            <a:pPr lvl="1">
              <a:lnSpc>
                <a:spcPct val="80000"/>
              </a:lnSpc>
              <a:buFont typeface="Wingdings" pitchFamily="2" charset="2"/>
              <a:buChar char="§"/>
            </a:pPr>
            <a:r>
              <a:rPr lang="en-US" sz="2800" dirty="0">
                <a:latin typeface="Times New Roman" pitchFamily="18" charset="0"/>
                <a:cs typeface="Times New Roman" pitchFamily="18" charset="0"/>
              </a:rPr>
              <a:t> If station fails to receive an ACK after repeated </a:t>
            </a:r>
          </a:p>
          <a:p>
            <a:pPr lvl="1">
              <a:lnSpc>
                <a:spcPct val="80000"/>
              </a:lnSpc>
            </a:pPr>
            <a:r>
              <a:rPr lang="en-US" sz="2800" dirty="0">
                <a:latin typeface="Times New Roman" pitchFamily="18" charset="0"/>
                <a:cs typeface="Times New Roman" pitchFamily="18" charset="0"/>
              </a:rPr>
              <a:t>   transmissions, it gives up.</a:t>
            </a:r>
          </a:p>
          <a:p>
            <a:pPr lvl="1">
              <a:lnSpc>
                <a:spcPct val="80000"/>
              </a:lnSpc>
              <a:buFont typeface="Wingdings" pitchFamily="2" charset="2"/>
              <a:buChar char="§"/>
            </a:pPr>
            <a:endParaRPr lang="en-US" sz="2800" dirty="0">
              <a:latin typeface="Times New Roman" pitchFamily="18" charset="0"/>
              <a:cs typeface="Times New Roman" pitchFamily="18" charset="0"/>
            </a:endParaRPr>
          </a:p>
          <a:p>
            <a:pPr lvl="1">
              <a:lnSpc>
                <a:spcPct val="80000"/>
              </a:lnSpc>
              <a:buFont typeface="Wingdings" pitchFamily="2" charset="2"/>
              <a:buChar char="§"/>
            </a:pPr>
            <a:r>
              <a:rPr lang="en-US" sz="2800" dirty="0">
                <a:latin typeface="Times New Roman" pitchFamily="18" charset="0"/>
                <a:cs typeface="Times New Roman" pitchFamily="18" charset="0"/>
              </a:rPr>
              <a:t> Channel utilization or efficiency or Throughput</a:t>
            </a:r>
          </a:p>
          <a:p>
            <a:pPr lvl="1">
              <a:lnSpc>
                <a:spcPct val="80000"/>
              </a:lnSpc>
            </a:pPr>
            <a:r>
              <a:rPr lang="en-US" sz="2800" dirty="0">
                <a:latin typeface="Times New Roman" pitchFamily="18" charset="0"/>
                <a:cs typeface="Times New Roman" pitchFamily="18" charset="0"/>
              </a:rPr>
              <a:t>   is the percentage of the transmitted frames that </a:t>
            </a:r>
          </a:p>
          <a:p>
            <a:pPr lvl="1">
              <a:lnSpc>
                <a:spcPct val="80000"/>
              </a:lnSpc>
            </a:pPr>
            <a:r>
              <a:rPr lang="en-US" sz="2800" dirty="0">
                <a:latin typeface="Times New Roman" pitchFamily="18" charset="0"/>
                <a:cs typeface="Times New Roman" pitchFamily="18" charset="0"/>
              </a:rPr>
              <a:t>   arrive successfully (without collisions) or the </a:t>
            </a:r>
          </a:p>
          <a:p>
            <a:pPr lvl="1">
              <a:lnSpc>
                <a:spcPct val="80000"/>
              </a:lnSpc>
            </a:pPr>
            <a:r>
              <a:rPr lang="en-US" sz="2800" dirty="0">
                <a:latin typeface="Times New Roman" pitchFamily="18" charset="0"/>
                <a:cs typeface="Times New Roman" pitchFamily="18" charset="0"/>
              </a:rPr>
              <a:t>   percentage of the channel bandwidth that will be </a:t>
            </a:r>
          </a:p>
          <a:p>
            <a:pPr lvl="1">
              <a:lnSpc>
                <a:spcPct val="80000"/>
              </a:lnSpc>
            </a:pPr>
            <a:r>
              <a:rPr lang="en-US" sz="2800" dirty="0">
                <a:latin typeface="Times New Roman" pitchFamily="18" charset="0"/>
                <a:cs typeface="Times New Roman" pitchFamily="18" charset="0"/>
              </a:rPr>
              <a:t>   used for transmitting frames without collisions.</a:t>
            </a:r>
          </a:p>
          <a:p>
            <a:pPr lvl="1">
              <a:lnSpc>
                <a:spcPct val="80000"/>
              </a:lnSpc>
            </a:pPr>
            <a:endParaRPr lang="en-US" sz="2800" dirty="0">
              <a:latin typeface="Times New Roman" pitchFamily="18" charset="0"/>
              <a:cs typeface="Times New Roman" pitchFamily="18" charset="0"/>
            </a:endParaRPr>
          </a:p>
          <a:p>
            <a:pPr lvl="1">
              <a:lnSpc>
                <a:spcPct val="80000"/>
              </a:lnSpc>
            </a:pPr>
            <a:endParaRPr lang="en-US" sz="2800" dirty="0">
              <a:latin typeface="Times New Roman" pitchFamily="18" charset="0"/>
              <a:cs typeface="Times New Roman" pitchFamily="18" charset="0"/>
            </a:endParaRPr>
          </a:p>
          <a:p>
            <a:pPr lvl="1">
              <a:lnSpc>
                <a:spcPct val="80000"/>
              </a:lnSpc>
            </a:pPr>
            <a:endParaRPr lang="en-US" sz="2800" dirty="0">
              <a:latin typeface="Times New Roman" pitchFamily="18" charset="0"/>
              <a:cs typeface="Times New Roman" pitchFamily="18" charset="0"/>
            </a:endParaRPr>
          </a:p>
          <a:p>
            <a:pPr lvl="1">
              <a:lnSpc>
                <a:spcPct val="80000"/>
              </a:lnSpc>
            </a:pPr>
            <a:r>
              <a:rPr lang="en-US" sz="2800" dirty="0">
                <a:latin typeface="Times New Roman" pitchFamily="18" charset="0"/>
                <a:cs typeface="Times New Roman" pitchFamily="18" charset="0"/>
              </a:rPr>
              <a:t>ALOHA Maximum channel utilization is 18% (</a:t>
            </a:r>
            <a:r>
              <a:rPr lang="en-US" sz="2800" dirty="0" err="1">
                <a:latin typeface="Times New Roman" pitchFamily="18" charset="0"/>
                <a:cs typeface="Times New Roman" pitchFamily="18" charset="0"/>
              </a:rPr>
              <a:t>i.e</a:t>
            </a:r>
            <a:r>
              <a:rPr lang="en-US" sz="2800" dirty="0">
                <a:latin typeface="Times New Roman" pitchFamily="18" charset="0"/>
                <a:cs typeface="Times New Roman" pitchFamily="18" charset="0"/>
              </a:rPr>
              <a:t>, if the system produces F frames/s, then 0.18 * F frames will arrive successfully on average without the need of retransmission).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1"/>
            <a:ext cx="8229600" cy="4524315"/>
          </a:xfrm>
          <a:prstGeom prst="rect">
            <a:avLst/>
          </a:prstGeom>
        </p:spPr>
        <p:txBody>
          <a:bodyPr wrap="square">
            <a:spAutoFit/>
          </a:bodyPr>
          <a:lstStyle/>
          <a:p>
            <a:r>
              <a:rPr lang="en-US" sz="3200" dirty="0">
                <a:latin typeface="Times New Roman" pitchFamily="18" charset="0"/>
                <a:cs typeface="Times New Roman" pitchFamily="18" charset="0"/>
              </a:rPr>
              <a:t>A collision involves two or more stations. If all these stations try to resend their frames after the time-out, the frames will collide again.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Pure ALOHA dictates that when the time-out period passes, each station waits a random amount of time before resending its frame. The randomness will help avoid more collisions. We call this time the back-off time </a:t>
            </a:r>
            <a:r>
              <a:rPr lang="en-US" sz="3200" i="1" dirty="0">
                <a:latin typeface="Times New Roman" pitchFamily="18" charset="0"/>
                <a:cs typeface="Times New Roman" pitchFamily="18" charset="0"/>
              </a:rPr>
              <a:t>TB.</a:t>
            </a:r>
            <a:endParaRPr lang="en-US" sz="32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152400"/>
            <a:ext cx="8229600" cy="9906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Procedure for pure ALOHA Protocol</a:t>
            </a:r>
          </a:p>
        </p:txBody>
      </p:sp>
      <p:pic>
        <p:nvPicPr>
          <p:cNvPr id="3" name="Picture 4"/>
          <p:cNvPicPr>
            <a:picLocks noChangeAspect="1" noChangeArrowheads="1"/>
          </p:cNvPicPr>
          <p:nvPr/>
        </p:nvPicPr>
        <p:blipFill>
          <a:blip r:embed="rId2" cstate="print"/>
          <a:srcRect/>
          <a:stretch>
            <a:fillRect/>
          </a:stretch>
        </p:blipFill>
        <p:spPr bwMode="auto">
          <a:xfrm>
            <a:off x="914400" y="1208450"/>
            <a:ext cx="7162800" cy="55733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152400"/>
            <a:ext cx="8229600" cy="9906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Example</a:t>
            </a:r>
          </a:p>
        </p:txBody>
      </p:sp>
      <p:sp>
        <p:nvSpPr>
          <p:cNvPr id="3" name="Rectangle 3"/>
          <p:cNvSpPr txBox="1">
            <a:spLocks noChangeArrowheads="1"/>
          </p:cNvSpPr>
          <p:nvPr/>
        </p:nvSpPr>
        <p:spPr>
          <a:xfrm>
            <a:off x="457200" y="1219200"/>
            <a:ext cx="8229600" cy="4953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Calculate possible values of </a:t>
            </a:r>
            <a:r>
              <a:rPr kumimoji="0" lang="en-US" sz="3200" b="0" i="1" u="none" strike="noStrike" kern="1200" cap="none" spc="0" normalizeH="0" baseline="0" noProof="0" dirty="0">
                <a:ln>
                  <a:noFill/>
                </a:ln>
                <a:solidFill>
                  <a:schemeClr val="tx1"/>
                </a:solidFill>
                <a:effectLst/>
                <a:uLnTx/>
                <a:uFillTx/>
                <a:latin typeface="+mn-lt"/>
                <a:ea typeface="+mn-ea"/>
                <a:cs typeface="+mn-cs"/>
              </a:rPr>
              <a:t>T</a:t>
            </a:r>
            <a:r>
              <a:rPr kumimoji="0" lang="en-US" sz="3200" b="0" i="1" u="none" strike="noStrike" kern="1200" cap="none" spc="0" normalizeH="0" baseline="-25000" noProof="0" dirty="0">
                <a:ln>
                  <a:noFill/>
                </a:ln>
                <a:solidFill>
                  <a:schemeClr val="tx1"/>
                </a:solidFill>
                <a:effectLst/>
                <a:uLnTx/>
                <a:uFillTx/>
                <a:latin typeface="+mn-lt"/>
                <a:ea typeface="+mn-ea"/>
                <a:cs typeface="+mn-cs"/>
              </a:rPr>
              <a:t>B</a:t>
            </a:r>
            <a:r>
              <a:rPr kumimoji="0" lang="en-US" sz="3200" b="0" i="0" u="none" strike="noStrike" kern="1200" cap="none" spc="0" normalizeH="0" baseline="0" noProof="0" dirty="0">
                <a:ln>
                  <a:noFill/>
                </a:ln>
                <a:solidFill>
                  <a:schemeClr val="tx1"/>
                </a:solidFill>
                <a:effectLst/>
                <a:uLnTx/>
                <a:uFillTx/>
                <a:latin typeface="+mn-lt"/>
                <a:ea typeface="+mn-ea"/>
                <a:cs typeface="+mn-cs"/>
              </a:rPr>
              <a:t> when stations on an ALOHA network are a maximum of 600 km apart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ctr" defTabSz="914400" rtl="0" eaLnBrk="1" fontAlgn="auto" latinLnBrk="0" hangingPunct="1">
              <a:lnSpc>
                <a:spcPct val="100000"/>
              </a:lnSpc>
              <a:spcBef>
                <a:spcPct val="20000"/>
              </a:spcBef>
              <a:spcAft>
                <a:spcPts val="0"/>
              </a:spcAft>
              <a:buClrTx/>
              <a:buSzTx/>
              <a:buFont typeface="Wingdings" pitchFamily="2" charset="2"/>
              <a:buNone/>
              <a:tabLst/>
              <a:defRPr/>
            </a:pPr>
            <a:r>
              <a:rPr kumimoji="0" lang="en-US" sz="2800" b="0" i="1" u="none" strike="noStrike" kern="1200" cap="none" spc="0" normalizeH="0" baseline="0" noProof="0" dirty="0" err="1">
                <a:ln>
                  <a:noFill/>
                </a:ln>
                <a:solidFill>
                  <a:schemeClr val="tx1"/>
                </a:solidFill>
                <a:effectLst/>
                <a:uLnTx/>
                <a:uFillTx/>
                <a:latin typeface="+mn-lt"/>
                <a:ea typeface="+mn-ea"/>
                <a:cs typeface="+mn-cs"/>
              </a:rPr>
              <a:t>T</a:t>
            </a:r>
            <a:r>
              <a:rPr kumimoji="0" lang="en-US" sz="2800" b="0" i="1" u="none" strike="noStrike" kern="1200" cap="none" spc="0" normalizeH="0" baseline="-25000" noProof="0" dirty="0" err="1">
                <a:ln>
                  <a:noFill/>
                </a:ln>
                <a:solidFill>
                  <a:schemeClr val="tx1"/>
                </a:solidFill>
                <a:effectLst/>
                <a:uLnTx/>
                <a:uFillTx/>
                <a:latin typeface="+mn-lt"/>
                <a:ea typeface="+mn-ea"/>
                <a:cs typeface="+mn-cs"/>
              </a:rPr>
              <a:t>p</a:t>
            </a:r>
            <a:r>
              <a:rPr kumimoji="0" lang="en-US" sz="2800" b="0" i="0" u="none" strike="noStrike" kern="1200" cap="none" spc="0" normalizeH="0" baseline="0" noProof="0" dirty="0">
                <a:ln>
                  <a:noFill/>
                </a:ln>
                <a:solidFill>
                  <a:schemeClr val="tx1"/>
                </a:solidFill>
                <a:effectLst/>
                <a:uLnTx/>
                <a:uFillTx/>
                <a:latin typeface="+mn-lt"/>
                <a:ea typeface="+mn-ea"/>
                <a:cs typeface="+mn-cs"/>
              </a:rPr>
              <a:t> = Distance/Propagation Speed</a:t>
            </a:r>
          </a:p>
          <a:p>
            <a:pPr marL="742950" lvl="1" indent="-285750" algn="ctr">
              <a:spcBef>
                <a:spcPct val="20000"/>
              </a:spcBef>
              <a:defRPr/>
            </a:pPr>
            <a:r>
              <a:rPr lang="en-US" sz="2800" i="1" dirty="0" err="1"/>
              <a:t>T</a:t>
            </a:r>
            <a:r>
              <a:rPr lang="en-US" sz="2800" i="1" baseline="-25000" dirty="0" err="1"/>
              <a:t>p</a:t>
            </a:r>
            <a:r>
              <a:rPr lang="en-US" sz="2800" i="1" baseline="-25000" dirty="0"/>
              <a:t>= </a:t>
            </a:r>
            <a:r>
              <a:rPr kumimoji="0" lang="en-US" sz="2800" b="0" i="0" u="none" strike="noStrike" kern="1200" cap="none" spc="0" normalizeH="0" baseline="0" noProof="0" dirty="0">
                <a:ln>
                  <a:noFill/>
                </a:ln>
                <a:solidFill>
                  <a:schemeClr val="tx1"/>
                </a:solidFill>
                <a:effectLst/>
                <a:uLnTx/>
                <a:uFillTx/>
                <a:latin typeface="+mn-lt"/>
                <a:ea typeface="+mn-ea"/>
                <a:cs typeface="+mn-cs"/>
              </a:rPr>
              <a:t>(600 × 10</a:t>
            </a:r>
            <a:r>
              <a:rPr kumimoji="0" lang="en-US" sz="2800" b="0" i="0" u="none" strike="noStrike" kern="1200" cap="none" spc="0" normalizeH="0" baseline="30000" noProof="0" dirty="0">
                <a:ln>
                  <a:noFill/>
                </a:ln>
                <a:solidFill>
                  <a:schemeClr val="tx1"/>
                </a:solidFill>
                <a:effectLst/>
                <a:uLnTx/>
                <a:uFillTx/>
                <a:latin typeface="+mn-lt"/>
                <a:ea typeface="+mn-ea"/>
                <a:cs typeface="+mn-cs"/>
              </a:rPr>
              <a:t>3</a:t>
            </a:r>
            <a:r>
              <a:rPr kumimoji="0" lang="en-US" sz="2800" b="0" i="0" u="none" strike="noStrike" kern="1200" cap="none" spc="0" normalizeH="0" baseline="0" noProof="0" dirty="0">
                <a:ln>
                  <a:noFill/>
                </a:ln>
                <a:solidFill>
                  <a:schemeClr val="tx1"/>
                </a:solidFill>
                <a:effectLst/>
                <a:uLnTx/>
                <a:uFillTx/>
                <a:latin typeface="+mn-lt"/>
                <a:ea typeface="+mn-ea"/>
                <a:cs typeface="+mn-cs"/>
              </a:rPr>
              <a:t>) / (3 × 10</a:t>
            </a:r>
            <a:r>
              <a:rPr kumimoji="0" lang="en-US" sz="2800" b="0" i="0" u="none" strike="noStrike" kern="1200" cap="none" spc="0" normalizeH="0" baseline="30000" noProof="0" dirty="0">
                <a:ln>
                  <a:noFill/>
                </a:ln>
                <a:solidFill>
                  <a:schemeClr val="tx1"/>
                </a:solidFill>
                <a:effectLst/>
                <a:uLnTx/>
                <a:uFillTx/>
                <a:latin typeface="+mn-lt"/>
                <a:ea typeface="+mn-ea"/>
                <a:cs typeface="+mn-cs"/>
              </a:rPr>
              <a:t>8</a:t>
            </a:r>
            <a:r>
              <a:rPr kumimoji="0" lang="en-US" sz="2800" b="0" i="0" u="none" strike="noStrike" kern="1200" cap="none" spc="0" normalizeH="0" baseline="0" noProof="0" dirty="0">
                <a:ln>
                  <a:noFill/>
                </a:ln>
                <a:solidFill>
                  <a:schemeClr val="tx1"/>
                </a:solidFill>
                <a:effectLst/>
                <a:uLnTx/>
                <a:uFillTx/>
                <a:latin typeface="+mn-lt"/>
                <a:ea typeface="+mn-ea"/>
                <a:cs typeface="+mn-cs"/>
              </a:rPr>
              <a:t>) = 2 ms</a:t>
            </a:r>
          </a:p>
          <a:p>
            <a:pPr marL="742950" marR="0" lvl="1" indent="-285750" algn="ctr"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When </a:t>
            </a:r>
            <a:r>
              <a:rPr kumimoji="0" lang="en-US" sz="3200" b="0" i="1" u="none" strike="noStrike" kern="1200" cap="none" spc="0" normalizeH="0" baseline="0" noProof="0" dirty="0">
                <a:ln>
                  <a:noFill/>
                </a:ln>
                <a:solidFill>
                  <a:schemeClr val="tx1"/>
                </a:solidFill>
                <a:effectLst/>
                <a:uLnTx/>
                <a:uFillTx/>
                <a:latin typeface="+mn-lt"/>
                <a:ea typeface="+mn-ea"/>
                <a:cs typeface="+mn-cs"/>
              </a:rPr>
              <a:t>K</a:t>
            </a:r>
            <a:r>
              <a:rPr kumimoji="0" lang="en-US" sz="3200" b="0" i="0" u="none" strike="noStrike" kern="1200" cap="none" spc="0" normalizeH="0" baseline="0" noProof="0" dirty="0">
                <a:ln>
                  <a:noFill/>
                </a:ln>
                <a:solidFill>
                  <a:schemeClr val="tx1"/>
                </a:solidFill>
                <a:effectLst/>
                <a:uLnTx/>
                <a:uFillTx/>
                <a:latin typeface="+mn-lt"/>
                <a:ea typeface="+mn-ea"/>
                <a:cs typeface="+mn-cs"/>
              </a:rPr>
              <a:t>=1, </a:t>
            </a:r>
            <a:r>
              <a:rPr kumimoji="0" lang="en-US" sz="3200" b="0" i="1" u="none" strike="noStrike" kern="1200" cap="none" spc="0" normalizeH="0" baseline="0" noProof="0" dirty="0">
                <a:ln>
                  <a:noFill/>
                </a:ln>
                <a:solidFill>
                  <a:schemeClr val="tx1"/>
                </a:solidFill>
                <a:effectLst/>
                <a:uLnTx/>
                <a:uFillTx/>
                <a:latin typeface="+mn-lt"/>
                <a:ea typeface="+mn-ea"/>
                <a:cs typeface="+mn-cs"/>
              </a:rPr>
              <a:t>T</a:t>
            </a:r>
            <a:r>
              <a:rPr kumimoji="0" lang="en-US" sz="3200" b="0" i="1" u="none" strike="noStrike" kern="1200" cap="none" spc="0" normalizeH="0" baseline="-25000" noProof="0" dirty="0">
                <a:ln>
                  <a:noFill/>
                </a:ln>
                <a:solidFill>
                  <a:schemeClr val="tx1"/>
                </a:solidFill>
                <a:effectLst/>
                <a:uLnTx/>
                <a:uFillTx/>
                <a:latin typeface="+mn-lt"/>
                <a:ea typeface="+mn-ea"/>
                <a:cs typeface="+mn-cs"/>
              </a:rPr>
              <a:t>B</a:t>
            </a:r>
            <a:r>
              <a:rPr kumimoji="0" lang="en-US" sz="3200" b="0" i="0" u="none" strike="noStrike" kern="1200" cap="none" spc="0" normalizeH="0" baseline="0" noProof="0" dirty="0">
                <a:ln>
                  <a:noFill/>
                </a:ln>
                <a:solidFill>
                  <a:schemeClr val="tx1"/>
                </a:solidFill>
                <a:effectLst/>
                <a:uLnTx/>
                <a:uFillTx/>
                <a:latin typeface="+mn-lt"/>
                <a:ea typeface="+mn-ea"/>
                <a:cs typeface="+mn-cs"/>
              </a:rPr>
              <a:t> </a:t>
            </a:r>
            <a:r>
              <a:rPr kumimoji="0" lang="en-US" sz="3200" b="0" i="0" u="none" strike="noStrike" kern="1200" cap="none" spc="0" normalizeH="0" baseline="0" noProof="0" dirty="0">
                <a:ln>
                  <a:noFill/>
                </a:ln>
                <a:solidFill>
                  <a:schemeClr val="tx1"/>
                </a:solidFill>
                <a:effectLst/>
                <a:uLnTx/>
                <a:uFillTx/>
                <a:latin typeface="+mn-lt"/>
                <a:ea typeface="+mn-ea"/>
                <a:cs typeface="+mn-cs"/>
                <a:sym typeface="Symbol" pitchFamily="18" charset="2"/>
              </a:rPr>
              <a:t> {0ms,2ms}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sym typeface="Symbol" pitchFamily="18" charset="2"/>
              </a:rPr>
              <a:t>When </a:t>
            </a:r>
            <a:r>
              <a:rPr kumimoji="0" lang="en-US" sz="3200" b="0" i="1" u="none" strike="noStrike" kern="1200" cap="none" spc="0" normalizeH="0" baseline="0" noProof="0" dirty="0">
                <a:ln>
                  <a:noFill/>
                </a:ln>
                <a:solidFill>
                  <a:schemeClr val="tx1"/>
                </a:solidFill>
                <a:effectLst/>
                <a:uLnTx/>
                <a:uFillTx/>
                <a:latin typeface="+mn-lt"/>
                <a:ea typeface="+mn-ea"/>
                <a:cs typeface="+mn-cs"/>
                <a:sym typeface="Symbol" pitchFamily="18" charset="2"/>
              </a:rPr>
              <a:t>K</a:t>
            </a:r>
            <a:r>
              <a:rPr kumimoji="0" lang="en-US" sz="3200" b="0" i="0" u="none" strike="noStrike" kern="1200" cap="none" spc="0" normalizeH="0" baseline="0" noProof="0" dirty="0">
                <a:ln>
                  <a:noFill/>
                </a:ln>
                <a:solidFill>
                  <a:schemeClr val="tx1"/>
                </a:solidFill>
                <a:effectLst/>
                <a:uLnTx/>
                <a:uFillTx/>
                <a:latin typeface="+mn-lt"/>
                <a:ea typeface="+mn-ea"/>
                <a:cs typeface="+mn-cs"/>
                <a:sym typeface="Symbol" pitchFamily="18" charset="2"/>
              </a:rPr>
              <a:t>=2, </a:t>
            </a:r>
            <a:r>
              <a:rPr kumimoji="0" lang="en-US" sz="3200" b="0" i="1" u="none" strike="noStrike" kern="1200" cap="none" spc="0" normalizeH="0" baseline="0" noProof="0" dirty="0">
                <a:ln>
                  <a:noFill/>
                </a:ln>
                <a:solidFill>
                  <a:schemeClr val="tx1"/>
                </a:solidFill>
                <a:effectLst/>
                <a:uLnTx/>
                <a:uFillTx/>
                <a:latin typeface="+mn-lt"/>
                <a:ea typeface="+mn-ea"/>
                <a:cs typeface="+mn-cs"/>
                <a:sym typeface="Symbol" pitchFamily="18" charset="2"/>
              </a:rPr>
              <a:t>T</a:t>
            </a:r>
            <a:r>
              <a:rPr kumimoji="0" lang="en-US" sz="3200" b="0" i="1" u="none" strike="noStrike" kern="1200" cap="none" spc="0" normalizeH="0" baseline="-25000" noProof="0" dirty="0">
                <a:ln>
                  <a:noFill/>
                </a:ln>
                <a:solidFill>
                  <a:schemeClr val="tx1"/>
                </a:solidFill>
                <a:effectLst/>
                <a:uLnTx/>
                <a:uFillTx/>
                <a:latin typeface="+mn-lt"/>
                <a:ea typeface="+mn-ea"/>
                <a:cs typeface="+mn-cs"/>
                <a:sym typeface="Symbol" pitchFamily="18" charset="2"/>
              </a:rPr>
              <a:t>B</a:t>
            </a:r>
            <a:r>
              <a:rPr kumimoji="0" lang="en-US" sz="3200" b="0" i="0" u="none" strike="noStrike" kern="1200" cap="none" spc="0" normalizeH="0" baseline="0" noProof="0" dirty="0">
                <a:ln>
                  <a:noFill/>
                </a:ln>
                <a:solidFill>
                  <a:schemeClr val="tx1"/>
                </a:solidFill>
                <a:effectLst/>
                <a:uLnTx/>
                <a:uFillTx/>
                <a:latin typeface="+mn-lt"/>
                <a:ea typeface="+mn-ea"/>
                <a:cs typeface="+mn-cs"/>
                <a:sym typeface="Symbol" pitchFamily="18" charset="2"/>
              </a:rPr>
              <a:t>  {0ms,2ms,4ms,6ms}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041478" y="304800"/>
            <a:ext cx="7188122" cy="584775"/>
          </a:xfrm>
          <a:prstGeom prst="rect">
            <a:avLst/>
          </a:prstGeom>
          <a:noFill/>
          <a:ln w="9525">
            <a:noFill/>
            <a:miter lim="800000"/>
            <a:headEnd/>
            <a:tailEnd/>
          </a:ln>
          <a:effectLst/>
        </p:spPr>
        <p:txBody>
          <a:bodyPr wrap="none">
            <a:spAutoFit/>
          </a:bodyPr>
          <a:lstStyle/>
          <a:p>
            <a:r>
              <a:rPr lang="en-US" sz="3200" b="1" baseline="0" dirty="0"/>
              <a:t>Vulnerable time for pure ALOHA protocol</a:t>
            </a:r>
          </a:p>
        </p:txBody>
      </p:sp>
      <p:pic>
        <p:nvPicPr>
          <p:cNvPr id="5" name="Picture 8"/>
          <p:cNvPicPr>
            <a:picLocks noChangeAspect="1" noChangeArrowheads="1"/>
          </p:cNvPicPr>
          <p:nvPr/>
        </p:nvPicPr>
        <p:blipFill>
          <a:blip r:embed="rId2"/>
          <a:srcRect/>
          <a:stretch>
            <a:fillRect/>
          </a:stretch>
        </p:blipFill>
        <p:spPr bwMode="auto">
          <a:xfrm>
            <a:off x="1008063" y="1376363"/>
            <a:ext cx="7297737" cy="4686787"/>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p:cNvSpPr txBox="1">
            <a:spLocks noChangeArrowheads="1"/>
          </p:cNvSpPr>
          <p:nvPr/>
        </p:nvSpPr>
        <p:spPr bwMode="auto">
          <a:xfrm>
            <a:off x="1066800" y="533400"/>
            <a:ext cx="7620000" cy="4770537"/>
          </a:xfrm>
          <a:prstGeom prst="rect">
            <a:avLst/>
          </a:prstGeom>
          <a:noFill/>
          <a:ln w="9525">
            <a:noFill/>
            <a:miter lim="800000"/>
            <a:headEnd/>
            <a:tailEnd/>
          </a:ln>
        </p:spPr>
        <p:txBody>
          <a:bodyPr wrap="square">
            <a:spAutoFit/>
          </a:bodyPr>
          <a:lstStyle/>
          <a:p>
            <a:pPr algn="just"/>
            <a:r>
              <a:rPr lang="en-US" sz="3200" dirty="0">
                <a:latin typeface="Times New Roman" pitchFamily="18" charset="0"/>
              </a:rPr>
              <a:t>If the frame </a:t>
            </a:r>
            <a:r>
              <a:rPr lang="en-US" sz="3200" u="sng" dirty="0">
                <a:latin typeface="Times New Roman" pitchFamily="18" charset="0"/>
              </a:rPr>
              <a:t>transmission time</a:t>
            </a:r>
            <a:r>
              <a:rPr lang="en-US" sz="3200" dirty="0">
                <a:latin typeface="Times New Roman" pitchFamily="18" charset="0"/>
              </a:rPr>
              <a:t> is T sec, then the vulnerable time is   = 2 T sec. </a:t>
            </a:r>
          </a:p>
          <a:p>
            <a:pPr algn="just"/>
            <a:endParaRPr lang="en-US" sz="3200" dirty="0">
              <a:latin typeface="Times New Roman" pitchFamily="18" charset="0"/>
            </a:endParaRPr>
          </a:p>
          <a:p>
            <a:pPr algn="just"/>
            <a:r>
              <a:rPr lang="en-US" sz="3200" dirty="0">
                <a:latin typeface="Times New Roman" pitchFamily="18" charset="0"/>
              </a:rPr>
              <a:t>This means no station should send during the T-sec before this station starts transmission and no station should start sending during the T-sec period that the current station is sending.</a:t>
            </a:r>
          </a:p>
          <a:p>
            <a:pPr>
              <a:spcBef>
                <a:spcPct val="50000"/>
              </a:spcBef>
            </a:pPr>
            <a:endParaRPr lang="en-US" sz="3200" dirty="0">
              <a:latin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09600" y="0"/>
            <a:ext cx="7543800" cy="609600"/>
          </a:xfrm>
          <a:prstGeom prst="rect">
            <a:avLst/>
          </a:prstGeom>
          <a:noFill/>
          <a:ln w="9525">
            <a:noFill/>
            <a:miter lim="800000"/>
            <a:headEnd/>
            <a:tailEnd/>
          </a:ln>
        </p:spPr>
        <p:txBody>
          <a:bodyPr anchor="ctr"/>
          <a:lstStyle/>
          <a:p>
            <a:pPr algn="ctr" eaLnBrk="1" hangingPunct="1"/>
            <a:r>
              <a:rPr lang="en-US" sz="3600" dirty="0">
                <a:latin typeface="Times New Roman" pitchFamily="18" charset="0"/>
              </a:rPr>
              <a:t>Pure ALOHA</a:t>
            </a:r>
          </a:p>
        </p:txBody>
      </p:sp>
      <p:sp>
        <p:nvSpPr>
          <p:cNvPr id="3" name="Rectangle 3"/>
          <p:cNvSpPr>
            <a:spLocks noChangeArrowheads="1"/>
          </p:cNvSpPr>
          <p:nvPr/>
        </p:nvSpPr>
        <p:spPr bwMode="auto">
          <a:xfrm>
            <a:off x="304800" y="5791200"/>
            <a:ext cx="8839200" cy="9906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pPr>
            <a:r>
              <a:rPr lang="en-US" sz="3200" dirty="0">
                <a:latin typeface="Times New Roman" pitchFamily="18" charset="0"/>
              </a:rPr>
              <a:t>    In pure ALOHA, frames are transmitted at completely arbitrary times.</a:t>
            </a:r>
          </a:p>
        </p:txBody>
      </p:sp>
      <p:pic>
        <p:nvPicPr>
          <p:cNvPr id="4" name="Picture 5"/>
          <p:cNvPicPr>
            <a:picLocks noChangeAspect="1" noChangeArrowheads="1"/>
          </p:cNvPicPr>
          <p:nvPr/>
        </p:nvPicPr>
        <p:blipFill>
          <a:blip r:embed="rId2"/>
          <a:srcRect/>
          <a:stretch>
            <a:fillRect/>
          </a:stretch>
        </p:blipFill>
        <p:spPr bwMode="auto">
          <a:xfrm>
            <a:off x="533400" y="609600"/>
            <a:ext cx="8077200" cy="52578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67800"/>
            <a:ext cx="8382000" cy="5509200"/>
          </a:xfrm>
          <a:prstGeom prst="rect">
            <a:avLst/>
          </a:prstGeom>
        </p:spPr>
        <p:txBody>
          <a:bodyPr wrap="square">
            <a:spAutoFit/>
          </a:bodyPr>
          <a:lstStyle/>
          <a:p>
            <a:pPr>
              <a:buFont typeface="Arial" pitchFamily="34" charset="0"/>
              <a:buChar char="•"/>
            </a:pPr>
            <a:r>
              <a:rPr lang="en-US" sz="3200" dirty="0"/>
              <a:t>  Pure ALOHA has a vulnerable time of </a:t>
            </a:r>
            <a:r>
              <a:rPr lang="en-US" sz="3200" b="1" dirty="0"/>
              <a:t>2 x Tfr </a:t>
            </a:r>
            <a:r>
              <a:rPr lang="en-US" sz="3200" dirty="0"/>
              <a:t>.</a:t>
            </a:r>
          </a:p>
          <a:p>
            <a:pPr>
              <a:buFont typeface="Arial" pitchFamily="34" charset="0"/>
              <a:buChar char="•"/>
            </a:pPr>
            <a:endParaRPr lang="en-US" sz="3200" dirty="0"/>
          </a:p>
          <a:p>
            <a:pPr>
              <a:buFont typeface="Arial" pitchFamily="34" charset="0"/>
              <a:buChar char="•"/>
            </a:pPr>
            <a:r>
              <a:rPr lang="en-US" sz="3200" dirty="0"/>
              <a:t>  This is so because there is no rule that defines</a:t>
            </a:r>
          </a:p>
          <a:p>
            <a:r>
              <a:rPr lang="en-US" sz="3200" dirty="0"/>
              <a:t>    when the station can send. </a:t>
            </a:r>
          </a:p>
          <a:p>
            <a:pPr>
              <a:buFont typeface="Arial" pitchFamily="34" charset="0"/>
              <a:buChar char="•"/>
            </a:pPr>
            <a:endParaRPr lang="en-US" sz="3200" dirty="0"/>
          </a:p>
          <a:p>
            <a:pPr>
              <a:buFont typeface="Arial" pitchFamily="34" charset="0"/>
              <a:buChar char="•"/>
            </a:pPr>
            <a:r>
              <a:rPr lang="en-US" sz="3200" dirty="0"/>
              <a:t>  A station may send soon after another station </a:t>
            </a:r>
          </a:p>
          <a:p>
            <a:r>
              <a:rPr lang="en-US" sz="3200" dirty="0"/>
              <a:t>    has started or soon before another station has </a:t>
            </a:r>
          </a:p>
          <a:p>
            <a:r>
              <a:rPr lang="en-US" sz="3200" dirty="0"/>
              <a:t>    finished. </a:t>
            </a:r>
          </a:p>
          <a:p>
            <a:pPr>
              <a:buFont typeface="Arial" pitchFamily="34" charset="0"/>
              <a:buChar char="•"/>
            </a:pPr>
            <a:endParaRPr lang="en-US" sz="3200" dirty="0"/>
          </a:p>
          <a:p>
            <a:pPr>
              <a:buFont typeface="Arial" pitchFamily="34" charset="0"/>
              <a:buChar char="•"/>
            </a:pPr>
            <a:r>
              <a:rPr lang="en-US" sz="3200" dirty="0"/>
              <a:t>  Slotted ALOHA was invented to improve the </a:t>
            </a:r>
          </a:p>
          <a:p>
            <a:r>
              <a:rPr lang="en-US" sz="3200" dirty="0"/>
              <a:t>   efficiency of pure ALOHA.</a:t>
            </a:r>
          </a:p>
        </p:txBody>
      </p:sp>
      <p:sp>
        <p:nvSpPr>
          <p:cNvPr id="4" name="Rectangle 2"/>
          <p:cNvSpPr txBox="1">
            <a:spLocks noChangeArrowheads="1"/>
          </p:cNvSpPr>
          <p:nvPr/>
        </p:nvSpPr>
        <p:spPr bwMode="auto">
          <a:xfrm>
            <a:off x="685800" y="228600"/>
            <a:ext cx="7772400" cy="6858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schemeClr val="tx1"/>
                </a:solidFill>
                <a:effectLst/>
                <a:uLnTx/>
                <a:uFillTx/>
                <a:latin typeface="+mj-lt"/>
                <a:ea typeface="+mj-ea"/>
                <a:cs typeface="+mj-cs"/>
              </a:rPr>
              <a:t>Random Access – Slotted ALOHA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685800" y="609600"/>
            <a:ext cx="7772400" cy="54864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Time is divided into slots equal to a </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frame transmission time (T</a:t>
            </a:r>
            <a:r>
              <a:rPr kumimoji="0" lang="en-US" sz="3200" b="1" i="0" u="none" strike="noStrike" kern="1200" cap="none" spc="0" normalizeH="0" baseline="-25000" noProof="0" dirty="0">
                <a:ln>
                  <a:noFill/>
                </a:ln>
                <a:solidFill>
                  <a:schemeClr val="tx1"/>
                </a:solidFill>
                <a:effectLst/>
                <a:uLnTx/>
                <a:uFillTx/>
                <a:latin typeface="Times New Roman" pitchFamily="18" charset="0"/>
                <a:ea typeface="+mn-ea"/>
                <a:cs typeface="Times New Roman" pitchFamily="18" charset="0"/>
              </a:rPr>
              <a:t>fr</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 station can transmit at the beginning of a slot only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If a station misses the beginning of a slot, it has to wait until the beginning of the next time slot.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 central clock</a:t>
            </a: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or station informs all stations about the start of a each slot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Maximum channel utilization is </a:t>
            </a:r>
            <a:r>
              <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37%</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32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742950" marR="0" lvl="1" indent="-285750" algn="l" defTabSz="914400" rtl="0" eaLnBrk="1" fontAlgn="auto" latinLnBrk="0" hangingPunct="1">
              <a:lnSpc>
                <a:spcPct val="100000"/>
              </a:lnSpc>
              <a:spcBef>
                <a:spcPct val="20000"/>
              </a:spcBef>
              <a:spcAft>
                <a:spcPts val="0"/>
              </a:spcAft>
              <a:buClrTx/>
              <a:buSzTx/>
              <a:buFont typeface="Wingdings" pitchFamily="2" charset="2"/>
              <a:buNone/>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620928" y="304800"/>
            <a:ext cx="7456272"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Frames in a slotted ALOHA network</a:t>
            </a:r>
          </a:p>
        </p:txBody>
      </p:sp>
      <p:pic>
        <p:nvPicPr>
          <p:cNvPr id="5" name="Picture 7"/>
          <p:cNvPicPr>
            <a:picLocks noChangeAspect="1" noChangeArrowheads="1"/>
          </p:cNvPicPr>
          <p:nvPr/>
        </p:nvPicPr>
        <p:blipFill>
          <a:blip r:embed="rId2"/>
          <a:srcRect/>
          <a:stretch>
            <a:fillRect/>
          </a:stretch>
        </p:blipFill>
        <p:spPr bwMode="auto">
          <a:xfrm>
            <a:off x="261938" y="1433513"/>
            <a:ext cx="8501062" cy="4129087"/>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5"/>
          <p:cNvSpPr>
            <a:spLocks noChangeShapeType="1"/>
          </p:cNvSpPr>
          <p:nvPr/>
        </p:nvSpPr>
        <p:spPr bwMode="auto">
          <a:xfrm>
            <a:off x="152400" y="990600"/>
            <a:ext cx="8763000" cy="0"/>
          </a:xfrm>
          <a:prstGeom prst="line">
            <a:avLst/>
          </a:prstGeom>
          <a:noFill/>
          <a:ln w="19050">
            <a:solidFill>
              <a:schemeClr val="hlink"/>
            </a:solidFill>
            <a:round/>
            <a:headEnd/>
            <a:tailEnd/>
          </a:ln>
        </p:spPr>
        <p:txBody>
          <a:bodyPr/>
          <a:lstStyle/>
          <a:p>
            <a:endParaRPr lang="en-US"/>
          </a:p>
        </p:txBody>
      </p:sp>
      <p:sp>
        <p:nvSpPr>
          <p:cNvPr id="4" name="Text Box 6"/>
          <p:cNvSpPr txBox="1">
            <a:spLocks noChangeArrowheads="1"/>
          </p:cNvSpPr>
          <p:nvPr/>
        </p:nvSpPr>
        <p:spPr bwMode="auto">
          <a:xfrm>
            <a:off x="758169" y="381000"/>
            <a:ext cx="7776231" cy="584775"/>
          </a:xfrm>
          <a:prstGeom prst="rect">
            <a:avLst/>
          </a:prstGeom>
          <a:noFill/>
          <a:ln w="9525">
            <a:noFill/>
            <a:miter lim="800000"/>
            <a:headEnd/>
            <a:tailEnd/>
          </a:ln>
        </p:spPr>
        <p:txBody>
          <a:bodyPr wrap="none">
            <a:spAutoFit/>
          </a:bodyPr>
          <a:lstStyle/>
          <a:p>
            <a:r>
              <a:rPr lang="en-US" sz="3200" b="1" dirty="0">
                <a:latin typeface="Times New Roman" pitchFamily="18" charset="0"/>
              </a:rPr>
              <a:t>In danger time for slotted ALOHA protocol</a:t>
            </a:r>
          </a:p>
        </p:txBody>
      </p:sp>
      <p:pic>
        <p:nvPicPr>
          <p:cNvPr id="6" name="Picture 8"/>
          <p:cNvPicPr>
            <a:picLocks noChangeAspect="1" noChangeArrowheads="1"/>
          </p:cNvPicPr>
          <p:nvPr/>
        </p:nvPicPr>
        <p:blipFill>
          <a:blip r:embed="rId2"/>
          <a:srcRect/>
          <a:stretch>
            <a:fillRect/>
          </a:stretch>
        </p:blipFill>
        <p:spPr bwMode="auto">
          <a:xfrm>
            <a:off x="520700" y="1430338"/>
            <a:ext cx="7899442" cy="4513262"/>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685800" y="228600"/>
            <a:ext cx="7772400" cy="685800"/>
          </a:xfrm>
          <a:prstGeom prst="rect">
            <a:avLst/>
          </a:prstGeom>
          <a:noFill/>
          <a:ln w="9525">
            <a:noFill/>
            <a:miter lim="800000"/>
            <a:headEnd/>
            <a:tailEnd/>
          </a:ln>
        </p:spPr>
        <p:txBody>
          <a:bodyPr/>
          <a:lstStyle/>
          <a:p>
            <a:pPr eaLnBrk="1" hangingPunct="1"/>
            <a:r>
              <a:rPr lang="en-US" sz="4000">
                <a:solidFill>
                  <a:schemeClr val="tx2"/>
                </a:solidFill>
              </a:rPr>
              <a:t>Random Access – Slotted ALOHA</a:t>
            </a:r>
          </a:p>
        </p:txBody>
      </p:sp>
      <p:sp>
        <p:nvSpPr>
          <p:cNvPr id="3" name="Rectangle 9"/>
          <p:cNvSpPr>
            <a:spLocks noChangeArrowheads="1"/>
          </p:cNvSpPr>
          <p:nvPr/>
        </p:nvSpPr>
        <p:spPr bwMode="auto">
          <a:xfrm>
            <a:off x="6781800" y="4114800"/>
            <a:ext cx="990600" cy="685800"/>
          </a:xfrm>
          <a:prstGeom prst="rect">
            <a:avLst/>
          </a:prstGeom>
          <a:solidFill>
            <a:schemeClr val="bg1"/>
          </a:solidFill>
          <a:ln w="9525">
            <a:noFill/>
            <a:miter lim="800000"/>
            <a:headEnd/>
            <a:tailEnd/>
          </a:ln>
        </p:spPr>
        <p:txBody>
          <a:bodyPr wrap="none" anchor="ctr"/>
          <a:lstStyle/>
          <a:p>
            <a:endParaRPr lang="en-US"/>
          </a:p>
        </p:txBody>
      </p:sp>
      <p:grpSp>
        <p:nvGrpSpPr>
          <p:cNvPr id="4" name="Group 10"/>
          <p:cNvGrpSpPr>
            <a:grpSpLocks/>
          </p:cNvGrpSpPr>
          <p:nvPr/>
        </p:nvGrpSpPr>
        <p:grpSpPr bwMode="auto">
          <a:xfrm>
            <a:off x="457200" y="914400"/>
            <a:ext cx="7772400" cy="5562600"/>
            <a:chOff x="288" y="576"/>
            <a:chExt cx="4896" cy="3504"/>
          </a:xfrm>
        </p:grpSpPr>
        <p:grpSp>
          <p:nvGrpSpPr>
            <p:cNvPr id="5" name="Group 11"/>
            <p:cNvGrpSpPr>
              <a:grpSpLocks/>
            </p:cNvGrpSpPr>
            <p:nvPr/>
          </p:nvGrpSpPr>
          <p:grpSpPr bwMode="auto">
            <a:xfrm>
              <a:off x="288" y="576"/>
              <a:ext cx="4896" cy="3504"/>
              <a:chOff x="288" y="576"/>
              <a:chExt cx="4896" cy="3504"/>
            </a:xfrm>
          </p:grpSpPr>
          <p:pic>
            <p:nvPicPr>
              <p:cNvPr id="7" name="Picture 12"/>
              <p:cNvPicPr>
                <a:picLocks noChangeAspect="1" noChangeArrowheads="1"/>
              </p:cNvPicPr>
              <p:nvPr/>
            </p:nvPicPr>
            <p:blipFill>
              <a:blip r:embed="rId2"/>
              <a:srcRect/>
              <a:stretch>
                <a:fillRect/>
              </a:stretch>
            </p:blipFill>
            <p:spPr bwMode="auto">
              <a:xfrm>
                <a:off x="288" y="576"/>
                <a:ext cx="4896" cy="3504"/>
              </a:xfrm>
              <a:prstGeom prst="rect">
                <a:avLst/>
              </a:prstGeom>
              <a:noFill/>
              <a:ln w="9525">
                <a:noFill/>
                <a:miter lim="800000"/>
                <a:headEnd/>
                <a:tailEnd/>
              </a:ln>
            </p:spPr>
          </p:pic>
          <p:sp>
            <p:nvSpPr>
              <p:cNvPr id="8" name="Rectangle 13"/>
              <p:cNvSpPr>
                <a:spLocks noChangeArrowheads="1"/>
              </p:cNvSpPr>
              <p:nvPr/>
            </p:nvSpPr>
            <p:spPr bwMode="auto">
              <a:xfrm>
                <a:off x="4071" y="2745"/>
                <a:ext cx="384" cy="240"/>
              </a:xfrm>
              <a:prstGeom prst="rect">
                <a:avLst/>
              </a:prstGeom>
              <a:solidFill>
                <a:srgbClr val="00C261"/>
              </a:solidFill>
              <a:ln w="9525">
                <a:solidFill>
                  <a:schemeClr val="tx1"/>
                </a:solidFill>
                <a:miter lim="800000"/>
                <a:headEnd/>
                <a:tailEnd/>
              </a:ln>
            </p:spPr>
            <p:txBody>
              <a:bodyPr wrap="none" anchor="ctr"/>
              <a:lstStyle/>
              <a:p>
                <a:endParaRPr lang="en-US"/>
              </a:p>
            </p:txBody>
          </p:sp>
        </p:grpSp>
        <p:sp>
          <p:nvSpPr>
            <p:cNvPr id="6" name="Rectangle 14"/>
            <p:cNvSpPr>
              <a:spLocks noChangeArrowheads="1"/>
            </p:cNvSpPr>
            <p:nvPr/>
          </p:nvSpPr>
          <p:spPr bwMode="auto">
            <a:xfrm>
              <a:off x="4416" y="2592"/>
              <a:ext cx="432" cy="432"/>
            </a:xfrm>
            <a:prstGeom prst="rect">
              <a:avLst/>
            </a:prstGeom>
            <a:solidFill>
              <a:schemeClr val="bg1"/>
            </a:solidFill>
            <a:ln w="9525">
              <a:noFill/>
              <a:miter lim="800000"/>
              <a:headEnd/>
              <a:tailEnd/>
            </a:ln>
          </p:spPr>
          <p:txBody>
            <a:bodyPr wrap="none" anchor="ctr"/>
            <a:lstStyle/>
            <a:p>
              <a:endParaRPr 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228600" y="381000"/>
            <a:ext cx="8305800" cy="4278094"/>
          </a:xfrm>
          <a:prstGeom prst="rect">
            <a:avLst/>
          </a:prstGeom>
          <a:noFill/>
          <a:ln w="9525">
            <a:noFill/>
            <a:miter lim="800000"/>
            <a:headEnd/>
            <a:tailEnd/>
          </a:ln>
        </p:spPr>
        <p:txBody>
          <a:bodyPr wrap="square">
            <a:spAutoFit/>
          </a:bodyPr>
          <a:lstStyle/>
          <a:p>
            <a:pPr eaLnBrk="1" hangingPunct="1">
              <a:spcBef>
                <a:spcPct val="50000"/>
              </a:spcBef>
              <a:buClr>
                <a:schemeClr val="folHlink"/>
              </a:buClr>
              <a:buSzPct val="60000"/>
            </a:pPr>
            <a:r>
              <a:rPr lang="en-US" sz="3200" dirty="0">
                <a:latin typeface="Times New Roman" pitchFamily="18" charset="0"/>
              </a:rPr>
              <a:t>             </a:t>
            </a:r>
            <a:r>
              <a:rPr lang="en-US" sz="3200" b="1" dirty="0">
                <a:latin typeface="Times New Roman" pitchFamily="18" charset="0"/>
              </a:rPr>
              <a:t>Advantage of ALOHA protocols</a:t>
            </a:r>
          </a:p>
          <a:p>
            <a:pPr lvl="1" eaLnBrk="1" hangingPunct="1">
              <a:spcBef>
                <a:spcPct val="50000"/>
              </a:spcBef>
              <a:buClr>
                <a:schemeClr val="hlink"/>
              </a:buClr>
              <a:buSzPct val="55000"/>
              <a:buFont typeface="Wingdings" pitchFamily="2" charset="2"/>
              <a:buChar char="n"/>
            </a:pPr>
            <a:r>
              <a:rPr lang="en-US" sz="3200" dirty="0">
                <a:latin typeface="Times New Roman" pitchFamily="18" charset="0"/>
              </a:rPr>
              <a:t> A node that has frames to be transmitted  can </a:t>
            </a:r>
            <a:r>
              <a:rPr lang="en-US" sz="3200" b="1" dirty="0">
                <a:latin typeface="Times New Roman" pitchFamily="18" charset="0"/>
              </a:rPr>
              <a:t>transmit continuously</a:t>
            </a:r>
            <a:r>
              <a:rPr lang="en-US" sz="3200" dirty="0">
                <a:latin typeface="Times New Roman" pitchFamily="18" charset="0"/>
              </a:rPr>
              <a:t> at the </a:t>
            </a:r>
            <a:r>
              <a:rPr lang="en-US" sz="3200" b="1" dirty="0">
                <a:latin typeface="Times New Roman" pitchFamily="18" charset="0"/>
              </a:rPr>
              <a:t>full rate of channel </a:t>
            </a:r>
            <a:r>
              <a:rPr lang="en-US" sz="3200" dirty="0">
                <a:latin typeface="Times New Roman" pitchFamily="18" charset="0"/>
              </a:rPr>
              <a:t>if it is the </a:t>
            </a:r>
            <a:r>
              <a:rPr lang="en-US" sz="3200" u="sng" dirty="0">
                <a:latin typeface="Times New Roman" pitchFamily="18" charset="0"/>
              </a:rPr>
              <a:t>only node</a:t>
            </a:r>
            <a:r>
              <a:rPr lang="en-US" sz="3200" dirty="0">
                <a:latin typeface="Times New Roman" pitchFamily="18" charset="0"/>
              </a:rPr>
              <a:t> with frames</a:t>
            </a:r>
          </a:p>
          <a:p>
            <a:pPr lvl="1" eaLnBrk="1" hangingPunct="1">
              <a:spcBef>
                <a:spcPct val="50000"/>
              </a:spcBef>
              <a:buClr>
                <a:schemeClr val="hlink"/>
              </a:buClr>
              <a:buSzPct val="55000"/>
              <a:buFont typeface="Wingdings" pitchFamily="2" charset="2"/>
              <a:buChar char="n"/>
            </a:pPr>
            <a:r>
              <a:rPr lang="en-US" sz="3200" dirty="0">
                <a:latin typeface="Times New Roman" pitchFamily="18" charset="0"/>
              </a:rPr>
              <a:t> Simple to be implemented.</a:t>
            </a:r>
          </a:p>
          <a:p>
            <a:pPr lvl="1" eaLnBrk="1" hangingPunct="1">
              <a:spcBef>
                <a:spcPct val="50000"/>
              </a:spcBef>
              <a:buClr>
                <a:schemeClr val="hlink"/>
              </a:buClr>
              <a:buSzPct val="55000"/>
              <a:buFont typeface="Wingdings" pitchFamily="2" charset="2"/>
              <a:buChar char="n"/>
            </a:pPr>
            <a:r>
              <a:rPr lang="en-US" sz="3200" dirty="0">
                <a:latin typeface="Times New Roman" pitchFamily="18" charset="0"/>
              </a:rPr>
              <a:t> No master station is needed to control the  medium.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85800"/>
            <a:ext cx="7772400" cy="3539430"/>
          </a:xfrm>
          <a:prstGeom prst="rect">
            <a:avLst/>
          </a:prstGeom>
        </p:spPr>
        <p:txBody>
          <a:bodyPr wrap="square">
            <a:spAutoFit/>
          </a:bodyPr>
          <a:lstStyle/>
          <a:p>
            <a:pPr>
              <a:spcBef>
                <a:spcPct val="50000"/>
              </a:spcBef>
              <a:buClr>
                <a:schemeClr val="folHlink"/>
              </a:buClr>
              <a:buSzPct val="60000"/>
            </a:pPr>
            <a:r>
              <a:rPr lang="en-US" sz="3200" b="1" dirty="0">
                <a:latin typeface="Times New Roman" pitchFamily="18" charset="0"/>
              </a:rPr>
              <a:t>Disadvantage: -</a:t>
            </a:r>
          </a:p>
          <a:p>
            <a:pPr lvl="1">
              <a:spcBef>
                <a:spcPct val="50000"/>
              </a:spcBef>
              <a:buClr>
                <a:schemeClr val="hlink"/>
              </a:buClr>
              <a:buSzPct val="55000"/>
              <a:buFont typeface="Wingdings" pitchFamily="2" charset="2"/>
              <a:buChar char="n"/>
            </a:pPr>
            <a:r>
              <a:rPr lang="en-US" sz="3200" dirty="0">
                <a:latin typeface="Times New Roman" pitchFamily="18" charset="0"/>
              </a:rPr>
              <a:t> If (M) nodes want to transmit, many collisions can occur and the rate allocated for each node will </a:t>
            </a:r>
            <a:r>
              <a:rPr lang="en-US" sz="3200" b="1" dirty="0">
                <a:latin typeface="Times New Roman" pitchFamily="18" charset="0"/>
              </a:rPr>
              <a:t>not be on average R/M bps </a:t>
            </a:r>
          </a:p>
          <a:p>
            <a:pPr lvl="1">
              <a:spcBef>
                <a:spcPct val="50000"/>
              </a:spcBef>
              <a:buClr>
                <a:schemeClr val="hlink"/>
              </a:buClr>
              <a:buSzPct val="55000"/>
              <a:buFont typeface="Wingdings" pitchFamily="2" charset="2"/>
              <a:buChar char="n"/>
            </a:pPr>
            <a:r>
              <a:rPr lang="en-US" sz="3200" dirty="0">
                <a:latin typeface="Times New Roman" pitchFamily="18" charset="0"/>
              </a:rPr>
              <a:t> This causes low channel utilization.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685800"/>
            <a:ext cx="8839200" cy="5632311"/>
          </a:xfrm>
          <a:prstGeom prst="rect">
            <a:avLst/>
          </a:prstGeom>
        </p:spPr>
        <p:txBody>
          <a:bodyPr wrap="square">
            <a:spAutoFit/>
          </a:bodyPr>
          <a:lstStyle/>
          <a:p>
            <a:pPr marL="457200" indent="-457200">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To minimize the chance of collision and, therefore, increase the performance, the CSMA method was developed. </a:t>
            </a:r>
          </a:p>
          <a:p>
            <a:pPr marL="457200" indent="-45720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The chance of collision can be reduced if a station senses the medium before trying to use it. </a:t>
            </a:r>
          </a:p>
          <a:p>
            <a:pPr marL="457200" indent="-45720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Carrier sense multiple access (CSMA) requires that each station first listen to the medium (or check the state of the medium) before sending. In other words, CSMA is based on the principle </a:t>
            </a:r>
            <a:r>
              <a:rPr lang="en-IN" sz="3200" b="1" dirty="0">
                <a:latin typeface="Times New Roman" panose="02020603050405020304" pitchFamily="18" charset="0"/>
                <a:cs typeface="Times New Roman" panose="02020603050405020304" pitchFamily="18" charset="0"/>
              </a:rPr>
              <a:t>"sense before transmit" or "listen before talk”</a:t>
            </a:r>
          </a:p>
        </p:txBody>
      </p:sp>
      <p:sp>
        <p:nvSpPr>
          <p:cNvPr id="3" name="Rectangle 2"/>
          <p:cNvSpPr/>
          <p:nvPr/>
        </p:nvSpPr>
        <p:spPr>
          <a:xfrm>
            <a:off x="3429000" y="76200"/>
            <a:ext cx="1845377" cy="769441"/>
          </a:xfrm>
          <a:prstGeom prst="rect">
            <a:avLst/>
          </a:prstGeom>
        </p:spPr>
        <p:txBody>
          <a:bodyPr wrap="none">
            <a:spAutoFit/>
          </a:bodyPr>
          <a:lstStyle/>
          <a:p>
            <a:r>
              <a:rPr lang="en-US" sz="4400" b="1" dirty="0">
                <a:latin typeface="Times New Roman" panose="02020603050405020304" pitchFamily="18" charset="0"/>
                <a:cs typeface="Times New Roman" panose="02020603050405020304" pitchFamily="18" charset="0"/>
              </a:rPr>
              <a:t>CSMA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762000" y="352336"/>
            <a:ext cx="7659469" cy="584775"/>
          </a:xfrm>
          <a:prstGeom prst="rect">
            <a:avLst/>
          </a:prstGeom>
          <a:noFill/>
          <a:ln w="9525">
            <a:noFill/>
            <a:miter lim="800000"/>
            <a:headEnd/>
            <a:tailEnd/>
          </a:ln>
          <a:effectLst/>
        </p:spPr>
        <p:txBody>
          <a:bodyPr wrap="none">
            <a:spAutoFit/>
          </a:bodyPr>
          <a:lstStyle/>
          <a:p>
            <a:r>
              <a:rPr lang="en-US" sz="3200" b="1" baseline="0" dirty="0">
                <a:latin typeface="Times New Roman" panose="02020603050405020304" pitchFamily="18" charset="0"/>
                <a:cs typeface="Times New Roman" panose="02020603050405020304" pitchFamily="18" charset="0"/>
              </a:rPr>
              <a:t>Space/time model of the collision in CSMA</a:t>
            </a:r>
          </a:p>
        </p:txBody>
      </p:sp>
      <p:pic>
        <p:nvPicPr>
          <p:cNvPr id="5" name="Picture 7"/>
          <p:cNvPicPr>
            <a:picLocks noChangeAspect="1" noChangeArrowheads="1"/>
          </p:cNvPicPr>
          <p:nvPr/>
        </p:nvPicPr>
        <p:blipFill>
          <a:blip r:embed="rId2"/>
          <a:srcRect/>
          <a:stretch>
            <a:fillRect/>
          </a:stretch>
        </p:blipFill>
        <p:spPr bwMode="auto">
          <a:xfrm>
            <a:off x="196850" y="1066800"/>
            <a:ext cx="7880350" cy="5078413"/>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685800" y="152400"/>
            <a:ext cx="7772400" cy="609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Random Access – Carrier Sense Multiple Access (CSMA)</a:t>
            </a:r>
          </a:p>
        </p:txBody>
      </p:sp>
      <p:pic>
        <p:nvPicPr>
          <p:cNvPr id="3" name="Picture 4"/>
          <p:cNvPicPr>
            <a:picLocks noChangeAspect="1" noChangeArrowheads="1"/>
          </p:cNvPicPr>
          <p:nvPr/>
        </p:nvPicPr>
        <p:blipFill>
          <a:blip r:embed="rId2"/>
          <a:srcRect/>
          <a:stretch>
            <a:fillRect/>
          </a:stretch>
        </p:blipFill>
        <p:spPr bwMode="auto">
          <a:xfrm>
            <a:off x="533401" y="1295399"/>
            <a:ext cx="8184930" cy="3886201"/>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533400" y="76200"/>
            <a:ext cx="7772400" cy="990600"/>
          </a:xfrm>
          <a:prstGeom prst="rect">
            <a:avLst/>
          </a:prstGeom>
          <a:noFill/>
          <a:ln w="9525">
            <a:noFill/>
            <a:miter lim="800000"/>
            <a:headEnd/>
            <a:tailEnd/>
          </a:ln>
        </p:spPr>
        <p:txBody>
          <a:bodyPr/>
          <a:lstStyle/>
          <a:p>
            <a:pPr algn="ctr" eaLnBrk="1" hangingPunct="1"/>
            <a:r>
              <a:rPr lang="en-US" sz="3200" b="1" dirty="0"/>
              <a:t>Random Access – Carrier Sense Multiple Access (CSMA)</a:t>
            </a:r>
          </a:p>
        </p:txBody>
      </p:sp>
      <p:sp>
        <p:nvSpPr>
          <p:cNvPr id="3" name="Rectangle 5"/>
          <p:cNvSpPr>
            <a:spLocks noChangeArrowheads="1"/>
          </p:cNvSpPr>
          <p:nvPr/>
        </p:nvSpPr>
        <p:spPr bwMode="auto">
          <a:xfrm>
            <a:off x="685800" y="1484293"/>
            <a:ext cx="8190931" cy="954107"/>
          </a:xfrm>
          <a:prstGeom prst="rect">
            <a:avLst/>
          </a:prstGeom>
          <a:noFill/>
          <a:ln w="9525">
            <a:noFill/>
            <a:miter lim="800000"/>
            <a:headEnd/>
            <a:tailEnd/>
          </a:ln>
        </p:spPr>
        <p:txBody>
          <a:bodyPr wrap="square">
            <a:spAutoFit/>
          </a:bodyPr>
          <a:lstStyle/>
          <a:p>
            <a:pPr>
              <a:buFont typeface="Wingdings" pitchFamily="2" charset="2"/>
              <a:buChar char="§"/>
            </a:pPr>
            <a:r>
              <a:rPr lang="en-US" sz="2800" dirty="0"/>
              <a:t> Vulnerable time for CSMA is the </a:t>
            </a:r>
            <a:r>
              <a:rPr lang="en-US" sz="2800" b="1" u="sng" dirty="0"/>
              <a:t>maximum propagation time</a:t>
            </a:r>
            <a:endParaRPr lang="en-US" sz="2800" u="sng" dirty="0"/>
          </a:p>
        </p:txBody>
      </p:sp>
      <p:pic>
        <p:nvPicPr>
          <p:cNvPr id="4" name="Picture 6"/>
          <p:cNvPicPr>
            <a:picLocks noChangeAspect="1" noChangeArrowheads="1"/>
          </p:cNvPicPr>
          <p:nvPr/>
        </p:nvPicPr>
        <p:blipFill>
          <a:blip r:embed="rId2"/>
          <a:srcRect/>
          <a:stretch>
            <a:fillRect/>
          </a:stretch>
        </p:blipFill>
        <p:spPr bwMode="auto">
          <a:xfrm>
            <a:off x="685800" y="3095534"/>
            <a:ext cx="8343331" cy="3762466"/>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1000"/>
            <a:ext cx="8305800" cy="5509200"/>
          </a:xfrm>
          <a:prstGeom prst="rect">
            <a:avLst/>
          </a:prstGeom>
        </p:spPr>
        <p:txBody>
          <a:bodyPr wrap="square">
            <a:spAutoFit/>
          </a:bodyPr>
          <a:lstStyle/>
          <a:p>
            <a:r>
              <a:rPr lang="en-IN" sz="3200" b="1" dirty="0">
                <a:latin typeface="Times New Roman" panose="02020603050405020304" pitchFamily="18" charset="0"/>
                <a:cs typeface="Times New Roman" panose="02020603050405020304" pitchFamily="18" charset="0"/>
              </a:rPr>
              <a:t>Vulnerable Time </a:t>
            </a:r>
            <a:r>
              <a:rPr lang="en-IN" sz="3200" dirty="0">
                <a:latin typeface="Times New Roman" panose="02020603050405020304" pitchFamily="18" charset="0"/>
                <a:cs typeface="Times New Roman" panose="02020603050405020304" pitchFamily="18" charset="0"/>
              </a:rPr>
              <a:t>: This is the time needed for a signal to propagate from one end of the medium to the other. </a:t>
            </a: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When a station sends a frame, and any other station tries to send a frame during this time, a collision will result. </a:t>
            </a: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But if the first bit of the frame reaches the end of the medium, every station will already have heard the bit and will refrain from sending.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685800" y="228600"/>
            <a:ext cx="7772400" cy="762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Types of CSMA Protocols</a:t>
            </a:r>
            <a:endParaRPr lang="en-US" sz="4000" b="1" dirty="0">
              <a:solidFill>
                <a:srgbClr val="000000"/>
              </a:solidFill>
              <a:latin typeface="Times New Roman" pitchFamily="18" charset="0"/>
              <a:cs typeface="Times New Roman" pitchFamily="18" charset="0"/>
            </a:endParaRPr>
          </a:p>
        </p:txBody>
      </p:sp>
      <p:sp>
        <p:nvSpPr>
          <p:cNvPr id="3" name="Rectangle 3"/>
          <p:cNvSpPr txBox="1">
            <a:spLocks noChangeArrowheads="1"/>
          </p:cNvSpPr>
          <p:nvPr/>
        </p:nvSpPr>
        <p:spPr bwMode="auto">
          <a:xfrm>
            <a:off x="685800" y="990600"/>
            <a:ext cx="7772400" cy="57150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990600" lvl="1" indent="-533400">
              <a:buFont typeface="Wingdings" pitchFamily="2" charset="2"/>
              <a:buAutoNum type="arabicPeriod"/>
            </a:pPr>
            <a:endParaRPr lang="en-US" sz="3200" b="1" dirty="0">
              <a:solidFill>
                <a:srgbClr val="0000FF"/>
              </a:solidFill>
              <a:latin typeface="Times New Roman" pitchFamily="18" charset="0"/>
              <a:cs typeface="Times New Roman" pitchFamily="18" charset="0"/>
            </a:endParaRPr>
          </a:p>
          <a:p>
            <a:pPr marL="990600" lvl="1" indent="-533400">
              <a:buFont typeface="Wingdings" pitchFamily="2" charset="2"/>
              <a:buNone/>
            </a:pPr>
            <a:r>
              <a:rPr lang="en-US" sz="3200" dirty="0">
                <a:latin typeface="Times New Roman" pitchFamily="18" charset="0"/>
                <a:cs typeface="Times New Roman" pitchFamily="18" charset="0"/>
              </a:rPr>
              <a:t>Different CSMA protocols that determine:</a:t>
            </a:r>
          </a:p>
          <a:p>
            <a:pPr marL="990600" lvl="1" indent="-533400">
              <a:buSzPct val="95000"/>
              <a:buFont typeface="Wingdings" pitchFamily="2" charset="2"/>
              <a:buChar char="§"/>
            </a:pPr>
            <a:r>
              <a:rPr lang="en-US" sz="3200" dirty="0">
                <a:latin typeface="Times New Roman" pitchFamily="18" charset="0"/>
                <a:cs typeface="Times New Roman" pitchFamily="18" charset="0"/>
              </a:rPr>
              <a:t>What a station should do when the medium is </a:t>
            </a:r>
            <a:r>
              <a:rPr lang="en-US" sz="3200" b="1" dirty="0">
                <a:latin typeface="Times New Roman" pitchFamily="18" charset="0"/>
                <a:cs typeface="Times New Roman" pitchFamily="18" charset="0"/>
              </a:rPr>
              <a:t>idle</a:t>
            </a:r>
            <a:r>
              <a:rPr lang="en-US" sz="3200" dirty="0">
                <a:latin typeface="Times New Roman" pitchFamily="18" charset="0"/>
                <a:cs typeface="Times New Roman" pitchFamily="18" charset="0"/>
              </a:rPr>
              <a:t>?</a:t>
            </a:r>
          </a:p>
          <a:p>
            <a:pPr marL="990600" lvl="1" indent="-533400">
              <a:buSzPct val="95000"/>
              <a:buFont typeface="Wingdings" pitchFamily="2" charset="2"/>
              <a:buChar char="§"/>
            </a:pPr>
            <a:r>
              <a:rPr lang="en-US" sz="3200" dirty="0">
                <a:latin typeface="Times New Roman" pitchFamily="18" charset="0"/>
                <a:cs typeface="Times New Roman" pitchFamily="18" charset="0"/>
              </a:rPr>
              <a:t>What a station should do when the medium is </a:t>
            </a:r>
            <a:r>
              <a:rPr lang="en-US" sz="3200" b="1" dirty="0">
                <a:latin typeface="Times New Roman" pitchFamily="18" charset="0"/>
                <a:cs typeface="Times New Roman" pitchFamily="18" charset="0"/>
              </a:rPr>
              <a:t>busy</a:t>
            </a:r>
            <a:r>
              <a:rPr lang="en-US" sz="3200" dirty="0">
                <a:latin typeface="Times New Roman" pitchFamily="18" charset="0"/>
                <a:cs typeface="Times New Roman" pitchFamily="18" charset="0"/>
              </a:rPr>
              <a:t>? </a:t>
            </a:r>
          </a:p>
          <a:p>
            <a:pPr marL="990600" lvl="1" indent="-533400">
              <a:buFont typeface="Wingdings" pitchFamily="2" charset="2"/>
              <a:buAutoNum type="arabicPeriod"/>
            </a:pPr>
            <a:endParaRPr lang="en-US" sz="3200" dirty="0">
              <a:latin typeface="Times New Roman" pitchFamily="18" charset="0"/>
              <a:cs typeface="Times New Roman" pitchFamily="18" charset="0"/>
            </a:endParaRPr>
          </a:p>
          <a:p>
            <a:pPr marL="1371600" lvl="2" indent="-457200">
              <a:buFont typeface="Wingdings" pitchFamily="2" charset="2"/>
              <a:buAutoNum type="arabicPeriod"/>
            </a:pPr>
            <a:r>
              <a:rPr lang="en-US" sz="3200" dirty="0">
                <a:latin typeface="Times New Roman" pitchFamily="18" charset="0"/>
                <a:cs typeface="Times New Roman" pitchFamily="18" charset="0"/>
              </a:rPr>
              <a:t>Non-Persistent CSMA</a:t>
            </a:r>
          </a:p>
          <a:p>
            <a:pPr marL="1371600" lvl="2" indent="-457200">
              <a:buFont typeface="Wingdings" pitchFamily="2" charset="2"/>
              <a:buAutoNum type="arabicPeriod"/>
            </a:pPr>
            <a:r>
              <a:rPr lang="en-US" sz="3200" dirty="0">
                <a:latin typeface="Times New Roman" pitchFamily="18" charset="0"/>
                <a:cs typeface="Times New Roman" pitchFamily="18" charset="0"/>
              </a:rPr>
              <a:t>1-Persistent CSMA</a:t>
            </a:r>
          </a:p>
          <a:p>
            <a:pPr marL="1371600" lvl="2" indent="-457200">
              <a:buFont typeface="Wingdings" pitchFamily="2" charset="2"/>
              <a:buAutoNum type="arabicPeriod"/>
            </a:pPr>
            <a:r>
              <a:rPr lang="en-US" sz="3200" dirty="0">
                <a:latin typeface="Times New Roman" pitchFamily="18" charset="0"/>
                <a:cs typeface="Times New Roman" pitchFamily="18" charset="0"/>
              </a:rPr>
              <a:t>p-Persistent CSMA</a:t>
            </a:r>
          </a:p>
          <a:p>
            <a:pPr marL="609600" indent="-609600">
              <a:buFont typeface="Wingdings" pitchFamily="2" charset="2"/>
              <a:buAutoNum type="arabicPeriod"/>
            </a:pPr>
            <a:endParaRPr lang="en-US"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406400" y="152400"/>
            <a:ext cx="8204200" cy="838200"/>
          </a:xfrm>
          <a:prstGeom prst="rect">
            <a:avLst/>
          </a:prstGeom>
          <a:noFill/>
          <a:ln w="9525">
            <a:noFill/>
            <a:miter lim="800000"/>
            <a:headEnd/>
            <a:tailEnd/>
          </a:ln>
        </p:spPr>
        <p:txBody>
          <a:bodyPr anchor="b"/>
          <a:lstStyle/>
          <a:p>
            <a:pPr algn="ctr" eaLnBrk="1" hangingPunct="1"/>
            <a:r>
              <a:rPr lang="en-GB" sz="4400" dirty="0"/>
              <a:t>Nonpersistent CSMA</a:t>
            </a:r>
            <a:endParaRPr lang="en-US" sz="4400" dirty="0"/>
          </a:p>
        </p:txBody>
      </p:sp>
      <p:sp>
        <p:nvSpPr>
          <p:cNvPr id="3" name="Rectangle 7"/>
          <p:cNvSpPr>
            <a:spLocks noChangeArrowheads="1"/>
          </p:cNvSpPr>
          <p:nvPr/>
        </p:nvSpPr>
        <p:spPr bwMode="auto">
          <a:xfrm>
            <a:off x="533400" y="1295400"/>
            <a:ext cx="8178800" cy="5181600"/>
          </a:xfrm>
          <a:prstGeom prst="rect">
            <a:avLst/>
          </a:prstGeom>
          <a:noFill/>
          <a:ln w="9525">
            <a:noFill/>
            <a:miter lim="800000"/>
            <a:headEnd/>
            <a:tailEnd/>
          </a:ln>
        </p:spPr>
        <p:txBody>
          <a:bodyPr/>
          <a:lstStyle/>
          <a:p>
            <a:pPr marL="457200" indent="-457200" eaLnBrk="1" hangingPunct="1">
              <a:lnSpc>
                <a:spcPct val="90000"/>
              </a:lnSpc>
              <a:spcBef>
                <a:spcPct val="20000"/>
              </a:spcBef>
              <a:buClr>
                <a:schemeClr val="folHlink"/>
              </a:buClr>
              <a:buSzPct val="60000"/>
              <a:buFont typeface="Wingdings" pitchFamily="2" charset="2"/>
              <a:buChar char="§"/>
            </a:pPr>
            <a:r>
              <a:rPr lang="en-US" sz="3200" dirty="0">
                <a:latin typeface="Times New Roman" pitchFamily="18" charset="0"/>
              </a:rPr>
              <a:t>A station with frames to be sent, should sense the medium</a:t>
            </a:r>
          </a:p>
          <a:p>
            <a:pPr marL="914400" lvl="1" indent="-457200" eaLnBrk="1" hangingPunct="1">
              <a:lnSpc>
                <a:spcPct val="90000"/>
              </a:lnSpc>
              <a:spcBef>
                <a:spcPct val="20000"/>
              </a:spcBef>
              <a:buClr>
                <a:schemeClr val="folHlink"/>
              </a:buClr>
              <a:buSzPct val="60000"/>
              <a:buFont typeface="Wingdings" pitchFamily="2" charset="2"/>
              <a:buAutoNum type="arabicPeriod"/>
            </a:pPr>
            <a:r>
              <a:rPr lang="en-US" sz="3200" dirty="0">
                <a:latin typeface="Times New Roman" pitchFamily="18" charset="0"/>
              </a:rPr>
              <a:t>If medium is idle, </a:t>
            </a:r>
            <a:r>
              <a:rPr lang="en-US" sz="3200" b="1" dirty="0">
                <a:latin typeface="Times New Roman" pitchFamily="18" charset="0"/>
              </a:rPr>
              <a:t>transmit</a:t>
            </a:r>
            <a:r>
              <a:rPr lang="en-US" sz="3200" dirty="0">
                <a:latin typeface="Times New Roman" pitchFamily="18" charset="0"/>
              </a:rPr>
              <a:t>; otherwise, </a:t>
            </a:r>
            <a:r>
              <a:rPr lang="en-GB" sz="3200" dirty="0">
                <a:latin typeface="Times New Roman" pitchFamily="18" charset="0"/>
              </a:rPr>
              <a:t>go to 2</a:t>
            </a:r>
          </a:p>
          <a:p>
            <a:pPr marL="914400" lvl="1" indent="-457200" eaLnBrk="1" hangingPunct="1">
              <a:lnSpc>
                <a:spcPct val="90000"/>
              </a:lnSpc>
              <a:spcBef>
                <a:spcPct val="20000"/>
              </a:spcBef>
              <a:buClr>
                <a:schemeClr val="folHlink"/>
              </a:buClr>
              <a:buSzPct val="60000"/>
              <a:buFont typeface="Wingdings" pitchFamily="2" charset="2"/>
              <a:buAutoNum type="arabicPeriod"/>
            </a:pPr>
            <a:r>
              <a:rPr lang="en-US" sz="3200" dirty="0">
                <a:latin typeface="Times New Roman" pitchFamily="18" charset="0"/>
              </a:rPr>
              <a:t>If medium is busy, (</a:t>
            </a:r>
            <a:r>
              <a:rPr lang="en-US" sz="3200" b="1" dirty="0">
                <a:latin typeface="Times New Roman" pitchFamily="18" charset="0"/>
              </a:rPr>
              <a:t>backoff</a:t>
            </a:r>
            <a:r>
              <a:rPr lang="en-US" sz="3200" dirty="0">
                <a:latin typeface="Times New Roman" pitchFamily="18" charset="0"/>
              </a:rPr>
              <a:t>) wait a </a:t>
            </a:r>
            <a:r>
              <a:rPr lang="en-US" sz="3200" b="1" i="1" dirty="0">
                <a:latin typeface="Times New Roman" pitchFamily="18" charset="0"/>
              </a:rPr>
              <a:t>random</a:t>
            </a:r>
            <a:r>
              <a:rPr lang="en-US" sz="3200" b="1" dirty="0">
                <a:latin typeface="Times New Roman" pitchFamily="18" charset="0"/>
              </a:rPr>
              <a:t> amount of time </a:t>
            </a:r>
            <a:r>
              <a:rPr lang="en-US" sz="3200" dirty="0">
                <a:latin typeface="Times New Roman" pitchFamily="18" charset="0"/>
              </a:rPr>
              <a:t>and repeat </a:t>
            </a:r>
            <a:r>
              <a:rPr lang="en-US" sz="3200" b="1" dirty="0">
                <a:latin typeface="Times New Roman" pitchFamily="18" charset="0"/>
              </a:rPr>
              <a:t>1</a:t>
            </a:r>
          </a:p>
          <a:p>
            <a:pPr marL="914400" lvl="1" indent="-457200" eaLnBrk="1" hangingPunct="1">
              <a:lnSpc>
                <a:spcPct val="90000"/>
              </a:lnSpc>
              <a:spcBef>
                <a:spcPct val="20000"/>
              </a:spcBef>
              <a:buClr>
                <a:schemeClr val="folHlink"/>
              </a:buClr>
              <a:buSzPct val="60000"/>
              <a:buFont typeface="Wingdings" pitchFamily="2" charset="2"/>
              <a:buAutoNum type="arabicPeriod"/>
            </a:pPr>
            <a:endParaRPr lang="en-US" sz="3200" b="1" dirty="0">
              <a:latin typeface="Times New Roman" pitchFamily="18" charset="0"/>
            </a:endParaRPr>
          </a:p>
          <a:p>
            <a:pPr marL="457200" indent="-457200" eaLnBrk="1" hangingPunct="1">
              <a:lnSpc>
                <a:spcPct val="90000"/>
              </a:lnSpc>
              <a:spcBef>
                <a:spcPct val="20000"/>
              </a:spcBef>
              <a:buClr>
                <a:schemeClr val="folHlink"/>
              </a:buClr>
              <a:buSzPct val="60000"/>
              <a:buFont typeface="Wingdings" pitchFamily="2" charset="2"/>
              <a:buChar char="§"/>
            </a:pPr>
            <a:r>
              <a:rPr lang="en-US" sz="3200" dirty="0">
                <a:latin typeface="Times New Roman" pitchFamily="18" charset="0"/>
              </a:rPr>
              <a:t>Non-persistent Stations are </a:t>
            </a:r>
            <a:r>
              <a:rPr lang="en-US" sz="3200" b="1" dirty="0">
                <a:latin typeface="Times New Roman" pitchFamily="18" charset="0"/>
              </a:rPr>
              <a:t>deferential (respect others).</a:t>
            </a:r>
            <a:endParaRPr lang="en-GB" sz="3200" dirty="0">
              <a:latin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D748-81FE-54CF-D4F4-4F744E11CB01}"/>
            </a:ext>
          </a:extLst>
        </p:cNvPr>
        <p:cNvGrpSpPr/>
        <p:nvPr/>
      </p:nvGrpSpPr>
      <p:grpSpPr>
        <a:xfrm>
          <a:off x="0" y="0"/>
          <a:ext cx="0" cy="0"/>
          <a:chOff x="0" y="0"/>
          <a:chExt cx="0" cy="0"/>
        </a:xfrm>
      </p:grpSpPr>
      <p:pic>
        <p:nvPicPr>
          <p:cNvPr id="3" name="Picture 4">
            <a:extLst>
              <a:ext uri="{FF2B5EF4-FFF2-40B4-BE49-F238E27FC236}">
                <a16:creationId xmlns:a16="http://schemas.microsoft.com/office/drawing/2014/main" id="{FC7173F3-A59F-817C-85CB-012EFDA27884}"/>
              </a:ext>
            </a:extLst>
          </p:cNvPr>
          <p:cNvPicPr>
            <a:picLocks noChangeAspect="1" noChangeArrowheads="1"/>
          </p:cNvPicPr>
          <p:nvPr/>
        </p:nvPicPr>
        <p:blipFill>
          <a:blip r:embed="rId2" cstate="print"/>
          <a:srcRect/>
          <a:stretch>
            <a:fillRect/>
          </a:stretch>
        </p:blipFill>
        <p:spPr bwMode="auto">
          <a:xfrm>
            <a:off x="914400" y="1208450"/>
            <a:ext cx="7162800" cy="5573350"/>
          </a:xfrm>
          <a:prstGeom prst="rect">
            <a:avLst/>
          </a:prstGeom>
          <a:noFill/>
          <a:ln w="9525">
            <a:noFill/>
            <a:miter lim="800000"/>
            <a:headEnd/>
            <a:tailEnd/>
          </a:ln>
        </p:spPr>
      </p:pic>
    </p:spTree>
    <p:extLst>
      <p:ext uri="{BB962C8B-B14F-4D97-AF65-F5344CB8AC3E}">
        <p14:creationId xmlns:p14="http://schemas.microsoft.com/office/powerpoint/2010/main" val="610611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688908"/>
            <a:ext cx="7924800" cy="5262979"/>
          </a:xfrm>
          <a:prstGeom prst="rect">
            <a:avLst/>
          </a:prstGeom>
        </p:spPr>
        <p:txBody>
          <a:bodyPr wrap="square">
            <a:spAutoFit/>
          </a:bodyPr>
          <a:lstStyle/>
          <a:p>
            <a:pPr marL="457200" indent="-457200">
              <a:lnSpc>
                <a:spcPct val="90000"/>
              </a:lnSpc>
              <a:spcBef>
                <a:spcPct val="20000"/>
              </a:spcBef>
              <a:buClr>
                <a:schemeClr val="folHlink"/>
              </a:buClr>
              <a:buSzPct val="60000"/>
              <a:buFont typeface="Wingdings" pitchFamily="2" charset="2"/>
              <a:buChar char="§"/>
            </a:pPr>
            <a:r>
              <a:rPr lang="en-GB" sz="3200" dirty="0">
                <a:latin typeface="Times New Roman" pitchFamily="18" charset="0"/>
              </a:rPr>
              <a:t>Performance:</a:t>
            </a:r>
          </a:p>
          <a:p>
            <a:pPr marL="914400" lvl="1" indent="-457200">
              <a:lnSpc>
                <a:spcPct val="90000"/>
              </a:lnSpc>
              <a:spcBef>
                <a:spcPct val="20000"/>
              </a:spcBef>
              <a:buClr>
                <a:schemeClr val="folHlink"/>
              </a:buClr>
              <a:buSzPct val="60000"/>
              <a:buFont typeface="Wingdings" pitchFamily="2" charset="2"/>
              <a:buChar char="§"/>
            </a:pPr>
            <a:r>
              <a:rPr lang="en-GB" sz="3200" dirty="0">
                <a:latin typeface="Times New Roman" pitchFamily="18" charset="0"/>
              </a:rPr>
              <a:t>Random</a:t>
            </a:r>
            <a:r>
              <a:rPr lang="en-US" sz="3200" dirty="0">
                <a:latin typeface="Times New Roman" pitchFamily="18" charset="0"/>
              </a:rPr>
              <a:t> delays reduces probability of collisions because two stations with data to be transmitted will wait for different amount of times.</a:t>
            </a:r>
          </a:p>
          <a:p>
            <a:pPr marL="914400" lvl="1" indent="-457200">
              <a:lnSpc>
                <a:spcPct val="90000"/>
              </a:lnSpc>
              <a:spcBef>
                <a:spcPct val="20000"/>
              </a:spcBef>
              <a:buClr>
                <a:schemeClr val="folHlink"/>
              </a:buClr>
              <a:buSzPct val="60000"/>
              <a:buFont typeface="Wingdings" pitchFamily="2" charset="2"/>
              <a:buChar char="§"/>
            </a:pPr>
            <a:endParaRPr lang="en-GB" sz="3200" dirty="0">
              <a:latin typeface="Times New Roman" pitchFamily="18" charset="0"/>
            </a:endParaRPr>
          </a:p>
          <a:p>
            <a:pPr marL="914400" lvl="1" indent="-457200">
              <a:lnSpc>
                <a:spcPct val="90000"/>
              </a:lnSpc>
              <a:spcBef>
                <a:spcPct val="20000"/>
              </a:spcBef>
              <a:buClr>
                <a:schemeClr val="folHlink"/>
              </a:buClr>
              <a:buSzPct val="60000"/>
              <a:buFont typeface="Wingdings" pitchFamily="2" charset="2"/>
              <a:buChar char="§"/>
            </a:pPr>
            <a:r>
              <a:rPr lang="en-GB" sz="3200" dirty="0">
                <a:latin typeface="Times New Roman" pitchFamily="18" charset="0"/>
              </a:rPr>
              <a:t>Bandwidth</a:t>
            </a:r>
            <a:r>
              <a:rPr lang="en-US" sz="3200" dirty="0">
                <a:latin typeface="Times New Roman" pitchFamily="18" charset="0"/>
              </a:rPr>
              <a:t> is </a:t>
            </a:r>
            <a:r>
              <a:rPr lang="en-US" sz="3200" b="1" dirty="0">
                <a:latin typeface="Times New Roman" pitchFamily="18" charset="0"/>
              </a:rPr>
              <a:t>wasted</a:t>
            </a:r>
            <a:r>
              <a:rPr lang="en-US" sz="3200" dirty="0">
                <a:latin typeface="Times New Roman" pitchFamily="18" charset="0"/>
              </a:rPr>
              <a:t> if waiting time (backoff) is large because medium will remain idle following end of transmission</a:t>
            </a:r>
            <a:r>
              <a:rPr lang="en-GB" sz="3200" dirty="0">
                <a:latin typeface="Times New Roman" pitchFamily="18" charset="0"/>
              </a:rPr>
              <a:t> even</a:t>
            </a:r>
            <a:r>
              <a:rPr lang="en-US" sz="3200" dirty="0">
                <a:latin typeface="Times New Roman" pitchFamily="18" charset="0"/>
              </a:rPr>
              <a:t> if one or more stations have frames to send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p:cNvPicPr>
            <a:picLocks noChangeAspect="1" noChangeArrowheads="1"/>
          </p:cNvPicPr>
          <p:nvPr/>
        </p:nvPicPr>
        <p:blipFill>
          <a:blip r:embed="rId2"/>
          <a:srcRect/>
          <a:stretch>
            <a:fillRect/>
          </a:stretch>
        </p:blipFill>
        <p:spPr bwMode="auto">
          <a:xfrm>
            <a:off x="537673" y="1619250"/>
            <a:ext cx="8146991" cy="2724150"/>
          </a:xfrm>
          <a:prstGeom prst="rect">
            <a:avLst/>
          </a:prstGeom>
          <a:noFill/>
          <a:ln w="9525">
            <a:noFill/>
            <a:miter lim="800000"/>
            <a:headEnd/>
            <a:tailEnd/>
          </a:ln>
        </p:spPr>
      </p:pic>
      <p:sp>
        <p:nvSpPr>
          <p:cNvPr id="3" name="Line 10"/>
          <p:cNvSpPr>
            <a:spLocks noChangeShapeType="1"/>
          </p:cNvSpPr>
          <p:nvPr/>
        </p:nvSpPr>
        <p:spPr bwMode="auto">
          <a:xfrm>
            <a:off x="2286000" y="1066800"/>
            <a:ext cx="1092941" cy="1601625"/>
          </a:xfrm>
          <a:prstGeom prst="line">
            <a:avLst/>
          </a:prstGeom>
          <a:noFill/>
          <a:ln w="9525">
            <a:solidFill>
              <a:schemeClr val="tx1"/>
            </a:solidFill>
            <a:round/>
            <a:headEnd/>
            <a:tailEnd type="triangle" w="med" len="med"/>
          </a:ln>
        </p:spPr>
        <p:txBody>
          <a:bodyPr/>
          <a:lstStyle/>
          <a:p>
            <a:endParaRPr lang="en-US"/>
          </a:p>
        </p:txBody>
      </p:sp>
      <p:sp>
        <p:nvSpPr>
          <p:cNvPr id="4" name="Line 11"/>
          <p:cNvSpPr>
            <a:spLocks noChangeShapeType="1"/>
          </p:cNvSpPr>
          <p:nvPr/>
        </p:nvSpPr>
        <p:spPr bwMode="auto">
          <a:xfrm>
            <a:off x="2819400" y="1828801"/>
            <a:ext cx="1834756" cy="839624"/>
          </a:xfrm>
          <a:prstGeom prst="line">
            <a:avLst/>
          </a:prstGeom>
          <a:noFill/>
          <a:ln w="9525">
            <a:solidFill>
              <a:schemeClr val="tx1"/>
            </a:solidFill>
            <a:round/>
            <a:headEnd/>
            <a:tailEnd type="triangle" w="med" len="med"/>
          </a:ln>
        </p:spPr>
        <p:txBody>
          <a:bodyPr/>
          <a:lstStyle/>
          <a:p>
            <a:endParaRPr lang="en-US"/>
          </a:p>
        </p:txBody>
      </p:sp>
      <p:sp>
        <p:nvSpPr>
          <p:cNvPr id="5" name="Line 12"/>
          <p:cNvSpPr>
            <a:spLocks noChangeShapeType="1"/>
          </p:cNvSpPr>
          <p:nvPr/>
        </p:nvSpPr>
        <p:spPr bwMode="auto">
          <a:xfrm flipH="1">
            <a:off x="1447800" y="1066800"/>
            <a:ext cx="838200" cy="49907"/>
          </a:xfrm>
          <a:prstGeom prst="line">
            <a:avLst/>
          </a:prstGeom>
          <a:noFill/>
          <a:ln w="9525">
            <a:solidFill>
              <a:schemeClr val="tx1"/>
            </a:solidFill>
            <a:round/>
            <a:headEnd/>
            <a:tailEnd type="triangle" w="med" len="med"/>
          </a:ln>
        </p:spPr>
        <p:txBody>
          <a:bodyPr/>
          <a:lstStyle/>
          <a:p>
            <a:endParaRPr lang="en-US"/>
          </a:p>
        </p:txBody>
      </p:sp>
      <p:sp>
        <p:nvSpPr>
          <p:cNvPr id="6" name="Text Box 13"/>
          <p:cNvSpPr txBox="1">
            <a:spLocks noChangeArrowheads="1"/>
          </p:cNvSpPr>
          <p:nvPr/>
        </p:nvSpPr>
        <p:spPr bwMode="auto">
          <a:xfrm>
            <a:off x="457200" y="914400"/>
            <a:ext cx="1164499" cy="923330"/>
          </a:xfrm>
          <a:prstGeom prst="rect">
            <a:avLst/>
          </a:prstGeom>
          <a:noFill/>
          <a:ln w="9525">
            <a:noFill/>
            <a:miter lim="800000"/>
            <a:headEnd/>
            <a:tailEnd/>
          </a:ln>
        </p:spPr>
        <p:txBody>
          <a:bodyPr wrap="square">
            <a:spAutoFit/>
          </a:bodyPr>
          <a:lstStyle/>
          <a:p>
            <a:pPr>
              <a:spcBef>
                <a:spcPct val="50000"/>
              </a:spcBef>
            </a:pPr>
            <a:r>
              <a:rPr lang="en-US" dirty="0">
                <a:latin typeface="Times New Roman" pitchFamily="18" charset="0"/>
              </a:rPr>
              <a:t>Random Waiting times</a:t>
            </a:r>
          </a:p>
        </p:txBody>
      </p:sp>
      <p:sp>
        <p:nvSpPr>
          <p:cNvPr id="7" name="Freeform 14"/>
          <p:cNvSpPr>
            <a:spLocks/>
          </p:cNvSpPr>
          <p:nvPr/>
        </p:nvSpPr>
        <p:spPr bwMode="auto">
          <a:xfrm>
            <a:off x="3657600" y="3581400"/>
            <a:ext cx="1371600" cy="304800"/>
          </a:xfrm>
          <a:custGeom>
            <a:avLst/>
            <a:gdLst>
              <a:gd name="T0" fmla="*/ 2147483647 w 896"/>
              <a:gd name="T1" fmla="*/ 0 h 112"/>
              <a:gd name="T2" fmla="*/ 2147483647 w 896"/>
              <a:gd name="T3" fmla="*/ 2147483647 h 112"/>
              <a:gd name="T4" fmla="*/ 2147483647 w 896"/>
              <a:gd name="T5" fmla="*/ 2147483647 h 112"/>
              <a:gd name="T6" fmla="*/ 2147483647 w 896"/>
              <a:gd name="T7" fmla="*/ 0 h 112"/>
              <a:gd name="T8" fmla="*/ 0 60000 65536"/>
              <a:gd name="T9" fmla="*/ 0 60000 65536"/>
              <a:gd name="T10" fmla="*/ 0 60000 65536"/>
              <a:gd name="T11" fmla="*/ 0 60000 65536"/>
              <a:gd name="T12" fmla="*/ 0 w 896"/>
              <a:gd name="T13" fmla="*/ 0 h 112"/>
              <a:gd name="T14" fmla="*/ 896 w 896"/>
              <a:gd name="T15" fmla="*/ 112 h 112"/>
            </a:gdLst>
            <a:ahLst/>
            <a:cxnLst>
              <a:cxn ang="T8">
                <a:pos x="T0" y="T1"/>
              </a:cxn>
              <a:cxn ang="T9">
                <a:pos x="T2" y="T3"/>
              </a:cxn>
              <a:cxn ang="T10">
                <a:pos x="T4" y="T5"/>
              </a:cxn>
              <a:cxn ang="T11">
                <a:pos x="T6" y="T7"/>
              </a:cxn>
            </a:cxnLst>
            <a:rect l="T12" t="T13" r="T14" b="T15"/>
            <a:pathLst>
              <a:path w="896" h="112">
                <a:moveTo>
                  <a:pt x="112" y="0"/>
                </a:moveTo>
                <a:cubicBezTo>
                  <a:pt x="56" y="40"/>
                  <a:pt x="0" y="80"/>
                  <a:pt x="112" y="96"/>
                </a:cubicBezTo>
                <a:cubicBezTo>
                  <a:pt x="224" y="112"/>
                  <a:pt x="672" y="112"/>
                  <a:pt x="784" y="96"/>
                </a:cubicBezTo>
                <a:cubicBezTo>
                  <a:pt x="896" y="80"/>
                  <a:pt x="784" y="16"/>
                  <a:pt x="784" y="0"/>
                </a:cubicBezTo>
              </a:path>
            </a:pathLst>
          </a:custGeom>
          <a:noFill/>
          <a:ln w="9525">
            <a:solidFill>
              <a:schemeClr val="tx1"/>
            </a:solidFill>
            <a:round/>
            <a:headEnd/>
            <a:tailEnd/>
          </a:ln>
        </p:spPr>
        <p:txBody>
          <a:bodyPr/>
          <a:lstStyle/>
          <a:p>
            <a:endParaRPr lang="en-US"/>
          </a:p>
        </p:txBody>
      </p:sp>
      <p:sp>
        <p:nvSpPr>
          <p:cNvPr id="8" name="Line 15"/>
          <p:cNvSpPr>
            <a:spLocks noChangeShapeType="1"/>
          </p:cNvSpPr>
          <p:nvPr/>
        </p:nvSpPr>
        <p:spPr bwMode="auto">
          <a:xfrm flipV="1">
            <a:off x="4876800" y="2690501"/>
            <a:ext cx="1229193" cy="814699"/>
          </a:xfrm>
          <a:prstGeom prst="line">
            <a:avLst/>
          </a:prstGeom>
          <a:noFill/>
          <a:ln w="9525">
            <a:solidFill>
              <a:schemeClr val="tx1"/>
            </a:solidFill>
            <a:round/>
            <a:headEnd type="triangle" w="med" len="med"/>
            <a:tailEnd/>
          </a:ln>
        </p:spPr>
        <p:txBody>
          <a:bodyPr/>
          <a:lstStyle/>
          <a:p>
            <a:endParaRPr lang="en-US"/>
          </a:p>
        </p:txBody>
      </p:sp>
      <p:sp>
        <p:nvSpPr>
          <p:cNvPr id="9" name="Text Box 16"/>
          <p:cNvSpPr txBox="1">
            <a:spLocks noChangeArrowheads="1"/>
          </p:cNvSpPr>
          <p:nvPr/>
        </p:nvSpPr>
        <p:spPr bwMode="auto">
          <a:xfrm>
            <a:off x="6172200" y="2362200"/>
            <a:ext cx="1811443" cy="400110"/>
          </a:xfrm>
          <a:prstGeom prst="rect">
            <a:avLst/>
          </a:prstGeom>
          <a:noFill/>
          <a:ln w="9525">
            <a:noFill/>
            <a:miter lim="800000"/>
            <a:headEnd/>
            <a:tailEnd/>
          </a:ln>
        </p:spPr>
        <p:txBody>
          <a:bodyPr wrap="square">
            <a:spAutoFit/>
          </a:bodyPr>
          <a:lstStyle/>
          <a:p>
            <a:pPr>
              <a:spcBef>
                <a:spcPct val="50000"/>
              </a:spcBef>
            </a:pPr>
            <a:r>
              <a:rPr lang="en-US" sz="2000" dirty="0"/>
              <a:t>Wasted time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5"/>
          <p:cNvSpPr>
            <a:spLocks noChangeShapeType="1"/>
          </p:cNvSpPr>
          <p:nvPr/>
        </p:nvSpPr>
        <p:spPr bwMode="auto">
          <a:xfrm>
            <a:off x="152400" y="990600"/>
            <a:ext cx="8763000" cy="0"/>
          </a:xfrm>
          <a:prstGeom prst="line">
            <a:avLst/>
          </a:prstGeom>
          <a:noFill/>
          <a:ln w="19050">
            <a:solidFill>
              <a:schemeClr val="hlink"/>
            </a:solidFill>
            <a:round/>
            <a:headEnd/>
            <a:tailEnd/>
          </a:ln>
        </p:spPr>
        <p:txBody>
          <a:bodyPr/>
          <a:lstStyle/>
          <a:p>
            <a:endParaRPr lang="en-US"/>
          </a:p>
        </p:txBody>
      </p:sp>
      <p:sp>
        <p:nvSpPr>
          <p:cNvPr id="4" name="Text Box 6"/>
          <p:cNvSpPr txBox="1">
            <a:spLocks noChangeArrowheads="1"/>
          </p:cNvSpPr>
          <p:nvPr/>
        </p:nvSpPr>
        <p:spPr bwMode="auto">
          <a:xfrm>
            <a:off x="900579" y="381000"/>
            <a:ext cx="7633821" cy="584775"/>
          </a:xfrm>
          <a:prstGeom prst="rect">
            <a:avLst/>
          </a:prstGeom>
          <a:noFill/>
          <a:ln w="9525">
            <a:noFill/>
            <a:miter lim="800000"/>
            <a:headEnd/>
            <a:tailEnd/>
          </a:ln>
        </p:spPr>
        <p:txBody>
          <a:bodyPr wrap="none">
            <a:spAutoFit/>
          </a:bodyPr>
          <a:lstStyle/>
          <a:p>
            <a:pPr algn="ctr"/>
            <a:r>
              <a:rPr lang="en-US" sz="3200" b="1" i="1" dirty="0">
                <a:latin typeface="Times New Roman" pitchFamily="18" charset="0"/>
              </a:rPr>
              <a:t>Flow diagram for three persistence methods</a:t>
            </a:r>
          </a:p>
        </p:txBody>
      </p:sp>
      <p:pic>
        <p:nvPicPr>
          <p:cNvPr id="5" name="Picture 8"/>
          <p:cNvPicPr>
            <a:picLocks noChangeAspect="1" noChangeArrowheads="1"/>
          </p:cNvPicPr>
          <p:nvPr/>
        </p:nvPicPr>
        <p:blipFill>
          <a:blip r:embed="rId2"/>
          <a:srcRect/>
          <a:stretch>
            <a:fillRect/>
          </a:stretch>
        </p:blipFill>
        <p:spPr bwMode="auto">
          <a:xfrm>
            <a:off x="1371600" y="1173163"/>
            <a:ext cx="6934199" cy="540740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06400" y="-76200"/>
            <a:ext cx="8204200" cy="762000"/>
          </a:xfrm>
          <a:prstGeom prst="rect">
            <a:avLst/>
          </a:prstGeom>
          <a:noFill/>
          <a:ln w="9525">
            <a:noFill/>
            <a:miter lim="800000"/>
            <a:headEnd/>
            <a:tailEnd/>
          </a:ln>
        </p:spPr>
        <p:txBody>
          <a:bodyPr anchor="b"/>
          <a:lstStyle/>
          <a:p>
            <a:pPr algn="ctr" eaLnBrk="1" hangingPunct="1"/>
            <a:r>
              <a:rPr lang="en-GB" sz="4400" dirty="0"/>
              <a:t>1-persistent CSMA</a:t>
            </a:r>
            <a:endParaRPr lang="en-US" sz="4400" dirty="0"/>
          </a:p>
        </p:txBody>
      </p:sp>
      <p:sp>
        <p:nvSpPr>
          <p:cNvPr id="3" name="Rectangle 3"/>
          <p:cNvSpPr>
            <a:spLocks noChangeArrowheads="1"/>
          </p:cNvSpPr>
          <p:nvPr/>
        </p:nvSpPr>
        <p:spPr bwMode="auto">
          <a:xfrm>
            <a:off x="457200" y="685800"/>
            <a:ext cx="8178800" cy="5791200"/>
          </a:xfrm>
          <a:prstGeom prst="rect">
            <a:avLst/>
          </a:prstGeom>
          <a:noFill/>
          <a:ln w="9525">
            <a:noFill/>
            <a:miter lim="800000"/>
            <a:headEnd/>
            <a:tailEnd/>
          </a:ln>
        </p:spPr>
        <p:txBody>
          <a:bodyPr/>
          <a:lstStyle/>
          <a:p>
            <a:pPr marL="457200" indent="-457200" eaLnBrk="1" hangingPunct="1">
              <a:spcBef>
                <a:spcPct val="20000"/>
              </a:spcBef>
              <a:buClr>
                <a:schemeClr val="folHlink"/>
              </a:buClr>
              <a:buSzPct val="60000"/>
              <a:buFont typeface="Wingdings" pitchFamily="2" charset="2"/>
              <a:buChar char="n"/>
            </a:pPr>
            <a:r>
              <a:rPr lang="en-US" sz="2800" dirty="0">
                <a:latin typeface="Times New Roman" pitchFamily="18" charset="0"/>
              </a:rPr>
              <a:t>To avoid idle channel time, 1-persistent protocol used</a:t>
            </a:r>
            <a:endParaRPr lang="en-GB" sz="2800" dirty="0">
              <a:latin typeface="Times New Roman" pitchFamily="18" charset="0"/>
            </a:endParaRPr>
          </a:p>
          <a:p>
            <a:pPr marL="457200" indent="-457200" eaLnBrk="1" hangingPunct="1">
              <a:spcBef>
                <a:spcPct val="20000"/>
              </a:spcBef>
              <a:buClr>
                <a:schemeClr val="folHlink"/>
              </a:buClr>
              <a:buSzPct val="60000"/>
              <a:buFont typeface="Wingdings" pitchFamily="2" charset="2"/>
              <a:buChar char="n"/>
            </a:pPr>
            <a:r>
              <a:rPr lang="en-GB" sz="2800" dirty="0">
                <a:latin typeface="Times New Roman" pitchFamily="18" charset="0"/>
              </a:rPr>
              <a:t>Station </a:t>
            </a:r>
            <a:r>
              <a:rPr lang="en-US" sz="2800" dirty="0">
                <a:latin typeface="Times New Roman" pitchFamily="18" charset="0"/>
              </a:rPr>
              <a:t>wishing to transmit listens to the medium:</a:t>
            </a:r>
          </a:p>
          <a:p>
            <a:pPr marL="838200" lvl="1" indent="-381000" eaLnBrk="1" hangingPunct="1">
              <a:spcBef>
                <a:spcPct val="20000"/>
              </a:spcBef>
              <a:buClr>
                <a:schemeClr val="folHlink"/>
              </a:buClr>
              <a:buSzPct val="60000"/>
              <a:buFontTx/>
              <a:buAutoNum type="arabicPeriod"/>
            </a:pPr>
            <a:r>
              <a:rPr lang="en-US" sz="2800" dirty="0">
                <a:latin typeface="Times New Roman" pitchFamily="18" charset="0"/>
              </a:rPr>
              <a:t>If medium idle, </a:t>
            </a:r>
            <a:r>
              <a:rPr lang="en-US" sz="2800" b="1" dirty="0">
                <a:latin typeface="Times New Roman" pitchFamily="18" charset="0"/>
              </a:rPr>
              <a:t>transmit</a:t>
            </a:r>
            <a:r>
              <a:rPr lang="en-US" sz="2800" dirty="0">
                <a:latin typeface="Times New Roman" pitchFamily="18" charset="0"/>
              </a:rPr>
              <a:t> immediately; </a:t>
            </a:r>
          </a:p>
          <a:p>
            <a:pPr marL="838200" lvl="1" indent="-381000" eaLnBrk="1" hangingPunct="1">
              <a:spcBef>
                <a:spcPct val="20000"/>
              </a:spcBef>
              <a:buClr>
                <a:schemeClr val="folHlink"/>
              </a:buClr>
              <a:buSzPct val="60000"/>
              <a:buFontTx/>
              <a:buAutoNum type="arabicPeriod"/>
            </a:pPr>
            <a:r>
              <a:rPr lang="en-US" sz="2800" dirty="0">
                <a:latin typeface="Times New Roman" pitchFamily="18" charset="0"/>
              </a:rPr>
              <a:t>If medium busy, </a:t>
            </a:r>
            <a:r>
              <a:rPr lang="en-US" sz="2800" b="1" dirty="0">
                <a:latin typeface="Times New Roman" pitchFamily="18" charset="0"/>
              </a:rPr>
              <a:t>continuously listen</a:t>
            </a:r>
            <a:r>
              <a:rPr lang="en-US" sz="2800" dirty="0">
                <a:latin typeface="Times New Roman" pitchFamily="18" charset="0"/>
              </a:rPr>
              <a:t> until medium becomes idle; then transmit immediately with probability 1</a:t>
            </a:r>
          </a:p>
          <a:p>
            <a:pPr marL="457200" indent="-457200" eaLnBrk="1" hangingPunct="1">
              <a:spcBef>
                <a:spcPct val="20000"/>
              </a:spcBef>
              <a:buClr>
                <a:schemeClr val="folHlink"/>
              </a:buClr>
              <a:buSzPct val="60000"/>
              <a:buFont typeface="Wingdings" pitchFamily="2" charset="2"/>
              <a:buChar char="§"/>
            </a:pPr>
            <a:r>
              <a:rPr lang="en-US" sz="2800" dirty="0">
                <a:latin typeface="Times New Roman" pitchFamily="18" charset="0"/>
              </a:rPr>
              <a:t>Performance</a:t>
            </a:r>
          </a:p>
          <a:p>
            <a:pPr marL="838200" lvl="1" indent="-381000" eaLnBrk="1" hangingPunct="1">
              <a:spcBef>
                <a:spcPct val="20000"/>
              </a:spcBef>
              <a:buClr>
                <a:schemeClr val="folHlink"/>
              </a:buClr>
              <a:buSzPct val="60000"/>
              <a:buFont typeface="Wingdings" pitchFamily="2" charset="2"/>
              <a:buChar char="§"/>
            </a:pPr>
            <a:r>
              <a:rPr lang="en-US" sz="2800" dirty="0">
                <a:latin typeface="Times New Roman" pitchFamily="18" charset="0"/>
              </a:rPr>
              <a:t>1-persistent stations are </a:t>
            </a:r>
            <a:r>
              <a:rPr lang="en-US" sz="2800" b="1" dirty="0">
                <a:latin typeface="Times New Roman" pitchFamily="18" charset="0"/>
              </a:rPr>
              <a:t>selfish.</a:t>
            </a:r>
            <a:endParaRPr lang="en-GB" sz="2800" b="1" dirty="0">
              <a:latin typeface="Times New Roman" pitchFamily="18" charset="0"/>
            </a:endParaRPr>
          </a:p>
          <a:p>
            <a:pPr marL="838200" lvl="1" indent="-381000" eaLnBrk="1" hangingPunct="1">
              <a:spcBef>
                <a:spcPct val="20000"/>
              </a:spcBef>
              <a:buClr>
                <a:schemeClr val="folHlink"/>
              </a:buClr>
              <a:buSzPct val="60000"/>
              <a:buFont typeface="Wingdings" pitchFamily="2" charset="2"/>
              <a:buChar char="§"/>
            </a:pPr>
            <a:r>
              <a:rPr lang="en-US" sz="2800" dirty="0">
                <a:latin typeface="Times New Roman" pitchFamily="18" charset="0"/>
              </a:rPr>
              <a:t>If two or more stations becomes ready at the same time</a:t>
            </a:r>
            <a:r>
              <a:rPr lang="en-GB" sz="2800" dirty="0">
                <a:latin typeface="Times New Roman" pitchFamily="18" charset="0"/>
              </a:rPr>
              <a:t>, </a:t>
            </a:r>
            <a:r>
              <a:rPr lang="en-US" sz="2800" b="1" dirty="0">
                <a:latin typeface="Times New Roman" pitchFamily="18" charset="0"/>
              </a:rPr>
              <a:t>collision guaranteed.</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rcRect/>
          <a:stretch>
            <a:fillRect/>
          </a:stretch>
        </p:blipFill>
        <p:spPr bwMode="auto">
          <a:xfrm>
            <a:off x="137232" y="1724025"/>
            <a:ext cx="8407280" cy="277177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5"/>
          <p:cNvSpPr>
            <a:spLocks noChangeShapeType="1"/>
          </p:cNvSpPr>
          <p:nvPr/>
        </p:nvSpPr>
        <p:spPr bwMode="auto">
          <a:xfrm>
            <a:off x="152400" y="990600"/>
            <a:ext cx="8763000" cy="0"/>
          </a:xfrm>
          <a:prstGeom prst="line">
            <a:avLst/>
          </a:prstGeom>
          <a:noFill/>
          <a:ln w="19050">
            <a:solidFill>
              <a:schemeClr val="hlink"/>
            </a:solidFill>
            <a:round/>
            <a:headEnd/>
            <a:tailEnd/>
          </a:ln>
        </p:spPr>
        <p:txBody>
          <a:bodyPr/>
          <a:lstStyle/>
          <a:p>
            <a:endParaRPr lang="en-US"/>
          </a:p>
        </p:txBody>
      </p:sp>
      <p:sp>
        <p:nvSpPr>
          <p:cNvPr id="4" name="Text Box 6"/>
          <p:cNvSpPr txBox="1">
            <a:spLocks noChangeArrowheads="1"/>
          </p:cNvSpPr>
          <p:nvPr/>
        </p:nvSpPr>
        <p:spPr bwMode="auto">
          <a:xfrm>
            <a:off x="900579" y="381000"/>
            <a:ext cx="7633821" cy="584775"/>
          </a:xfrm>
          <a:prstGeom prst="rect">
            <a:avLst/>
          </a:prstGeom>
          <a:noFill/>
          <a:ln w="9525">
            <a:noFill/>
            <a:miter lim="800000"/>
            <a:headEnd/>
            <a:tailEnd/>
          </a:ln>
        </p:spPr>
        <p:txBody>
          <a:bodyPr wrap="none">
            <a:spAutoFit/>
          </a:bodyPr>
          <a:lstStyle/>
          <a:p>
            <a:pPr algn="ctr"/>
            <a:r>
              <a:rPr lang="en-US" sz="3200" b="1" i="1" dirty="0">
                <a:latin typeface="Times New Roman" pitchFamily="18" charset="0"/>
              </a:rPr>
              <a:t>Flow diagram for three persistence methods</a:t>
            </a:r>
          </a:p>
        </p:txBody>
      </p:sp>
      <p:pic>
        <p:nvPicPr>
          <p:cNvPr id="5" name="Picture 8"/>
          <p:cNvPicPr>
            <a:picLocks noChangeAspect="1" noChangeArrowheads="1"/>
          </p:cNvPicPr>
          <p:nvPr/>
        </p:nvPicPr>
        <p:blipFill>
          <a:blip r:embed="rId2"/>
          <a:srcRect/>
          <a:stretch>
            <a:fillRect/>
          </a:stretch>
        </p:blipFill>
        <p:spPr bwMode="auto">
          <a:xfrm>
            <a:off x="1371600" y="1173163"/>
            <a:ext cx="6934199" cy="5407405"/>
          </a:xfrm>
          <a:prstGeom prst="rect">
            <a:avLst/>
          </a:prstGeom>
          <a:noFill/>
          <a:ln w="9525">
            <a:noFill/>
            <a:miter lim="800000"/>
            <a:headEnd/>
            <a:tailEnd/>
          </a:ln>
        </p:spPr>
      </p:pic>
    </p:spTree>
    <p:extLst>
      <p:ext uri="{BB962C8B-B14F-4D97-AF65-F5344CB8AC3E}">
        <p14:creationId xmlns:p14="http://schemas.microsoft.com/office/powerpoint/2010/main" val="3461715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406400" y="152400"/>
            <a:ext cx="8204200" cy="533400"/>
          </a:xfrm>
          <a:prstGeom prst="rect">
            <a:avLst/>
          </a:prstGeom>
          <a:noFill/>
          <a:ln w="9525">
            <a:noFill/>
            <a:miter lim="800000"/>
            <a:headEnd/>
            <a:tailEnd/>
          </a:ln>
        </p:spPr>
        <p:txBody>
          <a:bodyPr anchor="b"/>
          <a:lstStyle/>
          <a:p>
            <a:pPr algn="ctr" eaLnBrk="1" hangingPunct="1"/>
            <a:r>
              <a:rPr lang="en-GB" sz="4400" dirty="0"/>
              <a:t>P-persistent CSMA</a:t>
            </a:r>
            <a:endParaRPr lang="en-US" sz="4400" dirty="0"/>
          </a:p>
        </p:txBody>
      </p:sp>
      <p:sp>
        <p:nvSpPr>
          <p:cNvPr id="3" name="Rectangle 5"/>
          <p:cNvSpPr>
            <a:spLocks noChangeArrowheads="1"/>
          </p:cNvSpPr>
          <p:nvPr/>
        </p:nvSpPr>
        <p:spPr bwMode="auto">
          <a:xfrm>
            <a:off x="457200" y="685800"/>
            <a:ext cx="8178800" cy="5486400"/>
          </a:xfrm>
          <a:prstGeom prst="rect">
            <a:avLst/>
          </a:prstGeom>
          <a:noFill/>
          <a:ln w="9525">
            <a:noFill/>
            <a:miter lim="800000"/>
            <a:headEnd/>
            <a:tailEnd/>
          </a:ln>
        </p:spPr>
        <p:txBody>
          <a:bodyPr/>
          <a:lstStyle/>
          <a:p>
            <a:pPr marL="457200" indent="-457200" eaLnBrk="1" hangingPunct="1">
              <a:spcBef>
                <a:spcPct val="20000"/>
              </a:spcBef>
              <a:buClr>
                <a:schemeClr val="folHlink"/>
              </a:buClr>
              <a:buSzPct val="60000"/>
              <a:buFont typeface="Wingdings" pitchFamily="2" charset="2"/>
              <a:buChar char="n"/>
            </a:pPr>
            <a:r>
              <a:rPr lang="en-GB" sz="3200" dirty="0">
                <a:latin typeface="Times New Roman" pitchFamily="18" charset="0"/>
                <a:cs typeface="Times New Roman" pitchFamily="18" charset="0"/>
              </a:rPr>
              <a:t>Time is divided to slots where each Time</a:t>
            </a:r>
            <a:r>
              <a:rPr lang="en-US" sz="3200" dirty="0">
                <a:latin typeface="Times New Roman" pitchFamily="18" charset="0"/>
                <a:cs typeface="Times New Roman" pitchFamily="18" charset="0"/>
              </a:rPr>
              <a:t> unit (slot) typically equals </a:t>
            </a:r>
            <a:r>
              <a:rPr lang="en-US" sz="3200" b="1" dirty="0">
                <a:latin typeface="Times New Roman" pitchFamily="18" charset="0"/>
                <a:cs typeface="Times New Roman" pitchFamily="18" charset="0"/>
              </a:rPr>
              <a:t>maximum propagation delay.</a:t>
            </a:r>
            <a:endParaRPr lang="en-GB" sz="3200" dirty="0">
              <a:latin typeface="Times New Roman" pitchFamily="18" charset="0"/>
              <a:cs typeface="Times New Roman" pitchFamily="18" charset="0"/>
            </a:endParaRPr>
          </a:p>
          <a:p>
            <a:pPr marL="457200" indent="-457200" eaLnBrk="1" hangingPunct="1">
              <a:spcBef>
                <a:spcPct val="20000"/>
              </a:spcBef>
              <a:buClr>
                <a:schemeClr val="folHlink"/>
              </a:buClr>
              <a:buSzPct val="60000"/>
              <a:buFont typeface="Wingdings" pitchFamily="2" charset="2"/>
              <a:buChar char="n"/>
            </a:pPr>
            <a:r>
              <a:rPr lang="en-GB" sz="3200" dirty="0">
                <a:latin typeface="Times New Roman" pitchFamily="18" charset="0"/>
                <a:cs typeface="Times New Roman" pitchFamily="18" charset="0"/>
              </a:rPr>
              <a:t>Station </a:t>
            </a:r>
            <a:r>
              <a:rPr lang="en-US" sz="3200" dirty="0">
                <a:latin typeface="Times New Roman" pitchFamily="18" charset="0"/>
                <a:cs typeface="Times New Roman" pitchFamily="18" charset="0"/>
              </a:rPr>
              <a:t>wishing to transmit listens to the medium:</a:t>
            </a:r>
          </a:p>
          <a:p>
            <a:pPr marL="457200" indent="-457200" eaLnBrk="1" hangingPunct="1">
              <a:spcBef>
                <a:spcPct val="20000"/>
              </a:spcBef>
              <a:buClr>
                <a:schemeClr val="folHlink"/>
              </a:buClr>
              <a:buSzPct val="60000"/>
              <a:buFontTx/>
              <a:buAutoNum type="arabicPeriod"/>
            </a:pPr>
            <a:r>
              <a:rPr lang="en-GB" sz="3200" dirty="0">
                <a:latin typeface="Times New Roman" pitchFamily="18" charset="0"/>
                <a:cs typeface="Times New Roman" pitchFamily="18" charset="0"/>
              </a:rPr>
              <a:t>If</a:t>
            </a:r>
            <a:r>
              <a:rPr lang="en-US" sz="3200" dirty="0">
                <a:latin typeface="Times New Roman" pitchFamily="18" charset="0"/>
                <a:cs typeface="Times New Roman" pitchFamily="18" charset="0"/>
              </a:rPr>
              <a:t> medium idle, </a:t>
            </a:r>
          </a:p>
          <a:p>
            <a:pPr marL="838200" lvl="1" indent="-381000" eaLnBrk="1" hangingPunct="1">
              <a:spcBef>
                <a:spcPct val="20000"/>
              </a:spcBef>
              <a:buClr>
                <a:schemeClr val="tx1"/>
              </a:buClr>
              <a:buSzPct val="95000"/>
              <a:buFont typeface="Wingdings" pitchFamily="2" charset="2"/>
              <a:buChar char="§"/>
            </a:pPr>
            <a:r>
              <a:rPr lang="en-US" sz="3200" dirty="0">
                <a:latin typeface="Times New Roman" pitchFamily="18" charset="0"/>
                <a:cs typeface="Times New Roman" pitchFamily="18" charset="0"/>
              </a:rPr>
              <a:t>transmit with probability (</a:t>
            </a:r>
            <a:r>
              <a:rPr lang="en-US" sz="3200" b="1" dirty="0">
                <a:latin typeface="Times New Roman" pitchFamily="18" charset="0"/>
                <a:cs typeface="Times New Roman" pitchFamily="18" charset="0"/>
              </a:rPr>
              <a:t>p</a:t>
            </a:r>
            <a:r>
              <a:rPr lang="en-US" sz="3200" dirty="0">
                <a:latin typeface="Times New Roman" pitchFamily="18" charset="0"/>
                <a:cs typeface="Times New Roman" pitchFamily="18" charset="0"/>
              </a:rPr>
              <a:t>), OR</a:t>
            </a:r>
          </a:p>
          <a:p>
            <a:pPr marL="838200" lvl="1" indent="-381000" eaLnBrk="1" hangingPunct="1">
              <a:spcBef>
                <a:spcPct val="20000"/>
              </a:spcBef>
              <a:buClr>
                <a:schemeClr val="tx1"/>
              </a:buClr>
              <a:buSzPct val="95000"/>
              <a:buFont typeface="Wingdings" pitchFamily="2" charset="2"/>
              <a:buChar char="§"/>
            </a:pPr>
            <a:r>
              <a:rPr lang="en-US" sz="3200" dirty="0">
                <a:latin typeface="Times New Roman" pitchFamily="18" charset="0"/>
                <a:cs typeface="Times New Roman" pitchFamily="18" charset="0"/>
              </a:rPr>
              <a:t>wait </a:t>
            </a:r>
            <a:r>
              <a:rPr lang="en-US" sz="3200" b="1" dirty="0">
                <a:latin typeface="Times New Roman" pitchFamily="18" charset="0"/>
                <a:cs typeface="Times New Roman" pitchFamily="18" charset="0"/>
              </a:rPr>
              <a:t>one time unit (slot) </a:t>
            </a:r>
            <a:r>
              <a:rPr lang="en-US" sz="3200" dirty="0">
                <a:latin typeface="Times New Roman" pitchFamily="18" charset="0"/>
                <a:cs typeface="Times New Roman" pitchFamily="18" charset="0"/>
              </a:rPr>
              <a:t>with probability (</a:t>
            </a:r>
            <a:r>
              <a:rPr lang="en-US" sz="3200" b="1" dirty="0">
                <a:latin typeface="Times New Roman" pitchFamily="18" charset="0"/>
                <a:cs typeface="Times New Roman" pitchFamily="18" charset="0"/>
              </a:rPr>
              <a:t>1 – p</a:t>
            </a:r>
            <a:r>
              <a:rPr lang="en-US" sz="3200" dirty="0">
                <a:latin typeface="Times New Roman" pitchFamily="18" charset="0"/>
                <a:cs typeface="Times New Roman" pitchFamily="18" charset="0"/>
              </a:rPr>
              <a:t>), then repeat 1.</a:t>
            </a:r>
            <a:endParaRPr lang="en-GB" sz="3200" dirty="0">
              <a:latin typeface="Times New Roman" pitchFamily="18" charset="0"/>
              <a:cs typeface="Times New Roman" pitchFamily="18" charset="0"/>
            </a:endParaRPr>
          </a:p>
          <a:p>
            <a:pPr marL="457200" indent="-457200" eaLnBrk="1" hangingPunct="1">
              <a:spcBef>
                <a:spcPct val="20000"/>
              </a:spcBef>
              <a:buClr>
                <a:schemeClr val="folHlink"/>
              </a:buClr>
              <a:buSzPct val="60000"/>
              <a:buFont typeface="Wingdings" pitchFamily="2" charset="2"/>
              <a:buNone/>
            </a:pPr>
            <a:endParaRPr lang="en-GB" sz="32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43000"/>
            <a:ext cx="7467600" cy="5016758"/>
          </a:xfrm>
          <a:prstGeom prst="rect">
            <a:avLst/>
          </a:prstGeom>
        </p:spPr>
        <p:txBody>
          <a:bodyPr wrap="square">
            <a:spAutoFit/>
          </a:bodyPr>
          <a:lstStyle/>
          <a:p>
            <a:pPr marL="457200" indent="-457200">
              <a:spcBef>
                <a:spcPct val="20000"/>
              </a:spcBef>
              <a:buClr>
                <a:schemeClr val="folHlink"/>
              </a:buClr>
              <a:buSzPct val="60000"/>
            </a:pPr>
            <a:r>
              <a:rPr lang="en-US" sz="3200" dirty="0">
                <a:latin typeface="Times New Roman" pitchFamily="18" charset="0"/>
                <a:cs typeface="Times New Roman" pitchFamily="18" charset="0"/>
              </a:rPr>
              <a:t>2. If medium busy, </a:t>
            </a:r>
            <a:r>
              <a:rPr lang="en-US" sz="3200" b="1" dirty="0">
                <a:latin typeface="Times New Roman" pitchFamily="18" charset="0"/>
                <a:cs typeface="Times New Roman" pitchFamily="18" charset="0"/>
              </a:rPr>
              <a:t>continuously listen until</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idle</a:t>
            </a:r>
            <a:r>
              <a:rPr lang="en-US" sz="3200" dirty="0">
                <a:latin typeface="Times New Roman" pitchFamily="18" charset="0"/>
                <a:cs typeface="Times New Roman" pitchFamily="18" charset="0"/>
              </a:rPr>
              <a:t> and repeat step </a:t>
            </a:r>
            <a:r>
              <a:rPr lang="en-US" sz="3200" b="1" dirty="0">
                <a:latin typeface="Times New Roman" pitchFamily="18" charset="0"/>
                <a:cs typeface="Times New Roman" pitchFamily="18" charset="0"/>
              </a:rPr>
              <a:t>1</a:t>
            </a:r>
          </a:p>
          <a:p>
            <a:pPr marL="457200" indent="-457200">
              <a:spcBef>
                <a:spcPct val="20000"/>
              </a:spcBef>
              <a:buClr>
                <a:schemeClr val="folHlink"/>
              </a:buClr>
              <a:buSzPct val="60000"/>
            </a:pPr>
            <a:endParaRPr lang="en-US" sz="3200" dirty="0">
              <a:latin typeface="Times New Roman" pitchFamily="18" charset="0"/>
              <a:cs typeface="Times New Roman" pitchFamily="18" charset="0"/>
            </a:endParaRPr>
          </a:p>
          <a:p>
            <a:pPr marL="457200" indent="-457200">
              <a:spcBef>
                <a:spcPct val="20000"/>
              </a:spcBef>
              <a:buClr>
                <a:schemeClr val="folHlink"/>
              </a:buClr>
              <a:buSzPct val="60000"/>
            </a:pPr>
            <a:r>
              <a:rPr lang="en-US" sz="3200" dirty="0">
                <a:latin typeface="Times New Roman" pitchFamily="18" charset="0"/>
                <a:cs typeface="Times New Roman" pitchFamily="18" charset="0"/>
              </a:rPr>
              <a:t>Performance</a:t>
            </a:r>
          </a:p>
          <a:p>
            <a:pPr marL="838200" lvl="1" indent="-381000">
              <a:spcBef>
                <a:spcPct val="20000"/>
              </a:spcBef>
              <a:buClr>
                <a:schemeClr val="folHlink"/>
              </a:buClr>
              <a:buSzPct val="60000"/>
              <a:buFont typeface="Wingdings" pitchFamily="2" charset="2"/>
              <a:buChar char="n"/>
            </a:pPr>
            <a:r>
              <a:rPr lang="en-US" sz="3200" dirty="0">
                <a:latin typeface="Times New Roman" pitchFamily="18" charset="0"/>
                <a:cs typeface="Times New Roman" pitchFamily="18" charset="0"/>
              </a:rPr>
              <a:t>Reduces the possibility of collisions</a:t>
            </a:r>
            <a:r>
              <a:rPr lang="en-GB" sz="3200" dirty="0">
                <a:latin typeface="Times New Roman" pitchFamily="18" charset="0"/>
                <a:cs typeface="Times New Roman" pitchFamily="18" charset="0"/>
              </a:rPr>
              <a:t> like </a:t>
            </a:r>
            <a:r>
              <a:rPr lang="en-GB" sz="3200" b="1" dirty="0">
                <a:latin typeface="Times New Roman" pitchFamily="18" charset="0"/>
                <a:cs typeface="Times New Roman" pitchFamily="18" charset="0"/>
              </a:rPr>
              <a:t>nonpersistent</a:t>
            </a:r>
          </a:p>
          <a:p>
            <a:pPr marL="838200" lvl="1" indent="-381000">
              <a:spcBef>
                <a:spcPct val="20000"/>
              </a:spcBef>
              <a:buClr>
                <a:schemeClr val="folHlink"/>
              </a:buClr>
              <a:buSzPct val="60000"/>
              <a:buFont typeface="Wingdings" pitchFamily="2" charset="2"/>
              <a:buChar char="n"/>
            </a:pPr>
            <a:r>
              <a:rPr lang="en-US" sz="3200" dirty="0">
                <a:latin typeface="Times New Roman" pitchFamily="18" charset="0"/>
                <a:cs typeface="Times New Roman" pitchFamily="18" charset="0"/>
              </a:rPr>
              <a:t>Reduces channel idle time</a:t>
            </a:r>
            <a:r>
              <a:rPr lang="en-GB" sz="3200" dirty="0">
                <a:latin typeface="Times New Roman" pitchFamily="18" charset="0"/>
                <a:cs typeface="Times New Roman" pitchFamily="18" charset="0"/>
              </a:rPr>
              <a:t> like </a:t>
            </a:r>
            <a:r>
              <a:rPr lang="en-US" sz="3200" b="1" dirty="0">
                <a:latin typeface="Times New Roman" pitchFamily="18" charset="0"/>
                <a:cs typeface="Times New Roman" pitchFamily="18" charset="0"/>
              </a:rPr>
              <a:t>1-persistent</a:t>
            </a:r>
            <a:endParaRPr lang="en-GB" sz="3200" b="1" dirty="0">
              <a:latin typeface="Times New Roman" pitchFamily="18" charset="0"/>
              <a:cs typeface="Times New Roman" pitchFamily="18" charset="0"/>
            </a:endParaRPr>
          </a:p>
          <a:p>
            <a:pPr marL="838200" lvl="1" indent="-381000">
              <a:spcBef>
                <a:spcPct val="20000"/>
              </a:spcBef>
              <a:buClr>
                <a:schemeClr val="folHlink"/>
              </a:buClr>
              <a:buSzPct val="60000"/>
              <a:buFontTx/>
              <a:buAutoNum type="arabicPeriod"/>
            </a:pPr>
            <a:endParaRPr lang="en-US" sz="3200" b="1"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srcRect/>
          <a:stretch>
            <a:fillRect/>
          </a:stretch>
        </p:blipFill>
        <p:spPr bwMode="auto">
          <a:xfrm>
            <a:off x="93741" y="1752600"/>
            <a:ext cx="8744378" cy="33528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4"/>
          <p:cNvSpPr>
            <a:spLocks noChangeShapeType="1"/>
          </p:cNvSpPr>
          <p:nvPr/>
        </p:nvSpPr>
        <p:spPr bwMode="auto">
          <a:xfrm>
            <a:off x="152400" y="152400"/>
            <a:ext cx="8763000" cy="0"/>
          </a:xfrm>
          <a:prstGeom prst="line">
            <a:avLst/>
          </a:prstGeom>
          <a:noFill/>
          <a:ln w="76200">
            <a:solidFill>
              <a:schemeClr val="hlink"/>
            </a:solidFill>
            <a:round/>
            <a:headEnd/>
            <a:tailEnd/>
          </a:ln>
        </p:spPr>
        <p:txBody>
          <a:bodyPr/>
          <a:lstStyle/>
          <a:p>
            <a:endParaRPr lang="en-US"/>
          </a:p>
        </p:txBody>
      </p:sp>
      <p:sp>
        <p:nvSpPr>
          <p:cNvPr id="3" name="Line 5"/>
          <p:cNvSpPr>
            <a:spLocks noChangeShapeType="1"/>
          </p:cNvSpPr>
          <p:nvPr/>
        </p:nvSpPr>
        <p:spPr bwMode="auto">
          <a:xfrm>
            <a:off x="152400" y="990600"/>
            <a:ext cx="8763000" cy="0"/>
          </a:xfrm>
          <a:prstGeom prst="line">
            <a:avLst/>
          </a:prstGeom>
          <a:noFill/>
          <a:ln w="19050">
            <a:solidFill>
              <a:schemeClr val="hlink"/>
            </a:solidFill>
            <a:round/>
            <a:headEnd/>
            <a:tailEnd/>
          </a:ln>
        </p:spPr>
        <p:txBody>
          <a:bodyPr/>
          <a:lstStyle/>
          <a:p>
            <a:endParaRPr lang="en-US"/>
          </a:p>
        </p:txBody>
      </p:sp>
      <p:sp>
        <p:nvSpPr>
          <p:cNvPr id="4" name="Text Box 6"/>
          <p:cNvSpPr txBox="1">
            <a:spLocks noChangeArrowheads="1"/>
          </p:cNvSpPr>
          <p:nvPr/>
        </p:nvSpPr>
        <p:spPr bwMode="auto">
          <a:xfrm>
            <a:off x="900579" y="381000"/>
            <a:ext cx="7633821" cy="584775"/>
          </a:xfrm>
          <a:prstGeom prst="rect">
            <a:avLst/>
          </a:prstGeom>
          <a:noFill/>
          <a:ln w="9525">
            <a:noFill/>
            <a:miter lim="800000"/>
            <a:headEnd/>
            <a:tailEnd/>
          </a:ln>
        </p:spPr>
        <p:txBody>
          <a:bodyPr wrap="none">
            <a:spAutoFit/>
          </a:bodyPr>
          <a:lstStyle/>
          <a:p>
            <a:pPr algn="ctr"/>
            <a:r>
              <a:rPr lang="en-US" sz="3200" b="1" i="1" dirty="0">
                <a:latin typeface="Times New Roman" pitchFamily="18" charset="0"/>
              </a:rPr>
              <a:t>Flow diagram for three persistence methods</a:t>
            </a:r>
          </a:p>
        </p:txBody>
      </p:sp>
      <p:pic>
        <p:nvPicPr>
          <p:cNvPr id="5" name="Picture 8"/>
          <p:cNvPicPr>
            <a:picLocks noChangeAspect="1" noChangeArrowheads="1"/>
          </p:cNvPicPr>
          <p:nvPr/>
        </p:nvPicPr>
        <p:blipFill>
          <a:blip r:embed="rId2"/>
          <a:srcRect/>
          <a:stretch>
            <a:fillRect/>
          </a:stretch>
        </p:blipFill>
        <p:spPr bwMode="auto">
          <a:xfrm>
            <a:off x="1371600" y="1173163"/>
            <a:ext cx="6934199" cy="5407405"/>
          </a:xfrm>
          <a:prstGeom prst="rect">
            <a:avLst/>
          </a:prstGeom>
          <a:noFill/>
          <a:ln w="9525">
            <a:noFill/>
            <a:miter lim="800000"/>
            <a:headEnd/>
            <a:tailEnd/>
          </a:ln>
        </p:spPr>
      </p:pic>
    </p:spTree>
    <p:extLst>
      <p:ext uri="{BB962C8B-B14F-4D97-AF65-F5344CB8AC3E}">
        <p14:creationId xmlns:p14="http://schemas.microsoft.com/office/powerpoint/2010/main" val="1125196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522288" y="1433513"/>
            <a:ext cx="8264525" cy="50228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
            </a:pPr>
            <a:r>
              <a:rPr lang="en-US" sz="3200" b="1" dirty="0">
                <a:latin typeface="Times New Roman" pitchFamily="18" charset="0"/>
              </a:rPr>
              <a:t>CSMA (all previous methods) has an inefficiency:</a:t>
            </a:r>
          </a:p>
          <a:p>
            <a:pPr marL="742950" lvl="1" indent="-285750" eaLnBrk="1" hangingPunct="1">
              <a:spcBef>
                <a:spcPct val="20000"/>
              </a:spcBef>
              <a:buClr>
                <a:schemeClr val="folHlink"/>
              </a:buClr>
              <a:buSzPct val="60000"/>
              <a:buFont typeface="Wingdings" pitchFamily="2" charset="2"/>
              <a:buChar char="§"/>
            </a:pPr>
            <a:r>
              <a:rPr lang="en-US" sz="3200" dirty="0">
                <a:latin typeface="Times New Roman" pitchFamily="18" charset="0"/>
              </a:rPr>
              <a:t>If a collision has occurred, the channel is </a:t>
            </a:r>
            <a:r>
              <a:rPr lang="en-US" sz="3200" b="1" dirty="0">
                <a:latin typeface="Times New Roman" pitchFamily="18" charset="0"/>
              </a:rPr>
              <a:t>unstable</a:t>
            </a:r>
            <a:r>
              <a:rPr lang="en-US" sz="3200" dirty="0">
                <a:latin typeface="Times New Roman" pitchFamily="18" charset="0"/>
              </a:rPr>
              <a:t> until colliding packets have </a:t>
            </a:r>
            <a:r>
              <a:rPr lang="en-US" sz="3200" b="1" u="sng" dirty="0">
                <a:latin typeface="Times New Roman" pitchFamily="18" charset="0"/>
              </a:rPr>
              <a:t>been fully transmitted.</a:t>
            </a:r>
          </a:p>
          <a:p>
            <a:pPr marL="342900" indent="-342900" eaLnBrk="1" hangingPunct="1">
              <a:spcBef>
                <a:spcPct val="20000"/>
              </a:spcBef>
              <a:buClr>
                <a:schemeClr val="folHlink"/>
              </a:buClr>
              <a:buSzPct val="60000"/>
              <a:buFont typeface="Wingdings" pitchFamily="2" charset="2"/>
              <a:buChar char="§"/>
            </a:pPr>
            <a:r>
              <a:rPr lang="en-US" sz="3200" b="1" dirty="0">
                <a:latin typeface="Times New Roman" pitchFamily="18" charset="0"/>
              </a:rPr>
              <a:t>CSMA/CD </a:t>
            </a:r>
            <a:r>
              <a:rPr lang="en-US" sz="3200" dirty="0">
                <a:latin typeface="Times New Roman" pitchFamily="18" charset="0"/>
              </a:rPr>
              <a:t>(</a:t>
            </a:r>
            <a:r>
              <a:rPr lang="en-US" sz="3200" dirty="0">
                <a:solidFill>
                  <a:srgbClr val="000000"/>
                </a:solidFill>
                <a:latin typeface="Times New Roman" pitchFamily="18" charset="0"/>
              </a:rPr>
              <a:t>Carrier Sense Multiple Access with Collision Detection)</a:t>
            </a:r>
            <a:r>
              <a:rPr lang="en-US" sz="3200" b="1" dirty="0">
                <a:latin typeface="Times New Roman" pitchFamily="18" charset="0"/>
              </a:rPr>
              <a:t> overcomes this as follows:</a:t>
            </a:r>
          </a:p>
          <a:p>
            <a:pPr marL="342900" indent="-342900" eaLnBrk="1" hangingPunct="1">
              <a:spcBef>
                <a:spcPct val="20000"/>
              </a:spcBef>
              <a:buClr>
                <a:schemeClr val="folHlink"/>
              </a:buClr>
              <a:buSzPct val="60000"/>
              <a:buFont typeface="Wingdings" pitchFamily="2" charset="2"/>
              <a:buNone/>
            </a:pPr>
            <a:endParaRPr lang="en-US" sz="3200" dirty="0">
              <a:solidFill>
                <a:srgbClr val="FF0000"/>
              </a:solidFill>
              <a:latin typeface="Times New Roman" pitchFamily="18" charset="0"/>
            </a:endParaRPr>
          </a:p>
        </p:txBody>
      </p:sp>
      <p:sp>
        <p:nvSpPr>
          <p:cNvPr id="4" name="Rectangle 3"/>
          <p:cNvSpPr/>
          <p:nvPr/>
        </p:nvSpPr>
        <p:spPr>
          <a:xfrm>
            <a:off x="2743200" y="381000"/>
            <a:ext cx="2577950" cy="707886"/>
          </a:xfrm>
          <a:prstGeom prst="rect">
            <a:avLst/>
          </a:prstGeom>
        </p:spPr>
        <p:txBody>
          <a:bodyPr wrap="none">
            <a:spAutoFit/>
          </a:bodyPr>
          <a:lstStyle/>
          <a:p>
            <a:r>
              <a:rPr lang="en-US" sz="4000" b="1" dirty="0">
                <a:latin typeface="Times New Roman" pitchFamily="18" charset="0"/>
              </a:rPr>
              <a:t>CSMA/CD</a:t>
            </a:r>
            <a:endParaRPr lang="en-US" sz="4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329690"/>
            <a:ext cx="7543800" cy="4918269"/>
          </a:xfrm>
          <a:prstGeom prst="rect">
            <a:avLst/>
          </a:prstGeom>
        </p:spPr>
        <p:txBody>
          <a:bodyPr wrap="square">
            <a:spAutoFit/>
          </a:bodyPr>
          <a:lstStyle/>
          <a:p>
            <a:pPr marL="742950" lvl="1" indent="-285750">
              <a:spcBef>
                <a:spcPct val="20000"/>
              </a:spcBef>
              <a:buClr>
                <a:schemeClr val="folHlink"/>
              </a:buClr>
              <a:buSzPct val="60000"/>
              <a:buFont typeface="Wingdings" pitchFamily="2" charset="2"/>
              <a:buChar char="§"/>
            </a:pPr>
            <a:r>
              <a:rPr lang="en-US" sz="3200" dirty="0">
                <a:latin typeface="Times New Roman" pitchFamily="18" charset="0"/>
              </a:rPr>
              <a:t>While transmitting, the sender is </a:t>
            </a:r>
            <a:r>
              <a:rPr lang="en-US" sz="3200" b="1" dirty="0">
                <a:latin typeface="Times New Roman" pitchFamily="18" charset="0"/>
              </a:rPr>
              <a:t>listening to medium </a:t>
            </a:r>
            <a:r>
              <a:rPr lang="en-US" sz="3200" dirty="0">
                <a:latin typeface="Times New Roman" pitchFamily="18" charset="0"/>
              </a:rPr>
              <a:t>for collisions. </a:t>
            </a:r>
          </a:p>
          <a:p>
            <a:pPr marL="742950" lvl="1" indent="-285750">
              <a:spcBef>
                <a:spcPct val="20000"/>
              </a:spcBef>
              <a:buClr>
                <a:schemeClr val="folHlink"/>
              </a:buClr>
              <a:buSzPct val="60000"/>
              <a:buFont typeface="Wingdings" pitchFamily="2" charset="2"/>
              <a:buChar char="§"/>
            </a:pPr>
            <a:endParaRPr lang="en-US" sz="3200" dirty="0">
              <a:latin typeface="Times New Roman" pitchFamily="18" charset="0"/>
            </a:endParaRPr>
          </a:p>
          <a:p>
            <a:pPr marL="742950" lvl="1" indent="-285750">
              <a:spcBef>
                <a:spcPct val="20000"/>
              </a:spcBef>
              <a:buClr>
                <a:schemeClr val="folHlink"/>
              </a:buClr>
              <a:buSzPct val="60000"/>
              <a:buFont typeface="Wingdings" pitchFamily="2" charset="2"/>
              <a:buChar char="§"/>
            </a:pPr>
            <a:r>
              <a:rPr lang="en-US" sz="3200" dirty="0">
                <a:latin typeface="Times New Roman" pitchFamily="18" charset="0"/>
              </a:rPr>
              <a:t>Sender </a:t>
            </a:r>
            <a:r>
              <a:rPr lang="en-US" sz="3200" b="1" dirty="0">
                <a:latin typeface="Times New Roman" pitchFamily="18" charset="0"/>
              </a:rPr>
              <a:t>stops transmission</a:t>
            </a:r>
            <a:r>
              <a:rPr lang="en-US" sz="3200" dirty="0">
                <a:latin typeface="Times New Roman" pitchFamily="18" charset="0"/>
              </a:rPr>
              <a:t> if collision has occurred </a:t>
            </a:r>
            <a:r>
              <a:rPr lang="en-US" sz="3200" b="1" dirty="0">
                <a:latin typeface="Times New Roman" pitchFamily="18" charset="0"/>
              </a:rPr>
              <a:t>reducing channel wastage</a:t>
            </a:r>
            <a:r>
              <a:rPr lang="en-US" sz="3200" dirty="0">
                <a:latin typeface="Times New Roman" pitchFamily="18" charset="0"/>
              </a:rPr>
              <a:t> .</a:t>
            </a:r>
          </a:p>
          <a:p>
            <a:pPr marL="742950" lvl="1" indent="-285750">
              <a:spcBef>
                <a:spcPct val="20000"/>
              </a:spcBef>
              <a:buClr>
                <a:schemeClr val="folHlink"/>
              </a:buClr>
              <a:buSzPct val="60000"/>
              <a:buFont typeface="Wingdings" pitchFamily="2" charset="2"/>
              <a:buChar char="§"/>
            </a:pPr>
            <a:endParaRPr lang="en-US" sz="3200" dirty="0">
              <a:latin typeface="Times New Roman" pitchFamily="18" charset="0"/>
            </a:endParaRPr>
          </a:p>
          <a:p>
            <a:pPr marL="742950" lvl="1" indent="-285750">
              <a:spcBef>
                <a:spcPct val="20000"/>
              </a:spcBef>
              <a:buClr>
                <a:schemeClr val="folHlink"/>
              </a:buClr>
              <a:buSzPct val="60000"/>
              <a:buFont typeface="Wingdings" pitchFamily="2" charset="2"/>
              <a:buChar char="§"/>
            </a:pPr>
            <a:r>
              <a:rPr lang="en-US" sz="3200" dirty="0">
                <a:latin typeface="Times New Roman" pitchFamily="18" charset="0"/>
              </a:rPr>
              <a:t> </a:t>
            </a:r>
            <a:r>
              <a:rPr lang="en-US" sz="3200" dirty="0">
                <a:solidFill>
                  <a:srgbClr val="000000"/>
                </a:solidFill>
                <a:latin typeface="Times New Roman" pitchFamily="18" charset="0"/>
              </a:rPr>
              <a:t>CSMA/CD is Widely used for </a:t>
            </a:r>
            <a:r>
              <a:rPr lang="en-US" sz="3200" b="1" dirty="0">
                <a:solidFill>
                  <a:srgbClr val="000000"/>
                </a:solidFill>
                <a:latin typeface="Times New Roman" pitchFamily="18" charset="0"/>
              </a:rPr>
              <a:t>bus topology LANs</a:t>
            </a:r>
            <a:r>
              <a:rPr lang="en-US" sz="3200" dirty="0">
                <a:solidFill>
                  <a:srgbClr val="000000"/>
                </a:solidFill>
                <a:latin typeface="Times New Roman" pitchFamily="18" charset="0"/>
              </a:rPr>
              <a:t> (IEEE 802.3, </a:t>
            </a:r>
            <a:r>
              <a:rPr lang="en-US" sz="3200" dirty="0">
                <a:solidFill>
                  <a:srgbClr val="FF0000"/>
                </a:solidFill>
                <a:latin typeface="Times New Roman" pitchFamily="18" charset="0"/>
              </a:rPr>
              <a:t>Ethernet</a:t>
            </a:r>
            <a:r>
              <a:rPr lang="en-US" sz="3200" dirty="0">
                <a:solidFill>
                  <a:srgbClr val="000000"/>
                </a:solidFill>
                <a:latin typeface="Times New Roman"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srcRect/>
          <a:stretch>
            <a:fillRect/>
          </a:stretch>
        </p:blipFill>
        <p:spPr bwMode="auto">
          <a:xfrm>
            <a:off x="195385" y="381000"/>
            <a:ext cx="8972061" cy="6248400"/>
          </a:xfrm>
          <a:prstGeom prst="rect">
            <a:avLst/>
          </a:prstGeom>
          <a:noFill/>
          <a:ln w="9525">
            <a:noFill/>
            <a:miter lim="800000"/>
            <a:headEnd/>
            <a:tailEnd/>
          </a:ln>
        </p:spPr>
      </p:pic>
      <p:sp>
        <p:nvSpPr>
          <p:cNvPr id="4" name="Rectangle 5"/>
          <p:cNvSpPr>
            <a:spLocks noChangeArrowheads="1"/>
          </p:cNvSpPr>
          <p:nvPr/>
        </p:nvSpPr>
        <p:spPr bwMode="auto">
          <a:xfrm>
            <a:off x="723900" y="1814513"/>
            <a:ext cx="3276600" cy="304800"/>
          </a:xfrm>
          <a:prstGeom prst="rect">
            <a:avLst/>
          </a:prstGeom>
          <a:solidFill>
            <a:schemeClr val="bg1"/>
          </a:solidFill>
          <a:ln w="9525">
            <a:noFill/>
            <a:miter lim="800000"/>
            <a:headEnd/>
            <a:tailEnd/>
          </a:ln>
        </p:spPr>
        <p:txBody>
          <a:bodyPr wrap="none" anchor="ctr"/>
          <a:lstStyle/>
          <a:p>
            <a:endParaRPr lang="en-US"/>
          </a:p>
        </p:txBody>
      </p:sp>
      <p:sp>
        <p:nvSpPr>
          <p:cNvPr id="5" name="Text Box 6"/>
          <p:cNvSpPr txBox="1">
            <a:spLocks noChangeArrowheads="1"/>
          </p:cNvSpPr>
          <p:nvPr/>
        </p:nvSpPr>
        <p:spPr bwMode="auto">
          <a:xfrm>
            <a:off x="7391400" y="1447800"/>
            <a:ext cx="1524000" cy="461665"/>
          </a:xfrm>
          <a:prstGeom prst="rect">
            <a:avLst/>
          </a:prstGeom>
          <a:noFill/>
          <a:ln w="9525">
            <a:noFill/>
            <a:miter lim="800000"/>
            <a:headEnd/>
            <a:tailEnd/>
          </a:ln>
        </p:spPr>
        <p:txBody>
          <a:bodyPr>
            <a:spAutoFit/>
          </a:bodyPr>
          <a:lstStyle/>
          <a:p>
            <a:pPr>
              <a:spcBef>
                <a:spcPct val="50000"/>
              </a:spcBef>
            </a:pPr>
            <a:r>
              <a:rPr lang="en-US" sz="2400" dirty="0">
                <a:latin typeface="Times New Roman" pitchFamily="18" charset="0"/>
                <a:cs typeface="Times New Roman" pitchFamily="18" charset="0"/>
              </a:rPr>
              <a:t>of its own</a:t>
            </a:r>
          </a:p>
        </p:txBody>
      </p:sp>
      <p:sp>
        <p:nvSpPr>
          <p:cNvPr id="6" name="Text Box 8"/>
          <p:cNvSpPr txBox="1">
            <a:spLocks noChangeArrowheads="1"/>
          </p:cNvSpPr>
          <p:nvPr/>
        </p:nvSpPr>
        <p:spPr bwMode="auto">
          <a:xfrm>
            <a:off x="762000" y="1889125"/>
            <a:ext cx="7696200" cy="461665"/>
          </a:xfrm>
          <a:prstGeom prst="rect">
            <a:avLst/>
          </a:prstGeom>
          <a:solidFill>
            <a:schemeClr val="bg1"/>
          </a:solidFill>
          <a:ln w="9525">
            <a:noFill/>
            <a:miter lim="800000"/>
            <a:headEnd/>
            <a:tailEnd/>
          </a:ln>
        </p:spPr>
        <p:txBody>
          <a:bodyPr>
            <a:spAutoFit/>
          </a:bodyPr>
          <a:lstStyle/>
          <a:p>
            <a:pPr>
              <a:spcBef>
                <a:spcPct val="50000"/>
              </a:spcBef>
            </a:pPr>
            <a:r>
              <a:rPr lang="en-US" sz="2400" dirty="0">
                <a:latin typeface="Times New Roman" pitchFamily="18" charset="0"/>
                <a:cs typeface="Times New Roman" pitchFamily="18" charset="0"/>
              </a:rPr>
              <a:t>signal, it means collision occurred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219200" y="304800"/>
            <a:ext cx="6996211" cy="646331"/>
          </a:xfrm>
          <a:prstGeom prst="rect">
            <a:avLst/>
          </a:prstGeom>
          <a:noFill/>
          <a:ln w="9525">
            <a:noFill/>
            <a:miter lim="800000"/>
            <a:headEnd/>
            <a:tailEnd/>
          </a:ln>
          <a:effectLst/>
        </p:spPr>
        <p:txBody>
          <a:bodyPr wrap="none">
            <a:spAutoFit/>
          </a:bodyPr>
          <a:lstStyle/>
          <a:p>
            <a:r>
              <a:rPr lang="en-US" sz="3600" b="1" baseline="0" dirty="0"/>
              <a:t>Collision of the first bit in CSMA/CD</a:t>
            </a:r>
          </a:p>
        </p:txBody>
      </p:sp>
      <p:pic>
        <p:nvPicPr>
          <p:cNvPr id="5" name="Picture 7"/>
          <p:cNvPicPr>
            <a:picLocks noChangeAspect="1" noChangeArrowheads="1"/>
          </p:cNvPicPr>
          <p:nvPr/>
        </p:nvPicPr>
        <p:blipFill>
          <a:blip r:embed="rId2"/>
          <a:srcRect/>
          <a:stretch>
            <a:fillRect/>
          </a:stretch>
        </p:blipFill>
        <p:spPr bwMode="auto">
          <a:xfrm>
            <a:off x="9525" y="2033588"/>
            <a:ext cx="9058275" cy="3224212"/>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066800" y="304801"/>
            <a:ext cx="7620000" cy="1200329"/>
          </a:xfrm>
          <a:prstGeom prst="rect">
            <a:avLst/>
          </a:prstGeom>
          <a:noFill/>
          <a:ln w="9525">
            <a:noFill/>
            <a:miter lim="800000"/>
            <a:headEnd/>
            <a:tailEnd/>
          </a:ln>
          <a:effectLst/>
        </p:spPr>
        <p:txBody>
          <a:bodyPr wrap="square">
            <a:spAutoFit/>
          </a:bodyPr>
          <a:lstStyle/>
          <a:p>
            <a:r>
              <a:rPr lang="en-US" sz="3600" b="1" baseline="0" dirty="0">
                <a:latin typeface="Times New Roman" pitchFamily="18" charset="0"/>
                <a:cs typeface="Times New Roman" pitchFamily="18" charset="0"/>
              </a:rPr>
              <a:t>Collision and abortion in CSMA/CD</a:t>
            </a:r>
            <a:endParaRPr lang="en-US" sz="3600" b="1" i="0" baseline="-18000" dirty="0">
              <a:latin typeface="Times New Roman" pitchFamily="18" charset="0"/>
              <a:cs typeface="Times New Roman" pitchFamily="18" charset="0"/>
            </a:endParaRPr>
          </a:p>
          <a:p>
            <a:endParaRPr lang="en-US" sz="3600" b="1" baseline="0" dirty="0">
              <a:latin typeface="Times New Roman" pitchFamily="18" charset="0"/>
              <a:cs typeface="Times New Roman" pitchFamily="18" charset="0"/>
            </a:endParaRPr>
          </a:p>
        </p:txBody>
      </p:sp>
      <p:pic>
        <p:nvPicPr>
          <p:cNvPr id="5" name="Picture 7"/>
          <p:cNvPicPr>
            <a:picLocks noChangeAspect="1" noChangeArrowheads="1"/>
          </p:cNvPicPr>
          <p:nvPr/>
        </p:nvPicPr>
        <p:blipFill>
          <a:blip r:embed="rId2"/>
          <a:srcRect/>
          <a:stretch>
            <a:fillRect/>
          </a:stretch>
        </p:blipFill>
        <p:spPr bwMode="auto">
          <a:xfrm>
            <a:off x="73025" y="2462213"/>
            <a:ext cx="8994775" cy="3557587"/>
          </a:xfrm>
          <a:prstGeom prst="rect">
            <a:avLst/>
          </a:prstGeom>
          <a:noFill/>
          <a:ln w="9525">
            <a:noFill/>
            <a:miter lim="800000"/>
            <a:headEnd/>
            <a:tailEnd/>
          </a:ln>
          <a:effectLst/>
        </p:spPr>
      </p:pic>
      <p:sp>
        <p:nvSpPr>
          <p:cNvPr id="6" name="Rectangle 5"/>
          <p:cNvSpPr/>
          <p:nvPr/>
        </p:nvSpPr>
        <p:spPr>
          <a:xfrm>
            <a:off x="152400" y="1143000"/>
            <a:ext cx="9372600" cy="646331"/>
          </a:xfrm>
          <a:prstGeom prst="rect">
            <a:avLst/>
          </a:prstGeom>
        </p:spPr>
        <p:txBody>
          <a:bodyPr wrap="square">
            <a:spAutoFit/>
          </a:bodyPr>
          <a:lstStyle/>
          <a:p>
            <a:pPr>
              <a:defRPr/>
            </a:pPr>
            <a:r>
              <a:rPr lang="en-US" sz="3600" dirty="0">
                <a:latin typeface="Times New Roman" pitchFamily="18" charset="0"/>
                <a:cs typeface="Times New Roman" pitchFamily="18" charset="0"/>
              </a:rPr>
              <a:t>Station monitors channel while sending a frame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152400"/>
            <a:ext cx="8229600" cy="9906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CSMA/CD: Minimum Frame Size</a:t>
            </a:r>
          </a:p>
        </p:txBody>
      </p:sp>
      <p:sp>
        <p:nvSpPr>
          <p:cNvPr id="3" name="Rectangle 3"/>
          <p:cNvSpPr txBox="1">
            <a:spLocks noChangeArrowheads="1"/>
          </p:cNvSpPr>
          <p:nvPr/>
        </p:nvSpPr>
        <p:spPr>
          <a:xfrm>
            <a:off x="457200" y="1219200"/>
            <a:ext cx="8229600" cy="49530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Each frame must be large enough for a sender to detect a collision.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Worst case scenario:</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"A" is transmitting</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"D" starts transmitting just before A's signal arrives</a:t>
            </a:r>
          </a:p>
        </p:txBody>
      </p:sp>
      <p:grpSp>
        <p:nvGrpSpPr>
          <p:cNvPr id="4" name="Group 9"/>
          <p:cNvGrpSpPr>
            <a:grpSpLocks/>
          </p:cNvGrpSpPr>
          <p:nvPr/>
        </p:nvGrpSpPr>
        <p:grpSpPr bwMode="auto">
          <a:xfrm>
            <a:off x="2895600" y="3962400"/>
            <a:ext cx="5486400" cy="304800"/>
            <a:chOff x="960" y="1680"/>
            <a:chExt cx="3456" cy="192"/>
          </a:xfrm>
        </p:grpSpPr>
        <p:sp>
          <p:nvSpPr>
            <p:cNvPr id="5" name="Line 8"/>
            <p:cNvSpPr>
              <a:spLocks noChangeShapeType="1"/>
            </p:cNvSpPr>
            <p:nvPr/>
          </p:nvSpPr>
          <p:spPr bwMode="auto">
            <a:xfrm>
              <a:off x="1152" y="1776"/>
              <a:ext cx="3120" cy="0"/>
            </a:xfrm>
            <a:prstGeom prst="line">
              <a:avLst/>
            </a:prstGeom>
            <a:noFill/>
            <a:ln w="38100">
              <a:solidFill>
                <a:schemeClr val="tx1"/>
              </a:solidFill>
              <a:round/>
              <a:headEnd/>
              <a:tailEnd/>
            </a:ln>
          </p:spPr>
          <p:txBody>
            <a:bodyPr/>
            <a:lstStyle/>
            <a:p>
              <a:endParaRPr lang="en-US"/>
            </a:p>
          </p:txBody>
        </p:sp>
        <p:sp>
          <p:nvSpPr>
            <p:cNvPr id="6" name="Rectangle 4"/>
            <p:cNvSpPr>
              <a:spLocks noChangeArrowheads="1"/>
            </p:cNvSpPr>
            <p:nvPr/>
          </p:nvSpPr>
          <p:spPr bwMode="auto">
            <a:xfrm>
              <a:off x="960" y="1680"/>
              <a:ext cx="336" cy="192"/>
            </a:xfrm>
            <a:prstGeom prst="rect">
              <a:avLst/>
            </a:prstGeom>
            <a:solidFill>
              <a:schemeClr val="accent1"/>
            </a:solidFill>
            <a:ln w="9525">
              <a:miter lim="800000"/>
              <a:headEnd/>
              <a:tailEnd/>
            </a:ln>
            <a:scene3d>
              <a:camera prst="legacyObliqueTopRight"/>
              <a:lightRig rig="legacyFlat3" dir="b"/>
            </a:scene3d>
            <a:sp3d extrusionH="227000" prstMaterial="legacyMatte">
              <a:bevelT w="13500" h="13500" prst="angle"/>
              <a:bevelB w="13500" h="13500" prst="angle"/>
              <a:extrusionClr>
                <a:schemeClr val="accent1"/>
              </a:extrusionClr>
            </a:sp3d>
          </p:spPr>
          <p:txBody>
            <a:bodyPr wrap="none" anchor="ctr">
              <a:flatTx/>
            </a:bodyPr>
            <a:lstStyle/>
            <a:p>
              <a:pPr algn="ctr"/>
              <a:r>
                <a:rPr lang="en-US"/>
                <a:t>A</a:t>
              </a:r>
            </a:p>
          </p:txBody>
        </p:sp>
        <p:sp>
          <p:nvSpPr>
            <p:cNvPr id="7" name="Rectangle 5"/>
            <p:cNvSpPr>
              <a:spLocks noChangeArrowheads="1"/>
            </p:cNvSpPr>
            <p:nvPr/>
          </p:nvSpPr>
          <p:spPr bwMode="auto">
            <a:xfrm>
              <a:off x="1968" y="1680"/>
              <a:ext cx="336" cy="192"/>
            </a:xfrm>
            <a:prstGeom prst="rect">
              <a:avLst/>
            </a:prstGeom>
            <a:solidFill>
              <a:schemeClr val="accent1"/>
            </a:solidFill>
            <a:ln w="9525">
              <a:miter lim="800000"/>
              <a:headEnd/>
              <a:tailEnd/>
            </a:ln>
            <a:scene3d>
              <a:camera prst="legacyObliqueTopRight"/>
              <a:lightRig rig="legacyFlat3" dir="b"/>
            </a:scene3d>
            <a:sp3d extrusionH="227000" prstMaterial="legacyMatte">
              <a:bevelT w="13500" h="13500" prst="angle"/>
              <a:bevelB w="13500" h="13500" prst="angle"/>
              <a:extrusionClr>
                <a:schemeClr val="accent1"/>
              </a:extrusionClr>
            </a:sp3d>
          </p:spPr>
          <p:txBody>
            <a:bodyPr wrap="none" anchor="ctr">
              <a:flatTx/>
            </a:bodyPr>
            <a:lstStyle/>
            <a:p>
              <a:pPr algn="ctr"/>
              <a:r>
                <a:rPr lang="en-US"/>
                <a:t>B</a:t>
              </a:r>
            </a:p>
          </p:txBody>
        </p:sp>
        <p:sp>
          <p:nvSpPr>
            <p:cNvPr id="8" name="Rectangle 6"/>
            <p:cNvSpPr>
              <a:spLocks noChangeArrowheads="1"/>
            </p:cNvSpPr>
            <p:nvPr/>
          </p:nvSpPr>
          <p:spPr bwMode="auto">
            <a:xfrm>
              <a:off x="2976" y="1680"/>
              <a:ext cx="336" cy="192"/>
            </a:xfrm>
            <a:prstGeom prst="rect">
              <a:avLst/>
            </a:prstGeom>
            <a:solidFill>
              <a:schemeClr val="accent1"/>
            </a:solidFill>
            <a:ln w="9525">
              <a:miter lim="800000"/>
              <a:headEnd/>
              <a:tailEnd/>
            </a:ln>
            <a:scene3d>
              <a:camera prst="legacyObliqueTopRight"/>
              <a:lightRig rig="legacyFlat3" dir="b"/>
            </a:scene3d>
            <a:sp3d extrusionH="227000" prstMaterial="legacyMatte">
              <a:bevelT w="13500" h="13500" prst="angle"/>
              <a:bevelB w="13500" h="13500" prst="angle"/>
              <a:extrusionClr>
                <a:schemeClr val="accent1"/>
              </a:extrusionClr>
            </a:sp3d>
          </p:spPr>
          <p:txBody>
            <a:bodyPr wrap="none" anchor="ctr">
              <a:flatTx/>
            </a:bodyPr>
            <a:lstStyle/>
            <a:p>
              <a:pPr algn="ctr"/>
              <a:r>
                <a:rPr lang="en-US"/>
                <a:t>C</a:t>
              </a:r>
            </a:p>
          </p:txBody>
        </p:sp>
        <p:sp>
          <p:nvSpPr>
            <p:cNvPr id="9" name="Rectangle 7"/>
            <p:cNvSpPr>
              <a:spLocks noChangeArrowheads="1"/>
            </p:cNvSpPr>
            <p:nvPr/>
          </p:nvSpPr>
          <p:spPr bwMode="auto">
            <a:xfrm>
              <a:off x="4080" y="1680"/>
              <a:ext cx="336" cy="192"/>
            </a:xfrm>
            <a:prstGeom prst="rect">
              <a:avLst/>
            </a:prstGeom>
            <a:solidFill>
              <a:schemeClr val="accent1"/>
            </a:solidFill>
            <a:ln w="9525">
              <a:miter lim="800000"/>
              <a:headEnd/>
              <a:tailEnd/>
            </a:ln>
            <a:scene3d>
              <a:camera prst="legacyObliqueTopRight"/>
              <a:lightRig rig="legacyFlat3" dir="b"/>
            </a:scene3d>
            <a:sp3d extrusionH="227000" prstMaterial="legacyMatte">
              <a:bevelT w="13500" h="13500" prst="angle"/>
              <a:bevelB w="13500" h="13500" prst="angle"/>
              <a:extrusionClr>
                <a:schemeClr val="accent1"/>
              </a:extrusionClr>
            </a:sp3d>
          </p:spPr>
          <p:txBody>
            <a:bodyPr wrap="none" anchor="ctr">
              <a:flatTx/>
            </a:bodyPr>
            <a:lstStyle/>
            <a:p>
              <a:pPr algn="ctr"/>
              <a:r>
                <a:rPr lang="en-US"/>
                <a:t>D</a:t>
              </a:r>
            </a:p>
          </p:txBody>
        </p:sp>
      </p:grpSp>
      <p:sp>
        <p:nvSpPr>
          <p:cNvPr id="10" name="Line 10"/>
          <p:cNvSpPr>
            <a:spLocks noChangeShapeType="1"/>
          </p:cNvSpPr>
          <p:nvPr/>
        </p:nvSpPr>
        <p:spPr bwMode="auto">
          <a:xfrm>
            <a:off x="3124200" y="4267200"/>
            <a:ext cx="0" cy="2133600"/>
          </a:xfrm>
          <a:prstGeom prst="line">
            <a:avLst/>
          </a:prstGeom>
          <a:noFill/>
          <a:ln w="9525">
            <a:solidFill>
              <a:schemeClr val="tx1"/>
            </a:solidFill>
            <a:round/>
            <a:headEnd/>
            <a:tailEnd/>
          </a:ln>
        </p:spPr>
        <p:txBody>
          <a:bodyPr/>
          <a:lstStyle/>
          <a:p>
            <a:endParaRPr lang="en-US"/>
          </a:p>
        </p:txBody>
      </p:sp>
      <p:sp>
        <p:nvSpPr>
          <p:cNvPr id="11" name="Line 11"/>
          <p:cNvSpPr>
            <a:spLocks noChangeShapeType="1"/>
          </p:cNvSpPr>
          <p:nvPr/>
        </p:nvSpPr>
        <p:spPr bwMode="auto">
          <a:xfrm>
            <a:off x="8153400" y="4267200"/>
            <a:ext cx="0" cy="2133600"/>
          </a:xfrm>
          <a:prstGeom prst="line">
            <a:avLst/>
          </a:prstGeom>
          <a:noFill/>
          <a:ln w="9525">
            <a:solidFill>
              <a:schemeClr val="tx1"/>
            </a:solidFill>
            <a:round/>
            <a:headEnd/>
            <a:tailEnd/>
          </a:ln>
        </p:spPr>
        <p:txBody>
          <a:bodyPr/>
          <a:lstStyle/>
          <a:p>
            <a:endParaRPr lang="en-US"/>
          </a:p>
        </p:txBody>
      </p:sp>
      <p:sp>
        <p:nvSpPr>
          <p:cNvPr id="12" name="AutoShape 12"/>
          <p:cNvSpPr>
            <a:spLocks noChangeArrowheads="1"/>
          </p:cNvSpPr>
          <p:nvPr/>
        </p:nvSpPr>
        <p:spPr bwMode="auto">
          <a:xfrm rot="-5400000">
            <a:off x="4953000" y="2590800"/>
            <a:ext cx="1371600" cy="5029200"/>
          </a:xfrm>
          <a:prstGeom prst="parallelogram">
            <a:avLst>
              <a:gd name="adj" fmla="val 32870"/>
            </a:avLst>
          </a:prstGeom>
          <a:solidFill>
            <a:srgbClr val="00FF00">
              <a:alpha val="39999"/>
            </a:srgbClr>
          </a:solidFill>
          <a:ln w="9525">
            <a:noFill/>
            <a:miter lim="800000"/>
            <a:headEnd/>
            <a:tailEnd/>
          </a:ln>
        </p:spPr>
        <p:txBody>
          <a:bodyPr wrap="none" anchor="ctr"/>
          <a:lstStyle/>
          <a:p>
            <a:endParaRPr lang="en-US"/>
          </a:p>
        </p:txBody>
      </p:sp>
      <p:sp>
        <p:nvSpPr>
          <p:cNvPr id="13" name="AutoShape 14"/>
          <p:cNvSpPr>
            <a:spLocks noChangeArrowheads="1"/>
          </p:cNvSpPr>
          <p:nvPr/>
        </p:nvSpPr>
        <p:spPr bwMode="auto">
          <a:xfrm rot="5400000" flipV="1">
            <a:off x="4991100" y="3009900"/>
            <a:ext cx="1295400" cy="5029200"/>
          </a:xfrm>
          <a:prstGeom prst="parallelogram">
            <a:avLst>
              <a:gd name="adj" fmla="val 36273"/>
            </a:avLst>
          </a:prstGeom>
          <a:solidFill>
            <a:srgbClr val="FFFF00">
              <a:alpha val="39999"/>
            </a:srgbClr>
          </a:solidFill>
          <a:ln w="9525" algn="ctr">
            <a:noFill/>
            <a:miter lim="800000"/>
            <a:headEnd/>
            <a:tailEnd/>
          </a:ln>
        </p:spPr>
        <p:txBody>
          <a:bodyPr wrap="none" anchor="ctr"/>
          <a:lstStyle/>
          <a:p>
            <a:endParaRPr lang="en-US"/>
          </a:p>
        </p:txBody>
      </p:sp>
      <p:grpSp>
        <p:nvGrpSpPr>
          <p:cNvPr id="14" name="Group 17"/>
          <p:cNvGrpSpPr>
            <a:grpSpLocks/>
          </p:cNvGrpSpPr>
          <p:nvPr/>
        </p:nvGrpSpPr>
        <p:grpSpPr bwMode="auto">
          <a:xfrm>
            <a:off x="0" y="4376737"/>
            <a:ext cx="2743201" cy="1200149"/>
            <a:chOff x="0" y="2757"/>
            <a:chExt cx="1728" cy="756"/>
          </a:xfrm>
        </p:grpSpPr>
        <p:sp>
          <p:nvSpPr>
            <p:cNvPr id="15" name="Line 15"/>
            <p:cNvSpPr>
              <a:spLocks noChangeShapeType="1"/>
            </p:cNvSpPr>
            <p:nvPr/>
          </p:nvSpPr>
          <p:spPr bwMode="auto">
            <a:xfrm>
              <a:off x="1728" y="2784"/>
              <a:ext cx="0" cy="576"/>
            </a:xfrm>
            <a:prstGeom prst="line">
              <a:avLst/>
            </a:prstGeom>
            <a:noFill/>
            <a:ln w="9525">
              <a:solidFill>
                <a:schemeClr val="tx1"/>
              </a:solidFill>
              <a:round/>
              <a:headEnd type="triangle" w="med" len="med"/>
              <a:tailEnd type="triangle" w="med" len="med"/>
            </a:ln>
          </p:spPr>
          <p:txBody>
            <a:bodyPr/>
            <a:lstStyle/>
            <a:p>
              <a:endParaRPr lang="en-US"/>
            </a:p>
          </p:txBody>
        </p:sp>
        <p:sp>
          <p:nvSpPr>
            <p:cNvPr id="16" name="Text Box 16"/>
            <p:cNvSpPr txBox="1">
              <a:spLocks noChangeArrowheads="1"/>
            </p:cNvSpPr>
            <p:nvPr/>
          </p:nvSpPr>
          <p:spPr bwMode="auto">
            <a:xfrm>
              <a:off x="0" y="2757"/>
              <a:ext cx="1668" cy="756"/>
            </a:xfrm>
            <a:prstGeom prst="rect">
              <a:avLst/>
            </a:prstGeom>
            <a:noFill/>
            <a:ln w="9525">
              <a:noFill/>
              <a:miter lim="800000"/>
              <a:headEnd/>
              <a:tailEnd/>
            </a:ln>
          </p:spPr>
          <p:txBody>
            <a:bodyPr wrap="none">
              <a:spAutoFit/>
            </a:bodyPr>
            <a:lstStyle/>
            <a:p>
              <a:r>
                <a:rPr lang="en-US" sz="2400" dirty="0"/>
                <a:t>Long enough to</a:t>
              </a:r>
              <a:br>
                <a:rPr lang="en-US" sz="2400" dirty="0"/>
              </a:br>
              <a:r>
                <a:rPr lang="en-US" sz="2400" dirty="0"/>
                <a:t>hear colliding signal</a:t>
              </a:r>
              <a:br>
                <a:rPr lang="en-US" sz="2400" dirty="0"/>
              </a:br>
              <a:r>
                <a:rPr lang="en-US" sz="2400" dirty="0"/>
                <a:t>from 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0"/>
            <a:ext cx="8305800" cy="4524315"/>
          </a:xfrm>
          <a:prstGeom prst="rect">
            <a:avLst/>
          </a:prstGeom>
        </p:spPr>
        <p:txBody>
          <a:bodyPr wrap="square">
            <a:spAutoFit/>
          </a:bodyPr>
          <a:lstStyle/>
          <a:p>
            <a:r>
              <a:rPr lang="en-US" sz="3200" dirty="0">
                <a:latin typeface="Times New Roman" pitchFamily="18" charset="0"/>
                <a:cs typeface="Times New Roman" pitchFamily="18" charset="0"/>
              </a:rPr>
              <a:t>we need a restriction on the frame size. Before sending the last bit of the frame, the sending station must detect a collision, if any, and abort the transmission.</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This is so because the station, once the entire frame is sent, does not keep a copy of</a:t>
            </a:r>
          </a:p>
          <a:p>
            <a:r>
              <a:rPr lang="en-US" sz="3200" dirty="0">
                <a:latin typeface="Times New Roman" pitchFamily="18" charset="0"/>
                <a:cs typeface="Times New Roman" pitchFamily="18" charset="0"/>
              </a:rPr>
              <a:t>the frame and does not monitor the line for collision detection.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143000" y="304800"/>
            <a:ext cx="6639638"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Flow diagram for the CSMA/CD</a:t>
            </a:r>
          </a:p>
        </p:txBody>
      </p:sp>
      <p:pic>
        <p:nvPicPr>
          <p:cNvPr id="5" name="Picture 7"/>
          <p:cNvPicPr>
            <a:picLocks noChangeAspect="1" noChangeArrowheads="1"/>
          </p:cNvPicPr>
          <p:nvPr/>
        </p:nvPicPr>
        <p:blipFill>
          <a:blip r:embed="rId2"/>
          <a:srcRect/>
          <a:stretch>
            <a:fillRect/>
          </a:stretch>
        </p:blipFill>
        <p:spPr bwMode="auto">
          <a:xfrm>
            <a:off x="1166812" y="1012825"/>
            <a:ext cx="6986588" cy="5639288"/>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5240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76200" y="381000"/>
            <a:ext cx="8712642" cy="1200329"/>
          </a:xfrm>
          <a:prstGeom prst="rect">
            <a:avLst/>
          </a:prstGeom>
          <a:noFill/>
          <a:ln w="9525">
            <a:noFill/>
            <a:miter lim="800000"/>
            <a:headEnd/>
            <a:tailEnd/>
          </a:ln>
          <a:effectLst/>
        </p:spPr>
        <p:txBody>
          <a:bodyPr wrap="none">
            <a:spAutoFit/>
          </a:bodyPr>
          <a:lstStyle/>
          <a:p>
            <a:pPr algn="ctr"/>
            <a:r>
              <a:rPr lang="en-US" sz="3600" b="1" baseline="0" dirty="0">
                <a:latin typeface="Times New Roman" pitchFamily="18" charset="0"/>
                <a:cs typeface="Times New Roman" pitchFamily="18" charset="0"/>
              </a:rPr>
              <a:t>Energy level during transmission, idleness, </a:t>
            </a:r>
          </a:p>
          <a:p>
            <a:pPr algn="ctr"/>
            <a:r>
              <a:rPr lang="en-US" sz="3600" b="1" baseline="0" dirty="0">
                <a:latin typeface="Times New Roman" pitchFamily="18" charset="0"/>
                <a:cs typeface="Times New Roman" pitchFamily="18" charset="0"/>
              </a:rPr>
              <a:t>or collision</a:t>
            </a:r>
          </a:p>
        </p:txBody>
      </p:sp>
      <p:pic>
        <p:nvPicPr>
          <p:cNvPr id="5" name="Picture 7"/>
          <p:cNvPicPr>
            <a:picLocks noChangeAspect="1" noChangeArrowheads="1"/>
          </p:cNvPicPr>
          <p:nvPr/>
        </p:nvPicPr>
        <p:blipFill>
          <a:blip r:embed="rId2"/>
          <a:srcRect/>
          <a:stretch>
            <a:fillRect/>
          </a:stretch>
        </p:blipFill>
        <p:spPr bwMode="auto">
          <a:xfrm>
            <a:off x="340580" y="2378075"/>
            <a:ext cx="8422420" cy="2651125"/>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0"/>
            <a:ext cx="8001000" cy="4524315"/>
          </a:xfrm>
          <a:prstGeom prst="rect">
            <a:avLst/>
          </a:prstGeom>
        </p:spPr>
        <p:txBody>
          <a:bodyPr wrap="square">
            <a:spAutoFit/>
          </a:bodyPr>
          <a:lstStyle/>
          <a:p>
            <a:pPr>
              <a:buFont typeface="Wingdings" pitchFamily="2" charset="2"/>
              <a:buChar char="§"/>
            </a:pPr>
            <a:r>
              <a:rPr lang="en-US" sz="3200" dirty="0">
                <a:latin typeface="Times New Roman" pitchFamily="18" charset="0"/>
                <a:cs typeface="Times New Roman" pitchFamily="18" charset="0"/>
              </a:rPr>
              <a:t> The level of energy in a channel can have</a:t>
            </a:r>
          </a:p>
          <a:p>
            <a:r>
              <a:rPr lang="en-US" sz="3200" dirty="0">
                <a:latin typeface="Times New Roman" pitchFamily="18" charset="0"/>
                <a:cs typeface="Times New Roman" pitchFamily="18" charset="0"/>
              </a:rPr>
              <a:t>   three values: zero, normal, and abnormal.</a:t>
            </a:r>
          </a:p>
          <a:p>
            <a:endParaRPr lang="en-US" sz="3200" dirty="0">
              <a:latin typeface="Times New Roman" pitchFamily="18" charset="0"/>
              <a:cs typeface="Times New Roman" pitchFamily="18" charset="0"/>
            </a:endParaRPr>
          </a:p>
          <a:p>
            <a:pPr>
              <a:buFont typeface="Wingdings" pitchFamily="2" charset="2"/>
              <a:buChar char="§"/>
            </a:pPr>
            <a:r>
              <a:rPr lang="en-US" sz="3200" dirty="0">
                <a:latin typeface="Times New Roman" pitchFamily="18" charset="0"/>
                <a:cs typeface="Times New Roman" pitchFamily="18" charset="0"/>
              </a:rPr>
              <a:t> S</a:t>
            </a:r>
            <a:r>
              <a:rPr lang="en-US" sz="3200" dirty="0"/>
              <a:t>tation that has a frame to send or is sending </a:t>
            </a:r>
          </a:p>
          <a:p>
            <a:r>
              <a:rPr lang="en-US" sz="3200" dirty="0"/>
              <a:t>   a frame needs to monitor the energy level to </a:t>
            </a:r>
          </a:p>
          <a:p>
            <a:r>
              <a:rPr lang="en-US" sz="3200" dirty="0"/>
              <a:t>   determine if the channel is idle, busy, or in </a:t>
            </a:r>
          </a:p>
          <a:p>
            <a:r>
              <a:rPr lang="en-US" sz="3200" dirty="0"/>
              <a:t>   collision mode.</a:t>
            </a:r>
            <a:endParaRPr lang="en-US" sz="3200" dirty="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9877"/>
            <a:ext cx="8382000" cy="5509200"/>
          </a:xfrm>
          <a:prstGeom prst="rect">
            <a:avLst/>
          </a:prstGeom>
        </p:spPr>
        <p:txBody>
          <a:bodyPr wrap="square">
            <a:spAutoFit/>
          </a:bodyPr>
          <a:lstStyle/>
          <a:p>
            <a:r>
              <a:rPr lang="en-US" sz="3200" dirty="0">
                <a:latin typeface="Times New Roman" pitchFamily="18" charset="0"/>
                <a:cs typeface="Times New Roman" pitchFamily="18" charset="0"/>
              </a:rPr>
              <a:t>When there is no collision, the station receives one signal: its own signal.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When there is a collision, the station receives two signals: its own signal and the signal transmitted by a second station.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To distinguish between these two cases, the received signals in these two cases must be significantly different.</a:t>
            </a:r>
          </a:p>
          <a:p>
            <a:r>
              <a:rPr lang="en-US" sz="3200" dirty="0">
                <a:latin typeface="Times New Roman" pitchFamily="18" charset="0"/>
                <a:cs typeface="Times New Roman" pitchFamily="18" charset="0"/>
              </a:rPr>
              <a:t> </a:t>
            </a:r>
          </a:p>
        </p:txBody>
      </p:sp>
      <p:sp>
        <p:nvSpPr>
          <p:cNvPr id="3" name="Text Box 4"/>
          <p:cNvSpPr txBox="1">
            <a:spLocks noChangeArrowheads="1"/>
          </p:cNvSpPr>
          <p:nvPr/>
        </p:nvSpPr>
        <p:spPr bwMode="auto">
          <a:xfrm>
            <a:off x="3124200" y="152400"/>
            <a:ext cx="2339102"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CSMA/CA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533400"/>
            <a:ext cx="8077200" cy="4524315"/>
          </a:xfrm>
          <a:prstGeom prst="rect">
            <a:avLst/>
          </a:prstGeom>
        </p:spPr>
        <p:txBody>
          <a:bodyPr wrap="square">
            <a:spAutoFit/>
          </a:bodyPr>
          <a:lstStyle/>
          <a:p>
            <a:r>
              <a:rPr lang="en-US" sz="3200" dirty="0">
                <a:latin typeface="Times New Roman" pitchFamily="18" charset="0"/>
                <a:cs typeface="Times New Roman" pitchFamily="18" charset="0"/>
              </a:rPr>
              <a:t>In other words, the signal from the second station needs to add a significant amount of energy to the one created by the first station.</a:t>
            </a:r>
          </a:p>
          <a:p>
            <a:endParaRPr lang="en-US" sz="3200" dirty="0">
              <a:latin typeface="Times New Roman" pitchFamily="18" charset="0"/>
              <a:cs typeface="Times New Roman" pitchFamily="18" charset="0"/>
            </a:endParaRPr>
          </a:p>
          <a:p>
            <a:r>
              <a:rPr lang="en-US" sz="3200" dirty="0"/>
              <a:t>In a wireless network, much of the sent energy is lost in transmission. The received signal has very little energy. Therefore, a collision may add only 5 to 10 percent additional energy. This is not useful for effective collision detection.</a:t>
            </a:r>
            <a:endParaRPr lang="en-US" sz="3200"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1001"/>
            <a:ext cx="8382000" cy="6001643"/>
          </a:xfrm>
          <a:prstGeom prst="rect">
            <a:avLst/>
          </a:prstGeom>
        </p:spPr>
        <p:txBody>
          <a:bodyPr wrap="square">
            <a:spAutoFit/>
          </a:bodyPr>
          <a:lstStyle/>
          <a:p>
            <a:r>
              <a:rPr lang="en-US" sz="3200" dirty="0">
                <a:latin typeface="Times New Roman" pitchFamily="18" charset="0"/>
                <a:cs typeface="Times New Roman" pitchFamily="18" charset="0"/>
              </a:rPr>
              <a:t>We need to avoid collisions on wireless networks because they cannot be detected.</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Carrier sense multiple access with collision avoidance </a:t>
            </a:r>
            <a:r>
              <a:rPr lang="en-US" sz="3200" b="1" i="1" dirty="0">
                <a:latin typeface="Times New Roman" pitchFamily="18" charset="0"/>
                <a:cs typeface="Times New Roman" pitchFamily="18" charset="0"/>
              </a:rPr>
              <a:t>(CSMA/CA) </a:t>
            </a:r>
            <a:r>
              <a:rPr lang="en-US" sz="3200" i="1" dirty="0">
                <a:latin typeface="Times New Roman" pitchFamily="18" charset="0"/>
                <a:cs typeface="Times New Roman" pitchFamily="18" charset="0"/>
              </a:rPr>
              <a:t>was invented for this</a:t>
            </a:r>
          </a:p>
          <a:p>
            <a:r>
              <a:rPr lang="en-US" sz="3200" dirty="0">
                <a:latin typeface="Times New Roman" pitchFamily="18" charset="0"/>
                <a:cs typeface="Times New Roman" pitchFamily="18" charset="0"/>
              </a:rPr>
              <a:t>network.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Collisions are avoided through the use of CSMA/CA's three strategies: </a:t>
            </a:r>
          </a:p>
          <a:p>
            <a:pPr marL="514350" indent="-514350">
              <a:buAutoNum type="arabicPeriod"/>
            </a:pPr>
            <a:r>
              <a:rPr lang="en-US" sz="3200" dirty="0">
                <a:latin typeface="Times New Roman" pitchFamily="18" charset="0"/>
                <a:cs typeface="Times New Roman" pitchFamily="18" charset="0"/>
              </a:rPr>
              <a:t>The interframe space, </a:t>
            </a:r>
          </a:p>
          <a:p>
            <a:pPr marL="514350" indent="-514350">
              <a:buAutoNum type="arabicPeriod"/>
            </a:pPr>
            <a:r>
              <a:rPr lang="en-US" sz="3200" dirty="0">
                <a:latin typeface="Times New Roman" pitchFamily="18" charset="0"/>
                <a:cs typeface="Times New Roman" pitchFamily="18" charset="0"/>
              </a:rPr>
              <a:t>The contention window, and </a:t>
            </a:r>
          </a:p>
          <a:p>
            <a:pPr marL="514350" indent="-514350">
              <a:buAutoNum type="arabicPeriod"/>
            </a:pPr>
            <a:r>
              <a:rPr lang="en-US" sz="3200" dirty="0">
                <a:latin typeface="Times New Roman" pitchFamily="18" charset="0"/>
                <a:cs typeface="Times New Roman" pitchFamily="18" charset="0"/>
              </a:rPr>
              <a:t>Acknowledgments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104369" y="304800"/>
            <a:ext cx="4382610"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Timing in CSMA/CA</a:t>
            </a:r>
          </a:p>
        </p:txBody>
      </p:sp>
      <p:pic>
        <p:nvPicPr>
          <p:cNvPr id="5" name="Picture 7"/>
          <p:cNvPicPr>
            <a:picLocks noChangeAspect="1" noChangeArrowheads="1"/>
          </p:cNvPicPr>
          <p:nvPr/>
        </p:nvPicPr>
        <p:blipFill>
          <a:blip r:embed="rId2"/>
          <a:srcRect/>
          <a:stretch>
            <a:fillRect/>
          </a:stretch>
        </p:blipFill>
        <p:spPr bwMode="auto">
          <a:xfrm>
            <a:off x="252413" y="2438400"/>
            <a:ext cx="8510587" cy="220980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8153400" cy="4524315"/>
          </a:xfrm>
          <a:prstGeom prst="rect">
            <a:avLst/>
          </a:prstGeom>
        </p:spPr>
        <p:txBody>
          <a:bodyPr wrap="square">
            <a:spAutoFit/>
          </a:bodyPr>
          <a:lstStyle/>
          <a:p>
            <a:r>
              <a:rPr lang="en-US" sz="3200" b="1" dirty="0">
                <a:latin typeface="Times New Roman" pitchFamily="18" charset="0"/>
                <a:cs typeface="Times New Roman" pitchFamily="18" charset="0"/>
              </a:rPr>
              <a:t>Interframe Space (IFS):</a:t>
            </a:r>
          </a:p>
          <a:p>
            <a:r>
              <a:rPr lang="en-US" sz="3200" dirty="0">
                <a:latin typeface="Times New Roman" pitchFamily="18" charset="0"/>
                <a:cs typeface="Times New Roman" pitchFamily="18" charset="0"/>
              </a:rPr>
              <a:t>First, collisions are avoided by deferring transmission even if the channel is found idle.</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When an idle channel is found, the station does not send immediately. It waits for a period of time called the interframe space or IFS.</a:t>
            </a:r>
          </a:p>
          <a:p>
            <a:endParaRPr lang="en-US" sz="3200" dirty="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228600" y="609600"/>
            <a:ext cx="8915400" cy="6093976"/>
          </a:xfrm>
          <a:prstGeom prst="rect">
            <a:avLst/>
          </a:prstGeom>
          <a:solidFill>
            <a:schemeClr val="bg1"/>
          </a:solidFill>
          <a:ln w="76200" algn="ctr">
            <a:noFill/>
            <a:miter lim="800000"/>
            <a:headEnd/>
            <a:tailEnd/>
          </a:ln>
          <a:effectLst/>
        </p:spPr>
        <p:txBody>
          <a:bodyPr wrap="square">
            <a:spAutoFit/>
          </a:bodyPr>
          <a:lstStyle/>
          <a:p>
            <a:r>
              <a:rPr lang="en-US" sz="3000" i="0" baseline="0" dirty="0">
                <a:latin typeface="Times New Roman" pitchFamily="18" charset="0"/>
                <a:cs typeface="Times New Roman" pitchFamily="18" charset="0"/>
              </a:rPr>
              <a:t>In CSMA/CA, if the station finds the channel busy, it does not restart the timer of the contention window; it stops the timer and restarts it when the channel becomes idle.</a:t>
            </a:r>
          </a:p>
          <a:p>
            <a:endParaRPr lang="en-US" sz="3000" b="1" dirty="0">
              <a:latin typeface="Times New Roman" pitchFamily="18" charset="0"/>
              <a:cs typeface="Times New Roman" pitchFamily="18" charset="0"/>
            </a:endParaRPr>
          </a:p>
          <a:p>
            <a:r>
              <a:rPr lang="en-US" sz="3000" b="1" dirty="0"/>
              <a:t>Acknowledgment :</a:t>
            </a:r>
          </a:p>
          <a:p>
            <a:endParaRPr lang="en-US" sz="3000" b="1" dirty="0"/>
          </a:p>
          <a:p>
            <a:r>
              <a:rPr lang="en-US" sz="3000" dirty="0">
                <a:latin typeface="Times New Roman" pitchFamily="18" charset="0"/>
                <a:cs typeface="Times New Roman" pitchFamily="18" charset="0"/>
              </a:rPr>
              <a:t>With all these precautions, there still may be a collision resulting in destroyed data. In addition, the data may be corrupted during the transmission. The positive acknowledgment and the time-out timer can help guarantee that the receiver has received the</a:t>
            </a:r>
          </a:p>
          <a:p>
            <a:r>
              <a:rPr lang="en-US" sz="3000" dirty="0">
                <a:latin typeface="Times New Roman" pitchFamily="18" charset="0"/>
                <a:cs typeface="Times New Roman" pitchFamily="18" charset="0"/>
              </a:rPr>
              <a:t>Frame.</a:t>
            </a:r>
            <a:endParaRPr lang="en-US" sz="3000" i="0" baseline="0" dirty="0">
              <a:latin typeface="Times New Roman" pitchFamily="18" charset="0"/>
              <a:cs typeface="Times New Roman" pitchFamily="18" charset="0"/>
            </a:endParaRPr>
          </a:p>
        </p:txBody>
      </p:sp>
      <p:sp>
        <p:nvSpPr>
          <p:cNvPr id="3" name="Rectangle 2"/>
          <p:cNvSpPr/>
          <p:nvPr/>
        </p:nvSpPr>
        <p:spPr>
          <a:xfrm>
            <a:off x="304800" y="0"/>
            <a:ext cx="4198585" cy="646331"/>
          </a:xfrm>
          <a:prstGeom prst="rect">
            <a:avLst/>
          </a:prstGeom>
        </p:spPr>
        <p:txBody>
          <a:bodyPr wrap="none">
            <a:spAutoFit/>
          </a:bodyPr>
          <a:lstStyle/>
          <a:p>
            <a:r>
              <a:rPr lang="en-US" sz="3600" b="1" dirty="0">
                <a:latin typeface="Times New Roman" pitchFamily="18" charset="0"/>
                <a:cs typeface="Times New Roman" pitchFamily="18" charset="0"/>
              </a:rPr>
              <a:t>Contention window:</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482731" y="304800"/>
            <a:ext cx="5908669"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Flow diagram for CSMA/CA</a:t>
            </a:r>
          </a:p>
        </p:txBody>
      </p:sp>
      <p:pic>
        <p:nvPicPr>
          <p:cNvPr id="5" name="Picture 7"/>
          <p:cNvPicPr>
            <a:picLocks noChangeAspect="1" noChangeArrowheads="1"/>
          </p:cNvPicPr>
          <p:nvPr/>
        </p:nvPicPr>
        <p:blipFill>
          <a:blip r:embed="rId2"/>
          <a:srcRect/>
          <a:stretch>
            <a:fillRect/>
          </a:stretch>
        </p:blipFill>
        <p:spPr bwMode="auto">
          <a:xfrm>
            <a:off x="381000" y="1143000"/>
            <a:ext cx="8153400" cy="562009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905000" y="304800"/>
            <a:ext cx="5395451" cy="646331"/>
          </a:xfrm>
          <a:prstGeom prst="rect">
            <a:avLst/>
          </a:prstGeom>
          <a:noFill/>
          <a:ln w="9525">
            <a:noFill/>
            <a:miter lim="800000"/>
            <a:headEnd/>
            <a:tailEnd/>
          </a:ln>
          <a:effectLst/>
        </p:spPr>
        <p:txBody>
          <a:bodyPr wrap="none">
            <a:spAutoFit/>
          </a:bodyPr>
          <a:lstStyle/>
          <a:p>
            <a:r>
              <a:rPr lang="en-US" sz="36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STANDARD ETHERNET</a:t>
            </a:r>
          </a:p>
        </p:txBody>
      </p:sp>
      <p:sp>
        <p:nvSpPr>
          <p:cNvPr id="3" name="Rectangle 5"/>
          <p:cNvSpPr>
            <a:spLocks noChangeArrowheads="1"/>
          </p:cNvSpPr>
          <p:nvPr/>
        </p:nvSpPr>
        <p:spPr bwMode="auto">
          <a:xfrm>
            <a:off x="228600" y="1499582"/>
            <a:ext cx="8534400" cy="1569660"/>
          </a:xfrm>
          <a:prstGeom prst="rect">
            <a:avLst/>
          </a:prstGeom>
          <a:noFill/>
          <a:ln w="9525">
            <a:noFill/>
            <a:miter lim="800000"/>
            <a:headEnd/>
            <a:tailEnd/>
          </a:ln>
          <a:effectLst/>
        </p:spPr>
        <p:txBody>
          <a:bodyPr wrap="square" anchor="ctr">
            <a:spAutoFit/>
          </a:bodyPr>
          <a:lstStyle/>
          <a:p>
            <a:pPr algn="just" eaLnBrk="1" hangingPunct="1"/>
            <a:r>
              <a:rPr lang="en-US" sz="3200" dirty="0">
                <a:latin typeface="Times New Roman" pitchFamily="18" charset="0"/>
              </a:rPr>
              <a:t>The original Ethernet was created in 1976 at Xerox’s Palo Alto Research Center (PARC). Since then, it has gone through four generations.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593252" y="762000"/>
            <a:ext cx="794114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Ethernet evolution through four generations</a:t>
            </a:r>
          </a:p>
        </p:txBody>
      </p:sp>
      <p:pic>
        <p:nvPicPr>
          <p:cNvPr id="5" name="Picture 6"/>
          <p:cNvPicPr>
            <a:picLocks noChangeAspect="1" noChangeArrowheads="1"/>
          </p:cNvPicPr>
          <p:nvPr/>
        </p:nvPicPr>
        <p:blipFill>
          <a:blip r:embed="rId2"/>
          <a:srcRect/>
          <a:stretch>
            <a:fillRect/>
          </a:stretch>
        </p:blipFill>
        <p:spPr bwMode="auto">
          <a:xfrm>
            <a:off x="530225" y="2286000"/>
            <a:ext cx="8126562" cy="2590800"/>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124200" y="457200"/>
            <a:ext cx="3736920"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802.3 MAC frame</a:t>
            </a:r>
          </a:p>
        </p:txBody>
      </p:sp>
      <p:pic>
        <p:nvPicPr>
          <p:cNvPr id="3" name="Picture 6"/>
          <p:cNvPicPr>
            <a:picLocks noChangeAspect="1" noChangeArrowheads="1"/>
          </p:cNvPicPr>
          <p:nvPr/>
        </p:nvPicPr>
        <p:blipFill>
          <a:blip r:embed="rId2"/>
          <a:srcRect/>
          <a:stretch>
            <a:fillRect/>
          </a:stretch>
        </p:blipFill>
        <p:spPr bwMode="auto">
          <a:xfrm>
            <a:off x="169863" y="2290763"/>
            <a:ext cx="8821737" cy="2586037"/>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0"/>
            <a:ext cx="8458200" cy="6986528"/>
          </a:xfrm>
          <a:prstGeom prst="rect">
            <a:avLst/>
          </a:prstGeom>
        </p:spPr>
        <p:txBody>
          <a:bodyPr wrap="square">
            <a:spAutoFit/>
          </a:bodyPr>
          <a:lstStyle/>
          <a:p>
            <a:r>
              <a:rPr lang="en-IN" sz="3200" b="1" dirty="0">
                <a:latin typeface="Times New Roman" panose="02020603050405020304" pitchFamily="18" charset="0"/>
                <a:cs typeface="Times New Roman" panose="02020603050405020304" pitchFamily="18" charset="0"/>
              </a:rPr>
              <a:t>Preamble: - </a:t>
            </a:r>
            <a:r>
              <a:rPr lang="en-IN" sz="3200" dirty="0">
                <a:latin typeface="Times New Roman" panose="02020603050405020304" pitchFamily="18" charset="0"/>
                <a:cs typeface="Times New Roman" panose="02020603050405020304" pitchFamily="18" charset="0"/>
              </a:rPr>
              <a:t>That alerts the receiving system to the coming frame and enables it to synchronize its input timing. </a:t>
            </a:r>
          </a:p>
          <a:p>
            <a:r>
              <a:rPr lang="en-IN" sz="3200" dirty="0">
                <a:latin typeface="Times New Roman" panose="02020603050405020304" pitchFamily="18" charset="0"/>
                <a:cs typeface="Times New Roman" panose="02020603050405020304" pitchFamily="18" charset="0"/>
              </a:rPr>
              <a:t>The pattern provides only an alert and a timing pulse. </a:t>
            </a:r>
          </a:p>
          <a:p>
            <a:r>
              <a:rPr lang="en-IN" sz="3200" dirty="0">
                <a:latin typeface="Times New Roman" panose="02020603050405020304" pitchFamily="18" charset="0"/>
                <a:cs typeface="Times New Roman" panose="02020603050405020304" pitchFamily="18" charset="0"/>
              </a:rPr>
              <a:t>The preamble is actually added at the physical layer and is not (formally) part of the frame. </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Start frame delimiter (SFD). </a:t>
            </a:r>
            <a:r>
              <a:rPr lang="en-IN" sz="3200" dirty="0">
                <a:latin typeface="Times New Roman" panose="02020603050405020304" pitchFamily="18" charset="0"/>
                <a:cs typeface="Times New Roman" panose="02020603050405020304" pitchFamily="18" charset="0"/>
              </a:rPr>
              <a:t>The second field   (l byte: 10101011) signals the beginning of the frame. The SFD warns the station or stations that this is the last chance for synchronization. The last 2 bits is 11 and alerts the receiver that the next field is the destination address.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0"/>
            <a:ext cx="8382000" cy="3046988"/>
          </a:xfrm>
          <a:prstGeom prst="rect">
            <a:avLst/>
          </a:prstGeom>
        </p:spPr>
        <p:txBody>
          <a:bodyPr wrap="square">
            <a:spAutoFit/>
          </a:bodyPr>
          <a:lstStyle/>
          <a:p>
            <a:r>
              <a:rPr lang="en-IN" sz="3200" b="1" dirty="0">
                <a:latin typeface="Times New Roman" panose="02020603050405020304" pitchFamily="18" charset="0"/>
                <a:cs typeface="Times New Roman" panose="02020603050405020304" pitchFamily="18" charset="0"/>
              </a:rPr>
              <a:t>Length or type. </a:t>
            </a:r>
            <a:r>
              <a:rPr lang="en-IN" sz="3200" dirty="0">
                <a:latin typeface="Times New Roman" panose="02020603050405020304" pitchFamily="18" charset="0"/>
                <a:cs typeface="Times New Roman" panose="02020603050405020304" pitchFamily="18" charset="0"/>
              </a:rPr>
              <a:t>The original Ethernet used this field as the type field to define the upper-layer protocol using the MAC frame. </a:t>
            </a: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The IEEE standard used it as the length field to define the number of bytes in the data field.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447800" y="752445"/>
            <a:ext cx="5936240"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Minimum and maximum lengths</a:t>
            </a:r>
          </a:p>
        </p:txBody>
      </p:sp>
      <p:pic>
        <p:nvPicPr>
          <p:cNvPr id="5" name="Picture 6"/>
          <p:cNvPicPr>
            <a:picLocks noChangeAspect="1" noChangeArrowheads="1"/>
          </p:cNvPicPr>
          <p:nvPr/>
        </p:nvPicPr>
        <p:blipFill>
          <a:blip r:embed="rId2"/>
          <a:srcRect/>
          <a:stretch>
            <a:fillRect/>
          </a:stretch>
        </p:blipFill>
        <p:spPr bwMode="auto">
          <a:xfrm>
            <a:off x="228600" y="2433638"/>
            <a:ext cx="8574088" cy="2671762"/>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9050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556430" y="762000"/>
            <a:ext cx="5911170" cy="1077218"/>
          </a:xfrm>
          <a:prstGeom prst="rect">
            <a:avLst/>
          </a:prstGeom>
          <a:noFill/>
          <a:ln w="9525">
            <a:noFill/>
            <a:miter lim="800000"/>
            <a:headEnd/>
            <a:tailEnd/>
          </a:ln>
          <a:effectLst/>
        </p:spPr>
        <p:txBody>
          <a:bodyPr wrap="none">
            <a:spAutoFit/>
          </a:bodyPr>
          <a:lstStyle/>
          <a:p>
            <a:pPr algn="ctr"/>
            <a:r>
              <a:rPr lang="en-US" sz="3200" b="1" dirty="0">
                <a:latin typeface="Times New Roman" pitchFamily="18" charset="0"/>
              </a:rPr>
              <a:t>Example of an Ethernet address </a:t>
            </a:r>
          </a:p>
          <a:p>
            <a:pPr algn="ctr"/>
            <a:r>
              <a:rPr lang="en-US" sz="3200" b="1" dirty="0">
                <a:latin typeface="Times New Roman" pitchFamily="18" charset="0"/>
              </a:rPr>
              <a:t>in hexadecimal notation</a:t>
            </a:r>
          </a:p>
        </p:txBody>
      </p:sp>
      <p:pic>
        <p:nvPicPr>
          <p:cNvPr id="5" name="Picture 6"/>
          <p:cNvPicPr>
            <a:picLocks noChangeAspect="1" noChangeArrowheads="1"/>
          </p:cNvPicPr>
          <p:nvPr/>
        </p:nvPicPr>
        <p:blipFill>
          <a:blip r:embed="rId2"/>
          <a:srcRect/>
          <a:stretch>
            <a:fillRect/>
          </a:stretch>
        </p:blipFill>
        <p:spPr bwMode="auto">
          <a:xfrm>
            <a:off x="1531938" y="2679700"/>
            <a:ext cx="6078537" cy="1497013"/>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28600" y="685800"/>
            <a:ext cx="8744702"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Physical Layer: Categories of Standard Ethernet</a:t>
            </a:r>
          </a:p>
        </p:txBody>
      </p:sp>
      <p:pic>
        <p:nvPicPr>
          <p:cNvPr id="5" name="Picture 6"/>
          <p:cNvPicPr>
            <a:picLocks noChangeAspect="1" noChangeArrowheads="1"/>
          </p:cNvPicPr>
          <p:nvPr/>
        </p:nvPicPr>
        <p:blipFill>
          <a:blip r:embed="rId2"/>
          <a:srcRect/>
          <a:stretch>
            <a:fillRect/>
          </a:stretch>
        </p:blipFill>
        <p:spPr bwMode="auto">
          <a:xfrm>
            <a:off x="344440" y="2133600"/>
            <a:ext cx="8266160" cy="4335370"/>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28600" y="685800"/>
            <a:ext cx="8853706"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Encoding in a Standard Ethernet implementation</a:t>
            </a:r>
          </a:p>
        </p:txBody>
      </p:sp>
      <p:pic>
        <p:nvPicPr>
          <p:cNvPr id="5" name="Picture 6"/>
          <p:cNvPicPr>
            <a:picLocks noChangeAspect="1" noChangeArrowheads="1"/>
          </p:cNvPicPr>
          <p:nvPr/>
        </p:nvPicPr>
        <p:blipFill>
          <a:blip r:embed="rId2"/>
          <a:srcRect/>
          <a:stretch>
            <a:fillRect/>
          </a:stretch>
        </p:blipFill>
        <p:spPr bwMode="auto">
          <a:xfrm>
            <a:off x="785813" y="1905000"/>
            <a:ext cx="7672387" cy="3410501"/>
          </a:xfrm>
          <a:prstGeom prst="rect">
            <a:avLst/>
          </a:prstGeom>
          <a:noFill/>
          <a:ln w="9525">
            <a:noFill/>
            <a:miter lim="800000"/>
            <a:headEnd/>
            <a:tailEnd/>
          </a:ln>
          <a:effectLst/>
        </p:spPr>
      </p:pic>
      <p:sp>
        <p:nvSpPr>
          <p:cNvPr id="6" name="Rectangle 5"/>
          <p:cNvSpPr/>
          <p:nvPr/>
        </p:nvSpPr>
        <p:spPr>
          <a:xfrm>
            <a:off x="304800" y="5791200"/>
            <a:ext cx="8458200" cy="1077218"/>
          </a:xfrm>
          <a:prstGeom prst="rect">
            <a:avLst/>
          </a:prstGeom>
        </p:spPr>
        <p:txBody>
          <a:bodyPr wrap="square">
            <a:spAutoFit/>
          </a:bodyPr>
          <a:lstStyle/>
          <a:p>
            <a:r>
              <a:rPr lang="en-US" sz="3200" dirty="0">
                <a:latin typeface="Times New Roman" pitchFamily="18" charset="0"/>
                <a:cs typeface="Times New Roman" pitchFamily="18" charset="0"/>
              </a:rPr>
              <a:t>All standard implementations use digital signaling at 10 Mbps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917110" y="609600"/>
            <a:ext cx="5019323"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10Base5 implementation</a:t>
            </a:r>
          </a:p>
        </p:txBody>
      </p:sp>
      <p:pic>
        <p:nvPicPr>
          <p:cNvPr id="5" name="Picture 6"/>
          <p:cNvPicPr>
            <a:picLocks noChangeAspect="1" noChangeArrowheads="1"/>
          </p:cNvPicPr>
          <p:nvPr/>
        </p:nvPicPr>
        <p:blipFill>
          <a:blip r:embed="rId2"/>
          <a:srcRect/>
          <a:stretch>
            <a:fillRect/>
          </a:stretch>
        </p:blipFill>
        <p:spPr bwMode="auto">
          <a:xfrm>
            <a:off x="152400" y="2590800"/>
            <a:ext cx="8720138" cy="2286000"/>
          </a:xfrm>
          <a:prstGeom prst="rect">
            <a:avLst/>
          </a:prstGeom>
          <a:noFill/>
          <a:ln w="9525">
            <a:noFill/>
            <a:miter lim="800000"/>
            <a:headEnd/>
            <a:tailEnd/>
          </a:ln>
          <a:effectLst/>
        </p:spPr>
      </p:pic>
      <p:sp>
        <p:nvSpPr>
          <p:cNvPr id="6" name="Text Box 4"/>
          <p:cNvSpPr txBox="1">
            <a:spLocks noChangeArrowheads="1"/>
          </p:cNvSpPr>
          <p:nvPr/>
        </p:nvSpPr>
        <p:spPr bwMode="auto">
          <a:xfrm>
            <a:off x="838200" y="1600200"/>
            <a:ext cx="6277681" cy="584775"/>
          </a:xfrm>
          <a:prstGeom prst="rect">
            <a:avLst/>
          </a:prstGeom>
          <a:noFill/>
          <a:ln w="9525">
            <a:noFill/>
            <a:miter lim="800000"/>
            <a:headEnd/>
            <a:tailEnd/>
          </a:ln>
          <a:effectLst/>
        </p:spPr>
        <p:txBody>
          <a:bodyPr wrap="none">
            <a:spAutoFit/>
          </a:bodyPr>
          <a:lstStyle/>
          <a:p>
            <a:pPr>
              <a:buFont typeface="Wingdings" pitchFamily="2" charset="2"/>
              <a:buChar char="§"/>
            </a:pPr>
            <a:r>
              <a:rPr lang="en-US" sz="3200" dirty="0">
                <a:latin typeface="Times New Roman" pitchFamily="18" charset="0"/>
              </a:rPr>
              <a:t> 10Base5 ,thick Ethernet or thicknet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920086" y="685800"/>
            <a:ext cx="4480714"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10Base2 implementation</a:t>
            </a:r>
          </a:p>
        </p:txBody>
      </p:sp>
      <p:pic>
        <p:nvPicPr>
          <p:cNvPr id="5" name="Picture 6"/>
          <p:cNvPicPr>
            <a:picLocks noChangeAspect="1" noChangeArrowheads="1"/>
          </p:cNvPicPr>
          <p:nvPr/>
        </p:nvPicPr>
        <p:blipFill>
          <a:blip r:embed="rId2"/>
          <a:srcRect/>
          <a:stretch>
            <a:fillRect/>
          </a:stretch>
        </p:blipFill>
        <p:spPr bwMode="auto">
          <a:xfrm>
            <a:off x="172803" y="2214563"/>
            <a:ext cx="8209198" cy="3424237"/>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586800"/>
            <a:ext cx="8153400" cy="5509200"/>
          </a:xfrm>
          <a:prstGeom prst="rect">
            <a:avLst/>
          </a:prstGeom>
        </p:spPr>
        <p:txBody>
          <a:bodyPr wrap="square">
            <a:spAutoFit/>
          </a:bodyPr>
          <a:lstStyle/>
          <a:p>
            <a:pPr>
              <a:buFont typeface="Wingdings" pitchFamily="2" charset="2"/>
              <a:buChar char="§"/>
            </a:pPr>
            <a:r>
              <a:rPr lang="en-US" sz="3200" dirty="0">
                <a:latin typeface="Times New Roman" pitchFamily="18" charset="0"/>
                <a:cs typeface="Times New Roman" pitchFamily="18" charset="0"/>
              </a:rPr>
              <a:t> Cheapernet.</a:t>
            </a:r>
          </a:p>
          <a:p>
            <a:pPr>
              <a:buFont typeface="Wingdings" pitchFamily="2" charset="2"/>
              <a:buChar char="§"/>
            </a:pPr>
            <a:r>
              <a:rPr lang="en-US" sz="3200" dirty="0">
                <a:latin typeface="Times New Roman" pitchFamily="18" charset="0"/>
                <a:cs typeface="Times New Roman" pitchFamily="18" charset="0"/>
              </a:rPr>
              <a:t> T</a:t>
            </a:r>
            <a:r>
              <a:rPr lang="en-US" sz="3200" dirty="0"/>
              <a:t>he cable is much thinner and more flexible.</a:t>
            </a:r>
          </a:p>
          <a:p>
            <a:pPr>
              <a:buFont typeface="Wingdings" pitchFamily="2" charset="2"/>
              <a:buChar char="§"/>
            </a:pPr>
            <a:r>
              <a:rPr lang="en-US" sz="3200" dirty="0"/>
              <a:t> The transceiver is normally part of the   </a:t>
            </a:r>
          </a:p>
          <a:p>
            <a:r>
              <a:rPr lang="en-US" sz="3200" dirty="0"/>
              <a:t>   network interface card (NIC).</a:t>
            </a:r>
          </a:p>
          <a:p>
            <a:pPr>
              <a:buFont typeface="Wingdings" pitchFamily="2" charset="2"/>
              <a:buChar char="§"/>
            </a:pPr>
            <a:r>
              <a:rPr lang="en-US" sz="3200" dirty="0">
                <a:latin typeface="Times New Roman" pitchFamily="18" charset="0"/>
                <a:cs typeface="Times New Roman" pitchFamily="18" charset="0"/>
              </a:rPr>
              <a:t> T</a:t>
            </a:r>
            <a:r>
              <a:rPr lang="en-US" sz="3200" dirty="0"/>
              <a:t>he collision here occurs in the thin coaxial </a:t>
            </a:r>
          </a:p>
          <a:p>
            <a:r>
              <a:rPr lang="en-US" sz="3200" dirty="0"/>
              <a:t>   cable.</a:t>
            </a:r>
          </a:p>
          <a:p>
            <a:pPr>
              <a:buFont typeface="Wingdings" pitchFamily="2" charset="2"/>
              <a:buChar char="§"/>
            </a:pPr>
            <a:r>
              <a:rPr lang="en-US" sz="3200" dirty="0"/>
              <a:t> More cost effective than 10Base5.</a:t>
            </a:r>
          </a:p>
          <a:p>
            <a:pPr>
              <a:buFont typeface="Wingdings" pitchFamily="2" charset="2"/>
              <a:buChar char="§"/>
            </a:pPr>
            <a:r>
              <a:rPr lang="en-US" sz="3200" dirty="0"/>
              <a:t>  The length of each segment cannot exceed  </a:t>
            </a:r>
          </a:p>
          <a:p>
            <a:r>
              <a:rPr lang="en-US" sz="3200" dirty="0"/>
              <a:t>    185 m (close to 200 m) due to the high level </a:t>
            </a:r>
          </a:p>
          <a:p>
            <a:r>
              <a:rPr lang="en-US" sz="3200" dirty="0"/>
              <a:t>    of attenuation in thin coaxial cable.</a:t>
            </a:r>
            <a:endParaRPr lang="en-US" sz="3200" dirty="0">
              <a:latin typeface="Times New Roman" pitchFamily="18" charset="0"/>
              <a:cs typeface="Times New Roman" pitchFamily="18" charset="0"/>
            </a:endParaRPr>
          </a:p>
          <a:p>
            <a:pPr>
              <a:buFont typeface="Wingdings" pitchFamily="2" charset="2"/>
              <a:buChar char="§"/>
            </a:pPr>
            <a:endParaRPr lang="en-US" sz="3200" dirty="0">
              <a:latin typeface="Times New Roman" pitchFamily="18" charset="0"/>
              <a:cs typeface="Times New Roman"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560540" y="685800"/>
            <a:ext cx="4678460"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10Base-T implementation</a:t>
            </a:r>
          </a:p>
        </p:txBody>
      </p:sp>
      <p:pic>
        <p:nvPicPr>
          <p:cNvPr id="5" name="Picture 6"/>
          <p:cNvPicPr>
            <a:picLocks noChangeAspect="1" noChangeArrowheads="1"/>
          </p:cNvPicPr>
          <p:nvPr/>
        </p:nvPicPr>
        <p:blipFill>
          <a:blip r:embed="rId2"/>
          <a:srcRect/>
          <a:stretch>
            <a:fillRect/>
          </a:stretch>
        </p:blipFill>
        <p:spPr bwMode="auto">
          <a:xfrm>
            <a:off x="243859" y="2409825"/>
            <a:ext cx="8138141" cy="3000375"/>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7848600" cy="6494085"/>
          </a:xfrm>
          <a:prstGeom prst="rect">
            <a:avLst/>
          </a:prstGeom>
        </p:spPr>
        <p:txBody>
          <a:bodyPr wrap="square">
            <a:spAutoFit/>
          </a:bodyPr>
          <a:lstStyle/>
          <a:p>
            <a:pPr>
              <a:buFont typeface="Wingdings" pitchFamily="2" charset="2"/>
              <a:buChar char="§"/>
            </a:pPr>
            <a:r>
              <a:rPr lang="en-US" sz="3200" dirty="0">
                <a:latin typeface="Times New Roman" pitchFamily="18" charset="0"/>
                <a:cs typeface="Times New Roman" pitchFamily="18" charset="0"/>
              </a:rPr>
              <a:t> Twisted-pair Ethernet.</a:t>
            </a:r>
          </a:p>
          <a:p>
            <a:pPr>
              <a:buFont typeface="Wingdings" pitchFamily="2" charset="2"/>
              <a:buChar char="§"/>
            </a:pPr>
            <a:endParaRPr lang="en-US" sz="3200" dirty="0">
              <a:latin typeface="Times New Roman" pitchFamily="18" charset="0"/>
              <a:cs typeface="Times New Roman" pitchFamily="18" charset="0"/>
            </a:endParaRPr>
          </a:p>
          <a:p>
            <a:pPr>
              <a:buFont typeface="Wingdings" pitchFamily="2" charset="2"/>
              <a:buChar char="§"/>
            </a:pPr>
            <a:r>
              <a:rPr lang="en-US" sz="3200" dirty="0">
                <a:latin typeface="Times New Roman" pitchFamily="18" charset="0"/>
                <a:cs typeface="Times New Roman" pitchFamily="18" charset="0"/>
              </a:rPr>
              <a:t>  </a:t>
            </a:r>
            <a:r>
              <a:rPr lang="en-US" sz="3200" dirty="0"/>
              <a:t>The stations are connected to a hub via two </a:t>
            </a:r>
          </a:p>
          <a:p>
            <a:r>
              <a:rPr lang="en-US" sz="3200" dirty="0"/>
              <a:t>    pairs of twisted cable.</a:t>
            </a:r>
          </a:p>
          <a:p>
            <a:endParaRPr lang="en-US" sz="3200" dirty="0"/>
          </a:p>
          <a:p>
            <a:pPr>
              <a:buFont typeface="Wingdings" pitchFamily="2" charset="2"/>
              <a:buChar char="§"/>
            </a:pPr>
            <a:r>
              <a:rPr lang="en-US" sz="3200" dirty="0">
                <a:latin typeface="Times New Roman" pitchFamily="18" charset="0"/>
                <a:cs typeface="Times New Roman" pitchFamily="18" charset="0"/>
              </a:rPr>
              <a:t> T</a:t>
            </a:r>
            <a:r>
              <a:rPr lang="en-US" sz="3200" dirty="0"/>
              <a:t>wo pairs of twisted cable create two paths </a:t>
            </a:r>
          </a:p>
          <a:p>
            <a:r>
              <a:rPr lang="en-US" sz="3200" dirty="0"/>
              <a:t>   (one for sending and one for receiving) </a:t>
            </a:r>
          </a:p>
          <a:p>
            <a:r>
              <a:rPr lang="en-US" sz="3200" dirty="0"/>
              <a:t>    between the station and the hub.</a:t>
            </a:r>
          </a:p>
          <a:p>
            <a:endParaRPr lang="en-US" sz="3200" dirty="0"/>
          </a:p>
          <a:p>
            <a:pPr>
              <a:buFont typeface="Wingdings" pitchFamily="2" charset="2"/>
              <a:buChar char="§"/>
            </a:pPr>
            <a:r>
              <a:rPr lang="en-US" sz="3200" dirty="0">
                <a:latin typeface="Times New Roman" pitchFamily="18" charset="0"/>
                <a:cs typeface="Times New Roman" pitchFamily="18" charset="0"/>
              </a:rPr>
              <a:t> R</a:t>
            </a:r>
            <a:r>
              <a:rPr lang="en-US" sz="3200" dirty="0"/>
              <a:t>eplaces the coaxial cable as far as a </a:t>
            </a:r>
          </a:p>
          <a:p>
            <a:r>
              <a:rPr lang="en-US" sz="3200" dirty="0"/>
              <a:t>    collision is concerned.</a:t>
            </a:r>
          </a:p>
          <a:p>
            <a:endParaRPr lang="en-US" sz="3200" dirty="0"/>
          </a:p>
          <a:p>
            <a:pPr>
              <a:buFont typeface="Wingdings" pitchFamily="2" charset="2"/>
              <a:buChar char="§"/>
            </a:pPr>
            <a:r>
              <a:rPr lang="en-US" sz="3200" dirty="0">
                <a:latin typeface="Times New Roman" pitchFamily="18" charset="0"/>
                <a:cs typeface="Times New Roman" pitchFamily="18" charset="0"/>
              </a:rPr>
              <a:t> </a:t>
            </a:r>
            <a:r>
              <a:rPr lang="en-US" sz="3200" dirty="0"/>
              <a:t>maximum length = 100m.</a:t>
            </a:r>
            <a:endParaRPr lang="en-US" sz="3200" dirty="0">
              <a:latin typeface="Times New Roman" pitchFamily="18" charset="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363807" y="685800"/>
            <a:ext cx="4646593"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10Base-F implementation</a:t>
            </a:r>
          </a:p>
        </p:txBody>
      </p:sp>
      <p:pic>
        <p:nvPicPr>
          <p:cNvPr id="5" name="Picture 6"/>
          <p:cNvPicPr>
            <a:picLocks noChangeAspect="1" noChangeArrowheads="1"/>
          </p:cNvPicPr>
          <p:nvPr/>
        </p:nvPicPr>
        <p:blipFill>
          <a:blip r:embed="rId2"/>
          <a:srcRect/>
          <a:stretch>
            <a:fillRect/>
          </a:stretch>
        </p:blipFill>
        <p:spPr bwMode="auto">
          <a:xfrm>
            <a:off x="652463" y="1905001"/>
            <a:ext cx="7805737" cy="3124200"/>
          </a:xfrm>
          <a:prstGeom prst="rect">
            <a:avLst/>
          </a:prstGeom>
          <a:noFill/>
          <a:ln w="9525">
            <a:noFill/>
            <a:miter lim="800000"/>
            <a:headEnd/>
            <a:tailEnd/>
          </a:ln>
          <a:effec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85800" y="1676400"/>
            <a:ext cx="8116324" cy="584775"/>
          </a:xfrm>
          <a:prstGeom prst="rect">
            <a:avLst/>
          </a:prstGeom>
          <a:noFill/>
          <a:ln w="9525">
            <a:noFill/>
            <a:miter lim="800000"/>
            <a:headEnd/>
            <a:tailEnd/>
          </a:ln>
          <a:effectLst/>
        </p:spPr>
        <p:txBody>
          <a:bodyPr wrap="none">
            <a:spAutoFit/>
          </a:bodyPr>
          <a:lstStyle/>
          <a:p>
            <a:r>
              <a:rPr lang="en-US" sz="3200" dirty="0">
                <a:latin typeface="Times New Roman" pitchFamily="18" charset="0"/>
              </a:rPr>
              <a:t>Summary of Standard Ethernet implementations</a:t>
            </a:r>
          </a:p>
        </p:txBody>
      </p:sp>
      <p:pic>
        <p:nvPicPr>
          <p:cNvPr id="3" name="Picture 4"/>
          <p:cNvPicPr>
            <a:picLocks noChangeAspect="1" noChangeArrowheads="1"/>
          </p:cNvPicPr>
          <p:nvPr/>
        </p:nvPicPr>
        <p:blipFill>
          <a:blip r:embed="rId2"/>
          <a:srcRect/>
          <a:stretch>
            <a:fillRect/>
          </a:stretch>
        </p:blipFill>
        <p:spPr bwMode="auto">
          <a:xfrm>
            <a:off x="198222" y="2362200"/>
            <a:ext cx="8336178" cy="3048000"/>
          </a:xfrm>
          <a:prstGeom prst="rect">
            <a:avLst/>
          </a:prstGeom>
          <a:noFill/>
          <a:ln w="9525">
            <a:noFill/>
            <a:miter lim="800000"/>
            <a:headEnd/>
            <a:tailEnd/>
          </a:ln>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474879" y="406400"/>
            <a:ext cx="4002121" cy="646331"/>
          </a:xfrm>
          <a:prstGeom prst="rect">
            <a:avLst/>
          </a:prstGeom>
          <a:noFill/>
          <a:ln w="9525">
            <a:noFill/>
            <a:miter lim="800000"/>
            <a:headEnd/>
            <a:tailEnd/>
          </a:ln>
          <a:effectLst/>
        </p:spPr>
        <p:txBody>
          <a:bodyPr wrap="none">
            <a:spAutoFit/>
          </a:bodyPr>
          <a:lstStyle/>
          <a:p>
            <a:pPr algn="ctr"/>
            <a:r>
              <a:rPr lang="en-US" sz="3600" b="1" dirty="0">
                <a:latin typeface="Times New Roman" pitchFamily="18" charset="0"/>
                <a:cs typeface="Times New Roman" pitchFamily="18" charset="0"/>
              </a:rPr>
              <a:t>FAST ETHERNET</a:t>
            </a:r>
          </a:p>
        </p:txBody>
      </p:sp>
      <p:sp>
        <p:nvSpPr>
          <p:cNvPr id="3" name="Rectangle 5"/>
          <p:cNvSpPr>
            <a:spLocks noChangeArrowheads="1"/>
          </p:cNvSpPr>
          <p:nvPr/>
        </p:nvSpPr>
        <p:spPr bwMode="auto">
          <a:xfrm>
            <a:off x="304800" y="1143000"/>
            <a:ext cx="8229600" cy="5509200"/>
          </a:xfrm>
          <a:prstGeom prst="rect">
            <a:avLst/>
          </a:prstGeom>
          <a:noFill/>
          <a:ln w="9525">
            <a:noFill/>
            <a:miter lim="800000"/>
            <a:headEnd/>
            <a:tailEnd/>
          </a:ln>
          <a:effectLst/>
        </p:spPr>
        <p:txBody>
          <a:bodyPr anchor="ctr">
            <a:spAutoFit/>
          </a:bodyPr>
          <a:lstStyle/>
          <a:p>
            <a:pPr algn="just"/>
            <a:r>
              <a:rPr lang="en-US" sz="3200" dirty="0">
                <a:latin typeface="Times New Roman" pitchFamily="18" charset="0"/>
                <a:cs typeface="Times New Roman" pitchFamily="18" charset="0"/>
              </a:rPr>
              <a:t>Fast Ethernet was designed to compete with LAN protocols such as FDDI (</a:t>
            </a:r>
            <a:r>
              <a:rPr lang="en-US" sz="3200" b="1" dirty="0"/>
              <a:t>Fiber Distributed Data Interface)</a:t>
            </a:r>
            <a:r>
              <a:rPr lang="en-US" sz="3200" dirty="0">
                <a:latin typeface="Times New Roman" pitchFamily="18" charset="0"/>
                <a:cs typeface="Times New Roman" pitchFamily="18" charset="0"/>
              </a:rPr>
              <a:t> or Fiber Channel.</a:t>
            </a:r>
          </a:p>
          <a:p>
            <a:pPr algn="just"/>
            <a:endParaRPr lang="en-US" sz="3200" dirty="0">
              <a:latin typeface="Times New Roman" pitchFamily="18" charset="0"/>
              <a:cs typeface="Times New Roman" pitchFamily="18" charset="0"/>
            </a:endParaRPr>
          </a:p>
          <a:p>
            <a:pPr algn="just"/>
            <a:r>
              <a:rPr lang="en-US" sz="3200" dirty="0">
                <a:latin typeface="Times New Roman" pitchFamily="18" charset="0"/>
                <a:cs typeface="Times New Roman" pitchFamily="18" charset="0"/>
              </a:rPr>
              <a:t>It </a:t>
            </a:r>
            <a:r>
              <a:rPr lang="en-US" sz="3200" dirty="0"/>
              <a:t>is a set of ANSI and ISO standards for data transmission on fiber optic lines in a local area </a:t>
            </a:r>
            <a:r>
              <a:rPr lang="en-US" sz="3200" b="1" dirty="0"/>
              <a:t>network</a:t>
            </a:r>
            <a:r>
              <a:rPr lang="en-US" sz="3200" dirty="0"/>
              <a:t> (LAN) that can extend in range up to 200 km (124 miles)</a:t>
            </a:r>
            <a:endParaRPr lang="en-US" sz="32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r>
              <a:rPr lang="en-US" sz="3200" dirty="0">
                <a:latin typeface="Times New Roman" pitchFamily="18" charset="0"/>
                <a:cs typeface="Times New Roman" pitchFamily="18" charset="0"/>
              </a:rPr>
              <a:t>IEEE created Fast Ethernet under the name 802.3u.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153400" cy="6001643"/>
          </a:xfrm>
          <a:prstGeom prst="rect">
            <a:avLst/>
          </a:prstGeom>
        </p:spPr>
        <p:txBody>
          <a:bodyPr wrap="square">
            <a:spAutoFit/>
          </a:bodyPr>
          <a:lstStyle/>
          <a:p>
            <a:pPr algn="just"/>
            <a:r>
              <a:rPr lang="en-US" sz="3200" dirty="0">
                <a:latin typeface="Times New Roman" pitchFamily="18" charset="0"/>
                <a:cs typeface="Times New Roman" pitchFamily="18" charset="0"/>
              </a:rPr>
              <a:t>Fast Ethernet is backward-compatible with Standard Ethernet, but it can transmit data 10 times faster at a rate of 100 Mbps. </a:t>
            </a:r>
          </a:p>
          <a:p>
            <a:pPr algn="just"/>
            <a:endParaRPr lang="en-US" sz="3200" dirty="0">
              <a:latin typeface="Times New Roman" pitchFamily="18" charset="0"/>
              <a:cs typeface="Times New Roman" pitchFamily="18" charset="0"/>
            </a:endParaRPr>
          </a:p>
          <a:p>
            <a:pPr algn="just"/>
            <a:r>
              <a:rPr lang="en-US" sz="3200" b="1" dirty="0">
                <a:latin typeface="Times New Roman" pitchFamily="18" charset="0"/>
                <a:cs typeface="Times New Roman" pitchFamily="18" charset="0"/>
              </a:rPr>
              <a:t>Goal:</a:t>
            </a:r>
          </a:p>
          <a:p>
            <a:pPr algn="just"/>
            <a:endParaRPr lang="en-US" sz="3200" b="1" dirty="0">
              <a:latin typeface="Times New Roman" pitchFamily="18" charset="0"/>
              <a:cs typeface="Times New Roman" pitchFamily="18" charset="0"/>
            </a:endParaRPr>
          </a:p>
          <a:p>
            <a:r>
              <a:rPr lang="en-US" sz="3200" dirty="0"/>
              <a:t>1.Upgrade the data rate to 100 Mbps.</a:t>
            </a:r>
          </a:p>
          <a:p>
            <a:r>
              <a:rPr lang="en-US" sz="3200" dirty="0"/>
              <a:t>2. Make it compatible with Standard Ethernet.</a:t>
            </a:r>
          </a:p>
          <a:p>
            <a:r>
              <a:rPr lang="en-US" sz="3200" dirty="0"/>
              <a:t>3. Keep the same 48-bit address.</a:t>
            </a:r>
          </a:p>
          <a:p>
            <a:r>
              <a:rPr lang="en-US" sz="3200" dirty="0"/>
              <a:t>4. Keep the same frame format.</a:t>
            </a:r>
          </a:p>
          <a:p>
            <a:r>
              <a:rPr lang="en-US" sz="3200" dirty="0"/>
              <a:t>5. Keep the same minimum and maximum </a:t>
            </a:r>
          </a:p>
          <a:p>
            <a:r>
              <a:rPr lang="en-US" sz="3200" dirty="0"/>
              <a:t>    frame lengths.</a:t>
            </a:r>
            <a:endParaRPr lang="en-US" sz="3200"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153400" cy="6494085"/>
          </a:xfrm>
          <a:prstGeom prst="rect">
            <a:avLst/>
          </a:prstGeom>
        </p:spPr>
        <p:txBody>
          <a:bodyPr wrap="square">
            <a:spAutoFit/>
          </a:bodyPr>
          <a:lstStyle/>
          <a:p>
            <a:pPr algn="ctr"/>
            <a:r>
              <a:rPr lang="en-US" sz="3200" b="1" dirty="0">
                <a:latin typeface="Times New Roman" pitchFamily="18" charset="0"/>
                <a:cs typeface="Times New Roman" pitchFamily="18" charset="0"/>
              </a:rPr>
              <a:t>MAC Sublayer :- </a:t>
            </a:r>
          </a:p>
          <a:p>
            <a:r>
              <a:rPr lang="en-US" sz="3200" dirty="0">
                <a:latin typeface="Times New Roman" pitchFamily="18" charset="0"/>
                <a:cs typeface="Times New Roman" pitchFamily="18" charset="0"/>
              </a:rPr>
              <a:t>The evolution of Ethernet from 10 to 100 Mbps.</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A decision was made to drop the bus topologies</a:t>
            </a:r>
          </a:p>
          <a:p>
            <a:r>
              <a:rPr lang="en-US" sz="3200" dirty="0">
                <a:latin typeface="Times New Roman" pitchFamily="18" charset="0"/>
                <a:cs typeface="Times New Roman" pitchFamily="18" charset="0"/>
              </a:rPr>
              <a:t>and keep only the star topology.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For the star topology, there are two choices, </a:t>
            </a:r>
          </a:p>
          <a:p>
            <a:r>
              <a:rPr lang="en-US" sz="3200" dirty="0">
                <a:latin typeface="Times New Roman" pitchFamily="18" charset="0"/>
                <a:cs typeface="Times New Roman" pitchFamily="18" charset="0"/>
              </a:rPr>
              <a:t>half duplex and full duplex.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In the half-duplex approach, the stations are connected via a hub; </a:t>
            </a:r>
          </a:p>
          <a:p>
            <a:endParaRPr lang="en-US" sz="3200" dirty="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1"/>
            <a:ext cx="8305800" cy="6001643"/>
          </a:xfrm>
          <a:prstGeom prst="rect">
            <a:avLst/>
          </a:prstGeom>
        </p:spPr>
        <p:txBody>
          <a:bodyPr wrap="square">
            <a:spAutoFit/>
          </a:bodyPr>
          <a:lstStyle/>
          <a:p>
            <a:r>
              <a:rPr lang="en-US" sz="3200" dirty="0">
                <a:latin typeface="Times New Roman" pitchFamily="18" charset="0"/>
                <a:cs typeface="Times New Roman" pitchFamily="18" charset="0"/>
              </a:rPr>
              <a:t>In the full-duplex approach, the connection is made via a switch with buffers at each port.</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The access method is the same </a:t>
            </a:r>
            <a:r>
              <a:rPr lang="en-US" sz="3200" b="1" dirty="0">
                <a:latin typeface="Times New Roman" pitchFamily="18" charset="0"/>
                <a:cs typeface="Times New Roman" pitchFamily="18" charset="0"/>
              </a:rPr>
              <a:t>(CSMA/CD) </a:t>
            </a:r>
            <a:r>
              <a:rPr lang="en-US" sz="3200" dirty="0">
                <a:latin typeface="Times New Roman" pitchFamily="18" charset="0"/>
                <a:cs typeface="Times New Roman" pitchFamily="18" charset="0"/>
              </a:rPr>
              <a:t>for the half-duplex approach;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For full duplex Fast Ethernet, there is no need for CSMA/CD.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However, the implementations keep CSMA/CD for backward compatibility with Standard Ethernet.</a:t>
            </a:r>
            <a:endParaRPr lang="en-US" sz="3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143000" y="685800"/>
            <a:ext cx="704551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Physical Layer: Fast Ethernet topology</a:t>
            </a:r>
          </a:p>
        </p:txBody>
      </p:sp>
      <p:pic>
        <p:nvPicPr>
          <p:cNvPr id="5" name="Picture 6"/>
          <p:cNvPicPr>
            <a:picLocks noChangeAspect="1" noChangeArrowheads="1"/>
          </p:cNvPicPr>
          <p:nvPr/>
        </p:nvPicPr>
        <p:blipFill>
          <a:blip r:embed="rId2"/>
          <a:srcRect/>
          <a:stretch>
            <a:fillRect/>
          </a:stretch>
        </p:blipFill>
        <p:spPr bwMode="auto">
          <a:xfrm>
            <a:off x="842963" y="2598738"/>
            <a:ext cx="7856581" cy="2582862"/>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676400" y="609600"/>
            <a:ext cx="6288901"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Fast Ethernet implementations</a:t>
            </a:r>
          </a:p>
        </p:txBody>
      </p:sp>
      <p:pic>
        <p:nvPicPr>
          <p:cNvPr id="5" name="Picture 6"/>
          <p:cNvPicPr>
            <a:picLocks noChangeAspect="1" noChangeArrowheads="1"/>
          </p:cNvPicPr>
          <p:nvPr/>
        </p:nvPicPr>
        <p:blipFill>
          <a:blip r:embed="rId2"/>
          <a:srcRect/>
          <a:stretch>
            <a:fillRect/>
          </a:stretch>
        </p:blipFill>
        <p:spPr bwMode="auto">
          <a:xfrm>
            <a:off x="487082" y="2514600"/>
            <a:ext cx="7971118" cy="3103260"/>
          </a:xfrm>
          <a:prstGeom prst="rect">
            <a:avLst/>
          </a:prstGeom>
          <a:noFill/>
          <a:ln w="9525">
            <a:noFill/>
            <a:miter lim="800000"/>
            <a:headEnd/>
            <a:tailEnd/>
          </a:ln>
          <a:effec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929830" y="685800"/>
            <a:ext cx="7833170"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Encoding for Fast Ethernet implementation</a:t>
            </a:r>
          </a:p>
        </p:txBody>
      </p:sp>
      <p:pic>
        <p:nvPicPr>
          <p:cNvPr id="5" name="Picture 6"/>
          <p:cNvPicPr>
            <a:picLocks noChangeAspect="1" noChangeArrowheads="1"/>
          </p:cNvPicPr>
          <p:nvPr/>
        </p:nvPicPr>
        <p:blipFill>
          <a:blip r:embed="rId2"/>
          <a:srcRect/>
          <a:stretch>
            <a:fillRect/>
          </a:stretch>
        </p:blipFill>
        <p:spPr bwMode="auto">
          <a:xfrm>
            <a:off x="1066800" y="1536699"/>
            <a:ext cx="7391400" cy="5197263"/>
          </a:xfrm>
          <a:prstGeom prst="rect">
            <a:avLst/>
          </a:prstGeom>
          <a:noFill/>
          <a:ln w="9525">
            <a:noFill/>
            <a:miter lim="800000"/>
            <a:headEnd/>
            <a:tailEnd/>
          </a:ln>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1"/>
            <a:ext cx="8686800" cy="6001643"/>
          </a:xfrm>
          <a:prstGeom prst="rect">
            <a:avLst/>
          </a:prstGeom>
        </p:spPr>
        <p:txBody>
          <a:bodyPr wrap="square">
            <a:spAutoFit/>
          </a:bodyPr>
          <a:lstStyle/>
          <a:p>
            <a:r>
              <a:rPr lang="en-US" sz="3200" b="1" dirty="0">
                <a:latin typeface="Times New Roman" pitchFamily="18" charset="0"/>
                <a:cs typeface="Times New Roman" pitchFamily="18" charset="0"/>
              </a:rPr>
              <a:t>1] 1OOBase-TX uses two pairs of twisted-pair cable (either category 5 UTP or STP).</a:t>
            </a:r>
          </a:p>
          <a:p>
            <a:endParaRPr lang="en-US" sz="3200" b="1" dirty="0">
              <a:latin typeface="Times New Roman" pitchFamily="18" charset="0"/>
              <a:cs typeface="Times New Roman" pitchFamily="18" charset="0"/>
            </a:endParaRPr>
          </a:p>
          <a:p>
            <a:r>
              <a:rPr lang="en-US" sz="3200" dirty="0">
                <a:latin typeface="Times New Roman" pitchFamily="18" charset="0"/>
                <a:cs typeface="Times New Roman" pitchFamily="18" charset="0"/>
              </a:rPr>
              <a:t>For this implementation, the MLT-3 scheme was selected since it has good bandwidth performance </a:t>
            </a:r>
          </a:p>
          <a:p>
            <a:r>
              <a:rPr lang="en-US" sz="3200" dirty="0">
                <a:latin typeface="Times New Roman" pitchFamily="18" charset="0"/>
                <a:cs typeface="Times New Roman" pitchFamily="18" charset="0"/>
              </a:rPr>
              <a:t>MLT-3 is not a self-synchronous line coding</a:t>
            </a:r>
          </a:p>
          <a:p>
            <a:r>
              <a:rPr lang="en-US" sz="3200" dirty="0">
                <a:latin typeface="Times New Roman" pitchFamily="18" charset="0"/>
                <a:cs typeface="Times New Roman" pitchFamily="18" charset="0"/>
              </a:rPr>
              <a:t>scheme, </a:t>
            </a:r>
            <a:r>
              <a:rPr lang="en-US" sz="3200" b="1" dirty="0">
                <a:latin typeface="Times New Roman" pitchFamily="18" charset="0"/>
                <a:cs typeface="Times New Roman" pitchFamily="18" charset="0"/>
              </a:rPr>
              <a:t>4B/5B block coding </a:t>
            </a:r>
            <a:r>
              <a:rPr lang="en-US" sz="3200" dirty="0">
                <a:latin typeface="Times New Roman" pitchFamily="18" charset="0"/>
                <a:cs typeface="Times New Roman" pitchFamily="18" charset="0"/>
              </a:rPr>
              <a:t>is used to provide bit synchronization by preventing the occurrence of a long sequence of Os and 1s.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This creates a data rate of 125 Mbps, which is fed into MLT-3 for encoding</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93442"/>
            <a:ext cx="8458200" cy="6494085"/>
          </a:xfrm>
          <a:prstGeom prst="rect">
            <a:avLst/>
          </a:prstGeom>
        </p:spPr>
        <p:txBody>
          <a:bodyPr wrap="square">
            <a:spAutoFit/>
          </a:bodyPr>
          <a:lstStyle/>
          <a:p>
            <a:r>
              <a:rPr lang="en-US" sz="3200" b="1" dirty="0">
                <a:latin typeface="Times New Roman" pitchFamily="18" charset="0"/>
                <a:cs typeface="Times New Roman" pitchFamily="18" charset="0"/>
              </a:rPr>
              <a:t>2] 1OOBase-FX uses two pairs of fiber-optic cables. </a:t>
            </a:r>
            <a:r>
              <a:rPr lang="en-US" sz="3200" dirty="0">
                <a:latin typeface="Times New Roman" pitchFamily="18" charset="0"/>
                <a:cs typeface="Times New Roman" pitchFamily="18" charset="0"/>
              </a:rPr>
              <a:t>Optical fiber can easily handle high</a:t>
            </a:r>
          </a:p>
          <a:p>
            <a:r>
              <a:rPr lang="en-US" sz="3200" dirty="0">
                <a:latin typeface="Times New Roman" pitchFamily="18" charset="0"/>
                <a:cs typeface="Times New Roman" pitchFamily="18" charset="0"/>
              </a:rPr>
              <a:t>bandwidth requirements by using simple encoding schemes. </a:t>
            </a:r>
          </a:p>
          <a:p>
            <a:r>
              <a:rPr lang="en-US" sz="3200" dirty="0">
                <a:latin typeface="Times New Roman" pitchFamily="18" charset="0"/>
                <a:cs typeface="Times New Roman" pitchFamily="18" charset="0"/>
              </a:rPr>
              <a:t>The designers of 100Base-FX selected the NRZ-I encoding scheme. NRZ-I has a bit synchronization problem for long sequences of Os and 1s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To overcome this problem, the designers used 4B/5B block coding.</a:t>
            </a:r>
            <a:endParaRPr lang="en-US" sz="3200" dirty="0"/>
          </a:p>
          <a:p>
            <a:r>
              <a:rPr lang="en-US" sz="3200" dirty="0"/>
              <a:t>The block encoding increases the bit rate from 100 to 125 Mbps, which can easily be handled by fiber-optic cable.</a:t>
            </a:r>
            <a:endParaRPr lang="en-US" sz="3200" dirty="0">
              <a:latin typeface="Times New Roman" pitchFamily="18" charset="0"/>
              <a:cs typeface="Times New Roman"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229600" cy="6001643"/>
          </a:xfrm>
          <a:prstGeom prst="rect">
            <a:avLst/>
          </a:prstGeom>
        </p:spPr>
        <p:txBody>
          <a:bodyPr wrap="square">
            <a:spAutoFit/>
          </a:bodyPr>
          <a:lstStyle/>
          <a:p>
            <a:r>
              <a:rPr lang="en-US" sz="3200" dirty="0">
                <a:latin typeface="Times New Roman" pitchFamily="18" charset="0"/>
                <a:cs typeface="Times New Roman" pitchFamily="18" charset="0"/>
              </a:rPr>
              <a:t>3] A 1OOBase-TX network can provide a data rate of 100 Mbps, but it requires the use of</a:t>
            </a:r>
          </a:p>
          <a:p>
            <a:r>
              <a:rPr lang="en-US" sz="3200" dirty="0">
                <a:latin typeface="Times New Roman" pitchFamily="18" charset="0"/>
                <a:cs typeface="Times New Roman" pitchFamily="18" charset="0"/>
              </a:rPr>
              <a:t>category 5 UTP or STP cable.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A new standard, called </a:t>
            </a:r>
            <a:r>
              <a:rPr lang="en-US" sz="3200" b="1" dirty="0">
                <a:latin typeface="Times New Roman" pitchFamily="18" charset="0"/>
                <a:cs typeface="Times New Roman" pitchFamily="18" charset="0"/>
              </a:rPr>
              <a:t>1OOBase-T4, was</a:t>
            </a:r>
          </a:p>
          <a:p>
            <a:r>
              <a:rPr lang="en-US" sz="3200" dirty="0">
                <a:latin typeface="Times New Roman" pitchFamily="18" charset="0"/>
                <a:cs typeface="Times New Roman" pitchFamily="18" charset="0"/>
              </a:rPr>
              <a:t>designed to use category 3 or higher UTP.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It uses four pairs of UTP for transmitting 100 Mbps.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Encoding/decoding in 100Base-T4 is more complicated.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04801"/>
            <a:ext cx="8382000" cy="6494085"/>
          </a:xfrm>
          <a:prstGeom prst="rect">
            <a:avLst/>
          </a:prstGeom>
        </p:spPr>
        <p:txBody>
          <a:bodyPr wrap="square">
            <a:spAutoFit/>
          </a:bodyPr>
          <a:lstStyle/>
          <a:p>
            <a:r>
              <a:rPr lang="en-US" sz="3200" dirty="0">
                <a:latin typeface="Times New Roman" pitchFamily="18" charset="0"/>
                <a:cs typeface="Times New Roman" pitchFamily="18" charset="0"/>
              </a:rPr>
              <a:t>It uses category 3 UTP, each twisted-pair cannot easily handle more than 25 Mbaud.</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In this design, one pair switches between sending and receiving. Three pairs of UTP category 3, however, can handle only 75 Mbaud (25 Mbaud) each.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We need to use an encoding scheme that converts </a:t>
            </a:r>
            <a:r>
              <a:rPr lang="en-US" sz="3200" b="1" dirty="0">
                <a:latin typeface="Times New Roman" pitchFamily="18" charset="0"/>
                <a:cs typeface="Times New Roman" pitchFamily="18" charset="0"/>
              </a:rPr>
              <a:t>100 Mbps to a 75 Mbaud signal</a:t>
            </a:r>
            <a:r>
              <a:rPr lang="en-US" sz="3200" dirty="0">
                <a:latin typeface="Times New Roman" pitchFamily="18" charset="0"/>
                <a:cs typeface="Times New Roman" pitchFamily="18" charset="0"/>
              </a:rPr>
              <a:t>. So we use 8B/6T satisfies this requirement. </a:t>
            </a:r>
          </a:p>
          <a:p>
            <a:r>
              <a:rPr lang="en-US" sz="3200" dirty="0">
                <a:latin typeface="Times New Roman" pitchFamily="18" charset="0"/>
                <a:cs typeface="Times New Roman" pitchFamily="18" charset="0"/>
              </a:rPr>
              <a:t>In 8B/6T, eight data elements are encoded as six signal elements.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62000" y="1828800"/>
            <a:ext cx="7885492"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Summary of Fast Ethernet implementations</a:t>
            </a:r>
          </a:p>
        </p:txBody>
      </p:sp>
      <p:pic>
        <p:nvPicPr>
          <p:cNvPr id="3" name="Picture 4"/>
          <p:cNvPicPr>
            <a:picLocks noChangeAspect="1" noChangeArrowheads="1"/>
          </p:cNvPicPr>
          <p:nvPr/>
        </p:nvPicPr>
        <p:blipFill>
          <a:blip r:embed="rId2"/>
          <a:srcRect/>
          <a:stretch>
            <a:fillRect/>
          </a:stretch>
        </p:blipFill>
        <p:spPr bwMode="auto">
          <a:xfrm>
            <a:off x="663575" y="2644775"/>
            <a:ext cx="8182471" cy="3070225"/>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415925" y="406400"/>
            <a:ext cx="4365875" cy="584775"/>
          </a:xfrm>
          <a:prstGeom prst="rect">
            <a:avLst/>
          </a:prstGeom>
          <a:noFill/>
          <a:ln w="9525">
            <a:noFill/>
            <a:miter lim="800000"/>
            <a:headEnd/>
            <a:tailEnd/>
          </a:ln>
          <a:effectLst/>
        </p:spPr>
        <p:txBody>
          <a:bodyPr wrap="none">
            <a:spAutoFit/>
          </a:bodyPr>
          <a:lstStyle/>
          <a:p>
            <a:pPr algn="ctr"/>
            <a:r>
              <a:rPr lang="en-US" sz="3200" b="1" dirty="0">
                <a:latin typeface="Times New Roman" pitchFamily="18" charset="0"/>
                <a:cs typeface="Times New Roman" pitchFamily="18" charset="0"/>
              </a:rPr>
              <a:t>GIGABIT ETHERNET</a:t>
            </a:r>
          </a:p>
        </p:txBody>
      </p:sp>
      <p:sp>
        <p:nvSpPr>
          <p:cNvPr id="3" name="Rectangle 5"/>
          <p:cNvSpPr>
            <a:spLocks noChangeArrowheads="1"/>
          </p:cNvSpPr>
          <p:nvPr/>
        </p:nvSpPr>
        <p:spPr bwMode="auto">
          <a:xfrm>
            <a:off x="457200" y="1524000"/>
            <a:ext cx="7924800" cy="2062103"/>
          </a:xfrm>
          <a:prstGeom prst="rect">
            <a:avLst/>
          </a:prstGeom>
          <a:noFill/>
          <a:ln w="9525">
            <a:noFill/>
            <a:miter lim="800000"/>
            <a:headEnd/>
            <a:tailEnd/>
          </a:ln>
          <a:effectLst/>
        </p:spPr>
        <p:txBody>
          <a:bodyPr wrap="square" anchor="ctr">
            <a:spAutoFit/>
          </a:bodyPr>
          <a:lstStyle/>
          <a:p>
            <a:pPr algn="just" eaLnBrk="1" hangingPunct="1"/>
            <a:r>
              <a:rPr lang="en-US" sz="3200" dirty="0">
                <a:latin typeface="Times New Roman" pitchFamily="18" charset="0"/>
                <a:cs typeface="Times New Roman" pitchFamily="18" charset="0"/>
              </a:rPr>
              <a:t>The need for an even higher data rate resulted in the design of the Gigabit Ethernet protocol (1000 Mbps). The IEEE committee calls the standard 802.3z.</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57285"/>
            <a:ext cx="9372600" cy="3539430"/>
          </a:xfrm>
          <a:prstGeom prst="rect">
            <a:avLst/>
          </a:prstGeom>
        </p:spPr>
        <p:txBody>
          <a:bodyPr wrap="square">
            <a:spAutoFit/>
          </a:bodyPr>
          <a:lstStyle/>
          <a:p>
            <a:r>
              <a:rPr lang="en-US" sz="3200" b="1" dirty="0">
                <a:latin typeface="Times New Roman" pitchFamily="18" charset="0"/>
                <a:cs typeface="Times New Roman" pitchFamily="18" charset="0"/>
              </a:rPr>
              <a:t>Goal: </a:t>
            </a:r>
          </a:p>
          <a:p>
            <a:r>
              <a:rPr lang="en-US" sz="3200" dirty="0">
                <a:latin typeface="Times New Roman" pitchFamily="18" charset="0"/>
                <a:cs typeface="Times New Roman" pitchFamily="18" charset="0"/>
              </a:rPr>
              <a:t>1. Upgrade the data rate to 1 Gbps.</a:t>
            </a:r>
          </a:p>
          <a:p>
            <a:r>
              <a:rPr lang="en-US" sz="3200" dirty="0">
                <a:latin typeface="Times New Roman" pitchFamily="18" charset="0"/>
                <a:cs typeface="Times New Roman" pitchFamily="18" charset="0"/>
              </a:rPr>
              <a:t>2. Make it compatible with Standard or Fast Ethernet.</a:t>
            </a:r>
          </a:p>
          <a:p>
            <a:r>
              <a:rPr lang="en-US" sz="3200" dirty="0">
                <a:latin typeface="Times New Roman" pitchFamily="18" charset="0"/>
                <a:cs typeface="Times New Roman" pitchFamily="18" charset="0"/>
              </a:rPr>
              <a:t>3. Use the same 48-bit address.</a:t>
            </a:r>
          </a:p>
          <a:p>
            <a:r>
              <a:rPr lang="en-US" sz="3200" dirty="0">
                <a:latin typeface="Times New Roman" pitchFamily="18" charset="0"/>
                <a:cs typeface="Times New Roman" pitchFamily="18" charset="0"/>
              </a:rPr>
              <a:t>4. Use the same frame format.</a:t>
            </a:r>
          </a:p>
          <a:p>
            <a:r>
              <a:rPr lang="en-US" sz="3200" dirty="0">
                <a:latin typeface="Times New Roman" pitchFamily="18" charset="0"/>
                <a:cs typeface="Times New Roman" pitchFamily="18" charset="0"/>
              </a:rPr>
              <a:t>5. Keep the same minimum and maximum frame</a:t>
            </a:r>
          </a:p>
          <a:p>
            <a:r>
              <a:rPr lang="en-US" sz="3200" dirty="0">
                <a:latin typeface="Times New Roman" pitchFamily="18" charset="0"/>
                <a:cs typeface="Times New Roman" pitchFamily="18" charset="0"/>
              </a:rPr>
              <a:t>    lengths.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5200" y="228600"/>
            <a:ext cx="2840842" cy="584775"/>
          </a:xfrm>
          <a:prstGeom prst="rect">
            <a:avLst/>
          </a:prstGeom>
        </p:spPr>
        <p:txBody>
          <a:bodyPr wrap="none">
            <a:spAutoFit/>
          </a:bodyPr>
          <a:lstStyle/>
          <a:p>
            <a:r>
              <a:rPr lang="en-US" sz="3200" b="1" dirty="0">
                <a:latin typeface="Times New Roman" pitchFamily="18" charset="0"/>
                <a:cs typeface="Times New Roman" pitchFamily="18" charset="0"/>
              </a:rPr>
              <a:t>MAC Sublayer</a:t>
            </a:r>
          </a:p>
        </p:txBody>
      </p:sp>
      <p:sp>
        <p:nvSpPr>
          <p:cNvPr id="3" name="Rectangle 2"/>
          <p:cNvSpPr/>
          <p:nvPr/>
        </p:nvSpPr>
        <p:spPr>
          <a:xfrm>
            <a:off x="381000" y="1066800"/>
            <a:ext cx="8153400" cy="5509200"/>
          </a:xfrm>
          <a:prstGeom prst="rect">
            <a:avLst/>
          </a:prstGeom>
        </p:spPr>
        <p:txBody>
          <a:bodyPr wrap="square">
            <a:spAutoFit/>
          </a:bodyPr>
          <a:lstStyle/>
          <a:p>
            <a:r>
              <a:rPr lang="en-US" sz="3200" dirty="0">
                <a:latin typeface="Times New Roman" pitchFamily="18" charset="0"/>
                <a:cs typeface="Times New Roman" pitchFamily="18" charset="0"/>
              </a:rPr>
              <a:t>Gigabit Ethernet has two distinctive approaches for medium access: half-duplex and full-duplex.</a:t>
            </a:r>
          </a:p>
          <a:p>
            <a:endParaRPr lang="en-US" sz="3200" dirty="0">
              <a:latin typeface="Times New Roman" pitchFamily="18" charset="0"/>
              <a:cs typeface="Times New Roman" pitchFamily="18" charset="0"/>
            </a:endParaRPr>
          </a:p>
          <a:p>
            <a:r>
              <a:rPr lang="en-US" sz="3200" dirty="0"/>
              <a:t>Almost all implementations of Gigabit Ethernet follow the full-duplex approach.</a:t>
            </a:r>
          </a:p>
          <a:p>
            <a:endParaRPr lang="en-US" sz="3200" dirty="0">
              <a:latin typeface="Times New Roman" pitchFamily="18" charset="0"/>
              <a:cs typeface="Times New Roman" pitchFamily="18" charset="0"/>
            </a:endParaRPr>
          </a:p>
          <a:p>
            <a:r>
              <a:rPr lang="en-US" sz="3200" dirty="0"/>
              <a:t>In the </a:t>
            </a:r>
            <a:r>
              <a:rPr lang="en-US" sz="3200" b="1" dirty="0"/>
              <a:t>full-duplex mode </a:t>
            </a:r>
            <a:r>
              <a:rPr lang="en-US" sz="3200" dirty="0"/>
              <a:t>of Gigabit Ethernet, there is no collision; the maximum length of the cable is determined  by the signal attenuation </a:t>
            </a:r>
            <a:br>
              <a:rPr lang="en-US" sz="3200" dirty="0"/>
            </a:br>
            <a:r>
              <a:rPr lang="en-US" sz="3200" dirty="0"/>
              <a:t>in the cable.</a:t>
            </a:r>
          </a:p>
          <a:p>
            <a:endParaRPr lang="en-US" sz="3200" dirty="0">
              <a:latin typeface="Times New Roman" pitchFamily="18" charset="0"/>
              <a:cs typeface="Times New Roman"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382000" cy="4524315"/>
          </a:xfrm>
          <a:prstGeom prst="rect">
            <a:avLst/>
          </a:prstGeom>
        </p:spPr>
        <p:txBody>
          <a:bodyPr wrap="square">
            <a:spAutoFit/>
          </a:bodyPr>
          <a:lstStyle/>
          <a:p>
            <a:r>
              <a:rPr lang="en-US" sz="3200" b="1" dirty="0">
                <a:latin typeface="Times New Roman" pitchFamily="18" charset="0"/>
                <a:cs typeface="Times New Roman" pitchFamily="18" charset="0"/>
              </a:rPr>
              <a:t>Half-Duplex Mode</a:t>
            </a:r>
          </a:p>
          <a:p>
            <a:r>
              <a:rPr lang="en-US" sz="3200" dirty="0">
                <a:latin typeface="Times New Roman" pitchFamily="18" charset="0"/>
                <a:cs typeface="Times New Roman" pitchFamily="18" charset="0"/>
              </a:rPr>
              <a:t>Gigabit Ethernet can also be used in half-duplex mode, although it is rare.</a:t>
            </a:r>
          </a:p>
          <a:p>
            <a:endParaRPr lang="en-US" sz="3200" dirty="0">
              <a:latin typeface="Times New Roman" pitchFamily="18" charset="0"/>
              <a:cs typeface="Times New Roman" pitchFamily="18" charset="0"/>
            </a:endParaRPr>
          </a:p>
          <a:p>
            <a:r>
              <a:rPr lang="en-US" sz="3200" dirty="0"/>
              <a:t>A switch can be replaced by a hub, which acts as the common cable in which a collision might occur. </a:t>
            </a:r>
          </a:p>
          <a:p>
            <a:endParaRPr lang="en-US" sz="3200" dirty="0"/>
          </a:p>
          <a:p>
            <a:r>
              <a:rPr lang="en-US" sz="3200" dirty="0"/>
              <a:t>The half-duplex approach uses </a:t>
            </a:r>
            <a:r>
              <a:rPr lang="en-US" sz="3200" b="1" i="1" dirty="0"/>
              <a:t>CSMAlCD.</a:t>
            </a:r>
            <a:endParaRPr lang="en-US" sz="3200" b="1" dirty="0">
              <a:latin typeface="Times New Roman" pitchFamily="18" charset="0"/>
              <a:cs typeface="Times New Roman"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153400" cy="2677656"/>
          </a:xfrm>
          <a:prstGeom prst="rect">
            <a:avLst/>
          </a:prstGeom>
        </p:spPr>
        <p:txBody>
          <a:bodyPr wrap="square">
            <a:spAutoFit/>
          </a:bodyPr>
          <a:lstStyle/>
          <a:p>
            <a:pPr algn="ctr"/>
            <a:r>
              <a:rPr lang="en-US" sz="3600" b="1" dirty="0">
                <a:latin typeface="Times New Roman" pitchFamily="18" charset="0"/>
                <a:cs typeface="Times New Roman" pitchFamily="18" charset="0"/>
              </a:rPr>
              <a:t>Physical Layer</a:t>
            </a:r>
          </a:p>
          <a:p>
            <a:pPr algn="ctr"/>
            <a:endParaRPr lang="en-US" sz="3600" b="1" dirty="0">
              <a:latin typeface="Times New Roman" pitchFamily="18" charset="0"/>
              <a:cs typeface="Times New Roman" pitchFamily="18" charset="0"/>
            </a:endParaRPr>
          </a:p>
          <a:p>
            <a:r>
              <a:rPr lang="en-US" sz="3200" dirty="0">
                <a:latin typeface="Times New Roman" pitchFamily="18" charset="0"/>
                <a:cs typeface="Times New Roman" pitchFamily="18" charset="0"/>
              </a:rPr>
              <a:t>The physical layer in Gigabit Ethernet is more complicated than that in Standard or Fast</a:t>
            </a:r>
          </a:p>
          <a:p>
            <a:r>
              <a:rPr lang="en-US" sz="3200" dirty="0">
                <a:latin typeface="Times New Roman" pitchFamily="18" charset="0"/>
                <a:cs typeface="Times New Roman" pitchFamily="18" charset="0"/>
              </a:rPr>
              <a:t>Ethernet.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7620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966210" y="152400"/>
            <a:ext cx="5560305"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Topologies of Gigabit Ethernet</a:t>
            </a:r>
          </a:p>
        </p:txBody>
      </p:sp>
      <p:pic>
        <p:nvPicPr>
          <p:cNvPr id="5" name="Picture 6"/>
          <p:cNvPicPr>
            <a:picLocks noChangeAspect="1" noChangeArrowheads="1"/>
          </p:cNvPicPr>
          <p:nvPr/>
        </p:nvPicPr>
        <p:blipFill>
          <a:blip r:embed="rId2"/>
          <a:srcRect/>
          <a:stretch>
            <a:fillRect/>
          </a:stretch>
        </p:blipFill>
        <p:spPr bwMode="auto">
          <a:xfrm>
            <a:off x="1905000" y="850900"/>
            <a:ext cx="5867399" cy="5865510"/>
          </a:xfrm>
          <a:prstGeom prst="rect">
            <a:avLst/>
          </a:prstGeom>
          <a:noFill/>
          <a:ln w="9525">
            <a:noFill/>
            <a:miter lim="800000"/>
            <a:headEnd/>
            <a:tailEnd/>
          </a:ln>
          <a:effec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339514" y="609600"/>
            <a:ext cx="6176691"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Gigabit Ethernet implementations</a:t>
            </a:r>
          </a:p>
        </p:txBody>
      </p:sp>
      <p:pic>
        <p:nvPicPr>
          <p:cNvPr id="5" name="Picture 6"/>
          <p:cNvPicPr>
            <a:picLocks noChangeAspect="1" noChangeArrowheads="1"/>
          </p:cNvPicPr>
          <p:nvPr/>
        </p:nvPicPr>
        <p:blipFill>
          <a:blip r:embed="rId2"/>
          <a:srcRect/>
          <a:stretch>
            <a:fillRect/>
          </a:stretch>
        </p:blipFill>
        <p:spPr bwMode="auto">
          <a:xfrm>
            <a:off x="420687" y="2209800"/>
            <a:ext cx="8175301" cy="2971800"/>
          </a:xfrm>
          <a:prstGeom prst="rect">
            <a:avLst/>
          </a:prstGeom>
          <a:noFill/>
          <a:ln w="9525">
            <a:noFill/>
            <a:miter lim="800000"/>
            <a:headEnd/>
            <a:tailEnd/>
          </a:ln>
          <a:effectLst/>
        </p:spPr>
      </p:pic>
      <p:sp>
        <p:nvSpPr>
          <p:cNvPr id="6" name="TextBox 5"/>
          <p:cNvSpPr txBox="1"/>
          <p:nvPr/>
        </p:nvSpPr>
        <p:spPr>
          <a:xfrm>
            <a:off x="6858000" y="5410200"/>
            <a:ext cx="2286000" cy="830997"/>
          </a:xfrm>
          <a:prstGeom prst="rect">
            <a:avLst/>
          </a:prstGeom>
          <a:noFill/>
        </p:spPr>
        <p:txBody>
          <a:bodyPr wrap="square" rtlCol="0">
            <a:spAutoFit/>
          </a:bodyPr>
          <a:lstStyle/>
          <a:p>
            <a:r>
              <a:rPr lang="en-US" sz="2400" dirty="0">
                <a:latin typeface="Times New Roman" pitchFamily="18" charset="0"/>
                <a:cs typeface="Times New Roman" pitchFamily="18" charset="0"/>
              </a:rPr>
              <a:t>Cat-5 Twisted pair cable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538186" y="685800"/>
            <a:ext cx="8387232"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Encoding in Gigabit Ethernet implementations</a:t>
            </a:r>
          </a:p>
        </p:txBody>
      </p:sp>
      <p:pic>
        <p:nvPicPr>
          <p:cNvPr id="5" name="Picture 6"/>
          <p:cNvPicPr>
            <a:picLocks noChangeAspect="1" noChangeArrowheads="1"/>
          </p:cNvPicPr>
          <p:nvPr/>
        </p:nvPicPr>
        <p:blipFill>
          <a:blip r:embed="rId2"/>
          <a:srcRect/>
          <a:stretch>
            <a:fillRect/>
          </a:stretch>
        </p:blipFill>
        <p:spPr bwMode="auto">
          <a:xfrm>
            <a:off x="384175" y="2443163"/>
            <a:ext cx="8378825" cy="3177227"/>
          </a:xfrm>
          <a:prstGeom prst="rect">
            <a:avLst/>
          </a:prstGeom>
          <a:noFill/>
          <a:ln w="9525">
            <a:noFill/>
            <a:miter lim="800000"/>
            <a:headEnd/>
            <a:tailEnd/>
          </a:ln>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28600"/>
            <a:ext cx="8153400" cy="6494085"/>
          </a:xfrm>
          <a:prstGeom prst="rect">
            <a:avLst/>
          </a:prstGeom>
        </p:spPr>
        <p:txBody>
          <a:bodyPr wrap="square">
            <a:spAutoFit/>
          </a:bodyPr>
          <a:lstStyle/>
          <a:p>
            <a:r>
              <a:rPr lang="en-US" sz="3200" dirty="0">
                <a:latin typeface="Times New Roman" pitchFamily="18" charset="0"/>
                <a:cs typeface="Times New Roman" pitchFamily="18" charset="0"/>
              </a:rPr>
              <a:t>The </a:t>
            </a:r>
            <a:r>
              <a:rPr lang="en-US" sz="3200" b="1" dirty="0">
                <a:latin typeface="Times New Roman" pitchFamily="18" charset="0"/>
                <a:cs typeface="Times New Roman" pitchFamily="18" charset="0"/>
              </a:rPr>
              <a:t>two-wire</a:t>
            </a:r>
            <a:r>
              <a:rPr lang="en-US" sz="3200" dirty="0">
                <a:latin typeface="Times New Roman" pitchFamily="18" charset="0"/>
                <a:cs typeface="Times New Roman" pitchFamily="18" charset="0"/>
              </a:rPr>
              <a:t> implementations use an NRZ scheme, but NRZ </a:t>
            </a:r>
            <a:r>
              <a:rPr lang="en-US" sz="3200" b="1" dirty="0">
                <a:latin typeface="Times New Roman" pitchFamily="18" charset="0"/>
                <a:cs typeface="Times New Roman" pitchFamily="18" charset="0"/>
              </a:rPr>
              <a:t>does not self-synchronize </a:t>
            </a:r>
            <a:r>
              <a:rPr lang="en-US" sz="3200" dirty="0">
                <a:latin typeface="Times New Roman" pitchFamily="18" charset="0"/>
                <a:cs typeface="Times New Roman" pitchFamily="18" charset="0"/>
              </a:rPr>
              <a:t>properly.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To synchronize bits, particularly at this high</a:t>
            </a:r>
          </a:p>
          <a:p>
            <a:r>
              <a:rPr lang="en-US" sz="3200" dirty="0">
                <a:latin typeface="Times New Roman" pitchFamily="18" charset="0"/>
                <a:cs typeface="Times New Roman" pitchFamily="18" charset="0"/>
              </a:rPr>
              <a:t>data rate, 8B/10B block encoding, is used.</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This block encoding prevents long sequences of 0s or 1s in the stream, but the resulting</a:t>
            </a:r>
          </a:p>
          <a:p>
            <a:r>
              <a:rPr lang="en-US" sz="3200" dirty="0">
                <a:latin typeface="Times New Roman" pitchFamily="18" charset="0"/>
                <a:cs typeface="Times New Roman" pitchFamily="18" charset="0"/>
              </a:rPr>
              <a:t>stream is 1.25 Gbps.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In this implementation, one wire (fiber or STP) is used for sending and one for receiving.</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0"/>
            <a:ext cx="8001000" cy="5509200"/>
          </a:xfrm>
          <a:prstGeom prst="rect">
            <a:avLst/>
          </a:prstGeom>
        </p:spPr>
        <p:txBody>
          <a:bodyPr wrap="square">
            <a:spAutoFit/>
          </a:bodyPr>
          <a:lstStyle/>
          <a:p>
            <a:r>
              <a:rPr lang="en-US" sz="3200" dirty="0">
                <a:latin typeface="Times New Roman" pitchFamily="18" charset="0"/>
                <a:cs typeface="Times New Roman" pitchFamily="18" charset="0"/>
              </a:rPr>
              <a:t>In the </a:t>
            </a:r>
            <a:r>
              <a:rPr lang="en-US" sz="3200" b="1" dirty="0">
                <a:latin typeface="Times New Roman" pitchFamily="18" charset="0"/>
                <a:cs typeface="Times New Roman" pitchFamily="18" charset="0"/>
              </a:rPr>
              <a:t>four-wire </a:t>
            </a:r>
            <a:r>
              <a:rPr lang="en-US" sz="3200" dirty="0">
                <a:latin typeface="Times New Roman" pitchFamily="18" charset="0"/>
                <a:cs typeface="Times New Roman" pitchFamily="18" charset="0"/>
              </a:rPr>
              <a:t>implementation it is not possible to have 2 wires for input and 2 for</a:t>
            </a:r>
          </a:p>
          <a:p>
            <a:r>
              <a:rPr lang="en-US" sz="3200" dirty="0">
                <a:latin typeface="Times New Roman" pitchFamily="18" charset="0"/>
                <a:cs typeface="Times New Roman" pitchFamily="18" charset="0"/>
              </a:rPr>
              <a:t>output, because each wire would need to carry 500 Mbps, which exceeds the capacity</a:t>
            </a:r>
          </a:p>
          <a:p>
            <a:r>
              <a:rPr lang="en-US" sz="3200" dirty="0">
                <a:latin typeface="Times New Roman" pitchFamily="18" charset="0"/>
                <a:cs typeface="Times New Roman" pitchFamily="18" charset="0"/>
              </a:rPr>
              <a:t>for category 5 UTP.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As a solution, </a:t>
            </a:r>
            <a:r>
              <a:rPr lang="en-US" sz="3200" b="1" dirty="0">
                <a:latin typeface="Times New Roman" pitchFamily="18" charset="0"/>
                <a:cs typeface="Times New Roman" pitchFamily="18" charset="0"/>
              </a:rPr>
              <a:t>4D-PAM5</a:t>
            </a:r>
            <a:r>
              <a:rPr lang="en-US" sz="3200" dirty="0">
                <a:latin typeface="Times New Roman" pitchFamily="18" charset="0"/>
                <a:cs typeface="Times New Roman" pitchFamily="18" charset="0"/>
              </a:rPr>
              <a:t> encoding is used</a:t>
            </a:r>
          </a:p>
          <a:p>
            <a:r>
              <a:rPr lang="en-US" sz="3200" dirty="0">
                <a:latin typeface="Times New Roman" pitchFamily="18" charset="0"/>
                <a:cs typeface="Times New Roman" pitchFamily="18" charset="0"/>
              </a:rPr>
              <a:t>to reduce the bandwidth. Thus, all four wires are involved in both input and output; each</a:t>
            </a:r>
          </a:p>
          <a:p>
            <a:r>
              <a:rPr lang="en-US" sz="3200" dirty="0">
                <a:latin typeface="Times New Roman" pitchFamily="18" charset="0"/>
                <a:cs typeface="Times New Roman" pitchFamily="18" charset="0"/>
              </a:rPr>
              <a:t>wire carries </a:t>
            </a:r>
            <a:r>
              <a:rPr lang="en-US" sz="3200" b="1" dirty="0">
                <a:latin typeface="Times New Roman" pitchFamily="18" charset="0"/>
                <a:cs typeface="Times New Roman" pitchFamily="18" charset="0"/>
              </a:rPr>
              <a:t>250 Mbps</a:t>
            </a:r>
            <a:r>
              <a:rPr lang="en-US" sz="3200" dirty="0">
                <a:latin typeface="Times New Roman" pitchFamily="18" charset="0"/>
                <a:cs typeface="Times New Roman" pitchFamily="18" charset="0"/>
              </a:rPr>
              <a:t>, which is in the range for category 5 UTP cable.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09600" y="1600200"/>
            <a:ext cx="8454559"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Summary of Gigabit Ethernet implementations</a:t>
            </a:r>
          </a:p>
        </p:txBody>
      </p:sp>
      <p:pic>
        <p:nvPicPr>
          <p:cNvPr id="3" name="Picture 4"/>
          <p:cNvPicPr>
            <a:picLocks noChangeAspect="1" noChangeArrowheads="1"/>
          </p:cNvPicPr>
          <p:nvPr/>
        </p:nvPicPr>
        <p:blipFill>
          <a:blip r:embed="rId2"/>
          <a:srcRect/>
          <a:stretch>
            <a:fillRect/>
          </a:stretch>
        </p:blipFill>
        <p:spPr bwMode="auto">
          <a:xfrm>
            <a:off x="639763" y="2270125"/>
            <a:ext cx="8222997" cy="2911475"/>
          </a:xfrm>
          <a:prstGeom prst="rect">
            <a:avLst/>
          </a:prstGeom>
          <a:noFill/>
          <a:ln w="9525">
            <a:noFill/>
            <a:miter lim="800000"/>
            <a:headEnd/>
            <a:tailEnd/>
          </a:ln>
          <a:effec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304800" y="856357"/>
            <a:ext cx="8610600" cy="6001643"/>
          </a:xfrm>
          <a:prstGeom prst="rect">
            <a:avLst/>
          </a:prstGeom>
          <a:noFill/>
          <a:ln w="9525">
            <a:noFill/>
            <a:miter lim="800000"/>
            <a:headEnd/>
            <a:tailEnd/>
          </a:ln>
          <a:effectLst/>
        </p:spPr>
        <p:txBody>
          <a:bodyPr wrap="square" anchor="ctr">
            <a:spAutoFit/>
          </a:bodyPr>
          <a:lstStyle/>
          <a:p>
            <a:r>
              <a:rPr lang="en-US" sz="3200" dirty="0"/>
              <a:t>Wireless communication is one of the fastest-growing technologies. The demand for connecting devices without the use of cables is increasing everywhere. </a:t>
            </a:r>
          </a:p>
          <a:p>
            <a:r>
              <a:rPr lang="en-US" sz="3200" dirty="0"/>
              <a:t>Wireless LANs can be found on </a:t>
            </a:r>
            <a:r>
              <a:rPr lang="en-US" sz="3200" b="1" dirty="0"/>
              <a:t>college campuses, in office buildings, and in many public areas.</a:t>
            </a:r>
          </a:p>
          <a:p>
            <a:endParaRPr lang="en-US" sz="3200" dirty="0"/>
          </a:p>
          <a:p>
            <a:r>
              <a:rPr lang="en-US" sz="3200" dirty="0"/>
              <a:t>we concentrate on two promising wireless technologies for LANs: </a:t>
            </a:r>
            <a:r>
              <a:rPr lang="en-US" sz="3200" b="1" dirty="0"/>
              <a:t>IEEE 802.11 wireless LANs, sometimes called wireless Ethernet</a:t>
            </a:r>
            <a:r>
              <a:rPr lang="en-US" sz="3200" dirty="0"/>
              <a:t>, </a:t>
            </a:r>
          </a:p>
          <a:p>
            <a:r>
              <a:rPr lang="en-US" sz="3200" dirty="0"/>
              <a:t>and </a:t>
            </a:r>
            <a:r>
              <a:rPr lang="en-US" sz="3200" b="1" dirty="0"/>
              <a:t>Bluetooth</a:t>
            </a:r>
            <a:r>
              <a:rPr lang="en-US" sz="3200" dirty="0"/>
              <a:t>, a technology for small wireless LANs.</a:t>
            </a:r>
            <a:endParaRPr lang="en-US" sz="3200" dirty="0">
              <a:latin typeface="Times New Roman" pitchFamily="18" charset="0"/>
            </a:endParaRPr>
          </a:p>
        </p:txBody>
      </p:sp>
      <p:sp>
        <p:nvSpPr>
          <p:cNvPr id="3" name="Rectangle 2"/>
          <p:cNvSpPr/>
          <p:nvPr/>
        </p:nvSpPr>
        <p:spPr>
          <a:xfrm>
            <a:off x="2209800" y="152400"/>
            <a:ext cx="5588261" cy="646331"/>
          </a:xfrm>
          <a:prstGeom prst="rect">
            <a:avLst/>
          </a:prstGeom>
        </p:spPr>
        <p:txBody>
          <a:bodyPr wrap="none">
            <a:spAutoFit/>
          </a:bodyPr>
          <a:lstStyle/>
          <a:p>
            <a:r>
              <a:rPr lang="en-US" sz="3600" b="1" dirty="0">
                <a:latin typeface="Times New Roman" pitchFamily="18" charset="0"/>
                <a:cs typeface="Times New Roman" pitchFamily="18" charset="0"/>
              </a:rPr>
              <a:t>IEEE 802.11 wireless LANs</a:t>
            </a:r>
            <a:endParaRPr lang="en-US" sz="3600" dirty="0">
              <a:latin typeface="Times New Roman" pitchFamily="18" charset="0"/>
              <a:cs typeface="Times New Roman"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838200"/>
            <a:ext cx="7772400" cy="2554545"/>
          </a:xfrm>
          <a:prstGeom prst="rect">
            <a:avLst/>
          </a:prstGeom>
        </p:spPr>
        <p:txBody>
          <a:bodyPr wrap="square">
            <a:spAutoFit/>
          </a:bodyPr>
          <a:lstStyle/>
          <a:p>
            <a:pPr algn="just"/>
            <a:r>
              <a:rPr lang="en-US" sz="3200" b="1" dirty="0"/>
              <a:t>IEEE 802.11 wireless LANs : </a:t>
            </a:r>
          </a:p>
          <a:p>
            <a:pPr algn="just"/>
            <a:endParaRPr lang="en-US" sz="3200" b="1" dirty="0">
              <a:latin typeface="Times New Roman" pitchFamily="18" charset="0"/>
            </a:endParaRPr>
          </a:p>
          <a:p>
            <a:pPr algn="just"/>
            <a:r>
              <a:rPr lang="en-US" sz="3200" dirty="0">
                <a:latin typeface="Times New Roman" pitchFamily="18" charset="0"/>
              </a:rPr>
              <a:t>IEEE has defined the specifications for a wireless LAN, called IEEE 802.11, which covers the physical and data link layers.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4478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22860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117462" y="1600200"/>
            <a:ext cx="673113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MAC layers in IEEE 802.11 standard</a:t>
            </a:r>
          </a:p>
        </p:txBody>
      </p:sp>
      <p:pic>
        <p:nvPicPr>
          <p:cNvPr id="5" name="Picture 6"/>
          <p:cNvPicPr>
            <a:picLocks noChangeAspect="1" noChangeArrowheads="1"/>
          </p:cNvPicPr>
          <p:nvPr/>
        </p:nvPicPr>
        <p:blipFill>
          <a:blip r:embed="rId2"/>
          <a:srcRect/>
          <a:stretch>
            <a:fillRect/>
          </a:stretch>
        </p:blipFill>
        <p:spPr bwMode="auto">
          <a:xfrm>
            <a:off x="206375" y="2741613"/>
            <a:ext cx="8556625" cy="3811587"/>
          </a:xfrm>
          <a:prstGeom prst="rect">
            <a:avLst/>
          </a:prstGeom>
          <a:noFill/>
          <a:ln w="9525">
            <a:noFill/>
            <a:miter lim="800000"/>
            <a:headEnd/>
            <a:tailEnd/>
          </a:ln>
          <a:effectLst/>
        </p:spPr>
      </p:pic>
      <p:sp>
        <p:nvSpPr>
          <p:cNvPr id="6" name="Rectangle 5"/>
          <p:cNvSpPr/>
          <p:nvPr/>
        </p:nvSpPr>
        <p:spPr>
          <a:xfrm>
            <a:off x="3048000" y="304800"/>
            <a:ext cx="3167598" cy="707886"/>
          </a:xfrm>
          <a:prstGeom prst="rect">
            <a:avLst/>
          </a:prstGeom>
        </p:spPr>
        <p:txBody>
          <a:bodyPr wrap="none">
            <a:spAutoFit/>
          </a:bodyPr>
          <a:lstStyle/>
          <a:p>
            <a:r>
              <a:rPr lang="en-US" sz="4000" b="1" i="1" dirty="0"/>
              <a:t>MAC Sublayer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609600"/>
            <a:ext cx="7924800" cy="5509200"/>
          </a:xfrm>
          <a:prstGeom prst="rect">
            <a:avLst/>
          </a:prstGeom>
        </p:spPr>
        <p:txBody>
          <a:bodyPr wrap="square">
            <a:spAutoFit/>
          </a:bodyPr>
          <a:lstStyle/>
          <a:p>
            <a:r>
              <a:rPr lang="en-US" sz="3200" dirty="0"/>
              <a:t>The </a:t>
            </a:r>
            <a:r>
              <a:rPr lang="en-US" sz="3200" b="1" dirty="0"/>
              <a:t>logical link control</a:t>
            </a:r>
            <a:r>
              <a:rPr lang="en-US" sz="3200" dirty="0"/>
              <a:t>(</a:t>
            </a:r>
            <a:r>
              <a:rPr lang="en-US" sz="3200" b="1" dirty="0"/>
              <a:t>LLC</a:t>
            </a:r>
            <a:r>
              <a:rPr lang="en-US" sz="3200" dirty="0"/>
              <a:t>) sublayer provides multiplexing mechanisms that make it possible for several network protocols.</a:t>
            </a:r>
          </a:p>
          <a:p>
            <a:endParaRPr lang="en-US" sz="3200" dirty="0"/>
          </a:p>
          <a:p>
            <a:r>
              <a:rPr lang="en-US" sz="3200" dirty="0"/>
              <a:t>It can also provide </a:t>
            </a:r>
            <a:r>
              <a:rPr lang="en-US" sz="3200" dirty="0">
                <a:hlinkClick r:id="rId2" tooltip="Flow control (data)"/>
              </a:rPr>
              <a:t>flow control</a:t>
            </a:r>
            <a:r>
              <a:rPr lang="en-US" sz="3200" dirty="0"/>
              <a:t> and </a:t>
            </a:r>
            <a:r>
              <a:rPr lang="en-US" sz="3200" u="sng" dirty="0">
                <a:hlinkClick r:id="rId3" tooltip="Automatic repeat request"/>
              </a:rPr>
              <a:t>automatic repeat request</a:t>
            </a:r>
            <a:r>
              <a:rPr lang="en-US" sz="3200" dirty="0"/>
              <a:t>(ARQ) error management mechanisms.</a:t>
            </a:r>
          </a:p>
          <a:p>
            <a:endParaRPr lang="en-US" sz="3200" dirty="0"/>
          </a:p>
          <a:p>
            <a:r>
              <a:rPr lang="en-US" sz="3200" dirty="0"/>
              <a:t>The LLC sublayer acts as an interface between the </a:t>
            </a:r>
            <a:r>
              <a:rPr lang="en-US" sz="3200" dirty="0">
                <a:hlinkClick r:id="rId4" tooltip="Media access control"/>
              </a:rPr>
              <a:t>media access control</a:t>
            </a:r>
            <a:r>
              <a:rPr lang="en-US" sz="3200" dirty="0"/>
              <a:t> (MAC) sublayer and the </a:t>
            </a:r>
            <a:r>
              <a:rPr lang="en-US" sz="3200" dirty="0">
                <a:hlinkClick r:id="rId5" tooltip="Network layer"/>
              </a:rPr>
              <a:t>network layer</a:t>
            </a:r>
            <a:r>
              <a:rPr lang="en-US" sz="3200" dirty="0"/>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04800"/>
            <a:ext cx="8153400" cy="4031873"/>
          </a:xfrm>
          <a:prstGeom prst="rect">
            <a:avLst/>
          </a:prstGeom>
        </p:spPr>
        <p:txBody>
          <a:bodyPr wrap="square">
            <a:spAutoFit/>
          </a:bodyPr>
          <a:lstStyle/>
          <a:p>
            <a:r>
              <a:rPr lang="en-US" sz="3200" b="1" dirty="0"/>
              <a:t>I] Distributed Coordination Function:-(DCF)</a:t>
            </a:r>
          </a:p>
          <a:p>
            <a:endParaRPr lang="en-US" sz="3200" dirty="0"/>
          </a:p>
          <a:p>
            <a:r>
              <a:rPr lang="en-US" sz="3200" dirty="0"/>
              <a:t>One of the two protocols defined by IEEE at the MAC sublayer is called the distributed </a:t>
            </a:r>
          </a:p>
          <a:p>
            <a:r>
              <a:rPr lang="en-US" sz="3200" dirty="0"/>
              <a:t>coordination function (DCF). </a:t>
            </a:r>
          </a:p>
          <a:p>
            <a:endParaRPr lang="en-US" sz="3200" dirty="0"/>
          </a:p>
          <a:p>
            <a:r>
              <a:rPr lang="en-US" sz="3200" dirty="0"/>
              <a:t>DCF uses </a:t>
            </a:r>
            <a:r>
              <a:rPr lang="en-US" sz="3200" b="1" dirty="0"/>
              <a:t>CSMA/CA </a:t>
            </a:r>
            <a:r>
              <a:rPr lang="en-US" sz="3200" dirty="0"/>
              <a:t>as the access method. Wireless LANs cannot implement CSMA/CD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7786875" cy="646331"/>
          </a:xfrm>
          <a:prstGeom prst="rect">
            <a:avLst/>
          </a:prstGeom>
        </p:spPr>
        <p:txBody>
          <a:bodyPr wrap="none">
            <a:spAutoFit/>
          </a:bodyPr>
          <a:lstStyle/>
          <a:p>
            <a:r>
              <a:rPr lang="en-US" sz="3600" b="1" dirty="0"/>
              <a:t>II] Point Coordination Function (PCF): -</a:t>
            </a:r>
          </a:p>
        </p:txBody>
      </p:sp>
      <p:sp>
        <p:nvSpPr>
          <p:cNvPr id="3" name="Rectangle 2"/>
          <p:cNvSpPr/>
          <p:nvPr/>
        </p:nvSpPr>
        <p:spPr>
          <a:xfrm>
            <a:off x="609600" y="838200"/>
            <a:ext cx="8382000" cy="6001643"/>
          </a:xfrm>
          <a:prstGeom prst="rect">
            <a:avLst/>
          </a:prstGeom>
        </p:spPr>
        <p:txBody>
          <a:bodyPr wrap="square">
            <a:spAutoFit/>
          </a:bodyPr>
          <a:lstStyle/>
          <a:p>
            <a:r>
              <a:rPr lang="en-US" sz="3200" dirty="0"/>
              <a:t>The point coordination function (PCF) is an optional access method that can be implemented</a:t>
            </a:r>
          </a:p>
          <a:p>
            <a:r>
              <a:rPr lang="en-US" sz="3200" dirty="0"/>
              <a:t>in an infrastructure network (not in an ad hoc network). </a:t>
            </a:r>
          </a:p>
          <a:p>
            <a:r>
              <a:rPr lang="en-US" sz="3200" dirty="0"/>
              <a:t>It is implemented on top of the DCF and is used mostly for time-sensitive transmission.</a:t>
            </a:r>
          </a:p>
          <a:p>
            <a:r>
              <a:rPr lang="en-US" sz="3200" dirty="0"/>
              <a:t>PCF has a centralized, contention-free polling access method. </a:t>
            </a:r>
          </a:p>
          <a:p>
            <a:r>
              <a:rPr lang="en-US" sz="3200" dirty="0"/>
              <a:t>The AP performs polling for stations that are capable of being polled. The stations are polled one after another, sending any data they have to the AP.</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905000" y="609600"/>
            <a:ext cx="5801588"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Frame format in MAC layer</a:t>
            </a:r>
          </a:p>
        </p:txBody>
      </p:sp>
      <p:pic>
        <p:nvPicPr>
          <p:cNvPr id="5" name="Picture 6"/>
          <p:cNvPicPr>
            <a:picLocks noChangeAspect="1" noChangeArrowheads="1"/>
          </p:cNvPicPr>
          <p:nvPr/>
        </p:nvPicPr>
        <p:blipFill>
          <a:blip r:embed="rId2"/>
          <a:srcRect/>
          <a:stretch>
            <a:fillRect/>
          </a:stretch>
        </p:blipFill>
        <p:spPr bwMode="auto">
          <a:xfrm>
            <a:off x="246063" y="2286001"/>
            <a:ext cx="8593137" cy="2514600"/>
          </a:xfrm>
          <a:prstGeom prst="rect">
            <a:avLst/>
          </a:prstGeom>
          <a:noFill/>
          <a:ln w="9525">
            <a:noFill/>
            <a:miter lim="800000"/>
            <a:headEnd/>
            <a:tailEnd/>
          </a:ln>
          <a:effec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133600" y="381000"/>
            <a:ext cx="3772186"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Subfields in FC field</a:t>
            </a:r>
          </a:p>
        </p:txBody>
      </p:sp>
      <p:pic>
        <p:nvPicPr>
          <p:cNvPr id="3" name="Picture 4"/>
          <p:cNvPicPr>
            <a:picLocks noChangeAspect="1" noChangeArrowheads="1"/>
          </p:cNvPicPr>
          <p:nvPr/>
        </p:nvPicPr>
        <p:blipFill>
          <a:blip r:embed="rId2"/>
          <a:srcRect/>
          <a:stretch>
            <a:fillRect/>
          </a:stretch>
        </p:blipFill>
        <p:spPr bwMode="auto">
          <a:xfrm>
            <a:off x="152400" y="1054100"/>
            <a:ext cx="8915400" cy="4946294"/>
          </a:xfrm>
          <a:prstGeom prst="rect">
            <a:avLst/>
          </a:prstGeom>
          <a:noFill/>
          <a:ln w="9525">
            <a:noFill/>
            <a:miter lim="800000"/>
            <a:headEnd/>
            <a:tailEnd/>
          </a:ln>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302127"/>
            <a:ext cx="7924800" cy="4031873"/>
          </a:xfrm>
          <a:prstGeom prst="rect">
            <a:avLst/>
          </a:prstGeom>
        </p:spPr>
        <p:txBody>
          <a:bodyPr wrap="square">
            <a:spAutoFit/>
          </a:bodyPr>
          <a:lstStyle/>
          <a:p>
            <a:r>
              <a:rPr lang="en-US" sz="3200" b="1" dirty="0"/>
              <a:t>D: - </a:t>
            </a:r>
            <a:r>
              <a:rPr lang="en-US" sz="3200" dirty="0"/>
              <a:t>In all frame types except one, this field defines the duration of the transmission</a:t>
            </a:r>
          </a:p>
          <a:p>
            <a:r>
              <a:rPr lang="en-US" sz="3200" dirty="0"/>
              <a:t>that is used to set the value of NAV (Network Allocation Vector).</a:t>
            </a:r>
          </a:p>
          <a:p>
            <a:endParaRPr lang="en-US" sz="3200" dirty="0"/>
          </a:p>
          <a:p>
            <a:r>
              <a:rPr lang="en-US" sz="3200" b="1" dirty="0"/>
              <a:t>Sequence control: - </a:t>
            </a:r>
            <a:r>
              <a:rPr lang="en-US" sz="3200" dirty="0"/>
              <a:t>This field defines the sequence number of the frame to be used</a:t>
            </a:r>
          </a:p>
          <a:p>
            <a:r>
              <a:rPr lang="en-US" sz="3200" dirty="0"/>
              <a:t>in flow control.</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762000"/>
            <a:ext cx="7772400" cy="4031873"/>
          </a:xfrm>
          <a:prstGeom prst="rect">
            <a:avLst/>
          </a:prstGeom>
        </p:spPr>
        <p:txBody>
          <a:bodyPr wrap="square">
            <a:spAutoFit/>
          </a:bodyPr>
          <a:lstStyle/>
          <a:p>
            <a:r>
              <a:rPr lang="en-US" sz="3200" b="1" dirty="0"/>
              <a:t>Frame body: -</a:t>
            </a:r>
          </a:p>
          <a:p>
            <a:r>
              <a:rPr lang="en-US" sz="3200" dirty="0"/>
              <a:t>This field, which can be between 0 and 2312 bytes, contains information based on the type and the subtype defined in the FC field.</a:t>
            </a:r>
          </a:p>
          <a:p>
            <a:endParaRPr lang="en-US" sz="3200" dirty="0"/>
          </a:p>
          <a:p>
            <a:r>
              <a:rPr lang="en-US" sz="3200" b="1" dirty="0"/>
              <a:t>FCS: -</a:t>
            </a:r>
          </a:p>
          <a:p>
            <a:r>
              <a:rPr lang="en-US" sz="3200" dirty="0"/>
              <a:t>The FCS field is 4 bytes long and contains a CRC-32 error detection sequence.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533400"/>
            <a:ext cx="7772400" cy="3539430"/>
          </a:xfrm>
          <a:prstGeom prst="rect">
            <a:avLst/>
          </a:prstGeom>
        </p:spPr>
        <p:txBody>
          <a:bodyPr wrap="square">
            <a:spAutoFit/>
          </a:bodyPr>
          <a:lstStyle/>
          <a:p>
            <a:r>
              <a:rPr lang="en-US" sz="3200" b="1" dirty="0"/>
              <a:t>Frame Types: -</a:t>
            </a:r>
          </a:p>
          <a:p>
            <a:r>
              <a:rPr lang="en-US" sz="3200" dirty="0"/>
              <a:t>A wireless LAN defined by IEEE 802.11 has three categories of frames: </a:t>
            </a:r>
          </a:p>
          <a:p>
            <a:endParaRPr lang="en-US" sz="3200" dirty="0"/>
          </a:p>
          <a:p>
            <a:r>
              <a:rPr lang="en-US" sz="3200" dirty="0"/>
              <a:t>1] Management frames, </a:t>
            </a:r>
          </a:p>
          <a:p>
            <a:r>
              <a:rPr lang="en-US" sz="3200" dirty="0"/>
              <a:t>2] Control frames, and</a:t>
            </a:r>
          </a:p>
          <a:p>
            <a:r>
              <a:rPr lang="en-US" sz="3200" dirty="0"/>
              <a:t>3] Data frames.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7848600" cy="5509200"/>
          </a:xfrm>
          <a:prstGeom prst="rect">
            <a:avLst/>
          </a:prstGeom>
        </p:spPr>
        <p:txBody>
          <a:bodyPr wrap="square">
            <a:spAutoFit/>
          </a:bodyPr>
          <a:lstStyle/>
          <a:p>
            <a:r>
              <a:rPr lang="en-US" sz="3200" b="1" dirty="0"/>
              <a:t>1] Management frames:</a:t>
            </a:r>
          </a:p>
          <a:p>
            <a:r>
              <a:rPr lang="en-US" sz="3200" dirty="0"/>
              <a:t>    Management frames are used for the initial communication between stations and access points. </a:t>
            </a:r>
          </a:p>
          <a:p>
            <a:endParaRPr lang="en-US" sz="3200" dirty="0"/>
          </a:p>
          <a:p>
            <a:endParaRPr lang="en-US" sz="3200" dirty="0"/>
          </a:p>
          <a:p>
            <a:endParaRPr lang="en-US" sz="3200" dirty="0"/>
          </a:p>
          <a:p>
            <a:r>
              <a:rPr lang="en-US" sz="3200" b="1" dirty="0"/>
              <a:t>2] Control Frames: -</a:t>
            </a:r>
          </a:p>
          <a:p>
            <a:r>
              <a:rPr lang="en-US" sz="3200" b="1" dirty="0"/>
              <a:t>    </a:t>
            </a:r>
            <a:r>
              <a:rPr lang="en-US" sz="3200" dirty="0"/>
              <a:t>Control frames are used for accessing the channel and acknowledging frames.</a:t>
            </a:r>
          </a:p>
          <a:p>
            <a:endParaRPr lang="en-US" sz="3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3240154" y="685800"/>
            <a:ext cx="2855846"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Control frames</a:t>
            </a:r>
          </a:p>
        </p:txBody>
      </p:sp>
      <p:pic>
        <p:nvPicPr>
          <p:cNvPr id="5" name="Picture 6"/>
          <p:cNvPicPr>
            <a:picLocks noChangeAspect="1" noChangeArrowheads="1"/>
          </p:cNvPicPr>
          <p:nvPr/>
        </p:nvPicPr>
        <p:blipFill>
          <a:blip r:embed="rId2"/>
          <a:srcRect/>
          <a:stretch>
            <a:fillRect/>
          </a:stretch>
        </p:blipFill>
        <p:spPr bwMode="auto">
          <a:xfrm>
            <a:off x="304800" y="2895600"/>
            <a:ext cx="8328025" cy="1600200"/>
          </a:xfrm>
          <a:prstGeom prst="rect">
            <a:avLst/>
          </a:prstGeom>
          <a:noFill/>
          <a:ln w="9525">
            <a:noFill/>
            <a:miter lim="800000"/>
            <a:headEnd/>
            <a:tailEnd/>
          </a:ln>
          <a:effec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85800"/>
            <a:ext cx="7543800" cy="1569660"/>
          </a:xfrm>
          <a:prstGeom prst="rect">
            <a:avLst/>
          </a:prstGeom>
        </p:spPr>
        <p:txBody>
          <a:bodyPr wrap="square">
            <a:spAutoFit/>
          </a:bodyPr>
          <a:lstStyle/>
          <a:p>
            <a:r>
              <a:rPr lang="en-US" sz="3200" b="1" dirty="0"/>
              <a:t>3] Data Frames: -</a:t>
            </a:r>
          </a:p>
          <a:p>
            <a:r>
              <a:rPr lang="en-US" sz="3200" dirty="0"/>
              <a:t>Data frames are used for carrying data and control information.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228600"/>
            <a:ext cx="7240636" cy="1077218"/>
          </a:xfrm>
          <a:prstGeom prst="rect">
            <a:avLst/>
          </a:prstGeom>
        </p:spPr>
        <p:txBody>
          <a:bodyPr wrap="none">
            <a:spAutoFit/>
          </a:bodyPr>
          <a:lstStyle/>
          <a:p>
            <a:r>
              <a:rPr lang="en-US" sz="3200" b="1" dirty="0"/>
              <a:t>Comparisons between Ethernet LANs and</a:t>
            </a:r>
          </a:p>
          <a:p>
            <a:pPr algn="ctr"/>
            <a:r>
              <a:rPr lang="en-US" sz="3200" b="1" dirty="0"/>
              <a:t>Wireless Network</a:t>
            </a:r>
          </a:p>
        </p:txBody>
      </p:sp>
      <p:graphicFrame>
        <p:nvGraphicFramePr>
          <p:cNvPr id="3" name="Table 2"/>
          <p:cNvGraphicFramePr>
            <a:graphicFrameLocks noGrp="1"/>
          </p:cNvGraphicFramePr>
          <p:nvPr/>
        </p:nvGraphicFramePr>
        <p:xfrm>
          <a:off x="609600" y="1397000"/>
          <a:ext cx="7924800" cy="4480560"/>
        </p:xfrm>
        <a:graphic>
          <a:graphicData uri="http://schemas.openxmlformats.org/drawingml/2006/table">
            <a:tbl>
              <a:tblPr firstRow="1" bandRow="1">
                <a:tableStyleId>{5940675A-B579-460E-94D1-54222C63F5DA}</a:tableStyleId>
              </a:tblPr>
              <a:tblGrid>
                <a:gridCol w="39624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370840">
                <a:tc>
                  <a:txBody>
                    <a:bodyPr/>
                    <a:lstStyle/>
                    <a:p>
                      <a:pPr algn="ctr"/>
                      <a:r>
                        <a:rPr lang="en-US" sz="2800" b="1" dirty="0"/>
                        <a:t>Ethernet</a:t>
                      </a:r>
                    </a:p>
                  </a:txBody>
                  <a:tcPr/>
                </a:tc>
                <a:tc>
                  <a:txBody>
                    <a:bodyPr/>
                    <a:lstStyle/>
                    <a:p>
                      <a:pPr algn="ctr"/>
                      <a:r>
                        <a:rPr lang="en-US" sz="2800" b="1" dirty="0"/>
                        <a:t>Wireless</a:t>
                      </a:r>
                      <a:r>
                        <a:rPr lang="en-US" sz="2800" b="1" baseline="0" dirty="0"/>
                        <a:t> Network</a:t>
                      </a:r>
                      <a:endParaRPr lang="en-US" sz="2800" b="1" dirty="0"/>
                    </a:p>
                  </a:txBody>
                  <a:tcPr/>
                </a:tc>
                <a:extLst>
                  <a:ext uri="{0D108BD9-81ED-4DB2-BD59-A6C34878D82A}">
                    <a16:rowId xmlns:a16="http://schemas.microsoft.com/office/drawing/2014/main" val="10000"/>
                  </a:ext>
                </a:extLst>
              </a:tr>
              <a:tr h="370840">
                <a:tc>
                  <a:txBody>
                    <a:bodyPr/>
                    <a:lstStyle/>
                    <a:p>
                      <a:r>
                        <a:rPr lang="en-US" sz="2800" dirty="0"/>
                        <a:t>1.IEEE</a:t>
                      </a:r>
                      <a:r>
                        <a:rPr lang="en-US" sz="2800" baseline="0" dirty="0"/>
                        <a:t> standard 802.3</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1.IEEE</a:t>
                      </a:r>
                      <a:r>
                        <a:rPr lang="en-US" sz="2800" baseline="0" dirty="0"/>
                        <a:t> standard 802.11</a:t>
                      </a:r>
                      <a:endParaRPr lang="en-US" sz="2800" dirty="0"/>
                    </a:p>
                  </a:txBody>
                  <a:tcPr/>
                </a:tc>
                <a:extLst>
                  <a:ext uri="{0D108BD9-81ED-4DB2-BD59-A6C34878D82A}">
                    <a16:rowId xmlns:a16="http://schemas.microsoft.com/office/drawing/2014/main" val="10001"/>
                  </a:ext>
                </a:extLst>
              </a:tr>
              <a:tr h="370840">
                <a:tc>
                  <a:txBody>
                    <a:bodyPr/>
                    <a:lstStyle/>
                    <a:p>
                      <a:r>
                        <a:rPr lang="en-US" sz="2800" dirty="0"/>
                        <a:t>2. Communication Medium is coaxial cable.</a:t>
                      </a:r>
                    </a:p>
                  </a:txBody>
                  <a:tcPr/>
                </a:tc>
                <a:tc>
                  <a:txBody>
                    <a:bodyPr/>
                    <a:lstStyle/>
                    <a:p>
                      <a:r>
                        <a:rPr lang="en-US" sz="2800" dirty="0"/>
                        <a:t>2.Infrared or radio frequencies act as medium.</a:t>
                      </a:r>
                    </a:p>
                  </a:txBody>
                  <a:tcPr/>
                </a:tc>
                <a:extLst>
                  <a:ext uri="{0D108BD9-81ED-4DB2-BD59-A6C34878D82A}">
                    <a16:rowId xmlns:a16="http://schemas.microsoft.com/office/drawing/2014/main" val="10002"/>
                  </a:ext>
                </a:extLst>
              </a:tr>
              <a:tr h="370840">
                <a:tc>
                  <a:txBody>
                    <a:bodyPr/>
                    <a:lstStyle/>
                    <a:p>
                      <a:r>
                        <a:rPr lang="en-US" sz="2800" dirty="0"/>
                        <a:t>3.Use MAC</a:t>
                      </a:r>
                    </a:p>
                  </a:txBody>
                  <a:tcPr/>
                </a:tc>
                <a:tc>
                  <a:txBody>
                    <a:bodyPr/>
                    <a:lstStyle/>
                    <a:p>
                      <a:r>
                        <a:rPr lang="en-US" sz="2800" dirty="0"/>
                        <a:t>3. Use two MAC Sublayer</a:t>
                      </a:r>
                    </a:p>
                  </a:txBody>
                  <a:tcPr/>
                </a:tc>
                <a:extLst>
                  <a:ext uri="{0D108BD9-81ED-4DB2-BD59-A6C34878D82A}">
                    <a16:rowId xmlns:a16="http://schemas.microsoft.com/office/drawing/2014/main" val="10003"/>
                  </a:ext>
                </a:extLst>
              </a:tr>
              <a:tr h="370840">
                <a:tc>
                  <a:txBody>
                    <a:bodyPr/>
                    <a:lstStyle/>
                    <a:p>
                      <a:r>
                        <a:rPr lang="en-US" sz="2800" dirty="0"/>
                        <a:t>4.Uses</a:t>
                      </a:r>
                      <a:r>
                        <a:rPr lang="en-US" sz="2800" baseline="0" dirty="0"/>
                        <a:t> CDMA/CD</a:t>
                      </a:r>
                      <a:endParaRPr lang="en-US" sz="2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4.Uses</a:t>
                      </a:r>
                      <a:r>
                        <a:rPr lang="en-US" sz="2800" baseline="0" dirty="0"/>
                        <a:t> CDMA/CA</a:t>
                      </a:r>
                      <a:endParaRPr lang="en-US" sz="2800" dirty="0"/>
                    </a:p>
                  </a:txBody>
                  <a:tcPr/>
                </a:tc>
                <a:extLst>
                  <a:ext uri="{0D108BD9-81ED-4DB2-BD59-A6C34878D82A}">
                    <a16:rowId xmlns:a16="http://schemas.microsoft.com/office/drawing/2014/main" val="10004"/>
                  </a:ext>
                </a:extLst>
              </a:tr>
              <a:tr h="370840">
                <a:tc>
                  <a:txBody>
                    <a:bodyPr/>
                    <a:lstStyle/>
                    <a:p>
                      <a:r>
                        <a:rPr lang="en-US" sz="2800" dirty="0"/>
                        <a:t>5.Efficiency is high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5.Efficiency is low</a:t>
                      </a:r>
                    </a:p>
                  </a:txBody>
                  <a:tcPr/>
                </a:tc>
                <a:extLst>
                  <a:ext uri="{0D108BD9-81ED-4DB2-BD59-A6C34878D82A}">
                    <a16:rowId xmlns:a16="http://schemas.microsoft.com/office/drawing/2014/main" val="10005"/>
                  </a:ext>
                </a:extLst>
              </a:tr>
              <a:tr h="370840">
                <a:tc>
                  <a:txBody>
                    <a:bodyPr/>
                    <a:lstStyle/>
                    <a:p>
                      <a:r>
                        <a:rPr lang="en-US" sz="2800" dirty="0"/>
                        <a:t>6. Large range</a:t>
                      </a:r>
                    </a:p>
                  </a:txBody>
                  <a:tcPr/>
                </a:tc>
                <a:tc>
                  <a:txBody>
                    <a:bodyPr/>
                    <a:lstStyle/>
                    <a:p>
                      <a:r>
                        <a:rPr lang="en-US" sz="2800" dirty="0"/>
                        <a:t>6. Short range</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33400" y="579534"/>
          <a:ext cx="8077200" cy="5979125"/>
        </p:xfrm>
        <a:graphic>
          <a:graphicData uri="http://schemas.openxmlformats.org/drawingml/2006/table">
            <a:tbl>
              <a:tblPr>
                <a:tableStyleId>{5940675A-B579-460E-94D1-54222C63F5DA}</a:tableStyleId>
              </a:tblPr>
              <a:tblGrid>
                <a:gridCol w="3200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94998">
                <a:tc>
                  <a:txBody>
                    <a:bodyPr/>
                    <a:lstStyle/>
                    <a:p>
                      <a:pPr algn="ctr"/>
                      <a:r>
                        <a:rPr lang="en-US" sz="2400" b="1" dirty="0"/>
                        <a:t>Feature</a:t>
                      </a:r>
                      <a:endParaRPr lang="en-US" sz="2400" b="1" dirty="0">
                        <a:latin typeface="Arial"/>
                      </a:endParaRPr>
                    </a:p>
                  </a:txBody>
                  <a:tcPr marL="70069" marR="70069" marT="35034" marB="35034"/>
                </a:tc>
                <a:tc>
                  <a:txBody>
                    <a:bodyPr/>
                    <a:lstStyle/>
                    <a:p>
                      <a:pPr algn="ctr"/>
                      <a:r>
                        <a:rPr lang="en-US" sz="2400" b="1"/>
                        <a:t>802.11a</a:t>
                      </a:r>
                      <a:endParaRPr lang="en-US" sz="2400" b="1">
                        <a:latin typeface="Arial"/>
                      </a:endParaRPr>
                    </a:p>
                  </a:txBody>
                  <a:tcPr marL="70069" marR="70069" marT="35034" marB="35034"/>
                </a:tc>
                <a:tc>
                  <a:txBody>
                    <a:bodyPr/>
                    <a:lstStyle/>
                    <a:p>
                      <a:pPr algn="ctr"/>
                      <a:r>
                        <a:rPr lang="en-US" sz="2400" b="1"/>
                        <a:t>802.11b</a:t>
                      </a:r>
                      <a:endParaRPr lang="en-US" sz="2400" b="1">
                        <a:latin typeface="Arial"/>
                      </a:endParaRPr>
                    </a:p>
                  </a:txBody>
                  <a:tcPr marL="70069" marR="70069" marT="35034" marB="35034"/>
                </a:tc>
                <a:tc>
                  <a:txBody>
                    <a:bodyPr/>
                    <a:lstStyle/>
                    <a:p>
                      <a:pPr algn="ctr"/>
                      <a:r>
                        <a:rPr lang="en-US" sz="2400" b="1" dirty="0"/>
                        <a:t>802.11g</a:t>
                      </a:r>
                      <a:endParaRPr lang="en-US" sz="2400" b="1" dirty="0">
                        <a:latin typeface="Arial"/>
                      </a:endParaRPr>
                    </a:p>
                  </a:txBody>
                  <a:tcPr marL="70069" marR="70069" marT="35034" marB="35034"/>
                </a:tc>
                <a:extLst>
                  <a:ext uri="{0D108BD9-81ED-4DB2-BD59-A6C34878D82A}">
                    <a16:rowId xmlns:a16="http://schemas.microsoft.com/office/drawing/2014/main" val="10000"/>
                  </a:ext>
                </a:extLst>
              </a:tr>
              <a:tr h="394998">
                <a:tc>
                  <a:txBody>
                    <a:bodyPr/>
                    <a:lstStyle/>
                    <a:p>
                      <a:r>
                        <a:rPr lang="en-US" sz="2400" dirty="0"/>
                        <a:t>Year ratified</a:t>
                      </a:r>
                      <a:endParaRPr lang="en-US" sz="2400" dirty="0">
                        <a:latin typeface="Arial"/>
                      </a:endParaRPr>
                    </a:p>
                  </a:txBody>
                  <a:tcPr marL="70069" marR="70069" marT="35034" marB="35034"/>
                </a:tc>
                <a:tc>
                  <a:txBody>
                    <a:bodyPr/>
                    <a:lstStyle/>
                    <a:p>
                      <a:pPr algn="ctr"/>
                      <a:r>
                        <a:rPr lang="en-US" sz="2400" dirty="0"/>
                        <a:t>1999</a:t>
                      </a:r>
                      <a:endParaRPr lang="en-US" sz="2400" dirty="0">
                        <a:latin typeface="Arial"/>
                      </a:endParaRPr>
                    </a:p>
                  </a:txBody>
                  <a:tcPr marL="70069" marR="70069" marT="35034" marB="35034"/>
                </a:tc>
                <a:tc>
                  <a:txBody>
                    <a:bodyPr/>
                    <a:lstStyle/>
                    <a:p>
                      <a:pPr algn="ctr"/>
                      <a:r>
                        <a:rPr lang="en-US" sz="2400"/>
                        <a:t>1999</a:t>
                      </a:r>
                      <a:endParaRPr lang="en-US" sz="2400">
                        <a:latin typeface="Arial"/>
                      </a:endParaRPr>
                    </a:p>
                  </a:txBody>
                  <a:tcPr marL="70069" marR="70069" marT="35034" marB="35034"/>
                </a:tc>
                <a:tc>
                  <a:txBody>
                    <a:bodyPr/>
                    <a:lstStyle/>
                    <a:p>
                      <a:pPr algn="ctr"/>
                      <a:r>
                        <a:rPr lang="en-US" sz="2400"/>
                        <a:t>2003</a:t>
                      </a:r>
                      <a:endParaRPr lang="en-US" sz="2400">
                        <a:latin typeface="Arial"/>
                      </a:endParaRPr>
                    </a:p>
                  </a:txBody>
                  <a:tcPr marL="70069" marR="70069" marT="35034" marB="35034"/>
                </a:tc>
                <a:extLst>
                  <a:ext uri="{0D108BD9-81ED-4DB2-BD59-A6C34878D82A}">
                    <a16:rowId xmlns:a16="http://schemas.microsoft.com/office/drawing/2014/main" val="10001"/>
                  </a:ext>
                </a:extLst>
              </a:tr>
              <a:tr h="1021494">
                <a:tc>
                  <a:txBody>
                    <a:bodyPr/>
                    <a:lstStyle/>
                    <a:p>
                      <a:r>
                        <a:rPr lang="en-US" sz="2400"/>
                        <a:t>Maximum speed using DSSS</a:t>
                      </a:r>
                      <a:endParaRPr lang="en-US" sz="2400">
                        <a:latin typeface="Arial"/>
                      </a:endParaRPr>
                    </a:p>
                  </a:txBody>
                  <a:tcPr marL="70069" marR="70069" marT="35034" marB="35034"/>
                </a:tc>
                <a:tc>
                  <a:txBody>
                    <a:bodyPr/>
                    <a:lstStyle/>
                    <a:p>
                      <a:pPr algn="ctr"/>
                      <a:r>
                        <a:rPr lang="en-US" sz="2400" dirty="0"/>
                        <a:t>—</a:t>
                      </a:r>
                      <a:endParaRPr lang="en-US" sz="2400" dirty="0">
                        <a:latin typeface="Arial"/>
                      </a:endParaRPr>
                    </a:p>
                  </a:txBody>
                  <a:tcPr marL="70069" marR="70069" marT="35034" marB="35034"/>
                </a:tc>
                <a:tc>
                  <a:txBody>
                    <a:bodyPr/>
                    <a:lstStyle/>
                    <a:p>
                      <a:pPr algn="ctr"/>
                      <a:r>
                        <a:rPr lang="en-US" sz="2400" dirty="0"/>
                        <a:t>11 Mbps</a:t>
                      </a:r>
                      <a:endParaRPr lang="en-US" sz="2400" dirty="0">
                        <a:latin typeface="Arial"/>
                      </a:endParaRPr>
                    </a:p>
                  </a:txBody>
                  <a:tcPr marL="70069" marR="70069" marT="35034" marB="35034"/>
                </a:tc>
                <a:tc>
                  <a:txBody>
                    <a:bodyPr/>
                    <a:lstStyle/>
                    <a:p>
                      <a:pPr algn="ctr"/>
                      <a:r>
                        <a:rPr lang="en-US" sz="2400" dirty="0"/>
                        <a:t>11 Mbps</a:t>
                      </a:r>
                      <a:endParaRPr lang="en-US" sz="2400" dirty="0">
                        <a:latin typeface="Arial"/>
                      </a:endParaRPr>
                    </a:p>
                  </a:txBody>
                  <a:tcPr marL="70069" marR="70069" marT="35034" marB="35034"/>
                </a:tc>
                <a:extLst>
                  <a:ext uri="{0D108BD9-81ED-4DB2-BD59-A6C34878D82A}">
                    <a16:rowId xmlns:a16="http://schemas.microsoft.com/office/drawing/2014/main" val="10002"/>
                  </a:ext>
                </a:extLst>
              </a:tr>
              <a:tr h="1021494">
                <a:tc>
                  <a:txBody>
                    <a:bodyPr/>
                    <a:lstStyle/>
                    <a:p>
                      <a:r>
                        <a:rPr lang="en-US" sz="2400" dirty="0"/>
                        <a:t>Maximum speed using OFDM</a:t>
                      </a:r>
                      <a:endParaRPr lang="en-US" sz="2400" dirty="0">
                        <a:latin typeface="Arial"/>
                      </a:endParaRPr>
                    </a:p>
                  </a:txBody>
                  <a:tcPr marL="70069" marR="70069" marT="35034" marB="35034"/>
                </a:tc>
                <a:tc>
                  <a:txBody>
                    <a:bodyPr/>
                    <a:lstStyle/>
                    <a:p>
                      <a:pPr algn="ctr"/>
                      <a:r>
                        <a:rPr lang="en-US" sz="2400" dirty="0"/>
                        <a:t>54 Mbps</a:t>
                      </a:r>
                      <a:endParaRPr lang="en-US" sz="2400" dirty="0">
                        <a:latin typeface="Arial"/>
                      </a:endParaRPr>
                    </a:p>
                  </a:txBody>
                  <a:tcPr marL="70069" marR="70069" marT="35034" marB="35034"/>
                </a:tc>
                <a:tc>
                  <a:txBody>
                    <a:bodyPr/>
                    <a:lstStyle/>
                    <a:p>
                      <a:pPr algn="ctr"/>
                      <a:r>
                        <a:rPr lang="en-US" sz="2400" dirty="0"/>
                        <a:t>—</a:t>
                      </a:r>
                      <a:endParaRPr lang="en-US" sz="2400" dirty="0">
                        <a:latin typeface="Arial"/>
                      </a:endParaRPr>
                    </a:p>
                  </a:txBody>
                  <a:tcPr marL="70069" marR="70069" marT="35034" marB="35034"/>
                </a:tc>
                <a:tc>
                  <a:txBody>
                    <a:bodyPr/>
                    <a:lstStyle/>
                    <a:p>
                      <a:pPr algn="ctr"/>
                      <a:r>
                        <a:rPr lang="en-US" sz="2400" dirty="0"/>
                        <a:t>54 Mbps</a:t>
                      </a:r>
                      <a:endParaRPr lang="en-US" sz="2400" dirty="0">
                        <a:latin typeface="Arial"/>
                      </a:endParaRPr>
                    </a:p>
                  </a:txBody>
                  <a:tcPr marL="70069" marR="70069" marT="35034" marB="35034"/>
                </a:tc>
                <a:extLst>
                  <a:ext uri="{0D108BD9-81ED-4DB2-BD59-A6C34878D82A}">
                    <a16:rowId xmlns:a16="http://schemas.microsoft.com/office/drawing/2014/main" val="10003"/>
                  </a:ext>
                </a:extLst>
              </a:tr>
              <a:tr h="701433">
                <a:tc>
                  <a:txBody>
                    <a:bodyPr/>
                    <a:lstStyle/>
                    <a:p>
                      <a:r>
                        <a:rPr lang="en-US" sz="2400"/>
                        <a:t>Frequency band</a:t>
                      </a:r>
                      <a:endParaRPr lang="en-US" sz="2400">
                        <a:latin typeface="Arial"/>
                      </a:endParaRPr>
                    </a:p>
                  </a:txBody>
                  <a:tcPr marL="70069" marR="70069" marT="35034" marB="35034"/>
                </a:tc>
                <a:tc>
                  <a:txBody>
                    <a:bodyPr/>
                    <a:lstStyle/>
                    <a:p>
                      <a:pPr algn="ctr"/>
                      <a:r>
                        <a:rPr lang="en-US" sz="2400"/>
                        <a:t>5 GHz</a:t>
                      </a:r>
                      <a:endParaRPr lang="en-US" sz="2400">
                        <a:latin typeface="Arial"/>
                      </a:endParaRPr>
                    </a:p>
                  </a:txBody>
                  <a:tcPr marL="70069" marR="70069" marT="35034" marB="35034"/>
                </a:tc>
                <a:tc>
                  <a:txBody>
                    <a:bodyPr/>
                    <a:lstStyle/>
                    <a:p>
                      <a:pPr algn="ctr"/>
                      <a:r>
                        <a:rPr lang="en-US" sz="2400"/>
                        <a:t>2.4 GHz</a:t>
                      </a:r>
                      <a:endParaRPr lang="en-US" sz="2400">
                        <a:latin typeface="Arial"/>
                      </a:endParaRPr>
                    </a:p>
                  </a:txBody>
                  <a:tcPr marL="70069" marR="70069" marT="35034" marB="35034"/>
                </a:tc>
                <a:tc>
                  <a:txBody>
                    <a:bodyPr/>
                    <a:lstStyle/>
                    <a:p>
                      <a:pPr algn="ctr"/>
                      <a:r>
                        <a:rPr lang="en-US" sz="2400" dirty="0"/>
                        <a:t>2.4 GHz</a:t>
                      </a:r>
                      <a:endParaRPr lang="en-US" sz="2400" dirty="0">
                        <a:latin typeface="Arial"/>
                      </a:endParaRPr>
                    </a:p>
                  </a:txBody>
                  <a:tcPr marL="70069" marR="70069" marT="35034" marB="35034"/>
                </a:tc>
                <a:extLst>
                  <a:ext uri="{0D108BD9-81ED-4DB2-BD59-A6C34878D82A}">
                    <a16:rowId xmlns:a16="http://schemas.microsoft.com/office/drawing/2014/main" val="10004"/>
                  </a:ext>
                </a:extLst>
              </a:tr>
              <a:tr h="1021494">
                <a:tc>
                  <a:txBody>
                    <a:bodyPr/>
                    <a:lstStyle/>
                    <a:p>
                      <a:r>
                        <a:rPr lang="en-US" sz="2400" dirty="0"/>
                        <a:t>Channels (no overlapped)</a:t>
                      </a:r>
                      <a:r>
                        <a:rPr lang="en-US" sz="2400" u="none" strike="noStrike" baseline="30000" dirty="0"/>
                        <a:t>*</a:t>
                      </a:r>
                      <a:endParaRPr lang="en-US" sz="2400" dirty="0">
                        <a:latin typeface="Arial"/>
                      </a:endParaRPr>
                    </a:p>
                  </a:txBody>
                  <a:tcPr marL="70069" marR="70069" marT="35034" marB="35034"/>
                </a:tc>
                <a:tc>
                  <a:txBody>
                    <a:bodyPr/>
                    <a:lstStyle/>
                    <a:p>
                      <a:pPr algn="ctr"/>
                      <a:r>
                        <a:rPr lang="en-US" sz="2400"/>
                        <a:t>23 (12)</a:t>
                      </a:r>
                      <a:endParaRPr lang="en-US" sz="2400">
                        <a:latin typeface="Arial"/>
                      </a:endParaRPr>
                    </a:p>
                  </a:txBody>
                  <a:tcPr marL="70069" marR="70069" marT="35034" marB="35034"/>
                </a:tc>
                <a:tc>
                  <a:txBody>
                    <a:bodyPr/>
                    <a:lstStyle/>
                    <a:p>
                      <a:pPr algn="ctr"/>
                      <a:r>
                        <a:rPr lang="en-US" sz="2400"/>
                        <a:t>11 (3)</a:t>
                      </a:r>
                      <a:endParaRPr lang="en-US" sz="2400">
                        <a:latin typeface="Arial"/>
                      </a:endParaRPr>
                    </a:p>
                  </a:txBody>
                  <a:tcPr marL="70069" marR="70069" marT="35034" marB="35034"/>
                </a:tc>
                <a:tc>
                  <a:txBody>
                    <a:bodyPr/>
                    <a:lstStyle/>
                    <a:p>
                      <a:pPr algn="ctr"/>
                      <a:r>
                        <a:rPr lang="en-US" sz="2400" dirty="0"/>
                        <a:t>11 (3)</a:t>
                      </a:r>
                      <a:endParaRPr lang="en-US" sz="2400" dirty="0">
                        <a:latin typeface="Arial"/>
                      </a:endParaRPr>
                    </a:p>
                  </a:txBody>
                  <a:tcPr marL="70069" marR="70069" marT="35034" marB="35034"/>
                </a:tc>
                <a:extLst>
                  <a:ext uri="{0D108BD9-81ED-4DB2-BD59-A6C34878D82A}">
                    <a16:rowId xmlns:a16="http://schemas.microsoft.com/office/drawing/2014/main" val="10005"/>
                  </a:ext>
                </a:extLst>
              </a:tr>
              <a:tr h="1341554">
                <a:tc>
                  <a:txBody>
                    <a:bodyPr/>
                    <a:lstStyle/>
                    <a:p>
                      <a:r>
                        <a:rPr lang="en-US" sz="2400" dirty="0"/>
                        <a:t>Speeds required by standard (Mbps)</a:t>
                      </a:r>
                      <a:endParaRPr lang="en-US" sz="2400" dirty="0">
                        <a:latin typeface="Arial"/>
                      </a:endParaRPr>
                    </a:p>
                  </a:txBody>
                  <a:tcPr marL="70069" marR="70069" marT="35034" marB="35034"/>
                </a:tc>
                <a:tc>
                  <a:txBody>
                    <a:bodyPr/>
                    <a:lstStyle/>
                    <a:p>
                      <a:pPr algn="ctr"/>
                      <a:r>
                        <a:rPr lang="en-US" sz="2400" dirty="0"/>
                        <a:t>6, 12, 24</a:t>
                      </a:r>
                      <a:endParaRPr lang="en-US" sz="2400" dirty="0">
                        <a:latin typeface="Arial"/>
                      </a:endParaRPr>
                    </a:p>
                  </a:txBody>
                  <a:tcPr marL="70069" marR="70069" marT="35034" marB="35034"/>
                </a:tc>
                <a:tc>
                  <a:txBody>
                    <a:bodyPr/>
                    <a:lstStyle/>
                    <a:p>
                      <a:pPr algn="ctr"/>
                      <a:r>
                        <a:rPr lang="en-US" sz="2400" dirty="0"/>
                        <a:t>1, 2, 5.5, 11</a:t>
                      </a:r>
                      <a:endParaRPr lang="en-US" sz="2400" dirty="0">
                        <a:latin typeface="Arial"/>
                      </a:endParaRPr>
                    </a:p>
                  </a:txBody>
                  <a:tcPr marL="70069" marR="70069" marT="35034" marB="35034"/>
                </a:tc>
                <a:tc>
                  <a:txBody>
                    <a:bodyPr/>
                    <a:lstStyle/>
                    <a:p>
                      <a:pPr algn="ctr"/>
                      <a:r>
                        <a:rPr lang="en-US" sz="2400" dirty="0"/>
                        <a:t>6, 12, 24</a:t>
                      </a:r>
                      <a:endParaRPr lang="en-US" sz="2400" dirty="0">
                        <a:latin typeface="Arial"/>
                      </a:endParaRPr>
                    </a:p>
                  </a:txBody>
                  <a:tcPr marL="70069" marR="70069" marT="35034" marB="35034"/>
                </a:tc>
                <a:extLst>
                  <a:ext uri="{0D108BD9-81ED-4DB2-BD59-A6C34878D82A}">
                    <a16:rowId xmlns:a16="http://schemas.microsoft.com/office/drawing/2014/main" val="10006"/>
                  </a:ext>
                </a:extLst>
              </a:tr>
            </a:tbl>
          </a:graphicData>
        </a:graphic>
      </p:graphicFrame>
      <p:sp>
        <p:nvSpPr>
          <p:cNvPr id="3" name="Rectangle 1"/>
          <p:cNvSpPr>
            <a:spLocks noChangeArrowheads="1"/>
          </p:cNvSpPr>
          <p:nvPr/>
        </p:nvSpPr>
        <p:spPr bwMode="auto">
          <a:xfrm>
            <a:off x="2286000" y="-51375"/>
            <a:ext cx="5257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1" i="0" u="none" strike="noStrike" cap="none" normalizeH="0" baseline="0" dirty="0">
                <a:ln>
                  <a:noFill/>
                </a:ln>
                <a:solidFill>
                  <a:srgbClr val="000000"/>
                </a:solidFill>
                <a:effectLst/>
                <a:latin typeface="Arial" pitchFamily="34" charset="0"/>
                <a:cs typeface="Arial" pitchFamily="34" charset="0"/>
              </a:rPr>
              <a:t> WLAN Standards</a:t>
            </a:r>
            <a:endParaRPr kumimoji="0" lang="en-US" sz="3200" b="0" i="0" u="none" strike="noStrike" cap="none" normalizeH="0" baseline="0" dirty="0">
              <a:ln>
                <a:noFill/>
              </a:ln>
              <a:solidFill>
                <a:schemeClr val="tx1"/>
              </a:solidFill>
              <a:effectLst/>
              <a:latin typeface="Arial"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17500" y="722313"/>
            <a:ext cx="8637588"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TW" sz="3600" b="1" i="0" u="none" strike="noStrike" kern="1200" cap="none" spc="0" normalizeH="0" baseline="0" noProof="0" dirty="0">
                <a:ln>
                  <a:noFill/>
                </a:ln>
                <a:solidFill>
                  <a:schemeClr val="tx1"/>
                </a:solidFill>
                <a:effectLst/>
                <a:uLnTx/>
                <a:uFillTx/>
                <a:latin typeface="+mj-lt"/>
                <a:ea typeface="+mj-ea"/>
                <a:cs typeface="+mj-cs"/>
              </a:rPr>
              <a:t>Differences between IEEE 802.11?</a:t>
            </a:r>
          </a:p>
        </p:txBody>
      </p:sp>
      <p:sp>
        <p:nvSpPr>
          <p:cNvPr id="3" name="Rectangle 3"/>
          <p:cNvSpPr txBox="1">
            <a:spLocks noChangeArrowheads="1"/>
          </p:cNvSpPr>
          <p:nvPr/>
        </p:nvSpPr>
        <p:spPr>
          <a:xfrm>
            <a:off x="328613" y="1905000"/>
            <a:ext cx="8208962" cy="41148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kumimoji="0" lang="zh-TW" altLang="en-US" sz="3200" b="0" i="0" u="none" strike="noStrike" kern="1200" cap="none" spc="0" normalizeH="0" baseline="0" noProof="0">
                <a:ln>
                  <a:noFill/>
                </a:ln>
                <a:solidFill>
                  <a:schemeClr val="tx1"/>
                </a:solidFill>
                <a:effectLst/>
                <a:uLnTx/>
                <a:uFillTx/>
                <a:latin typeface="+mn-lt"/>
                <a:ea typeface="+mn-ea"/>
                <a:cs typeface="+mn-cs"/>
              </a:rPr>
              <a:t>　</a:t>
            </a:r>
          </a:p>
        </p:txBody>
      </p:sp>
      <p:graphicFrame>
        <p:nvGraphicFramePr>
          <p:cNvPr id="4" name="Group 80"/>
          <p:cNvGraphicFramePr>
            <a:graphicFrameLocks noGrp="1"/>
          </p:cNvGraphicFramePr>
          <p:nvPr/>
        </p:nvGraphicFramePr>
        <p:xfrm>
          <a:off x="457200" y="1828800"/>
          <a:ext cx="8153400" cy="3429001"/>
        </p:xfrm>
        <a:graphic>
          <a:graphicData uri="http://schemas.openxmlformats.org/drawingml/2006/table">
            <a:tbl>
              <a:tblPr/>
              <a:tblGrid>
                <a:gridCol w="1646238">
                  <a:extLst>
                    <a:ext uri="{9D8B030D-6E8A-4147-A177-3AD203B41FA5}">
                      <a16:colId xmlns:a16="http://schemas.microsoft.com/office/drawing/2014/main" val="20000"/>
                    </a:ext>
                  </a:extLst>
                </a:gridCol>
                <a:gridCol w="1646237">
                  <a:extLst>
                    <a:ext uri="{9D8B030D-6E8A-4147-A177-3AD203B41FA5}">
                      <a16:colId xmlns:a16="http://schemas.microsoft.com/office/drawing/2014/main" val="20001"/>
                    </a:ext>
                  </a:extLst>
                </a:gridCol>
                <a:gridCol w="1725613">
                  <a:extLst>
                    <a:ext uri="{9D8B030D-6E8A-4147-A177-3AD203B41FA5}">
                      <a16:colId xmlns:a16="http://schemas.microsoft.com/office/drawing/2014/main" val="20002"/>
                    </a:ext>
                  </a:extLst>
                </a:gridCol>
                <a:gridCol w="1411287">
                  <a:extLst>
                    <a:ext uri="{9D8B030D-6E8A-4147-A177-3AD203B41FA5}">
                      <a16:colId xmlns:a16="http://schemas.microsoft.com/office/drawing/2014/main" val="20003"/>
                    </a:ext>
                  </a:extLst>
                </a:gridCol>
                <a:gridCol w="1724025">
                  <a:extLst>
                    <a:ext uri="{9D8B030D-6E8A-4147-A177-3AD203B41FA5}">
                      <a16:colId xmlns:a16="http://schemas.microsoft.com/office/drawing/2014/main" val="20004"/>
                    </a:ext>
                  </a:extLst>
                </a:gridCol>
              </a:tblGrid>
              <a:tr h="1009650">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endParaRPr kumimoji="1" lang="en-US" sz="2800" b="0" i="0" u="none" strike="noStrike" cap="none" normalizeH="0" baseline="0" dirty="0">
                        <a:ln>
                          <a:noFill/>
                        </a:ln>
                        <a:solidFill>
                          <a:schemeClr val="tx1"/>
                        </a:solidFill>
                        <a:effectLst/>
                        <a:latin typeface="Arial" pitchFamily="34" charset="0"/>
                        <a:ea typeface="新細明體" pitchFamily="18" charset="-12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IEEE </a:t>
                      </a:r>
                    </a:p>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802.11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IEEE 802.11b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IEEE 802.11a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IEEE 802.11g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7238">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200" b="0" i="0" u="none" strike="noStrike" cap="none" normalizeH="0" baseline="0">
                          <a:ln>
                            <a:noFill/>
                          </a:ln>
                          <a:solidFill>
                            <a:schemeClr val="tx1"/>
                          </a:solidFill>
                          <a:effectLst/>
                          <a:latin typeface="Arial" pitchFamily="34" charset="0"/>
                          <a:ea typeface="新細明體" pitchFamily="18" charset="-120"/>
                        </a:rPr>
                        <a:t>Frequency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dirty="0">
                          <a:ln>
                            <a:noFill/>
                          </a:ln>
                          <a:solidFill>
                            <a:schemeClr val="tx1"/>
                          </a:solidFill>
                          <a:effectLst/>
                          <a:latin typeface="Arial" pitchFamily="34" charset="0"/>
                          <a:ea typeface="新細明體" pitchFamily="18" charset="-120"/>
                        </a:rPr>
                        <a:t>2.4G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dirty="0">
                          <a:ln>
                            <a:noFill/>
                          </a:ln>
                          <a:solidFill>
                            <a:schemeClr val="tx1"/>
                          </a:solidFill>
                          <a:effectLst/>
                          <a:latin typeface="Arial" pitchFamily="34" charset="0"/>
                          <a:ea typeface="新細明體" pitchFamily="18" charset="-120"/>
                        </a:rPr>
                        <a:t>2.4G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dirty="0">
                          <a:ln>
                            <a:noFill/>
                          </a:ln>
                          <a:solidFill>
                            <a:schemeClr val="tx1"/>
                          </a:solidFill>
                          <a:effectLst/>
                          <a:latin typeface="Arial" pitchFamily="34" charset="0"/>
                          <a:ea typeface="新細明體" pitchFamily="18" charset="-120"/>
                        </a:rPr>
                        <a:t>5 G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2.4G Hz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5963">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1800" b="0" i="0" u="none" strike="noStrike" cap="none" normalizeH="0" baseline="0">
                          <a:ln>
                            <a:noFill/>
                          </a:ln>
                          <a:solidFill>
                            <a:schemeClr val="tx1"/>
                          </a:solidFill>
                          <a:effectLst/>
                          <a:latin typeface="Arial" pitchFamily="34" charset="0"/>
                          <a:ea typeface="新細明體" pitchFamily="18" charset="-120"/>
                        </a:rPr>
                        <a:t>Transmission Rate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1~2 Mbps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1~11Mbps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6~54 Mbps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22~54Mbps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6150">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Modulation </a:t>
                      </a:r>
                    </a:p>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Technique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FHSS/DSSS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FHSS/DSSS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a:ln>
                            <a:noFill/>
                          </a:ln>
                          <a:solidFill>
                            <a:schemeClr val="tx1"/>
                          </a:solidFill>
                          <a:effectLst/>
                          <a:latin typeface="Arial" pitchFamily="34" charset="0"/>
                          <a:ea typeface="新細明體" pitchFamily="18" charset="-120"/>
                        </a:rPr>
                        <a:t>OFDM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dirty="0">
                          <a:ln>
                            <a:noFill/>
                          </a:ln>
                          <a:solidFill>
                            <a:schemeClr val="tx1"/>
                          </a:solidFill>
                          <a:effectLst/>
                          <a:latin typeface="Arial" pitchFamily="34" charset="0"/>
                          <a:ea typeface="新細明體" pitchFamily="18" charset="-120"/>
                        </a:rPr>
                        <a:t>PBCC-22  +</a:t>
                      </a:r>
                    </a:p>
                    <a:p>
                      <a:pPr marL="0" marR="0" lvl="0" indent="0" algn="l" defTabSz="914400" rtl="0" eaLnBrk="1" fontAlgn="base" latinLnBrk="0" hangingPunct="1">
                        <a:lnSpc>
                          <a:spcPct val="100000"/>
                        </a:lnSpc>
                        <a:spcBef>
                          <a:spcPct val="20000"/>
                        </a:spcBef>
                        <a:spcAft>
                          <a:spcPct val="0"/>
                        </a:spcAft>
                        <a:buClr>
                          <a:srgbClr val="CCFF33"/>
                        </a:buClr>
                        <a:buSzPct val="70000"/>
                        <a:buFont typeface="Wingdings" pitchFamily="2" charset="2"/>
                        <a:buNone/>
                        <a:tabLst/>
                      </a:pPr>
                      <a:r>
                        <a:rPr kumimoji="1" lang="en-US" altLang="zh-TW" sz="2000" b="0" i="0" u="none" strike="noStrike" cap="none" normalizeH="0" baseline="0" dirty="0">
                          <a:ln>
                            <a:noFill/>
                          </a:ln>
                          <a:solidFill>
                            <a:schemeClr val="tx1"/>
                          </a:solidFill>
                          <a:effectLst/>
                          <a:latin typeface="Arial" pitchFamily="34" charset="0"/>
                          <a:ea typeface="新細明體" pitchFamily="18" charset="-120"/>
                        </a:rPr>
                        <a:t>CCK-OFDM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048000" y="152400"/>
            <a:ext cx="3121367"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Physical layers</a:t>
            </a:r>
          </a:p>
        </p:txBody>
      </p:sp>
      <p:pic>
        <p:nvPicPr>
          <p:cNvPr id="3" name="Picture 4"/>
          <p:cNvPicPr>
            <a:picLocks noChangeAspect="1" noChangeArrowheads="1"/>
          </p:cNvPicPr>
          <p:nvPr/>
        </p:nvPicPr>
        <p:blipFill>
          <a:blip r:embed="rId2"/>
          <a:srcRect/>
          <a:stretch>
            <a:fillRect/>
          </a:stretch>
        </p:blipFill>
        <p:spPr bwMode="auto">
          <a:xfrm>
            <a:off x="0" y="1219200"/>
            <a:ext cx="8824912" cy="3237609"/>
          </a:xfrm>
          <a:prstGeom prst="rect">
            <a:avLst/>
          </a:prstGeom>
          <a:noFill/>
          <a:ln w="9525">
            <a:noFill/>
            <a:miter lim="800000"/>
            <a:headEnd/>
            <a:tailEnd/>
          </a:ln>
          <a:effectLst/>
        </p:spPr>
      </p:pic>
      <p:sp>
        <p:nvSpPr>
          <p:cNvPr id="4" name="Rectangle 3"/>
          <p:cNvSpPr/>
          <p:nvPr/>
        </p:nvSpPr>
        <p:spPr>
          <a:xfrm>
            <a:off x="77876" y="5029200"/>
            <a:ext cx="9294724" cy="1815882"/>
          </a:xfrm>
          <a:prstGeom prst="rect">
            <a:avLst/>
          </a:prstGeom>
        </p:spPr>
        <p:txBody>
          <a:bodyPr wrap="none">
            <a:spAutoFit/>
          </a:bodyPr>
          <a:lstStyle/>
          <a:p>
            <a:r>
              <a:rPr lang="en-US" sz="2800" dirty="0">
                <a:latin typeface="Times New Roman" pitchFamily="18" charset="0"/>
              </a:rPr>
              <a:t>Where FHSS:-Frequency hopping spread spectrum</a:t>
            </a:r>
          </a:p>
          <a:p>
            <a:r>
              <a:rPr lang="en-US" sz="2800" dirty="0">
                <a:latin typeface="Times New Roman" pitchFamily="18" charset="0"/>
              </a:rPr>
              <a:t>             DSSS:-Direct sequence spread spectrum</a:t>
            </a:r>
          </a:p>
          <a:p>
            <a:r>
              <a:rPr lang="en-US" sz="2800" dirty="0">
                <a:latin typeface="Times New Roman" pitchFamily="18" charset="0"/>
              </a:rPr>
              <a:t>             OFDM: -</a:t>
            </a:r>
            <a:r>
              <a:rPr lang="en-US" sz="2800" dirty="0"/>
              <a:t> Orthogonal Frequency-Division Multiplexing.</a:t>
            </a:r>
            <a:endParaRPr lang="en-US" sz="2800" dirty="0">
              <a:latin typeface="Times New Roman" pitchFamily="18" charset="0"/>
            </a:endParaRPr>
          </a:p>
          <a:p>
            <a:endParaRPr lang="en-US" sz="2800" dirty="0">
              <a:latin typeface="Times New Roman"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610600" cy="2062103"/>
          </a:xfrm>
          <a:prstGeom prst="rect">
            <a:avLst/>
          </a:prstGeom>
        </p:spPr>
        <p:txBody>
          <a:bodyPr wrap="square">
            <a:spAutoFit/>
          </a:bodyPr>
          <a:lstStyle/>
          <a:p>
            <a:r>
              <a:rPr lang="en-US" sz="3200" dirty="0"/>
              <a:t>The 802.11a , 802.11b/g/n , and/or 802.11 ac  wireless standards collectively known as</a:t>
            </a:r>
          </a:p>
          <a:p>
            <a:r>
              <a:rPr lang="en-US" sz="3200" u="sng" dirty="0">
                <a:hlinkClick r:id="rId2"/>
              </a:rPr>
              <a:t>Wi-Fi</a:t>
            </a:r>
            <a:r>
              <a:rPr lang="en-US" sz="3200" u="sng" dirty="0"/>
              <a:t> </a:t>
            </a:r>
            <a:r>
              <a:rPr lang="en-US" sz="3200" dirty="0"/>
              <a:t>technologies. ( </a:t>
            </a:r>
            <a:r>
              <a:rPr lang="en-US" sz="3200" u="sng" dirty="0">
                <a:hlinkClick r:id="rId3"/>
              </a:rPr>
              <a:t>Bluetooth</a:t>
            </a:r>
            <a:r>
              <a:rPr lang="en-US" sz="3200" dirty="0"/>
              <a:t> and various other wireless).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228600"/>
            <a:ext cx="8153400" cy="6494085"/>
          </a:xfrm>
          <a:prstGeom prst="rect">
            <a:avLst/>
          </a:prstGeom>
        </p:spPr>
        <p:txBody>
          <a:bodyPr wrap="square">
            <a:spAutoFit/>
          </a:bodyPr>
          <a:lstStyle/>
          <a:p>
            <a:pPr fontAlgn="base"/>
            <a:r>
              <a:rPr lang="en-US" sz="3200" b="1" dirty="0"/>
              <a:t>1] 802.11: -</a:t>
            </a:r>
          </a:p>
          <a:p>
            <a:r>
              <a:rPr lang="en-US" sz="3200" dirty="0"/>
              <a:t>In 1997, the Institute of Electrical and Electronics Engineers (IEEE) created the first </a:t>
            </a:r>
            <a:r>
              <a:rPr lang="en-US" sz="3200" u="sng" dirty="0">
                <a:hlinkClick r:id="rId2"/>
              </a:rPr>
              <a:t>WLAN standard</a:t>
            </a:r>
            <a:r>
              <a:rPr lang="en-US" sz="3200" dirty="0"/>
              <a:t> . They called it </a:t>
            </a:r>
            <a:r>
              <a:rPr lang="en-US" sz="3200" b="1" i="1" dirty="0"/>
              <a:t>802.11</a:t>
            </a:r>
            <a:r>
              <a:rPr lang="en-US" sz="3200" b="1" dirty="0"/>
              <a:t> </a:t>
            </a:r>
            <a:r>
              <a:rPr lang="en-US" sz="3200" dirty="0"/>
              <a:t>after the name of the group formed to oversee its development.</a:t>
            </a:r>
          </a:p>
          <a:p>
            <a:endParaRPr lang="en-US" sz="3200" dirty="0"/>
          </a:p>
          <a:p>
            <a:r>
              <a:rPr lang="en-US" sz="3200" dirty="0"/>
              <a:t>Unfortunately, 802.11 only supported a maximum </a:t>
            </a:r>
            <a:r>
              <a:rPr lang="en-US" sz="3200" u="sng" dirty="0">
                <a:hlinkClick r:id="rId3"/>
              </a:rPr>
              <a:t>network bandwidth</a:t>
            </a:r>
            <a:r>
              <a:rPr lang="en-US" sz="3200" dirty="0"/>
              <a:t> of 2</a:t>
            </a:r>
            <a:r>
              <a:rPr lang="en-US" sz="3200" u="sng" dirty="0">
                <a:hlinkClick r:id="rId4"/>
              </a:rPr>
              <a:t>Mbps</a:t>
            </a:r>
            <a:r>
              <a:rPr lang="en-US" sz="3200" dirty="0"/>
              <a:t> - too slow for most applications. </a:t>
            </a:r>
          </a:p>
          <a:p>
            <a:endParaRPr lang="en-US" sz="3200" dirty="0"/>
          </a:p>
          <a:p>
            <a:r>
              <a:rPr lang="en-US" sz="3200" dirty="0"/>
              <a:t>For this reason, ordinary 802.11 </a:t>
            </a:r>
            <a:r>
              <a:rPr lang="en-US" sz="3200" u="sng" dirty="0">
                <a:hlinkClick r:id="rId5"/>
              </a:rPr>
              <a:t>wireless products</a:t>
            </a:r>
            <a:r>
              <a:rPr lang="en-US" sz="3200" dirty="0"/>
              <a:t> are no longer manufactured.</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279532" y="685800"/>
            <a:ext cx="649286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Physical layer of IEEE 802.11 FHSS</a:t>
            </a:r>
          </a:p>
        </p:txBody>
      </p:sp>
      <p:pic>
        <p:nvPicPr>
          <p:cNvPr id="5" name="Picture 6"/>
          <p:cNvPicPr>
            <a:picLocks noChangeAspect="1" noChangeArrowheads="1"/>
          </p:cNvPicPr>
          <p:nvPr/>
        </p:nvPicPr>
        <p:blipFill>
          <a:blip r:embed="rId2"/>
          <a:srcRect/>
          <a:stretch>
            <a:fillRect/>
          </a:stretch>
        </p:blipFill>
        <p:spPr bwMode="auto">
          <a:xfrm>
            <a:off x="301625" y="1676400"/>
            <a:ext cx="8540750" cy="4017962"/>
          </a:xfrm>
          <a:prstGeom prst="rect">
            <a:avLst/>
          </a:prstGeom>
          <a:noFill/>
          <a:ln w="9525">
            <a:noFill/>
            <a:miter lim="800000"/>
            <a:headEnd/>
            <a:tailEnd/>
          </a:ln>
          <a:effectLst/>
        </p:spPr>
      </p:pic>
      <p:sp>
        <p:nvSpPr>
          <p:cNvPr id="6" name="Text Box 4"/>
          <p:cNvSpPr txBox="1">
            <a:spLocks noChangeArrowheads="1"/>
          </p:cNvSpPr>
          <p:nvPr/>
        </p:nvSpPr>
        <p:spPr bwMode="auto">
          <a:xfrm>
            <a:off x="533400" y="5943600"/>
            <a:ext cx="4463081" cy="523220"/>
          </a:xfrm>
          <a:prstGeom prst="rect">
            <a:avLst/>
          </a:prstGeom>
          <a:noFill/>
          <a:ln w="9525">
            <a:noFill/>
            <a:miter lim="800000"/>
            <a:headEnd/>
            <a:tailEnd/>
          </a:ln>
          <a:effectLst/>
        </p:spPr>
        <p:txBody>
          <a:bodyPr wrap="none">
            <a:spAutoFit/>
          </a:bodyPr>
          <a:lstStyle/>
          <a:p>
            <a:r>
              <a:rPr lang="en-US" sz="2800" dirty="0">
                <a:latin typeface="Times New Roman" pitchFamily="18" charset="0"/>
              </a:rPr>
              <a:t>FSK: -Frequency shift keying</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81000"/>
            <a:ext cx="8077200" cy="6494085"/>
          </a:xfrm>
          <a:prstGeom prst="rect">
            <a:avLst/>
          </a:prstGeom>
        </p:spPr>
        <p:txBody>
          <a:bodyPr wrap="square">
            <a:spAutoFit/>
          </a:bodyPr>
          <a:lstStyle/>
          <a:p>
            <a:r>
              <a:rPr lang="en-US" sz="3200" b="1" dirty="0"/>
              <a:t>SPREAD SPECTRUM:-</a:t>
            </a:r>
          </a:p>
          <a:p>
            <a:r>
              <a:rPr lang="en-US" sz="3200" dirty="0"/>
              <a:t>	Multiplexing combines signals from several sources to achieve bandwidth efficiency; the available bandwidth of a link is divided between the sources.</a:t>
            </a:r>
          </a:p>
          <a:p>
            <a:endParaRPr lang="en-US" sz="3200" dirty="0"/>
          </a:p>
          <a:p>
            <a:r>
              <a:rPr lang="en-US" sz="3200" dirty="0"/>
              <a:t>In spread spectrum (SS), we also combine signals from different sources to fit into a larger bandwidth, but our goals are somewhat different.</a:t>
            </a:r>
          </a:p>
          <a:p>
            <a:endParaRPr lang="en-US" sz="3200" dirty="0"/>
          </a:p>
          <a:p>
            <a:r>
              <a:rPr lang="en-US" sz="3200" dirty="0"/>
              <a:t>To achieve these goals, spread spectrum techniques add redundancy.</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81000"/>
            <a:ext cx="7543800" cy="5016758"/>
          </a:xfrm>
          <a:prstGeom prst="rect">
            <a:avLst/>
          </a:prstGeom>
        </p:spPr>
        <p:txBody>
          <a:bodyPr wrap="square">
            <a:spAutoFit/>
          </a:bodyPr>
          <a:lstStyle/>
          <a:p>
            <a:r>
              <a:rPr lang="en-US" sz="3200" dirty="0"/>
              <a:t>They spread the original spectrum needed for each station.</a:t>
            </a:r>
          </a:p>
          <a:p>
            <a:endParaRPr lang="en-US" sz="3200" dirty="0"/>
          </a:p>
          <a:p>
            <a:r>
              <a:rPr lang="en-US" sz="3200" dirty="0"/>
              <a:t>If the required bandwidth for each station is </a:t>
            </a:r>
            <a:r>
              <a:rPr lang="en-US" sz="3200" i="1" dirty="0"/>
              <a:t>B, spread spectrum expands it to Bss' such that Bss » B. </a:t>
            </a:r>
          </a:p>
          <a:p>
            <a:endParaRPr lang="en-US" sz="3200" i="1" dirty="0"/>
          </a:p>
          <a:p>
            <a:r>
              <a:rPr lang="en-US" sz="3200" dirty="0"/>
              <a:t>The expanded bandwidth allows the source to wrap its message in a protective envelope for a more secure transmission.</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923664" y="685800"/>
            <a:ext cx="7229736"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Physical layer of IEEE 802.11 DSSS</a:t>
            </a:r>
          </a:p>
        </p:txBody>
      </p:sp>
      <p:pic>
        <p:nvPicPr>
          <p:cNvPr id="5" name="Picture 6"/>
          <p:cNvPicPr>
            <a:picLocks noChangeAspect="1" noChangeArrowheads="1"/>
          </p:cNvPicPr>
          <p:nvPr/>
        </p:nvPicPr>
        <p:blipFill>
          <a:blip r:embed="rId2"/>
          <a:srcRect/>
          <a:stretch>
            <a:fillRect/>
          </a:stretch>
        </p:blipFill>
        <p:spPr bwMode="auto">
          <a:xfrm>
            <a:off x="152400" y="2590800"/>
            <a:ext cx="8593138" cy="1874838"/>
          </a:xfrm>
          <a:prstGeom prst="rect">
            <a:avLst/>
          </a:prstGeom>
          <a:noFill/>
          <a:ln w="9525">
            <a:noFill/>
            <a:miter lim="800000"/>
            <a:headEnd/>
            <a:tailEnd/>
          </a:ln>
          <a:effectLst/>
        </p:spPr>
      </p:pic>
      <p:sp>
        <p:nvSpPr>
          <p:cNvPr id="6" name="Text Box 4"/>
          <p:cNvSpPr txBox="1">
            <a:spLocks noChangeArrowheads="1"/>
          </p:cNvSpPr>
          <p:nvPr/>
        </p:nvSpPr>
        <p:spPr bwMode="auto">
          <a:xfrm>
            <a:off x="457200" y="4953000"/>
            <a:ext cx="5979522" cy="954107"/>
          </a:xfrm>
          <a:prstGeom prst="rect">
            <a:avLst/>
          </a:prstGeom>
          <a:noFill/>
          <a:ln w="9525">
            <a:noFill/>
            <a:miter lim="800000"/>
            <a:headEnd/>
            <a:tailEnd/>
          </a:ln>
          <a:effectLst/>
        </p:spPr>
        <p:txBody>
          <a:bodyPr wrap="none">
            <a:spAutoFit/>
          </a:bodyPr>
          <a:lstStyle/>
          <a:p>
            <a:r>
              <a:rPr lang="en-US" sz="2800" dirty="0">
                <a:latin typeface="Times New Roman" pitchFamily="18" charset="0"/>
              </a:rPr>
              <a:t>BPSK: -Binary phase shift keying.</a:t>
            </a:r>
          </a:p>
          <a:p>
            <a:r>
              <a:rPr lang="en-US" sz="2800" dirty="0">
                <a:latin typeface="Times New Roman" pitchFamily="18" charset="0"/>
              </a:rPr>
              <a:t>QPSK: -Quadrature Phase Shift Keying.</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7924800" cy="5509200"/>
          </a:xfrm>
          <a:prstGeom prst="rect">
            <a:avLst/>
          </a:prstGeom>
        </p:spPr>
        <p:txBody>
          <a:bodyPr wrap="square">
            <a:spAutoFit/>
          </a:bodyPr>
          <a:lstStyle/>
          <a:p>
            <a:r>
              <a:rPr lang="en-US" sz="3200" dirty="0"/>
              <a:t>The direct sequence spread spectrum (DSSS) technique also expands the bandwidth</a:t>
            </a:r>
          </a:p>
          <a:p>
            <a:r>
              <a:rPr lang="en-US" sz="3200" dirty="0"/>
              <a:t>of the original signal, but the process is different. </a:t>
            </a:r>
          </a:p>
          <a:p>
            <a:endParaRPr lang="en-US" sz="3200" dirty="0"/>
          </a:p>
          <a:p>
            <a:r>
              <a:rPr lang="en-US" sz="3200" dirty="0"/>
              <a:t>In DSSS, we replace each data bit with n bits using a spreading code.</a:t>
            </a:r>
          </a:p>
          <a:p>
            <a:endParaRPr lang="en-US" sz="3200" dirty="0"/>
          </a:p>
          <a:p>
            <a:r>
              <a:rPr lang="en-US" sz="3200" dirty="0"/>
              <a:t>In other words, each bit is assigned a code of n bits, called chips, where the chip rate is n times that of the data bit.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7924800" cy="6001643"/>
          </a:xfrm>
          <a:prstGeom prst="rect">
            <a:avLst/>
          </a:prstGeom>
        </p:spPr>
        <p:txBody>
          <a:bodyPr wrap="square">
            <a:spAutoFit/>
          </a:bodyPr>
          <a:lstStyle/>
          <a:p>
            <a:pPr fontAlgn="base"/>
            <a:r>
              <a:rPr lang="en-US" sz="3200" b="1" dirty="0"/>
              <a:t>2] 802.11b:-</a:t>
            </a:r>
          </a:p>
          <a:p>
            <a:pPr fontAlgn="base"/>
            <a:r>
              <a:rPr lang="en-US" sz="3200" dirty="0"/>
              <a:t>	IEEE expanded on the original 802.11 standard in July 1999, creating the </a:t>
            </a:r>
            <a:r>
              <a:rPr lang="en-US" sz="3200" b="1" i="1" dirty="0"/>
              <a:t>802.11b</a:t>
            </a:r>
            <a:r>
              <a:rPr lang="en-US" sz="3200" i="1" dirty="0"/>
              <a:t> </a:t>
            </a:r>
            <a:r>
              <a:rPr lang="en-US" sz="3200" dirty="0"/>
              <a:t>specification.</a:t>
            </a:r>
          </a:p>
          <a:p>
            <a:pPr fontAlgn="base"/>
            <a:endParaRPr lang="en-US" sz="3200" dirty="0"/>
          </a:p>
          <a:p>
            <a:pPr fontAlgn="base"/>
            <a:r>
              <a:rPr lang="en-US" sz="3200" dirty="0"/>
              <a:t>802.11b supports bandwidth up to 11 Mbps, comparable to traditional </a:t>
            </a:r>
            <a:r>
              <a:rPr lang="en-US" sz="3200" u="sng" dirty="0">
                <a:hlinkClick r:id="rId2"/>
              </a:rPr>
              <a:t>Ethernet</a:t>
            </a:r>
            <a:r>
              <a:rPr lang="en-US" sz="3200" dirty="0"/>
              <a:t>.</a:t>
            </a:r>
          </a:p>
          <a:p>
            <a:pPr fontAlgn="base"/>
            <a:endParaRPr lang="en-US" sz="3200" dirty="0"/>
          </a:p>
          <a:p>
            <a:pPr fontAlgn="base"/>
            <a:r>
              <a:rPr lang="en-US" sz="3200" dirty="0"/>
              <a:t>802.11b uses the same </a:t>
            </a:r>
            <a:r>
              <a:rPr lang="en-US" sz="3200" i="1" dirty="0"/>
              <a:t>unregulated</a:t>
            </a:r>
            <a:r>
              <a:rPr lang="en-US" sz="3200" dirty="0"/>
              <a:t> radio signaling frequency (2.4 </a:t>
            </a:r>
            <a:r>
              <a:rPr lang="en-US" sz="3200" u="sng" dirty="0">
                <a:hlinkClick r:id="rId3"/>
              </a:rPr>
              <a:t>GHz</a:t>
            </a:r>
            <a:r>
              <a:rPr lang="en-US" sz="3200" dirty="0"/>
              <a:t>) as the original 802.11 standard. </a:t>
            </a:r>
          </a:p>
          <a:p>
            <a:pPr fontAlgn="base"/>
            <a:endParaRPr lang="en-US" sz="32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04800"/>
            <a:ext cx="8305800" cy="5509200"/>
          </a:xfrm>
          <a:prstGeom prst="rect">
            <a:avLst/>
          </a:prstGeom>
        </p:spPr>
        <p:txBody>
          <a:bodyPr wrap="square">
            <a:spAutoFit/>
          </a:bodyPr>
          <a:lstStyle/>
          <a:p>
            <a:pPr fontAlgn="base"/>
            <a:r>
              <a:rPr lang="en-US" sz="3200" dirty="0"/>
              <a:t>Vendors often prefer using these frequencies to lower their production costs.</a:t>
            </a:r>
          </a:p>
          <a:p>
            <a:pPr fontAlgn="base"/>
            <a:endParaRPr lang="en-US" sz="3200" dirty="0"/>
          </a:p>
          <a:p>
            <a:pPr fontAlgn="base"/>
            <a:endParaRPr lang="en-US" sz="3200" dirty="0"/>
          </a:p>
          <a:p>
            <a:pPr fontAlgn="base"/>
            <a:r>
              <a:rPr lang="en-US" sz="3200" b="1" dirty="0"/>
              <a:t>Pros of 802.11b</a:t>
            </a:r>
            <a:r>
              <a:rPr lang="en-US" sz="3200" dirty="0"/>
              <a:t> - lowest cost; signal range is good and not easily obstructed.</a:t>
            </a:r>
          </a:p>
          <a:p>
            <a:pPr fontAlgn="base"/>
            <a:endParaRPr lang="en-US" sz="3200" dirty="0"/>
          </a:p>
          <a:p>
            <a:pPr fontAlgn="base"/>
            <a:r>
              <a:rPr lang="en-US" sz="3200" b="1" dirty="0"/>
              <a:t>Cons of 802.11b</a:t>
            </a:r>
            <a:r>
              <a:rPr lang="en-US" sz="3200" dirty="0"/>
              <a:t> - slowest maximum speed; home appliances may interfere on the unregulated frequency band.</a:t>
            </a:r>
          </a:p>
          <a:p>
            <a:pPr fontAlgn="base"/>
            <a:endParaRPr lang="en-US" sz="3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304800"/>
            <a:ext cx="7696200" cy="6494085"/>
          </a:xfrm>
          <a:prstGeom prst="rect">
            <a:avLst/>
          </a:prstGeom>
        </p:spPr>
        <p:txBody>
          <a:bodyPr wrap="square">
            <a:spAutoFit/>
          </a:bodyPr>
          <a:lstStyle/>
          <a:p>
            <a:pPr fontAlgn="base"/>
            <a:r>
              <a:rPr lang="en-US" sz="3200" b="1" dirty="0"/>
              <a:t>3] 802.11a</a:t>
            </a:r>
          </a:p>
          <a:p>
            <a:pPr fontAlgn="base"/>
            <a:r>
              <a:rPr lang="en-US" sz="3200" dirty="0"/>
              <a:t>	While 802.11b was in development, IEEE created a second extension to the original 802.11 standard called </a:t>
            </a:r>
            <a:r>
              <a:rPr lang="en-US" sz="3200" b="1" i="1" dirty="0"/>
              <a:t>802.11a</a:t>
            </a:r>
            <a:r>
              <a:rPr lang="en-US" sz="3200" dirty="0"/>
              <a:t> . </a:t>
            </a:r>
          </a:p>
          <a:p>
            <a:pPr fontAlgn="base"/>
            <a:endParaRPr lang="en-US" sz="3200" dirty="0"/>
          </a:p>
          <a:p>
            <a:pPr fontAlgn="base"/>
            <a:r>
              <a:rPr lang="en-US" sz="3200" dirty="0"/>
              <a:t>Because 802.11b gained in popularity much faster than did 802.11a, some folks believe that 802.11a was created after 802.11b. </a:t>
            </a:r>
          </a:p>
          <a:p>
            <a:pPr fontAlgn="base"/>
            <a:endParaRPr lang="en-US" sz="3200" dirty="0"/>
          </a:p>
          <a:p>
            <a:pPr fontAlgn="base"/>
            <a:r>
              <a:rPr lang="en-US" sz="3200" dirty="0"/>
              <a:t>In fact, 802.11a was created at the same time. Due to its higher cost, 802.11a is usually found on business networks whereas 802.11b better serves the home market.</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8001000" cy="6494085"/>
          </a:xfrm>
          <a:prstGeom prst="rect">
            <a:avLst/>
          </a:prstGeom>
        </p:spPr>
        <p:txBody>
          <a:bodyPr wrap="square">
            <a:spAutoFit/>
          </a:bodyPr>
          <a:lstStyle/>
          <a:p>
            <a:pPr fontAlgn="base"/>
            <a:r>
              <a:rPr lang="en-US" sz="3200" dirty="0"/>
              <a:t>802.11a supports bandwidth up to 54 Mbps and signals in a regulated frequency spectrum around 5 GHz. </a:t>
            </a:r>
          </a:p>
          <a:p>
            <a:pPr fontAlgn="base"/>
            <a:endParaRPr lang="en-US" sz="3200" dirty="0"/>
          </a:p>
          <a:p>
            <a:pPr fontAlgn="base"/>
            <a:r>
              <a:rPr lang="en-US" sz="3200" dirty="0"/>
              <a:t>Because 802.11a and 802.11b utilize different frequencies, the two technologies are incompatible with each other. </a:t>
            </a:r>
          </a:p>
          <a:p>
            <a:pPr fontAlgn="base"/>
            <a:endParaRPr lang="en-US" sz="3200" dirty="0"/>
          </a:p>
          <a:p>
            <a:pPr fontAlgn="base"/>
            <a:r>
              <a:rPr lang="en-US" sz="3200" b="1" dirty="0"/>
              <a:t>Pros of 802.11a</a:t>
            </a:r>
            <a:r>
              <a:rPr lang="en-US" sz="3200" dirty="0"/>
              <a:t> - fast maximum speed; regulated frequencies prevent signal interference from other devices.</a:t>
            </a:r>
          </a:p>
          <a:p>
            <a:pPr fontAlgn="base"/>
            <a:r>
              <a:rPr lang="en-US" sz="3200" b="1" dirty="0"/>
              <a:t>Cons of 802.11a</a:t>
            </a:r>
            <a:r>
              <a:rPr lang="en-US" sz="3200" dirty="0"/>
              <a:t> - highest cost; shorter range signal that is more easily obstructed.</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228600"/>
            <a:ext cx="8077200" cy="6001643"/>
          </a:xfrm>
          <a:prstGeom prst="rect">
            <a:avLst/>
          </a:prstGeom>
        </p:spPr>
        <p:txBody>
          <a:bodyPr wrap="square">
            <a:spAutoFit/>
          </a:bodyPr>
          <a:lstStyle/>
          <a:p>
            <a:pPr fontAlgn="base"/>
            <a:r>
              <a:rPr lang="en-US" sz="3200" b="1" dirty="0"/>
              <a:t>4] 802.11g</a:t>
            </a:r>
          </a:p>
          <a:p>
            <a:pPr fontAlgn="base"/>
            <a:r>
              <a:rPr lang="en-US" sz="3200" dirty="0"/>
              <a:t>	In 2002 and 2003, WLAN products supporting a newer standard called </a:t>
            </a:r>
            <a:r>
              <a:rPr lang="en-US" sz="3200" b="1" i="1" dirty="0"/>
              <a:t>802.11g</a:t>
            </a:r>
            <a:r>
              <a:rPr lang="en-US" sz="3200" dirty="0"/>
              <a:t> emerged on the market. </a:t>
            </a:r>
          </a:p>
          <a:p>
            <a:pPr fontAlgn="base"/>
            <a:endParaRPr lang="en-US" sz="3200" dirty="0"/>
          </a:p>
          <a:p>
            <a:pPr fontAlgn="base"/>
            <a:r>
              <a:rPr lang="en-US" sz="3200" dirty="0"/>
              <a:t>802.11g attempts to combine the best of both 802.11a and 802.11b. </a:t>
            </a:r>
          </a:p>
          <a:p>
            <a:pPr fontAlgn="base"/>
            <a:endParaRPr lang="en-US" sz="3200" dirty="0"/>
          </a:p>
          <a:p>
            <a:pPr fontAlgn="base"/>
            <a:r>
              <a:rPr lang="en-US" sz="3200" dirty="0"/>
              <a:t>802.11g supports bandwidth up to </a:t>
            </a:r>
            <a:r>
              <a:rPr lang="en-US" sz="3200" u="sng" dirty="0">
                <a:hlinkClick r:id="rId2"/>
              </a:rPr>
              <a:t>54 Mbps</a:t>
            </a:r>
            <a:r>
              <a:rPr lang="en-US" sz="3200" dirty="0"/>
              <a:t> , and it uses the 2.4 GHz frequency for greater range. </a:t>
            </a:r>
          </a:p>
          <a:p>
            <a:pPr fontAlgn="base"/>
            <a:endParaRPr lang="en-US" sz="3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001000" cy="5509200"/>
          </a:xfrm>
          <a:prstGeom prst="rect">
            <a:avLst/>
          </a:prstGeom>
        </p:spPr>
        <p:txBody>
          <a:bodyPr wrap="square">
            <a:spAutoFit/>
          </a:bodyPr>
          <a:lstStyle/>
          <a:p>
            <a:pPr fontAlgn="base"/>
            <a:r>
              <a:rPr lang="en-US" sz="3200" dirty="0"/>
              <a:t>802.11g is backwards compatible with 802.11b, meaning that 802.11g </a:t>
            </a:r>
            <a:r>
              <a:rPr lang="en-US" sz="3200" u="sng" dirty="0">
                <a:hlinkClick r:id="rId2"/>
              </a:rPr>
              <a:t>access points</a:t>
            </a:r>
            <a:r>
              <a:rPr lang="en-US" sz="3200" dirty="0"/>
              <a:t> will work with 802.11b wireless </a:t>
            </a:r>
            <a:r>
              <a:rPr lang="en-US" sz="3200" u="sng" dirty="0">
                <a:hlinkClick r:id="rId3"/>
              </a:rPr>
              <a:t>network adapters</a:t>
            </a:r>
            <a:r>
              <a:rPr lang="en-US" sz="3200" dirty="0"/>
              <a:t> and vice versa.</a:t>
            </a:r>
          </a:p>
          <a:p>
            <a:pPr fontAlgn="base"/>
            <a:endParaRPr lang="en-US" sz="3200" b="1" dirty="0"/>
          </a:p>
          <a:p>
            <a:pPr fontAlgn="base"/>
            <a:r>
              <a:rPr lang="en-US" sz="3200" b="1" dirty="0"/>
              <a:t>Pros of 802.11g</a:t>
            </a:r>
            <a:r>
              <a:rPr lang="en-US" sz="3200" dirty="0"/>
              <a:t> - fast maximum speed; signal range is good and not easily obstructed.</a:t>
            </a:r>
          </a:p>
          <a:p>
            <a:pPr fontAlgn="base"/>
            <a:endParaRPr lang="en-US" sz="3200" dirty="0"/>
          </a:p>
          <a:p>
            <a:pPr fontAlgn="base"/>
            <a:r>
              <a:rPr lang="en-US" sz="3200" b="1" dirty="0"/>
              <a:t>Cons of 802.11g</a:t>
            </a:r>
            <a:r>
              <a:rPr lang="en-US" sz="3200" dirty="0"/>
              <a:t> - costs more than 802.11b; appliances may interfere on the unregulated signal frequency.</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228600"/>
            <a:ext cx="8001000" cy="5509200"/>
          </a:xfrm>
          <a:prstGeom prst="rect">
            <a:avLst/>
          </a:prstGeom>
        </p:spPr>
        <p:txBody>
          <a:bodyPr wrap="square">
            <a:spAutoFit/>
          </a:bodyPr>
          <a:lstStyle/>
          <a:p>
            <a:pPr fontAlgn="base"/>
            <a:r>
              <a:rPr lang="en-US" sz="3200" b="1" dirty="0"/>
              <a:t>5] 802.11n: -</a:t>
            </a:r>
          </a:p>
          <a:p>
            <a:pPr fontAlgn="base"/>
            <a:r>
              <a:rPr lang="en-US" sz="3200" i="1" dirty="0"/>
              <a:t>	802.11n</a:t>
            </a:r>
            <a:r>
              <a:rPr lang="en-US" sz="3200" dirty="0"/>
              <a:t> (also sometimes known as " </a:t>
            </a:r>
            <a:r>
              <a:rPr lang="en-US" sz="3200" u="sng" dirty="0">
                <a:hlinkClick r:id="rId2"/>
              </a:rPr>
              <a:t>Wireless N</a:t>
            </a:r>
            <a:r>
              <a:rPr lang="en-US" sz="3200" dirty="0"/>
              <a:t> ") was designed to improve on 802.11g in the amount of bandwidth supported by utilizing multiple wireless signals and antennas.</a:t>
            </a:r>
          </a:p>
          <a:p>
            <a:pPr fontAlgn="base"/>
            <a:endParaRPr lang="en-US" sz="3200" dirty="0"/>
          </a:p>
          <a:p>
            <a:pPr fontAlgn="base"/>
            <a:r>
              <a:rPr lang="en-US" sz="3200" dirty="0"/>
              <a:t>Industry standards groups ratified 802.11n in 2009 with specifications providing for up to </a:t>
            </a:r>
            <a:r>
              <a:rPr lang="en-US" sz="3200" u="sng" dirty="0">
                <a:hlinkClick r:id="rId3"/>
              </a:rPr>
              <a:t>300 Mbps</a:t>
            </a:r>
            <a:r>
              <a:rPr lang="en-US" sz="3200" dirty="0"/>
              <a:t> of network bandwidth. </a:t>
            </a:r>
          </a:p>
          <a:p>
            <a:pPr fontAlgn="base"/>
            <a:endParaRPr lang="en-US" sz="3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8153400" cy="6494085"/>
          </a:xfrm>
          <a:prstGeom prst="rect">
            <a:avLst/>
          </a:prstGeom>
        </p:spPr>
        <p:txBody>
          <a:bodyPr wrap="square">
            <a:spAutoFit/>
          </a:bodyPr>
          <a:lstStyle/>
          <a:p>
            <a:pPr fontAlgn="base"/>
            <a:r>
              <a:rPr lang="en-US" sz="3200" dirty="0"/>
              <a:t>802.11n also offers somewhat better range over earlier Wi-Fi standards due to its increased signal intensity, and it is backward-compatible with 802.11b/g gear. </a:t>
            </a:r>
          </a:p>
          <a:p>
            <a:pPr fontAlgn="base"/>
            <a:endParaRPr lang="en-US" sz="3200" b="1" dirty="0"/>
          </a:p>
          <a:p>
            <a:pPr fontAlgn="base"/>
            <a:r>
              <a:rPr lang="en-US" sz="3200" b="1" dirty="0"/>
              <a:t>Pros of 802.11n</a:t>
            </a:r>
            <a:r>
              <a:rPr lang="en-US" sz="3200" dirty="0"/>
              <a:t> - fastest maximum speed and best signal range; more resistant to signal interference from outside sources.</a:t>
            </a:r>
          </a:p>
          <a:p>
            <a:pPr fontAlgn="base"/>
            <a:endParaRPr lang="en-US" sz="3200" dirty="0"/>
          </a:p>
          <a:p>
            <a:pPr fontAlgn="base"/>
            <a:r>
              <a:rPr lang="en-US" sz="3200" b="1" dirty="0"/>
              <a:t>Cons of 802.11n</a:t>
            </a:r>
            <a:r>
              <a:rPr lang="en-US" sz="3200" dirty="0"/>
              <a:t> - standard is not yet finalized; costs more than 802.11g; the use of multiple signals may greatly interfere with nearby 802.11b/g based networks.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219200" y="406400"/>
            <a:ext cx="713265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cs typeface="Times New Roman" pitchFamily="18" charset="0"/>
              </a:rPr>
              <a:t>BLUETOOTH:- IEEE 802.15 Standard</a:t>
            </a:r>
          </a:p>
        </p:txBody>
      </p:sp>
      <p:sp>
        <p:nvSpPr>
          <p:cNvPr id="3" name="Rectangle 5"/>
          <p:cNvSpPr>
            <a:spLocks noChangeArrowheads="1"/>
          </p:cNvSpPr>
          <p:nvPr/>
        </p:nvSpPr>
        <p:spPr bwMode="auto">
          <a:xfrm>
            <a:off x="381000" y="1600200"/>
            <a:ext cx="8229600" cy="3539430"/>
          </a:xfrm>
          <a:prstGeom prst="rect">
            <a:avLst/>
          </a:prstGeom>
          <a:noFill/>
          <a:ln w="9525">
            <a:noFill/>
            <a:miter lim="800000"/>
            <a:headEnd/>
            <a:tailEnd/>
          </a:ln>
          <a:effectLst/>
        </p:spPr>
        <p:txBody>
          <a:bodyPr anchor="ctr">
            <a:spAutoFit/>
          </a:bodyPr>
          <a:lstStyle/>
          <a:p>
            <a:pPr algn="just" eaLnBrk="1" hangingPunct="1"/>
            <a:r>
              <a:rPr lang="en-US" sz="3200" dirty="0">
                <a:solidFill>
                  <a:schemeClr val="hlink"/>
                </a:solidFill>
                <a:latin typeface="Times New Roman" pitchFamily="18" charset="0"/>
                <a:cs typeface="Times New Roman" pitchFamily="18" charset="0"/>
              </a:rPr>
              <a:t>Bluetooth</a:t>
            </a:r>
            <a:r>
              <a:rPr lang="en-US" sz="3200" dirty="0">
                <a:latin typeface="Times New Roman" pitchFamily="18" charset="0"/>
                <a:cs typeface="Times New Roman" pitchFamily="18" charset="0"/>
              </a:rPr>
              <a:t> is a wireless LAN technology designed to connect devices of different functions such as telephones, notebooks, computers, cameras, printers, coffee makers, and so on. A Bluetooth LAN is an ad hoc network, which means that the network is formed spontaneously.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381000"/>
            <a:ext cx="7620000" cy="6063198"/>
          </a:xfrm>
          <a:prstGeom prst="rect">
            <a:avLst/>
          </a:prstGeom>
        </p:spPr>
        <p:txBody>
          <a:bodyPr wrap="square">
            <a:spAutoFit/>
          </a:bodyPr>
          <a:lstStyle/>
          <a:p>
            <a:r>
              <a:rPr lang="en-US" sz="3200" dirty="0">
                <a:latin typeface="Times New Roman" pitchFamily="18" charset="0"/>
                <a:cs typeface="Times New Roman" pitchFamily="18" charset="0"/>
              </a:rPr>
              <a:t>Bluetooth technology is the implementation of a protocol defined by the IEEE 802.15 standard.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The standard defines a wireless personal-area network (PAN) operable in an area the size of a room or a hall.</a:t>
            </a:r>
          </a:p>
          <a:p>
            <a:endParaRPr lang="en-US" sz="3200" dirty="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a:p>
            <a:r>
              <a:rPr lang="en-US" sz="3600" b="1" dirty="0"/>
              <a:t>Architecture :-</a:t>
            </a:r>
          </a:p>
          <a:p>
            <a:r>
              <a:rPr lang="en-US" sz="3200" dirty="0"/>
              <a:t>Bluetooth defines two types of networks: </a:t>
            </a:r>
            <a:r>
              <a:rPr lang="en-US" sz="3200" b="1" dirty="0"/>
              <a:t>piconet and scatternet</a:t>
            </a:r>
            <a:r>
              <a:rPr lang="en-US" sz="3200" dirty="0"/>
              <a:t>.</a:t>
            </a:r>
            <a:endParaRPr lang="en-US" sz="3200" dirty="0">
              <a:latin typeface="Times New Roman" pitchFamily="18" charset="0"/>
              <a:cs typeface="Times New Roman"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3534995" y="685800"/>
            <a:ext cx="1646605"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Piconet</a:t>
            </a:r>
          </a:p>
        </p:txBody>
      </p:sp>
      <p:pic>
        <p:nvPicPr>
          <p:cNvPr id="5" name="Picture 6"/>
          <p:cNvPicPr>
            <a:picLocks noChangeAspect="1" noChangeArrowheads="1"/>
          </p:cNvPicPr>
          <p:nvPr/>
        </p:nvPicPr>
        <p:blipFill>
          <a:blip r:embed="rId2"/>
          <a:srcRect/>
          <a:stretch>
            <a:fillRect/>
          </a:stretch>
        </p:blipFill>
        <p:spPr bwMode="auto">
          <a:xfrm>
            <a:off x="901700" y="1500188"/>
            <a:ext cx="7404100" cy="4443412"/>
          </a:xfrm>
          <a:prstGeom prst="rect">
            <a:avLst/>
          </a:prstGeom>
          <a:noFill/>
          <a:ln w="9525">
            <a:noFill/>
            <a:miter lim="800000"/>
            <a:headEnd/>
            <a:tailEnd/>
          </a:ln>
          <a:effec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0"/>
            <a:ext cx="8153400" cy="5016758"/>
          </a:xfrm>
          <a:prstGeom prst="rect">
            <a:avLst/>
          </a:prstGeom>
        </p:spPr>
        <p:txBody>
          <a:bodyPr wrap="square">
            <a:spAutoFit/>
          </a:bodyPr>
          <a:lstStyle/>
          <a:p>
            <a:pPr>
              <a:buFont typeface="Wingdings" pitchFamily="2" charset="2"/>
              <a:buChar char="§"/>
            </a:pPr>
            <a:r>
              <a:rPr lang="en-US" sz="3200" dirty="0">
                <a:latin typeface="Times New Roman" pitchFamily="18" charset="0"/>
                <a:cs typeface="Times New Roman" pitchFamily="18" charset="0"/>
              </a:rPr>
              <a:t> Small net.</a:t>
            </a:r>
          </a:p>
          <a:p>
            <a:pPr>
              <a:buFont typeface="Wingdings" pitchFamily="2" charset="2"/>
              <a:buChar char="§"/>
            </a:pPr>
            <a:endParaRPr lang="en-US" sz="3200" dirty="0">
              <a:latin typeface="Times New Roman" pitchFamily="18" charset="0"/>
              <a:cs typeface="Times New Roman" pitchFamily="18" charset="0"/>
            </a:endParaRPr>
          </a:p>
          <a:p>
            <a:pPr>
              <a:buFont typeface="Wingdings" pitchFamily="2" charset="2"/>
              <a:buChar char="§"/>
            </a:pPr>
            <a:r>
              <a:rPr lang="en-US" sz="3200" dirty="0">
                <a:latin typeface="Times New Roman" pitchFamily="18" charset="0"/>
                <a:cs typeface="Times New Roman" pitchFamily="18" charset="0"/>
              </a:rPr>
              <a:t> A piconet can have up to eight stations.</a:t>
            </a:r>
          </a:p>
          <a:p>
            <a:pPr>
              <a:buFont typeface="Wingdings" pitchFamily="2" charset="2"/>
              <a:buChar char="§"/>
            </a:pPr>
            <a:endParaRPr lang="en-US" sz="3200" dirty="0">
              <a:latin typeface="Times New Roman" pitchFamily="18" charset="0"/>
              <a:cs typeface="Times New Roman" pitchFamily="18" charset="0"/>
            </a:endParaRPr>
          </a:p>
          <a:p>
            <a:pPr>
              <a:buFont typeface="Wingdings" pitchFamily="2" charset="2"/>
              <a:buChar char="§"/>
            </a:pPr>
            <a:r>
              <a:rPr lang="en-US" sz="3200" dirty="0">
                <a:latin typeface="Times New Roman" pitchFamily="18" charset="0"/>
                <a:cs typeface="Times New Roman" pitchFamily="18" charset="0"/>
              </a:rPr>
              <a:t> All the secondary stations synchronize their </a:t>
            </a:r>
          </a:p>
          <a:p>
            <a:r>
              <a:rPr lang="en-US" sz="3200" dirty="0">
                <a:latin typeface="Times New Roman" pitchFamily="18" charset="0"/>
                <a:cs typeface="Times New Roman" pitchFamily="18" charset="0"/>
              </a:rPr>
              <a:t>   clocks and hopping sequence with the primary.</a:t>
            </a:r>
          </a:p>
          <a:p>
            <a:endParaRPr lang="en-US" sz="3200" dirty="0">
              <a:latin typeface="Times New Roman" pitchFamily="18" charset="0"/>
              <a:cs typeface="Times New Roman" pitchFamily="18" charset="0"/>
            </a:endParaRPr>
          </a:p>
          <a:p>
            <a:pPr>
              <a:buFont typeface="Wingdings" pitchFamily="2" charset="2"/>
              <a:buChar char="§"/>
            </a:pPr>
            <a:r>
              <a:rPr lang="en-US" sz="3200" dirty="0">
                <a:latin typeface="Times New Roman" pitchFamily="18" charset="0"/>
                <a:cs typeface="Times New Roman" pitchFamily="18" charset="0"/>
              </a:rPr>
              <a:t> The communication between the primary and </a:t>
            </a:r>
          </a:p>
          <a:p>
            <a:r>
              <a:rPr lang="en-US" sz="3200" dirty="0">
                <a:latin typeface="Times New Roman" pitchFamily="18" charset="0"/>
                <a:cs typeface="Times New Roman" pitchFamily="18" charset="0"/>
              </a:rPr>
              <a:t>   the secondary can be one-to-one or one-to-</a:t>
            </a:r>
          </a:p>
          <a:p>
            <a:r>
              <a:rPr lang="en-US" sz="3200" dirty="0">
                <a:latin typeface="Times New Roman" pitchFamily="18" charset="0"/>
                <a:cs typeface="Times New Roman" pitchFamily="18" charset="0"/>
              </a:rPr>
              <a:t>   many. </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894538" y="685800"/>
            <a:ext cx="2210862" cy="646331"/>
          </a:xfrm>
          <a:prstGeom prst="rect">
            <a:avLst/>
          </a:prstGeom>
          <a:noFill/>
          <a:ln w="9525">
            <a:noFill/>
            <a:miter lim="800000"/>
            <a:headEnd/>
            <a:tailEnd/>
          </a:ln>
          <a:effectLst/>
        </p:spPr>
        <p:txBody>
          <a:bodyPr wrap="none">
            <a:spAutoFit/>
          </a:bodyPr>
          <a:lstStyle/>
          <a:p>
            <a:r>
              <a:rPr lang="en-US" sz="3600" b="1" dirty="0">
                <a:latin typeface="Times New Roman" pitchFamily="18" charset="0"/>
              </a:rPr>
              <a:t>Scatternet</a:t>
            </a:r>
          </a:p>
        </p:txBody>
      </p:sp>
      <p:pic>
        <p:nvPicPr>
          <p:cNvPr id="5" name="Picture 6"/>
          <p:cNvPicPr>
            <a:picLocks noChangeAspect="1" noChangeArrowheads="1"/>
          </p:cNvPicPr>
          <p:nvPr/>
        </p:nvPicPr>
        <p:blipFill>
          <a:blip r:embed="rId2"/>
          <a:srcRect/>
          <a:stretch>
            <a:fillRect/>
          </a:stretch>
        </p:blipFill>
        <p:spPr bwMode="auto">
          <a:xfrm>
            <a:off x="374589" y="1590675"/>
            <a:ext cx="8236011" cy="4733925"/>
          </a:xfrm>
          <a:prstGeom prst="rect">
            <a:avLst/>
          </a:prstGeom>
          <a:noFill/>
          <a:ln w="9525">
            <a:noFill/>
            <a:miter lim="800000"/>
            <a:headEnd/>
            <a:tailEnd/>
          </a:ln>
          <a:effec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57201"/>
            <a:ext cx="7924800" cy="6001643"/>
          </a:xfrm>
          <a:prstGeom prst="rect">
            <a:avLst/>
          </a:prstGeom>
        </p:spPr>
        <p:txBody>
          <a:bodyPr wrap="square">
            <a:spAutoFit/>
          </a:bodyPr>
          <a:lstStyle/>
          <a:p>
            <a:r>
              <a:rPr lang="en-US" sz="3200" dirty="0"/>
              <a:t>Piconets can be combined to form what is called a </a:t>
            </a:r>
            <a:r>
              <a:rPr lang="en-US" sz="3200" b="1" dirty="0"/>
              <a:t>scatternet</a:t>
            </a:r>
            <a:r>
              <a:rPr lang="en-US" sz="3200" dirty="0"/>
              <a:t>.</a:t>
            </a:r>
          </a:p>
          <a:p>
            <a:endParaRPr lang="en-US" sz="3200" dirty="0"/>
          </a:p>
          <a:p>
            <a:r>
              <a:rPr lang="en-US" sz="3200" dirty="0"/>
              <a:t>A secondary station in one piconet can be the primary in another piconet. </a:t>
            </a:r>
          </a:p>
          <a:p>
            <a:endParaRPr lang="en-US" sz="3200" dirty="0"/>
          </a:p>
          <a:p>
            <a:r>
              <a:rPr lang="en-US" sz="3200" dirty="0"/>
              <a:t>This station can receive messages from the primary in the first piconet (as a secondary) and, acting as a primary, deliver them to secondaries in the second piconet. </a:t>
            </a:r>
          </a:p>
          <a:p>
            <a:endParaRPr lang="en-US" sz="3200" dirty="0"/>
          </a:p>
          <a:p>
            <a:r>
              <a:rPr lang="en-US" sz="3200" dirty="0"/>
              <a:t>A station can be a member of two piconets.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001000" cy="4647426"/>
          </a:xfrm>
          <a:prstGeom prst="rect">
            <a:avLst/>
          </a:prstGeom>
        </p:spPr>
        <p:txBody>
          <a:bodyPr wrap="square">
            <a:spAutoFit/>
          </a:bodyPr>
          <a:lstStyle/>
          <a:p>
            <a:pPr algn="ctr"/>
            <a:r>
              <a:rPr lang="en-US" sz="3600" b="1" dirty="0">
                <a:latin typeface="Times New Roman" pitchFamily="18" charset="0"/>
                <a:cs typeface="Times New Roman" pitchFamily="18" charset="0"/>
              </a:rPr>
              <a:t>Bluetooth Devices</a:t>
            </a:r>
          </a:p>
          <a:p>
            <a:pPr algn="ctr"/>
            <a:endParaRPr lang="en-US" sz="3600" b="1" dirty="0">
              <a:latin typeface="Times New Roman" pitchFamily="18" charset="0"/>
              <a:cs typeface="Times New Roman" pitchFamily="18" charset="0"/>
            </a:endParaRPr>
          </a:p>
          <a:p>
            <a:r>
              <a:rPr lang="en-US" sz="3200" dirty="0">
                <a:latin typeface="Times New Roman" pitchFamily="18" charset="0"/>
                <a:cs typeface="Times New Roman" pitchFamily="18" charset="0"/>
              </a:rPr>
              <a:t>A Bluetooth device has a built-in short-range radio transmitter. The current data rate is</a:t>
            </a:r>
          </a:p>
          <a:p>
            <a:r>
              <a:rPr lang="en-US" sz="3200" dirty="0">
                <a:latin typeface="Times New Roman" pitchFamily="18" charset="0"/>
                <a:cs typeface="Times New Roman" pitchFamily="18" charset="0"/>
              </a:rPr>
              <a:t>1 Mbps with a 2.4-GHz bandwidth. </a:t>
            </a:r>
          </a:p>
          <a:p>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This means that there is a possibility of interference between the IEEE 802.11b wireless LANs and Bluetooth LANs.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533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2805802" y="685800"/>
            <a:ext cx="3671198" cy="584775"/>
          </a:xfrm>
          <a:prstGeom prst="rect">
            <a:avLst/>
          </a:prstGeom>
          <a:noFill/>
          <a:ln w="9525">
            <a:noFill/>
            <a:miter lim="800000"/>
            <a:headEnd/>
            <a:tailEnd/>
          </a:ln>
          <a:effectLst/>
        </p:spPr>
        <p:txBody>
          <a:bodyPr wrap="none">
            <a:spAutoFit/>
          </a:bodyPr>
          <a:lstStyle/>
          <a:p>
            <a:r>
              <a:rPr lang="en-US" sz="3200" b="1" dirty="0">
                <a:latin typeface="Times New Roman" pitchFamily="18" charset="0"/>
              </a:rPr>
              <a:t>Frame format types</a:t>
            </a:r>
          </a:p>
        </p:txBody>
      </p:sp>
      <p:pic>
        <p:nvPicPr>
          <p:cNvPr id="5" name="Picture 6"/>
          <p:cNvPicPr>
            <a:picLocks noChangeAspect="1" noChangeArrowheads="1"/>
          </p:cNvPicPr>
          <p:nvPr/>
        </p:nvPicPr>
        <p:blipFill>
          <a:blip r:embed="rId2"/>
          <a:srcRect/>
          <a:stretch>
            <a:fillRect/>
          </a:stretch>
        </p:blipFill>
        <p:spPr bwMode="auto">
          <a:xfrm>
            <a:off x="533400" y="2530475"/>
            <a:ext cx="8055499" cy="2574925"/>
          </a:xfrm>
          <a:prstGeom prst="rect">
            <a:avLst/>
          </a:prstGeom>
          <a:noFill/>
          <a:ln w="9525">
            <a:noFill/>
            <a:miter lim="800000"/>
            <a:headEnd/>
            <a:tailEnd/>
          </a:ln>
          <a:effectLst/>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04800"/>
            <a:ext cx="8305800" cy="6001643"/>
          </a:xfrm>
          <a:prstGeom prst="rect">
            <a:avLst/>
          </a:prstGeom>
        </p:spPr>
        <p:txBody>
          <a:bodyPr wrap="square">
            <a:spAutoFit/>
          </a:bodyPr>
          <a:lstStyle/>
          <a:p>
            <a:r>
              <a:rPr lang="en-US" sz="3200" b="1" dirty="0">
                <a:latin typeface="Times New Roman" pitchFamily="18" charset="0"/>
                <a:cs typeface="Times New Roman" pitchFamily="18" charset="0"/>
              </a:rPr>
              <a:t>Access code. </a:t>
            </a:r>
            <a:r>
              <a:rPr lang="en-US" sz="3200" dirty="0">
                <a:latin typeface="Times New Roman" pitchFamily="18" charset="0"/>
                <a:cs typeface="Times New Roman" pitchFamily="18" charset="0"/>
              </a:rPr>
              <a:t>This 72-bit field normally contains synchronization bits and the identifier of the primary to distinguish the frame of one piconet from another.</a:t>
            </a:r>
          </a:p>
          <a:p>
            <a:endParaRPr lang="en-US" sz="3200" dirty="0">
              <a:latin typeface="Times New Roman" pitchFamily="18" charset="0"/>
              <a:cs typeface="Times New Roman" pitchFamily="18" charset="0"/>
            </a:endParaRPr>
          </a:p>
          <a:p>
            <a:r>
              <a:rPr lang="en-US" sz="3200" b="1" dirty="0"/>
              <a:t>Header. </a:t>
            </a:r>
            <a:endParaRPr lang="en-US" sz="3200" dirty="0"/>
          </a:p>
          <a:p>
            <a:r>
              <a:rPr lang="en-US" sz="3200" dirty="0"/>
              <a:t>subfields:</a:t>
            </a:r>
          </a:p>
          <a:p>
            <a:r>
              <a:rPr lang="en-US" sz="3200" b="1" dirty="0"/>
              <a:t>1. Address. </a:t>
            </a:r>
            <a:r>
              <a:rPr lang="en-US" sz="3200" dirty="0"/>
              <a:t>The 3-bit address subfield can define up to seven secondaries (1 to 7).</a:t>
            </a:r>
          </a:p>
          <a:p>
            <a:r>
              <a:rPr lang="en-US" sz="3200" dirty="0"/>
              <a:t>If the address is zero, it is used for broadcast communication from the primary to all secondaries.</a:t>
            </a:r>
            <a:endParaRPr lang="en-US" sz="3200" dirty="0">
              <a:latin typeface="Times New Roman" pitchFamily="18" charset="0"/>
              <a:cs typeface="Times New Roman" pitchFamily="18"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81001"/>
            <a:ext cx="8153400" cy="6001643"/>
          </a:xfrm>
          <a:prstGeom prst="rect">
            <a:avLst/>
          </a:prstGeom>
        </p:spPr>
        <p:txBody>
          <a:bodyPr wrap="square">
            <a:spAutoFit/>
          </a:bodyPr>
          <a:lstStyle/>
          <a:p>
            <a:r>
              <a:rPr lang="en-US" sz="3200" b="1" dirty="0">
                <a:latin typeface="Times New Roman" pitchFamily="18" charset="0"/>
                <a:cs typeface="Times New Roman" pitchFamily="18" charset="0"/>
              </a:rPr>
              <a:t>F. </a:t>
            </a:r>
            <a:r>
              <a:rPr lang="en-US" sz="3200" dirty="0">
                <a:latin typeface="Times New Roman" pitchFamily="18" charset="0"/>
                <a:cs typeface="Times New Roman" pitchFamily="18" charset="0"/>
              </a:rPr>
              <a:t>This 1-bit subfield is for flow control. When set (1), it indicates that the device is unable to receive more frames (buffer is full).</a:t>
            </a:r>
          </a:p>
          <a:p>
            <a:r>
              <a:rPr lang="en-US" sz="3200" b="1" dirty="0">
                <a:latin typeface="Times New Roman" pitchFamily="18" charset="0"/>
                <a:cs typeface="Times New Roman" pitchFamily="18" charset="0"/>
              </a:rPr>
              <a:t> A</a:t>
            </a:r>
            <a:r>
              <a:rPr lang="en-US" sz="3200" dirty="0">
                <a:latin typeface="Times New Roman" pitchFamily="18" charset="0"/>
                <a:cs typeface="Times New Roman" pitchFamily="18" charset="0"/>
              </a:rPr>
              <a:t>. This 1-bit subfield is for acknowledgment. Bluetooth uses Stop-and-Wait ARQ; 1 bit is sufficient for acknowledgment.</a:t>
            </a:r>
          </a:p>
          <a:p>
            <a:r>
              <a:rPr lang="en-US" sz="3200" b="1" dirty="0">
                <a:latin typeface="Times New Roman" pitchFamily="18" charset="0"/>
                <a:cs typeface="Times New Roman" pitchFamily="18" charset="0"/>
              </a:rPr>
              <a:t>S</a:t>
            </a:r>
            <a:r>
              <a:rPr lang="en-US" sz="3200" dirty="0">
                <a:latin typeface="Times New Roman" pitchFamily="18" charset="0"/>
                <a:cs typeface="Times New Roman" pitchFamily="18" charset="0"/>
              </a:rPr>
              <a:t>. This 1-bit subfield holds a sequence number. Bluetooth uses Stop-and-Wait ARQ; 1 bit is sufficient for sequence numbering.</a:t>
            </a:r>
          </a:p>
          <a:p>
            <a:r>
              <a:rPr lang="en-US" sz="3200" b="1" dirty="0">
                <a:latin typeface="Times New Roman" pitchFamily="18" charset="0"/>
                <a:cs typeface="Times New Roman" pitchFamily="18" charset="0"/>
              </a:rPr>
              <a:t>HEC</a:t>
            </a:r>
            <a:r>
              <a:rPr lang="en-US" sz="3200" dirty="0">
                <a:latin typeface="Times New Roman" pitchFamily="18" charset="0"/>
                <a:cs typeface="Times New Roman" pitchFamily="18" charset="0"/>
              </a:rPr>
              <a:t>. The 8-bit header error correction subfield is a checksum to detect errors in each 18-bit header section.</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229600" cy="2062103"/>
          </a:xfrm>
          <a:prstGeom prst="rect">
            <a:avLst/>
          </a:prstGeom>
        </p:spPr>
        <p:txBody>
          <a:bodyPr wrap="square">
            <a:spAutoFit/>
          </a:bodyPr>
          <a:lstStyle/>
          <a:p>
            <a:r>
              <a:rPr lang="en-US" sz="3200" b="1" dirty="0">
                <a:latin typeface="Times New Roman" pitchFamily="18" charset="0"/>
                <a:cs typeface="Times New Roman" pitchFamily="18" charset="0"/>
              </a:rPr>
              <a:t>Payload. </a:t>
            </a:r>
          </a:p>
          <a:p>
            <a:r>
              <a:rPr lang="en-US" sz="3200" dirty="0">
                <a:latin typeface="Times New Roman" pitchFamily="18" charset="0"/>
                <a:cs typeface="Times New Roman" pitchFamily="18" charset="0"/>
              </a:rPr>
              <a:t>This subfield can be 0 to 2740 bits long. It contains data or control information coming from the upper layers.</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txBox="1">
            <a:spLocks noChangeArrowheads="1"/>
          </p:cNvSpPr>
          <p:nvPr/>
        </p:nvSpPr>
        <p:spPr>
          <a:xfrm>
            <a:off x="228600" y="304800"/>
            <a:ext cx="8763000" cy="1143000"/>
          </a:xfrm>
          <a:prstGeom prst="rect">
            <a:avLst/>
          </a:prstGeom>
        </p:spPr>
        <p:txBody>
          <a:bodyPr/>
          <a:lstStyle/>
          <a:p>
            <a:pPr marL="0" marR="0" lvl="0" indent="0" defTabSz="914400" rtl="0" eaLnBrk="1" fontAlgn="auto" latinLnBrk="0" hangingPunct="1">
              <a:lnSpc>
                <a:spcPct val="100000"/>
              </a:lnSpc>
              <a:spcBef>
                <a:spcPct val="0"/>
              </a:spcBef>
              <a:spcAft>
                <a:spcPts val="0"/>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kumimoji="0" lang="en-GB" sz="4400" b="0" i="0" u="none" strike="noStrike" kern="1200" cap="none" spc="0" normalizeH="0" baseline="0" noProof="0" dirty="0">
                <a:ln>
                  <a:noFill/>
                </a:ln>
                <a:solidFill>
                  <a:schemeClr val="tx1"/>
                </a:solidFill>
                <a:effectLst/>
                <a:uLnTx/>
                <a:uFillTx/>
                <a:latin typeface="+mj-lt"/>
                <a:ea typeface="+mj-ea"/>
                <a:cs typeface="+mj-cs"/>
              </a:rPr>
              <a:t>Binary Exponential Backoff Algorithm</a:t>
            </a:r>
          </a:p>
        </p:txBody>
      </p:sp>
      <p:sp>
        <p:nvSpPr>
          <p:cNvPr id="3" name="Rectangle 2"/>
          <p:cNvSpPr txBox="1">
            <a:spLocks noChangeArrowheads="1"/>
          </p:cNvSpPr>
          <p:nvPr/>
        </p:nvSpPr>
        <p:spPr>
          <a:xfrm>
            <a:off x="457200" y="1524000"/>
            <a:ext cx="8534400" cy="4724400"/>
          </a:xfrm>
          <a:prstGeom prst="rect">
            <a:avLst/>
          </a:prstGeom>
        </p:spPr>
        <p:txBody>
          <a:bodyPr/>
          <a:lstStyle/>
          <a:p>
            <a:pPr marL="342900" marR="0" lvl="0" indent="-342900" defTabSz="914400" rtl="0" eaLnBrk="1" fontAlgn="auto" latinLnBrk="0" hangingPunct="1">
              <a:lnSpc>
                <a:spcPct val="100000"/>
              </a:lnSpc>
              <a:spcBef>
                <a:spcPts val="500"/>
              </a:spcBef>
              <a:spcAft>
                <a:spcPts val="0"/>
              </a:spcAft>
              <a:buClrTx/>
              <a:buSzTx/>
              <a:buFont typeface="Wingdings" pitchFamily="2"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Binary exponential backoff </a:t>
            </a:r>
            <a:r>
              <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refers to a collision</a:t>
            </a:r>
            <a:r>
              <a:rPr kumimoji="0" lang="en-US" sz="32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r>
              <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resolution mechanism used in random access MAC protocols. </a:t>
            </a:r>
          </a:p>
          <a:p>
            <a:pPr marL="342900" marR="0" lvl="0" indent="-342900" defTabSz="914400" rtl="0" eaLnBrk="1" fontAlgn="auto" latinLnBrk="0" hangingPunct="1">
              <a:lnSpc>
                <a:spcPct val="100000"/>
              </a:lnSpc>
              <a:spcBef>
                <a:spcPts val="500"/>
              </a:spcBef>
              <a:spcAft>
                <a:spcPts val="0"/>
              </a:spcAft>
              <a:buClrTx/>
              <a:buSzTx/>
              <a:buFont typeface="Wingdings" pitchFamily="2"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defTabSz="914400" rtl="0" eaLnBrk="1" fontAlgn="auto" latinLnBrk="0" hangingPunct="1">
              <a:lnSpc>
                <a:spcPct val="100000"/>
              </a:lnSpc>
              <a:spcBef>
                <a:spcPts val="500"/>
              </a:spcBef>
              <a:spcAft>
                <a:spcPts val="0"/>
              </a:spcAft>
              <a:buClrTx/>
              <a:buSzTx/>
              <a:buFont typeface="Wingdings" pitchFamily="2"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This algorithm is used in Ethernet (IEEE 802.3) wired LANs. In Ethernet networks, this algorithm is commonly used to schedule retransmissions after collisions.</a:t>
            </a:r>
          </a:p>
          <a:p>
            <a:pPr marL="342900" marR="0" lvl="0" indent="-342900" defTabSz="914400" rtl="0" eaLnBrk="1" fontAlgn="auto" latinLnBrk="0" hangingPunct="1">
              <a:lnSpc>
                <a:spcPct val="100000"/>
              </a:lnSpc>
              <a:spcBef>
                <a:spcPts val="500"/>
              </a:spcBef>
              <a:spcAft>
                <a:spcPts val="0"/>
              </a:spcAft>
              <a:buClrTx/>
              <a:buSzTx/>
              <a:buFont typeface="Times New Roman" pitchFamily="18" charse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kumimoji="0" lang="ar-SA"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a:t>
            </a:r>
            <a:endParaRPr kumimoji="0" lang="en-GB"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
          <p:cNvSpPr txBox="1">
            <a:spLocks noChangeArrowheads="1"/>
          </p:cNvSpPr>
          <p:nvPr/>
        </p:nvSpPr>
        <p:spPr bwMode="auto">
          <a:xfrm>
            <a:off x="990600" y="228600"/>
            <a:ext cx="7178675" cy="581025"/>
          </a:xfrm>
          <a:prstGeom prst="rect">
            <a:avLst/>
          </a:prstGeom>
          <a:noFill/>
          <a:ln w="9525">
            <a:noFill/>
            <a:round/>
            <a:headEnd/>
            <a:tailEnd/>
          </a:ln>
        </p:spPr>
        <p:txBody>
          <a:bodyPr lIns="0" tIns="0" rIns="0" bIns="0"/>
          <a:lstStyle/>
          <a:p>
            <a:pPr>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b="1" dirty="0">
                <a:solidFill>
                  <a:srgbClr val="000000"/>
                </a:solidFill>
                <a:latin typeface="Times New Roman" pitchFamily="18" charset="0"/>
                <a:cs typeface="Times New Roman" pitchFamily="18" charset="0"/>
              </a:rPr>
              <a:t>Definitions of the components/Keywords:</a:t>
            </a:r>
          </a:p>
        </p:txBody>
      </p:sp>
      <p:sp>
        <p:nvSpPr>
          <p:cNvPr id="11" name="TextBox 8"/>
          <p:cNvSpPr txBox="1">
            <a:spLocks noChangeArrowheads="1"/>
          </p:cNvSpPr>
          <p:nvPr/>
        </p:nvSpPr>
        <p:spPr bwMode="auto">
          <a:xfrm>
            <a:off x="609600" y="989886"/>
            <a:ext cx="8077200" cy="5509200"/>
          </a:xfrm>
          <a:prstGeom prst="rect">
            <a:avLst/>
          </a:prstGeom>
          <a:noFill/>
          <a:ln w="9525">
            <a:noFill/>
            <a:miter lim="800000"/>
            <a:headEnd/>
            <a:tailEnd/>
          </a:ln>
        </p:spPr>
        <p:txBody>
          <a:bodyPr>
            <a:spAutoFit/>
          </a:bodyPr>
          <a:lstStyle/>
          <a:p>
            <a:pPr>
              <a:lnSpc>
                <a:spcPct val="100000"/>
              </a:lnSpc>
              <a:buFont typeface="Arial" charset="0"/>
              <a:buChar char="•"/>
            </a:pPr>
            <a:r>
              <a:rPr lang="en-US" sz="3200" dirty="0">
                <a:solidFill>
                  <a:schemeClr val="tx1"/>
                </a:solidFill>
                <a:latin typeface="Times New Roman" pitchFamily="18" charset="0"/>
                <a:cs typeface="Times New Roman" pitchFamily="18" charset="0"/>
              </a:rPr>
              <a:t> After a collision, time is divided into discrete slots whose length is equal to 2</a:t>
            </a:r>
            <a:r>
              <a:rPr lang="el-GR" sz="3200" dirty="0">
                <a:solidFill>
                  <a:schemeClr val="tx1"/>
                </a:solidFill>
                <a:latin typeface="Times New Roman" pitchFamily="18" charset="0"/>
                <a:ea typeface="Cambria Math" pitchFamily="18" charset="0"/>
                <a:cs typeface="Times New Roman" pitchFamily="18" charset="0"/>
              </a:rPr>
              <a:t>τ</a:t>
            </a:r>
            <a:r>
              <a:rPr lang="en-US" sz="3200" dirty="0">
                <a:solidFill>
                  <a:schemeClr val="tx1"/>
                </a:solidFill>
                <a:latin typeface="Times New Roman" pitchFamily="18" charset="0"/>
                <a:ea typeface="Cambria Math" pitchFamily="18" charset="0"/>
                <a:cs typeface="Times New Roman" pitchFamily="18" charset="0"/>
              </a:rPr>
              <a:t>,  where </a:t>
            </a:r>
            <a:r>
              <a:rPr lang="el-GR" sz="3200" dirty="0">
                <a:solidFill>
                  <a:schemeClr val="tx1"/>
                </a:solidFill>
                <a:latin typeface="Times New Roman" pitchFamily="18" charset="0"/>
                <a:ea typeface="Cambria Math" pitchFamily="18" charset="0"/>
                <a:cs typeface="Times New Roman" pitchFamily="18" charset="0"/>
              </a:rPr>
              <a:t>τ</a:t>
            </a:r>
            <a:r>
              <a:rPr lang="en-US" sz="3200" dirty="0">
                <a:solidFill>
                  <a:schemeClr val="tx1"/>
                </a:solidFill>
                <a:latin typeface="Times New Roman" pitchFamily="18" charset="0"/>
                <a:ea typeface="Cambria Math" pitchFamily="18" charset="0"/>
                <a:cs typeface="Times New Roman" pitchFamily="18" charset="0"/>
              </a:rPr>
              <a:t> is </a:t>
            </a:r>
            <a:r>
              <a:rPr lang="en-US" sz="3200" dirty="0">
                <a:solidFill>
                  <a:schemeClr val="tx1"/>
                </a:solidFill>
                <a:latin typeface="Times New Roman" pitchFamily="18" charset="0"/>
                <a:cs typeface="Times New Roman" pitchFamily="18" charset="0"/>
              </a:rPr>
              <a:t>the maximum propagation delay in the network.</a:t>
            </a:r>
          </a:p>
          <a:p>
            <a:pPr>
              <a:lnSpc>
                <a:spcPct val="100000"/>
              </a:lnSpc>
            </a:pPr>
            <a:r>
              <a:rPr lang="en-US" sz="3200" dirty="0">
                <a:solidFill>
                  <a:schemeClr val="tx1"/>
                </a:solidFill>
                <a:latin typeface="Times New Roman" pitchFamily="18" charset="0"/>
                <a:cs typeface="Times New Roman" pitchFamily="18" charset="0"/>
              </a:rPr>
              <a:t> </a:t>
            </a:r>
            <a:endParaRPr lang="en-US" sz="3200" dirty="0">
              <a:solidFill>
                <a:schemeClr val="tx1"/>
              </a:solidFill>
              <a:latin typeface="Times New Roman" pitchFamily="18" charset="0"/>
              <a:ea typeface="Cambria Math" pitchFamily="18" charset="0"/>
              <a:cs typeface="Times New Roman" pitchFamily="18" charset="0"/>
            </a:endParaRPr>
          </a:p>
          <a:p>
            <a:pPr>
              <a:lnSpc>
                <a:spcPct val="100000"/>
              </a:lnSpc>
              <a:buFont typeface="Arial" charset="0"/>
              <a:buChar char="•"/>
            </a:pPr>
            <a:r>
              <a:rPr lang="en-US" sz="3200" dirty="0">
                <a:solidFill>
                  <a:schemeClr val="tx1"/>
                </a:solidFill>
                <a:latin typeface="Times New Roman" pitchFamily="18" charset="0"/>
                <a:cs typeface="Times New Roman" pitchFamily="18" charset="0"/>
              </a:rPr>
              <a:t> The reason for this choice is that 2</a:t>
            </a:r>
            <a:r>
              <a:rPr lang="el-GR" sz="3200" dirty="0">
                <a:solidFill>
                  <a:schemeClr val="tx1"/>
                </a:solidFill>
                <a:latin typeface="Times New Roman" pitchFamily="18" charset="0"/>
                <a:ea typeface="Cambria Math" pitchFamily="18" charset="0"/>
                <a:cs typeface="Times New Roman" pitchFamily="18" charset="0"/>
              </a:rPr>
              <a:t>τ</a:t>
            </a:r>
            <a:r>
              <a:rPr lang="en-US" sz="3200" dirty="0">
                <a:solidFill>
                  <a:schemeClr val="tx1"/>
                </a:solidFill>
                <a:latin typeface="Times New Roman" pitchFamily="18" charset="0"/>
                <a:cs typeface="Times New Roman" pitchFamily="18" charset="0"/>
              </a:rPr>
              <a:t> is the minimum amount of time a source needs to listen to the channel to always detect a collision.</a:t>
            </a:r>
          </a:p>
          <a:p>
            <a:pPr>
              <a:lnSpc>
                <a:spcPct val="100000"/>
              </a:lnSpc>
              <a:buFont typeface="Arial" charset="0"/>
              <a:buChar char="•"/>
            </a:pPr>
            <a:endParaRPr lang="en-US" sz="3200" dirty="0">
              <a:latin typeface="Times New Roman" pitchFamily="18" charset="0"/>
              <a:cs typeface="Times New Roman" pitchFamily="18" charset="0"/>
            </a:endParaRPr>
          </a:p>
          <a:p>
            <a:pPr>
              <a:buFont typeface="Arial" charset="0"/>
              <a:buChar char="•"/>
            </a:pPr>
            <a:r>
              <a:rPr lang="en-US" sz="3200" dirty="0">
                <a:ea typeface="Cambria Math" pitchFamily="18" charset="0"/>
                <a:cs typeface="Arial" charset="0"/>
              </a:rPr>
              <a:t> After 16 collisions , the process is aborted and</a:t>
            </a:r>
          </a:p>
          <a:p>
            <a:r>
              <a:rPr lang="en-US" sz="3200" dirty="0">
                <a:ea typeface="Cambria Math" pitchFamily="18" charset="0"/>
                <a:cs typeface="Arial" charset="0"/>
              </a:rPr>
              <a:t>   the source stops trying. </a:t>
            </a:r>
            <a:endParaRPr lang="en-US" sz="3200" dirty="0">
              <a:solidFill>
                <a:schemeClr val="tx1"/>
              </a:solidFill>
              <a:latin typeface="Times New Roman" pitchFamily="18" charset="0"/>
              <a:ea typeface="Cambria Math" pitchFamily="18" charset="0"/>
              <a:cs typeface="Times New Roman" pitchFamily="18" charset="0"/>
            </a:endParaRPr>
          </a:p>
          <a:p>
            <a:pPr>
              <a:lnSpc>
                <a:spcPct val="100000"/>
              </a:lnSpc>
              <a:buFont typeface="Arial" charset="0"/>
              <a:buChar char="•"/>
            </a:pPr>
            <a:endParaRPr lang="en-US" sz="3200" dirty="0">
              <a:solidFill>
                <a:schemeClr val="tx1"/>
              </a:solidFill>
              <a:latin typeface="Times New Roman" pitchFamily="18" charset="0"/>
              <a:cs typeface="Times New Roman" pitchFamily="18" charset="0"/>
            </a:endParaRPr>
          </a:p>
        </p:txBody>
      </p:sp>
      <p:sp>
        <p:nvSpPr>
          <p:cNvPr id="12" name="Rectangle 10"/>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13" name="Rectangle 1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14" name="Rectangle 1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15" name="Rectangle 16"/>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16" name="Rectangle 18"/>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17" name="Rectangle 20"/>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4" name="Text Box 4"/>
          <p:cNvSpPr txBox="1">
            <a:spLocks noChangeArrowheads="1"/>
          </p:cNvSpPr>
          <p:nvPr/>
        </p:nvSpPr>
        <p:spPr bwMode="auto">
          <a:xfrm>
            <a:off x="1143000" y="304800"/>
            <a:ext cx="6639638" cy="646331"/>
          </a:xfrm>
          <a:prstGeom prst="rect">
            <a:avLst/>
          </a:prstGeom>
          <a:noFill/>
          <a:ln w="9525">
            <a:noFill/>
            <a:miter lim="800000"/>
            <a:headEnd/>
            <a:tailEnd/>
          </a:ln>
          <a:effectLst/>
        </p:spPr>
        <p:txBody>
          <a:bodyPr wrap="none">
            <a:spAutoFit/>
          </a:bodyPr>
          <a:lstStyle/>
          <a:p>
            <a:r>
              <a:rPr lang="en-US" sz="3600" b="1" baseline="0" dirty="0">
                <a:latin typeface="Times New Roman" pitchFamily="18" charset="0"/>
                <a:cs typeface="Times New Roman" pitchFamily="18" charset="0"/>
              </a:rPr>
              <a:t>Flow diagram for the CSMA/CD</a:t>
            </a:r>
          </a:p>
        </p:txBody>
      </p:sp>
      <p:pic>
        <p:nvPicPr>
          <p:cNvPr id="5" name="Picture 7"/>
          <p:cNvPicPr>
            <a:picLocks noChangeAspect="1" noChangeArrowheads="1"/>
          </p:cNvPicPr>
          <p:nvPr/>
        </p:nvPicPr>
        <p:blipFill>
          <a:blip r:embed="rId2"/>
          <a:srcRect/>
          <a:stretch>
            <a:fillRect/>
          </a:stretch>
        </p:blipFill>
        <p:spPr bwMode="auto">
          <a:xfrm>
            <a:off x="1166812" y="1012825"/>
            <a:ext cx="6986588" cy="5639288"/>
          </a:xfrm>
          <a:prstGeom prst="rect">
            <a:avLst/>
          </a:prstGeom>
          <a:noFill/>
          <a:ln w="9525">
            <a:noFill/>
            <a:miter lim="800000"/>
            <a:headEnd/>
            <a:tailEnd/>
          </a:ln>
          <a:effec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52400"/>
            <a:ext cx="8305800" cy="5509200"/>
          </a:xfrm>
          <a:prstGeom prst="rect">
            <a:avLst/>
          </a:prstGeom>
        </p:spPr>
        <p:txBody>
          <a:bodyPr wrap="square">
            <a:spAutoFit/>
          </a:bodyPr>
          <a:lstStyle/>
          <a:p>
            <a:pPr>
              <a:lnSpc>
                <a:spcPct val="100000"/>
              </a:lnSpc>
              <a:buFont typeface="Arial" charset="0"/>
              <a:buChar char="•"/>
            </a:pPr>
            <a:r>
              <a:rPr lang="en-US" sz="3200" dirty="0">
                <a:latin typeface="Times New Roman" pitchFamily="18" charset="0"/>
                <a:cs typeface="Times New Roman" pitchFamily="18" charset="0"/>
              </a:rPr>
              <a:t> The stations involved in the collision randomly pick an integer from the set {0,1}. This set is called the contention window.</a:t>
            </a:r>
          </a:p>
          <a:p>
            <a:pPr>
              <a:lnSpc>
                <a:spcPct val="100000"/>
              </a:lnSpc>
              <a:buFont typeface="Arial" charset="0"/>
              <a:buChar char="•"/>
            </a:pPr>
            <a:endParaRPr lang="en-US" sz="3200" dirty="0">
              <a:latin typeface="Times New Roman" pitchFamily="18" charset="0"/>
              <a:cs typeface="Times New Roman" pitchFamily="18" charset="0"/>
            </a:endParaRPr>
          </a:p>
          <a:p>
            <a:pPr>
              <a:lnSpc>
                <a:spcPct val="100000"/>
              </a:lnSpc>
              <a:buFont typeface="Arial" charset="0"/>
              <a:buChar char="•"/>
            </a:pPr>
            <a:r>
              <a:rPr lang="en-US" sz="3200" dirty="0">
                <a:latin typeface="Times New Roman" pitchFamily="18" charset="0"/>
                <a:cs typeface="Times New Roman" pitchFamily="18" charset="0"/>
              </a:rPr>
              <a:t> If the sources collide again because they picked the same integer, the contention window size is doubled and it becomes {0,1,2,3}. Now the sources involved in the second collision randomly pick an integer from the set {0,1,2,3} and wait that number of slot times before trying again.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a:xfrm>
            <a:off x="1143000" y="1219200"/>
            <a:ext cx="6629400" cy="22098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b-NO" sz="4400" b="0" i="0" u="none" strike="noStrike" kern="1200" cap="none" spc="0" normalizeH="0" baseline="0" noProof="0">
                <a:ln>
                  <a:noFill/>
                </a:ln>
                <a:solidFill>
                  <a:schemeClr val="tx1"/>
                </a:solidFill>
                <a:effectLst/>
                <a:uLnTx/>
                <a:uFillTx/>
                <a:latin typeface="+mj-lt"/>
                <a:ea typeface="+mj-ea"/>
                <a:cs typeface="+mj-cs"/>
              </a:rPr>
              <a:t>IEEE 802.16</a:t>
            </a:r>
            <a:br>
              <a:rPr kumimoji="0" lang="nb-NO" sz="4400" b="0" i="0" u="none" strike="noStrike" kern="1200" cap="none" spc="0" normalizeH="0" baseline="0" noProof="0">
                <a:ln>
                  <a:noFill/>
                </a:ln>
                <a:solidFill>
                  <a:schemeClr val="tx1"/>
                </a:solidFill>
                <a:effectLst/>
                <a:uLnTx/>
                <a:uFillTx/>
                <a:latin typeface="+mj-lt"/>
                <a:ea typeface="+mj-ea"/>
                <a:cs typeface="+mj-cs"/>
              </a:rPr>
            </a:br>
            <a:r>
              <a:rPr kumimoji="0" lang="nb-NO" sz="4400" b="0" i="0" u="none" strike="noStrike" kern="1200" cap="none" spc="0" normalizeH="0" baseline="0" noProof="0">
                <a:ln>
                  <a:noFill/>
                </a:ln>
                <a:solidFill>
                  <a:schemeClr val="tx1"/>
                </a:solidFill>
                <a:effectLst/>
                <a:uLnTx/>
                <a:uFillTx/>
                <a:latin typeface="+mj-lt"/>
                <a:ea typeface="+mj-ea"/>
                <a:cs typeface="+mj-cs"/>
              </a:rPr>
              <a:t>Wireless MAN</a:t>
            </a:r>
            <a:br>
              <a:rPr kumimoji="0" lang="nb-NO" sz="4400" b="0" i="0" u="none" strike="noStrike" kern="1200" cap="none" spc="0" normalizeH="0" baseline="0" noProof="0">
                <a:ln>
                  <a:noFill/>
                </a:ln>
                <a:solidFill>
                  <a:schemeClr val="tx1"/>
                </a:solidFill>
                <a:effectLst/>
                <a:uLnTx/>
                <a:uFillTx/>
                <a:latin typeface="+mj-lt"/>
                <a:ea typeface="+mj-ea"/>
                <a:cs typeface="+mj-cs"/>
              </a:rPr>
            </a:br>
            <a:r>
              <a:rPr kumimoji="0" lang="nb-NO" sz="3400" b="0" i="0" u="none" strike="noStrike" kern="1200" cap="none" spc="0" normalizeH="0" baseline="0" noProof="0">
                <a:ln>
                  <a:noFill/>
                </a:ln>
                <a:solidFill>
                  <a:schemeClr val="tx1"/>
                </a:solidFill>
                <a:effectLst/>
                <a:uLnTx/>
                <a:uFillTx/>
                <a:latin typeface="+mj-lt"/>
                <a:ea typeface="+mj-ea"/>
                <a:cs typeface="+mj-cs"/>
              </a:rPr>
              <a:t>(Wireless Metropolitan Network)</a:t>
            </a:r>
            <a:endParaRPr kumimoji="0" lang="nb-NO" sz="3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533400"/>
            <a:ext cx="8153400" cy="3539430"/>
          </a:xfrm>
          <a:prstGeom prst="rect">
            <a:avLst/>
          </a:prstGeom>
        </p:spPr>
        <p:txBody>
          <a:bodyPr wrap="square">
            <a:spAutoFit/>
          </a:bodyPr>
          <a:lstStyle/>
          <a:p>
            <a:r>
              <a:rPr lang="en-US" sz="3200" dirty="0">
                <a:latin typeface="Times New Roman" pitchFamily="18" charset="0"/>
                <a:cs typeface="Times New Roman" pitchFamily="18" charset="0"/>
              </a:rPr>
              <a:t>802.16 family of standards is officially called </a:t>
            </a:r>
            <a:r>
              <a:rPr lang="en-US" sz="3200" b="1" dirty="0">
                <a:latin typeface="Times New Roman" pitchFamily="18" charset="0"/>
                <a:cs typeface="Times New Roman" pitchFamily="18" charset="0"/>
              </a:rPr>
              <a:t>Wireless MAN </a:t>
            </a:r>
            <a:r>
              <a:rPr lang="en-US" sz="3200" dirty="0">
                <a:latin typeface="Times New Roman" pitchFamily="18" charset="0"/>
                <a:cs typeface="Times New Roman" pitchFamily="18" charset="0"/>
              </a:rPr>
              <a:t>in IEEE, it has been commercialized under the name "</a:t>
            </a:r>
            <a:r>
              <a:rPr lang="en-US" sz="3200" dirty="0">
                <a:latin typeface="Times New Roman" pitchFamily="18" charset="0"/>
                <a:cs typeface="Times New Roman" pitchFamily="18" charset="0"/>
                <a:hlinkClick r:id="rId2" tooltip="WiMAX"/>
              </a:rPr>
              <a:t>WiMAX</a:t>
            </a:r>
            <a:r>
              <a:rPr lang="en-US" sz="3200" dirty="0">
                <a:latin typeface="Times New Roman" pitchFamily="18" charset="0"/>
                <a:cs typeface="Times New Roman" pitchFamily="18" charset="0"/>
              </a:rPr>
              <a:t>" (from "Worldwide Interoperability for Microwave Access") by the WiMAX Forum industry alliance. </a:t>
            </a:r>
          </a:p>
          <a:p>
            <a:endParaRPr lang="en-US" sz="3200" dirty="0">
              <a:latin typeface="Times New Roman" pitchFamily="18" charset="0"/>
              <a:cs typeface="Times New Roman" pitchFamily="18"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IMAX / IEEE 802.16    Wimax networks refer to broadband wireless networks that are    based on the IEEE 802.16 standard, ..."/>
          <p:cNvPicPr>
            <a:picLocks noChangeAspect="1" noChangeArrowheads="1"/>
          </p:cNvPicPr>
          <p:nvPr/>
        </p:nvPicPr>
        <p:blipFill>
          <a:blip r:embed="rId2"/>
          <a:srcRect/>
          <a:stretch>
            <a:fillRect/>
          </a:stretch>
        </p:blipFill>
        <p:spPr bwMode="auto">
          <a:xfrm>
            <a:off x="0" y="1"/>
            <a:ext cx="9144000" cy="6858000"/>
          </a:xfrm>
          <a:prstGeom prst="rect">
            <a:avLst/>
          </a:prstGeom>
          <a:noFill/>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2"/>
          <p:cNvSpPr txBox="1">
            <a:spLocks noChangeArrowheads="1"/>
          </p:cNvSpPr>
          <p:nvPr/>
        </p:nvSpPr>
        <p:spPr>
          <a:xfrm>
            <a:off x="0" y="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802.16 Architecture and Protocol Stack</a:t>
            </a:r>
          </a:p>
        </p:txBody>
      </p:sp>
      <p:sp>
        <p:nvSpPr>
          <p:cNvPr id="72" name="Rectangle 3"/>
          <p:cNvSpPr txBox="1">
            <a:spLocks noChangeArrowheads="1"/>
          </p:cNvSpPr>
          <p:nvPr/>
        </p:nvSpPr>
        <p:spPr>
          <a:xfrm>
            <a:off x="287338" y="5715000"/>
            <a:ext cx="8856662" cy="8382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The 802.16 protocol stack</a:t>
            </a:r>
          </a:p>
        </p:txBody>
      </p:sp>
      <p:pic>
        <p:nvPicPr>
          <p:cNvPr id="73" name="Picture 6"/>
          <p:cNvPicPr>
            <a:picLocks noChangeAspect="1" noChangeArrowheads="1"/>
          </p:cNvPicPr>
          <p:nvPr/>
        </p:nvPicPr>
        <p:blipFill>
          <a:blip r:embed="rId2"/>
          <a:srcRect/>
          <a:stretch>
            <a:fillRect/>
          </a:stretch>
        </p:blipFill>
        <p:spPr bwMode="auto">
          <a:xfrm>
            <a:off x="604838" y="1271588"/>
            <a:ext cx="7934325" cy="4314825"/>
          </a:xfrm>
          <a:prstGeom prst="rect">
            <a:avLst/>
          </a:prstGeom>
          <a:noFill/>
          <a:ln w="9525">
            <a:noFill/>
            <a:miter lim="800000"/>
            <a:headEnd/>
            <a:tailEnd/>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802.16 Physical Layer</a:t>
            </a:r>
          </a:p>
        </p:txBody>
      </p:sp>
      <p:sp>
        <p:nvSpPr>
          <p:cNvPr id="3" name="Content Placeholder 2"/>
          <p:cNvSpPr txBox="1">
            <a:spLocks/>
          </p:cNvSpPr>
          <p:nvPr/>
        </p:nvSpPr>
        <p:spPr>
          <a:xfrm>
            <a:off x="0" y="5715000"/>
            <a:ext cx="9144000" cy="8382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Frames structure for OFDMA with time division duplexing.</a:t>
            </a:r>
          </a:p>
        </p:txBody>
      </p:sp>
      <p:pic>
        <p:nvPicPr>
          <p:cNvPr id="4" name="Picture 6"/>
          <p:cNvPicPr>
            <a:picLocks noChangeAspect="1" noChangeArrowheads="1"/>
          </p:cNvPicPr>
          <p:nvPr/>
        </p:nvPicPr>
        <p:blipFill>
          <a:blip r:embed="rId2"/>
          <a:srcRect/>
          <a:stretch>
            <a:fillRect/>
          </a:stretch>
        </p:blipFill>
        <p:spPr bwMode="auto">
          <a:xfrm>
            <a:off x="947738" y="1485900"/>
            <a:ext cx="7248525" cy="3886200"/>
          </a:xfrm>
          <a:prstGeom prst="rect">
            <a:avLst/>
          </a:prstGeom>
          <a:noFill/>
          <a:ln w="9525">
            <a:noFill/>
            <a:miter lim="800000"/>
            <a:headEnd/>
            <a:tailEnd/>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314325"/>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802.16 MAC Sublayer Protocol</a:t>
            </a:r>
          </a:p>
        </p:txBody>
      </p:sp>
      <p:sp>
        <p:nvSpPr>
          <p:cNvPr id="3" name="Rectangle 3"/>
          <p:cNvSpPr txBox="1">
            <a:spLocks noChangeArrowheads="1"/>
          </p:cNvSpPr>
          <p:nvPr/>
        </p:nvSpPr>
        <p:spPr>
          <a:xfrm>
            <a:off x="1116013" y="2033588"/>
            <a:ext cx="8027987" cy="4519612"/>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Classes of service</a:t>
            </a:r>
            <a:br>
              <a:rPr kumimoji="0" lang="en-US" sz="3200" b="0" i="0" u="none" strike="noStrike" kern="1200" cap="none" spc="0" normalizeH="0" baseline="0" noProof="0">
                <a:ln>
                  <a:noFill/>
                </a:ln>
                <a:solidFill>
                  <a:schemeClr val="tx1"/>
                </a:solidFill>
                <a:effectLst/>
                <a:uLnTx/>
                <a:uFillTx/>
                <a:latin typeface="+mn-lt"/>
                <a:ea typeface="+mn-ea"/>
                <a:cs typeface="+mn-cs"/>
              </a:rPr>
            </a:br>
            <a:endParaRPr kumimoji="0" lang="en-US" sz="32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Times New Roman" pitchFamily="18" charset="0"/>
              <a:buAutoNum type="arabicPeriod"/>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Constant bit rate service.</a:t>
            </a:r>
          </a:p>
          <a:p>
            <a:pPr marL="342900" marR="0" lvl="0" indent="-342900" algn="l" defTabSz="914400" rtl="0" eaLnBrk="1" fontAlgn="auto" latinLnBrk="0" hangingPunct="1">
              <a:lnSpc>
                <a:spcPct val="100000"/>
              </a:lnSpc>
              <a:spcBef>
                <a:spcPct val="20000"/>
              </a:spcBef>
              <a:spcAft>
                <a:spcPts val="0"/>
              </a:spcAft>
              <a:buClrTx/>
              <a:buSzTx/>
              <a:buFont typeface="Times New Roman" pitchFamily="18" charset="0"/>
              <a:buAutoNum type="arabicPeriod"/>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Real-time variable bit rate service.</a:t>
            </a:r>
          </a:p>
          <a:p>
            <a:pPr marL="342900" marR="0" lvl="0" indent="-342900" algn="l" defTabSz="914400" rtl="0" eaLnBrk="1" fontAlgn="auto" latinLnBrk="0" hangingPunct="1">
              <a:lnSpc>
                <a:spcPct val="100000"/>
              </a:lnSpc>
              <a:spcBef>
                <a:spcPct val="20000"/>
              </a:spcBef>
              <a:spcAft>
                <a:spcPts val="0"/>
              </a:spcAft>
              <a:buClrTx/>
              <a:buSzTx/>
              <a:buFont typeface="Times New Roman" pitchFamily="18" charset="0"/>
              <a:buAutoNum type="arabicPeriod"/>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Non-real-time variable bit rate service.</a:t>
            </a:r>
          </a:p>
          <a:p>
            <a:pPr marL="342900" marR="0" lvl="0" indent="-342900" algn="l" defTabSz="914400" rtl="0" eaLnBrk="1" fontAlgn="auto" latinLnBrk="0" hangingPunct="1">
              <a:lnSpc>
                <a:spcPct val="100000"/>
              </a:lnSpc>
              <a:spcBef>
                <a:spcPct val="20000"/>
              </a:spcBef>
              <a:spcAft>
                <a:spcPts val="0"/>
              </a:spcAft>
              <a:buClrTx/>
              <a:buSzTx/>
              <a:buFont typeface="Times New Roman" pitchFamily="18" charset="0"/>
              <a:buAutoNum type="arabicPeriod"/>
              <a:tabLst/>
              <a:defRPr/>
            </a:pPr>
            <a:r>
              <a:rPr kumimoji="0" lang="en-US" sz="3200" b="0" i="0" u="none" strike="noStrike" kern="1200" cap="none" spc="0" normalizeH="0" baseline="0" noProof="0">
                <a:ln>
                  <a:noFill/>
                </a:ln>
                <a:solidFill>
                  <a:schemeClr val="tx1"/>
                </a:solidFill>
                <a:effectLst/>
                <a:uLnTx/>
                <a:uFillTx/>
                <a:latin typeface="+mn-lt"/>
                <a:ea typeface="+mn-ea"/>
                <a:cs typeface="+mn-cs"/>
              </a:rPr>
              <a:t>Best-effort service.</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chemeClr val="tx1"/>
                </a:solidFill>
                <a:effectLst/>
                <a:uLnTx/>
                <a:uFillTx/>
                <a:latin typeface="+mj-lt"/>
                <a:ea typeface="+mj-ea"/>
                <a:cs typeface="+mj-cs"/>
              </a:rPr>
              <a:t>802.16 Frame Structure</a:t>
            </a:r>
          </a:p>
        </p:txBody>
      </p:sp>
      <p:sp>
        <p:nvSpPr>
          <p:cNvPr id="3" name="Rectangle 3"/>
          <p:cNvSpPr txBox="1">
            <a:spLocks noChangeArrowheads="1"/>
          </p:cNvSpPr>
          <p:nvPr/>
        </p:nvSpPr>
        <p:spPr>
          <a:xfrm>
            <a:off x="287338" y="5715000"/>
            <a:ext cx="8856662" cy="8382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Tx/>
              <a:buNone/>
              <a:tabLst/>
              <a:defRPr/>
            </a:pPr>
            <a:r>
              <a:rPr kumimoji="0" lang="en-US" sz="3200" b="0" i="0" u="none" strike="noStrike" kern="1200" cap="none" spc="0" normalizeH="0" baseline="0" noProof="0">
                <a:ln>
                  <a:noFill/>
                </a:ln>
                <a:solidFill>
                  <a:schemeClr val="accent6">
                    <a:lumMod val="75000"/>
                  </a:schemeClr>
                </a:solidFill>
                <a:effectLst/>
                <a:uLnTx/>
                <a:uFillTx/>
                <a:latin typeface="Arial" charset="0"/>
                <a:ea typeface="+mn-ea"/>
                <a:cs typeface="Arial" charset="0"/>
              </a:rPr>
              <a:t>(a) </a:t>
            </a:r>
            <a:r>
              <a:rPr kumimoji="0" lang="en-US" sz="3200" b="0" i="0" u="none" strike="noStrike" kern="1200" cap="none" spc="0" normalizeH="0" baseline="0" noProof="0">
                <a:ln>
                  <a:noFill/>
                </a:ln>
                <a:solidFill>
                  <a:schemeClr val="tx1"/>
                </a:solidFill>
                <a:effectLst/>
                <a:uLnTx/>
                <a:uFillTx/>
                <a:latin typeface="Arial" charset="0"/>
                <a:ea typeface="+mn-ea"/>
                <a:cs typeface="Arial" charset="0"/>
              </a:rPr>
              <a:t>A generic frame.</a:t>
            </a:r>
            <a:r>
              <a:rPr kumimoji="0" lang="en-US" sz="3200" b="0" i="0" u="none" strike="noStrike" kern="1200" cap="none" spc="0" normalizeH="0" baseline="0" noProof="0">
                <a:ln>
                  <a:noFill/>
                </a:ln>
                <a:solidFill>
                  <a:schemeClr val="accent6">
                    <a:lumMod val="75000"/>
                  </a:schemeClr>
                </a:solidFill>
                <a:effectLst/>
                <a:uLnTx/>
                <a:uFillTx/>
                <a:latin typeface="Arial" charset="0"/>
                <a:ea typeface="+mn-ea"/>
                <a:cs typeface="Arial" charset="0"/>
              </a:rPr>
              <a:t> (b) </a:t>
            </a:r>
            <a:r>
              <a:rPr kumimoji="0" lang="en-US" sz="3200" b="0" i="0" u="none" strike="noStrike" kern="1200" cap="none" spc="0" normalizeH="0" baseline="0" noProof="0">
                <a:ln>
                  <a:noFill/>
                </a:ln>
                <a:solidFill>
                  <a:schemeClr val="tx1"/>
                </a:solidFill>
                <a:effectLst/>
                <a:uLnTx/>
                <a:uFillTx/>
                <a:latin typeface="Arial" charset="0"/>
                <a:ea typeface="+mn-ea"/>
                <a:cs typeface="Arial" charset="0"/>
              </a:rPr>
              <a:t>A bandwidth request frame.</a:t>
            </a:r>
            <a:endParaRPr kumimoji="0" lang="en-US" sz="3200" b="0" i="0" u="none" strike="noStrike" kern="1200" cap="none" spc="0" normalizeH="0" baseline="0" noProof="0" dirty="0">
              <a:ln>
                <a:noFill/>
              </a:ln>
              <a:solidFill>
                <a:schemeClr val="tx1"/>
              </a:solidFill>
              <a:effectLst/>
              <a:uLnTx/>
              <a:uFillTx/>
              <a:latin typeface="Arial" charset="0"/>
              <a:ea typeface="+mn-ea"/>
              <a:cs typeface="Arial" charset="0"/>
            </a:endParaRPr>
          </a:p>
        </p:txBody>
      </p:sp>
      <p:pic>
        <p:nvPicPr>
          <p:cNvPr id="4" name="Picture 2"/>
          <p:cNvPicPr>
            <a:picLocks noChangeAspect="1" noChangeArrowheads="1"/>
          </p:cNvPicPr>
          <p:nvPr/>
        </p:nvPicPr>
        <p:blipFill>
          <a:blip r:embed="rId2"/>
          <a:srcRect/>
          <a:stretch>
            <a:fillRect/>
          </a:stretch>
        </p:blipFill>
        <p:spPr bwMode="auto">
          <a:xfrm>
            <a:off x="476250" y="2171700"/>
            <a:ext cx="8191500" cy="2514600"/>
          </a:xfrm>
          <a:prstGeom prst="rect">
            <a:avLst/>
          </a:prstGeom>
          <a:noFill/>
          <a:ln w="9525">
            <a:noFill/>
            <a:miter lim="800000"/>
            <a:headEnd/>
            <a:tailEnd/>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1942</TotalTime>
  <Words>6129</Words>
  <Application>Microsoft Office PowerPoint</Application>
  <PresentationFormat>On-screen Show (4:3)</PresentationFormat>
  <Paragraphs>698</Paragraphs>
  <Slides>159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159</vt:i4>
      </vt:variant>
    </vt:vector>
  </HeadingPairs>
  <TitlesOfParts>
    <vt:vector size="165" baseType="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bvcoew</dc:creator>
  <cp:lastModifiedBy>Lenovo</cp:lastModifiedBy>
  <cp:revision>173</cp:revision>
  <dcterms:created xsi:type="dcterms:W3CDTF">2017-07-21T09:41:30Z</dcterms:created>
  <dcterms:modified xsi:type="dcterms:W3CDTF">2025-03-06T06:37:23Z</dcterms:modified>
</cp:coreProperties>
</file>