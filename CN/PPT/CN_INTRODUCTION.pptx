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8" r:id="rId88"/>
    <p:sldId id="349" r:id="rId89"/>
    <p:sldId id="350" r:id="rId90"/>
    <p:sldId id="351" r:id="rId91"/>
    <p:sldId id="352" r:id="rId92"/>
    <p:sldId id="353" r:id="rId93"/>
    <p:sldId id="354" r:id="rId94"/>
    <p:sldId id="355" r:id="rId9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664" autoAdjust="0"/>
  </p:normalViewPr>
  <p:slideViewPr>
    <p:cSldViewPr>
      <p:cViewPr>
        <p:scale>
          <a:sx n="60" d="100"/>
          <a:sy n="60" d="100"/>
        </p:scale>
        <p:origin x="1602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4D3CF-FF8B-403D-A34D-AD86B0938067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F41F9-6A68-4AF3-BF0B-0F92CD3BB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60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Bandwidth looks at the amount of data being transferred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, while latency looks at the amount of time it takes data to transferred. Latency was measured in the </a:t>
            </a:r>
            <a:r>
              <a:rPr lang="en-US" b="0" i="0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mili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seconds(</a:t>
            </a:r>
            <a:r>
              <a:rPr lang="en-US" b="0" i="0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ms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endParaRPr lang="en-US" b="0" i="0" dirty="0">
              <a:solidFill>
                <a:srgbClr val="4D5156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Ethernet-</a:t>
            </a:r>
            <a:r>
              <a:rPr lang="en-US" b="1" i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a type of communication protocol that connects computers within what's called a “local area network (LAN)” and a “wide area network (WAN</a:t>
            </a:r>
            <a:r>
              <a:rPr lang="en-US" b="0" i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6F41F9-6A68-4AF3-BF0B-0F92CD3BB3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77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93444" y="202438"/>
            <a:ext cx="715711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69722"/>
            <a:ext cx="9013825" cy="6693534"/>
          </a:xfrm>
          <a:custGeom>
            <a:avLst/>
            <a:gdLst/>
            <a:ahLst/>
            <a:cxnLst/>
            <a:rect l="l" t="t" r="r" b="b"/>
            <a:pathLst>
              <a:path w="9013825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3498" y="0"/>
                </a:lnTo>
                <a:lnTo>
                  <a:pt x="8732228" y="3576"/>
                </a:lnTo>
                <a:lnTo>
                  <a:pt x="8778740" y="13967"/>
                </a:lnTo>
                <a:lnTo>
                  <a:pt x="8822525" y="30662"/>
                </a:lnTo>
                <a:lnTo>
                  <a:pt x="8863071" y="53151"/>
                </a:lnTo>
                <a:lnTo>
                  <a:pt x="8899868" y="80923"/>
                </a:lnTo>
                <a:lnTo>
                  <a:pt x="8932405" y="113468"/>
                </a:lnTo>
                <a:lnTo>
                  <a:pt x="8960172" y="150277"/>
                </a:lnTo>
                <a:lnTo>
                  <a:pt x="8982656" y="190840"/>
                </a:lnTo>
                <a:lnTo>
                  <a:pt x="8999349" y="234645"/>
                </a:lnTo>
                <a:lnTo>
                  <a:pt x="9009740" y="281184"/>
                </a:lnTo>
                <a:lnTo>
                  <a:pt x="9013317" y="329946"/>
                </a:lnTo>
                <a:lnTo>
                  <a:pt x="9013317" y="6363525"/>
                </a:lnTo>
                <a:lnTo>
                  <a:pt x="9009740" y="6412277"/>
                </a:lnTo>
                <a:lnTo>
                  <a:pt x="8999349" y="6458809"/>
                </a:lnTo>
                <a:lnTo>
                  <a:pt x="8982656" y="6502609"/>
                </a:lnTo>
                <a:lnTo>
                  <a:pt x="8960172" y="6543167"/>
                </a:lnTo>
                <a:lnTo>
                  <a:pt x="8932405" y="6579973"/>
                </a:lnTo>
                <a:lnTo>
                  <a:pt x="8899868" y="6612517"/>
                </a:lnTo>
                <a:lnTo>
                  <a:pt x="8863071" y="6640288"/>
                </a:lnTo>
                <a:lnTo>
                  <a:pt x="8822525" y="6662776"/>
                </a:lnTo>
                <a:lnTo>
                  <a:pt x="8778740" y="6679471"/>
                </a:lnTo>
                <a:lnTo>
                  <a:pt x="8732228" y="6689862"/>
                </a:lnTo>
                <a:lnTo>
                  <a:pt x="8683498" y="6693439"/>
                </a:lnTo>
                <a:lnTo>
                  <a:pt x="329920" y="6693439"/>
                </a:lnTo>
                <a:lnTo>
                  <a:pt x="281168" y="6689862"/>
                </a:lnTo>
                <a:lnTo>
                  <a:pt x="234636" y="6679471"/>
                </a:lnTo>
                <a:lnTo>
                  <a:pt x="190835" y="6662776"/>
                </a:lnTo>
                <a:lnTo>
                  <a:pt x="150276" y="6640288"/>
                </a:lnTo>
                <a:lnTo>
                  <a:pt x="113469" y="6612517"/>
                </a:lnTo>
                <a:lnTo>
                  <a:pt x="80925" y="6579973"/>
                </a:lnTo>
                <a:lnTo>
                  <a:pt x="53153" y="6543167"/>
                </a:lnTo>
                <a:lnTo>
                  <a:pt x="30664" y="6502609"/>
                </a:lnTo>
                <a:lnTo>
                  <a:pt x="13968" y="6458809"/>
                </a:lnTo>
                <a:lnTo>
                  <a:pt x="3577" y="6412277"/>
                </a:lnTo>
                <a:lnTo>
                  <a:pt x="0" y="6363525"/>
                </a:lnTo>
                <a:lnTo>
                  <a:pt x="0" y="32994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202438"/>
            <a:ext cx="8072119" cy="1123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6430" y="1410970"/>
            <a:ext cx="8051139" cy="3836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opedia.com/definition/5109/wireless-personal-area-network-wpan" TargetMode="External"/><Relationship Id="rId2" Type="http://schemas.openxmlformats.org/officeDocument/2006/relationships/hyperlink" Target="https://www.techopedia.com/definition/5079/personal-area-network-pa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echopedia.com/definition/2320/universal-serial-bus-usb" TargetMode="External"/><Relationship Id="rId4" Type="http://schemas.openxmlformats.org/officeDocument/2006/relationships/hyperlink" Target="https://www.techopedia.com/definition/26198/bluetooth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mputer_network" TargetMode="External"/><Relationship Id="rId2" Type="http://schemas.openxmlformats.org/officeDocument/2006/relationships/hyperlink" Target="https://en.wikipedia.org/wiki/Distributed_computing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138" y="66547"/>
            <a:ext cx="9022715" cy="6698615"/>
            <a:chOff x="62138" y="66547"/>
            <a:chExt cx="9022715" cy="66986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13" y="69722"/>
              <a:ext cx="9013408" cy="669223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313" y="69722"/>
              <a:ext cx="9013825" cy="6692265"/>
            </a:xfrm>
            <a:custGeom>
              <a:avLst/>
              <a:gdLst/>
              <a:ahLst/>
              <a:cxnLst/>
              <a:rect l="l" t="t" r="r" b="b"/>
              <a:pathLst>
                <a:path w="9013825" h="6692265">
                  <a:moveTo>
                    <a:pt x="0" y="329946"/>
                  </a:moveTo>
                  <a:lnTo>
                    <a:pt x="3576" y="281184"/>
                  </a:lnTo>
                  <a:lnTo>
                    <a:pt x="13965" y="234645"/>
                  </a:lnTo>
                  <a:lnTo>
                    <a:pt x="30657" y="190840"/>
                  </a:lnTo>
                  <a:lnTo>
                    <a:pt x="53141" y="150277"/>
                  </a:lnTo>
                  <a:lnTo>
                    <a:pt x="80907" y="113468"/>
                  </a:lnTo>
                  <a:lnTo>
                    <a:pt x="113445" y="80923"/>
                  </a:lnTo>
                  <a:lnTo>
                    <a:pt x="150245" y="53151"/>
                  </a:lnTo>
                  <a:lnTo>
                    <a:pt x="190796" y="30662"/>
                  </a:lnTo>
                  <a:lnTo>
                    <a:pt x="234589" y="13967"/>
                  </a:lnTo>
                  <a:lnTo>
                    <a:pt x="281114" y="3576"/>
                  </a:lnTo>
                  <a:lnTo>
                    <a:pt x="329859" y="0"/>
                  </a:lnTo>
                  <a:lnTo>
                    <a:pt x="8683462" y="0"/>
                  </a:lnTo>
                  <a:lnTo>
                    <a:pt x="8732224" y="3576"/>
                  </a:lnTo>
                  <a:lnTo>
                    <a:pt x="8778762" y="13967"/>
                  </a:lnTo>
                  <a:lnTo>
                    <a:pt x="8822568" y="30662"/>
                  </a:lnTo>
                  <a:lnTo>
                    <a:pt x="8863130" y="53151"/>
                  </a:lnTo>
                  <a:lnTo>
                    <a:pt x="8899939" y="80923"/>
                  </a:lnTo>
                  <a:lnTo>
                    <a:pt x="8932485" y="113468"/>
                  </a:lnTo>
                  <a:lnTo>
                    <a:pt x="8960257" y="150277"/>
                  </a:lnTo>
                  <a:lnTo>
                    <a:pt x="8982745" y="190840"/>
                  </a:lnTo>
                  <a:lnTo>
                    <a:pt x="8999440" y="234645"/>
                  </a:lnTo>
                  <a:lnTo>
                    <a:pt x="9009831" y="281184"/>
                  </a:lnTo>
                  <a:lnTo>
                    <a:pt x="9013408" y="329946"/>
                  </a:lnTo>
                  <a:lnTo>
                    <a:pt x="9013408" y="6362369"/>
                  </a:lnTo>
                  <a:lnTo>
                    <a:pt x="9009831" y="6411115"/>
                  </a:lnTo>
                  <a:lnTo>
                    <a:pt x="8999440" y="6457639"/>
                  </a:lnTo>
                  <a:lnTo>
                    <a:pt x="8982745" y="6501432"/>
                  </a:lnTo>
                  <a:lnTo>
                    <a:pt x="8960257" y="6541984"/>
                  </a:lnTo>
                  <a:lnTo>
                    <a:pt x="8932485" y="6578785"/>
                  </a:lnTo>
                  <a:lnTo>
                    <a:pt x="8899939" y="6611323"/>
                  </a:lnTo>
                  <a:lnTo>
                    <a:pt x="8863130" y="6639090"/>
                  </a:lnTo>
                  <a:lnTo>
                    <a:pt x="8822568" y="6661574"/>
                  </a:lnTo>
                  <a:lnTo>
                    <a:pt x="8778762" y="6678266"/>
                  </a:lnTo>
                  <a:lnTo>
                    <a:pt x="8732224" y="6688655"/>
                  </a:lnTo>
                  <a:lnTo>
                    <a:pt x="8683462" y="6692231"/>
                  </a:lnTo>
                  <a:lnTo>
                    <a:pt x="329859" y="6692231"/>
                  </a:lnTo>
                  <a:lnTo>
                    <a:pt x="281114" y="6688655"/>
                  </a:lnTo>
                  <a:lnTo>
                    <a:pt x="234589" y="6678266"/>
                  </a:lnTo>
                  <a:lnTo>
                    <a:pt x="190796" y="6661574"/>
                  </a:lnTo>
                  <a:lnTo>
                    <a:pt x="150245" y="6639090"/>
                  </a:lnTo>
                  <a:lnTo>
                    <a:pt x="113445" y="6611323"/>
                  </a:lnTo>
                  <a:lnTo>
                    <a:pt x="80907" y="6578785"/>
                  </a:lnTo>
                  <a:lnTo>
                    <a:pt x="53141" y="6541984"/>
                  </a:lnTo>
                  <a:lnTo>
                    <a:pt x="30657" y="6501432"/>
                  </a:lnTo>
                  <a:lnTo>
                    <a:pt x="13965" y="6457639"/>
                  </a:lnTo>
                  <a:lnTo>
                    <a:pt x="3576" y="6411115"/>
                  </a:lnTo>
                  <a:lnTo>
                    <a:pt x="0" y="6362369"/>
                  </a:lnTo>
                  <a:lnTo>
                    <a:pt x="0" y="329946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931" y="1396688"/>
              <a:ext cx="9022080" cy="120650"/>
            </a:xfrm>
            <a:custGeom>
              <a:avLst/>
              <a:gdLst/>
              <a:ahLst/>
              <a:cxnLst/>
              <a:rect l="l" t="t" r="r" b="b"/>
              <a:pathLst>
                <a:path w="9022080" h="120650">
                  <a:moveTo>
                    <a:pt x="9021572" y="0"/>
                  </a:moveTo>
                  <a:lnTo>
                    <a:pt x="0" y="0"/>
                  </a:lnTo>
                  <a:lnTo>
                    <a:pt x="0" y="120580"/>
                  </a:lnTo>
                  <a:lnTo>
                    <a:pt x="9021572" y="120580"/>
                  </a:lnTo>
                  <a:lnTo>
                    <a:pt x="9021572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931" y="2976711"/>
              <a:ext cx="9022080" cy="111125"/>
            </a:xfrm>
            <a:custGeom>
              <a:avLst/>
              <a:gdLst/>
              <a:ahLst/>
              <a:cxnLst/>
              <a:rect l="l" t="t" r="r" b="b"/>
              <a:pathLst>
                <a:path w="9022080" h="111125">
                  <a:moveTo>
                    <a:pt x="9021572" y="0"/>
                  </a:moveTo>
                  <a:lnTo>
                    <a:pt x="0" y="0"/>
                  </a:lnTo>
                  <a:lnTo>
                    <a:pt x="0" y="110531"/>
                  </a:lnTo>
                  <a:lnTo>
                    <a:pt x="9021572" y="110531"/>
                  </a:lnTo>
                  <a:lnTo>
                    <a:pt x="9021572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60957" y="4194429"/>
            <a:ext cx="5866130" cy="5194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90525" marR="5080" indent="-378460">
              <a:lnSpc>
                <a:spcPct val="80000"/>
              </a:lnSpc>
              <a:spcBef>
                <a:spcPts val="530"/>
              </a:spcBef>
            </a:pPr>
            <a:r>
              <a:rPr sz="1800" b="1" spc="-20" dirty="0">
                <a:solidFill>
                  <a:srgbClr val="696363"/>
                </a:solidFill>
                <a:latin typeface="Times New Roman"/>
                <a:cs typeface="Times New Roman"/>
              </a:rPr>
              <a:t>Note:</a:t>
            </a:r>
            <a:r>
              <a:rPr sz="1800" b="1" spc="-12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696363"/>
                </a:solidFill>
                <a:latin typeface="Times New Roman"/>
                <a:cs typeface="Times New Roman"/>
              </a:rPr>
              <a:t>Material</a:t>
            </a:r>
            <a:r>
              <a:rPr sz="1800" b="1" spc="-6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696363"/>
                </a:solidFill>
                <a:latin typeface="Times New Roman"/>
                <a:cs typeface="Times New Roman"/>
              </a:rPr>
              <a:t>for</a:t>
            </a:r>
            <a:r>
              <a:rPr sz="1800" b="1" spc="-6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96363"/>
                </a:solidFill>
                <a:latin typeface="Times New Roman"/>
                <a:cs typeface="Times New Roman"/>
              </a:rPr>
              <a:t>this</a:t>
            </a:r>
            <a:r>
              <a:rPr sz="1800" b="1" spc="-4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96363"/>
                </a:solidFill>
                <a:latin typeface="Times New Roman"/>
                <a:cs typeface="Times New Roman"/>
              </a:rPr>
              <a:t>presentations</a:t>
            </a:r>
            <a:r>
              <a:rPr sz="1800" b="1" spc="-2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-35" dirty="0">
                <a:solidFill>
                  <a:srgbClr val="696363"/>
                </a:solidFill>
                <a:latin typeface="Times New Roman"/>
                <a:cs typeface="Times New Roman"/>
              </a:rPr>
              <a:t>are</a:t>
            </a:r>
            <a:r>
              <a:rPr sz="1800" b="1" spc="-5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696363"/>
                </a:solidFill>
                <a:latin typeface="Times New Roman"/>
                <a:cs typeface="Times New Roman"/>
              </a:rPr>
              <a:t>taken</a:t>
            </a:r>
            <a:r>
              <a:rPr sz="1800" b="1" spc="-4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696363"/>
                </a:solidFill>
                <a:latin typeface="Times New Roman"/>
                <a:cs typeface="Times New Roman"/>
              </a:rPr>
              <a:t>from</a:t>
            </a:r>
            <a:r>
              <a:rPr sz="1800" b="1" spc="-5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5" dirty="0">
                <a:solidFill>
                  <a:srgbClr val="696363"/>
                </a:solidFill>
                <a:latin typeface="Times New Roman"/>
                <a:cs typeface="Times New Roman"/>
              </a:rPr>
              <a:t>Internet </a:t>
            </a:r>
            <a:r>
              <a:rPr sz="1800" b="1" spc="-434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696363"/>
                </a:solidFill>
                <a:latin typeface="Times New Roman"/>
                <a:cs typeface="Times New Roman"/>
              </a:rPr>
              <a:t>and</a:t>
            </a:r>
            <a:r>
              <a:rPr sz="1800" b="1" spc="-6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15" dirty="0">
                <a:solidFill>
                  <a:srgbClr val="696363"/>
                </a:solidFill>
                <a:latin typeface="Times New Roman"/>
                <a:cs typeface="Times New Roman"/>
              </a:rPr>
              <a:t>books</a:t>
            </a:r>
            <a:r>
              <a:rPr sz="1800" b="1" spc="-4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696363"/>
                </a:solidFill>
                <a:latin typeface="Times New Roman"/>
                <a:cs typeface="Times New Roman"/>
              </a:rPr>
              <a:t>and</a:t>
            </a:r>
            <a:r>
              <a:rPr sz="1800" b="1" spc="-6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15" dirty="0">
                <a:solidFill>
                  <a:srgbClr val="696363"/>
                </a:solidFill>
                <a:latin typeface="Times New Roman"/>
                <a:cs typeface="Times New Roman"/>
              </a:rPr>
              <a:t>only</a:t>
            </a:r>
            <a:r>
              <a:rPr sz="1800" b="1" spc="-4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10" dirty="0">
                <a:solidFill>
                  <a:srgbClr val="696363"/>
                </a:solidFill>
                <a:latin typeface="Times New Roman"/>
                <a:cs typeface="Times New Roman"/>
              </a:rPr>
              <a:t>being</a:t>
            </a:r>
            <a:r>
              <a:rPr sz="1800" b="1" spc="-5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10" dirty="0">
                <a:solidFill>
                  <a:srgbClr val="696363"/>
                </a:solidFill>
                <a:latin typeface="Times New Roman"/>
                <a:cs typeface="Times New Roman"/>
              </a:rPr>
              <a:t>used</a:t>
            </a:r>
            <a:r>
              <a:rPr sz="1800" b="1" spc="-4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696363"/>
                </a:solidFill>
                <a:latin typeface="Times New Roman"/>
                <a:cs typeface="Times New Roman"/>
              </a:rPr>
              <a:t>for</a:t>
            </a:r>
            <a:r>
              <a:rPr sz="1800" b="1" spc="-6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spc="10" dirty="0">
                <a:solidFill>
                  <a:srgbClr val="696363"/>
                </a:solidFill>
                <a:latin typeface="Times New Roman"/>
                <a:cs typeface="Times New Roman"/>
              </a:rPr>
              <a:t>student</a:t>
            </a:r>
            <a:r>
              <a:rPr sz="1800" b="1" spc="-3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96363"/>
                </a:solidFill>
                <a:latin typeface="Times New Roman"/>
                <a:cs typeface="Times New Roman"/>
              </a:rPr>
              <a:t>reference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2931" y="1517269"/>
            <a:ext cx="9022080" cy="1307409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75565" rIns="0" bIns="0" rtlCol="0">
            <a:spAutoFit/>
          </a:bodyPr>
          <a:lstStyle/>
          <a:p>
            <a:pPr marL="2328545" marR="814705" indent="-1504315" algn="l">
              <a:lnSpc>
                <a:spcPct val="100000"/>
              </a:lnSpc>
              <a:spcBef>
                <a:spcPts val="595"/>
              </a:spcBef>
            </a:pPr>
            <a:r>
              <a:rPr lang="en-US" sz="4000" spc="-65" dirty="0">
                <a:solidFill>
                  <a:srgbClr val="FFFFFF"/>
                </a:solidFill>
              </a:rPr>
              <a:t>             </a:t>
            </a:r>
            <a:r>
              <a:rPr sz="4000" spc="-65" dirty="0">
                <a:solidFill>
                  <a:srgbClr val="FFFFFF"/>
                </a:solidFill>
              </a:rPr>
              <a:t>Computer</a:t>
            </a:r>
            <a:r>
              <a:rPr sz="4000" spc="-5" dirty="0">
                <a:solidFill>
                  <a:srgbClr val="FFFFFF"/>
                </a:solidFill>
              </a:rPr>
              <a:t> </a:t>
            </a:r>
            <a:r>
              <a:rPr sz="4000" spc="-55" dirty="0">
                <a:solidFill>
                  <a:srgbClr val="FFFFFF"/>
                </a:solidFill>
              </a:rPr>
              <a:t>Networks</a:t>
            </a:r>
            <a:br>
              <a:rPr lang="en-US" sz="4000" spc="-55" dirty="0">
                <a:solidFill>
                  <a:srgbClr val="FFFFFF"/>
                </a:solidFill>
              </a:rPr>
            </a:br>
            <a:r>
              <a:rPr sz="4000" spc="-60" dirty="0">
                <a:solidFill>
                  <a:srgbClr val="FFFFFF"/>
                </a:solidFill>
              </a:rPr>
              <a:t> </a:t>
            </a:r>
            <a:r>
              <a:rPr sz="4000" spc="-985" dirty="0">
                <a:solidFill>
                  <a:srgbClr val="FFFFFF"/>
                </a:solidFill>
              </a:rPr>
              <a:t> </a:t>
            </a:r>
            <a:r>
              <a:rPr sz="4000" spc="-25" dirty="0">
                <a:solidFill>
                  <a:srgbClr val="FFFFFF"/>
                </a:solidFill>
              </a:rPr>
              <a:t>Unit </a:t>
            </a:r>
            <a:r>
              <a:rPr sz="4000" spc="-20" dirty="0">
                <a:solidFill>
                  <a:srgbClr val="FFFFFF"/>
                </a:solidFill>
              </a:rPr>
              <a:t>I-</a:t>
            </a:r>
            <a:r>
              <a:rPr sz="4000" dirty="0">
                <a:solidFill>
                  <a:srgbClr val="FFFFFF"/>
                </a:solidFill>
              </a:rPr>
              <a:t> </a:t>
            </a:r>
            <a:r>
              <a:rPr lang="en-US" sz="4000" dirty="0">
                <a:solidFill>
                  <a:srgbClr val="FFFFFF"/>
                </a:solidFill>
              </a:rPr>
              <a:t>Introduction</a:t>
            </a:r>
            <a:endParaRPr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1547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Out</a:t>
            </a:r>
            <a:r>
              <a:rPr sz="4000" spc="-35" dirty="0"/>
              <a:t>line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914400" y="1450594"/>
            <a:ext cx="6858000" cy="5100320"/>
          </a:xfrm>
          <a:custGeom>
            <a:avLst/>
            <a:gdLst/>
            <a:ahLst/>
            <a:cxnLst/>
            <a:rect l="l" t="t" r="r" b="b"/>
            <a:pathLst>
              <a:path w="6858000" h="5100320">
                <a:moveTo>
                  <a:pt x="0" y="77215"/>
                </a:moveTo>
                <a:lnTo>
                  <a:pt x="6067" y="47148"/>
                </a:lnTo>
                <a:lnTo>
                  <a:pt x="22615" y="22605"/>
                </a:lnTo>
                <a:lnTo>
                  <a:pt x="47159" y="6064"/>
                </a:lnTo>
                <a:lnTo>
                  <a:pt x="77215" y="0"/>
                </a:lnTo>
                <a:lnTo>
                  <a:pt x="6780783" y="0"/>
                </a:lnTo>
                <a:lnTo>
                  <a:pt x="6810851" y="6064"/>
                </a:lnTo>
                <a:lnTo>
                  <a:pt x="6835394" y="22606"/>
                </a:lnTo>
                <a:lnTo>
                  <a:pt x="6851935" y="47148"/>
                </a:lnTo>
                <a:lnTo>
                  <a:pt x="6858000" y="77215"/>
                </a:lnTo>
                <a:lnTo>
                  <a:pt x="6858000" y="386079"/>
                </a:lnTo>
                <a:lnTo>
                  <a:pt x="6851935" y="416147"/>
                </a:lnTo>
                <a:lnTo>
                  <a:pt x="6835394" y="440689"/>
                </a:lnTo>
                <a:lnTo>
                  <a:pt x="6810851" y="457231"/>
                </a:lnTo>
                <a:lnTo>
                  <a:pt x="6780783" y="463295"/>
                </a:lnTo>
                <a:lnTo>
                  <a:pt x="77215" y="463295"/>
                </a:lnTo>
                <a:lnTo>
                  <a:pt x="47159" y="457231"/>
                </a:lnTo>
                <a:lnTo>
                  <a:pt x="22615" y="440689"/>
                </a:lnTo>
                <a:lnTo>
                  <a:pt x="6067" y="416147"/>
                </a:lnTo>
                <a:lnTo>
                  <a:pt x="0" y="386079"/>
                </a:lnTo>
                <a:lnTo>
                  <a:pt x="0" y="77215"/>
                </a:lnTo>
                <a:close/>
              </a:path>
              <a:path w="6858000" h="5100320">
                <a:moveTo>
                  <a:pt x="0" y="592454"/>
                </a:moveTo>
                <a:lnTo>
                  <a:pt x="6067" y="562387"/>
                </a:lnTo>
                <a:lnTo>
                  <a:pt x="22615" y="537844"/>
                </a:lnTo>
                <a:lnTo>
                  <a:pt x="47159" y="521303"/>
                </a:lnTo>
                <a:lnTo>
                  <a:pt x="77215" y="515238"/>
                </a:lnTo>
                <a:lnTo>
                  <a:pt x="6780783" y="515238"/>
                </a:lnTo>
                <a:lnTo>
                  <a:pt x="6810851" y="521303"/>
                </a:lnTo>
                <a:lnTo>
                  <a:pt x="6835394" y="537845"/>
                </a:lnTo>
                <a:lnTo>
                  <a:pt x="6851935" y="562387"/>
                </a:lnTo>
                <a:lnTo>
                  <a:pt x="6858000" y="592454"/>
                </a:lnTo>
                <a:lnTo>
                  <a:pt x="6858000" y="901318"/>
                </a:lnTo>
                <a:lnTo>
                  <a:pt x="6851935" y="931386"/>
                </a:lnTo>
                <a:lnTo>
                  <a:pt x="6835394" y="955928"/>
                </a:lnTo>
                <a:lnTo>
                  <a:pt x="6810851" y="972470"/>
                </a:lnTo>
                <a:lnTo>
                  <a:pt x="6780783" y="978534"/>
                </a:lnTo>
                <a:lnTo>
                  <a:pt x="77215" y="978534"/>
                </a:lnTo>
                <a:lnTo>
                  <a:pt x="47159" y="972470"/>
                </a:lnTo>
                <a:lnTo>
                  <a:pt x="22615" y="955928"/>
                </a:lnTo>
                <a:lnTo>
                  <a:pt x="6067" y="931386"/>
                </a:lnTo>
                <a:lnTo>
                  <a:pt x="0" y="901318"/>
                </a:lnTo>
                <a:lnTo>
                  <a:pt x="0" y="592454"/>
                </a:lnTo>
                <a:close/>
              </a:path>
              <a:path w="6858000" h="5100320">
                <a:moveTo>
                  <a:pt x="0" y="1107566"/>
                </a:moveTo>
                <a:lnTo>
                  <a:pt x="6067" y="1077499"/>
                </a:lnTo>
                <a:lnTo>
                  <a:pt x="22615" y="1052956"/>
                </a:lnTo>
                <a:lnTo>
                  <a:pt x="47159" y="1036415"/>
                </a:lnTo>
                <a:lnTo>
                  <a:pt x="77215" y="1030351"/>
                </a:lnTo>
                <a:lnTo>
                  <a:pt x="6780783" y="1030351"/>
                </a:lnTo>
                <a:lnTo>
                  <a:pt x="6810851" y="1036415"/>
                </a:lnTo>
                <a:lnTo>
                  <a:pt x="6835394" y="1052957"/>
                </a:lnTo>
                <a:lnTo>
                  <a:pt x="6851935" y="1077499"/>
                </a:lnTo>
                <a:lnTo>
                  <a:pt x="6858000" y="1107566"/>
                </a:lnTo>
                <a:lnTo>
                  <a:pt x="6858000" y="1416430"/>
                </a:lnTo>
                <a:lnTo>
                  <a:pt x="6851935" y="1446498"/>
                </a:lnTo>
                <a:lnTo>
                  <a:pt x="6835394" y="1471040"/>
                </a:lnTo>
                <a:lnTo>
                  <a:pt x="6810851" y="1487582"/>
                </a:lnTo>
                <a:lnTo>
                  <a:pt x="6780783" y="1493646"/>
                </a:lnTo>
                <a:lnTo>
                  <a:pt x="77215" y="1493646"/>
                </a:lnTo>
                <a:lnTo>
                  <a:pt x="47159" y="1487582"/>
                </a:lnTo>
                <a:lnTo>
                  <a:pt x="22615" y="1471040"/>
                </a:lnTo>
                <a:lnTo>
                  <a:pt x="6067" y="1446498"/>
                </a:lnTo>
                <a:lnTo>
                  <a:pt x="0" y="1416430"/>
                </a:lnTo>
                <a:lnTo>
                  <a:pt x="0" y="1107566"/>
                </a:lnTo>
                <a:close/>
              </a:path>
              <a:path w="6858000" h="5100320">
                <a:moveTo>
                  <a:pt x="0" y="1622678"/>
                </a:moveTo>
                <a:lnTo>
                  <a:pt x="6067" y="1592665"/>
                </a:lnTo>
                <a:lnTo>
                  <a:pt x="22615" y="1568116"/>
                </a:lnTo>
                <a:lnTo>
                  <a:pt x="47159" y="1551545"/>
                </a:lnTo>
                <a:lnTo>
                  <a:pt x="77215" y="1545463"/>
                </a:lnTo>
                <a:lnTo>
                  <a:pt x="6780783" y="1545463"/>
                </a:lnTo>
                <a:lnTo>
                  <a:pt x="6810851" y="1551545"/>
                </a:lnTo>
                <a:lnTo>
                  <a:pt x="6835394" y="1568116"/>
                </a:lnTo>
                <a:lnTo>
                  <a:pt x="6851935" y="1592665"/>
                </a:lnTo>
                <a:lnTo>
                  <a:pt x="6858000" y="1622678"/>
                </a:lnTo>
                <a:lnTo>
                  <a:pt x="6858000" y="1931542"/>
                </a:lnTo>
                <a:lnTo>
                  <a:pt x="6851935" y="1961630"/>
                </a:lnTo>
                <a:lnTo>
                  <a:pt x="6835394" y="1986216"/>
                </a:lnTo>
                <a:lnTo>
                  <a:pt x="6810851" y="2002801"/>
                </a:lnTo>
                <a:lnTo>
                  <a:pt x="6780783" y="2008885"/>
                </a:lnTo>
                <a:lnTo>
                  <a:pt x="77215" y="2008885"/>
                </a:lnTo>
                <a:lnTo>
                  <a:pt x="47159" y="2002801"/>
                </a:lnTo>
                <a:lnTo>
                  <a:pt x="22615" y="1986216"/>
                </a:lnTo>
                <a:lnTo>
                  <a:pt x="6067" y="1961630"/>
                </a:lnTo>
                <a:lnTo>
                  <a:pt x="0" y="1931542"/>
                </a:lnTo>
                <a:lnTo>
                  <a:pt x="0" y="1622678"/>
                </a:lnTo>
                <a:close/>
              </a:path>
              <a:path w="6858000" h="5100320">
                <a:moveTo>
                  <a:pt x="0" y="2137917"/>
                </a:moveTo>
                <a:lnTo>
                  <a:pt x="6067" y="2107850"/>
                </a:lnTo>
                <a:lnTo>
                  <a:pt x="22615" y="2083307"/>
                </a:lnTo>
                <a:lnTo>
                  <a:pt x="47159" y="2066766"/>
                </a:lnTo>
                <a:lnTo>
                  <a:pt x="77215" y="2060702"/>
                </a:lnTo>
                <a:lnTo>
                  <a:pt x="6780783" y="2060702"/>
                </a:lnTo>
                <a:lnTo>
                  <a:pt x="6810851" y="2066766"/>
                </a:lnTo>
                <a:lnTo>
                  <a:pt x="6835394" y="2083308"/>
                </a:lnTo>
                <a:lnTo>
                  <a:pt x="6851935" y="2107850"/>
                </a:lnTo>
                <a:lnTo>
                  <a:pt x="6858000" y="2137917"/>
                </a:lnTo>
                <a:lnTo>
                  <a:pt x="6858000" y="2446781"/>
                </a:lnTo>
                <a:lnTo>
                  <a:pt x="6851935" y="2476849"/>
                </a:lnTo>
                <a:lnTo>
                  <a:pt x="6835394" y="2501391"/>
                </a:lnTo>
                <a:lnTo>
                  <a:pt x="6810851" y="2517933"/>
                </a:lnTo>
                <a:lnTo>
                  <a:pt x="6780783" y="2523997"/>
                </a:lnTo>
                <a:lnTo>
                  <a:pt x="77215" y="2523997"/>
                </a:lnTo>
                <a:lnTo>
                  <a:pt x="47159" y="2517933"/>
                </a:lnTo>
                <a:lnTo>
                  <a:pt x="22615" y="2501391"/>
                </a:lnTo>
                <a:lnTo>
                  <a:pt x="6067" y="2476849"/>
                </a:lnTo>
                <a:lnTo>
                  <a:pt x="0" y="2446781"/>
                </a:lnTo>
                <a:lnTo>
                  <a:pt x="0" y="2137917"/>
                </a:lnTo>
                <a:close/>
              </a:path>
              <a:path w="6858000" h="5100320">
                <a:moveTo>
                  <a:pt x="0" y="2653029"/>
                </a:moveTo>
                <a:lnTo>
                  <a:pt x="6067" y="2622962"/>
                </a:lnTo>
                <a:lnTo>
                  <a:pt x="22615" y="2598419"/>
                </a:lnTo>
                <a:lnTo>
                  <a:pt x="47159" y="2581878"/>
                </a:lnTo>
                <a:lnTo>
                  <a:pt x="77215" y="2575813"/>
                </a:lnTo>
                <a:lnTo>
                  <a:pt x="6780783" y="2575813"/>
                </a:lnTo>
                <a:lnTo>
                  <a:pt x="6810851" y="2581878"/>
                </a:lnTo>
                <a:lnTo>
                  <a:pt x="6835394" y="2598419"/>
                </a:lnTo>
                <a:lnTo>
                  <a:pt x="6851935" y="2622962"/>
                </a:lnTo>
                <a:lnTo>
                  <a:pt x="6858000" y="2653029"/>
                </a:lnTo>
                <a:lnTo>
                  <a:pt x="6858000" y="2961893"/>
                </a:lnTo>
                <a:lnTo>
                  <a:pt x="6851935" y="2991961"/>
                </a:lnTo>
                <a:lnTo>
                  <a:pt x="6835394" y="3016504"/>
                </a:lnTo>
                <a:lnTo>
                  <a:pt x="6810851" y="3033045"/>
                </a:lnTo>
                <a:lnTo>
                  <a:pt x="6780783" y="3039110"/>
                </a:lnTo>
                <a:lnTo>
                  <a:pt x="77215" y="3039110"/>
                </a:lnTo>
                <a:lnTo>
                  <a:pt x="47159" y="3033045"/>
                </a:lnTo>
                <a:lnTo>
                  <a:pt x="22615" y="3016504"/>
                </a:lnTo>
                <a:lnTo>
                  <a:pt x="6067" y="2991961"/>
                </a:lnTo>
                <a:lnTo>
                  <a:pt x="0" y="2961893"/>
                </a:lnTo>
                <a:lnTo>
                  <a:pt x="0" y="2653029"/>
                </a:lnTo>
                <a:close/>
              </a:path>
              <a:path w="6858000" h="5100320">
                <a:moveTo>
                  <a:pt x="0" y="3168268"/>
                </a:moveTo>
                <a:lnTo>
                  <a:pt x="6067" y="3138181"/>
                </a:lnTo>
                <a:lnTo>
                  <a:pt x="22615" y="3113595"/>
                </a:lnTo>
                <a:lnTo>
                  <a:pt x="47159" y="3097010"/>
                </a:lnTo>
                <a:lnTo>
                  <a:pt x="77215" y="3090925"/>
                </a:lnTo>
                <a:lnTo>
                  <a:pt x="6780783" y="3090925"/>
                </a:lnTo>
                <a:lnTo>
                  <a:pt x="6810851" y="3097010"/>
                </a:lnTo>
                <a:lnTo>
                  <a:pt x="6835394" y="3113595"/>
                </a:lnTo>
                <a:lnTo>
                  <a:pt x="6851935" y="3138181"/>
                </a:lnTo>
                <a:lnTo>
                  <a:pt x="6858000" y="3168268"/>
                </a:lnTo>
                <a:lnTo>
                  <a:pt x="6858000" y="3477132"/>
                </a:lnTo>
                <a:lnTo>
                  <a:pt x="6851935" y="3507146"/>
                </a:lnTo>
                <a:lnTo>
                  <a:pt x="6835394" y="3531695"/>
                </a:lnTo>
                <a:lnTo>
                  <a:pt x="6810851" y="3548266"/>
                </a:lnTo>
                <a:lnTo>
                  <a:pt x="6780783" y="3554349"/>
                </a:lnTo>
                <a:lnTo>
                  <a:pt x="77215" y="3554349"/>
                </a:lnTo>
                <a:lnTo>
                  <a:pt x="47159" y="3548266"/>
                </a:lnTo>
                <a:lnTo>
                  <a:pt x="22615" y="3531695"/>
                </a:lnTo>
                <a:lnTo>
                  <a:pt x="6067" y="3507146"/>
                </a:lnTo>
                <a:lnTo>
                  <a:pt x="0" y="3477132"/>
                </a:lnTo>
                <a:lnTo>
                  <a:pt x="0" y="3168268"/>
                </a:lnTo>
                <a:close/>
              </a:path>
              <a:path w="6858000" h="5100320">
                <a:moveTo>
                  <a:pt x="0" y="3683380"/>
                </a:moveTo>
                <a:lnTo>
                  <a:pt x="6067" y="3653313"/>
                </a:lnTo>
                <a:lnTo>
                  <a:pt x="22615" y="3628770"/>
                </a:lnTo>
                <a:lnTo>
                  <a:pt x="47159" y="3612229"/>
                </a:lnTo>
                <a:lnTo>
                  <a:pt x="77215" y="3606164"/>
                </a:lnTo>
                <a:lnTo>
                  <a:pt x="6780783" y="3606164"/>
                </a:lnTo>
                <a:lnTo>
                  <a:pt x="6810851" y="3612229"/>
                </a:lnTo>
                <a:lnTo>
                  <a:pt x="6835394" y="3628770"/>
                </a:lnTo>
                <a:lnTo>
                  <a:pt x="6851935" y="3653313"/>
                </a:lnTo>
                <a:lnTo>
                  <a:pt x="6858000" y="3683380"/>
                </a:lnTo>
                <a:lnTo>
                  <a:pt x="6858000" y="3992244"/>
                </a:lnTo>
                <a:lnTo>
                  <a:pt x="6851935" y="4022312"/>
                </a:lnTo>
                <a:lnTo>
                  <a:pt x="6835394" y="4046854"/>
                </a:lnTo>
                <a:lnTo>
                  <a:pt x="6810851" y="4063396"/>
                </a:lnTo>
                <a:lnTo>
                  <a:pt x="6780783" y="4069460"/>
                </a:lnTo>
                <a:lnTo>
                  <a:pt x="77215" y="4069460"/>
                </a:lnTo>
                <a:lnTo>
                  <a:pt x="47159" y="4063396"/>
                </a:lnTo>
                <a:lnTo>
                  <a:pt x="22615" y="4046854"/>
                </a:lnTo>
                <a:lnTo>
                  <a:pt x="6067" y="4022312"/>
                </a:lnTo>
                <a:lnTo>
                  <a:pt x="0" y="3992244"/>
                </a:lnTo>
                <a:lnTo>
                  <a:pt x="0" y="3683380"/>
                </a:lnTo>
                <a:close/>
              </a:path>
              <a:path w="6858000" h="5100320">
                <a:moveTo>
                  <a:pt x="0" y="4198531"/>
                </a:moveTo>
                <a:lnTo>
                  <a:pt x="6067" y="4168463"/>
                </a:lnTo>
                <a:lnTo>
                  <a:pt x="22615" y="4143906"/>
                </a:lnTo>
                <a:lnTo>
                  <a:pt x="47159" y="4127348"/>
                </a:lnTo>
                <a:lnTo>
                  <a:pt x="77215" y="4121277"/>
                </a:lnTo>
                <a:lnTo>
                  <a:pt x="6780783" y="4121277"/>
                </a:lnTo>
                <a:lnTo>
                  <a:pt x="6810851" y="4127348"/>
                </a:lnTo>
                <a:lnTo>
                  <a:pt x="6835394" y="4143906"/>
                </a:lnTo>
                <a:lnTo>
                  <a:pt x="6851935" y="4168463"/>
                </a:lnTo>
                <a:lnTo>
                  <a:pt x="6858000" y="4198531"/>
                </a:lnTo>
                <a:lnTo>
                  <a:pt x="6858000" y="4507407"/>
                </a:lnTo>
                <a:lnTo>
                  <a:pt x="6851935" y="4537464"/>
                </a:lnTo>
                <a:lnTo>
                  <a:pt x="6835394" y="4562008"/>
                </a:lnTo>
                <a:lnTo>
                  <a:pt x="6810851" y="4578555"/>
                </a:lnTo>
                <a:lnTo>
                  <a:pt x="6780783" y="4584623"/>
                </a:lnTo>
                <a:lnTo>
                  <a:pt x="77215" y="4584623"/>
                </a:lnTo>
                <a:lnTo>
                  <a:pt x="47159" y="4578555"/>
                </a:lnTo>
                <a:lnTo>
                  <a:pt x="22615" y="4562008"/>
                </a:lnTo>
                <a:lnTo>
                  <a:pt x="6067" y="4537464"/>
                </a:lnTo>
                <a:lnTo>
                  <a:pt x="0" y="4507407"/>
                </a:lnTo>
                <a:lnTo>
                  <a:pt x="0" y="4198531"/>
                </a:lnTo>
                <a:close/>
              </a:path>
              <a:path w="6858000" h="5100320">
                <a:moveTo>
                  <a:pt x="0" y="4713681"/>
                </a:moveTo>
                <a:lnTo>
                  <a:pt x="6067" y="4683624"/>
                </a:lnTo>
                <a:lnTo>
                  <a:pt x="22615" y="4659080"/>
                </a:lnTo>
                <a:lnTo>
                  <a:pt x="47159" y="4642533"/>
                </a:lnTo>
                <a:lnTo>
                  <a:pt x="77215" y="4636465"/>
                </a:lnTo>
                <a:lnTo>
                  <a:pt x="6780783" y="4636465"/>
                </a:lnTo>
                <a:lnTo>
                  <a:pt x="6810851" y="4642533"/>
                </a:lnTo>
                <a:lnTo>
                  <a:pt x="6835394" y="4659080"/>
                </a:lnTo>
                <a:lnTo>
                  <a:pt x="6851935" y="4683624"/>
                </a:lnTo>
                <a:lnTo>
                  <a:pt x="6858000" y="4713681"/>
                </a:lnTo>
                <a:lnTo>
                  <a:pt x="6858000" y="5022557"/>
                </a:lnTo>
                <a:lnTo>
                  <a:pt x="6851935" y="5052621"/>
                </a:lnTo>
                <a:lnTo>
                  <a:pt x="6835394" y="5077169"/>
                </a:lnTo>
                <a:lnTo>
                  <a:pt x="6810851" y="5093718"/>
                </a:lnTo>
                <a:lnTo>
                  <a:pt x="6780783" y="5099786"/>
                </a:lnTo>
                <a:lnTo>
                  <a:pt x="77215" y="5099786"/>
                </a:lnTo>
                <a:lnTo>
                  <a:pt x="47159" y="5093718"/>
                </a:lnTo>
                <a:lnTo>
                  <a:pt x="22615" y="5077169"/>
                </a:lnTo>
                <a:lnTo>
                  <a:pt x="6067" y="5052621"/>
                </a:lnTo>
                <a:lnTo>
                  <a:pt x="0" y="5022557"/>
                </a:lnTo>
                <a:lnTo>
                  <a:pt x="0" y="4713681"/>
                </a:lnTo>
                <a:close/>
              </a:path>
            </a:pathLst>
          </a:custGeom>
          <a:ln w="12700">
            <a:solidFill>
              <a:srgbClr val="BE4013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993139" y="1470406"/>
            <a:ext cx="6036945" cy="4958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Introduction</a:t>
            </a:r>
            <a:r>
              <a:rPr sz="20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75" dirty="0">
                <a:solidFill>
                  <a:srgbClr val="FF0000"/>
                </a:solidFill>
                <a:latin typeface="Times New Roman"/>
                <a:cs typeface="Times New Roman"/>
              </a:rPr>
              <a:t>LAN;</a:t>
            </a:r>
            <a:r>
              <a:rPr sz="2000"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35" dirty="0">
                <a:solidFill>
                  <a:srgbClr val="FF0000"/>
                </a:solidFill>
                <a:latin typeface="Times New Roman"/>
                <a:cs typeface="Times New Roman"/>
              </a:rPr>
              <a:t>MAN;WAN;</a:t>
            </a:r>
            <a:r>
              <a:rPr sz="2000" b="1" spc="-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30" dirty="0">
                <a:solidFill>
                  <a:srgbClr val="FF0000"/>
                </a:solidFill>
                <a:latin typeface="Times New Roman"/>
                <a:cs typeface="Times New Roman"/>
              </a:rPr>
              <a:t>PAN,</a:t>
            </a:r>
            <a:r>
              <a:rPr sz="2000" b="1" spc="-2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Ad-hoc</a:t>
            </a:r>
            <a:r>
              <a:rPr sz="2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sz="1800" spc="-110" dirty="0">
                <a:latin typeface="Times New Roman"/>
                <a:cs typeface="Times New Roman"/>
              </a:rPr>
              <a:t>Topologies</a:t>
            </a:r>
            <a:endParaRPr sz="1800" dirty="0">
              <a:latin typeface="Times New Roman"/>
              <a:cs typeface="Times New Roman"/>
            </a:endParaRPr>
          </a:p>
          <a:p>
            <a:pPr marL="12700" marR="4119879">
              <a:lnSpc>
                <a:spcPct val="187800"/>
              </a:lnSpc>
            </a:pPr>
            <a:r>
              <a:rPr sz="1800" spc="-55" dirty="0">
                <a:latin typeface="Times New Roman"/>
                <a:cs typeface="Times New Roman"/>
              </a:rPr>
              <a:t>Net</a:t>
            </a:r>
            <a:r>
              <a:rPr sz="1800" spc="-145" dirty="0">
                <a:latin typeface="Times New Roman"/>
                <a:cs typeface="Times New Roman"/>
              </a:rPr>
              <a:t>w</a:t>
            </a:r>
            <a:r>
              <a:rPr sz="1800" spc="-35" dirty="0">
                <a:latin typeface="Times New Roman"/>
                <a:cs typeface="Times New Roman"/>
              </a:rPr>
              <a:t>o</a:t>
            </a:r>
            <a:r>
              <a:rPr sz="1800" spc="-20" dirty="0">
                <a:latin typeface="Times New Roman"/>
                <a:cs typeface="Times New Roman"/>
              </a:rPr>
              <a:t>r</a:t>
            </a:r>
            <a:r>
              <a:rPr sz="1800" spc="-114" dirty="0">
                <a:latin typeface="Times New Roman"/>
                <a:cs typeface="Times New Roman"/>
              </a:rPr>
              <a:t>k</a:t>
            </a:r>
            <a:r>
              <a:rPr sz="1800" spc="-195" dirty="0">
                <a:latin typeface="Times New Roman"/>
                <a:cs typeface="Times New Roman"/>
              </a:rPr>
              <a:t> </a:t>
            </a:r>
            <a:r>
              <a:rPr sz="1800" spc="-120" dirty="0">
                <a:latin typeface="Times New Roman"/>
                <a:cs typeface="Times New Roman"/>
              </a:rPr>
              <a:t>Ar</a:t>
            </a:r>
            <a:r>
              <a:rPr sz="1800" spc="-55" dirty="0">
                <a:latin typeface="Times New Roman"/>
                <a:cs typeface="Times New Roman"/>
              </a:rPr>
              <a:t>c</a:t>
            </a:r>
            <a:r>
              <a:rPr sz="1800" spc="-70" dirty="0">
                <a:latin typeface="Times New Roman"/>
                <a:cs typeface="Times New Roman"/>
              </a:rPr>
              <a:t>hitec</a:t>
            </a:r>
            <a:r>
              <a:rPr sz="1800" spc="-25" dirty="0">
                <a:latin typeface="Times New Roman"/>
                <a:cs typeface="Times New Roman"/>
              </a:rPr>
              <a:t>tu</a:t>
            </a:r>
            <a:r>
              <a:rPr sz="1800" spc="10" dirty="0">
                <a:latin typeface="Times New Roman"/>
                <a:cs typeface="Times New Roman"/>
              </a:rPr>
              <a:t>r</a:t>
            </a:r>
            <a:r>
              <a:rPr sz="1800" spc="-85" dirty="0">
                <a:latin typeface="Times New Roman"/>
                <a:cs typeface="Times New Roman"/>
              </a:rPr>
              <a:t>es  </a:t>
            </a:r>
            <a:r>
              <a:rPr sz="1800" spc="-125" dirty="0">
                <a:latin typeface="Times New Roman"/>
                <a:cs typeface="Times New Roman"/>
              </a:rPr>
              <a:t>OSI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10" dirty="0">
                <a:latin typeface="Times New Roman"/>
                <a:cs typeface="Times New Roman"/>
              </a:rPr>
              <a:t>M</a:t>
            </a:r>
            <a:r>
              <a:rPr sz="1800" spc="-80" dirty="0">
                <a:latin typeface="Times New Roman"/>
                <a:cs typeface="Times New Roman"/>
              </a:rPr>
              <a:t>o</a:t>
            </a:r>
            <a:r>
              <a:rPr sz="1800" spc="-75" dirty="0">
                <a:latin typeface="Times New Roman"/>
                <a:cs typeface="Times New Roman"/>
              </a:rPr>
              <a:t>d</a:t>
            </a:r>
            <a:r>
              <a:rPr sz="1800" spc="-70" dirty="0">
                <a:latin typeface="Times New Roman"/>
                <a:cs typeface="Times New Roman"/>
              </a:rPr>
              <a:t>el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imes New Roman"/>
                <a:cs typeface="Times New Roman"/>
              </a:rPr>
              <a:t>TCP/IP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Model</a:t>
            </a:r>
            <a:endParaRPr sz="1800" dirty="0">
              <a:latin typeface="Times New Roman"/>
              <a:cs typeface="Times New Roman"/>
            </a:endParaRPr>
          </a:p>
          <a:p>
            <a:pPr marL="12700" marR="4053840">
              <a:lnSpc>
                <a:spcPct val="187800"/>
              </a:lnSpc>
            </a:pPr>
            <a:r>
              <a:rPr sz="1800" spc="-105" dirty="0">
                <a:latin typeface="Times New Roman"/>
                <a:cs typeface="Times New Roman"/>
              </a:rPr>
              <a:t>Design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issues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for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0" dirty="0">
                <a:latin typeface="Times New Roman"/>
                <a:cs typeface="Times New Roman"/>
              </a:rPr>
              <a:t>L</a:t>
            </a:r>
            <a:r>
              <a:rPr sz="1800" spc="-204" dirty="0">
                <a:latin typeface="Times New Roman"/>
                <a:cs typeface="Times New Roman"/>
              </a:rPr>
              <a:t>a</a:t>
            </a:r>
            <a:r>
              <a:rPr sz="1800" spc="-170" dirty="0">
                <a:latin typeface="Times New Roman"/>
                <a:cs typeface="Times New Roman"/>
              </a:rPr>
              <a:t>y</a:t>
            </a:r>
            <a:r>
              <a:rPr sz="1800" spc="-30" dirty="0">
                <a:latin typeface="Times New Roman"/>
                <a:cs typeface="Times New Roman"/>
              </a:rPr>
              <a:t>e</a:t>
            </a:r>
            <a:r>
              <a:rPr sz="1800" spc="15" dirty="0">
                <a:latin typeface="Times New Roman"/>
                <a:cs typeface="Times New Roman"/>
              </a:rPr>
              <a:t>r</a:t>
            </a:r>
            <a:r>
              <a:rPr sz="1800" spc="-105" dirty="0">
                <a:latin typeface="Times New Roman"/>
                <a:cs typeface="Times New Roman"/>
              </a:rPr>
              <a:t>s</a:t>
            </a:r>
            <a:r>
              <a:rPr lang="en-US" sz="1800" spc="-105" dirty="0">
                <a:latin typeface="Times New Roman"/>
                <a:cs typeface="Times New Roman"/>
              </a:rPr>
              <a:t>  </a:t>
            </a:r>
            <a:r>
              <a:rPr lang="en-US" sz="1800" spc="-220" dirty="0">
                <a:latin typeface="Times New Roman"/>
                <a:cs typeface="Times New Roman"/>
              </a:rPr>
              <a:t>T</a:t>
            </a:r>
            <a:r>
              <a:rPr lang="en-US" sz="1800" spc="-60" dirty="0">
                <a:latin typeface="Times New Roman"/>
                <a:cs typeface="Times New Roman"/>
              </a:rPr>
              <a:t>r</a:t>
            </a:r>
            <a:r>
              <a:rPr lang="en-US" sz="1800" spc="-65" dirty="0">
                <a:latin typeface="Times New Roman"/>
                <a:cs typeface="Times New Roman"/>
              </a:rPr>
              <a:t>a</a:t>
            </a:r>
            <a:r>
              <a:rPr lang="en-US" sz="1800" spc="-110" dirty="0">
                <a:latin typeface="Times New Roman"/>
                <a:cs typeface="Times New Roman"/>
              </a:rPr>
              <a:t>nsm</a:t>
            </a:r>
            <a:r>
              <a:rPr lang="en-US" sz="1800" spc="-120" dirty="0">
                <a:latin typeface="Times New Roman"/>
                <a:cs typeface="Times New Roman"/>
              </a:rPr>
              <a:t>iss</a:t>
            </a:r>
            <a:r>
              <a:rPr lang="en-US" sz="1800" spc="-105" dirty="0">
                <a:latin typeface="Times New Roman"/>
                <a:cs typeface="Times New Roman"/>
              </a:rPr>
              <a:t>i</a:t>
            </a:r>
            <a:r>
              <a:rPr lang="en-US" sz="1800" spc="-80" dirty="0">
                <a:latin typeface="Times New Roman"/>
                <a:cs typeface="Times New Roman"/>
              </a:rPr>
              <a:t>on</a:t>
            </a:r>
            <a:r>
              <a:rPr lang="en-US" sz="1800" spc="-50" dirty="0">
                <a:latin typeface="Times New Roman"/>
                <a:cs typeface="Times New Roman"/>
              </a:rPr>
              <a:t> </a:t>
            </a:r>
            <a:r>
              <a:rPr lang="en-US" sz="1800" spc="-130" dirty="0">
                <a:latin typeface="Times New Roman"/>
                <a:cs typeface="Times New Roman"/>
              </a:rPr>
              <a:t>Me</a:t>
            </a:r>
            <a:r>
              <a:rPr lang="en-US" sz="1800" spc="-95" dirty="0">
                <a:latin typeface="Times New Roman"/>
                <a:cs typeface="Times New Roman"/>
              </a:rPr>
              <a:t>d</a:t>
            </a:r>
            <a:r>
              <a:rPr lang="en-US" sz="1800" spc="-90" dirty="0">
                <a:latin typeface="Times New Roman"/>
                <a:cs typeface="Times New Roman"/>
              </a:rPr>
              <a:t>iums  </a:t>
            </a:r>
            <a:r>
              <a:rPr lang="en-US" sz="1800" spc="-55" dirty="0">
                <a:latin typeface="Times New Roman"/>
                <a:cs typeface="Times New Roman"/>
              </a:rPr>
              <a:t>Net</a:t>
            </a:r>
            <a:r>
              <a:rPr lang="en-US" sz="1800" spc="-145" dirty="0">
                <a:latin typeface="Times New Roman"/>
                <a:cs typeface="Times New Roman"/>
              </a:rPr>
              <a:t>w</a:t>
            </a:r>
            <a:r>
              <a:rPr lang="en-US" sz="1800" spc="-35" dirty="0">
                <a:latin typeface="Times New Roman"/>
                <a:cs typeface="Times New Roman"/>
              </a:rPr>
              <a:t>o</a:t>
            </a:r>
            <a:r>
              <a:rPr lang="en-US" sz="1800" spc="-20" dirty="0">
                <a:latin typeface="Times New Roman"/>
                <a:cs typeface="Times New Roman"/>
              </a:rPr>
              <a:t>r</a:t>
            </a:r>
            <a:r>
              <a:rPr lang="en-US" sz="1800" spc="-114" dirty="0">
                <a:latin typeface="Times New Roman"/>
                <a:cs typeface="Times New Roman"/>
              </a:rPr>
              <a:t>k</a:t>
            </a:r>
            <a:r>
              <a:rPr lang="en-US" sz="1800" spc="-65" dirty="0">
                <a:latin typeface="Times New Roman"/>
                <a:cs typeface="Times New Roman"/>
              </a:rPr>
              <a:t> </a:t>
            </a:r>
            <a:r>
              <a:rPr lang="en-US" sz="1800" spc="-105" dirty="0">
                <a:latin typeface="Times New Roman"/>
                <a:cs typeface="Times New Roman"/>
              </a:rPr>
              <a:t>D</a:t>
            </a:r>
            <a:r>
              <a:rPr lang="en-US" sz="1800" spc="-90" dirty="0">
                <a:latin typeface="Times New Roman"/>
                <a:cs typeface="Times New Roman"/>
              </a:rPr>
              <a:t>e</a:t>
            </a:r>
            <a:r>
              <a:rPr lang="en-US" sz="1800" spc="-110" dirty="0">
                <a:latin typeface="Times New Roman"/>
                <a:cs typeface="Times New Roman"/>
              </a:rPr>
              <a:t>vices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1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1800" spc="-240" dirty="0">
                <a:latin typeface="Times New Roman"/>
                <a:cs typeface="Times New Roman"/>
              </a:rPr>
              <a:t>M</a:t>
            </a:r>
            <a:r>
              <a:rPr lang="en-US" sz="1800" spc="-114" dirty="0">
                <a:latin typeface="Times New Roman"/>
                <a:cs typeface="Times New Roman"/>
              </a:rPr>
              <a:t>a</a:t>
            </a:r>
            <a:r>
              <a:rPr lang="en-US" sz="1800" spc="-100" dirty="0">
                <a:latin typeface="Times New Roman"/>
                <a:cs typeface="Times New Roman"/>
              </a:rPr>
              <a:t>n</a:t>
            </a:r>
            <a:r>
              <a:rPr lang="en-US" sz="1800" spc="-50" dirty="0">
                <a:latin typeface="Times New Roman"/>
                <a:cs typeface="Times New Roman"/>
              </a:rPr>
              <a:t>c</a:t>
            </a:r>
            <a:r>
              <a:rPr lang="en-US" sz="1800" spc="-110" dirty="0">
                <a:latin typeface="Times New Roman"/>
                <a:cs typeface="Times New Roman"/>
              </a:rPr>
              <a:t>hes</a:t>
            </a:r>
            <a:r>
              <a:rPr lang="en-US" sz="1800" spc="-10" dirty="0">
                <a:latin typeface="Times New Roman"/>
                <a:cs typeface="Times New Roman"/>
              </a:rPr>
              <a:t>ter</a:t>
            </a:r>
            <a:r>
              <a:rPr lang="en-US" sz="1800" spc="-75" dirty="0">
                <a:latin typeface="Times New Roman"/>
                <a:cs typeface="Times New Roman"/>
              </a:rPr>
              <a:t> </a:t>
            </a:r>
            <a:r>
              <a:rPr lang="en-US" sz="1800" spc="-110" dirty="0">
                <a:latin typeface="Times New Roman"/>
                <a:cs typeface="Times New Roman"/>
              </a:rPr>
              <a:t>an</a:t>
            </a:r>
            <a:r>
              <a:rPr lang="en-US" sz="1800" spc="-80" dirty="0">
                <a:latin typeface="Times New Roman"/>
                <a:cs typeface="Times New Roman"/>
              </a:rPr>
              <a:t>d</a:t>
            </a:r>
            <a:r>
              <a:rPr lang="en-US" sz="1800" spc="-45" dirty="0">
                <a:latin typeface="Times New Roman"/>
                <a:cs typeface="Times New Roman"/>
              </a:rPr>
              <a:t> </a:t>
            </a:r>
            <a:r>
              <a:rPr lang="en-US" sz="1800" spc="-110" dirty="0">
                <a:latin typeface="Times New Roman"/>
                <a:cs typeface="Times New Roman"/>
              </a:rPr>
              <a:t>D</a:t>
            </a:r>
            <a:r>
              <a:rPr lang="en-US" sz="1800" spc="-85" dirty="0">
                <a:latin typeface="Times New Roman"/>
                <a:cs typeface="Times New Roman"/>
              </a:rPr>
              <a:t>iffe</a:t>
            </a:r>
            <a:r>
              <a:rPr lang="en-US" sz="1800" spc="-95" dirty="0">
                <a:latin typeface="Times New Roman"/>
                <a:cs typeface="Times New Roman"/>
              </a:rPr>
              <a:t>r</a:t>
            </a:r>
            <a:r>
              <a:rPr lang="en-US" sz="1800" spc="-50" dirty="0">
                <a:latin typeface="Times New Roman"/>
                <a:cs typeface="Times New Roman"/>
              </a:rPr>
              <a:t>en</a:t>
            </a:r>
            <a:r>
              <a:rPr lang="en-US" sz="1800" spc="-25" dirty="0">
                <a:latin typeface="Times New Roman"/>
                <a:cs typeface="Times New Roman"/>
              </a:rPr>
              <a:t>t</a:t>
            </a:r>
            <a:r>
              <a:rPr lang="en-US" sz="1800" spc="-100" dirty="0">
                <a:latin typeface="Times New Roman"/>
                <a:cs typeface="Times New Roman"/>
              </a:rPr>
              <a:t>ial</a:t>
            </a:r>
            <a:r>
              <a:rPr lang="en-US" sz="1800" spc="-60" dirty="0">
                <a:latin typeface="Times New Roman"/>
                <a:cs typeface="Times New Roman"/>
              </a:rPr>
              <a:t> </a:t>
            </a:r>
            <a:r>
              <a:rPr lang="en-US" sz="1800" spc="-240" dirty="0">
                <a:latin typeface="Times New Roman"/>
                <a:cs typeface="Times New Roman"/>
              </a:rPr>
              <a:t>M</a:t>
            </a:r>
            <a:r>
              <a:rPr lang="en-US" sz="1800" spc="-114" dirty="0">
                <a:latin typeface="Times New Roman"/>
                <a:cs typeface="Times New Roman"/>
              </a:rPr>
              <a:t>a</a:t>
            </a:r>
            <a:r>
              <a:rPr lang="en-US" sz="1800" spc="-100" dirty="0">
                <a:latin typeface="Times New Roman"/>
                <a:cs typeface="Times New Roman"/>
              </a:rPr>
              <a:t>n</a:t>
            </a:r>
            <a:r>
              <a:rPr lang="en-US" sz="1800" spc="-50" dirty="0">
                <a:latin typeface="Times New Roman"/>
                <a:cs typeface="Times New Roman"/>
              </a:rPr>
              <a:t>c</a:t>
            </a:r>
            <a:r>
              <a:rPr lang="en-US" sz="1800" spc="-110" dirty="0">
                <a:latin typeface="Times New Roman"/>
                <a:cs typeface="Times New Roman"/>
              </a:rPr>
              <a:t>hes</a:t>
            </a:r>
            <a:r>
              <a:rPr lang="en-US" sz="1800" spc="-10" dirty="0">
                <a:latin typeface="Times New Roman"/>
                <a:cs typeface="Times New Roman"/>
              </a:rPr>
              <a:t>ter</a:t>
            </a:r>
            <a:r>
              <a:rPr lang="en-US" sz="1800" spc="-60" dirty="0">
                <a:latin typeface="Times New Roman"/>
                <a:cs typeface="Times New Roman"/>
              </a:rPr>
              <a:t> </a:t>
            </a:r>
            <a:r>
              <a:rPr lang="en-US" sz="1800" spc="-190" dirty="0">
                <a:latin typeface="Times New Roman"/>
                <a:cs typeface="Times New Roman"/>
              </a:rPr>
              <a:t>E</a:t>
            </a:r>
            <a:r>
              <a:rPr lang="en-US" sz="1800" spc="-100" dirty="0">
                <a:latin typeface="Times New Roman"/>
                <a:cs typeface="Times New Roman"/>
              </a:rPr>
              <a:t>n</a:t>
            </a:r>
            <a:r>
              <a:rPr lang="en-US" sz="1800" spc="-85" dirty="0">
                <a:latin typeface="Times New Roman"/>
                <a:cs typeface="Times New Roman"/>
              </a:rPr>
              <a:t>c</a:t>
            </a:r>
            <a:r>
              <a:rPr lang="en-US" sz="1800" spc="-80" dirty="0">
                <a:latin typeface="Times New Roman"/>
                <a:cs typeface="Times New Roman"/>
              </a:rPr>
              <a:t>o</a:t>
            </a:r>
            <a:r>
              <a:rPr lang="en-US" sz="1800" spc="-75" dirty="0">
                <a:latin typeface="Times New Roman"/>
                <a:cs typeface="Times New Roman"/>
              </a:rPr>
              <a:t>d</a:t>
            </a:r>
            <a:r>
              <a:rPr lang="en-US" sz="1800" spc="-85" dirty="0">
                <a:latin typeface="Times New Roman"/>
                <a:cs typeface="Times New Roman"/>
              </a:rPr>
              <a:t>ings;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1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1800" spc="-90" dirty="0">
                <a:latin typeface="Times New Roman"/>
                <a:cs typeface="Times New Roman"/>
              </a:rPr>
              <a:t>IEEE802.11:</a:t>
            </a:r>
            <a:r>
              <a:rPr lang="en-US" sz="1800" spc="-120" dirty="0">
                <a:latin typeface="Times New Roman"/>
                <a:cs typeface="Times New Roman"/>
              </a:rPr>
              <a:t> </a:t>
            </a:r>
            <a:r>
              <a:rPr lang="en-US" sz="1800" spc="-90" dirty="0">
                <a:latin typeface="Times New Roman"/>
                <a:cs typeface="Times New Roman"/>
              </a:rPr>
              <a:t>Frequency</a:t>
            </a:r>
            <a:r>
              <a:rPr lang="en-US" sz="1800" spc="-50" dirty="0">
                <a:latin typeface="Times New Roman"/>
                <a:cs typeface="Times New Roman"/>
              </a:rPr>
              <a:t> </a:t>
            </a:r>
            <a:r>
              <a:rPr lang="en-US" sz="1800" spc="-95" dirty="0">
                <a:latin typeface="Times New Roman"/>
                <a:cs typeface="Times New Roman"/>
              </a:rPr>
              <a:t>Hopping</a:t>
            </a:r>
            <a:r>
              <a:rPr lang="en-US" sz="1800" spc="-50" dirty="0">
                <a:latin typeface="Times New Roman"/>
                <a:cs typeface="Times New Roman"/>
              </a:rPr>
              <a:t> </a:t>
            </a:r>
            <a:r>
              <a:rPr lang="en-US" sz="1800" spc="-145" dirty="0">
                <a:latin typeface="Times New Roman"/>
                <a:cs typeface="Times New Roman"/>
              </a:rPr>
              <a:t>(FHSS)</a:t>
            </a:r>
            <a:r>
              <a:rPr lang="en-US" sz="1800" spc="-45" dirty="0">
                <a:latin typeface="Times New Roman"/>
                <a:cs typeface="Times New Roman"/>
              </a:rPr>
              <a:t> </a:t>
            </a:r>
            <a:r>
              <a:rPr lang="en-US" sz="1800" spc="-100" dirty="0">
                <a:latin typeface="Times New Roman"/>
                <a:cs typeface="Times New Roman"/>
              </a:rPr>
              <a:t>and</a:t>
            </a:r>
            <a:r>
              <a:rPr lang="en-US" sz="1800" spc="-30" dirty="0">
                <a:latin typeface="Times New Roman"/>
                <a:cs typeface="Times New Roman"/>
              </a:rPr>
              <a:t> </a:t>
            </a:r>
            <a:r>
              <a:rPr lang="en-US" sz="1800" spc="-60" dirty="0">
                <a:latin typeface="Times New Roman"/>
                <a:cs typeface="Times New Roman"/>
              </a:rPr>
              <a:t>Direct</a:t>
            </a:r>
            <a:r>
              <a:rPr lang="en-US" sz="1800" spc="-55" dirty="0">
                <a:latin typeface="Times New Roman"/>
                <a:cs typeface="Times New Roman"/>
              </a:rPr>
              <a:t> </a:t>
            </a:r>
            <a:r>
              <a:rPr lang="en-US" sz="1800" spc="-105" dirty="0">
                <a:latin typeface="Times New Roman"/>
                <a:cs typeface="Times New Roman"/>
              </a:rPr>
              <a:t>Sequence</a:t>
            </a:r>
            <a:r>
              <a:rPr lang="en-US" sz="1800" spc="-30" dirty="0">
                <a:latin typeface="Times New Roman"/>
                <a:cs typeface="Times New Roman"/>
              </a:rPr>
              <a:t> </a:t>
            </a:r>
            <a:r>
              <a:rPr lang="en-US" sz="1800" spc="-155" dirty="0">
                <a:latin typeface="Times New Roman"/>
                <a:cs typeface="Times New Roman"/>
              </a:rPr>
              <a:t>(DSSS)</a:t>
            </a:r>
            <a:endParaRPr lang="en-US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50311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/>
              <a:t>Introduction</a:t>
            </a:r>
            <a:r>
              <a:rPr sz="4000" spc="-30" dirty="0"/>
              <a:t> </a:t>
            </a:r>
            <a:r>
              <a:rPr sz="4000" spc="-55" dirty="0"/>
              <a:t>of</a:t>
            </a:r>
            <a:r>
              <a:rPr sz="4000" spc="-30" dirty="0"/>
              <a:t> </a:t>
            </a:r>
            <a:r>
              <a:rPr sz="4000" spc="-70" dirty="0"/>
              <a:t>Network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345680" cy="33775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Net</a:t>
            </a:r>
            <a:r>
              <a:rPr sz="2600" spc="-215" dirty="0">
                <a:latin typeface="Times New Roman"/>
                <a:cs typeface="Times New Roman"/>
              </a:rPr>
              <a:t>w</a:t>
            </a:r>
            <a:r>
              <a:rPr sz="2600" spc="-50" dirty="0">
                <a:latin typeface="Times New Roman"/>
                <a:cs typeface="Times New Roman"/>
              </a:rPr>
              <a:t>ork:</a:t>
            </a:r>
            <a:r>
              <a:rPr sz="2600" spc="-370" dirty="0">
                <a:latin typeface="Times New Roman"/>
                <a:cs typeface="Times New Roman"/>
              </a:rPr>
              <a:t> </a:t>
            </a:r>
            <a:r>
              <a:rPr sz="2600" spc="-335" dirty="0">
                <a:latin typeface="Times New Roman"/>
                <a:cs typeface="Times New Roman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b="1" spc="45" dirty="0">
                <a:latin typeface="Times New Roman"/>
                <a:cs typeface="Times New Roman"/>
              </a:rPr>
              <a:t>net</a:t>
            </a:r>
            <a:r>
              <a:rPr sz="2600" b="1" spc="5" dirty="0">
                <a:latin typeface="Times New Roman"/>
                <a:cs typeface="Times New Roman"/>
              </a:rPr>
              <a:t>w</a:t>
            </a:r>
            <a:r>
              <a:rPr sz="2600" b="1" spc="10" dirty="0">
                <a:latin typeface="Times New Roman"/>
                <a:cs typeface="Times New Roman"/>
              </a:rPr>
              <a:t>ork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defin</a:t>
            </a:r>
            <a:r>
              <a:rPr sz="2600" spc="-150" dirty="0">
                <a:latin typeface="Times New Roman"/>
                <a:cs typeface="Times New Roman"/>
              </a:rPr>
              <a:t>e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20" dirty="0">
                <a:latin typeface="Times New Roman"/>
                <a:cs typeface="Times New Roman"/>
              </a:rPr>
              <a:t>a</a:t>
            </a:r>
            <a:r>
              <a:rPr sz="2600" spc="-190" dirty="0">
                <a:latin typeface="Times New Roman"/>
                <a:cs typeface="Times New Roman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g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u</a:t>
            </a:r>
            <a:r>
              <a:rPr sz="2600" spc="-110" dirty="0">
                <a:latin typeface="Times New Roman"/>
                <a:cs typeface="Times New Roman"/>
              </a:rPr>
              <a:t>p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</a:t>
            </a:r>
            <a:r>
              <a:rPr sz="2600" spc="-175" dirty="0">
                <a:latin typeface="Times New Roman"/>
                <a:cs typeface="Times New Roman"/>
              </a:rPr>
              <a:t>w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mo</a:t>
            </a:r>
            <a:r>
              <a:rPr sz="2600" spc="-75" dirty="0">
                <a:latin typeface="Times New Roman"/>
                <a:cs typeface="Times New Roman"/>
              </a:rPr>
              <a:t>r</a:t>
            </a:r>
            <a:r>
              <a:rPr sz="2600" spc="-70" dirty="0">
                <a:latin typeface="Times New Roman"/>
                <a:cs typeface="Times New Roman"/>
              </a:rPr>
              <a:t>e  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o</a:t>
            </a:r>
            <a:r>
              <a:rPr sz="2600" spc="-140" dirty="0">
                <a:latin typeface="Times New Roman"/>
                <a:cs typeface="Times New Roman"/>
              </a:rPr>
              <a:t>mp</a:t>
            </a:r>
            <a:r>
              <a:rPr sz="2600" spc="-120" dirty="0">
                <a:latin typeface="Times New Roman"/>
                <a:cs typeface="Times New Roman"/>
              </a:rPr>
              <a:t>u</a:t>
            </a:r>
            <a:r>
              <a:rPr sz="2600" spc="-10" dirty="0">
                <a:latin typeface="Times New Roman"/>
                <a:cs typeface="Times New Roman"/>
              </a:rPr>
              <a:t>ter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syst</a:t>
            </a:r>
            <a:r>
              <a:rPr sz="2600" spc="-160" dirty="0">
                <a:latin typeface="Times New Roman"/>
                <a:cs typeface="Times New Roman"/>
              </a:rPr>
              <a:t>e</a:t>
            </a:r>
            <a:r>
              <a:rPr sz="2600" spc="-240" dirty="0">
                <a:latin typeface="Times New Roman"/>
                <a:cs typeface="Times New Roman"/>
              </a:rPr>
              <a:t>m</a:t>
            </a:r>
            <a:r>
              <a:rPr sz="2600" spc="-120" dirty="0">
                <a:latin typeface="Times New Roman"/>
                <a:cs typeface="Times New Roman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lin</a:t>
            </a:r>
            <a:r>
              <a:rPr sz="2600" spc="-200" dirty="0">
                <a:latin typeface="Times New Roman"/>
                <a:cs typeface="Times New Roman"/>
              </a:rPr>
              <a:t>k</a:t>
            </a:r>
            <a:r>
              <a:rPr sz="2600" spc="-105" dirty="0">
                <a:latin typeface="Times New Roman"/>
                <a:cs typeface="Times New Roman"/>
              </a:rPr>
              <a:t>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</a:t>
            </a:r>
            <a:r>
              <a:rPr sz="2600" spc="-55" dirty="0">
                <a:latin typeface="Times New Roman"/>
                <a:cs typeface="Times New Roman"/>
              </a:rPr>
              <a:t>o</a:t>
            </a:r>
            <a:r>
              <a:rPr sz="2600" spc="-110" dirty="0">
                <a:latin typeface="Times New Roman"/>
                <a:cs typeface="Times New Roman"/>
              </a:rPr>
              <a:t>ge</a:t>
            </a:r>
            <a:r>
              <a:rPr sz="2600" spc="-80" dirty="0">
                <a:latin typeface="Times New Roman"/>
                <a:cs typeface="Times New Roman"/>
              </a:rPr>
              <a:t>t</a:t>
            </a:r>
            <a:r>
              <a:rPr sz="2600" spc="-130" dirty="0">
                <a:latin typeface="Times New Roman"/>
                <a:cs typeface="Times New Roman"/>
              </a:rPr>
              <a:t>he</a:t>
            </a:r>
            <a:r>
              <a:rPr sz="2600" spc="-200" dirty="0">
                <a:latin typeface="Times New Roman"/>
                <a:cs typeface="Times New Roman"/>
              </a:rPr>
              <a:t>r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95" dirty="0">
                <a:latin typeface="Times New Roman"/>
                <a:cs typeface="Times New Roman"/>
              </a:rPr>
              <a:t>T</a:t>
            </a:r>
            <a:r>
              <a:rPr sz="2600" spc="-165" dirty="0">
                <a:latin typeface="Times New Roman"/>
                <a:cs typeface="Times New Roman"/>
              </a:rPr>
              <a:t>y</a:t>
            </a:r>
            <a:r>
              <a:rPr sz="2600" spc="-180" dirty="0">
                <a:latin typeface="Times New Roman"/>
                <a:cs typeface="Times New Roman"/>
              </a:rPr>
              <a:t>p</a:t>
            </a:r>
            <a:r>
              <a:rPr sz="2600" spc="-150" dirty="0">
                <a:latin typeface="Times New Roman"/>
                <a:cs typeface="Times New Roman"/>
              </a:rPr>
              <a:t>es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Net</a:t>
            </a:r>
            <a:r>
              <a:rPr sz="2600" spc="-210" dirty="0">
                <a:latin typeface="Times New Roman"/>
                <a:cs typeface="Times New Roman"/>
              </a:rPr>
              <a:t>w</a:t>
            </a:r>
            <a:r>
              <a:rPr sz="2600" spc="-80" dirty="0">
                <a:latin typeface="Times New Roman"/>
                <a:cs typeface="Times New Roman"/>
              </a:rPr>
              <a:t>orks:</a:t>
            </a:r>
            <a:endParaRPr sz="26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240" dirty="0">
                <a:latin typeface="Times New Roman"/>
                <a:cs typeface="Times New Roman"/>
              </a:rPr>
              <a:t>LAN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245" dirty="0">
                <a:latin typeface="Times New Roman"/>
                <a:cs typeface="Times New Roman"/>
              </a:rPr>
              <a:t>MAN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09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254" dirty="0">
                <a:latin typeface="Times New Roman"/>
                <a:cs typeface="Times New Roman"/>
              </a:rPr>
              <a:t>WAN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254" dirty="0">
                <a:latin typeface="Times New Roman"/>
                <a:cs typeface="Times New Roman"/>
              </a:rPr>
              <a:t>PAN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204" dirty="0">
                <a:latin typeface="Times New Roman"/>
                <a:cs typeface="Times New Roman"/>
              </a:rPr>
              <a:t>Ad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125" dirty="0">
                <a:latin typeface="Times New Roman"/>
                <a:cs typeface="Times New Roman"/>
              </a:rPr>
              <a:t>h</a:t>
            </a:r>
            <a:r>
              <a:rPr sz="2400" spc="-120" dirty="0">
                <a:latin typeface="Times New Roman"/>
                <a:cs typeface="Times New Roman"/>
              </a:rPr>
              <a:t>o</a:t>
            </a:r>
            <a:r>
              <a:rPr sz="2400" spc="-145" dirty="0">
                <a:latin typeface="Times New Roman"/>
                <a:cs typeface="Times New Roman"/>
              </a:rPr>
              <a:t>c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Ne</a:t>
            </a:r>
            <a:r>
              <a:rPr sz="2400" spc="-55" dirty="0">
                <a:latin typeface="Times New Roman"/>
                <a:cs typeface="Times New Roman"/>
              </a:rPr>
              <a:t>t</a:t>
            </a:r>
            <a:r>
              <a:rPr sz="2400" spc="-225" dirty="0">
                <a:latin typeface="Times New Roman"/>
                <a:cs typeface="Times New Roman"/>
              </a:rPr>
              <a:t>w</a:t>
            </a:r>
            <a:r>
              <a:rPr sz="2400" spc="-75" dirty="0">
                <a:latin typeface="Times New Roman"/>
                <a:cs typeface="Times New Roman"/>
              </a:rPr>
              <a:t>ork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56654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/>
              <a:t>Local</a:t>
            </a:r>
            <a:r>
              <a:rPr sz="4000" spc="-20" dirty="0"/>
              <a:t> </a:t>
            </a:r>
            <a:r>
              <a:rPr sz="4000" spc="-90" dirty="0"/>
              <a:t>Area</a:t>
            </a:r>
            <a:r>
              <a:rPr sz="4000" spc="-15" dirty="0"/>
              <a:t> </a:t>
            </a:r>
            <a:r>
              <a:rPr sz="4000" spc="-55" dirty="0"/>
              <a:t>Networks</a:t>
            </a:r>
            <a:r>
              <a:rPr sz="4000" spc="-5" dirty="0"/>
              <a:t> </a:t>
            </a:r>
            <a:r>
              <a:rPr sz="4000" spc="-65" dirty="0"/>
              <a:t>(LAN)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13433" y="1388110"/>
            <a:ext cx="4673600" cy="294195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9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241300" algn="l"/>
              </a:tabLst>
            </a:pPr>
            <a:r>
              <a:rPr sz="2400" spc="-75" dirty="0">
                <a:latin typeface="Times New Roman"/>
                <a:cs typeface="Times New Roman"/>
              </a:rPr>
              <a:t>floor/building-wide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241300" algn="l"/>
              </a:tabLst>
            </a:pPr>
            <a:r>
              <a:rPr sz="2400" spc="-135" dirty="0">
                <a:latin typeface="Times New Roman"/>
                <a:cs typeface="Times New Roman"/>
              </a:rPr>
              <a:t>single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communication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medium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241300" algn="l"/>
              </a:tabLst>
            </a:pPr>
            <a:r>
              <a:rPr sz="2400" spc="-105" dirty="0">
                <a:latin typeface="Times New Roman"/>
                <a:cs typeface="Times New Roman"/>
              </a:rPr>
              <a:t>no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u</a:t>
            </a:r>
            <a:r>
              <a:rPr sz="2400" spc="-90" dirty="0">
                <a:latin typeface="Times New Roman"/>
                <a:cs typeface="Times New Roman"/>
              </a:rPr>
              <a:t>tin</a:t>
            </a:r>
            <a:r>
              <a:rPr sz="2400" spc="-165" dirty="0">
                <a:latin typeface="Times New Roman"/>
                <a:cs typeface="Times New Roman"/>
              </a:rPr>
              <a:t>g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br</a:t>
            </a:r>
            <a:r>
              <a:rPr sz="2400" spc="-130" dirty="0">
                <a:latin typeface="Times New Roman"/>
                <a:cs typeface="Times New Roman"/>
              </a:rPr>
              <a:t>oa</a:t>
            </a:r>
            <a:r>
              <a:rPr sz="2400" spc="-135" dirty="0">
                <a:latin typeface="Times New Roman"/>
                <a:cs typeface="Times New Roman"/>
              </a:rPr>
              <a:t>d</a:t>
            </a:r>
            <a:r>
              <a:rPr sz="2400" spc="-120" dirty="0">
                <a:latin typeface="Times New Roman"/>
                <a:cs typeface="Times New Roman"/>
              </a:rPr>
              <a:t>cast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241300" algn="l"/>
              </a:tabLst>
            </a:pPr>
            <a:r>
              <a:rPr sz="2400" spc="-120" dirty="0">
                <a:latin typeface="Times New Roman"/>
                <a:cs typeface="Times New Roman"/>
              </a:rPr>
              <a:t>segments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con</a:t>
            </a:r>
            <a:r>
              <a:rPr sz="2400" spc="-85" dirty="0">
                <a:latin typeface="Times New Roman"/>
                <a:cs typeface="Times New Roman"/>
              </a:rPr>
              <a:t>nected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75" dirty="0">
                <a:latin typeface="Times New Roman"/>
                <a:cs typeface="Times New Roman"/>
              </a:rPr>
              <a:t>b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35" dirty="0">
                <a:latin typeface="Times New Roman"/>
                <a:cs typeface="Times New Roman"/>
              </a:rPr>
              <a:t>s</a:t>
            </a:r>
            <a:r>
              <a:rPr sz="2400" spc="-90" dirty="0">
                <a:latin typeface="Times New Roman"/>
                <a:cs typeface="Times New Roman"/>
              </a:rPr>
              <a:t>wit</a:t>
            </a:r>
            <a:r>
              <a:rPr sz="2400" spc="-60" dirty="0">
                <a:latin typeface="Times New Roman"/>
                <a:cs typeface="Times New Roman"/>
              </a:rPr>
              <a:t>c</a:t>
            </a:r>
            <a:r>
              <a:rPr sz="2400" spc="-145" dirty="0">
                <a:latin typeface="Times New Roman"/>
                <a:cs typeface="Times New Roman"/>
              </a:rPr>
              <a:t>hes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hu</a:t>
            </a:r>
            <a:r>
              <a:rPr sz="2400" spc="-120" dirty="0">
                <a:latin typeface="Times New Roman"/>
                <a:cs typeface="Times New Roman"/>
              </a:rPr>
              <a:t>b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241300" algn="l"/>
              </a:tabLst>
            </a:pPr>
            <a:r>
              <a:rPr sz="2400" spc="-135" dirty="0">
                <a:latin typeface="Times New Roman"/>
                <a:cs typeface="Times New Roman"/>
              </a:rPr>
              <a:t>hi</a:t>
            </a:r>
            <a:r>
              <a:rPr sz="2400" spc="-175" dirty="0">
                <a:latin typeface="Times New Roman"/>
                <a:cs typeface="Times New Roman"/>
              </a:rPr>
              <a:t>gh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ban</a:t>
            </a:r>
            <a:r>
              <a:rPr sz="2400" spc="-150" dirty="0">
                <a:latin typeface="Times New Roman"/>
                <a:cs typeface="Times New Roman"/>
              </a:rPr>
              <a:t>d</a:t>
            </a:r>
            <a:r>
              <a:rPr sz="2400" spc="-65" dirty="0">
                <a:latin typeface="Times New Roman"/>
                <a:cs typeface="Times New Roman"/>
              </a:rPr>
              <a:t>width,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l</a:t>
            </a:r>
            <a:r>
              <a:rPr sz="2400" spc="-195" dirty="0">
                <a:latin typeface="Times New Roman"/>
                <a:cs typeface="Times New Roman"/>
              </a:rPr>
              <a:t>o</a:t>
            </a:r>
            <a:r>
              <a:rPr sz="2400" spc="-135" dirty="0">
                <a:latin typeface="Times New Roman"/>
                <a:cs typeface="Times New Roman"/>
              </a:rPr>
              <a:t>w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l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ten</a:t>
            </a:r>
            <a:r>
              <a:rPr sz="2400" spc="-50" dirty="0">
                <a:latin typeface="Times New Roman"/>
                <a:cs typeface="Times New Roman"/>
              </a:rPr>
              <a:t>c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241300" algn="l"/>
              </a:tabLst>
            </a:pPr>
            <a:r>
              <a:rPr sz="2400" spc="-90" dirty="0">
                <a:latin typeface="Times New Roman"/>
                <a:cs typeface="Times New Roman"/>
              </a:rPr>
              <a:t>Ethe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5" dirty="0">
                <a:latin typeface="Times New Roman"/>
                <a:cs typeface="Times New Roman"/>
              </a:rPr>
              <a:t>net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10</a:t>
            </a:r>
            <a:r>
              <a:rPr sz="2400" spc="-175" dirty="0">
                <a:latin typeface="Times New Roman"/>
                <a:cs typeface="Times New Roman"/>
              </a:rPr>
              <a:t>Mbps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10</a:t>
            </a:r>
            <a:r>
              <a:rPr sz="2400" spc="-170" dirty="0">
                <a:latin typeface="Times New Roman"/>
                <a:cs typeface="Times New Roman"/>
              </a:rPr>
              <a:t>0Mbp</a:t>
            </a:r>
            <a:r>
              <a:rPr sz="2400" spc="-110" dirty="0">
                <a:latin typeface="Times New Roman"/>
                <a:cs typeface="Times New Roman"/>
              </a:rPr>
              <a:t>s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1Gbps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241300" algn="l"/>
              </a:tabLst>
            </a:pPr>
            <a:r>
              <a:rPr sz="2400" spc="-105" dirty="0">
                <a:latin typeface="Times New Roman"/>
                <a:cs typeface="Times New Roman"/>
              </a:rPr>
              <a:t>no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l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ten</a:t>
            </a:r>
            <a:r>
              <a:rPr sz="2400" spc="-50" dirty="0">
                <a:latin typeface="Times New Roman"/>
                <a:cs typeface="Times New Roman"/>
              </a:rPr>
              <a:t>c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10" dirty="0">
                <a:latin typeface="Times New Roman"/>
                <a:cs typeface="Times New Roman"/>
              </a:rPr>
              <a:t>g</a:t>
            </a:r>
            <a:r>
              <a:rPr sz="2400" spc="-90" dirty="0">
                <a:latin typeface="Times New Roman"/>
                <a:cs typeface="Times New Roman"/>
              </a:rPr>
              <a:t>uar</a:t>
            </a:r>
            <a:r>
              <a:rPr sz="2400" spc="-110" dirty="0">
                <a:latin typeface="Times New Roman"/>
                <a:cs typeface="Times New Roman"/>
              </a:rPr>
              <a:t>antees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52590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65" dirty="0"/>
              <a:t>LAN-</a:t>
            </a:r>
            <a:r>
              <a:rPr sz="4000" spc="-15" dirty="0"/>
              <a:t> </a:t>
            </a:r>
            <a:r>
              <a:rPr sz="4000" spc="-40" dirty="0"/>
              <a:t>Local</a:t>
            </a:r>
            <a:r>
              <a:rPr sz="4000" spc="-15" dirty="0"/>
              <a:t> </a:t>
            </a:r>
            <a:r>
              <a:rPr sz="4000" spc="-90" dirty="0"/>
              <a:t>Area</a:t>
            </a:r>
            <a:r>
              <a:rPr sz="4000" spc="-15" dirty="0"/>
              <a:t> </a:t>
            </a:r>
            <a:r>
              <a:rPr sz="4000" spc="-70" dirty="0"/>
              <a:t>Network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10970"/>
            <a:ext cx="7516495" cy="43942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6385" marR="309880" indent="-274320">
              <a:lnSpc>
                <a:spcPts val="2590"/>
              </a:lnSpc>
              <a:spcBef>
                <a:spcPts val="4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75" dirty="0">
                <a:latin typeface="Times New Roman"/>
                <a:cs typeface="Times New Roman"/>
              </a:rPr>
              <a:t>It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designed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for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small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physical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areas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such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an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office,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group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b</a:t>
            </a:r>
            <a:r>
              <a:rPr sz="2400" spc="-95" dirty="0">
                <a:latin typeface="Times New Roman"/>
                <a:cs typeface="Times New Roman"/>
              </a:rPr>
              <a:t>uil</a:t>
            </a:r>
            <a:r>
              <a:rPr sz="2400" spc="-130" dirty="0">
                <a:latin typeface="Times New Roman"/>
                <a:cs typeface="Times New Roman"/>
              </a:rPr>
              <a:t>d</a:t>
            </a:r>
            <a:r>
              <a:rPr sz="2400" spc="-150" dirty="0">
                <a:latin typeface="Times New Roman"/>
                <a:cs typeface="Times New Roman"/>
              </a:rPr>
              <a:t>ings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f</a:t>
            </a:r>
            <a:r>
              <a:rPr sz="2400" spc="-85" dirty="0">
                <a:latin typeface="Times New Roman"/>
                <a:cs typeface="Times New Roman"/>
              </a:rPr>
              <a:t>acto</a:t>
            </a:r>
            <a:r>
              <a:rPr sz="2400" spc="-45" dirty="0">
                <a:latin typeface="Times New Roman"/>
                <a:cs typeface="Times New Roman"/>
              </a:rPr>
              <a:t>r</a:t>
            </a:r>
            <a:r>
              <a:rPr sz="2400" spc="-445" dirty="0">
                <a:latin typeface="Times New Roman"/>
                <a:cs typeface="Times New Roman"/>
              </a:rPr>
              <a:t>y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8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225" dirty="0">
                <a:latin typeface="Times New Roman"/>
                <a:cs typeface="Times New Roman"/>
              </a:rPr>
              <a:t>LANs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are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used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widely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it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easy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design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troubleshoot.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ts val="2590"/>
              </a:lnSpc>
              <a:spcBef>
                <a:spcPts val="64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14" dirty="0">
                <a:latin typeface="Times New Roman"/>
                <a:cs typeface="Times New Roman"/>
              </a:rPr>
              <a:t>Personal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computers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workstations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are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connected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each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other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th</a:t>
            </a:r>
            <a:r>
              <a:rPr sz="2400" spc="-55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u</a:t>
            </a:r>
            <a:r>
              <a:rPr sz="2400" spc="-175" dirty="0">
                <a:latin typeface="Times New Roman"/>
                <a:cs typeface="Times New Roman"/>
              </a:rPr>
              <a:t>gh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50" dirty="0">
                <a:latin typeface="Times New Roman"/>
                <a:cs typeface="Times New Roman"/>
              </a:rPr>
              <a:t>LAN</a:t>
            </a:r>
            <a:r>
              <a:rPr sz="2400" spc="-195" dirty="0">
                <a:latin typeface="Times New Roman"/>
                <a:cs typeface="Times New Roman"/>
              </a:rPr>
              <a:t>s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 marR="200025" indent="-274320">
              <a:lnSpc>
                <a:spcPts val="2590"/>
              </a:lnSpc>
              <a:spcBef>
                <a:spcPts val="60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215" dirty="0">
                <a:latin typeface="Times New Roman"/>
                <a:cs typeface="Times New Roman"/>
              </a:rPr>
              <a:t>We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can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use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different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types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topologies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through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LAN,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these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are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204" dirty="0">
                <a:latin typeface="Times New Roman"/>
                <a:cs typeface="Times New Roman"/>
              </a:rPr>
              <a:t>S</a:t>
            </a:r>
            <a:r>
              <a:rPr sz="2400" spc="-110" dirty="0">
                <a:latin typeface="Times New Roman"/>
                <a:cs typeface="Times New Roman"/>
              </a:rPr>
              <a:t>t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-190" dirty="0">
                <a:latin typeface="Times New Roman"/>
                <a:cs typeface="Times New Roman"/>
              </a:rPr>
              <a:t>r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Rin</a:t>
            </a:r>
            <a:r>
              <a:rPr sz="2400" spc="-245" dirty="0">
                <a:latin typeface="Times New Roman"/>
                <a:cs typeface="Times New Roman"/>
              </a:rPr>
              <a:t>g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250" dirty="0">
                <a:latin typeface="Times New Roman"/>
                <a:cs typeface="Times New Roman"/>
              </a:rPr>
              <a:t>Bu</a:t>
            </a:r>
            <a:r>
              <a:rPr sz="2400" spc="-165" dirty="0">
                <a:latin typeface="Times New Roman"/>
                <a:cs typeface="Times New Roman"/>
              </a:rPr>
              <a:t>s</a:t>
            </a:r>
            <a:r>
              <a:rPr sz="2400" spc="250" dirty="0">
                <a:latin typeface="Times New Roman"/>
                <a:cs typeface="Times New Roman"/>
              </a:rPr>
              <a:t>,</a:t>
            </a:r>
            <a:r>
              <a:rPr sz="2400" spc="-28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95" dirty="0">
                <a:latin typeface="Times New Roman"/>
                <a:cs typeface="Times New Roman"/>
              </a:rPr>
              <a:t>ee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et</a:t>
            </a:r>
            <a:r>
              <a:rPr sz="2400" spc="-114" dirty="0">
                <a:latin typeface="Times New Roman"/>
                <a:cs typeface="Times New Roman"/>
              </a:rPr>
              <a:t>c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 marR="121285" indent="-274320">
              <a:lnSpc>
                <a:spcPts val="2590"/>
              </a:lnSpc>
              <a:spcBef>
                <a:spcPts val="60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240" dirty="0">
                <a:latin typeface="Times New Roman"/>
                <a:cs typeface="Times New Roman"/>
              </a:rPr>
              <a:t>LAN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can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be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simple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network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like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connecting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two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computers,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share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files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network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among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each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other </a:t>
            </a:r>
            <a:r>
              <a:rPr sz="2400" spc="-120" dirty="0">
                <a:latin typeface="Times New Roman"/>
                <a:cs typeface="Times New Roman"/>
              </a:rPr>
              <a:t>while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can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also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be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95" dirty="0">
                <a:latin typeface="Times New Roman"/>
                <a:cs typeface="Times New Roman"/>
              </a:rPr>
              <a:t>as 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co</a:t>
            </a:r>
            <a:r>
              <a:rPr sz="2400" spc="-170" dirty="0">
                <a:latin typeface="Times New Roman"/>
                <a:cs typeface="Times New Roman"/>
              </a:rPr>
              <a:t>m</a:t>
            </a:r>
            <a:r>
              <a:rPr sz="2400" spc="-100" dirty="0">
                <a:latin typeface="Times New Roman"/>
                <a:cs typeface="Times New Roman"/>
              </a:rPr>
              <a:t>plex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04" dirty="0">
                <a:latin typeface="Times New Roman"/>
                <a:cs typeface="Times New Roman"/>
              </a:rPr>
              <a:t>a</a:t>
            </a:r>
            <a:r>
              <a:rPr sz="2400" spc="-175" dirty="0">
                <a:latin typeface="Times New Roman"/>
                <a:cs typeface="Times New Roman"/>
              </a:rPr>
              <a:t>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intercon</a:t>
            </a:r>
            <a:r>
              <a:rPr sz="2400" spc="-90" dirty="0">
                <a:latin typeface="Times New Roman"/>
                <a:cs typeface="Times New Roman"/>
              </a:rPr>
              <a:t>n</a:t>
            </a:r>
            <a:r>
              <a:rPr sz="2400" spc="-80" dirty="0">
                <a:latin typeface="Times New Roman"/>
                <a:cs typeface="Times New Roman"/>
              </a:rPr>
              <a:t>ec</a:t>
            </a:r>
            <a:r>
              <a:rPr sz="2400" spc="-60" dirty="0">
                <a:latin typeface="Times New Roman"/>
                <a:cs typeface="Times New Roman"/>
              </a:rPr>
              <a:t>t</a:t>
            </a:r>
            <a:r>
              <a:rPr sz="2400" spc="-140" dirty="0">
                <a:latin typeface="Times New Roman"/>
                <a:cs typeface="Times New Roman"/>
              </a:rPr>
              <a:t>ing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</a:t>
            </a:r>
            <a:r>
              <a:rPr sz="2400" spc="-155" dirty="0">
                <a:latin typeface="Times New Roman"/>
                <a:cs typeface="Times New Roman"/>
              </a:rPr>
              <a:t>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100" dirty="0">
                <a:latin typeface="Times New Roman"/>
                <a:cs typeface="Times New Roman"/>
              </a:rPr>
              <a:t>n</a:t>
            </a:r>
            <a:r>
              <a:rPr sz="2400" spc="-20" dirty="0">
                <a:latin typeface="Times New Roman"/>
                <a:cs typeface="Times New Roman"/>
              </a:rPr>
              <a:t>ti</a:t>
            </a:r>
            <a:r>
              <a:rPr sz="2400" spc="-50" dirty="0">
                <a:latin typeface="Times New Roman"/>
                <a:cs typeface="Times New Roman"/>
              </a:rPr>
              <a:t>r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b</a:t>
            </a:r>
            <a:r>
              <a:rPr sz="2400" spc="-95" dirty="0">
                <a:latin typeface="Times New Roman"/>
                <a:cs typeface="Times New Roman"/>
              </a:rPr>
              <a:t>uil</a:t>
            </a:r>
            <a:r>
              <a:rPr sz="2400" spc="-130" dirty="0">
                <a:latin typeface="Times New Roman"/>
                <a:cs typeface="Times New Roman"/>
              </a:rPr>
              <a:t>d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415" dirty="0">
                <a:latin typeface="Times New Roman"/>
                <a:cs typeface="Times New Roman"/>
              </a:rPr>
              <a:t>g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ts val="2735"/>
              </a:lnSpc>
              <a:spcBef>
                <a:spcPts val="28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235" dirty="0">
                <a:latin typeface="Times New Roman"/>
                <a:cs typeface="Times New Roman"/>
              </a:rPr>
              <a:t>LAN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networks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are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also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widely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used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share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resources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like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ts val="2735"/>
              </a:lnSpc>
            </a:pPr>
            <a:r>
              <a:rPr sz="2400" spc="-45" dirty="0">
                <a:latin typeface="Times New Roman"/>
                <a:cs typeface="Times New Roman"/>
              </a:rPr>
              <a:t>p</a:t>
            </a:r>
            <a:r>
              <a:rPr sz="2400" spc="20" dirty="0">
                <a:latin typeface="Times New Roman"/>
                <a:cs typeface="Times New Roman"/>
              </a:rPr>
              <a:t>r</a:t>
            </a:r>
            <a:r>
              <a:rPr sz="2400" spc="-55" dirty="0">
                <a:latin typeface="Times New Roman"/>
                <a:cs typeface="Times New Roman"/>
              </a:rPr>
              <a:t>inte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spc="-45" dirty="0">
                <a:latin typeface="Times New Roman"/>
                <a:cs typeface="Times New Roman"/>
              </a:rPr>
              <a:t>s,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s</a:t>
            </a:r>
            <a:r>
              <a:rPr sz="2400" spc="-185" dirty="0">
                <a:latin typeface="Times New Roman"/>
                <a:cs typeface="Times New Roman"/>
              </a:rPr>
              <a:t>h</a:t>
            </a:r>
            <a:r>
              <a:rPr sz="2400" spc="-100" dirty="0">
                <a:latin typeface="Times New Roman"/>
                <a:cs typeface="Times New Roman"/>
              </a:rPr>
              <a:t>a</a:t>
            </a:r>
            <a:r>
              <a:rPr sz="2400" spc="-95" dirty="0">
                <a:latin typeface="Times New Roman"/>
                <a:cs typeface="Times New Roman"/>
              </a:rPr>
              <a:t>r</a:t>
            </a:r>
            <a:r>
              <a:rPr sz="2400" spc="-100" dirty="0">
                <a:latin typeface="Times New Roman"/>
                <a:cs typeface="Times New Roman"/>
              </a:rPr>
              <a:t>ed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har</a:t>
            </a:r>
            <a:r>
              <a:rPr sz="2400" spc="-95" dirty="0">
                <a:latin typeface="Times New Roman"/>
                <a:cs typeface="Times New Roman"/>
              </a:rPr>
              <a:t>d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45" dirty="0">
                <a:latin typeface="Times New Roman"/>
                <a:cs typeface="Times New Roman"/>
              </a:rPr>
              <a:t>d</a:t>
            </a:r>
            <a:r>
              <a:rPr sz="2400" spc="20" dirty="0">
                <a:latin typeface="Times New Roman"/>
                <a:cs typeface="Times New Roman"/>
              </a:rPr>
              <a:t>r</a:t>
            </a:r>
            <a:r>
              <a:rPr sz="2400" spc="-114" dirty="0">
                <a:latin typeface="Times New Roman"/>
                <a:cs typeface="Times New Roman"/>
              </a:rPr>
              <a:t>i</a:t>
            </a:r>
            <a:r>
              <a:rPr sz="2400" spc="-260" dirty="0">
                <a:latin typeface="Times New Roman"/>
                <a:cs typeface="Times New Roman"/>
              </a:rPr>
              <a:t>v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et</a:t>
            </a:r>
            <a:r>
              <a:rPr sz="2400" spc="-114" dirty="0">
                <a:latin typeface="Times New Roman"/>
                <a:cs typeface="Times New Roman"/>
              </a:rPr>
              <a:t>c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8187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95" dirty="0"/>
              <a:t>LAN</a:t>
            </a:r>
            <a:r>
              <a:rPr sz="4000" spc="-70" dirty="0"/>
              <a:t> </a:t>
            </a:r>
            <a:r>
              <a:rPr sz="4000" spc="-80" dirty="0"/>
              <a:t>Diagram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511" y="2179320"/>
            <a:ext cx="7735823" cy="39471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34867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95" dirty="0"/>
              <a:t>LAN</a:t>
            </a:r>
            <a:r>
              <a:rPr sz="4000" spc="-90" dirty="0"/>
              <a:t> </a:t>
            </a:r>
            <a:r>
              <a:rPr sz="4000" spc="-60" dirty="0"/>
              <a:t>Advantages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04874"/>
            <a:ext cx="7230109" cy="271526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90500" marR="5080" indent="-178435">
              <a:lnSpc>
                <a:spcPts val="2810"/>
              </a:lnSpc>
              <a:spcBef>
                <a:spcPts val="455"/>
              </a:spcBef>
              <a:buClr>
                <a:srgbClr val="FF3300"/>
              </a:buClr>
              <a:buSzPct val="69230"/>
              <a:buFont typeface="Arial MT"/>
              <a:buChar char="•"/>
              <a:tabLst>
                <a:tab pos="191135" algn="l"/>
              </a:tabLst>
            </a:pPr>
            <a:r>
              <a:rPr sz="26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Cost</a:t>
            </a:r>
            <a:r>
              <a:rPr sz="2600" b="1" spc="-7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006FC0"/>
                </a:solidFill>
                <a:latin typeface="Times New Roman"/>
                <a:cs typeface="Times New Roman"/>
              </a:rPr>
              <a:t>reductions</a:t>
            </a:r>
            <a:r>
              <a:rPr sz="2600" b="1" spc="-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through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b="1" spc="-25" dirty="0">
                <a:latin typeface="Times New Roman"/>
                <a:cs typeface="Times New Roman"/>
              </a:rPr>
              <a:t>sharing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of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b="1" spc="5" dirty="0">
                <a:latin typeface="Times New Roman"/>
                <a:cs typeface="Times New Roman"/>
              </a:rPr>
              <a:t>information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latin typeface="Times New Roman"/>
                <a:cs typeface="Times New Roman"/>
              </a:rPr>
              <a:t>and </a:t>
            </a:r>
            <a:r>
              <a:rPr sz="2600" b="1" spc="-635" dirty="0">
                <a:latin typeface="Times New Roman"/>
                <a:cs typeface="Times New Roman"/>
              </a:rPr>
              <a:t> </a:t>
            </a:r>
            <a:r>
              <a:rPr sz="2600" b="1" spc="-35" dirty="0">
                <a:latin typeface="Times New Roman"/>
                <a:cs typeface="Times New Roman"/>
              </a:rPr>
              <a:t>d</a:t>
            </a:r>
            <a:r>
              <a:rPr sz="2600" b="1" spc="-65" dirty="0">
                <a:latin typeface="Times New Roman"/>
                <a:cs typeface="Times New Roman"/>
              </a:rPr>
              <a:t>a</a:t>
            </a:r>
            <a:r>
              <a:rPr sz="2600" b="1" spc="-40" dirty="0">
                <a:latin typeface="Times New Roman"/>
                <a:cs typeface="Times New Roman"/>
              </a:rPr>
              <a:t>t</a:t>
            </a:r>
            <a:r>
              <a:rPr sz="2600" b="1" spc="-90" dirty="0">
                <a:latin typeface="Times New Roman"/>
                <a:cs typeface="Times New Roman"/>
              </a:rPr>
              <a:t>a</a:t>
            </a:r>
            <a:r>
              <a:rPr sz="2600" b="1" spc="-25" dirty="0">
                <a:latin typeface="Times New Roman"/>
                <a:cs typeface="Times New Roman"/>
              </a:rPr>
              <a:t>bases,</a:t>
            </a:r>
            <a:r>
              <a:rPr sz="2600" b="1" spc="-18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resource</a:t>
            </a:r>
            <a:r>
              <a:rPr sz="2600" b="1" spc="-65" dirty="0">
                <a:latin typeface="Times New Roman"/>
                <a:cs typeface="Times New Roman"/>
              </a:rPr>
              <a:t>s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latin typeface="Times New Roman"/>
                <a:cs typeface="Times New Roman"/>
              </a:rPr>
              <a:t>and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b="1" spc="45" dirty="0">
                <a:latin typeface="Times New Roman"/>
                <a:cs typeface="Times New Roman"/>
              </a:rPr>
              <a:t>net</a:t>
            </a:r>
            <a:r>
              <a:rPr sz="2600" b="1" spc="5" dirty="0">
                <a:latin typeface="Times New Roman"/>
                <a:cs typeface="Times New Roman"/>
              </a:rPr>
              <a:t>w</a:t>
            </a:r>
            <a:r>
              <a:rPr sz="2600" b="1" spc="10" dirty="0">
                <a:latin typeface="Times New Roman"/>
                <a:cs typeface="Times New Roman"/>
              </a:rPr>
              <a:t>ork</a:t>
            </a:r>
            <a:r>
              <a:rPr sz="2600" b="1" spc="-85" dirty="0">
                <a:latin typeface="Times New Roman"/>
                <a:cs typeface="Times New Roman"/>
              </a:rPr>
              <a:t> </a:t>
            </a:r>
            <a:r>
              <a:rPr sz="2600" b="1" spc="-35" dirty="0">
                <a:latin typeface="Times New Roman"/>
                <a:cs typeface="Times New Roman"/>
              </a:rPr>
              <a:t>se</a:t>
            </a:r>
            <a:r>
              <a:rPr sz="2600" b="1" spc="20" dirty="0">
                <a:latin typeface="Times New Roman"/>
                <a:cs typeface="Times New Roman"/>
              </a:rPr>
              <a:t>rvices.</a:t>
            </a:r>
            <a:endParaRPr sz="2600">
              <a:latin typeface="Times New Roman"/>
              <a:cs typeface="Times New Roman"/>
            </a:endParaRPr>
          </a:p>
          <a:p>
            <a:pPr marL="190500" marR="297180" indent="-178435">
              <a:lnSpc>
                <a:spcPts val="2810"/>
              </a:lnSpc>
              <a:spcBef>
                <a:spcPts val="600"/>
              </a:spcBef>
              <a:buClr>
                <a:srgbClr val="FF3300"/>
              </a:buClr>
              <a:buSzPct val="69230"/>
              <a:buFont typeface="Arial MT"/>
              <a:buChar char="•"/>
              <a:tabLst>
                <a:tab pos="191135" algn="l"/>
              </a:tabLst>
            </a:pPr>
            <a:r>
              <a:rPr sz="26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Increased</a:t>
            </a:r>
            <a:r>
              <a:rPr sz="2600" b="1" spc="-7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information</a:t>
            </a:r>
            <a:r>
              <a:rPr sz="2600" b="1" spc="-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30" dirty="0">
                <a:solidFill>
                  <a:srgbClr val="006FC0"/>
                </a:solidFill>
                <a:latin typeface="Times New Roman"/>
                <a:cs typeface="Times New Roman"/>
              </a:rPr>
              <a:t>exchange</a:t>
            </a:r>
            <a:r>
              <a:rPr sz="26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between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different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departments </a:t>
            </a:r>
            <a:r>
              <a:rPr sz="2600" b="1" spc="25" dirty="0">
                <a:latin typeface="Times New Roman"/>
                <a:cs typeface="Times New Roman"/>
              </a:rPr>
              <a:t>in </a:t>
            </a:r>
            <a:r>
              <a:rPr sz="2600" spc="-160" dirty="0">
                <a:latin typeface="Times New Roman"/>
                <a:cs typeface="Times New Roman"/>
              </a:rPr>
              <a:t>an </a:t>
            </a:r>
            <a:r>
              <a:rPr sz="2600" b="1" spc="10" dirty="0">
                <a:latin typeface="Times New Roman"/>
                <a:cs typeface="Times New Roman"/>
              </a:rPr>
              <a:t>organization</a:t>
            </a:r>
            <a:r>
              <a:rPr sz="2600" spc="10" dirty="0">
                <a:latin typeface="Times New Roman"/>
                <a:cs typeface="Times New Roman"/>
              </a:rPr>
              <a:t>, </a:t>
            </a:r>
            <a:r>
              <a:rPr sz="2600" spc="-40" dirty="0">
                <a:latin typeface="Times New Roman"/>
                <a:cs typeface="Times New Roman"/>
              </a:rPr>
              <a:t>or </a:t>
            </a:r>
            <a:r>
              <a:rPr sz="2600" spc="-110" dirty="0">
                <a:latin typeface="Times New Roman"/>
                <a:cs typeface="Times New Roman"/>
              </a:rPr>
              <a:t>between 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b="1" spc="5" dirty="0">
                <a:latin typeface="Times New Roman"/>
                <a:cs typeface="Times New Roman"/>
              </a:rPr>
              <a:t>individuals.</a:t>
            </a:r>
            <a:endParaRPr sz="2600">
              <a:latin typeface="Times New Roman"/>
              <a:cs typeface="Times New Roman"/>
            </a:endParaRPr>
          </a:p>
          <a:p>
            <a:pPr marL="190500" marR="1255395" indent="-178435">
              <a:lnSpc>
                <a:spcPts val="2810"/>
              </a:lnSpc>
              <a:spcBef>
                <a:spcPts val="590"/>
              </a:spcBef>
              <a:buClr>
                <a:srgbClr val="FF3300"/>
              </a:buClr>
              <a:buSzPct val="69230"/>
              <a:buFont typeface="Arial MT"/>
              <a:buChar char="•"/>
              <a:tabLst>
                <a:tab pos="191135" algn="l"/>
              </a:tabLst>
            </a:pPr>
            <a:r>
              <a:rPr sz="2600" spc="-130" dirty="0">
                <a:latin typeface="Times New Roman"/>
                <a:cs typeface="Times New Roman"/>
              </a:rPr>
              <a:t>The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30" dirty="0">
                <a:latin typeface="Times New Roman"/>
                <a:cs typeface="Times New Roman"/>
              </a:rPr>
              <a:t>t</a:t>
            </a:r>
            <a:r>
              <a:rPr sz="2600" spc="10" dirty="0">
                <a:latin typeface="Times New Roman"/>
                <a:cs typeface="Times New Roman"/>
              </a:rPr>
              <a:t>r</a:t>
            </a:r>
            <a:r>
              <a:rPr sz="2600" spc="-105" dirty="0">
                <a:latin typeface="Times New Roman"/>
                <a:cs typeface="Times New Roman"/>
              </a:rPr>
              <a:t>end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b="1" spc="-25" dirty="0">
                <a:latin typeface="Times New Roman"/>
                <a:cs typeface="Times New Roman"/>
              </a:rPr>
              <a:t>autom</a:t>
            </a:r>
            <a:r>
              <a:rPr sz="2600" b="1" spc="-55" dirty="0">
                <a:latin typeface="Times New Roman"/>
                <a:cs typeface="Times New Roman"/>
              </a:rPr>
              <a:t>a</a:t>
            </a:r>
            <a:r>
              <a:rPr sz="2600" b="1" spc="35" dirty="0">
                <a:latin typeface="Times New Roman"/>
                <a:cs typeface="Times New Roman"/>
              </a:rPr>
              <a:t>t</a:t>
            </a:r>
            <a:r>
              <a:rPr sz="2600" b="1" spc="55" dirty="0">
                <a:latin typeface="Times New Roman"/>
                <a:cs typeface="Times New Roman"/>
              </a:rPr>
              <a:t>e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com</a:t>
            </a:r>
            <a:r>
              <a:rPr sz="2600" b="1" spc="-15" dirty="0">
                <a:latin typeface="Times New Roman"/>
                <a:cs typeface="Times New Roman"/>
              </a:rPr>
              <a:t>m</a:t>
            </a:r>
            <a:r>
              <a:rPr sz="2600" b="1" spc="30" dirty="0">
                <a:latin typeface="Times New Roman"/>
                <a:cs typeface="Times New Roman"/>
              </a:rPr>
              <a:t>un</a:t>
            </a:r>
            <a:r>
              <a:rPr sz="2600" b="1" spc="5" dirty="0">
                <a:latin typeface="Times New Roman"/>
                <a:cs typeface="Times New Roman"/>
              </a:rPr>
              <a:t>i</a:t>
            </a:r>
            <a:r>
              <a:rPr sz="2600" b="1" spc="-25" dirty="0">
                <a:latin typeface="Times New Roman"/>
                <a:cs typeface="Times New Roman"/>
              </a:rPr>
              <a:t>c</a:t>
            </a:r>
            <a:r>
              <a:rPr sz="2600" b="1" spc="-55" dirty="0">
                <a:latin typeface="Times New Roman"/>
                <a:cs typeface="Times New Roman"/>
              </a:rPr>
              <a:t>a</a:t>
            </a:r>
            <a:r>
              <a:rPr sz="2600" b="1" spc="35" dirty="0">
                <a:latin typeface="Times New Roman"/>
                <a:cs typeface="Times New Roman"/>
              </a:rPr>
              <a:t>tio</a:t>
            </a:r>
            <a:r>
              <a:rPr sz="2600" b="1" spc="65" dirty="0">
                <a:latin typeface="Times New Roman"/>
                <a:cs typeface="Times New Roman"/>
              </a:rPr>
              <a:t>n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latin typeface="Times New Roman"/>
                <a:cs typeface="Times New Roman"/>
              </a:rPr>
              <a:t>and  manufacturing</a:t>
            </a:r>
            <a:r>
              <a:rPr sz="2600" b="1" spc="-8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process.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41668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95" dirty="0"/>
              <a:t>LAN</a:t>
            </a:r>
            <a:r>
              <a:rPr sz="4000" spc="-50" dirty="0"/>
              <a:t> </a:t>
            </a:r>
            <a:r>
              <a:rPr sz="4000" spc="-35" dirty="0"/>
              <a:t>Disadvantages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2790" marR="28194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734060" algn="l"/>
              </a:tabLst>
            </a:pPr>
            <a:r>
              <a:rPr sz="2600" b="1" spc="-105" dirty="0">
                <a:latin typeface="Times New Roman"/>
                <a:cs typeface="Times New Roman"/>
              </a:rPr>
              <a:t>S</a:t>
            </a:r>
            <a:r>
              <a:rPr sz="2600" b="1" spc="-114" dirty="0">
                <a:latin typeface="Times New Roman"/>
                <a:cs typeface="Times New Roman"/>
              </a:rPr>
              <a:t>p</a:t>
            </a:r>
            <a:r>
              <a:rPr sz="2600" b="1" spc="15" dirty="0">
                <a:latin typeface="Times New Roman"/>
                <a:cs typeface="Times New Roman"/>
              </a:rPr>
              <a:t>ecia</a:t>
            </a:r>
            <a:r>
              <a:rPr sz="2600" b="1" spc="10" dirty="0">
                <a:latin typeface="Times New Roman"/>
                <a:cs typeface="Times New Roman"/>
              </a:rPr>
              <a:t>l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secu</a:t>
            </a:r>
            <a:r>
              <a:rPr sz="2600" b="1" spc="3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ity</a:t>
            </a:r>
            <a:r>
              <a:rPr sz="26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measu</a:t>
            </a:r>
            <a:r>
              <a:rPr sz="26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26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5" dirty="0"/>
              <a:t>a</a:t>
            </a:r>
            <a:r>
              <a:rPr sz="2600" spc="-100" dirty="0"/>
              <a:t>re</a:t>
            </a:r>
            <a:r>
              <a:rPr sz="2600" spc="-75" dirty="0"/>
              <a:t> </a:t>
            </a:r>
            <a:r>
              <a:rPr sz="2600" spc="-105" dirty="0"/>
              <a:t>nee</a:t>
            </a:r>
            <a:r>
              <a:rPr sz="2600" spc="-125" dirty="0"/>
              <a:t>d</a:t>
            </a:r>
            <a:r>
              <a:rPr sz="2600" spc="-105" dirty="0"/>
              <a:t>ed</a:t>
            </a:r>
            <a:r>
              <a:rPr sz="2600" spc="-85" dirty="0"/>
              <a:t> </a:t>
            </a:r>
            <a:r>
              <a:rPr sz="2600" b="1" spc="50" dirty="0">
                <a:latin typeface="Times New Roman"/>
                <a:cs typeface="Times New Roman"/>
              </a:rPr>
              <a:t>t</a:t>
            </a:r>
            <a:r>
              <a:rPr sz="2600" b="1" spc="85" dirty="0">
                <a:latin typeface="Times New Roman"/>
                <a:cs typeface="Times New Roman"/>
              </a:rPr>
              <a:t>o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sto</a:t>
            </a:r>
            <a:r>
              <a:rPr sz="2600" b="1" spc="35" dirty="0">
                <a:latin typeface="Times New Roman"/>
                <a:cs typeface="Times New Roman"/>
              </a:rPr>
              <a:t>p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spc="-100" dirty="0"/>
              <a:t>use</a:t>
            </a:r>
            <a:r>
              <a:rPr sz="2600" spc="-35" dirty="0"/>
              <a:t>r</a:t>
            </a:r>
            <a:r>
              <a:rPr sz="2600" spc="-150" dirty="0"/>
              <a:t>s  </a:t>
            </a:r>
            <a:r>
              <a:rPr sz="2600" spc="-114" dirty="0"/>
              <a:t>from</a:t>
            </a:r>
            <a:r>
              <a:rPr sz="2600" spc="-70" dirty="0"/>
              <a:t> </a:t>
            </a:r>
            <a:r>
              <a:rPr sz="2600" b="1" spc="5" dirty="0">
                <a:latin typeface="Times New Roman"/>
                <a:cs typeface="Times New Roman"/>
              </a:rPr>
              <a:t>using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spc="-30" dirty="0">
                <a:latin typeface="Times New Roman"/>
                <a:cs typeface="Times New Roman"/>
              </a:rPr>
              <a:t>programs</a:t>
            </a:r>
            <a:r>
              <a:rPr sz="2600" b="1" spc="-85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latin typeface="Times New Roman"/>
                <a:cs typeface="Times New Roman"/>
              </a:rPr>
              <a:t>and</a:t>
            </a:r>
            <a:r>
              <a:rPr sz="2600" b="1" spc="-85" dirty="0">
                <a:latin typeface="Times New Roman"/>
                <a:cs typeface="Times New Roman"/>
              </a:rPr>
              <a:t> </a:t>
            </a:r>
            <a:r>
              <a:rPr sz="2600" b="1" spc="-45" dirty="0">
                <a:latin typeface="Times New Roman"/>
                <a:cs typeface="Times New Roman"/>
              </a:rPr>
              <a:t>data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spc="-20" dirty="0">
                <a:latin typeface="Times New Roman"/>
                <a:cs typeface="Times New Roman"/>
              </a:rPr>
              <a:t>that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they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spc="25" dirty="0">
                <a:latin typeface="Times New Roman"/>
                <a:cs typeface="Times New Roman"/>
              </a:rPr>
              <a:t>should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spc="50" dirty="0">
                <a:latin typeface="Times New Roman"/>
                <a:cs typeface="Times New Roman"/>
              </a:rPr>
              <a:t>not </a:t>
            </a:r>
            <a:r>
              <a:rPr sz="2600" b="1" spc="-635" dirty="0">
                <a:latin typeface="Times New Roman"/>
                <a:cs typeface="Times New Roman"/>
              </a:rPr>
              <a:t> </a:t>
            </a:r>
            <a:r>
              <a:rPr sz="2600" b="1" spc="-45" dirty="0">
                <a:latin typeface="Times New Roman"/>
                <a:cs typeface="Times New Roman"/>
              </a:rPr>
              <a:t>have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access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spc="60" dirty="0">
                <a:latin typeface="Times New Roman"/>
                <a:cs typeface="Times New Roman"/>
              </a:rPr>
              <a:t>to</a:t>
            </a:r>
            <a:r>
              <a:rPr sz="2600" spc="60" dirty="0"/>
              <a:t>;</a:t>
            </a:r>
            <a:endParaRPr sz="2600">
              <a:latin typeface="Times New Roman"/>
              <a:cs typeface="Times New Roman"/>
            </a:endParaRPr>
          </a:p>
          <a:p>
            <a:pPr marL="923290" lvl="1" indent="-191135">
              <a:lnSpc>
                <a:spcPct val="100000"/>
              </a:lnSpc>
              <a:buClr>
                <a:srgbClr val="FF0000"/>
              </a:buClr>
              <a:buFont typeface="Times New Roman"/>
              <a:buChar char="•"/>
              <a:tabLst>
                <a:tab pos="924560" algn="l"/>
              </a:tabLst>
            </a:pPr>
            <a:r>
              <a:rPr sz="2600" b="1" spc="-20" dirty="0">
                <a:latin typeface="Times New Roman"/>
                <a:cs typeface="Times New Roman"/>
              </a:rPr>
              <a:t>Ne</a:t>
            </a:r>
            <a:r>
              <a:rPr sz="2600" b="1" spc="-5" dirty="0">
                <a:latin typeface="Times New Roman"/>
                <a:cs typeface="Times New Roman"/>
              </a:rPr>
              <a:t>t</a:t>
            </a:r>
            <a:r>
              <a:rPr sz="2600" b="1" spc="30" dirty="0">
                <a:latin typeface="Times New Roman"/>
                <a:cs typeface="Times New Roman"/>
              </a:rPr>
              <a:t>w</a:t>
            </a:r>
            <a:r>
              <a:rPr sz="2600" b="1" spc="-10" dirty="0">
                <a:latin typeface="Times New Roman"/>
                <a:cs typeface="Times New Roman"/>
              </a:rPr>
              <a:t>orks</a:t>
            </a:r>
            <a:r>
              <a:rPr sz="2600" b="1" spc="-8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5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fficult</a:t>
            </a:r>
            <a:r>
              <a:rPr sz="26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5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600" b="1" spc="8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26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se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6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up</a:t>
            </a:r>
            <a:r>
              <a:rPr sz="26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need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endParaRPr sz="2600">
              <a:latin typeface="Times New Roman"/>
              <a:cs typeface="Times New Roman"/>
            </a:endParaRPr>
          </a:p>
          <a:p>
            <a:pPr marL="732790">
              <a:lnSpc>
                <a:spcPct val="100000"/>
              </a:lnSpc>
            </a:pPr>
            <a:r>
              <a:rPr sz="2600" b="1" spc="-65" dirty="0">
                <a:latin typeface="Times New Roman"/>
                <a:cs typeface="Times New Roman"/>
              </a:rPr>
              <a:t>ma</a:t>
            </a:r>
            <a:r>
              <a:rPr sz="2600" b="1" spc="-40" dirty="0">
                <a:latin typeface="Times New Roman"/>
                <a:cs typeface="Times New Roman"/>
              </a:rPr>
              <a:t>i</a:t>
            </a:r>
            <a:r>
              <a:rPr sz="2600" b="1" dirty="0">
                <a:latin typeface="Times New Roman"/>
                <a:cs typeface="Times New Roman"/>
              </a:rPr>
              <a:t>ntai</a:t>
            </a:r>
            <a:r>
              <a:rPr sz="2600" b="1" spc="-10" dirty="0">
                <a:latin typeface="Times New Roman"/>
                <a:cs typeface="Times New Roman"/>
              </a:rPr>
              <a:t>n</a:t>
            </a:r>
            <a:r>
              <a:rPr sz="2600" b="1" spc="45" dirty="0">
                <a:latin typeface="Times New Roman"/>
                <a:cs typeface="Times New Roman"/>
              </a:rPr>
              <a:t>e</a:t>
            </a:r>
            <a:r>
              <a:rPr sz="2600" b="1" spc="60" dirty="0">
                <a:latin typeface="Times New Roman"/>
                <a:cs typeface="Times New Roman"/>
              </a:rPr>
              <a:t>d</a:t>
            </a:r>
            <a:r>
              <a:rPr sz="2600" b="1" spc="-50" dirty="0">
                <a:latin typeface="Times New Roman"/>
                <a:cs typeface="Times New Roman"/>
              </a:rPr>
              <a:t> </a:t>
            </a:r>
            <a:r>
              <a:rPr sz="2600" spc="-185" dirty="0"/>
              <a:t>b</a:t>
            </a:r>
            <a:r>
              <a:rPr sz="2600" spc="-215" dirty="0"/>
              <a:t>y</a:t>
            </a:r>
            <a:r>
              <a:rPr sz="2600" spc="-70" dirty="0"/>
              <a:t> </a:t>
            </a:r>
            <a:r>
              <a:rPr sz="2600" b="1" spc="-10" dirty="0">
                <a:latin typeface="Times New Roman"/>
                <a:cs typeface="Times New Roman"/>
              </a:rPr>
              <a:t>sk</a:t>
            </a:r>
            <a:r>
              <a:rPr sz="2600" b="1" spc="-15" dirty="0">
                <a:latin typeface="Times New Roman"/>
                <a:cs typeface="Times New Roman"/>
              </a:rPr>
              <a:t>i</a:t>
            </a:r>
            <a:r>
              <a:rPr sz="2600" b="1" spc="35" dirty="0">
                <a:latin typeface="Times New Roman"/>
                <a:cs typeface="Times New Roman"/>
              </a:rPr>
              <a:t>l</a:t>
            </a:r>
            <a:r>
              <a:rPr sz="2600" b="1" spc="25" dirty="0">
                <a:latin typeface="Times New Roman"/>
                <a:cs typeface="Times New Roman"/>
              </a:rPr>
              <a:t>l</a:t>
            </a:r>
            <a:r>
              <a:rPr sz="2600" b="1" spc="45" dirty="0">
                <a:latin typeface="Times New Roman"/>
                <a:cs typeface="Times New Roman"/>
              </a:rPr>
              <a:t>e</a:t>
            </a:r>
            <a:r>
              <a:rPr sz="2600" b="1" spc="60" dirty="0">
                <a:latin typeface="Times New Roman"/>
                <a:cs typeface="Times New Roman"/>
              </a:rPr>
              <a:t>d</a:t>
            </a:r>
            <a:r>
              <a:rPr sz="2600" b="1" spc="-45" dirty="0">
                <a:latin typeface="Times New Roman"/>
                <a:cs typeface="Times New Roman"/>
              </a:rPr>
              <a:t> </a:t>
            </a:r>
            <a:r>
              <a:rPr sz="2600" b="1" spc="45" dirty="0">
                <a:latin typeface="Times New Roman"/>
                <a:cs typeface="Times New Roman"/>
              </a:rPr>
              <a:t>te</a:t>
            </a:r>
            <a:r>
              <a:rPr sz="2600" b="1" spc="65" dirty="0">
                <a:latin typeface="Times New Roman"/>
                <a:cs typeface="Times New Roman"/>
              </a:rPr>
              <a:t>c</a:t>
            </a:r>
            <a:r>
              <a:rPr sz="2600" b="1" spc="30" dirty="0">
                <a:latin typeface="Times New Roman"/>
                <a:cs typeface="Times New Roman"/>
              </a:rPr>
              <a:t>hn</a:t>
            </a:r>
            <a:r>
              <a:rPr sz="2600" b="1" spc="5" dirty="0">
                <a:latin typeface="Times New Roman"/>
                <a:cs typeface="Times New Roman"/>
              </a:rPr>
              <a:t>i</a:t>
            </a:r>
            <a:r>
              <a:rPr sz="2600" b="1" spc="-5" dirty="0">
                <a:latin typeface="Times New Roman"/>
                <a:cs typeface="Times New Roman"/>
              </a:rPr>
              <a:t>cian</a:t>
            </a:r>
            <a:r>
              <a:rPr sz="2600" b="1" spc="-60" dirty="0">
                <a:latin typeface="Times New Roman"/>
                <a:cs typeface="Times New Roman"/>
              </a:rPr>
              <a:t>s</a:t>
            </a:r>
            <a:r>
              <a:rPr sz="2600" spc="110" dirty="0"/>
              <a:t>.</a:t>
            </a:r>
            <a:endParaRPr sz="2600">
              <a:latin typeface="Times New Roman"/>
              <a:cs typeface="Times New Roman"/>
            </a:endParaRPr>
          </a:p>
          <a:p>
            <a:pPr marL="732790" marR="5080" lvl="1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Times New Roman"/>
              <a:buChar char="•"/>
              <a:tabLst>
                <a:tab pos="924560" algn="l"/>
              </a:tabLst>
            </a:pPr>
            <a:r>
              <a:rPr sz="2600" b="1" spc="-60" dirty="0">
                <a:latin typeface="Times New Roman"/>
                <a:cs typeface="Times New Roman"/>
              </a:rPr>
              <a:t>If </a:t>
            </a:r>
            <a:r>
              <a:rPr sz="2600" b="1" spc="35" dirty="0">
                <a:latin typeface="Times New Roman"/>
                <a:cs typeface="Times New Roman"/>
              </a:rPr>
              <a:t>the </a:t>
            </a:r>
            <a:r>
              <a:rPr sz="2600" b="1" spc="20" dirty="0">
                <a:latin typeface="Times New Roman"/>
                <a:cs typeface="Times New Roman"/>
              </a:rPr>
              <a:t>file </a:t>
            </a:r>
            <a:r>
              <a:rPr sz="2600" b="1" spc="-25" dirty="0">
                <a:latin typeface="Times New Roman"/>
                <a:cs typeface="Times New Roman"/>
              </a:rPr>
              <a:t>server </a:t>
            </a:r>
            <a:r>
              <a:rPr sz="2600" b="1" spc="25" dirty="0">
                <a:latin typeface="Times New Roman"/>
                <a:cs typeface="Times New Roman"/>
              </a:rPr>
              <a:t>develops </a:t>
            </a:r>
            <a:r>
              <a:rPr sz="2600" b="1" spc="-110" dirty="0">
                <a:latin typeface="Times New Roman"/>
                <a:cs typeface="Times New Roman"/>
              </a:rPr>
              <a:t>a </a:t>
            </a:r>
            <a:r>
              <a:rPr sz="2600" b="1" spc="5" dirty="0">
                <a:latin typeface="Times New Roman"/>
                <a:cs typeface="Times New Roman"/>
              </a:rPr>
              <a:t>serious </a:t>
            </a:r>
            <a:r>
              <a:rPr sz="2600" b="1" spc="-5" dirty="0">
                <a:latin typeface="Times New Roman"/>
                <a:cs typeface="Times New Roman"/>
              </a:rPr>
              <a:t>fault, </a:t>
            </a:r>
            <a:r>
              <a:rPr sz="26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all </a:t>
            </a:r>
            <a:r>
              <a:rPr sz="2600" b="1" spc="3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600" b="1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users</a:t>
            </a:r>
            <a:r>
              <a:rPr sz="26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26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affected</a:t>
            </a:r>
            <a:r>
              <a:rPr sz="2600" spc="20" dirty="0">
                <a:latin typeface="Times New Roman"/>
                <a:cs typeface="Times New Roman"/>
              </a:rPr>
              <a:t>,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rather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than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just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user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case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sta</a:t>
            </a:r>
            <a:r>
              <a:rPr sz="2600" spc="-165" dirty="0">
                <a:latin typeface="Times New Roman"/>
                <a:cs typeface="Times New Roman"/>
              </a:rPr>
              <a:t>n</a:t>
            </a:r>
            <a:r>
              <a:rPr sz="2600" spc="-120" dirty="0">
                <a:latin typeface="Times New Roman"/>
                <a:cs typeface="Times New Roman"/>
              </a:rPr>
              <a:t>d</a:t>
            </a:r>
            <a:r>
              <a:rPr sz="2600" spc="-55" dirty="0">
                <a:latin typeface="Times New Roman"/>
                <a:cs typeface="Times New Roman"/>
              </a:rPr>
              <a:t>-</a:t>
            </a:r>
            <a:r>
              <a:rPr sz="2600" spc="-130" dirty="0">
                <a:latin typeface="Times New Roman"/>
                <a:cs typeface="Times New Roman"/>
              </a:rPr>
              <a:t>al</a:t>
            </a:r>
            <a:r>
              <a:rPr sz="2600" spc="-180" dirty="0">
                <a:latin typeface="Times New Roman"/>
                <a:cs typeface="Times New Roman"/>
              </a:rPr>
              <a:t>o</a:t>
            </a:r>
            <a:r>
              <a:rPr sz="2600" spc="-105" dirty="0">
                <a:latin typeface="Times New Roman"/>
                <a:cs typeface="Times New Roman"/>
              </a:rPr>
              <a:t>ne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0" dirty="0">
                <a:latin typeface="Times New Roman"/>
                <a:cs typeface="Times New Roman"/>
              </a:rPr>
              <a:t>ma</a:t>
            </a:r>
            <a:r>
              <a:rPr sz="2600" spc="-105" dirty="0">
                <a:latin typeface="Times New Roman"/>
                <a:cs typeface="Times New Roman"/>
              </a:rPr>
              <a:t>c</a:t>
            </a:r>
            <a:r>
              <a:rPr sz="2600" spc="-125" dirty="0">
                <a:latin typeface="Times New Roman"/>
                <a:cs typeface="Times New Roman"/>
              </a:rPr>
              <a:t>hin</a:t>
            </a:r>
            <a:r>
              <a:rPr sz="2600" spc="-180" dirty="0">
                <a:latin typeface="Times New Roman"/>
                <a:cs typeface="Times New Roman"/>
              </a:rPr>
              <a:t>e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6250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5" dirty="0"/>
              <a:t>Applications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397115" cy="37452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65" dirty="0">
                <a:latin typeface="Times New Roman"/>
                <a:cs typeface="Times New Roman"/>
              </a:rPr>
              <a:t>One </a:t>
            </a:r>
            <a:r>
              <a:rPr sz="2600" spc="-150" dirty="0">
                <a:latin typeface="Times New Roman"/>
                <a:cs typeface="Times New Roman"/>
              </a:rPr>
              <a:t>of </a:t>
            </a:r>
            <a:r>
              <a:rPr sz="2600" spc="-80" dirty="0">
                <a:latin typeface="Times New Roman"/>
                <a:cs typeface="Times New Roman"/>
              </a:rPr>
              <a:t>the </a:t>
            </a:r>
            <a:r>
              <a:rPr sz="2600" spc="-90" dirty="0">
                <a:latin typeface="Times New Roman"/>
                <a:cs typeface="Times New Roman"/>
              </a:rPr>
              <a:t>computer </a:t>
            </a:r>
            <a:r>
              <a:rPr sz="2600" spc="-120" dirty="0">
                <a:latin typeface="Times New Roman"/>
                <a:cs typeface="Times New Roman"/>
              </a:rPr>
              <a:t>in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20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network </a:t>
            </a:r>
            <a:r>
              <a:rPr sz="2600" spc="-160" dirty="0">
                <a:latin typeface="Times New Roman"/>
                <a:cs typeface="Times New Roman"/>
              </a:rPr>
              <a:t>can </a:t>
            </a:r>
            <a:r>
              <a:rPr sz="2600" spc="-125" dirty="0">
                <a:latin typeface="Times New Roman"/>
                <a:cs typeface="Times New Roman"/>
              </a:rPr>
              <a:t>become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20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server 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se</a:t>
            </a:r>
            <a:r>
              <a:rPr sz="2600" spc="25" dirty="0">
                <a:latin typeface="Times New Roman"/>
                <a:cs typeface="Times New Roman"/>
              </a:rPr>
              <a:t>r</a:t>
            </a:r>
            <a:r>
              <a:rPr sz="2600" spc="-170" dirty="0">
                <a:latin typeface="Times New Roman"/>
                <a:cs typeface="Times New Roman"/>
              </a:rPr>
              <a:t>ving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al</a:t>
            </a:r>
            <a:r>
              <a:rPr sz="2600" spc="-114" dirty="0">
                <a:latin typeface="Times New Roman"/>
                <a:cs typeface="Times New Roman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45" dirty="0">
                <a:latin typeface="Times New Roman"/>
                <a:cs typeface="Times New Roman"/>
              </a:rPr>
              <a:t>emaining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o</a:t>
            </a:r>
            <a:r>
              <a:rPr sz="2600" spc="-140" dirty="0">
                <a:latin typeface="Times New Roman"/>
                <a:cs typeface="Times New Roman"/>
              </a:rPr>
              <a:t>mp</a:t>
            </a:r>
            <a:r>
              <a:rPr sz="2600" spc="-120" dirty="0">
                <a:latin typeface="Times New Roman"/>
                <a:cs typeface="Times New Roman"/>
              </a:rPr>
              <a:t>u</a:t>
            </a:r>
            <a:r>
              <a:rPr sz="2600" spc="-10" dirty="0">
                <a:latin typeface="Times New Roman"/>
                <a:cs typeface="Times New Roman"/>
              </a:rPr>
              <a:t>te</a:t>
            </a:r>
            <a:r>
              <a:rPr sz="2600" spc="30" dirty="0">
                <a:latin typeface="Times New Roman"/>
                <a:cs typeface="Times New Roman"/>
              </a:rPr>
              <a:t>r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c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95" dirty="0">
                <a:latin typeface="Times New Roman"/>
                <a:cs typeface="Times New Roman"/>
              </a:rPr>
              <a:t>lle</a:t>
            </a:r>
            <a:r>
              <a:rPr sz="2600" spc="-135" dirty="0">
                <a:latin typeface="Times New Roman"/>
                <a:cs typeface="Times New Roman"/>
              </a:rPr>
              <a:t>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c</a:t>
            </a:r>
            <a:r>
              <a:rPr sz="2600" spc="-105" dirty="0">
                <a:latin typeface="Times New Roman"/>
                <a:cs typeface="Times New Roman"/>
              </a:rPr>
              <a:t>lient</a:t>
            </a:r>
            <a:r>
              <a:rPr sz="2600" spc="-170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Times New Roman"/>
                <a:cs typeface="Times New Roman"/>
              </a:rPr>
              <a:t>S</a:t>
            </a:r>
            <a:r>
              <a:rPr sz="2600" spc="-240" dirty="0">
                <a:latin typeface="Times New Roman"/>
                <a:cs typeface="Times New Roman"/>
              </a:rPr>
              <a:t>o</a:t>
            </a:r>
            <a:r>
              <a:rPr sz="2600" spc="-85" dirty="0">
                <a:latin typeface="Times New Roman"/>
                <a:cs typeface="Times New Roman"/>
              </a:rPr>
              <a:t>f</a:t>
            </a:r>
            <a:r>
              <a:rPr sz="2600" spc="-80" dirty="0">
                <a:latin typeface="Times New Roman"/>
                <a:cs typeface="Times New Roman"/>
              </a:rPr>
              <a:t>t</a:t>
            </a:r>
            <a:r>
              <a:rPr sz="2600" spc="-170" dirty="0">
                <a:latin typeface="Times New Roman"/>
                <a:cs typeface="Times New Roman"/>
              </a:rPr>
              <a:t>w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</a:t>
            </a:r>
            <a:r>
              <a:rPr sz="2600" spc="-70" dirty="0">
                <a:latin typeface="Times New Roman"/>
                <a:cs typeface="Times New Roman"/>
              </a:rPr>
              <a:t>e  </a:t>
            </a:r>
            <a:r>
              <a:rPr sz="2600" spc="-160" dirty="0">
                <a:latin typeface="Times New Roman"/>
                <a:cs typeface="Times New Roman"/>
              </a:rPr>
              <a:t>can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stored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</a:t>
            </a:r>
            <a:r>
              <a:rPr sz="2600" spc="-75" dirty="0">
                <a:latin typeface="Times New Roman"/>
                <a:cs typeface="Times New Roman"/>
              </a:rPr>
              <a:t> 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server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used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by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 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45" dirty="0">
                <a:latin typeface="Times New Roman"/>
                <a:cs typeface="Times New Roman"/>
              </a:rPr>
              <a:t>emaining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clien</a:t>
            </a:r>
            <a:r>
              <a:rPr sz="2600" spc="-85" dirty="0">
                <a:latin typeface="Times New Roman"/>
                <a:cs typeface="Times New Roman"/>
              </a:rPr>
              <a:t>t</a:t>
            </a:r>
            <a:r>
              <a:rPr sz="2600" spc="-250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16002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20" dirty="0">
                <a:latin typeface="Times New Roman"/>
                <a:cs typeface="Times New Roman"/>
              </a:rPr>
              <a:t>Connecting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Locally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all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workstations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building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let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them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communicate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with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each</a:t>
            </a:r>
            <a:r>
              <a:rPr sz="2600" spc="-65" dirty="0">
                <a:latin typeface="Times New Roman"/>
                <a:cs typeface="Times New Roman"/>
              </a:rPr>
              <a:t> other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locally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without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any </a:t>
            </a:r>
            <a:r>
              <a:rPr sz="2600" spc="-19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internet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access.</a:t>
            </a:r>
            <a:endParaRPr sz="2600">
              <a:latin typeface="Times New Roman"/>
              <a:cs typeface="Times New Roman"/>
            </a:endParaRPr>
          </a:p>
          <a:p>
            <a:pPr marL="286385" marR="77533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60" dirty="0">
                <a:latin typeface="Times New Roman"/>
                <a:cs typeface="Times New Roman"/>
              </a:rPr>
              <a:t>Sharing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common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resources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like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printers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etc </a:t>
            </a:r>
            <a:r>
              <a:rPr sz="2600" spc="-100" dirty="0">
                <a:latin typeface="Times New Roman"/>
                <a:cs typeface="Times New Roman"/>
              </a:rPr>
              <a:t>are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some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o</a:t>
            </a:r>
            <a:r>
              <a:rPr sz="2600" spc="-145" dirty="0">
                <a:latin typeface="Times New Roman"/>
                <a:cs typeface="Times New Roman"/>
              </a:rPr>
              <a:t>mmo</a:t>
            </a:r>
            <a:r>
              <a:rPr sz="2600" spc="-105" dirty="0">
                <a:latin typeface="Times New Roman"/>
                <a:cs typeface="Times New Roman"/>
              </a:rPr>
              <a:t>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ap</a:t>
            </a:r>
            <a:r>
              <a:rPr sz="2600" spc="-160" dirty="0">
                <a:latin typeface="Times New Roman"/>
                <a:cs typeface="Times New Roman"/>
              </a:rPr>
              <a:t>p</a:t>
            </a:r>
            <a:r>
              <a:rPr sz="2600" spc="-140" dirty="0">
                <a:latin typeface="Times New Roman"/>
                <a:cs typeface="Times New Roman"/>
              </a:rPr>
              <a:t>lic</a:t>
            </a:r>
            <a:r>
              <a:rPr sz="2600" spc="-215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tio</a:t>
            </a:r>
            <a:r>
              <a:rPr sz="2600" spc="-114" dirty="0">
                <a:latin typeface="Times New Roman"/>
                <a:cs typeface="Times New Roman"/>
              </a:rPr>
              <a:t>n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80" dirty="0">
                <a:latin typeface="Times New Roman"/>
                <a:cs typeface="Times New Roman"/>
              </a:rPr>
              <a:t>L</a:t>
            </a:r>
            <a:r>
              <a:rPr sz="2600" spc="-340" dirty="0">
                <a:latin typeface="Times New Roman"/>
                <a:cs typeface="Times New Roman"/>
              </a:rPr>
              <a:t>A</a:t>
            </a:r>
            <a:r>
              <a:rPr sz="2600" spc="-300" dirty="0">
                <a:latin typeface="Times New Roman"/>
                <a:cs typeface="Times New Roman"/>
              </a:rPr>
              <a:t>N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70008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/>
              <a:t>MAN-</a:t>
            </a:r>
            <a:r>
              <a:rPr sz="4000" spc="-15" dirty="0"/>
              <a:t> </a:t>
            </a:r>
            <a:r>
              <a:rPr sz="4000" spc="-45" dirty="0"/>
              <a:t>Metropolitan</a:t>
            </a:r>
            <a:r>
              <a:rPr sz="4000" spc="-5" dirty="0"/>
              <a:t> </a:t>
            </a:r>
            <a:r>
              <a:rPr sz="4000" spc="-90" dirty="0"/>
              <a:t>Area</a:t>
            </a:r>
            <a:r>
              <a:rPr sz="4000" spc="-20" dirty="0"/>
              <a:t> </a:t>
            </a:r>
            <a:r>
              <a:rPr sz="4000" spc="-70" dirty="0"/>
              <a:t>Network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58239"/>
            <a:ext cx="7592695" cy="31807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b</a:t>
            </a:r>
            <a:r>
              <a:rPr sz="2600" spc="-165" dirty="0">
                <a:latin typeface="Times New Roman"/>
                <a:cs typeface="Times New Roman"/>
              </a:rPr>
              <a:t>asical</a:t>
            </a:r>
            <a:r>
              <a:rPr sz="2600" spc="-180" dirty="0">
                <a:latin typeface="Times New Roman"/>
                <a:cs typeface="Times New Roman"/>
              </a:rPr>
              <a:t>l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big</a:t>
            </a:r>
            <a:r>
              <a:rPr sz="2600" spc="-204" dirty="0">
                <a:latin typeface="Times New Roman"/>
                <a:cs typeface="Times New Roman"/>
              </a:rPr>
              <a:t>g</a:t>
            </a:r>
            <a:r>
              <a:rPr sz="2600" spc="-35" dirty="0">
                <a:latin typeface="Times New Roman"/>
                <a:cs typeface="Times New Roman"/>
              </a:rPr>
              <a:t>er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40" dirty="0">
                <a:latin typeface="Times New Roman"/>
                <a:cs typeface="Times New Roman"/>
              </a:rPr>
              <a:t>e</a:t>
            </a:r>
            <a:r>
              <a:rPr sz="2600" spc="20" dirty="0">
                <a:latin typeface="Times New Roman"/>
                <a:cs typeface="Times New Roman"/>
              </a:rPr>
              <a:t>r</a:t>
            </a:r>
            <a:r>
              <a:rPr sz="2600" spc="-135" dirty="0">
                <a:latin typeface="Times New Roman"/>
                <a:cs typeface="Times New Roman"/>
              </a:rPr>
              <a:t>sion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85" dirty="0">
                <a:latin typeface="Times New Roman"/>
                <a:cs typeface="Times New Roman"/>
              </a:rPr>
              <a:t>L</a:t>
            </a:r>
            <a:r>
              <a:rPr sz="2600" spc="-340" dirty="0">
                <a:latin typeface="Times New Roman"/>
                <a:cs typeface="Times New Roman"/>
              </a:rPr>
              <a:t>A</a:t>
            </a:r>
            <a:r>
              <a:rPr sz="2600" spc="-300" dirty="0">
                <a:latin typeface="Times New Roman"/>
                <a:cs typeface="Times New Roman"/>
              </a:rPr>
              <a:t>N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also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called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60" dirty="0">
                <a:latin typeface="Times New Roman"/>
                <a:cs typeface="Times New Roman"/>
              </a:rPr>
              <a:t>MAN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uses</a:t>
            </a:r>
            <a:r>
              <a:rPr sz="2600" spc="-75" dirty="0">
                <a:latin typeface="Times New Roman"/>
                <a:cs typeface="Times New Roman"/>
              </a:rPr>
              <a:t> 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similar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technology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LAN.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90" dirty="0">
                <a:latin typeface="Times New Roman"/>
                <a:cs typeface="Times New Roman"/>
              </a:rPr>
              <a:t>I</a:t>
            </a:r>
            <a:r>
              <a:rPr sz="2600" spc="-70" dirty="0">
                <a:latin typeface="Times New Roman"/>
                <a:cs typeface="Times New Roman"/>
              </a:rPr>
              <a:t>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d</a:t>
            </a:r>
            <a:r>
              <a:rPr sz="2600" spc="-140" dirty="0">
                <a:latin typeface="Times New Roman"/>
                <a:cs typeface="Times New Roman"/>
              </a:rPr>
              <a:t>esign</a:t>
            </a:r>
            <a:r>
              <a:rPr sz="2600" spc="-160" dirty="0">
                <a:latin typeface="Times New Roman"/>
                <a:cs typeface="Times New Roman"/>
              </a:rPr>
              <a:t>e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ex</a:t>
            </a:r>
            <a:r>
              <a:rPr sz="2600" spc="-50" dirty="0">
                <a:latin typeface="Times New Roman"/>
                <a:cs typeface="Times New Roman"/>
              </a:rPr>
              <a:t>t</a:t>
            </a:r>
            <a:r>
              <a:rPr sz="2600" spc="-105" dirty="0">
                <a:latin typeface="Times New Roman"/>
                <a:cs typeface="Times New Roman"/>
              </a:rPr>
              <a:t>end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35" dirty="0">
                <a:latin typeface="Times New Roman"/>
                <a:cs typeface="Times New Roman"/>
              </a:rPr>
              <a:t>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65" dirty="0">
                <a:latin typeface="Times New Roman"/>
                <a:cs typeface="Times New Roman"/>
              </a:rPr>
              <a:t>en</a:t>
            </a:r>
            <a:r>
              <a:rPr sz="2600" spc="-50" dirty="0">
                <a:latin typeface="Times New Roman"/>
                <a:cs typeface="Times New Roman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i</a:t>
            </a:r>
            <a:r>
              <a:rPr sz="2600" spc="-7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cit</a:t>
            </a:r>
            <a:r>
              <a:rPr sz="2600" spc="-495" dirty="0">
                <a:latin typeface="Times New Roman"/>
                <a:cs typeface="Times New Roman"/>
              </a:rPr>
              <a:t>y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74676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90" dirty="0">
                <a:latin typeface="Times New Roman"/>
                <a:cs typeface="Times New Roman"/>
              </a:rPr>
              <a:t>I</a:t>
            </a:r>
            <a:r>
              <a:rPr sz="2600" spc="-70" dirty="0">
                <a:latin typeface="Times New Roman"/>
                <a:cs typeface="Times New Roman"/>
              </a:rPr>
              <a:t>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c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mea</a:t>
            </a:r>
            <a:r>
              <a:rPr sz="2600" spc="-140" dirty="0">
                <a:latin typeface="Times New Roman"/>
                <a:cs typeface="Times New Roman"/>
              </a:rPr>
              <a:t>n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o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85" dirty="0">
                <a:latin typeface="Times New Roman"/>
                <a:cs typeface="Times New Roman"/>
              </a:rPr>
              <a:t>ec</a:t>
            </a:r>
            <a:r>
              <a:rPr sz="2600" spc="-70" dirty="0">
                <a:latin typeface="Times New Roman"/>
                <a:cs typeface="Times New Roman"/>
              </a:rPr>
              <a:t>t</a:t>
            </a:r>
            <a:r>
              <a:rPr sz="2600" spc="-150" dirty="0">
                <a:latin typeface="Times New Roman"/>
                <a:cs typeface="Times New Roman"/>
              </a:rPr>
              <a:t>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number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85" dirty="0">
                <a:latin typeface="Times New Roman"/>
                <a:cs typeface="Times New Roman"/>
              </a:rPr>
              <a:t>L</a:t>
            </a:r>
            <a:r>
              <a:rPr sz="2600" spc="-270" dirty="0">
                <a:latin typeface="Times New Roman"/>
                <a:cs typeface="Times New Roman"/>
              </a:rPr>
              <a:t>AN</a:t>
            </a:r>
            <a:r>
              <a:rPr sz="2600" spc="-145" dirty="0">
                <a:latin typeface="Times New Roman"/>
                <a:cs typeface="Times New Roman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in</a:t>
            </a:r>
            <a:r>
              <a:rPr sz="2600" spc="-70" dirty="0">
                <a:latin typeface="Times New Roman"/>
                <a:cs typeface="Times New Roman"/>
              </a:rPr>
              <a:t>t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  </a:t>
            </a:r>
            <a:r>
              <a:rPr sz="2600" spc="-100" dirty="0">
                <a:latin typeface="Times New Roman"/>
                <a:cs typeface="Times New Roman"/>
              </a:rPr>
              <a:t>large</a:t>
            </a:r>
            <a:r>
              <a:rPr sz="2600" spc="-80" dirty="0">
                <a:latin typeface="Times New Roman"/>
                <a:cs typeface="Times New Roman"/>
              </a:rPr>
              <a:t>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ne</a:t>
            </a:r>
            <a:r>
              <a:rPr sz="2600" spc="-55" dirty="0">
                <a:latin typeface="Times New Roman"/>
                <a:cs typeface="Times New Roman"/>
              </a:rPr>
              <a:t>t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80" dirty="0">
                <a:latin typeface="Times New Roman"/>
                <a:cs typeface="Times New Roman"/>
              </a:rPr>
              <a:t>ork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it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c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single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c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175" dirty="0">
                <a:latin typeface="Times New Roman"/>
                <a:cs typeface="Times New Roman"/>
              </a:rPr>
              <a:t>b</a:t>
            </a:r>
            <a:r>
              <a:rPr sz="2600" spc="-80" dirty="0">
                <a:latin typeface="Times New Roman"/>
                <a:cs typeface="Times New Roman"/>
              </a:rPr>
              <a:t>l</a:t>
            </a:r>
            <a:r>
              <a:rPr sz="2600" spc="-175" dirty="0">
                <a:latin typeface="Times New Roman"/>
                <a:cs typeface="Times New Roman"/>
              </a:rPr>
              <a:t>e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80010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mainly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hold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operated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by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single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private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company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p</a:t>
            </a:r>
            <a:r>
              <a:rPr sz="2600" spc="-125" dirty="0">
                <a:latin typeface="Times New Roman"/>
                <a:cs typeface="Times New Roman"/>
              </a:rPr>
              <a:t>u</a:t>
            </a:r>
            <a:r>
              <a:rPr sz="2600" spc="-175" dirty="0">
                <a:latin typeface="Times New Roman"/>
                <a:cs typeface="Times New Roman"/>
              </a:rPr>
              <a:t>b</a:t>
            </a:r>
            <a:r>
              <a:rPr sz="2600" spc="-110" dirty="0">
                <a:latin typeface="Times New Roman"/>
                <a:cs typeface="Times New Roman"/>
              </a:rPr>
              <a:t>li</a:t>
            </a:r>
            <a:r>
              <a:rPr sz="2600" spc="-170" dirty="0">
                <a:latin typeface="Times New Roman"/>
                <a:cs typeface="Times New Roman"/>
              </a:rPr>
              <a:t>c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</a:t>
            </a:r>
            <a:r>
              <a:rPr sz="2600" spc="-135" dirty="0">
                <a:latin typeface="Times New Roman"/>
                <a:cs typeface="Times New Roman"/>
              </a:rPr>
              <a:t>om</a:t>
            </a:r>
            <a:r>
              <a:rPr sz="2600" spc="-120" dirty="0">
                <a:latin typeface="Times New Roman"/>
                <a:cs typeface="Times New Roman"/>
              </a:rPr>
              <a:t>p</a:t>
            </a:r>
            <a:r>
              <a:rPr sz="2600" spc="-155" dirty="0">
                <a:latin typeface="Times New Roman"/>
                <a:cs typeface="Times New Roman"/>
              </a:rPr>
              <a:t>a</a:t>
            </a:r>
            <a:r>
              <a:rPr sz="2600" spc="-225" dirty="0">
                <a:latin typeface="Times New Roman"/>
                <a:cs typeface="Times New Roman"/>
              </a:rPr>
              <a:t>n</a:t>
            </a:r>
            <a:r>
              <a:rPr sz="2600" spc="-490" dirty="0">
                <a:latin typeface="Times New Roman"/>
                <a:cs typeface="Times New Roman"/>
              </a:rPr>
              <a:t>y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MAN-</a:t>
            </a:r>
            <a:r>
              <a:rPr spc="-35" dirty="0"/>
              <a:t> Metropolitan</a:t>
            </a:r>
            <a:r>
              <a:rPr spc="-20" dirty="0"/>
              <a:t> </a:t>
            </a:r>
            <a:r>
              <a:rPr spc="-80" dirty="0"/>
              <a:t>Area</a:t>
            </a:r>
            <a:r>
              <a:rPr spc="-45" dirty="0"/>
              <a:t> </a:t>
            </a:r>
            <a:r>
              <a:rPr spc="-60" dirty="0"/>
              <a:t>Network </a:t>
            </a:r>
            <a:r>
              <a:rPr spc="-885" dirty="0"/>
              <a:t> </a:t>
            </a:r>
            <a:r>
              <a:rPr spc="-10" dirty="0"/>
              <a:t>continued….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374963"/>
            <a:ext cx="6882765" cy="282003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56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5" dirty="0">
                <a:latin typeface="Times New Roman"/>
                <a:cs typeface="Times New Roman"/>
              </a:rPr>
              <a:t>Me</a:t>
            </a:r>
            <a:r>
              <a:rPr sz="2600" spc="-80" dirty="0">
                <a:latin typeface="Times New Roman"/>
                <a:cs typeface="Times New Roman"/>
              </a:rPr>
              <a:t>t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p</a:t>
            </a:r>
            <a:r>
              <a:rPr sz="2600" spc="-95" dirty="0">
                <a:latin typeface="Times New Roman"/>
                <a:cs typeface="Times New Roman"/>
              </a:rPr>
              <a:t>olit</a:t>
            </a:r>
            <a:r>
              <a:rPr sz="2600" spc="-135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260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A</a:t>
            </a:r>
            <a:r>
              <a:rPr sz="2600" spc="-114" dirty="0">
                <a:latin typeface="Times New Roman"/>
                <a:cs typeface="Times New Roman"/>
              </a:rPr>
              <a:t>r</a:t>
            </a:r>
            <a:r>
              <a:rPr sz="2600" spc="-155" dirty="0">
                <a:latin typeface="Times New Roman"/>
                <a:cs typeface="Times New Roman"/>
              </a:rPr>
              <a:t>ea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Net</a:t>
            </a:r>
            <a:r>
              <a:rPr sz="2600" spc="-215" dirty="0">
                <a:latin typeface="Times New Roman"/>
                <a:cs typeface="Times New Roman"/>
              </a:rPr>
              <a:t>w</a:t>
            </a:r>
            <a:r>
              <a:rPr sz="2600" spc="-110" dirty="0">
                <a:latin typeface="Times New Roman"/>
                <a:cs typeface="Times New Roman"/>
              </a:rPr>
              <a:t>orks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(MAN)</a:t>
            </a:r>
            <a:endParaRPr sz="26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95" dirty="0">
                <a:latin typeface="Times New Roman"/>
                <a:cs typeface="Times New Roman"/>
              </a:rPr>
              <a:t>cit</a:t>
            </a:r>
            <a:r>
              <a:rPr sz="2400" spc="-155" dirty="0">
                <a:latin typeface="Times New Roman"/>
                <a:cs typeface="Times New Roman"/>
              </a:rPr>
              <a:t>y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114" dirty="0">
                <a:latin typeface="Times New Roman"/>
                <a:cs typeface="Times New Roman"/>
              </a:rPr>
              <a:t>wid</a:t>
            </a:r>
            <a:r>
              <a:rPr sz="2400" spc="-155" dirty="0">
                <a:latin typeface="Times New Roman"/>
                <a:cs typeface="Times New Roman"/>
              </a:rPr>
              <a:t>e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up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50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km</a:t>
            </a:r>
            <a:endParaRPr sz="2400">
              <a:latin typeface="Times New Roman"/>
              <a:cs typeface="Times New Roman"/>
            </a:endParaRPr>
          </a:p>
          <a:p>
            <a:pPr marL="560705" marR="5080" lvl="1" indent="-228600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114" dirty="0">
                <a:latin typeface="Times New Roman"/>
                <a:cs typeface="Times New Roman"/>
              </a:rPr>
              <a:t>Digital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Subscriber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Line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(DSL):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.25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8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Mbps,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5.5km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from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switch</a:t>
            </a:r>
            <a:endParaRPr sz="2400">
              <a:latin typeface="Times New Roman"/>
              <a:cs typeface="Times New Roman"/>
            </a:endParaRPr>
          </a:p>
          <a:p>
            <a:pPr marL="835025" lvl="2" indent="-229235">
              <a:lnSpc>
                <a:spcPct val="100000"/>
              </a:lnSpc>
              <a:spcBef>
                <a:spcPts val="459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35660" algn="l"/>
              </a:tabLst>
            </a:pPr>
            <a:r>
              <a:rPr sz="2000" spc="-140" dirty="0">
                <a:latin typeface="Times New Roman"/>
                <a:cs typeface="Times New Roman"/>
              </a:rPr>
              <a:t>BellSo</a:t>
            </a:r>
            <a:r>
              <a:rPr sz="2000" spc="-165" dirty="0">
                <a:latin typeface="Times New Roman"/>
                <a:cs typeface="Times New Roman"/>
              </a:rPr>
              <a:t>u</a:t>
            </a:r>
            <a:r>
              <a:rPr sz="2000" spc="-25" dirty="0">
                <a:latin typeface="Times New Roman"/>
                <a:cs typeface="Times New Roman"/>
              </a:rPr>
              <a:t>th: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.8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to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6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45" dirty="0">
                <a:latin typeface="Times New Roman"/>
                <a:cs typeface="Times New Roman"/>
              </a:rPr>
              <a:t>Mbps</a:t>
            </a:r>
            <a:endParaRPr sz="20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34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135" dirty="0">
                <a:latin typeface="Times New Roman"/>
                <a:cs typeface="Times New Roman"/>
              </a:rPr>
              <a:t>Cable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modem: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1.5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Mbps,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longer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range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than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50" dirty="0">
                <a:latin typeface="Times New Roman"/>
                <a:cs typeface="Times New Roman"/>
              </a:rPr>
              <a:t>DSL</a:t>
            </a:r>
            <a:endParaRPr sz="2400">
              <a:latin typeface="Times New Roman"/>
              <a:cs typeface="Times New Roman"/>
            </a:endParaRPr>
          </a:p>
          <a:p>
            <a:pPr marL="835025" lvl="2" indent="-229235">
              <a:lnSpc>
                <a:spcPct val="100000"/>
              </a:lnSpc>
              <a:spcBef>
                <a:spcPts val="459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35660" algn="l"/>
              </a:tabLst>
            </a:pPr>
            <a:r>
              <a:rPr sz="2000" spc="-195" dirty="0">
                <a:latin typeface="Times New Roman"/>
                <a:cs typeface="Times New Roman"/>
              </a:rPr>
              <a:t>B</a:t>
            </a:r>
            <a:r>
              <a:rPr sz="2000" spc="-75" dirty="0">
                <a:latin typeface="Times New Roman"/>
                <a:cs typeface="Times New Roman"/>
              </a:rPr>
              <a:t>r</a:t>
            </a:r>
            <a:r>
              <a:rPr sz="2000" spc="-90" dirty="0">
                <a:latin typeface="Times New Roman"/>
                <a:cs typeface="Times New Roman"/>
              </a:rPr>
              <a:t>ight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Times New Roman"/>
                <a:cs typeface="Times New Roman"/>
              </a:rPr>
              <a:t>h</a:t>
            </a:r>
            <a:r>
              <a:rPr sz="2000" spc="-114" dirty="0">
                <a:latin typeface="Times New Roman"/>
                <a:cs typeface="Times New Roman"/>
              </a:rPr>
              <a:t>o</a:t>
            </a:r>
            <a:r>
              <a:rPr sz="2000" spc="-135" dirty="0">
                <a:latin typeface="Times New Roman"/>
                <a:cs typeface="Times New Roman"/>
              </a:rPr>
              <a:t>u</a:t>
            </a:r>
            <a:r>
              <a:rPr sz="2000" spc="-114" dirty="0">
                <a:latin typeface="Times New Roman"/>
                <a:cs typeface="Times New Roman"/>
              </a:rPr>
              <a:t>s</a:t>
            </a:r>
            <a:r>
              <a:rPr sz="2000" spc="-75" dirty="0">
                <a:latin typeface="Times New Roman"/>
                <a:cs typeface="Times New Roman"/>
              </a:rPr>
              <a:t>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20" dirty="0">
                <a:latin typeface="Times New Roman"/>
                <a:cs typeface="Times New Roman"/>
              </a:rPr>
              <a:t>w</a:t>
            </a:r>
            <a:r>
              <a:rPr sz="2000" spc="445" dirty="0">
                <a:latin typeface="Times New Roman"/>
                <a:cs typeface="Times New Roman"/>
              </a:rPr>
              <a:t>/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35" dirty="0">
                <a:latin typeface="Times New Roman"/>
                <a:cs typeface="Times New Roman"/>
              </a:rPr>
              <a:t>R</a:t>
            </a:r>
            <a:r>
              <a:rPr sz="2000" spc="-114" dirty="0">
                <a:latin typeface="Times New Roman"/>
                <a:cs typeface="Times New Roman"/>
              </a:rPr>
              <a:t>o</a:t>
            </a:r>
            <a:r>
              <a:rPr sz="2000" spc="-120" dirty="0">
                <a:latin typeface="Times New Roman"/>
                <a:cs typeface="Times New Roman"/>
              </a:rPr>
              <a:t>a</a:t>
            </a:r>
            <a:r>
              <a:rPr sz="2000" spc="-130" dirty="0">
                <a:latin typeface="Times New Roman"/>
                <a:cs typeface="Times New Roman"/>
              </a:rPr>
              <a:t>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35" dirty="0">
                <a:latin typeface="Times New Roman"/>
                <a:cs typeface="Times New Roman"/>
              </a:rPr>
              <a:t>R</a:t>
            </a:r>
            <a:r>
              <a:rPr sz="2000" spc="-110" dirty="0">
                <a:latin typeface="Times New Roman"/>
                <a:cs typeface="Times New Roman"/>
              </a:rPr>
              <a:t>u</a:t>
            </a:r>
            <a:r>
              <a:rPr sz="2000" spc="-85" dirty="0">
                <a:latin typeface="Times New Roman"/>
                <a:cs typeface="Times New Roman"/>
              </a:rPr>
              <a:t>n</a:t>
            </a:r>
            <a:r>
              <a:rPr sz="2000" spc="-100" dirty="0">
                <a:latin typeface="Times New Roman"/>
                <a:cs typeface="Times New Roman"/>
              </a:rPr>
              <a:t>n</a:t>
            </a:r>
            <a:r>
              <a:rPr sz="2000" spc="-30" dirty="0">
                <a:latin typeface="Times New Roman"/>
                <a:cs typeface="Times New Roman"/>
              </a:rPr>
              <a:t>e</a:t>
            </a:r>
            <a:r>
              <a:rPr sz="2000" spc="-55" dirty="0">
                <a:latin typeface="Times New Roman"/>
                <a:cs typeface="Times New Roman"/>
              </a:rPr>
              <a:t>r</a:t>
            </a:r>
            <a:r>
              <a:rPr sz="2000" spc="25" dirty="0">
                <a:latin typeface="Times New Roman"/>
                <a:cs typeface="Times New Roman"/>
              </a:rPr>
              <a:t>: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.5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to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1</a:t>
            </a:r>
            <a:r>
              <a:rPr sz="2000" spc="-95" dirty="0">
                <a:latin typeface="Times New Roman"/>
                <a:cs typeface="Times New Roman"/>
              </a:rPr>
              <a:t>0</a:t>
            </a:r>
            <a:r>
              <a:rPr sz="2000" spc="-145" dirty="0">
                <a:latin typeface="Times New Roman"/>
                <a:cs typeface="Times New Roman"/>
              </a:rPr>
              <a:t>Mbps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9781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75" dirty="0"/>
              <a:t>MAN </a:t>
            </a:r>
            <a:r>
              <a:rPr sz="4000" spc="-85" dirty="0"/>
              <a:t>Diagram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527" y="1768601"/>
            <a:ext cx="6800850" cy="30700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36620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/>
              <a:t>MAN-Advantages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339330" cy="2557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791845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provides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good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back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bone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large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network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p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135" dirty="0">
                <a:latin typeface="Times New Roman"/>
                <a:cs typeface="Times New Roman"/>
              </a:rPr>
              <a:t>vid</a:t>
            </a:r>
            <a:r>
              <a:rPr sz="2600" spc="-155" dirty="0">
                <a:latin typeface="Times New Roman"/>
                <a:cs typeface="Times New Roman"/>
              </a:rPr>
              <a:t>e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g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55" dirty="0">
                <a:latin typeface="Times New Roman"/>
                <a:cs typeface="Times New Roman"/>
              </a:rPr>
              <a:t>e</a:t>
            </a:r>
            <a:r>
              <a:rPr sz="2600" spc="-185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ter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a</a:t>
            </a:r>
            <a:r>
              <a:rPr sz="2600" spc="-190" dirty="0">
                <a:latin typeface="Times New Roman"/>
                <a:cs typeface="Times New Roman"/>
              </a:rPr>
              <a:t>c</a:t>
            </a:r>
            <a:r>
              <a:rPr sz="2600" spc="-165" dirty="0">
                <a:latin typeface="Times New Roman"/>
                <a:cs typeface="Times New Roman"/>
              </a:rPr>
              <a:t>cess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25" dirty="0">
                <a:latin typeface="Times New Roman"/>
                <a:cs typeface="Times New Roman"/>
              </a:rPr>
              <a:t>t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380" dirty="0">
                <a:latin typeface="Times New Roman"/>
                <a:cs typeface="Times New Roman"/>
              </a:rPr>
              <a:t> </a:t>
            </a:r>
            <a:r>
              <a:rPr sz="2600" spc="-335" dirty="0">
                <a:latin typeface="Times New Roman"/>
                <a:cs typeface="Times New Roman"/>
              </a:rPr>
              <a:t>W</a:t>
            </a:r>
            <a:r>
              <a:rPr sz="2600" spc="-270" dirty="0">
                <a:latin typeface="Times New Roman"/>
                <a:cs typeface="Times New Roman"/>
              </a:rPr>
              <a:t>AN</a:t>
            </a:r>
            <a:r>
              <a:rPr sz="2600" spc="-190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0" dirty="0">
                <a:latin typeface="Times New Roman"/>
                <a:cs typeface="Times New Roman"/>
              </a:rPr>
              <a:t>The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dual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bus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used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60" dirty="0">
                <a:latin typeface="Times New Roman"/>
                <a:cs typeface="Times New Roman"/>
              </a:rPr>
              <a:t>MAN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helps</a:t>
            </a:r>
            <a:r>
              <a:rPr sz="2600" spc="-75" dirty="0">
                <a:latin typeface="Times New Roman"/>
                <a:cs typeface="Times New Roman"/>
              </a:rPr>
              <a:t> 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transmission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data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in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both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direction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simultaneously.</a:t>
            </a:r>
            <a:endParaRPr sz="2600">
              <a:latin typeface="Times New Roman"/>
              <a:cs typeface="Times New Roman"/>
            </a:endParaRPr>
          </a:p>
          <a:p>
            <a:pPr marL="286385" marR="35052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35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Man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usually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encompasses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several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blocks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city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an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entire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city.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4327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/>
              <a:t>MAN-Disadvantages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327900" cy="1687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0" dirty="0">
                <a:latin typeface="Times New Roman"/>
                <a:cs typeface="Times New Roman"/>
              </a:rPr>
              <a:t>More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cable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required</a:t>
            </a:r>
            <a:r>
              <a:rPr sz="2600" spc="-95" dirty="0">
                <a:latin typeface="Times New Roman"/>
                <a:cs typeface="Times New Roman"/>
              </a:rPr>
              <a:t> for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60" dirty="0">
                <a:latin typeface="Times New Roman"/>
                <a:cs typeface="Times New Roman"/>
              </a:rPr>
              <a:t>MAN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connection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from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place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another.</a:t>
            </a:r>
            <a:endParaRPr sz="2600">
              <a:latin typeface="Times New Roman"/>
              <a:cs typeface="Times New Roman"/>
            </a:endParaRPr>
          </a:p>
          <a:p>
            <a:pPr marL="286385" marR="26733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difficult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make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40" dirty="0">
                <a:latin typeface="Times New Roman"/>
                <a:cs typeface="Times New Roman"/>
              </a:rPr>
              <a:t>system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secure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from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hackers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industrial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espionage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(spying)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graphical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regions.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37661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75" dirty="0"/>
              <a:t>MAN </a:t>
            </a:r>
            <a:r>
              <a:rPr sz="4000" spc="-55" dirty="0"/>
              <a:t>Applications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74963"/>
            <a:ext cx="7229475" cy="215138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56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0" dirty="0">
                <a:latin typeface="Times New Roman"/>
                <a:cs typeface="Times New Roman"/>
              </a:rPr>
              <a:t>The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60" dirty="0">
                <a:latin typeface="Times New Roman"/>
                <a:cs typeface="Times New Roman"/>
              </a:rPr>
              <a:t>MAN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can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used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p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140" dirty="0">
                <a:latin typeface="Times New Roman"/>
                <a:cs typeface="Times New Roman"/>
              </a:rPr>
              <a:t>vide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se</a:t>
            </a:r>
            <a:r>
              <a:rPr sz="2600" spc="25" dirty="0">
                <a:latin typeface="Times New Roman"/>
                <a:cs typeface="Times New Roman"/>
              </a:rPr>
              <a:t>r</a:t>
            </a:r>
            <a:r>
              <a:rPr sz="2600" spc="-160" dirty="0">
                <a:latin typeface="Times New Roman"/>
                <a:cs typeface="Times New Roman"/>
              </a:rPr>
              <a:t>vi</a:t>
            </a:r>
            <a:r>
              <a:rPr sz="2600" spc="-190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es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inc</a:t>
            </a:r>
            <a:r>
              <a:rPr sz="2600" spc="-100" dirty="0">
                <a:latin typeface="Times New Roman"/>
                <a:cs typeface="Times New Roman"/>
              </a:rPr>
              <a:t>l</a:t>
            </a:r>
            <a:r>
              <a:rPr sz="2600" spc="-110" dirty="0">
                <a:latin typeface="Times New Roman"/>
                <a:cs typeface="Times New Roman"/>
              </a:rPr>
              <a:t>u</a:t>
            </a:r>
            <a:r>
              <a:rPr sz="2600" spc="-125" dirty="0">
                <a:latin typeface="Times New Roman"/>
                <a:cs typeface="Times New Roman"/>
              </a:rPr>
              <a:t>d</a:t>
            </a:r>
            <a:r>
              <a:rPr sz="2600" spc="-150" dirty="0">
                <a:latin typeface="Times New Roman"/>
                <a:cs typeface="Times New Roman"/>
              </a:rPr>
              <a:t>ing</a:t>
            </a:r>
            <a:endParaRPr sz="26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80" dirty="0">
                <a:latin typeface="Times New Roman"/>
                <a:cs typeface="Times New Roman"/>
              </a:rPr>
              <a:t>telecoms,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50" dirty="0">
                <a:latin typeface="Times New Roman"/>
                <a:cs typeface="Times New Roman"/>
              </a:rPr>
              <a:t>Internet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access,</a:t>
            </a:r>
            <a:endParaRPr sz="2400">
              <a:latin typeface="Times New Roman"/>
              <a:cs typeface="Times New Roman"/>
            </a:endParaRPr>
          </a:p>
          <a:p>
            <a:pPr marL="629285" lvl="1" indent="-29781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629285" algn="l"/>
                <a:tab pos="629920" algn="l"/>
              </a:tabLst>
            </a:pPr>
            <a:r>
              <a:rPr sz="2400" spc="-60" dirty="0">
                <a:latin typeface="Times New Roman"/>
                <a:cs typeface="Times New Roman"/>
              </a:rPr>
              <a:t>tel</a:t>
            </a:r>
            <a:r>
              <a:rPr sz="2400" spc="-125" dirty="0">
                <a:latin typeface="Times New Roman"/>
                <a:cs typeface="Times New Roman"/>
              </a:rPr>
              <a:t>e</a:t>
            </a:r>
            <a:r>
              <a:rPr sz="2400" spc="-135" dirty="0">
                <a:latin typeface="Times New Roman"/>
                <a:cs typeface="Times New Roman"/>
              </a:rPr>
              <a:t>visi</a:t>
            </a:r>
            <a:r>
              <a:rPr sz="2400" spc="-180" dirty="0">
                <a:latin typeface="Times New Roman"/>
                <a:cs typeface="Times New Roman"/>
              </a:rPr>
              <a:t>o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175" dirty="0">
                <a:latin typeface="Times New Roman"/>
                <a:cs typeface="Times New Roman"/>
              </a:rPr>
              <a:t>CCTV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businesses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citizens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these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metropolitan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areas.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52190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20" dirty="0"/>
              <a:t>WAN-Wide</a:t>
            </a:r>
            <a:r>
              <a:rPr sz="4000" spc="-20" dirty="0"/>
              <a:t> </a:t>
            </a:r>
            <a:r>
              <a:rPr sz="4000" spc="-90" dirty="0"/>
              <a:t>Area</a:t>
            </a:r>
            <a:r>
              <a:rPr sz="4000" spc="-35" dirty="0"/>
              <a:t> </a:t>
            </a:r>
            <a:r>
              <a:rPr sz="4000" spc="-70" dirty="0"/>
              <a:t>Network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58239"/>
            <a:ext cx="7561580" cy="405002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b="1" spc="-220" dirty="0">
                <a:latin typeface="Times New Roman"/>
                <a:cs typeface="Times New Roman"/>
              </a:rPr>
              <a:t>W</a:t>
            </a:r>
            <a:r>
              <a:rPr sz="2600" b="1" spc="25" dirty="0">
                <a:latin typeface="Times New Roman"/>
                <a:cs typeface="Times New Roman"/>
              </a:rPr>
              <a:t>i</a:t>
            </a:r>
            <a:r>
              <a:rPr sz="2600" b="1" spc="45" dirty="0">
                <a:latin typeface="Times New Roman"/>
                <a:cs typeface="Times New Roman"/>
              </a:rPr>
              <a:t>d</a:t>
            </a:r>
            <a:r>
              <a:rPr sz="2600" b="1" spc="65" dirty="0">
                <a:latin typeface="Times New Roman"/>
                <a:cs typeface="Times New Roman"/>
              </a:rPr>
              <a:t>e</a:t>
            </a:r>
            <a:r>
              <a:rPr sz="2600" b="1" spc="-160" dirty="0">
                <a:latin typeface="Times New Roman"/>
                <a:cs typeface="Times New Roman"/>
              </a:rPr>
              <a:t> </a:t>
            </a:r>
            <a:r>
              <a:rPr sz="2600" b="1" spc="-70" dirty="0">
                <a:latin typeface="Times New Roman"/>
                <a:cs typeface="Times New Roman"/>
              </a:rPr>
              <a:t>Area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b="1" spc="-20" dirty="0">
                <a:latin typeface="Times New Roman"/>
                <a:cs typeface="Times New Roman"/>
              </a:rPr>
              <a:t>Ne</a:t>
            </a:r>
            <a:r>
              <a:rPr sz="2600" b="1" spc="-5" dirty="0">
                <a:latin typeface="Times New Roman"/>
                <a:cs typeface="Times New Roman"/>
              </a:rPr>
              <a:t>t</a:t>
            </a:r>
            <a:r>
              <a:rPr sz="2600" b="1" spc="30" dirty="0">
                <a:latin typeface="Times New Roman"/>
                <a:cs typeface="Times New Roman"/>
              </a:rPr>
              <a:t>w</a:t>
            </a:r>
            <a:r>
              <a:rPr sz="2600" b="1" spc="10" dirty="0">
                <a:latin typeface="Times New Roman"/>
                <a:cs typeface="Times New Roman"/>
              </a:rPr>
              <a:t>ork</a:t>
            </a:r>
            <a:r>
              <a:rPr sz="2600" b="1" spc="-85" dirty="0">
                <a:latin typeface="Times New Roman"/>
                <a:cs typeface="Times New Roman"/>
              </a:rPr>
              <a:t> </a:t>
            </a:r>
            <a:r>
              <a:rPr sz="2600" b="1" spc="80" dirty="0">
                <a:latin typeface="Times New Roman"/>
                <a:cs typeface="Times New Roman"/>
              </a:rPr>
              <a:t>(</a:t>
            </a:r>
            <a:r>
              <a:rPr sz="2600" b="1" spc="-500" dirty="0">
                <a:latin typeface="Times New Roman"/>
                <a:cs typeface="Times New Roman"/>
              </a:rPr>
              <a:t>W</a:t>
            </a:r>
            <a:r>
              <a:rPr sz="2600" b="1" spc="-70" dirty="0">
                <a:latin typeface="Times New Roman"/>
                <a:cs typeface="Times New Roman"/>
              </a:rPr>
              <a:t>AN)</a:t>
            </a:r>
            <a:endParaRPr sz="2600">
              <a:latin typeface="Times New Roman"/>
              <a:cs typeface="Times New Roman"/>
            </a:endParaRPr>
          </a:p>
          <a:p>
            <a:pPr marL="286385" marR="8128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 </a:t>
            </a:r>
            <a:r>
              <a:rPr sz="2600" spc="-165" dirty="0">
                <a:latin typeface="Times New Roman"/>
                <a:cs typeface="Times New Roman"/>
              </a:rPr>
              <a:t>is </a:t>
            </a:r>
            <a:r>
              <a:rPr sz="2600" spc="-155" dirty="0">
                <a:latin typeface="Times New Roman"/>
                <a:cs typeface="Times New Roman"/>
              </a:rPr>
              <a:t>also </a:t>
            </a:r>
            <a:r>
              <a:rPr sz="2600" spc="-135" dirty="0">
                <a:latin typeface="Times New Roman"/>
                <a:cs typeface="Times New Roman"/>
              </a:rPr>
              <a:t>called </a:t>
            </a:r>
            <a:r>
              <a:rPr sz="2600" spc="-215" dirty="0">
                <a:latin typeface="Times New Roman"/>
                <a:cs typeface="Times New Roman"/>
              </a:rPr>
              <a:t>WAN.WAN</a:t>
            </a:r>
            <a:r>
              <a:rPr sz="2600" spc="-21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can </a:t>
            </a:r>
            <a:r>
              <a:rPr sz="2600" spc="-120" dirty="0">
                <a:latin typeface="Times New Roman"/>
                <a:cs typeface="Times New Roman"/>
              </a:rPr>
              <a:t>be </a:t>
            </a:r>
            <a:r>
              <a:rPr sz="2600" spc="-105" dirty="0">
                <a:latin typeface="Times New Roman"/>
                <a:cs typeface="Times New Roman"/>
              </a:rPr>
              <a:t>private </a:t>
            </a:r>
            <a:r>
              <a:rPr sz="2600" spc="-40" dirty="0">
                <a:latin typeface="Times New Roman"/>
                <a:cs typeface="Times New Roman"/>
              </a:rPr>
              <a:t>or </a:t>
            </a:r>
            <a:r>
              <a:rPr sz="2600" spc="-45" dirty="0">
                <a:latin typeface="Times New Roman"/>
                <a:cs typeface="Times New Roman"/>
              </a:rPr>
              <a:t>it </a:t>
            </a:r>
            <a:r>
              <a:rPr sz="2600" spc="-155" dirty="0">
                <a:latin typeface="Times New Roman"/>
                <a:cs typeface="Times New Roman"/>
              </a:rPr>
              <a:t>can </a:t>
            </a:r>
            <a:r>
              <a:rPr sz="2600" spc="-120" dirty="0">
                <a:latin typeface="Times New Roman"/>
                <a:cs typeface="Times New Roman"/>
              </a:rPr>
              <a:t>be </a:t>
            </a:r>
            <a:r>
              <a:rPr sz="2600" spc="-135" dirty="0">
                <a:latin typeface="Times New Roman"/>
                <a:cs typeface="Times New Roman"/>
              </a:rPr>
              <a:t>public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lease</a:t>
            </a:r>
            <a:r>
              <a:rPr sz="2600" spc="-160" dirty="0">
                <a:latin typeface="Times New Roman"/>
                <a:cs typeface="Times New Roman"/>
              </a:rPr>
              <a:t>d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ne</a:t>
            </a:r>
            <a:r>
              <a:rPr sz="2600" spc="-55" dirty="0">
                <a:latin typeface="Times New Roman"/>
                <a:cs typeface="Times New Roman"/>
              </a:rPr>
              <a:t>t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35" dirty="0">
                <a:latin typeface="Times New Roman"/>
                <a:cs typeface="Times New Roman"/>
              </a:rPr>
              <a:t>ork.</a:t>
            </a:r>
            <a:endParaRPr sz="2600">
              <a:latin typeface="Times New Roman"/>
              <a:cs typeface="Times New Roman"/>
            </a:endParaRPr>
          </a:p>
          <a:p>
            <a:pPr marL="286385" marR="30988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used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for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95" dirty="0">
                <a:latin typeface="Times New Roman"/>
                <a:cs typeface="Times New Roman"/>
              </a:rPr>
              <a:t>network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that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covers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large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distance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such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225" dirty="0">
                <a:latin typeface="Times New Roman"/>
                <a:cs typeface="Times New Roman"/>
              </a:rPr>
              <a:t>o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35" dirty="0">
                <a:latin typeface="Times New Roman"/>
                <a:cs typeface="Times New Roman"/>
              </a:rPr>
              <a:t>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st</a:t>
            </a:r>
            <a:r>
              <a:rPr sz="2600" spc="-175" dirty="0">
                <a:latin typeface="Times New Roman"/>
                <a:cs typeface="Times New Roman"/>
              </a:rPr>
              <a:t>a</a:t>
            </a:r>
            <a:r>
              <a:rPr sz="2600" spc="-90" dirty="0">
                <a:latin typeface="Times New Roman"/>
                <a:cs typeface="Times New Roman"/>
              </a:rPr>
              <a:t>tes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o</a:t>
            </a:r>
            <a:r>
              <a:rPr sz="2600" spc="-110" dirty="0">
                <a:latin typeface="Times New Roman"/>
                <a:cs typeface="Times New Roman"/>
              </a:rPr>
              <a:t>u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30" dirty="0">
                <a:latin typeface="Times New Roman"/>
                <a:cs typeface="Times New Roman"/>
              </a:rPr>
              <a:t>t</a:t>
            </a:r>
            <a:r>
              <a:rPr sz="2600" spc="55" dirty="0">
                <a:latin typeface="Times New Roman"/>
                <a:cs typeface="Times New Roman"/>
              </a:rPr>
              <a:t>r</a:t>
            </a:r>
            <a:r>
              <a:rPr sz="2600" spc="-480" dirty="0">
                <a:latin typeface="Times New Roman"/>
                <a:cs typeface="Times New Roman"/>
              </a:rPr>
              <a:t>y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361315" indent="-34925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361315" algn="l"/>
                <a:tab pos="361950" algn="l"/>
              </a:tabLst>
            </a:pPr>
            <a:r>
              <a:rPr sz="2600" spc="-75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35" dirty="0">
                <a:latin typeface="Times New Roman"/>
                <a:cs typeface="Times New Roman"/>
              </a:rPr>
              <a:t>ot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easy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desi</a:t>
            </a:r>
            <a:r>
              <a:rPr sz="2600" spc="-190" dirty="0">
                <a:latin typeface="Times New Roman"/>
                <a:cs typeface="Times New Roman"/>
              </a:rPr>
              <a:t>g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</a:t>
            </a:r>
            <a:r>
              <a:rPr sz="2600" spc="-180" dirty="0">
                <a:latin typeface="Times New Roman"/>
                <a:cs typeface="Times New Roman"/>
              </a:rPr>
              <a:t>n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29" dirty="0">
                <a:latin typeface="Times New Roman"/>
                <a:cs typeface="Times New Roman"/>
              </a:rPr>
              <a:t>m</a:t>
            </a:r>
            <a:r>
              <a:rPr sz="2600" spc="-145" dirty="0">
                <a:latin typeface="Times New Roman"/>
                <a:cs typeface="Times New Roman"/>
              </a:rPr>
              <a:t>a</a:t>
            </a:r>
            <a:r>
              <a:rPr sz="2600" spc="-95" dirty="0">
                <a:latin typeface="Times New Roman"/>
                <a:cs typeface="Times New Roman"/>
              </a:rPr>
              <a:t>int</a:t>
            </a:r>
            <a:r>
              <a:rPr sz="2600" spc="-135" dirty="0">
                <a:latin typeface="Times New Roman"/>
                <a:cs typeface="Times New Roman"/>
              </a:rPr>
              <a:t>a</a:t>
            </a:r>
            <a:r>
              <a:rPr sz="2600" spc="-45" dirty="0">
                <a:latin typeface="Times New Roman"/>
                <a:cs typeface="Times New Roman"/>
              </a:rPr>
              <a:t>in.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5" dirty="0">
                <a:latin typeface="Times New Roman"/>
                <a:cs typeface="Times New Roman"/>
              </a:rPr>
              <a:t>Com</a:t>
            </a:r>
            <a:r>
              <a:rPr sz="2600" spc="-180" dirty="0">
                <a:latin typeface="Times New Roman"/>
                <a:cs typeface="Times New Roman"/>
              </a:rPr>
              <a:t>m</a:t>
            </a:r>
            <a:r>
              <a:rPr sz="2600" spc="-110" dirty="0">
                <a:latin typeface="Times New Roman"/>
                <a:cs typeface="Times New Roman"/>
              </a:rPr>
              <a:t>u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150" dirty="0">
                <a:latin typeface="Times New Roman"/>
                <a:cs typeface="Times New Roman"/>
              </a:rPr>
              <a:t>ic</a:t>
            </a:r>
            <a:r>
              <a:rPr sz="2600" spc="-215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tion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mediu</a:t>
            </a:r>
            <a:r>
              <a:rPr sz="2600" spc="-175" dirty="0">
                <a:latin typeface="Times New Roman"/>
                <a:cs typeface="Times New Roman"/>
              </a:rPr>
              <a:t>m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u</a:t>
            </a:r>
            <a:r>
              <a:rPr sz="2600" spc="-135" dirty="0">
                <a:latin typeface="Times New Roman"/>
                <a:cs typeface="Times New Roman"/>
              </a:rPr>
              <a:t>sed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b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395" dirty="0">
                <a:latin typeface="Times New Roman"/>
                <a:cs typeface="Times New Roman"/>
              </a:rPr>
              <a:t> </a:t>
            </a:r>
            <a:r>
              <a:rPr sz="2600" spc="-335" dirty="0">
                <a:latin typeface="Times New Roman"/>
                <a:cs typeface="Times New Roman"/>
              </a:rPr>
              <a:t>W</a:t>
            </a:r>
            <a:r>
              <a:rPr sz="2600" spc="-245" dirty="0">
                <a:latin typeface="Times New Roman"/>
                <a:cs typeface="Times New Roman"/>
              </a:rPr>
              <a:t>A</a:t>
            </a:r>
            <a:r>
              <a:rPr sz="2600" spc="-240" dirty="0">
                <a:latin typeface="Times New Roman"/>
                <a:cs typeface="Times New Roman"/>
              </a:rPr>
              <a:t>N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PSTN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15" dirty="0">
                <a:latin typeface="Times New Roman"/>
                <a:cs typeface="Times New Roman"/>
              </a:rPr>
              <a:t>S</a:t>
            </a:r>
            <a:r>
              <a:rPr sz="2600" spc="-280" dirty="0">
                <a:latin typeface="Times New Roman"/>
                <a:cs typeface="Times New Roman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telli</a:t>
            </a:r>
            <a:r>
              <a:rPr sz="2600" spc="-65" dirty="0">
                <a:latin typeface="Times New Roman"/>
                <a:cs typeface="Times New Roman"/>
              </a:rPr>
              <a:t>t</a:t>
            </a:r>
            <a:r>
              <a:rPr sz="2600" spc="-70" dirty="0">
                <a:latin typeface="Times New Roman"/>
                <a:cs typeface="Times New Roman"/>
              </a:rPr>
              <a:t>e  </a:t>
            </a:r>
            <a:r>
              <a:rPr sz="2600" spc="-110" dirty="0">
                <a:latin typeface="Times New Roman"/>
                <a:cs typeface="Times New Roman"/>
              </a:rPr>
              <a:t>links.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35" dirty="0">
                <a:latin typeface="Times New Roman"/>
                <a:cs typeface="Times New Roman"/>
              </a:rPr>
              <a:t>W</a:t>
            </a:r>
            <a:r>
              <a:rPr sz="2600" spc="-240" dirty="0">
                <a:latin typeface="Times New Roman"/>
                <a:cs typeface="Times New Roman"/>
              </a:rPr>
              <a:t>A</a:t>
            </a:r>
            <a:r>
              <a:rPr sz="2600" spc="-235" dirty="0">
                <a:latin typeface="Times New Roman"/>
                <a:cs typeface="Times New Roman"/>
              </a:rPr>
              <a:t>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p</a:t>
            </a:r>
            <a:r>
              <a:rPr sz="2600" spc="-85" dirty="0">
                <a:latin typeface="Times New Roman"/>
                <a:cs typeface="Times New Roman"/>
              </a:rPr>
              <a:t>er</a:t>
            </a:r>
            <a:r>
              <a:rPr sz="2600" spc="-130" dirty="0">
                <a:latin typeface="Times New Roman"/>
                <a:cs typeface="Times New Roman"/>
              </a:rPr>
              <a:t>a</a:t>
            </a:r>
            <a:r>
              <a:rPr sz="2600" spc="-85" dirty="0">
                <a:latin typeface="Times New Roman"/>
                <a:cs typeface="Times New Roman"/>
              </a:rPr>
              <a:t>tes </a:t>
            </a:r>
            <a:r>
              <a:rPr sz="2600" spc="-110" dirty="0">
                <a:latin typeface="Times New Roman"/>
                <a:cs typeface="Times New Roman"/>
              </a:rPr>
              <a:t>on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l</a:t>
            </a:r>
            <a:r>
              <a:rPr sz="2600" spc="-215" dirty="0">
                <a:latin typeface="Times New Roman"/>
                <a:cs typeface="Times New Roman"/>
              </a:rPr>
              <a:t>o</a:t>
            </a:r>
            <a:r>
              <a:rPr sz="2600" spc="-140" dirty="0">
                <a:latin typeface="Times New Roman"/>
                <a:cs typeface="Times New Roman"/>
              </a:rPr>
              <a:t>w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d</a:t>
            </a:r>
            <a:r>
              <a:rPr sz="2600" spc="-180" dirty="0">
                <a:latin typeface="Times New Roman"/>
                <a:cs typeface="Times New Roman"/>
              </a:rPr>
              <a:t>a</a:t>
            </a:r>
            <a:r>
              <a:rPr sz="2600" spc="-85" dirty="0">
                <a:latin typeface="Times New Roman"/>
                <a:cs typeface="Times New Roman"/>
              </a:rPr>
              <a:t>ta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r</a:t>
            </a:r>
            <a:r>
              <a:rPr sz="2600" spc="-125" dirty="0">
                <a:latin typeface="Times New Roman"/>
                <a:cs typeface="Times New Roman"/>
              </a:rPr>
              <a:t>a</a:t>
            </a:r>
            <a:r>
              <a:rPr sz="2600" spc="-85" dirty="0">
                <a:latin typeface="Times New Roman"/>
                <a:cs typeface="Times New Roman"/>
              </a:rPr>
              <a:t>te</a:t>
            </a:r>
            <a:r>
              <a:rPr sz="2600" spc="-145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751459"/>
            <a:ext cx="69684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WAN-Wide</a:t>
            </a:r>
            <a:r>
              <a:rPr spc="-20" dirty="0"/>
              <a:t> </a:t>
            </a:r>
            <a:r>
              <a:rPr spc="-80" dirty="0"/>
              <a:t>Area</a:t>
            </a:r>
            <a:r>
              <a:rPr spc="-5" dirty="0"/>
              <a:t> </a:t>
            </a:r>
            <a:r>
              <a:rPr spc="-35" dirty="0"/>
              <a:t>Network…continued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374963"/>
            <a:ext cx="3914140" cy="215138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56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0" dirty="0">
                <a:latin typeface="Times New Roman"/>
                <a:cs typeface="Times New Roman"/>
              </a:rPr>
              <a:t>W</a:t>
            </a:r>
            <a:r>
              <a:rPr sz="2600" spc="-114" dirty="0">
                <a:latin typeface="Times New Roman"/>
                <a:cs typeface="Times New Roman"/>
              </a:rPr>
              <a:t>ide</a:t>
            </a:r>
            <a:r>
              <a:rPr sz="2600" spc="-270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A</a:t>
            </a:r>
            <a:r>
              <a:rPr sz="2600" spc="-114" dirty="0">
                <a:latin typeface="Times New Roman"/>
                <a:cs typeface="Times New Roman"/>
              </a:rPr>
              <a:t>r</a:t>
            </a:r>
            <a:r>
              <a:rPr sz="2600" spc="-155" dirty="0">
                <a:latin typeface="Times New Roman"/>
                <a:cs typeface="Times New Roman"/>
              </a:rPr>
              <a:t>ea</a:t>
            </a:r>
            <a:r>
              <a:rPr sz="2600" spc="-80" dirty="0">
                <a:latin typeface="Times New Roman"/>
                <a:cs typeface="Times New Roman"/>
              </a:rPr>
              <a:t> Net</a:t>
            </a:r>
            <a:r>
              <a:rPr sz="2600" spc="-215" dirty="0">
                <a:latin typeface="Times New Roman"/>
                <a:cs typeface="Times New Roman"/>
              </a:rPr>
              <a:t>w</a:t>
            </a:r>
            <a:r>
              <a:rPr sz="2600" spc="-110" dirty="0">
                <a:latin typeface="Times New Roman"/>
                <a:cs typeface="Times New Roman"/>
              </a:rPr>
              <a:t>orks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(</a:t>
            </a:r>
            <a:r>
              <a:rPr sz="2600" spc="-335" dirty="0">
                <a:latin typeface="Times New Roman"/>
                <a:cs typeface="Times New Roman"/>
              </a:rPr>
              <a:t>W</a:t>
            </a:r>
            <a:r>
              <a:rPr sz="2600" spc="-180" dirty="0">
                <a:latin typeface="Times New Roman"/>
                <a:cs typeface="Times New Roman"/>
              </a:rPr>
              <a:t>AN)</a:t>
            </a:r>
            <a:endParaRPr sz="26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100" dirty="0">
                <a:latin typeface="Times New Roman"/>
                <a:cs typeface="Times New Roman"/>
              </a:rPr>
              <a:t>world-wide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114" dirty="0">
                <a:latin typeface="Times New Roman"/>
                <a:cs typeface="Times New Roman"/>
              </a:rPr>
              <a:t>Diffe</a:t>
            </a:r>
            <a:r>
              <a:rPr sz="2400" spc="-125" dirty="0">
                <a:latin typeface="Times New Roman"/>
                <a:cs typeface="Times New Roman"/>
              </a:rPr>
              <a:t>r</a:t>
            </a:r>
            <a:r>
              <a:rPr sz="2400" spc="-55" dirty="0">
                <a:latin typeface="Times New Roman"/>
                <a:cs typeface="Times New Roman"/>
              </a:rPr>
              <a:t>ent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organiz</a:t>
            </a:r>
            <a:r>
              <a:rPr sz="2400" spc="-160" dirty="0">
                <a:latin typeface="Times New Roman"/>
                <a:cs typeface="Times New Roman"/>
              </a:rPr>
              <a:t>a</a:t>
            </a:r>
            <a:r>
              <a:rPr sz="2400" spc="-95" dirty="0">
                <a:latin typeface="Times New Roman"/>
                <a:cs typeface="Times New Roman"/>
              </a:rPr>
              <a:t>tions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145" dirty="0">
                <a:latin typeface="Times New Roman"/>
                <a:cs typeface="Times New Roman"/>
              </a:rPr>
              <a:t>Large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dis</a:t>
            </a:r>
            <a:r>
              <a:rPr sz="2400" spc="-114" dirty="0">
                <a:latin typeface="Times New Roman"/>
                <a:cs typeface="Times New Roman"/>
              </a:rPr>
              <a:t>tances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u</a:t>
            </a:r>
            <a:r>
              <a:rPr sz="2400" spc="-15" dirty="0">
                <a:latin typeface="Times New Roman"/>
                <a:cs typeface="Times New Roman"/>
              </a:rPr>
              <a:t>ted,</a:t>
            </a:r>
            <a:r>
              <a:rPr sz="2400" spc="-18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l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ten</a:t>
            </a:r>
            <a:r>
              <a:rPr sz="2400" spc="-50" dirty="0">
                <a:latin typeface="Times New Roman"/>
                <a:cs typeface="Times New Roman"/>
              </a:rPr>
              <a:t>c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.1</a:t>
            </a:r>
            <a:r>
              <a:rPr sz="2400" spc="-50" dirty="0">
                <a:latin typeface="Times New Roman"/>
                <a:cs typeface="Times New Roman"/>
              </a:rPr>
              <a:t> -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.5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seco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100" dirty="0">
                <a:latin typeface="Times New Roman"/>
                <a:cs typeface="Times New Roman"/>
              </a:rPr>
              <a:t>d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9711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80" dirty="0"/>
              <a:t>W</a:t>
            </a:r>
            <a:r>
              <a:rPr sz="4000" spc="-125" dirty="0"/>
              <a:t>AN</a:t>
            </a:r>
            <a:r>
              <a:rPr sz="4000" dirty="0"/>
              <a:t> </a:t>
            </a:r>
            <a:r>
              <a:rPr sz="4000" spc="-80" dirty="0"/>
              <a:t>Diagram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2463" y="2237830"/>
            <a:ext cx="6734175" cy="32893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3639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80" dirty="0"/>
              <a:t>W</a:t>
            </a:r>
            <a:r>
              <a:rPr sz="4000" spc="-125" dirty="0"/>
              <a:t>AN</a:t>
            </a:r>
            <a:r>
              <a:rPr sz="4000" dirty="0"/>
              <a:t> </a:t>
            </a:r>
            <a:r>
              <a:rPr sz="4000" spc="-310" dirty="0"/>
              <a:t>A</a:t>
            </a:r>
            <a:r>
              <a:rPr sz="4000" spc="10" dirty="0"/>
              <a:t>d</a:t>
            </a:r>
            <a:r>
              <a:rPr sz="4000" spc="-35" dirty="0"/>
              <a:t>v</a:t>
            </a:r>
            <a:r>
              <a:rPr sz="4000" spc="-45" dirty="0"/>
              <a:t>ant</a:t>
            </a:r>
            <a:r>
              <a:rPr sz="4000" spc="-35" dirty="0"/>
              <a:t>ages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74394"/>
            <a:ext cx="7586980" cy="422719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 marR="654685">
              <a:lnSpc>
                <a:spcPct val="80000"/>
              </a:lnSpc>
              <a:spcBef>
                <a:spcPts val="725"/>
              </a:spcBef>
              <a:buSzPct val="96153"/>
              <a:buFont typeface="Times New Roman"/>
              <a:buChar char="•"/>
              <a:tabLst>
                <a:tab pos="129539" algn="l"/>
              </a:tabLst>
            </a:pPr>
            <a:r>
              <a:rPr sz="2600" b="1" spc="-60" dirty="0">
                <a:latin typeface="Times New Roman"/>
                <a:cs typeface="Times New Roman"/>
              </a:rPr>
              <a:t>Covers</a:t>
            </a:r>
            <a:r>
              <a:rPr sz="2600" b="1" spc="-100" dirty="0">
                <a:latin typeface="Times New Roman"/>
                <a:cs typeface="Times New Roman"/>
              </a:rPr>
              <a:t> </a:t>
            </a:r>
            <a:r>
              <a:rPr sz="2600" b="1" spc="-110" dirty="0">
                <a:latin typeface="Times New Roman"/>
                <a:cs typeface="Times New Roman"/>
              </a:rPr>
              <a:t>a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spc="-20" dirty="0">
                <a:latin typeface="Times New Roman"/>
                <a:cs typeface="Times New Roman"/>
              </a:rPr>
              <a:t>large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spc="5" dirty="0">
                <a:latin typeface="Times New Roman"/>
                <a:cs typeface="Times New Roman"/>
              </a:rPr>
              <a:t>geographical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spc="-65" dirty="0">
                <a:latin typeface="Times New Roman"/>
                <a:cs typeface="Times New Roman"/>
              </a:rPr>
              <a:t>area </a:t>
            </a:r>
            <a:r>
              <a:rPr sz="2600" spc="-155" dirty="0">
                <a:latin typeface="Times New Roman"/>
                <a:cs typeface="Times New Roman"/>
              </a:rPr>
              <a:t>so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45" dirty="0">
                <a:latin typeface="Times New Roman"/>
                <a:cs typeface="Times New Roman"/>
              </a:rPr>
              <a:t>long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spc="5" dirty="0">
                <a:latin typeface="Times New Roman"/>
                <a:cs typeface="Times New Roman"/>
              </a:rPr>
              <a:t>distance </a:t>
            </a:r>
            <a:r>
              <a:rPr sz="2600" b="1" spc="-635" dirty="0">
                <a:latin typeface="Times New Roman"/>
                <a:cs typeface="Times New Roman"/>
              </a:rPr>
              <a:t> </a:t>
            </a:r>
            <a:r>
              <a:rPr sz="2600" b="1" spc="-35" dirty="0">
                <a:latin typeface="Times New Roman"/>
                <a:cs typeface="Times New Roman"/>
              </a:rPr>
              <a:t>b</a:t>
            </a:r>
            <a:r>
              <a:rPr sz="2600" b="1" spc="-5" dirty="0">
                <a:latin typeface="Times New Roman"/>
                <a:cs typeface="Times New Roman"/>
              </a:rPr>
              <a:t>us</a:t>
            </a:r>
            <a:r>
              <a:rPr sz="2600" b="1" spc="-15" dirty="0">
                <a:latin typeface="Times New Roman"/>
                <a:cs typeface="Times New Roman"/>
              </a:rPr>
              <a:t>i</a:t>
            </a:r>
            <a:r>
              <a:rPr sz="2600" b="1" spc="-5" dirty="0">
                <a:latin typeface="Times New Roman"/>
                <a:cs typeface="Times New Roman"/>
              </a:rPr>
              <a:t>nesses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latin typeface="Times New Roman"/>
                <a:cs typeface="Times New Roman"/>
              </a:rPr>
              <a:t>ca</a:t>
            </a:r>
            <a:r>
              <a:rPr sz="2600" b="1" spc="-10" dirty="0">
                <a:latin typeface="Times New Roman"/>
                <a:cs typeface="Times New Roman"/>
              </a:rPr>
              <a:t>n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spc="50" dirty="0">
                <a:latin typeface="Times New Roman"/>
                <a:cs typeface="Times New Roman"/>
              </a:rPr>
              <a:t>connec</a:t>
            </a:r>
            <a:r>
              <a:rPr sz="2600" b="1" spc="35" dirty="0">
                <a:latin typeface="Times New Roman"/>
                <a:cs typeface="Times New Roman"/>
              </a:rPr>
              <a:t>t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</a:t>
            </a:r>
            <a:r>
              <a:rPr sz="2600" spc="-75" dirty="0">
                <a:latin typeface="Times New Roman"/>
                <a:cs typeface="Times New Roman"/>
              </a:rPr>
              <a:t> 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b="1" spc="45" dirty="0">
                <a:latin typeface="Times New Roman"/>
                <a:cs typeface="Times New Roman"/>
              </a:rPr>
              <a:t>net</a:t>
            </a:r>
            <a:r>
              <a:rPr sz="2600" b="1" spc="5" dirty="0">
                <a:latin typeface="Times New Roman"/>
                <a:cs typeface="Times New Roman"/>
              </a:rPr>
              <a:t>w</a:t>
            </a:r>
            <a:r>
              <a:rPr sz="2600" b="1" spc="15" dirty="0">
                <a:latin typeface="Times New Roman"/>
                <a:cs typeface="Times New Roman"/>
              </a:rPr>
              <a:t>ork.</a:t>
            </a:r>
            <a:endParaRPr sz="2600">
              <a:latin typeface="Times New Roman"/>
              <a:cs typeface="Times New Roman"/>
            </a:endParaRPr>
          </a:p>
          <a:p>
            <a:pPr marL="12700" marR="980440">
              <a:lnSpc>
                <a:spcPct val="80000"/>
              </a:lnSpc>
              <a:spcBef>
                <a:spcPts val="5"/>
              </a:spcBef>
              <a:buSzPct val="96153"/>
              <a:buFont typeface="Times New Roman"/>
              <a:buChar char="•"/>
              <a:tabLst>
                <a:tab pos="129539" algn="l"/>
              </a:tabLst>
            </a:pPr>
            <a:r>
              <a:rPr sz="2600" b="1" spc="-80" dirty="0">
                <a:latin typeface="Times New Roman"/>
                <a:cs typeface="Times New Roman"/>
              </a:rPr>
              <a:t>Shares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software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resources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spc="45" dirty="0">
                <a:latin typeface="Times New Roman"/>
                <a:cs typeface="Times New Roman"/>
              </a:rPr>
              <a:t>with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spc="40" dirty="0">
                <a:latin typeface="Times New Roman"/>
                <a:cs typeface="Times New Roman"/>
              </a:rPr>
              <a:t>connecting </a:t>
            </a:r>
            <a:r>
              <a:rPr sz="2600" b="1" spc="-6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workstations.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80000"/>
              </a:lnSpc>
              <a:buSzPct val="96153"/>
              <a:buFont typeface="Times New Roman"/>
              <a:buChar char="•"/>
              <a:tabLst>
                <a:tab pos="129539" algn="l"/>
              </a:tabLst>
            </a:pPr>
            <a:r>
              <a:rPr sz="2600" b="1" spc="-30" dirty="0">
                <a:latin typeface="Times New Roman"/>
                <a:cs typeface="Times New Roman"/>
              </a:rPr>
              <a:t>Messages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sent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very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quickly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b="1" spc="65" dirty="0">
                <a:latin typeface="Times New Roman"/>
                <a:cs typeface="Times New Roman"/>
              </a:rPr>
              <a:t>to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latin typeface="Times New Roman"/>
                <a:cs typeface="Times New Roman"/>
              </a:rPr>
              <a:t>anyone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else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b="1" spc="65" dirty="0">
                <a:latin typeface="Times New Roman"/>
                <a:cs typeface="Times New Roman"/>
              </a:rPr>
              <a:t>on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spc="35" dirty="0">
                <a:latin typeface="Times New Roman"/>
                <a:cs typeface="Times New Roman"/>
              </a:rPr>
              <a:t>the </a:t>
            </a:r>
            <a:r>
              <a:rPr sz="2600" b="1" spc="-635" dirty="0">
                <a:latin typeface="Times New Roman"/>
                <a:cs typeface="Times New Roman"/>
              </a:rPr>
              <a:t> </a:t>
            </a:r>
            <a:r>
              <a:rPr sz="2600" b="1" spc="25" dirty="0">
                <a:latin typeface="Times New Roman"/>
                <a:cs typeface="Times New Roman"/>
              </a:rPr>
              <a:t>network</a:t>
            </a:r>
            <a:endParaRPr sz="2600">
              <a:latin typeface="Times New Roman"/>
              <a:cs typeface="Times New Roman"/>
            </a:endParaRPr>
          </a:p>
          <a:p>
            <a:pPr marL="128905" indent="-116839">
              <a:lnSpc>
                <a:spcPts val="2185"/>
              </a:lnSpc>
              <a:buSzPct val="96153"/>
              <a:buFont typeface="Times New Roman"/>
              <a:buChar char="•"/>
              <a:tabLst>
                <a:tab pos="129539" algn="l"/>
              </a:tabLst>
            </a:pPr>
            <a:r>
              <a:rPr sz="2600" b="1" spc="-20" dirty="0">
                <a:latin typeface="Times New Roman"/>
                <a:cs typeface="Times New Roman"/>
              </a:rPr>
              <a:t>Expensive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spc="5" dirty="0">
                <a:latin typeface="Times New Roman"/>
                <a:cs typeface="Times New Roman"/>
              </a:rPr>
              <a:t>things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(such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b="1" spc="-85" dirty="0">
                <a:latin typeface="Times New Roman"/>
                <a:cs typeface="Times New Roman"/>
              </a:rPr>
              <a:t>as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printers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spc="5" dirty="0">
                <a:latin typeface="Times New Roman"/>
                <a:cs typeface="Times New Roman"/>
              </a:rPr>
              <a:t>or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b="1" spc="50" dirty="0">
                <a:latin typeface="Times New Roman"/>
                <a:cs typeface="Times New Roman"/>
              </a:rPr>
              <a:t>phone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lines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b="1" spc="65" dirty="0">
                <a:latin typeface="Times New Roman"/>
                <a:cs typeface="Times New Roman"/>
              </a:rPr>
              <a:t>to</a:t>
            </a:r>
            <a:endParaRPr sz="2600">
              <a:latin typeface="Times New Roman"/>
              <a:cs typeface="Times New Roman"/>
            </a:endParaRPr>
          </a:p>
          <a:p>
            <a:pPr marL="12700" marR="73025" algn="just">
              <a:lnSpc>
                <a:spcPct val="80000"/>
              </a:lnSpc>
              <a:spcBef>
                <a:spcPts val="310"/>
              </a:spcBef>
            </a:pPr>
            <a:r>
              <a:rPr sz="2600" b="1" spc="30" dirty="0">
                <a:latin typeface="Times New Roman"/>
                <a:cs typeface="Times New Roman"/>
              </a:rPr>
              <a:t>th</a:t>
            </a:r>
            <a:r>
              <a:rPr sz="2600" b="1" spc="35" dirty="0">
                <a:latin typeface="Times New Roman"/>
                <a:cs typeface="Times New Roman"/>
              </a:rPr>
              <a:t>e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inte</a:t>
            </a:r>
            <a:r>
              <a:rPr sz="2600" b="1" spc="85" dirty="0">
                <a:latin typeface="Times New Roman"/>
                <a:cs typeface="Times New Roman"/>
              </a:rPr>
              <a:t>r</a:t>
            </a:r>
            <a:r>
              <a:rPr sz="2600" b="1" spc="50" dirty="0">
                <a:latin typeface="Times New Roman"/>
                <a:cs typeface="Times New Roman"/>
              </a:rPr>
              <a:t>net)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c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b="1" spc="-55" dirty="0">
                <a:latin typeface="Times New Roman"/>
                <a:cs typeface="Times New Roman"/>
              </a:rPr>
              <a:t>sh</a:t>
            </a:r>
            <a:r>
              <a:rPr sz="2600" b="1" spc="-70" dirty="0">
                <a:latin typeface="Times New Roman"/>
                <a:cs typeface="Times New Roman"/>
              </a:rPr>
              <a:t>a</a:t>
            </a:r>
            <a:r>
              <a:rPr sz="2600" b="1" spc="5" dirty="0">
                <a:latin typeface="Times New Roman"/>
                <a:cs typeface="Times New Roman"/>
              </a:rPr>
              <a:t>red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spc="-60" dirty="0">
                <a:latin typeface="Times New Roman"/>
                <a:cs typeface="Times New Roman"/>
              </a:rPr>
              <a:t>b</a:t>
            </a:r>
            <a:r>
              <a:rPr sz="2600" b="1" dirty="0">
                <a:latin typeface="Times New Roman"/>
                <a:cs typeface="Times New Roman"/>
              </a:rPr>
              <a:t>y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spc="-45" dirty="0">
                <a:latin typeface="Times New Roman"/>
                <a:cs typeface="Times New Roman"/>
              </a:rPr>
              <a:t>a</a:t>
            </a:r>
            <a:r>
              <a:rPr sz="2600" b="1" spc="-35" dirty="0">
                <a:latin typeface="Times New Roman"/>
                <a:cs typeface="Times New Roman"/>
              </a:rPr>
              <a:t>l</a:t>
            </a:r>
            <a:r>
              <a:rPr sz="2600" b="1" spc="35" dirty="0">
                <a:latin typeface="Times New Roman"/>
                <a:cs typeface="Times New Roman"/>
              </a:rPr>
              <a:t>l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spc="30" dirty="0">
                <a:latin typeface="Times New Roman"/>
                <a:cs typeface="Times New Roman"/>
              </a:rPr>
              <a:t>th</a:t>
            </a:r>
            <a:r>
              <a:rPr sz="2600" b="1" spc="35" dirty="0">
                <a:latin typeface="Times New Roman"/>
                <a:cs typeface="Times New Roman"/>
              </a:rPr>
              <a:t>e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spc="70" dirty="0">
                <a:latin typeface="Times New Roman"/>
                <a:cs typeface="Times New Roman"/>
              </a:rPr>
              <a:t>c</a:t>
            </a:r>
            <a:r>
              <a:rPr sz="2600" b="1" spc="10" dirty="0">
                <a:latin typeface="Times New Roman"/>
                <a:cs typeface="Times New Roman"/>
              </a:rPr>
              <a:t>ompute</a:t>
            </a:r>
            <a:r>
              <a:rPr sz="2600" b="1" spc="35" dirty="0">
                <a:latin typeface="Times New Roman"/>
                <a:cs typeface="Times New Roman"/>
              </a:rPr>
              <a:t>r</a:t>
            </a:r>
            <a:r>
              <a:rPr sz="2600" b="1" spc="-65" dirty="0">
                <a:latin typeface="Times New Roman"/>
                <a:cs typeface="Times New Roman"/>
              </a:rPr>
              <a:t>s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the  </a:t>
            </a:r>
            <a:r>
              <a:rPr sz="2600" b="1" spc="45" dirty="0">
                <a:latin typeface="Times New Roman"/>
                <a:cs typeface="Times New Roman"/>
              </a:rPr>
              <a:t>net</a:t>
            </a:r>
            <a:r>
              <a:rPr sz="2600" b="1" spc="5" dirty="0">
                <a:latin typeface="Times New Roman"/>
                <a:cs typeface="Times New Roman"/>
              </a:rPr>
              <a:t>w</a:t>
            </a:r>
            <a:r>
              <a:rPr sz="2600" b="1" spc="10" dirty="0">
                <a:latin typeface="Times New Roman"/>
                <a:cs typeface="Times New Roman"/>
              </a:rPr>
              <a:t>ork</a:t>
            </a:r>
            <a:r>
              <a:rPr sz="2600" b="1" spc="-9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without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h</a:t>
            </a:r>
            <a:r>
              <a:rPr sz="2600" spc="-254" dirty="0">
                <a:latin typeface="Times New Roman"/>
                <a:cs typeface="Times New Roman"/>
              </a:rPr>
              <a:t>a</a:t>
            </a:r>
            <a:r>
              <a:rPr sz="2600" spc="-170" dirty="0">
                <a:latin typeface="Times New Roman"/>
                <a:cs typeface="Times New Roman"/>
              </a:rPr>
              <a:t>ving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b</a:t>
            </a:r>
            <a:r>
              <a:rPr sz="2600" spc="-165" dirty="0">
                <a:latin typeface="Times New Roman"/>
                <a:cs typeface="Times New Roman"/>
              </a:rPr>
              <a:t>uy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diff</a:t>
            </a:r>
            <a:r>
              <a:rPr sz="2600" spc="-40" dirty="0">
                <a:latin typeface="Times New Roman"/>
                <a:cs typeface="Times New Roman"/>
              </a:rPr>
              <a:t>e</a:t>
            </a:r>
            <a:r>
              <a:rPr sz="2600" spc="-55" dirty="0">
                <a:latin typeface="Times New Roman"/>
                <a:cs typeface="Times New Roman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ent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pe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ipheral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f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30" dirty="0">
                <a:latin typeface="Times New Roman"/>
                <a:cs typeface="Times New Roman"/>
              </a:rPr>
              <a:t>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ea</a:t>
            </a:r>
            <a:r>
              <a:rPr sz="2600" spc="-114" dirty="0">
                <a:latin typeface="Times New Roman"/>
                <a:cs typeface="Times New Roman"/>
              </a:rPr>
              <a:t>c</a:t>
            </a:r>
            <a:r>
              <a:rPr sz="2600" spc="-110" dirty="0">
                <a:latin typeface="Times New Roman"/>
                <a:cs typeface="Times New Roman"/>
              </a:rPr>
              <a:t>h  </a:t>
            </a:r>
            <a:r>
              <a:rPr sz="2600" spc="-90" dirty="0">
                <a:latin typeface="Times New Roman"/>
                <a:cs typeface="Times New Roman"/>
              </a:rPr>
              <a:t>computer.</a:t>
            </a:r>
            <a:endParaRPr sz="2600">
              <a:latin typeface="Times New Roman"/>
              <a:cs typeface="Times New Roman"/>
            </a:endParaRPr>
          </a:p>
          <a:p>
            <a:pPr marL="128905" indent="-116839" algn="just">
              <a:lnSpc>
                <a:spcPts val="2185"/>
              </a:lnSpc>
              <a:buSzPct val="96153"/>
              <a:buFont typeface="Times New Roman"/>
              <a:buChar char="•"/>
              <a:tabLst>
                <a:tab pos="129539" algn="l"/>
              </a:tabLst>
            </a:pPr>
            <a:r>
              <a:rPr sz="2600" b="1" spc="-235" dirty="0">
                <a:latin typeface="Times New Roman"/>
                <a:cs typeface="Times New Roman"/>
              </a:rPr>
              <a:t>E</a:t>
            </a:r>
            <a:r>
              <a:rPr sz="2600" b="1" spc="-215" dirty="0">
                <a:latin typeface="Times New Roman"/>
                <a:cs typeface="Times New Roman"/>
              </a:rPr>
              <a:t>v</a:t>
            </a:r>
            <a:r>
              <a:rPr sz="2600" b="1" spc="-20" dirty="0">
                <a:latin typeface="Times New Roman"/>
                <a:cs typeface="Times New Roman"/>
              </a:rPr>
              <a:t>e</a:t>
            </a:r>
            <a:r>
              <a:rPr sz="2600" b="1" spc="30" dirty="0">
                <a:latin typeface="Times New Roman"/>
                <a:cs typeface="Times New Roman"/>
              </a:rPr>
              <a:t>r</a:t>
            </a:r>
            <a:r>
              <a:rPr sz="2600" b="1" spc="-70" dirty="0">
                <a:latin typeface="Times New Roman"/>
                <a:cs typeface="Times New Roman"/>
              </a:rPr>
              <a:t>y</a:t>
            </a:r>
            <a:r>
              <a:rPr sz="2600" b="1" spc="65" dirty="0">
                <a:latin typeface="Times New Roman"/>
                <a:cs typeface="Times New Roman"/>
              </a:rPr>
              <a:t>one</a:t>
            </a:r>
            <a:r>
              <a:rPr sz="2600" b="1" spc="-95" dirty="0">
                <a:latin typeface="Times New Roman"/>
                <a:cs typeface="Times New Roman"/>
              </a:rPr>
              <a:t> </a:t>
            </a:r>
            <a:r>
              <a:rPr sz="2600" b="1" spc="65" dirty="0">
                <a:latin typeface="Times New Roman"/>
                <a:cs typeface="Times New Roman"/>
              </a:rPr>
              <a:t>on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b="1" spc="45" dirty="0">
                <a:latin typeface="Times New Roman"/>
                <a:cs typeface="Times New Roman"/>
              </a:rPr>
              <a:t>net</a:t>
            </a:r>
            <a:r>
              <a:rPr sz="2600" b="1" spc="5" dirty="0">
                <a:latin typeface="Times New Roman"/>
                <a:cs typeface="Times New Roman"/>
              </a:rPr>
              <a:t>w</a:t>
            </a:r>
            <a:r>
              <a:rPr sz="2600" b="1" spc="10" dirty="0">
                <a:latin typeface="Times New Roman"/>
                <a:cs typeface="Times New Roman"/>
              </a:rPr>
              <a:t>ork</a:t>
            </a:r>
            <a:r>
              <a:rPr sz="2600" b="1" spc="-8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c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b="1" spc="5" dirty="0">
                <a:latin typeface="Times New Roman"/>
                <a:cs typeface="Times New Roman"/>
              </a:rPr>
              <a:t>use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b="1" spc="-55" dirty="0">
                <a:latin typeface="Times New Roman"/>
                <a:cs typeface="Times New Roman"/>
              </a:rPr>
              <a:t>sam</a:t>
            </a:r>
            <a:r>
              <a:rPr sz="2600" b="1" spc="-40" dirty="0">
                <a:latin typeface="Times New Roman"/>
                <a:cs typeface="Times New Roman"/>
              </a:rPr>
              <a:t>e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spc="-35" dirty="0">
                <a:latin typeface="Times New Roman"/>
                <a:cs typeface="Times New Roman"/>
              </a:rPr>
              <a:t>d</a:t>
            </a:r>
            <a:r>
              <a:rPr sz="2600" b="1" spc="-70" dirty="0">
                <a:latin typeface="Times New Roman"/>
                <a:cs typeface="Times New Roman"/>
              </a:rPr>
              <a:t>a</a:t>
            </a:r>
            <a:r>
              <a:rPr sz="2600" b="1" spc="-25" dirty="0">
                <a:latin typeface="Times New Roman"/>
                <a:cs typeface="Times New Roman"/>
              </a:rPr>
              <a:t>ta</a:t>
            </a:r>
            <a:r>
              <a:rPr sz="2600" b="1" spc="-15" dirty="0">
                <a:latin typeface="Times New Roman"/>
                <a:cs typeface="Times New Roman"/>
              </a:rPr>
              <a:t>.</a:t>
            </a:r>
            <a:r>
              <a:rPr sz="2600" b="1" spc="-37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This</a:t>
            </a:r>
            <a:endParaRPr sz="2600">
              <a:latin typeface="Times New Roman"/>
              <a:cs typeface="Times New Roman"/>
            </a:endParaRPr>
          </a:p>
          <a:p>
            <a:pPr marL="12700" marR="1100455" algn="just">
              <a:lnSpc>
                <a:spcPts val="2500"/>
              </a:lnSpc>
              <a:spcBef>
                <a:spcPts val="290"/>
              </a:spcBef>
            </a:pPr>
            <a:r>
              <a:rPr sz="2600" b="1" spc="-215" dirty="0">
                <a:latin typeface="Times New Roman"/>
                <a:cs typeface="Times New Roman"/>
              </a:rPr>
              <a:t>a</a:t>
            </a:r>
            <a:r>
              <a:rPr sz="2600" b="1" spc="-45" dirty="0">
                <a:latin typeface="Times New Roman"/>
                <a:cs typeface="Times New Roman"/>
              </a:rPr>
              <a:t>v</a:t>
            </a:r>
            <a:r>
              <a:rPr sz="2600" b="1" spc="30" dirty="0">
                <a:latin typeface="Times New Roman"/>
                <a:cs typeface="Times New Roman"/>
              </a:rPr>
              <a:t>oids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pro</a:t>
            </a:r>
            <a:r>
              <a:rPr sz="2600" b="1" spc="-30" dirty="0">
                <a:latin typeface="Times New Roman"/>
                <a:cs typeface="Times New Roman"/>
              </a:rPr>
              <a:t>b</a:t>
            </a:r>
            <a:r>
              <a:rPr sz="2600" b="1" spc="-10" dirty="0">
                <a:latin typeface="Times New Roman"/>
                <a:cs typeface="Times New Roman"/>
              </a:rPr>
              <a:t>lems</a:t>
            </a:r>
            <a:r>
              <a:rPr sz="2600" b="1" spc="-8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whe</a:t>
            </a:r>
            <a:r>
              <a:rPr sz="2600" spc="-90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some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use</a:t>
            </a:r>
            <a:r>
              <a:rPr sz="2600" spc="-35" dirty="0">
                <a:latin typeface="Times New Roman"/>
                <a:cs typeface="Times New Roman"/>
              </a:rPr>
              <a:t>r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m</a:t>
            </a:r>
            <a:r>
              <a:rPr sz="2600" spc="-310" dirty="0">
                <a:latin typeface="Times New Roman"/>
                <a:cs typeface="Times New Roman"/>
              </a:rPr>
              <a:t>a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h</a:t>
            </a:r>
            <a:r>
              <a:rPr sz="2600" spc="-245" dirty="0">
                <a:latin typeface="Times New Roman"/>
                <a:cs typeface="Times New Roman"/>
              </a:rPr>
              <a:t>a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b="1" spc="25" dirty="0">
                <a:latin typeface="Times New Roman"/>
                <a:cs typeface="Times New Roman"/>
              </a:rPr>
              <a:t>older  </a:t>
            </a:r>
            <a:r>
              <a:rPr sz="2600" b="1" dirty="0">
                <a:latin typeface="Times New Roman"/>
                <a:cs typeface="Times New Roman"/>
              </a:rPr>
              <a:t>info</a:t>
            </a:r>
            <a:r>
              <a:rPr sz="2600" b="1" spc="65" dirty="0">
                <a:latin typeface="Times New Roman"/>
                <a:cs typeface="Times New Roman"/>
              </a:rPr>
              <a:t>r</a:t>
            </a:r>
            <a:r>
              <a:rPr sz="2600" b="1" spc="-120" dirty="0">
                <a:latin typeface="Times New Roman"/>
                <a:cs typeface="Times New Roman"/>
              </a:rPr>
              <a:t>m</a:t>
            </a:r>
            <a:r>
              <a:rPr sz="2600" b="1" spc="-100" dirty="0">
                <a:latin typeface="Times New Roman"/>
                <a:cs typeface="Times New Roman"/>
              </a:rPr>
              <a:t>a</a:t>
            </a:r>
            <a:r>
              <a:rPr sz="2600" b="1" spc="35" dirty="0">
                <a:latin typeface="Times New Roman"/>
                <a:cs typeface="Times New Roman"/>
              </a:rPr>
              <a:t>tio</a:t>
            </a:r>
            <a:r>
              <a:rPr sz="2600" b="1" spc="65" dirty="0">
                <a:latin typeface="Times New Roman"/>
                <a:cs typeface="Times New Roman"/>
              </a:rPr>
              <a:t>n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than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oth</a:t>
            </a:r>
            <a:r>
              <a:rPr sz="2600" spc="-95" dirty="0">
                <a:latin typeface="Times New Roman"/>
                <a:cs typeface="Times New Roman"/>
              </a:rPr>
              <a:t>e</a:t>
            </a:r>
            <a:r>
              <a:rPr sz="2600" spc="75" dirty="0">
                <a:latin typeface="Times New Roman"/>
                <a:cs typeface="Times New Roman"/>
              </a:rPr>
              <a:t>r</a:t>
            </a:r>
            <a:r>
              <a:rPr sz="2600" spc="-250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43186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80" dirty="0"/>
              <a:t>W</a:t>
            </a:r>
            <a:r>
              <a:rPr sz="4000" spc="-125" dirty="0"/>
              <a:t>AN</a:t>
            </a:r>
            <a:r>
              <a:rPr sz="4000" dirty="0"/>
              <a:t> </a:t>
            </a:r>
            <a:r>
              <a:rPr sz="4000" spc="-25" dirty="0"/>
              <a:t>Disa</a:t>
            </a:r>
            <a:r>
              <a:rPr sz="4000" spc="-45" dirty="0"/>
              <a:t>d</a:t>
            </a:r>
            <a:r>
              <a:rPr sz="4000" spc="-20" dirty="0"/>
              <a:t>v</a:t>
            </a:r>
            <a:r>
              <a:rPr sz="4000" spc="-45" dirty="0"/>
              <a:t>ant</a:t>
            </a:r>
            <a:r>
              <a:rPr sz="4000" spc="-35" dirty="0"/>
              <a:t>ages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04874"/>
            <a:ext cx="7614284" cy="434657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455"/>
              </a:spcBef>
              <a:buSzPct val="96153"/>
              <a:buFont typeface="Times New Roman"/>
              <a:buChar char="•"/>
              <a:tabLst>
                <a:tab pos="129539" algn="l"/>
              </a:tabLst>
            </a:pPr>
            <a:r>
              <a:rPr sz="2600" b="1" spc="-5" dirty="0">
                <a:latin typeface="Times New Roman"/>
                <a:cs typeface="Times New Roman"/>
              </a:rPr>
              <a:t>Ne</a:t>
            </a:r>
            <a:r>
              <a:rPr sz="2600" b="1" dirty="0">
                <a:latin typeface="Times New Roman"/>
                <a:cs typeface="Times New Roman"/>
              </a:rPr>
              <a:t>e</a:t>
            </a:r>
            <a:r>
              <a:rPr sz="2600" b="1" spc="45" dirty="0">
                <a:latin typeface="Times New Roman"/>
                <a:cs typeface="Times New Roman"/>
              </a:rPr>
              <a:t>d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spc="-110" dirty="0">
                <a:latin typeface="Times New Roman"/>
                <a:cs typeface="Times New Roman"/>
              </a:rPr>
              <a:t>a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spc="80" dirty="0">
                <a:latin typeface="Times New Roman"/>
                <a:cs typeface="Times New Roman"/>
              </a:rPr>
              <a:t>go</a:t>
            </a:r>
            <a:r>
              <a:rPr sz="2600" b="1" spc="85" dirty="0">
                <a:latin typeface="Times New Roman"/>
                <a:cs typeface="Times New Roman"/>
              </a:rPr>
              <a:t>o</a:t>
            </a:r>
            <a:r>
              <a:rPr sz="2600" b="1" spc="45" dirty="0">
                <a:latin typeface="Times New Roman"/>
                <a:cs typeface="Times New Roman"/>
              </a:rPr>
              <a:t>d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fir</a:t>
            </a:r>
            <a:r>
              <a:rPr sz="2600" b="1" spc="-45" dirty="0">
                <a:latin typeface="Times New Roman"/>
                <a:cs typeface="Times New Roman"/>
              </a:rPr>
              <a:t>e</a:t>
            </a:r>
            <a:r>
              <a:rPr sz="2600" b="1" spc="75" dirty="0">
                <a:latin typeface="Times New Roman"/>
                <a:cs typeface="Times New Roman"/>
              </a:rPr>
              <a:t>w</a:t>
            </a:r>
            <a:r>
              <a:rPr sz="2600" b="1" spc="-45" dirty="0">
                <a:latin typeface="Times New Roman"/>
                <a:cs typeface="Times New Roman"/>
              </a:rPr>
              <a:t>a</a:t>
            </a:r>
            <a:r>
              <a:rPr sz="2600" b="1" spc="-35" dirty="0">
                <a:latin typeface="Times New Roman"/>
                <a:cs typeface="Times New Roman"/>
              </a:rPr>
              <a:t>l</a:t>
            </a:r>
            <a:r>
              <a:rPr sz="2600" b="1" spc="35" dirty="0">
                <a:latin typeface="Times New Roman"/>
                <a:cs typeface="Times New Roman"/>
              </a:rPr>
              <a:t>l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spc="50" dirty="0">
                <a:latin typeface="Times New Roman"/>
                <a:cs typeface="Times New Roman"/>
              </a:rPr>
              <a:t>t</a:t>
            </a:r>
            <a:r>
              <a:rPr sz="2600" b="1" spc="85" dirty="0">
                <a:latin typeface="Times New Roman"/>
                <a:cs typeface="Times New Roman"/>
              </a:rPr>
              <a:t>o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spc="-35" dirty="0">
                <a:latin typeface="Times New Roman"/>
                <a:cs typeface="Times New Roman"/>
              </a:rPr>
              <a:t>rest</a:t>
            </a:r>
            <a:r>
              <a:rPr sz="2600" b="1" spc="5" dirty="0">
                <a:latin typeface="Times New Roman"/>
                <a:cs typeface="Times New Roman"/>
              </a:rPr>
              <a:t>r</a:t>
            </a:r>
            <a:r>
              <a:rPr sz="2600" b="1" spc="45" dirty="0">
                <a:latin typeface="Times New Roman"/>
                <a:cs typeface="Times New Roman"/>
              </a:rPr>
              <a:t>ict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outside</a:t>
            </a:r>
            <a:r>
              <a:rPr sz="2600" b="1" spc="30" dirty="0">
                <a:latin typeface="Times New Roman"/>
                <a:cs typeface="Times New Roman"/>
              </a:rPr>
              <a:t>r</a:t>
            </a:r>
            <a:r>
              <a:rPr sz="2600" b="1" spc="-65" dirty="0">
                <a:latin typeface="Times New Roman"/>
                <a:cs typeface="Times New Roman"/>
              </a:rPr>
              <a:t>s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f</a:t>
            </a:r>
            <a:r>
              <a:rPr sz="2600" spc="-110" dirty="0">
                <a:latin typeface="Times New Roman"/>
                <a:cs typeface="Times New Roman"/>
              </a:rPr>
              <a:t>r</a:t>
            </a:r>
            <a:r>
              <a:rPr sz="2600" spc="-130" dirty="0">
                <a:latin typeface="Times New Roman"/>
                <a:cs typeface="Times New Roman"/>
              </a:rPr>
              <a:t>om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20" dirty="0">
                <a:latin typeface="Times New Roman"/>
                <a:cs typeface="Times New Roman"/>
              </a:rPr>
              <a:t>n</a:t>
            </a:r>
            <a:r>
              <a:rPr sz="2600" spc="-10" dirty="0">
                <a:latin typeface="Times New Roman"/>
                <a:cs typeface="Times New Roman"/>
              </a:rPr>
              <a:t>te</a:t>
            </a:r>
            <a:r>
              <a:rPr sz="2600" spc="30" dirty="0">
                <a:latin typeface="Times New Roman"/>
                <a:cs typeface="Times New Roman"/>
              </a:rPr>
              <a:t>r</a:t>
            </a:r>
            <a:r>
              <a:rPr sz="2600" spc="-125" dirty="0">
                <a:latin typeface="Times New Roman"/>
                <a:cs typeface="Times New Roman"/>
              </a:rPr>
              <a:t>ing 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dis</a:t>
            </a:r>
            <a:r>
              <a:rPr sz="2600" spc="-30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u</a:t>
            </a:r>
            <a:r>
              <a:rPr sz="2600" spc="-125" dirty="0">
                <a:latin typeface="Times New Roman"/>
                <a:cs typeface="Times New Roman"/>
              </a:rPr>
              <a:t>p</a:t>
            </a:r>
            <a:r>
              <a:rPr sz="2600" spc="-105" dirty="0">
                <a:latin typeface="Times New Roman"/>
                <a:cs typeface="Times New Roman"/>
              </a:rPr>
              <a:t>ting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n</a:t>
            </a:r>
            <a:r>
              <a:rPr sz="2600" spc="-50" dirty="0">
                <a:latin typeface="Times New Roman"/>
                <a:cs typeface="Times New Roman"/>
              </a:rPr>
              <a:t>et</a:t>
            </a:r>
            <a:r>
              <a:rPr sz="2600" spc="-204" dirty="0">
                <a:latin typeface="Times New Roman"/>
                <a:cs typeface="Times New Roman"/>
              </a:rPr>
              <a:t>w</a:t>
            </a:r>
            <a:r>
              <a:rPr sz="2600" spc="-80" dirty="0">
                <a:latin typeface="Times New Roman"/>
                <a:cs typeface="Times New Roman"/>
              </a:rPr>
              <a:t>ork</a:t>
            </a:r>
            <a:endParaRPr sz="2600">
              <a:latin typeface="Times New Roman"/>
              <a:cs typeface="Times New Roman"/>
            </a:endParaRPr>
          </a:p>
          <a:p>
            <a:pPr marL="12700" marR="774700">
              <a:lnSpc>
                <a:spcPts val="2810"/>
              </a:lnSpc>
              <a:buSzPct val="96153"/>
              <a:buChar char="•"/>
              <a:tabLst>
                <a:tab pos="129539" algn="l"/>
              </a:tabLst>
            </a:pPr>
            <a:r>
              <a:rPr sz="2600" spc="-125" dirty="0">
                <a:latin typeface="Times New Roman"/>
                <a:cs typeface="Times New Roman"/>
              </a:rPr>
              <a:t>Setting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up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25" dirty="0">
                <a:latin typeface="Times New Roman"/>
                <a:cs typeface="Times New Roman"/>
              </a:rPr>
              <a:t>network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an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b="1" spc="25" dirty="0">
                <a:latin typeface="Times New Roman"/>
                <a:cs typeface="Times New Roman"/>
              </a:rPr>
              <a:t>expensive,</a:t>
            </a:r>
            <a:r>
              <a:rPr sz="2600" b="1" spc="-170" dirty="0">
                <a:latin typeface="Times New Roman"/>
                <a:cs typeface="Times New Roman"/>
              </a:rPr>
              <a:t> </a:t>
            </a:r>
            <a:r>
              <a:rPr sz="2600" b="1" spc="25" dirty="0">
                <a:latin typeface="Times New Roman"/>
                <a:cs typeface="Times New Roman"/>
              </a:rPr>
              <a:t>slow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latin typeface="Times New Roman"/>
                <a:cs typeface="Times New Roman"/>
              </a:rPr>
              <a:t>and </a:t>
            </a:r>
            <a:r>
              <a:rPr sz="2600" b="1" spc="-635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complicated. </a:t>
            </a:r>
            <a:r>
              <a:rPr sz="2600" spc="-130" dirty="0">
                <a:latin typeface="Times New Roman"/>
                <a:cs typeface="Times New Roman"/>
              </a:rPr>
              <a:t>The </a:t>
            </a:r>
            <a:r>
              <a:rPr sz="2600" b="1" spc="5" dirty="0">
                <a:latin typeface="Times New Roman"/>
                <a:cs typeface="Times New Roman"/>
              </a:rPr>
              <a:t>bigger </a:t>
            </a:r>
            <a:r>
              <a:rPr sz="2600" b="1" spc="35" dirty="0">
                <a:latin typeface="Times New Roman"/>
                <a:cs typeface="Times New Roman"/>
              </a:rPr>
              <a:t>the </a:t>
            </a:r>
            <a:r>
              <a:rPr sz="2600" b="1" spc="25" dirty="0">
                <a:latin typeface="Times New Roman"/>
                <a:cs typeface="Times New Roman"/>
              </a:rPr>
              <a:t>network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b="1" dirty="0">
                <a:latin typeface="Times New Roman"/>
                <a:cs typeface="Times New Roman"/>
              </a:rPr>
              <a:t>more 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25" dirty="0">
                <a:latin typeface="Times New Roman"/>
                <a:cs typeface="Times New Roman"/>
              </a:rPr>
              <a:t>expensive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it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is.</a:t>
            </a:r>
            <a:endParaRPr sz="2600">
              <a:latin typeface="Times New Roman"/>
              <a:cs typeface="Times New Roman"/>
            </a:endParaRPr>
          </a:p>
          <a:p>
            <a:pPr marL="128905" indent="-116839">
              <a:lnSpc>
                <a:spcPts val="2605"/>
              </a:lnSpc>
              <a:buSzPct val="96153"/>
              <a:buChar char="•"/>
              <a:tabLst>
                <a:tab pos="129539" algn="l"/>
              </a:tabLst>
            </a:pPr>
            <a:r>
              <a:rPr sz="2600" spc="-90" dirty="0">
                <a:latin typeface="Times New Roman"/>
                <a:cs typeface="Times New Roman"/>
              </a:rPr>
              <a:t>Once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set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up,</a:t>
            </a:r>
            <a:r>
              <a:rPr sz="2600" spc="-17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maintaining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spc="-110" dirty="0">
                <a:latin typeface="Times New Roman"/>
                <a:cs typeface="Times New Roman"/>
              </a:rPr>
              <a:t>a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spc="25" dirty="0">
                <a:latin typeface="Times New Roman"/>
                <a:cs typeface="Times New Roman"/>
              </a:rPr>
              <a:t>network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full-time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job</a:t>
            </a:r>
            <a:endParaRPr sz="2600">
              <a:latin typeface="Times New Roman"/>
              <a:cs typeface="Times New Roman"/>
            </a:endParaRPr>
          </a:p>
          <a:p>
            <a:pPr marL="12700" marR="175895">
              <a:lnSpc>
                <a:spcPts val="2810"/>
              </a:lnSpc>
              <a:spcBef>
                <a:spcPts val="195"/>
              </a:spcBef>
            </a:pPr>
            <a:r>
              <a:rPr sz="2600" spc="-140" dirty="0">
                <a:latin typeface="Times New Roman"/>
                <a:cs typeface="Times New Roman"/>
              </a:rPr>
              <a:t>which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requires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b="1" spc="25" dirty="0">
                <a:latin typeface="Times New Roman"/>
                <a:cs typeface="Times New Roman"/>
              </a:rPr>
              <a:t>network</a:t>
            </a:r>
            <a:r>
              <a:rPr sz="2600" b="1" spc="-90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supervisors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technicians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to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empl</a:t>
            </a:r>
            <a:r>
              <a:rPr sz="2600" spc="-200" dirty="0">
                <a:latin typeface="Times New Roman"/>
                <a:cs typeface="Times New Roman"/>
              </a:rPr>
              <a:t>o</a:t>
            </a:r>
            <a:r>
              <a:rPr sz="2600" spc="-260" dirty="0">
                <a:latin typeface="Times New Roman"/>
                <a:cs typeface="Times New Roman"/>
              </a:rPr>
              <a:t>y</a:t>
            </a:r>
            <a:r>
              <a:rPr sz="2600" spc="-35" dirty="0">
                <a:latin typeface="Times New Roman"/>
                <a:cs typeface="Times New Roman"/>
              </a:rPr>
              <a:t>ed.</a:t>
            </a:r>
            <a:endParaRPr sz="2600">
              <a:latin typeface="Times New Roman"/>
              <a:cs typeface="Times New Roman"/>
            </a:endParaRPr>
          </a:p>
          <a:p>
            <a:pPr marL="128905" indent="-116839">
              <a:lnSpc>
                <a:spcPts val="2610"/>
              </a:lnSpc>
              <a:buSzPct val="96153"/>
              <a:buFont typeface="Times New Roman"/>
              <a:buChar char="•"/>
              <a:tabLst>
                <a:tab pos="129539" algn="l"/>
              </a:tabLst>
            </a:pPr>
            <a:r>
              <a:rPr sz="2600" b="1" spc="-15" dirty="0">
                <a:latin typeface="Times New Roman"/>
                <a:cs typeface="Times New Roman"/>
              </a:rPr>
              <a:t>Security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real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issue</a:t>
            </a:r>
            <a:r>
              <a:rPr sz="2600" b="1" spc="-5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when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90" dirty="0">
                <a:latin typeface="Times New Roman"/>
                <a:cs typeface="Times New Roman"/>
              </a:rPr>
              <a:t>many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different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60" dirty="0">
                <a:latin typeface="Times New Roman"/>
                <a:cs typeface="Times New Roman"/>
              </a:rPr>
              <a:t>people</a:t>
            </a:r>
            <a:r>
              <a:rPr sz="2600" b="1" spc="-50" dirty="0">
                <a:latin typeface="Times New Roman"/>
                <a:cs typeface="Times New Roman"/>
              </a:rPr>
              <a:t> </a:t>
            </a:r>
            <a:r>
              <a:rPr sz="2600" b="1" spc="-45" dirty="0">
                <a:latin typeface="Times New Roman"/>
                <a:cs typeface="Times New Roman"/>
              </a:rPr>
              <a:t>have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ts val="2810"/>
              </a:lnSpc>
            </a:pPr>
            <a:r>
              <a:rPr sz="2600" b="1" spc="35" dirty="0">
                <a:latin typeface="Times New Roman"/>
                <a:cs typeface="Times New Roman"/>
              </a:rPr>
              <a:t>the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ability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spc="65" dirty="0">
                <a:latin typeface="Times New Roman"/>
                <a:cs typeface="Times New Roman"/>
              </a:rPr>
              <a:t>to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spc="5" dirty="0">
                <a:latin typeface="Times New Roman"/>
                <a:cs typeface="Times New Roman"/>
              </a:rPr>
              <a:t>use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spc="5" dirty="0">
                <a:latin typeface="Times New Roman"/>
                <a:cs typeface="Times New Roman"/>
              </a:rPr>
              <a:t>information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b="1" spc="-30" dirty="0">
                <a:latin typeface="Times New Roman"/>
                <a:cs typeface="Times New Roman"/>
              </a:rPr>
              <a:t>from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b="1" spc="25" dirty="0">
                <a:latin typeface="Times New Roman"/>
                <a:cs typeface="Times New Roman"/>
              </a:rPr>
              <a:t>other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computers.</a:t>
            </a:r>
            <a:endParaRPr sz="2600">
              <a:latin typeface="Times New Roman"/>
              <a:cs typeface="Times New Roman"/>
            </a:endParaRPr>
          </a:p>
          <a:p>
            <a:pPr marL="12700" marR="872490">
              <a:lnSpc>
                <a:spcPts val="2810"/>
              </a:lnSpc>
              <a:spcBef>
                <a:spcPts val="200"/>
              </a:spcBef>
              <a:buSzPct val="96153"/>
              <a:buFont typeface="Times New Roman"/>
              <a:buChar char="•"/>
              <a:tabLst>
                <a:tab pos="129539" algn="l"/>
              </a:tabLst>
            </a:pPr>
            <a:r>
              <a:rPr sz="2600" b="1" spc="15" dirty="0">
                <a:latin typeface="Times New Roman"/>
                <a:cs typeface="Times New Roman"/>
              </a:rPr>
              <a:t>Protection </a:t>
            </a:r>
            <a:r>
              <a:rPr sz="2600" spc="-150" dirty="0">
                <a:latin typeface="Times New Roman"/>
                <a:cs typeface="Times New Roman"/>
              </a:rPr>
              <a:t>against </a:t>
            </a:r>
            <a:r>
              <a:rPr sz="2600" b="1" spc="-25" dirty="0">
                <a:latin typeface="Times New Roman"/>
                <a:cs typeface="Times New Roman"/>
              </a:rPr>
              <a:t>hackers </a:t>
            </a:r>
            <a:r>
              <a:rPr sz="2600" b="1" spc="-20" dirty="0">
                <a:latin typeface="Times New Roman"/>
                <a:cs typeface="Times New Roman"/>
              </a:rPr>
              <a:t>and </a:t>
            </a:r>
            <a:r>
              <a:rPr sz="2600" b="1" spc="-5" dirty="0">
                <a:latin typeface="Times New Roman"/>
                <a:cs typeface="Times New Roman"/>
              </a:rPr>
              <a:t>viruses </a:t>
            </a:r>
            <a:r>
              <a:rPr sz="2600" spc="-160" dirty="0">
                <a:latin typeface="Times New Roman"/>
                <a:cs typeface="Times New Roman"/>
              </a:rPr>
              <a:t>adds </a:t>
            </a:r>
            <a:r>
              <a:rPr sz="2600" b="1" dirty="0">
                <a:latin typeface="Times New Roman"/>
                <a:cs typeface="Times New Roman"/>
              </a:rPr>
              <a:t>more </a:t>
            </a:r>
            <a:r>
              <a:rPr sz="2600" b="1" spc="-635" dirty="0">
                <a:latin typeface="Times New Roman"/>
                <a:cs typeface="Times New Roman"/>
              </a:rPr>
              <a:t> </a:t>
            </a:r>
            <a:r>
              <a:rPr sz="2600" b="1" spc="40" dirty="0">
                <a:latin typeface="Times New Roman"/>
                <a:cs typeface="Times New Roman"/>
              </a:rPr>
              <a:t>complexit</a:t>
            </a:r>
            <a:r>
              <a:rPr sz="2600" b="1" spc="45" dirty="0">
                <a:latin typeface="Times New Roman"/>
                <a:cs typeface="Times New Roman"/>
              </a:rPr>
              <a:t>y</a:t>
            </a:r>
            <a:r>
              <a:rPr sz="2600" b="1" spc="-5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b="1" spc="40" dirty="0">
                <a:latin typeface="Times New Roman"/>
                <a:cs typeface="Times New Roman"/>
              </a:rPr>
              <a:t>expense.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58801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0" dirty="0"/>
              <a:t>PAN-Personal</a:t>
            </a:r>
            <a:r>
              <a:rPr sz="4000" spc="10" dirty="0"/>
              <a:t> </a:t>
            </a:r>
            <a:r>
              <a:rPr sz="4000" spc="-90" dirty="0"/>
              <a:t>Area</a:t>
            </a:r>
            <a:r>
              <a:rPr sz="4000" spc="-25" dirty="0"/>
              <a:t> </a:t>
            </a:r>
            <a:r>
              <a:rPr sz="4000" spc="-70" dirty="0"/>
              <a:t>Network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519034" cy="3028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  <a:tab pos="5022215" algn="l"/>
              </a:tabLst>
            </a:pPr>
            <a:r>
              <a:rPr sz="2600" spc="-330" dirty="0">
                <a:latin typeface="Times New Roman"/>
                <a:cs typeface="Times New Roman"/>
              </a:rPr>
              <a:t>P</a:t>
            </a:r>
            <a:r>
              <a:rPr sz="2600" spc="-245" dirty="0">
                <a:latin typeface="Times New Roman"/>
                <a:cs typeface="Times New Roman"/>
              </a:rPr>
              <a:t>A</a:t>
            </a:r>
            <a:r>
              <a:rPr sz="2600" spc="-240" dirty="0">
                <a:latin typeface="Times New Roman"/>
                <a:cs typeface="Times New Roman"/>
              </a:rPr>
              <a:t>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s</a:t>
            </a:r>
            <a:r>
              <a:rPr sz="2600" spc="-80" dirty="0">
                <a:latin typeface="Times New Roman"/>
                <a:cs typeface="Times New Roman"/>
              </a:rPr>
              <a:t>t</a:t>
            </a:r>
            <a:r>
              <a:rPr sz="2600" spc="-145" dirty="0">
                <a:latin typeface="Times New Roman"/>
                <a:cs typeface="Times New Roman"/>
              </a:rPr>
              <a:t>an</a:t>
            </a:r>
            <a:r>
              <a:rPr sz="2600" spc="-160" dirty="0">
                <a:latin typeface="Times New Roman"/>
                <a:cs typeface="Times New Roman"/>
              </a:rPr>
              <a:t>d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for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u="heavy" spc="-6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pe</a:t>
            </a:r>
            <a:r>
              <a:rPr sz="2600" u="heavy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r</a:t>
            </a:r>
            <a:r>
              <a:rPr sz="2600" u="heavy" spc="-13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so</a:t>
            </a:r>
            <a:r>
              <a:rPr sz="2600" u="heavy" spc="-16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n</a:t>
            </a:r>
            <a:r>
              <a:rPr sz="2600" u="heavy" spc="-2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a</a:t>
            </a:r>
            <a:r>
              <a:rPr sz="2600" u="heavy" spc="-10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l</a:t>
            </a:r>
            <a:r>
              <a:rPr sz="2600" u="heavy" spc="-7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2600" u="heavy" spc="-10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a</a:t>
            </a:r>
            <a:r>
              <a:rPr sz="2600" u="heavy" spc="-10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re</a:t>
            </a:r>
            <a:r>
              <a:rPr sz="2600" u="heavy" spc="-204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a</a:t>
            </a:r>
            <a:r>
              <a:rPr sz="2600" u="heavy" spc="-8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2600" u="heavy" spc="-6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ne</a:t>
            </a:r>
            <a:r>
              <a:rPr sz="2600" u="heavy" spc="-5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t</a:t>
            </a:r>
            <a:r>
              <a:rPr sz="2600" u="heavy" spc="-24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w</a:t>
            </a:r>
            <a:r>
              <a:rPr sz="2600" u="heavy" spc="-8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ork</a:t>
            </a:r>
            <a:r>
              <a:rPr sz="2600" spc="110" dirty="0">
                <a:latin typeface="Times New Roman"/>
                <a:cs typeface="Times New Roman"/>
              </a:rPr>
              <a:t>,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ne</a:t>
            </a:r>
            <a:r>
              <a:rPr sz="2600" spc="-55" dirty="0">
                <a:latin typeface="Times New Roman"/>
                <a:cs typeface="Times New Roman"/>
              </a:rPr>
              <a:t>t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80" dirty="0">
                <a:latin typeface="Times New Roman"/>
                <a:cs typeface="Times New Roman"/>
              </a:rPr>
              <a:t>ork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225" dirty="0">
                <a:latin typeface="Times New Roman"/>
                <a:cs typeface="Times New Roman"/>
              </a:rPr>
              <a:t>o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40" dirty="0">
                <a:latin typeface="Times New Roman"/>
                <a:cs typeface="Times New Roman"/>
              </a:rPr>
              <a:t>e</a:t>
            </a:r>
            <a:r>
              <a:rPr sz="2600" spc="20" dirty="0">
                <a:latin typeface="Times New Roman"/>
                <a:cs typeface="Times New Roman"/>
              </a:rPr>
              <a:t>r</a:t>
            </a:r>
            <a:r>
              <a:rPr sz="2600" spc="-150" dirty="0">
                <a:latin typeface="Times New Roman"/>
                <a:cs typeface="Times New Roman"/>
              </a:rPr>
              <a:t>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  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4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small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95" dirty="0">
                <a:latin typeface="Times New Roman"/>
                <a:cs typeface="Times New Roman"/>
              </a:rPr>
              <a:t>r</a:t>
            </a:r>
            <a:r>
              <a:rPr sz="2600" spc="-65" dirty="0">
                <a:latin typeface="Times New Roman"/>
                <a:cs typeface="Times New Roman"/>
              </a:rPr>
              <a:t>ea,</a:t>
            </a:r>
            <a:r>
              <a:rPr sz="2600" spc="-18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usua</a:t>
            </a:r>
            <a:r>
              <a:rPr sz="2600" spc="-105" dirty="0">
                <a:latin typeface="Times New Roman"/>
                <a:cs typeface="Times New Roman"/>
              </a:rPr>
              <a:t>l</a:t>
            </a:r>
            <a:r>
              <a:rPr sz="2600" spc="-155" dirty="0">
                <a:latin typeface="Times New Roman"/>
                <a:cs typeface="Times New Roman"/>
              </a:rPr>
              <a:t>l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small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-25" dirty="0">
                <a:latin typeface="Times New Roman"/>
                <a:cs typeface="Times New Roman"/>
              </a:rPr>
              <a:t>m.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30" dirty="0">
                <a:latin typeface="Times New Roman"/>
                <a:cs typeface="Times New Roman"/>
              </a:rPr>
              <a:t>P</a:t>
            </a:r>
            <a:r>
              <a:rPr sz="2600" spc="-245" dirty="0">
                <a:latin typeface="Times New Roman"/>
                <a:cs typeface="Times New Roman"/>
              </a:rPr>
              <a:t>AN</a:t>
            </a:r>
            <a:r>
              <a:rPr sz="2600" spc="-340" dirty="0">
                <a:latin typeface="Times New Roman"/>
                <a:cs typeface="Times New Roman"/>
              </a:rPr>
              <a:t>’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c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wi</a:t>
            </a:r>
            <a:r>
              <a:rPr sz="2600" spc="-80" dirty="0">
                <a:latin typeface="Times New Roman"/>
                <a:cs typeface="Times New Roman"/>
              </a:rPr>
              <a:t>r</a:t>
            </a:r>
            <a:r>
              <a:rPr sz="2600" spc="-105" dirty="0">
                <a:latin typeface="Times New Roman"/>
                <a:cs typeface="Times New Roman"/>
              </a:rPr>
              <a:t>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wi</a:t>
            </a:r>
            <a:r>
              <a:rPr sz="2600" spc="-75" dirty="0">
                <a:latin typeface="Times New Roman"/>
                <a:cs typeface="Times New Roman"/>
              </a:rPr>
              <a:t>r</a:t>
            </a:r>
            <a:r>
              <a:rPr sz="2600" spc="-140" dirty="0">
                <a:latin typeface="Times New Roman"/>
                <a:cs typeface="Times New Roman"/>
              </a:rPr>
              <a:t>eles</a:t>
            </a:r>
            <a:r>
              <a:rPr sz="2600" spc="-190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93662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0" dirty="0">
                <a:latin typeface="Times New Roman"/>
                <a:cs typeface="Times New Roman"/>
              </a:rPr>
              <a:t>The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best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k</a:t>
            </a:r>
            <a:r>
              <a:rPr sz="2600" spc="-150" dirty="0">
                <a:latin typeface="Times New Roman"/>
                <a:cs typeface="Times New Roman"/>
              </a:rPr>
              <a:t>n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wn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u="heavy" spc="-9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wi</a:t>
            </a:r>
            <a:r>
              <a:rPr sz="2600" u="heavy" spc="-7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r</a:t>
            </a:r>
            <a:r>
              <a:rPr sz="2600" u="heavy" spc="-12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eles</a:t>
            </a:r>
            <a:r>
              <a:rPr sz="2600" u="heavy" spc="-20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s</a:t>
            </a:r>
            <a:r>
              <a:rPr sz="2600" u="heavy" spc="-9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2600" u="heavy" spc="-33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P</a:t>
            </a:r>
            <a:r>
              <a:rPr sz="2600" u="heavy" spc="-2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A</a:t>
            </a:r>
            <a:r>
              <a:rPr sz="2600" u="heavy" spc="-24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N</a:t>
            </a:r>
            <a:r>
              <a:rPr sz="2600" spc="-75" dirty="0">
                <a:solidFill>
                  <a:srgbClr val="CC9900"/>
                </a:solidFill>
                <a:latin typeface="Times New Roman"/>
                <a:cs typeface="Times New Roman"/>
                <a:hlinkClick r:id="rId3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ne</a:t>
            </a:r>
            <a:r>
              <a:rPr sz="2600" spc="-55" dirty="0">
                <a:latin typeface="Times New Roman"/>
                <a:cs typeface="Times New Roman"/>
              </a:rPr>
              <a:t>t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80" dirty="0">
                <a:latin typeface="Times New Roman"/>
                <a:cs typeface="Times New Roman"/>
              </a:rPr>
              <a:t>ork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te</a:t>
            </a:r>
            <a:r>
              <a:rPr sz="2600" spc="-55" dirty="0">
                <a:latin typeface="Times New Roman"/>
                <a:cs typeface="Times New Roman"/>
              </a:rPr>
              <a:t>c</a:t>
            </a:r>
            <a:r>
              <a:rPr sz="2600" spc="-125" dirty="0">
                <a:latin typeface="Times New Roman"/>
                <a:cs typeface="Times New Roman"/>
              </a:rPr>
              <a:t>hn</a:t>
            </a:r>
            <a:r>
              <a:rPr sz="2600" spc="-140" dirty="0">
                <a:latin typeface="Times New Roman"/>
                <a:cs typeface="Times New Roman"/>
              </a:rPr>
              <a:t>o</a:t>
            </a:r>
            <a:r>
              <a:rPr sz="2600" spc="-135" dirty="0">
                <a:latin typeface="Times New Roman"/>
                <a:cs typeface="Times New Roman"/>
              </a:rPr>
              <a:t>lo</a:t>
            </a:r>
            <a:r>
              <a:rPr sz="2600" spc="-180" dirty="0">
                <a:latin typeface="Times New Roman"/>
                <a:cs typeface="Times New Roman"/>
              </a:rPr>
              <a:t>g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is  </a:t>
            </a:r>
            <a:r>
              <a:rPr sz="2600" u="heavy" spc="-9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4"/>
              </a:rPr>
              <a:t>Bluetooth</a:t>
            </a:r>
            <a:r>
              <a:rPr sz="2600" spc="-95" dirty="0">
                <a:latin typeface="Times New Roman"/>
                <a:cs typeface="Times New Roman"/>
              </a:rPr>
              <a:t>,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most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popular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wired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70" dirty="0">
                <a:latin typeface="Times New Roman"/>
                <a:cs typeface="Times New Roman"/>
              </a:rPr>
              <a:t>PAN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35" dirty="0">
                <a:solidFill>
                  <a:srgbClr val="CC9900"/>
                </a:solidFill>
                <a:latin typeface="Times New Roman"/>
                <a:cs typeface="Times New Roman"/>
              </a:rPr>
              <a:t> </a:t>
            </a:r>
            <a:r>
              <a:rPr sz="2600" u="heavy" spc="-22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5"/>
              </a:rPr>
              <a:t>USB</a:t>
            </a:r>
            <a:r>
              <a:rPr sz="2600" spc="-22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428625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5" dirty="0">
                <a:latin typeface="Times New Roman"/>
                <a:cs typeface="Times New Roman"/>
              </a:rPr>
              <a:t>Wi-Fi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also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serves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75" dirty="0">
                <a:latin typeface="Times New Roman"/>
                <a:cs typeface="Times New Roman"/>
              </a:rPr>
              <a:t>PAN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technology,</a:t>
            </a:r>
            <a:r>
              <a:rPr sz="2600" spc="-140" dirty="0">
                <a:latin typeface="Times New Roman"/>
                <a:cs typeface="Times New Roman"/>
              </a:rPr>
              <a:t> since</a:t>
            </a:r>
            <a:r>
              <a:rPr sz="2600" spc="-38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Wi-Fi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also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used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35" dirty="0">
                <a:latin typeface="Times New Roman"/>
                <a:cs typeface="Times New Roman"/>
              </a:rPr>
              <a:t>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small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</a:t>
            </a:r>
            <a:r>
              <a:rPr sz="2600" spc="-65" dirty="0">
                <a:latin typeface="Times New Roman"/>
                <a:cs typeface="Times New Roman"/>
              </a:rPr>
              <a:t>ea.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9603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40" dirty="0"/>
              <a:t>PAN-</a:t>
            </a:r>
            <a:r>
              <a:rPr sz="4000" spc="-50" dirty="0"/>
              <a:t> </a:t>
            </a:r>
            <a:r>
              <a:rPr sz="4000" spc="-80" dirty="0"/>
              <a:t>Diagram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1600200"/>
            <a:ext cx="4835062" cy="397243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35140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25" dirty="0"/>
              <a:t>P</a:t>
            </a:r>
            <a:r>
              <a:rPr sz="4000" spc="-120" dirty="0"/>
              <a:t>A</a:t>
            </a:r>
            <a:r>
              <a:rPr sz="4000" spc="-140" dirty="0"/>
              <a:t>N</a:t>
            </a:r>
            <a:r>
              <a:rPr sz="4000" spc="140" dirty="0"/>
              <a:t>-</a:t>
            </a:r>
            <a:r>
              <a:rPr sz="4000" spc="-315" dirty="0"/>
              <a:t>A</a:t>
            </a:r>
            <a:r>
              <a:rPr sz="4000" spc="10" dirty="0"/>
              <a:t>d</a:t>
            </a:r>
            <a:r>
              <a:rPr sz="4000" spc="-35" dirty="0"/>
              <a:t>v</a:t>
            </a:r>
            <a:r>
              <a:rPr sz="4000" spc="-45" dirty="0"/>
              <a:t>ant</a:t>
            </a:r>
            <a:r>
              <a:rPr sz="4000" spc="-35" dirty="0"/>
              <a:t>ages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85777"/>
            <a:ext cx="7466965" cy="1214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>
              <a:lnSpc>
                <a:spcPct val="150100"/>
              </a:lnSpc>
              <a:spcBef>
                <a:spcPts val="9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0" dirty="0">
                <a:latin typeface="Times New Roman"/>
                <a:cs typeface="Times New Roman"/>
              </a:rPr>
              <a:t>The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pan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personal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network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two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person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so</a:t>
            </a:r>
            <a:r>
              <a:rPr sz="2600" spc="-65" dirty="0">
                <a:latin typeface="Times New Roman"/>
                <a:cs typeface="Times New Roman"/>
              </a:rPr>
              <a:t> there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no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70" dirty="0">
                <a:latin typeface="Times New Roman"/>
                <a:cs typeface="Times New Roman"/>
              </a:rPr>
              <a:t>r</a:t>
            </a:r>
            <a:r>
              <a:rPr sz="2600" spc="-160" dirty="0">
                <a:latin typeface="Times New Roman"/>
                <a:cs typeface="Times New Roman"/>
              </a:rPr>
              <a:t>isk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</a:t>
            </a:r>
            <a:r>
              <a:rPr sz="2600" spc="-225" dirty="0">
                <a:latin typeface="Times New Roman"/>
                <a:cs typeface="Times New Roman"/>
              </a:rPr>
              <a:t>n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lea</a:t>
            </a:r>
            <a:r>
              <a:rPr sz="2600" spc="-170" dirty="0">
                <a:latin typeface="Times New Roman"/>
                <a:cs typeface="Times New Roman"/>
              </a:rPr>
              <a:t>k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d</a:t>
            </a:r>
            <a:r>
              <a:rPr sz="2600" spc="-180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t</a:t>
            </a:r>
            <a:r>
              <a:rPr sz="2600" spc="-114" dirty="0">
                <a:latin typeface="Times New Roman"/>
                <a:cs typeface="Times New Roman"/>
              </a:rPr>
              <a:t>a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41795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60" dirty="0"/>
              <a:t>PAN-Disadvantages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85777"/>
            <a:ext cx="7399020" cy="3150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>
              <a:lnSpc>
                <a:spcPct val="150100"/>
              </a:lnSpc>
              <a:spcBef>
                <a:spcPts val="9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0" dirty="0">
                <a:latin typeface="Times New Roman"/>
                <a:cs typeface="Times New Roman"/>
              </a:rPr>
              <a:t>The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ne</a:t>
            </a:r>
            <a:r>
              <a:rPr sz="2600" spc="-55" dirty="0">
                <a:latin typeface="Times New Roman"/>
                <a:cs typeface="Times New Roman"/>
              </a:rPr>
              <a:t>t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80" dirty="0">
                <a:latin typeface="Times New Roman"/>
                <a:cs typeface="Times New Roman"/>
              </a:rPr>
              <a:t>ork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it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c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155" dirty="0">
                <a:latin typeface="Times New Roman"/>
                <a:cs typeface="Times New Roman"/>
              </a:rPr>
              <a:t>l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25" dirty="0">
                <a:latin typeface="Times New Roman"/>
                <a:cs typeface="Times New Roman"/>
              </a:rPr>
              <a:t>t</a:t>
            </a:r>
            <a:r>
              <a:rPr sz="2600" spc="-80" dirty="0">
                <a:latin typeface="Times New Roman"/>
                <a:cs typeface="Times New Roman"/>
              </a:rPr>
              <a:t>r</a:t>
            </a:r>
            <a:r>
              <a:rPr sz="2600" spc="-175" dirty="0">
                <a:latin typeface="Times New Roman"/>
                <a:cs typeface="Times New Roman"/>
              </a:rPr>
              <a:t>a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100" dirty="0">
                <a:latin typeface="Times New Roman"/>
                <a:cs typeface="Times New Roman"/>
              </a:rPr>
              <a:t>el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straight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up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1</a:t>
            </a:r>
            <a:r>
              <a:rPr sz="2600" spc="-125" dirty="0">
                <a:latin typeface="Times New Roman"/>
                <a:cs typeface="Times New Roman"/>
              </a:rPr>
              <a:t>0</a:t>
            </a:r>
            <a:r>
              <a:rPr sz="2600" spc="-120" dirty="0">
                <a:latin typeface="Times New Roman"/>
                <a:cs typeface="Times New Roman"/>
              </a:rPr>
              <a:t>mt</a:t>
            </a:r>
            <a:r>
              <a:rPr sz="2600" spc="-85" dirty="0">
                <a:latin typeface="Times New Roman"/>
                <a:cs typeface="Times New Roman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a</a:t>
            </a:r>
            <a:r>
              <a:rPr sz="2600" spc="-175" dirty="0">
                <a:latin typeface="Times New Roman"/>
                <a:cs typeface="Times New Roman"/>
              </a:rPr>
              <a:t>n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if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in  </a:t>
            </a:r>
            <a:r>
              <a:rPr sz="2600" spc="-150" dirty="0">
                <a:latin typeface="Times New Roman"/>
                <a:cs typeface="Times New Roman"/>
              </a:rPr>
              <a:t>di</a:t>
            </a:r>
            <a:r>
              <a:rPr sz="2600" spc="-140" dirty="0">
                <a:latin typeface="Times New Roman"/>
                <a:cs typeface="Times New Roman"/>
              </a:rPr>
              <a:t>f</a:t>
            </a:r>
            <a:r>
              <a:rPr sz="2600" spc="-125" dirty="0">
                <a:latin typeface="Times New Roman"/>
                <a:cs typeface="Times New Roman"/>
              </a:rPr>
              <a:t>f</a:t>
            </a:r>
            <a:r>
              <a:rPr sz="2600" spc="-175" dirty="0">
                <a:latin typeface="Times New Roman"/>
                <a:cs typeface="Times New Roman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20" dirty="0">
                <a:latin typeface="Times New Roman"/>
                <a:cs typeface="Times New Roman"/>
              </a:rPr>
              <a:t>n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-235" dirty="0">
                <a:latin typeface="Times New Roman"/>
                <a:cs typeface="Times New Roman"/>
              </a:rPr>
              <a:t>m</a:t>
            </a:r>
            <a:r>
              <a:rPr sz="2600" spc="-114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th</a:t>
            </a:r>
            <a:r>
              <a:rPr sz="2600" spc="-90" dirty="0">
                <a:latin typeface="Times New Roman"/>
                <a:cs typeface="Times New Roman"/>
              </a:rPr>
              <a:t>e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155" dirty="0">
                <a:latin typeface="Times New Roman"/>
                <a:cs typeface="Times New Roman"/>
              </a:rPr>
              <a:t>l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2mt</a:t>
            </a:r>
            <a:r>
              <a:rPr sz="2600" spc="-140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736600" indent="-274320">
              <a:lnSpc>
                <a:spcPct val="150100"/>
              </a:lnSpc>
              <a:spcBef>
                <a:spcPts val="59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0" dirty="0">
                <a:latin typeface="Times New Roman"/>
                <a:cs typeface="Times New Roman"/>
              </a:rPr>
              <a:t>In</a:t>
            </a:r>
            <a:r>
              <a:rPr sz="2600" spc="-75" dirty="0">
                <a:latin typeface="Times New Roman"/>
                <a:cs typeface="Times New Roman"/>
              </a:rPr>
              <a:t> 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</a:t>
            </a:r>
            <a:r>
              <a:rPr sz="2600" spc="-170" dirty="0">
                <a:latin typeface="Times New Roman"/>
                <a:cs typeface="Times New Roman"/>
              </a:rPr>
              <a:t>as</a:t>
            </a:r>
            <a:r>
              <a:rPr sz="2600" spc="-175" dirty="0">
                <a:latin typeface="Times New Roman"/>
                <a:cs typeface="Times New Roman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infra</a:t>
            </a:r>
            <a:r>
              <a:rPr sz="2600" spc="-110" dirty="0">
                <a:latin typeface="Times New Roman"/>
                <a:cs typeface="Times New Roman"/>
              </a:rPr>
              <a:t>r</a:t>
            </a:r>
            <a:r>
              <a:rPr sz="2600" spc="-105" dirty="0">
                <a:latin typeface="Times New Roman"/>
                <a:cs typeface="Times New Roman"/>
              </a:rPr>
              <a:t>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in</a:t>
            </a:r>
            <a:r>
              <a:rPr sz="2600" spc="-145" dirty="0">
                <a:latin typeface="Times New Roman"/>
                <a:cs typeface="Times New Roman"/>
              </a:rPr>
              <a:t>f</a:t>
            </a:r>
            <a:r>
              <a:rPr sz="2600" spc="-80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05" dirty="0">
                <a:latin typeface="Times New Roman"/>
                <a:cs typeface="Times New Roman"/>
              </a:rPr>
              <a:t>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sens</a:t>
            </a:r>
            <a:r>
              <a:rPr sz="2600" spc="-170" dirty="0">
                <a:latin typeface="Times New Roman"/>
                <a:cs typeface="Times New Roman"/>
              </a:rPr>
              <a:t>o</a:t>
            </a:r>
            <a:r>
              <a:rPr sz="2600" spc="30" dirty="0">
                <a:latin typeface="Times New Roman"/>
                <a:cs typeface="Times New Roman"/>
              </a:rPr>
              <a:t>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b</a:t>
            </a:r>
            <a:r>
              <a:rPr sz="2600" spc="-90" dirty="0">
                <a:latin typeface="Times New Roman"/>
                <a:cs typeface="Times New Roman"/>
              </a:rPr>
              <a:t>ust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  </a:t>
            </a:r>
            <a:r>
              <a:rPr sz="2600" spc="-100" dirty="0">
                <a:latin typeface="Times New Roman"/>
                <a:cs typeface="Times New Roman"/>
              </a:rPr>
              <a:t>straight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line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otherwise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won't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communicate.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16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10" dirty="0">
                <a:latin typeface="Times New Roman"/>
                <a:cs typeface="Times New Roman"/>
              </a:rPr>
              <a:t>T</a:t>
            </a:r>
            <a:r>
              <a:rPr sz="2600" spc="-140" dirty="0">
                <a:latin typeface="Times New Roman"/>
                <a:cs typeface="Times New Roman"/>
              </a:rPr>
              <a:t>ransmissio</a:t>
            </a:r>
            <a:r>
              <a:rPr sz="2600" spc="-160" dirty="0">
                <a:latin typeface="Times New Roman"/>
                <a:cs typeface="Times New Roman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speed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sl</a:t>
            </a:r>
            <a:r>
              <a:rPr sz="2600" spc="-260" dirty="0">
                <a:latin typeface="Times New Roman"/>
                <a:cs typeface="Times New Roman"/>
              </a:rPr>
              <a:t>o</a:t>
            </a:r>
            <a:r>
              <a:rPr sz="2600" spc="-145" dirty="0">
                <a:latin typeface="Times New Roman"/>
                <a:cs typeface="Times New Roman"/>
              </a:rPr>
              <a:t>w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t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mo</a:t>
            </a:r>
            <a:r>
              <a:rPr sz="2600" spc="-120" dirty="0">
                <a:latin typeface="Times New Roman"/>
                <a:cs typeface="Times New Roman"/>
              </a:rPr>
              <a:t>d</a:t>
            </a:r>
            <a:r>
              <a:rPr sz="2600" spc="-90" dirty="0">
                <a:latin typeface="Times New Roman"/>
                <a:cs typeface="Times New Roman"/>
              </a:rPr>
              <a:t>er</a:t>
            </a:r>
            <a:r>
              <a:rPr sz="2600" spc="-125" dirty="0">
                <a:latin typeface="Times New Roman"/>
                <a:cs typeface="Times New Roman"/>
              </a:rPr>
              <a:t>a</a:t>
            </a:r>
            <a:r>
              <a:rPr sz="2600" spc="-25" dirty="0">
                <a:latin typeface="Times New Roman"/>
                <a:cs typeface="Times New Roman"/>
              </a:rPr>
              <a:t>t</a:t>
            </a:r>
            <a:r>
              <a:rPr sz="2600" spc="-95" dirty="0">
                <a:latin typeface="Times New Roman"/>
                <a:cs typeface="Times New Roman"/>
              </a:rPr>
              <a:t>e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3592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60" dirty="0"/>
              <a:t>Ad-hoc</a:t>
            </a:r>
            <a:r>
              <a:rPr sz="4000" spc="-85" dirty="0"/>
              <a:t> </a:t>
            </a:r>
            <a:r>
              <a:rPr sz="4000" spc="-55" dirty="0"/>
              <a:t>Networks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4540" y="1586230"/>
            <a:ext cx="7447915" cy="3348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marR="424815" indent="-274955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655" algn="l"/>
              </a:tabLst>
            </a:pPr>
            <a:r>
              <a:rPr sz="2600" spc="-335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wireless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b="1" spc="-35" dirty="0">
                <a:latin typeface="Times New Roman"/>
                <a:cs typeface="Times New Roman"/>
              </a:rPr>
              <a:t>ad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spc="65" dirty="0">
                <a:latin typeface="Times New Roman"/>
                <a:cs typeface="Times New Roman"/>
              </a:rPr>
              <a:t>hoc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spc="25" dirty="0">
                <a:latin typeface="Times New Roman"/>
                <a:cs typeface="Times New Roman"/>
              </a:rPr>
              <a:t>network</a:t>
            </a:r>
            <a:r>
              <a:rPr sz="2600" b="1" spc="-10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(WANET)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35" dirty="0">
                <a:latin typeface="Times New Roman"/>
                <a:cs typeface="Times New Roman"/>
              </a:rPr>
              <a:t>MANET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dec</a:t>
            </a:r>
            <a:r>
              <a:rPr sz="2600" spc="-65" dirty="0">
                <a:latin typeface="Times New Roman"/>
                <a:cs typeface="Times New Roman"/>
              </a:rPr>
              <a:t>en</a:t>
            </a:r>
            <a:r>
              <a:rPr sz="2600" spc="-50" dirty="0">
                <a:latin typeface="Times New Roman"/>
                <a:cs typeface="Times New Roman"/>
              </a:rPr>
              <a:t>t</a:t>
            </a:r>
            <a:r>
              <a:rPr sz="2600" spc="-114" dirty="0">
                <a:latin typeface="Times New Roman"/>
                <a:cs typeface="Times New Roman"/>
              </a:rPr>
              <a:t>ralize</a:t>
            </a:r>
            <a:r>
              <a:rPr sz="2600" spc="-15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t</a:t>
            </a:r>
            <a:r>
              <a:rPr sz="2600" spc="-125" dirty="0">
                <a:latin typeface="Times New Roman"/>
                <a:cs typeface="Times New Roman"/>
              </a:rPr>
              <a:t>y</a:t>
            </a:r>
            <a:r>
              <a:rPr sz="2600" spc="-105" dirty="0">
                <a:latin typeface="Times New Roman"/>
                <a:cs typeface="Times New Roman"/>
              </a:rPr>
              <a:t>pe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w</a:t>
            </a:r>
            <a:r>
              <a:rPr sz="2600" spc="-70" dirty="0">
                <a:latin typeface="Times New Roman"/>
                <a:cs typeface="Times New Roman"/>
              </a:rPr>
              <a:t>i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40" dirty="0">
                <a:latin typeface="Times New Roman"/>
                <a:cs typeface="Times New Roman"/>
              </a:rPr>
              <a:t>eless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b="1" spc="45" dirty="0">
                <a:latin typeface="Times New Roman"/>
                <a:cs typeface="Times New Roman"/>
              </a:rPr>
              <a:t>net</a:t>
            </a:r>
            <a:r>
              <a:rPr sz="2600" b="1" spc="5" dirty="0">
                <a:latin typeface="Times New Roman"/>
                <a:cs typeface="Times New Roman"/>
              </a:rPr>
              <a:t>w</a:t>
            </a:r>
            <a:r>
              <a:rPr sz="2600" b="1" spc="10" dirty="0">
                <a:latin typeface="Times New Roman"/>
                <a:cs typeface="Times New Roman"/>
              </a:rPr>
              <a:t>or</a:t>
            </a:r>
            <a:r>
              <a:rPr sz="2600" b="1" dirty="0">
                <a:latin typeface="Times New Roman"/>
                <a:cs typeface="Times New Roman"/>
              </a:rPr>
              <a:t>k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7020" marR="123825" indent="-27495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655" algn="l"/>
              </a:tabLst>
            </a:pPr>
            <a:r>
              <a:rPr sz="2600" spc="-130" dirty="0">
                <a:latin typeface="Times New Roman"/>
                <a:cs typeface="Times New Roman"/>
              </a:rPr>
              <a:t>The </a:t>
            </a:r>
            <a:r>
              <a:rPr sz="2600" b="1" spc="25" dirty="0">
                <a:latin typeface="Times New Roman"/>
                <a:cs typeface="Times New Roman"/>
              </a:rPr>
              <a:t>network </a:t>
            </a:r>
            <a:r>
              <a:rPr sz="2600" spc="-165" dirty="0">
                <a:latin typeface="Times New Roman"/>
                <a:cs typeface="Times New Roman"/>
              </a:rPr>
              <a:t>is </a:t>
            </a:r>
            <a:r>
              <a:rPr sz="2600" b="1" spc="-35" dirty="0">
                <a:latin typeface="Times New Roman"/>
                <a:cs typeface="Times New Roman"/>
              </a:rPr>
              <a:t>ad </a:t>
            </a:r>
            <a:r>
              <a:rPr sz="2600" b="1" spc="65" dirty="0">
                <a:latin typeface="Times New Roman"/>
                <a:cs typeface="Times New Roman"/>
              </a:rPr>
              <a:t>hoc </a:t>
            </a:r>
            <a:r>
              <a:rPr sz="2600" spc="-145" dirty="0">
                <a:latin typeface="Times New Roman"/>
                <a:cs typeface="Times New Roman"/>
              </a:rPr>
              <a:t>because </a:t>
            </a:r>
            <a:r>
              <a:rPr sz="2600" spc="-45" dirty="0">
                <a:latin typeface="Times New Roman"/>
                <a:cs typeface="Times New Roman"/>
              </a:rPr>
              <a:t>it </a:t>
            </a:r>
            <a:r>
              <a:rPr sz="2600" spc="-130" dirty="0">
                <a:latin typeface="Times New Roman"/>
                <a:cs typeface="Times New Roman"/>
              </a:rPr>
              <a:t>does </a:t>
            </a:r>
            <a:r>
              <a:rPr sz="2600" spc="-60" dirty="0">
                <a:latin typeface="Times New Roman"/>
                <a:cs typeface="Times New Roman"/>
              </a:rPr>
              <a:t>not </a:t>
            </a:r>
            <a:r>
              <a:rPr sz="2600" spc="-114" dirty="0">
                <a:latin typeface="Times New Roman"/>
                <a:cs typeface="Times New Roman"/>
              </a:rPr>
              <a:t>rely </a:t>
            </a:r>
            <a:r>
              <a:rPr sz="2600" spc="-110" dirty="0">
                <a:latin typeface="Times New Roman"/>
                <a:cs typeface="Times New Roman"/>
              </a:rPr>
              <a:t>on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20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pre-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existing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infrast</a:t>
            </a:r>
            <a:r>
              <a:rPr sz="2600" spc="-30" dirty="0">
                <a:latin typeface="Times New Roman"/>
                <a:cs typeface="Times New Roman"/>
              </a:rPr>
              <a:t>r</a:t>
            </a:r>
            <a:r>
              <a:rPr sz="2600" spc="-90" dirty="0">
                <a:latin typeface="Times New Roman"/>
                <a:cs typeface="Times New Roman"/>
              </a:rPr>
              <a:t>uc</a:t>
            </a:r>
            <a:r>
              <a:rPr sz="2600" spc="-70" dirty="0">
                <a:latin typeface="Times New Roman"/>
                <a:cs typeface="Times New Roman"/>
              </a:rPr>
              <a:t>t</a:t>
            </a:r>
            <a:r>
              <a:rPr sz="2600" spc="-50" dirty="0">
                <a:latin typeface="Times New Roman"/>
                <a:cs typeface="Times New Roman"/>
              </a:rPr>
              <a:t>u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150" dirty="0">
                <a:latin typeface="Times New Roman"/>
                <a:cs typeface="Times New Roman"/>
              </a:rPr>
              <a:t>e</a:t>
            </a:r>
            <a:r>
              <a:rPr sz="2600" spc="110" dirty="0">
                <a:latin typeface="Times New Roman"/>
                <a:cs typeface="Times New Roman"/>
              </a:rPr>
              <a:t>,</a:t>
            </a:r>
            <a:r>
              <a:rPr sz="2600" spc="-155" dirty="0">
                <a:latin typeface="Times New Roman"/>
                <a:cs typeface="Times New Roman"/>
              </a:rPr>
              <a:t> su</a:t>
            </a:r>
            <a:r>
              <a:rPr sz="2600" spc="-120" dirty="0">
                <a:latin typeface="Times New Roman"/>
                <a:cs typeface="Times New Roman"/>
              </a:rPr>
              <a:t>c</a:t>
            </a:r>
            <a:r>
              <a:rPr sz="2600" spc="-160" dirty="0">
                <a:latin typeface="Times New Roman"/>
                <a:cs typeface="Times New Roman"/>
              </a:rPr>
              <a:t>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20" dirty="0">
                <a:latin typeface="Times New Roman"/>
                <a:cs typeface="Times New Roman"/>
              </a:rPr>
              <a:t>a</a:t>
            </a:r>
            <a:r>
              <a:rPr sz="2600" spc="-190" dirty="0">
                <a:latin typeface="Times New Roman"/>
                <a:cs typeface="Times New Roman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r</a:t>
            </a:r>
            <a:r>
              <a:rPr sz="2600" spc="-70" dirty="0">
                <a:latin typeface="Times New Roman"/>
                <a:cs typeface="Times New Roman"/>
              </a:rPr>
              <a:t>ou</a:t>
            </a:r>
            <a:r>
              <a:rPr sz="2600" spc="-50" dirty="0">
                <a:latin typeface="Times New Roman"/>
                <a:cs typeface="Times New Roman"/>
              </a:rPr>
              <a:t>t</a:t>
            </a:r>
            <a:r>
              <a:rPr sz="2600" spc="-40" dirty="0">
                <a:latin typeface="Times New Roman"/>
                <a:cs typeface="Times New Roman"/>
              </a:rPr>
              <a:t>e</a:t>
            </a:r>
            <a:r>
              <a:rPr sz="2600" spc="20" dirty="0">
                <a:latin typeface="Times New Roman"/>
                <a:cs typeface="Times New Roman"/>
              </a:rPr>
              <a:t>r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w</a:t>
            </a:r>
            <a:r>
              <a:rPr sz="2600" spc="-45" dirty="0">
                <a:latin typeface="Times New Roman"/>
                <a:cs typeface="Times New Roman"/>
              </a:rPr>
              <a:t>i</a:t>
            </a:r>
            <a:r>
              <a:rPr sz="2600" spc="-75" dirty="0">
                <a:latin typeface="Times New Roman"/>
                <a:cs typeface="Times New Roman"/>
              </a:rPr>
              <a:t>r</a:t>
            </a:r>
            <a:r>
              <a:rPr sz="2600" spc="-105" dirty="0">
                <a:latin typeface="Times New Roman"/>
                <a:cs typeface="Times New Roman"/>
              </a:rPr>
              <a:t>ed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b="1" spc="40" dirty="0">
                <a:latin typeface="Times New Roman"/>
                <a:cs typeface="Times New Roman"/>
              </a:rPr>
              <a:t>ne</a:t>
            </a:r>
            <a:r>
              <a:rPr sz="2600" b="1" spc="30" dirty="0">
                <a:latin typeface="Times New Roman"/>
                <a:cs typeface="Times New Roman"/>
              </a:rPr>
              <a:t>tw</a:t>
            </a:r>
            <a:r>
              <a:rPr sz="2600" b="1" spc="5" dirty="0">
                <a:latin typeface="Times New Roman"/>
                <a:cs typeface="Times New Roman"/>
              </a:rPr>
              <a:t>o</a:t>
            </a:r>
            <a:r>
              <a:rPr sz="2600" b="1" spc="10" dirty="0">
                <a:latin typeface="Times New Roman"/>
                <a:cs typeface="Times New Roman"/>
              </a:rPr>
              <a:t>r</a:t>
            </a:r>
            <a:r>
              <a:rPr sz="2600" b="1" spc="-20" dirty="0">
                <a:latin typeface="Times New Roman"/>
                <a:cs typeface="Times New Roman"/>
              </a:rPr>
              <a:t>ks 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access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points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managed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(infrastructure)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wireless 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b="1" spc="25" dirty="0">
                <a:latin typeface="Times New Roman"/>
                <a:cs typeface="Times New Roman"/>
              </a:rPr>
              <a:t>networks</a:t>
            </a:r>
            <a:r>
              <a:rPr sz="2600" spc="25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655" algn="l"/>
              </a:tabLst>
            </a:pPr>
            <a:r>
              <a:rPr sz="2600" b="1" spc="25" dirty="0">
                <a:solidFill>
                  <a:srgbClr val="001F5F"/>
                </a:solidFill>
                <a:latin typeface="Times New Roman"/>
                <a:cs typeface="Times New Roman"/>
              </a:rPr>
              <a:t>Ad-hoc</a:t>
            </a:r>
            <a:r>
              <a:rPr sz="2600" b="1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means</a:t>
            </a:r>
            <a:r>
              <a:rPr sz="2600" b="1" spc="-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50" dirty="0">
                <a:solidFill>
                  <a:srgbClr val="001F5F"/>
                </a:solidFill>
                <a:latin typeface="Times New Roman"/>
                <a:cs typeface="Times New Roman"/>
              </a:rPr>
              <a:t>without</a:t>
            </a:r>
            <a:r>
              <a:rPr sz="2600" b="1" spc="-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base</a:t>
            </a:r>
            <a:r>
              <a:rPr sz="2600" b="1" spc="-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1F5F"/>
                </a:solidFill>
                <a:latin typeface="Times New Roman"/>
                <a:cs typeface="Times New Roman"/>
              </a:rPr>
              <a:t>station</a:t>
            </a:r>
            <a:r>
              <a:rPr sz="2600" b="1" spc="-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or</a:t>
            </a:r>
            <a:r>
              <a:rPr sz="2600" b="1" spc="-1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Access</a:t>
            </a:r>
            <a:r>
              <a:rPr sz="2600" b="1" spc="-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45" dirty="0">
                <a:solidFill>
                  <a:srgbClr val="001F5F"/>
                </a:solidFill>
                <a:latin typeface="Times New Roman"/>
                <a:cs typeface="Times New Roman"/>
              </a:rPr>
              <a:t>point</a:t>
            </a:r>
            <a:endParaRPr sz="260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</a:pPr>
            <a:r>
              <a:rPr sz="2600" spc="-135" dirty="0">
                <a:latin typeface="Times New Roman"/>
                <a:cs typeface="Times New Roman"/>
              </a:rPr>
              <a:t>(means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without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infrast</a:t>
            </a:r>
            <a:r>
              <a:rPr sz="2600" spc="-30" dirty="0">
                <a:latin typeface="Times New Roman"/>
                <a:cs typeface="Times New Roman"/>
              </a:rPr>
              <a:t>r</a:t>
            </a:r>
            <a:r>
              <a:rPr sz="2600" spc="-90" dirty="0">
                <a:latin typeface="Times New Roman"/>
                <a:cs typeface="Times New Roman"/>
              </a:rPr>
              <a:t>uc</a:t>
            </a:r>
            <a:r>
              <a:rPr sz="2600" spc="-70" dirty="0">
                <a:latin typeface="Times New Roman"/>
                <a:cs typeface="Times New Roman"/>
              </a:rPr>
              <a:t>t</a:t>
            </a:r>
            <a:r>
              <a:rPr sz="2600" spc="-50" dirty="0">
                <a:latin typeface="Times New Roman"/>
                <a:cs typeface="Times New Roman"/>
              </a:rPr>
              <a:t>u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75" dirty="0">
                <a:latin typeface="Times New Roman"/>
                <a:cs typeface="Times New Roman"/>
              </a:rPr>
              <a:t>e)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3996" y="688974"/>
            <a:ext cx="52971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60" dirty="0"/>
              <a:t>Ad-hoc</a:t>
            </a:r>
            <a:r>
              <a:rPr sz="4000" spc="-30" dirty="0"/>
              <a:t> </a:t>
            </a:r>
            <a:r>
              <a:rPr sz="4000" spc="-70" dirty="0"/>
              <a:t>Network</a:t>
            </a:r>
            <a:r>
              <a:rPr sz="4000" spc="-10" dirty="0"/>
              <a:t> </a:t>
            </a:r>
            <a:r>
              <a:rPr sz="4000" spc="-80" dirty="0"/>
              <a:t>Diagram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52400" y="5257800"/>
            <a:ext cx="8763000" cy="685800"/>
          </a:xfrm>
          <a:prstGeom prst="rect">
            <a:avLst/>
          </a:prstGeom>
          <a:ln w="12700">
            <a:solidFill>
              <a:srgbClr val="9B2C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1915">
              <a:lnSpc>
                <a:spcPts val="2175"/>
              </a:lnSpc>
            </a:pPr>
            <a:r>
              <a:rPr sz="1900" spc="-105" dirty="0">
                <a:latin typeface="Times New Roman"/>
                <a:cs typeface="Times New Roman"/>
              </a:rPr>
              <a:t>Figure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80" dirty="0">
                <a:latin typeface="Times New Roman"/>
                <a:cs typeface="Times New Roman"/>
              </a:rPr>
              <a:t>(a)</a:t>
            </a:r>
            <a:r>
              <a:rPr sz="1900" spc="-280" dirty="0">
                <a:latin typeface="Times New Roman"/>
                <a:cs typeface="Times New Roman"/>
              </a:rPr>
              <a:t> </a:t>
            </a:r>
            <a:r>
              <a:rPr sz="1900" spc="-90" dirty="0">
                <a:latin typeface="Times New Roman"/>
                <a:cs typeface="Times New Roman"/>
              </a:rPr>
              <a:t>Wireless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90" dirty="0">
                <a:latin typeface="Times New Roman"/>
                <a:cs typeface="Times New Roman"/>
              </a:rPr>
              <a:t>networking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80" dirty="0">
                <a:latin typeface="Times New Roman"/>
                <a:cs typeface="Times New Roman"/>
              </a:rPr>
              <a:t>with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155" dirty="0">
                <a:latin typeface="Times New Roman"/>
                <a:cs typeface="Times New Roman"/>
              </a:rPr>
              <a:t>a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spc="-120" dirty="0">
                <a:latin typeface="Times New Roman"/>
                <a:cs typeface="Times New Roman"/>
              </a:rPr>
              <a:t>base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spc="-60" dirty="0">
                <a:latin typeface="Times New Roman"/>
                <a:cs typeface="Times New Roman"/>
              </a:rPr>
              <a:t>station.</a:t>
            </a:r>
            <a:endParaRPr sz="1900">
              <a:latin typeface="Times New Roman"/>
              <a:cs typeface="Times New Roman"/>
            </a:endParaRPr>
          </a:p>
          <a:p>
            <a:pPr marL="622935">
              <a:lnSpc>
                <a:spcPct val="100000"/>
              </a:lnSpc>
              <a:spcBef>
                <a:spcPts val="375"/>
              </a:spcBef>
            </a:pPr>
            <a:r>
              <a:rPr sz="1900" spc="-50" dirty="0">
                <a:latin typeface="Times New Roman"/>
                <a:cs typeface="Times New Roman"/>
              </a:rPr>
              <a:t>(</a:t>
            </a:r>
            <a:r>
              <a:rPr sz="1900" spc="-70" dirty="0">
                <a:latin typeface="Times New Roman"/>
                <a:cs typeface="Times New Roman"/>
              </a:rPr>
              <a:t>b)</a:t>
            </a:r>
            <a:r>
              <a:rPr sz="1900" spc="-195" dirty="0">
                <a:latin typeface="Times New Roman"/>
                <a:cs typeface="Times New Roman"/>
              </a:rPr>
              <a:t> </a:t>
            </a:r>
            <a:r>
              <a:rPr sz="1900" spc="-200" dirty="0">
                <a:latin typeface="Times New Roman"/>
                <a:cs typeface="Times New Roman"/>
              </a:rPr>
              <a:t>A</a:t>
            </a:r>
            <a:r>
              <a:rPr sz="1900" spc="-135" dirty="0">
                <a:latin typeface="Times New Roman"/>
                <a:cs typeface="Times New Roman"/>
              </a:rPr>
              <a:t>d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100" dirty="0">
                <a:latin typeface="Times New Roman"/>
                <a:cs typeface="Times New Roman"/>
              </a:rPr>
              <a:t>h</a:t>
            </a:r>
            <a:r>
              <a:rPr sz="1900" spc="-110" dirty="0">
                <a:latin typeface="Times New Roman"/>
                <a:cs typeface="Times New Roman"/>
              </a:rPr>
              <a:t>o</a:t>
            </a:r>
            <a:r>
              <a:rPr sz="1900" spc="-114" dirty="0">
                <a:latin typeface="Times New Roman"/>
                <a:cs typeface="Times New Roman"/>
              </a:rPr>
              <a:t>c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spc="-85" dirty="0">
                <a:latin typeface="Times New Roman"/>
                <a:cs typeface="Times New Roman"/>
              </a:rPr>
              <a:t>ne</a:t>
            </a:r>
            <a:r>
              <a:rPr sz="1900" spc="-25" dirty="0">
                <a:latin typeface="Times New Roman"/>
                <a:cs typeface="Times New Roman"/>
              </a:rPr>
              <a:t>t</a:t>
            </a:r>
            <a:r>
              <a:rPr sz="1900" spc="-140" dirty="0">
                <a:latin typeface="Times New Roman"/>
                <a:cs typeface="Times New Roman"/>
              </a:rPr>
              <a:t>w</a:t>
            </a:r>
            <a:r>
              <a:rPr sz="1900" spc="-40" dirty="0">
                <a:latin typeface="Times New Roman"/>
                <a:cs typeface="Times New Roman"/>
              </a:rPr>
              <a:t>or</a:t>
            </a:r>
            <a:r>
              <a:rPr sz="1900" spc="-140" dirty="0">
                <a:latin typeface="Times New Roman"/>
                <a:cs typeface="Times New Roman"/>
              </a:rPr>
              <a:t>k</a:t>
            </a:r>
            <a:r>
              <a:rPr sz="1900" spc="-90" dirty="0">
                <a:latin typeface="Times New Roman"/>
                <a:cs typeface="Times New Roman"/>
              </a:rPr>
              <a:t>i</a:t>
            </a:r>
            <a:r>
              <a:rPr sz="1900" spc="-85" dirty="0">
                <a:latin typeface="Times New Roman"/>
                <a:cs typeface="Times New Roman"/>
              </a:rPr>
              <a:t>n</a:t>
            </a:r>
            <a:r>
              <a:rPr sz="1900" spc="-335" dirty="0">
                <a:latin typeface="Times New Roman"/>
                <a:cs typeface="Times New Roman"/>
              </a:rPr>
              <a:t>g</a:t>
            </a:r>
            <a:r>
              <a:rPr sz="1900" spc="75" dirty="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487" y="1882775"/>
            <a:ext cx="7821549" cy="29908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59651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60" dirty="0"/>
              <a:t>Ad-hoc</a:t>
            </a:r>
            <a:r>
              <a:rPr sz="4000" spc="-40" dirty="0"/>
              <a:t> </a:t>
            </a:r>
            <a:r>
              <a:rPr sz="4000" spc="-70" dirty="0"/>
              <a:t>Network</a:t>
            </a:r>
            <a:r>
              <a:rPr sz="4000" spc="-20" dirty="0"/>
              <a:t> </a:t>
            </a:r>
            <a:r>
              <a:rPr sz="4000" spc="-60" dirty="0"/>
              <a:t>Advantages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4540" y="1510632"/>
            <a:ext cx="7614920" cy="31813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330" indent="-342265">
              <a:lnSpc>
                <a:spcPct val="100000"/>
              </a:lnSpc>
              <a:spcBef>
                <a:spcPts val="700"/>
              </a:spcBef>
              <a:buClr>
                <a:srgbClr val="A6A0A0"/>
              </a:buClr>
              <a:buSzPct val="84615"/>
              <a:buFont typeface="Wingdings"/>
              <a:buChar char=""/>
              <a:tabLst>
                <a:tab pos="354965" algn="l"/>
              </a:tabLst>
            </a:pPr>
            <a:r>
              <a:rPr sz="2600" spc="-155" dirty="0">
                <a:latin typeface="Times New Roman"/>
                <a:cs typeface="Times New Roman"/>
              </a:rPr>
              <a:t>Ad-hoc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networks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have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more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flexibility.</a:t>
            </a:r>
            <a:endParaRPr sz="2600">
              <a:latin typeface="Times New Roman"/>
              <a:cs typeface="Times New Roman"/>
            </a:endParaRPr>
          </a:p>
          <a:p>
            <a:pPr marL="354330" indent="-342265">
              <a:lnSpc>
                <a:spcPct val="100000"/>
              </a:lnSpc>
              <a:spcBef>
                <a:spcPts val="600"/>
              </a:spcBef>
              <a:buClr>
                <a:srgbClr val="A6A0A0"/>
              </a:buClr>
              <a:buSzPct val="84615"/>
              <a:buFont typeface="Wingdings"/>
              <a:buChar char=""/>
              <a:tabLst>
                <a:tab pos="354965" algn="l"/>
              </a:tabLst>
            </a:pPr>
            <a:r>
              <a:rPr sz="2600" spc="-90" dirty="0">
                <a:latin typeface="Times New Roman"/>
                <a:cs typeface="Times New Roman"/>
              </a:rPr>
              <a:t>I</a:t>
            </a:r>
            <a:r>
              <a:rPr sz="2600" spc="-70" dirty="0">
                <a:latin typeface="Times New Roman"/>
                <a:cs typeface="Times New Roman"/>
              </a:rPr>
              <a:t>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bet</a:t>
            </a:r>
            <a:r>
              <a:rPr sz="2600" spc="-40" dirty="0">
                <a:latin typeface="Times New Roman"/>
                <a:cs typeface="Times New Roman"/>
              </a:rPr>
              <a:t>t</a:t>
            </a:r>
            <a:r>
              <a:rPr sz="2600" spc="-35" dirty="0">
                <a:latin typeface="Times New Roman"/>
                <a:cs typeface="Times New Roman"/>
              </a:rPr>
              <a:t>er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mobilit</a:t>
            </a:r>
            <a:r>
              <a:rPr sz="2600" spc="-495" dirty="0">
                <a:latin typeface="Times New Roman"/>
                <a:cs typeface="Times New Roman"/>
              </a:rPr>
              <a:t>y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354330" indent="-342265">
              <a:lnSpc>
                <a:spcPct val="100000"/>
              </a:lnSpc>
              <a:spcBef>
                <a:spcPts val="600"/>
              </a:spcBef>
              <a:buClr>
                <a:srgbClr val="A6A0A0"/>
              </a:buClr>
              <a:buSzPct val="84615"/>
              <a:buFont typeface="Wingdings"/>
              <a:buChar char=""/>
              <a:tabLst>
                <a:tab pos="354965" algn="l"/>
              </a:tabLst>
            </a:pPr>
            <a:r>
              <a:rPr sz="2600" spc="-90" dirty="0">
                <a:latin typeface="Times New Roman"/>
                <a:cs typeface="Times New Roman"/>
              </a:rPr>
              <a:t>I</a:t>
            </a:r>
            <a:r>
              <a:rPr sz="2600" spc="-70" dirty="0">
                <a:latin typeface="Times New Roman"/>
                <a:cs typeface="Times New Roman"/>
              </a:rPr>
              <a:t>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can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tu</a:t>
            </a:r>
            <a:r>
              <a:rPr sz="2600" spc="55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u</a:t>
            </a:r>
            <a:r>
              <a:rPr sz="2600" spc="-110" dirty="0">
                <a:latin typeface="Times New Roman"/>
                <a:cs typeface="Times New Roman"/>
              </a:rPr>
              <a:t>p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tu</a:t>
            </a:r>
            <a:r>
              <a:rPr sz="2600" spc="55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wn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4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sho</a:t>
            </a:r>
            <a:r>
              <a:rPr sz="2600" spc="15" dirty="0">
                <a:latin typeface="Times New Roman"/>
                <a:cs typeface="Times New Roman"/>
              </a:rPr>
              <a:t>r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85" dirty="0">
                <a:latin typeface="Times New Roman"/>
                <a:cs typeface="Times New Roman"/>
              </a:rPr>
              <a:t> tim</a:t>
            </a:r>
            <a:r>
              <a:rPr sz="2600" spc="-140" dirty="0">
                <a:latin typeface="Times New Roman"/>
                <a:cs typeface="Times New Roman"/>
              </a:rPr>
              <a:t>e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354330" indent="-342265">
              <a:lnSpc>
                <a:spcPct val="100000"/>
              </a:lnSpc>
              <a:spcBef>
                <a:spcPts val="600"/>
              </a:spcBef>
              <a:buClr>
                <a:srgbClr val="A6A0A0"/>
              </a:buClr>
              <a:buSzPct val="84615"/>
              <a:buFont typeface="Wingdings"/>
              <a:buChar char=""/>
              <a:tabLst>
                <a:tab pos="354965" algn="l"/>
              </a:tabLst>
            </a:pPr>
            <a:r>
              <a:rPr sz="2600" spc="-90" dirty="0">
                <a:latin typeface="Times New Roman"/>
                <a:cs typeface="Times New Roman"/>
              </a:rPr>
              <a:t>I</a:t>
            </a:r>
            <a:r>
              <a:rPr sz="2600" spc="-70" dirty="0">
                <a:latin typeface="Times New Roman"/>
                <a:cs typeface="Times New Roman"/>
              </a:rPr>
              <a:t>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can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mo</a:t>
            </a:r>
            <a:r>
              <a:rPr sz="2600" spc="-7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econ</a:t>
            </a:r>
            <a:r>
              <a:rPr sz="2600" spc="-130" dirty="0">
                <a:latin typeface="Times New Roman"/>
                <a:cs typeface="Times New Roman"/>
              </a:rPr>
              <a:t>o</a:t>
            </a:r>
            <a:r>
              <a:rPr sz="2600" spc="-165" dirty="0">
                <a:latin typeface="Times New Roman"/>
                <a:cs typeface="Times New Roman"/>
              </a:rPr>
              <a:t>mica</a:t>
            </a:r>
            <a:r>
              <a:rPr sz="2600" spc="-114" dirty="0">
                <a:latin typeface="Times New Roman"/>
                <a:cs typeface="Times New Roman"/>
              </a:rPr>
              <a:t>l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354330" marR="5080" indent="-342265" algn="just">
              <a:lnSpc>
                <a:spcPct val="100000"/>
              </a:lnSpc>
              <a:spcBef>
                <a:spcPts val="605"/>
              </a:spcBef>
              <a:buClr>
                <a:srgbClr val="A6A0A0"/>
              </a:buClr>
              <a:buSzPct val="84615"/>
              <a:buFont typeface="Wingdings"/>
              <a:buChar char=""/>
              <a:tabLst>
                <a:tab pos="354965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considered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20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robust</a:t>
            </a:r>
            <a:r>
              <a:rPr sz="2600" spc="47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network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because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its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non- 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hierarchical</a:t>
            </a:r>
            <a:r>
              <a:rPr sz="2600" spc="42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distributed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control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management 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mechanisms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6644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60" dirty="0"/>
              <a:t>Ad-hoc</a:t>
            </a:r>
            <a:r>
              <a:rPr sz="4000" spc="-25" dirty="0"/>
              <a:t> </a:t>
            </a:r>
            <a:r>
              <a:rPr sz="4000" spc="-70" dirty="0"/>
              <a:t>Network</a:t>
            </a:r>
            <a:r>
              <a:rPr sz="4000" dirty="0"/>
              <a:t> </a:t>
            </a:r>
            <a:r>
              <a:rPr sz="4000" spc="-35" dirty="0"/>
              <a:t>Disadvantages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74394"/>
            <a:ext cx="7505700" cy="4203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lnSpc>
                <a:spcPts val="311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05" dirty="0">
                <a:latin typeface="Times New Roman"/>
                <a:cs typeface="Times New Roman"/>
              </a:rPr>
              <a:t>Hostile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65" dirty="0">
                <a:latin typeface="Times New Roman"/>
                <a:cs typeface="Times New Roman"/>
              </a:rPr>
              <a:t>n</a:t>
            </a:r>
            <a:r>
              <a:rPr sz="2600" spc="-110" dirty="0">
                <a:latin typeface="Times New Roman"/>
                <a:cs typeface="Times New Roman"/>
              </a:rPr>
              <a:t>vi</a:t>
            </a:r>
            <a:r>
              <a:rPr sz="2600" spc="-120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men</a:t>
            </a:r>
            <a:r>
              <a:rPr sz="2600" spc="-45" dirty="0">
                <a:latin typeface="Times New Roman"/>
                <a:cs typeface="Times New Roman"/>
              </a:rPr>
              <a:t>t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600" spc="-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600" spc="-140" dirty="0">
                <a:solidFill>
                  <a:srgbClr val="FF0000"/>
                </a:solidFill>
                <a:latin typeface="Times New Roman"/>
                <a:cs typeface="Times New Roman"/>
              </a:rPr>
              <a:t>eg</a:t>
            </a:r>
            <a:r>
              <a:rPr sz="2600" spc="-165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2600" spc="-100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2600" spc="-8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6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25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2600" spc="-15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2600" spc="-11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600" spc="-12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600" spc="-85" dirty="0">
                <a:solidFill>
                  <a:srgbClr val="FF0000"/>
                </a:solidFill>
                <a:latin typeface="Times New Roman"/>
                <a:cs typeface="Times New Roman"/>
              </a:rPr>
              <a:t>ec</a:t>
            </a:r>
            <a:r>
              <a:rPr sz="2600" spc="-7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600" spc="-110" dirty="0">
                <a:solidFill>
                  <a:srgbClr val="FF0000"/>
                </a:solidFill>
                <a:latin typeface="Times New Roman"/>
                <a:cs typeface="Times New Roman"/>
              </a:rPr>
              <a:t>ivit</a:t>
            </a:r>
            <a:r>
              <a:rPr sz="2600" spc="-475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2600" spc="1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ts val="2500"/>
              </a:lnSpc>
              <a:spcBef>
                <a:spcPts val="58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00" dirty="0">
                <a:latin typeface="Times New Roman"/>
                <a:cs typeface="Times New Roman"/>
              </a:rPr>
              <a:t>The</a:t>
            </a:r>
            <a:r>
              <a:rPr sz="2600" spc="-90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no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kn</a:t>
            </a:r>
            <a:r>
              <a:rPr sz="2600" spc="-2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wn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bo</a:t>
            </a:r>
            <a:r>
              <a:rPr sz="2600" spc="-135" dirty="0">
                <a:latin typeface="Times New Roman"/>
                <a:cs typeface="Times New Roman"/>
              </a:rPr>
              <a:t>u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125" dirty="0">
                <a:latin typeface="Times New Roman"/>
                <a:cs typeface="Times New Roman"/>
              </a:rPr>
              <a:t>d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r</a:t>
            </a:r>
            <a:r>
              <a:rPr sz="2600" spc="-145" dirty="0">
                <a:latin typeface="Times New Roman"/>
                <a:cs typeface="Times New Roman"/>
              </a:rPr>
              <a:t>ies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f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ma</a:t>
            </a:r>
            <a:r>
              <a:rPr sz="2600" spc="-150" dirty="0">
                <a:latin typeface="Times New Roman"/>
                <a:cs typeface="Times New Roman"/>
              </a:rPr>
              <a:t>x</a:t>
            </a:r>
            <a:r>
              <a:rPr sz="2600" spc="-75" dirty="0">
                <a:latin typeface="Times New Roman"/>
                <a:cs typeface="Times New Roman"/>
              </a:rPr>
              <a:t>i</a:t>
            </a:r>
            <a:r>
              <a:rPr sz="2600" spc="-229" dirty="0">
                <a:latin typeface="Times New Roman"/>
                <a:cs typeface="Times New Roman"/>
              </a:rPr>
              <a:t>m</a:t>
            </a:r>
            <a:r>
              <a:rPr sz="2600" spc="-130" dirty="0">
                <a:latin typeface="Times New Roman"/>
                <a:cs typeface="Times New Roman"/>
              </a:rPr>
              <a:t>um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ran</a:t>
            </a:r>
            <a:r>
              <a:rPr sz="2600" spc="-150" dirty="0">
                <a:latin typeface="Times New Roman"/>
                <a:cs typeface="Times New Roman"/>
              </a:rPr>
              <a:t>g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th</a:t>
            </a:r>
            <a:r>
              <a:rPr sz="2600" spc="-155" dirty="0">
                <a:latin typeface="Times New Roman"/>
                <a:cs typeface="Times New Roman"/>
              </a:rPr>
              <a:t>a</a:t>
            </a:r>
            <a:r>
              <a:rPr sz="2600" spc="35" dirty="0">
                <a:latin typeface="Times New Roman"/>
                <a:cs typeface="Times New Roman"/>
              </a:rPr>
              <a:t>t  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-135" dirty="0">
                <a:latin typeface="Times New Roman"/>
                <a:cs typeface="Times New Roman"/>
              </a:rPr>
              <a:t>des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will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20" dirty="0">
                <a:latin typeface="Times New Roman"/>
                <a:cs typeface="Times New Roman"/>
              </a:rPr>
              <a:t>a</a:t>
            </a:r>
            <a:r>
              <a:rPr sz="2600" spc="-175" dirty="0">
                <a:latin typeface="Times New Roman"/>
                <a:cs typeface="Times New Roman"/>
              </a:rPr>
              <a:t>b</a:t>
            </a:r>
            <a:r>
              <a:rPr sz="2600" spc="-80" dirty="0">
                <a:latin typeface="Times New Roman"/>
                <a:cs typeface="Times New Roman"/>
              </a:rPr>
              <a:t>l</a:t>
            </a:r>
            <a:r>
              <a:rPr sz="2600" spc="-120" dirty="0">
                <a:latin typeface="Times New Roman"/>
                <a:cs typeface="Times New Roman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</a:t>
            </a:r>
            <a:r>
              <a:rPr sz="2600" spc="-120" dirty="0">
                <a:latin typeface="Times New Roman"/>
                <a:cs typeface="Times New Roman"/>
              </a:rPr>
              <a:t>ec</a:t>
            </a:r>
            <a:r>
              <a:rPr sz="2600" spc="-130" dirty="0">
                <a:latin typeface="Times New Roman"/>
                <a:cs typeface="Times New Roman"/>
              </a:rPr>
              <a:t>e</a:t>
            </a:r>
            <a:r>
              <a:rPr sz="2600" spc="-125" dirty="0">
                <a:latin typeface="Times New Roman"/>
                <a:cs typeface="Times New Roman"/>
              </a:rPr>
              <a:t>i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ne</a:t>
            </a:r>
            <a:r>
              <a:rPr sz="2600" spc="-55" dirty="0">
                <a:latin typeface="Times New Roman"/>
                <a:cs typeface="Times New Roman"/>
              </a:rPr>
              <a:t>t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80" dirty="0">
                <a:latin typeface="Times New Roman"/>
                <a:cs typeface="Times New Roman"/>
              </a:rPr>
              <a:t>ork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frame</a:t>
            </a:r>
            <a:r>
              <a:rPr sz="2600" spc="-170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348615" indent="-274320">
              <a:lnSpc>
                <a:spcPct val="80000"/>
              </a:lnSpc>
              <a:spcBef>
                <a:spcPts val="62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0" dirty="0">
                <a:latin typeface="Times New Roman"/>
                <a:cs typeface="Times New Roman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wireless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channel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weak,</a:t>
            </a:r>
            <a:r>
              <a:rPr sz="2600" spc="-17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unreliable,</a:t>
            </a:r>
            <a:r>
              <a:rPr sz="2600" spc="-17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unprotected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f</a:t>
            </a:r>
            <a:r>
              <a:rPr sz="2600" spc="-110" dirty="0">
                <a:latin typeface="Times New Roman"/>
                <a:cs typeface="Times New Roman"/>
              </a:rPr>
              <a:t>r</a:t>
            </a:r>
            <a:r>
              <a:rPr sz="2600" spc="-130" dirty="0">
                <a:latin typeface="Times New Roman"/>
                <a:cs typeface="Times New Roman"/>
              </a:rPr>
              <a:t>om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u</a:t>
            </a:r>
            <a:r>
              <a:rPr sz="2600" spc="-100" dirty="0">
                <a:latin typeface="Times New Roman"/>
                <a:cs typeface="Times New Roman"/>
              </a:rPr>
              <a:t>tside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t</a:t>
            </a:r>
            <a:r>
              <a:rPr sz="2600" spc="-70" dirty="0">
                <a:latin typeface="Times New Roman"/>
                <a:cs typeface="Times New Roman"/>
              </a:rPr>
              <a:t>erfe</a:t>
            </a:r>
            <a:r>
              <a:rPr sz="2600" spc="-85" dirty="0">
                <a:latin typeface="Times New Roman"/>
                <a:cs typeface="Times New Roman"/>
              </a:rPr>
              <a:t>r</a:t>
            </a:r>
            <a:r>
              <a:rPr sz="2600" spc="-125" dirty="0">
                <a:latin typeface="Times New Roman"/>
                <a:cs typeface="Times New Roman"/>
              </a:rPr>
              <a:t>en</a:t>
            </a:r>
            <a:r>
              <a:rPr sz="2600" spc="-130" dirty="0">
                <a:latin typeface="Times New Roman"/>
                <a:cs typeface="Times New Roman"/>
              </a:rPr>
              <a:t>c</a:t>
            </a:r>
            <a:r>
              <a:rPr sz="2600" spc="-160" dirty="0">
                <a:latin typeface="Times New Roman"/>
                <a:cs typeface="Times New Roman"/>
              </a:rPr>
              <a:t>e</a:t>
            </a:r>
            <a:r>
              <a:rPr sz="2600" spc="-190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ts val="3085"/>
              </a:lnSpc>
              <a:buClr>
                <a:srgbClr val="A6A0A0"/>
              </a:buClr>
              <a:buSzPct val="84615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600" spc="-285" dirty="0">
                <a:latin typeface="Times New Roman"/>
                <a:cs typeface="Times New Roman"/>
              </a:rPr>
              <a:t>L</a:t>
            </a:r>
            <a:r>
              <a:rPr sz="2600" spc="-125" dirty="0">
                <a:latin typeface="Times New Roman"/>
                <a:cs typeface="Times New Roman"/>
              </a:rPr>
              <a:t>i</a:t>
            </a:r>
            <a:r>
              <a:rPr sz="2600" spc="-95" dirty="0">
                <a:latin typeface="Times New Roman"/>
                <a:cs typeface="Times New Roman"/>
              </a:rPr>
              <a:t>mite</a:t>
            </a:r>
            <a:r>
              <a:rPr sz="2600" spc="-10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wi</a:t>
            </a:r>
            <a:r>
              <a:rPr sz="2600" spc="-75" dirty="0">
                <a:latin typeface="Times New Roman"/>
                <a:cs typeface="Times New Roman"/>
              </a:rPr>
              <a:t>r</a:t>
            </a:r>
            <a:r>
              <a:rPr sz="2600" spc="-140" dirty="0">
                <a:latin typeface="Times New Roman"/>
                <a:cs typeface="Times New Roman"/>
              </a:rPr>
              <a:t>eless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ran</a:t>
            </a:r>
            <a:r>
              <a:rPr sz="2600" spc="-150" dirty="0">
                <a:latin typeface="Times New Roman"/>
                <a:cs typeface="Times New Roman"/>
              </a:rPr>
              <a:t>ge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ts val="3095"/>
              </a:lnSpc>
              <a:buClr>
                <a:srgbClr val="A6A0A0"/>
              </a:buClr>
              <a:buSzPct val="84615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600" spc="-120" dirty="0">
                <a:latin typeface="Times New Roman"/>
                <a:cs typeface="Times New Roman"/>
              </a:rPr>
              <a:t>Hidd</a:t>
            </a:r>
            <a:r>
              <a:rPr sz="2600" spc="-114" dirty="0">
                <a:latin typeface="Times New Roman"/>
                <a:cs typeface="Times New Roman"/>
              </a:rPr>
              <a:t>e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te</a:t>
            </a:r>
            <a:r>
              <a:rPr sz="2600" spc="55" dirty="0">
                <a:latin typeface="Times New Roman"/>
                <a:cs typeface="Times New Roman"/>
              </a:rPr>
              <a:t>r</a:t>
            </a:r>
            <a:r>
              <a:rPr sz="2600" spc="-160" dirty="0">
                <a:latin typeface="Times New Roman"/>
                <a:cs typeface="Times New Roman"/>
              </a:rPr>
              <a:t>min</a:t>
            </a:r>
            <a:r>
              <a:rPr sz="2600" spc="-140" dirty="0">
                <a:latin typeface="Times New Roman"/>
                <a:cs typeface="Times New Roman"/>
              </a:rPr>
              <a:t>a</a:t>
            </a:r>
            <a:r>
              <a:rPr sz="2600" spc="-130" dirty="0">
                <a:latin typeface="Times New Roman"/>
                <a:cs typeface="Times New Roman"/>
              </a:rPr>
              <a:t>l</a:t>
            </a:r>
            <a:r>
              <a:rPr sz="2600" spc="-220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ts val="3095"/>
              </a:lnSpc>
              <a:buClr>
                <a:srgbClr val="A6A0A0"/>
              </a:buClr>
              <a:buSzPct val="84615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600" spc="-200" dirty="0">
                <a:latin typeface="Times New Roman"/>
                <a:cs typeface="Times New Roman"/>
              </a:rPr>
              <a:t>P</a:t>
            </a:r>
            <a:r>
              <a:rPr sz="2600" spc="-185" dirty="0">
                <a:latin typeface="Times New Roman"/>
                <a:cs typeface="Times New Roman"/>
              </a:rPr>
              <a:t>a</a:t>
            </a:r>
            <a:r>
              <a:rPr sz="2600" spc="-145" dirty="0">
                <a:latin typeface="Times New Roman"/>
                <a:cs typeface="Times New Roman"/>
              </a:rPr>
              <a:t>c</a:t>
            </a:r>
            <a:r>
              <a:rPr sz="2600" spc="-200" dirty="0">
                <a:latin typeface="Times New Roman"/>
                <a:cs typeface="Times New Roman"/>
              </a:rPr>
              <a:t>k</a:t>
            </a:r>
            <a:r>
              <a:rPr sz="2600" spc="-30" dirty="0">
                <a:latin typeface="Times New Roman"/>
                <a:cs typeface="Times New Roman"/>
              </a:rPr>
              <a:t>et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losse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ts val="3095"/>
              </a:lnSpc>
              <a:buClr>
                <a:srgbClr val="A6A0A0"/>
              </a:buClr>
              <a:buSzPct val="84615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600" spc="-150" dirty="0">
                <a:latin typeface="Times New Roman"/>
                <a:cs typeface="Times New Roman"/>
              </a:rPr>
              <a:t>Ro</a:t>
            </a:r>
            <a:r>
              <a:rPr sz="2600" spc="-135" dirty="0">
                <a:latin typeface="Times New Roman"/>
                <a:cs typeface="Times New Roman"/>
              </a:rPr>
              <a:t>u</a:t>
            </a:r>
            <a:r>
              <a:rPr sz="2600" spc="-90" dirty="0">
                <a:latin typeface="Times New Roman"/>
                <a:cs typeface="Times New Roman"/>
              </a:rPr>
              <a:t>tes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c</a:t>
            </a:r>
            <a:r>
              <a:rPr sz="2600" spc="-170" dirty="0">
                <a:latin typeface="Times New Roman"/>
                <a:cs typeface="Times New Roman"/>
              </a:rPr>
              <a:t>han</a:t>
            </a:r>
            <a:r>
              <a:rPr sz="2600" spc="-195" dirty="0">
                <a:latin typeface="Times New Roman"/>
                <a:cs typeface="Times New Roman"/>
              </a:rPr>
              <a:t>g</a:t>
            </a:r>
            <a:r>
              <a:rPr sz="2600" spc="-160" dirty="0">
                <a:latin typeface="Times New Roman"/>
                <a:cs typeface="Times New Roman"/>
              </a:rPr>
              <a:t>e</a:t>
            </a:r>
            <a:r>
              <a:rPr sz="2600" spc="-185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ts val="3095"/>
              </a:lnSpc>
              <a:buClr>
                <a:srgbClr val="A6A0A0"/>
              </a:buClr>
              <a:buSzPct val="84615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600" spc="-150" dirty="0">
                <a:latin typeface="Times New Roman"/>
                <a:cs typeface="Times New Roman"/>
              </a:rPr>
              <a:t>D</a:t>
            </a:r>
            <a:r>
              <a:rPr sz="2600" spc="-130" dirty="0">
                <a:latin typeface="Times New Roman"/>
                <a:cs typeface="Times New Roman"/>
              </a:rPr>
              <a:t>e</a:t>
            </a:r>
            <a:r>
              <a:rPr sz="2600" spc="-160" dirty="0">
                <a:latin typeface="Times New Roman"/>
                <a:cs typeface="Times New Roman"/>
              </a:rPr>
              <a:t>vi</a:t>
            </a:r>
            <a:r>
              <a:rPr sz="2600" spc="-190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es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hete</a:t>
            </a:r>
            <a:r>
              <a:rPr sz="2600" spc="-80" dirty="0">
                <a:latin typeface="Times New Roman"/>
                <a:cs typeface="Times New Roman"/>
              </a:rPr>
              <a:t>r</a:t>
            </a:r>
            <a:r>
              <a:rPr sz="2600" spc="-165" dirty="0">
                <a:latin typeface="Times New Roman"/>
                <a:cs typeface="Times New Roman"/>
              </a:rPr>
              <a:t>o</a:t>
            </a:r>
            <a:r>
              <a:rPr sz="2600" spc="-180" dirty="0">
                <a:latin typeface="Times New Roman"/>
                <a:cs typeface="Times New Roman"/>
              </a:rPr>
              <a:t>g</a:t>
            </a:r>
            <a:r>
              <a:rPr sz="2600" spc="-80" dirty="0">
                <a:latin typeface="Times New Roman"/>
                <a:cs typeface="Times New Roman"/>
              </a:rPr>
              <a:t>eneit</a:t>
            </a:r>
            <a:r>
              <a:rPr sz="2600" spc="-495" dirty="0">
                <a:latin typeface="Times New Roman"/>
                <a:cs typeface="Times New Roman"/>
              </a:rPr>
              <a:t>y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ts val="3110"/>
              </a:lnSpc>
              <a:buClr>
                <a:srgbClr val="A6A0A0"/>
              </a:buClr>
              <a:buSzPct val="84615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600" spc="-370" dirty="0">
                <a:latin typeface="Times New Roman"/>
                <a:cs typeface="Times New Roman"/>
              </a:rPr>
              <a:t>B</a:t>
            </a:r>
            <a:r>
              <a:rPr sz="2600" spc="-270" dirty="0">
                <a:latin typeface="Times New Roman"/>
                <a:cs typeface="Times New Roman"/>
              </a:rPr>
              <a:t>a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25" dirty="0">
                <a:latin typeface="Times New Roman"/>
                <a:cs typeface="Times New Roman"/>
              </a:rPr>
              <a:t>t</a:t>
            </a:r>
            <a:r>
              <a:rPr sz="2600" spc="-4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p</a:t>
            </a:r>
            <a:r>
              <a:rPr sz="2600" spc="-195" dirty="0">
                <a:latin typeface="Times New Roman"/>
                <a:cs typeface="Times New Roman"/>
              </a:rPr>
              <a:t>o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35" dirty="0">
                <a:latin typeface="Times New Roman"/>
                <a:cs typeface="Times New Roman"/>
              </a:rPr>
              <a:t>er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o</a:t>
            </a:r>
            <a:r>
              <a:rPr sz="2600" spc="-105" dirty="0">
                <a:latin typeface="Times New Roman"/>
                <a:cs typeface="Times New Roman"/>
              </a:rPr>
              <a:t>ns</a:t>
            </a:r>
            <a:r>
              <a:rPr sz="2600" spc="-75" dirty="0">
                <a:latin typeface="Times New Roman"/>
                <a:cs typeface="Times New Roman"/>
              </a:rPr>
              <a:t>t</a:t>
            </a:r>
            <a:r>
              <a:rPr sz="2600" spc="-100" dirty="0">
                <a:latin typeface="Times New Roman"/>
                <a:cs typeface="Times New Roman"/>
              </a:rPr>
              <a:t>raint</a:t>
            </a:r>
            <a:r>
              <a:rPr sz="2600" spc="-155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60852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60" dirty="0"/>
              <a:t>Ad-hoc</a:t>
            </a:r>
            <a:r>
              <a:rPr sz="4000" spc="-25" dirty="0"/>
              <a:t> </a:t>
            </a:r>
            <a:r>
              <a:rPr sz="4000" spc="-70" dirty="0"/>
              <a:t>Network</a:t>
            </a:r>
            <a:r>
              <a:rPr sz="4000" dirty="0"/>
              <a:t> </a:t>
            </a:r>
            <a:r>
              <a:rPr sz="4000" spc="-55" dirty="0"/>
              <a:t>Applications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30781"/>
            <a:ext cx="7563484" cy="2620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7020" algn="l"/>
              </a:tabLst>
            </a:pPr>
            <a:r>
              <a:rPr sz="2800" spc="-110" dirty="0">
                <a:latin typeface="Times New Roman"/>
                <a:cs typeface="Times New Roman"/>
              </a:rPr>
              <a:t>Group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of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people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with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laptops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and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they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want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Times New Roman"/>
                <a:cs typeface="Times New Roman"/>
              </a:rPr>
              <a:t>to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exchange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files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and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data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95" dirty="0">
                <a:solidFill>
                  <a:srgbClr val="FF0000"/>
                </a:solidFill>
                <a:latin typeface="Times New Roman"/>
                <a:cs typeface="Times New Roman"/>
              </a:rPr>
              <a:t>without</a:t>
            </a:r>
            <a:r>
              <a:rPr sz="28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204" dirty="0">
                <a:solidFill>
                  <a:srgbClr val="FF0000"/>
                </a:solidFill>
                <a:latin typeface="Times New Roman"/>
                <a:cs typeface="Times New Roman"/>
              </a:rPr>
              <a:t>having</a:t>
            </a:r>
            <a:r>
              <a:rPr sz="28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75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28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90" dirty="0">
                <a:solidFill>
                  <a:srgbClr val="FF0000"/>
                </a:solidFill>
                <a:latin typeface="Times New Roman"/>
                <a:cs typeface="Times New Roman"/>
              </a:rPr>
              <a:t>access</a:t>
            </a:r>
            <a:r>
              <a:rPr sz="28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5" dirty="0">
                <a:solidFill>
                  <a:srgbClr val="FF0000"/>
                </a:solidFill>
                <a:latin typeface="Times New Roman"/>
                <a:cs typeface="Times New Roman"/>
              </a:rPr>
              <a:t>point</a:t>
            </a:r>
            <a:r>
              <a:rPr sz="2800" spc="-5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286385" marR="74930" indent="-274320">
              <a:lnSpc>
                <a:spcPct val="100000"/>
              </a:lnSpc>
              <a:spcBef>
                <a:spcPts val="63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65" dirty="0">
                <a:latin typeface="Times New Roman"/>
                <a:cs typeface="Times New Roman"/>
              </a:rPr>
              <a:t>Incase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if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we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need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exchange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information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95" dirty="0">
                <a:latin typeface="Times New Roman"/>
                <a:cs typeface="Times New Roman"/>
              </a:rPr>
              <a:t>network's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infrast</a:t>
            </a:r>
            <a:r>
              <a:rPr sz="2600" spc="-35" dirty="0">
                <a:latin typeface="Times New Roman"/>
                <a:cs typeface="Times New Roman"/>
              </a:rPr>
              <a:t>r</a:t>
            </a:r>
            <a:r>
              <a:rPr sz="2600" spc="-140" dirty="0">
                <a:latin typeface="Times New Roman"/>
                <a:cs typeface="Times New Roman"/>
              </a:rPr>
              <a:t>uc</a:t>
            </a:r>
            <a:r>
              <a:rPr sz="2600" spc="-25" dirty="0">
                <a:latin typeface="Times New Roman"/>
                <a:cs typeface="Times New Roman"/>
              </a:rPr>
              <a:t>t</a:t>
            </a:r>
            <a:r>
              <a:rPr sz="2600" spc="-55" dirty="0">
                <a:latin typeface="Times New Roman"/>
                <a:cs typeface="Times New Roman"/>
              </a:rPr>
              <a:t>u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90" dirty="0">
                <a:latin typeface="Times New Roman"/>
                <a:cs typeface="Times New Roman"/>
              </a:rPr>
              <a:t>has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been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des</a:t>
            </a:r>
            <a:r>
              <a:rPr sz="2600" spc="-80" dirty="0">
                <a:latin typeface="Times New Roman"/>
                <a:cs typeface="Times New Roman"/>
              </a:rPr>
              <a:t>t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260" dirty="0">
                <a:latin typeface="Times New Roman"/>
                <a:cs typeface="Times New Roman"/>
              </a:rPr>
              <a:t>y</a:t>
            </a:r>
            <a:r>
              <a:rPr sz="2600" spc="-35" dirty="0">
                <a:latin typeface="Times New Roman"/>
                <a:cs typeface="Times New Roman"/>
              </a:rPr>
              <a:t>ed.</a:t>
            </a:r>
            <a:endParaRPr sz="2600">
              <a:latin typeface="Times New Roman"/>
              <a:cs typeface="Times New Roman"/>
            </a:endParaRPr>
          </a:p>
          <a:p>
            <a:pPr marL="286385" marR="69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suitable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military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communications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at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battlefield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where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no</a:t>
            </a:r>
            <a:r>
              <a:rPr sz="2600" spc="-65" dirty="0">
                <a:latin typeface="Times New Roman"/>
                <a:cs typeface="Times New Roman"/>
              </a:rPr>
              <a:t> ne</a:t>
            </a:r>
            <a:r>
              <a:rPr sz="2600" spc="-55" dirty="0">
                <a:latin typeface="Times New Roman"/>
                <a:cs typeface="Times New Roman"/>
              </a:rPr>
              <a:t>t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80" dirty="0">
                <a:latin typeface="Times New Roman"/>
                <a:cs typeface="Times New Roman"/>
              </a:rPr>
              <a:t>ork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infrast</a:t>
            </a:r>
            <a:r>
              <a:rPr sz="2600" spc="-35" dirty="0">
                <a:latin typeface="Times New Roman"/>
                <a:cs typeface="Times New Roman"/>
              </a:rPr>
              <a:t>r</a:t>
            </a:r>
            <a:r>
              <a:rPr sz="2600" spc="-140" dirty="0">
                <a:latin typeface="Times New Roman"/>
                <a:cs typeface="Times New Roman"/>
              </a:rPr>
              <a:t>uc</a:t>
            </a:r>
            <a:r>
              <a:rPr sz="2600" spc="-25" dirty="0">
                <a:latin typeface="Times New Roman"/>
                <a:cs typeface="Times New Roman"/>
              </a:rPr>
              <a:t>t</a:t>
            </a:r>
            <a:r>
              <a:rPr sz="2600" spc="-55" dirty="0">
                <a:latin typeface="Times New Roman"/>
                <a:cs typeface="Times New Roman"/>
              </a:rPr>
              <a:t>u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50" dirty="0">
                <a:latin typeface="Times New Roman"/>
                <a:cs typeface="Times New Roman"/>
              </a:rPr>
              <a:t>e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800" y="5619594"/>
            <a:ext cx="1561998" cy="84891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09600" y="3962450"/>
            <a:ext cx="6443980" cy="2559685"/>
            <a:chOff x="609600" y="3962450"/>
            <a:chExt cx="6443980" cy="25596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000" y="5672756"/>
              <a:ext cx="1561998" cy="8489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701164" y="4907406"/>
              <a:ext cx="1225550" cy="1158240"/>
            </a:xfrm>
            <a:custGeom>
              <a:avLst/>
              <a:gdLst/>
              <a:ahLst/>
              <a:cxnLst/>
              <a:rect l="l" t="t" r="r" b="b"/>
              <a:pathLst>
                <a:path w="1225550" h="1158239">
                  <a:moveTo>
                    <a:pt x="221487" y="0"/>
                  </a:moveTo>
                  <a:lnTo>
                    <a:pt x="0" y="7747"/>
                  </a:lnTo>
                  <a:lnTo>
                    <a:pt x="7747" y="229235"/>
                  </a:lnTo>
                  <a:lnTo>
                    <a:pt x="61214" y="171958"/>
                  </a:lnTo>
                  <a:lnTo>
                    <a:pt x="1057021" y="1100620"/>
                  </a:lnTo>
                  <a:lnTo>
                    <a:pt x="1003681" y="1157922"/>
                  </a:lnTo>
                  <a:lnTo>
                    <a:pt x="1225042" y="1150188"/>
                  </a:lnTo>
                  <a:lnTo>
                    <a:pt x="1217422" y="928712"/>
                  </a:lnTo>
                  <a:lnTo>
                    <a:pt x="1163955" y="986015"/>
                  </a:lnTo>
                  <a:lnTo>
                    <a:pt x="168021" y="57404"/>
                  </a:lnTo>
                  <a:lnTo>
                    <a:pt x="221487" y="0"/>
                  </a:lnTo>
                  <a:close/>
                </a:path>
              </a:pathLst>
            </a:custGeom>
            <a:solidFill>
              <a:srgbClr val="C3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01164" y="4907406"/>
              <a:ext cx="1225550" cy="1158240"/>
            </a:xfrm>
            <a:custGeom>
              <a:avLst/>
              <a:gdLst/>
              <a:ahLst/>
              <a:cxnLst/>
              <a:rect l="l" t="t" r="r" b="b"/>
              <a:pathLst>
                <a:path w="1225550" h="1158239">
                  <a:moveTo>
                    <a:pt x="1217422" y="928712"/>
                  </a:moveTo>
                  <a:lnTo>
                    <a:pt x="1225042" y="1150188"/>
                  </a:lnTo>
                  <a:lnTo>
                    <a:pt x="1003681" y="1157922"/>
                  </a:lnTo>
                  <a:lnTo>
                    <a:pt x="1057021" y="1100620"/>
                  </a:lnTo>
                  <a:lnTo>
                    <a:pt x="61214" y="171958"/>
                  </a:lnTo>
                  <a:lnTo>
                    <a:pt x="7747" y="229235"/>
                  </a:lnTo>
                  <a:lnTo>
                    <a:pt x="0" y="7747"/>
                  </a:lnTo>
                  <a:lnTo>
                    <a:pt x="221487" y="0"/>
                  </a:lnTo>
                  <a:lnTo>
                    <a:pt x="168021" y="57404"/>
                  </a:lnTo>
                  <a:lnTo>
                    <a:pt x="1163955" y="986015"/>
                  </a:lnTo>
                  <a:lnTo>
                    <a:pt x="1217422" y="928712"/>
                  </a:lnTo>
                  <a:close/>
                </a:path>
              </a:pathLst>
            </a:custGeom>
            <a:ln w="12700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9600" y="4038650"/>
              <a:ext cx="1600200" cy="89136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821807" y="4831206"/>
              <a:ext cx="1225550" cy="1158240"/>
            </a:xfrm>
            <a:custGeom>
              <a:avLst/>
              <a:gdLst/>
              <a:ahLst/>
              <a:cxnLst/>
              <a:rect l="l" t="t" r="r" b="b"/>
              <a:pathLst>
                <a:path w="1225550" h="1158239">
                  <a:moveTo>
                    <a:pt x="221487" y="0"/>
                  </a:moveTo>
                  <a:lnTo>
                    <a:pt x="0" y="7747"/>
                  </a:lnTo>
                  <a:lnTo>
                    <a:pt x="7746" y="229235"/>
                  </a:lnTo>
                  <a:lnTo>
                    <a:pt x="61213" y="171958"/>
                  </a:lnTo>
                  <a:lnTo>
                    <a:pt x="1057147" y="1100620"/>
                  </a:lnTo>
                  <a:lnTo>
                    <a:pt x="1003681" y="1157922"/>
                  </a:lnTo>
                  <a:lnTo>
                    <a:pt x="1225168" y="1150188"/>
                  </a:lnTo>
                  <a:lnTo>
                    <a:pt x="1217421" y="928712"/>
                  </a:lnTo>
                  <a:lnTo>
                    <a:pt x="1163954" y="986015"/>
                  </a:lnTo>
                  <a:lnTo>
                    <a:pt x="168147" y="57404"/>
                  </a:lnTo>
                  <a:lnTo>
                    <a:pt x="221487" y="0"/>
                  </a:lnTo>
                  <a:close/>
                </a:path>
              </a:pathLst>
            </a:custGeom>
            <a:solidFill>
              <a:srgbClr val="C3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21807" y="4831206"/>
              <a:ext cx="1225550" cy="1158240"/>
            </a:xfrm>
            <a:custGeom>
              <a:avLst/>
              <a:gdLst/>
              <a:ahLst/>
              <a:cxnLst/>
              <a:rect l="l" t="t" r="r" b="b"/>
              <a:pathLst>
                <a:path w="1225550" h="1158239">
                  <a:moveTo>
                    <a:pt x="1217421" y="928712"/>
                  </a:moveTo>
                  <a:lnTo>
                    <a:pt x="1225168" y="1150188"/>
                  </a:lnTo>
                  <a:lnTo>
                    <a:pt x="1003681" y="1157922"/>
                  </a:lnTo>
                  <a:lnTo>
                    <a:pt x="1057147" y="1100620"/>
                  </a:lnTo>
                  <a:lnTo>
                    <a:pt x="61213" y="171958"/>
                  </a:lnTo>
                  <a:lnTo>
                    <a:pt x="7746" y="229235"/>
                  </a:lnTo>
                  <a:lnTo>
                    <a:pt x="0" y="7747"/>
                  </a:lnTo>
                  <a:lnTo>
                    <a:pt x="221487" y="0"/>
                  </a:lnTo>
                  <a:lnTo>
                    <a:pt x="168147" y="57404"/>
                  </a:lnTo>
                  <a:lnTo>
                    <a:pt x="1163954" y="986015"/>
                  </a:lnTo>
                  <a:lnTo>
                    <a:pt x="1217421" y="928712"/>
                  </a:lnTo>
                  <a:close/>
                </a:path>
              </a:pathLst>
            </a:custGeom>
            <a:ln w="12699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64407" y="4907533"/>
              <a:ext cx="1225550" cy="1158240"/>
            </a:xfrm>
            <a:custGeom>
              <a:avLst/>
              <a:gdLst/>
              <a:ahLst/>
              <a:cxnLst/>
              <a:rect l="l" t="t" r="r" b="b"/>
              <a:pathLst>
                <a:path w="1225550" h="1158239">
                  <a:moveTo>
                    <a:pt x="1003680" y="0"/>
                  </a:moveTo>
                  <a:lnTo>
                    <a:pt x="1057147" y="57277"/>
                  </a:lnTo>
                  <a:lnTo>
                    <a:pt x="61213" y="985888"/>
                  </a:lnTo>
                  <a:lnTo>
                    <a:pt x="7746" y="928585"/>
                  </a:lnTo>
                  <a:lnTo>
                    <a:pt x="0" y="1150061"/>
                  </a:lnTo>
                  <a:lnTo>
                    <a:pt x="221487" y="1157795"/>
                  </a:lnTo>
                  <a:lnTo>
                    <a:pt x="168147" y="1100493"/>
                  </a:lnTo>
                  <a:lnTo>
                    <a:pt x="1163954" y="171831"/>
                  </a:lnTo>
                  <a:lnTo>
                    <a:pt x="1217421" y="229108"/>
                  </a:lnTo>
                  <a:lnTo>
                    <a:pt x="1225168" y="7620"/>
                  </a:lnTo>
                  <a:lnTo>
                    <a:pt x="1003680" y="0"/>
                  </a:lnTo>
                  <a:close/>
                </a:path>
              </a:pathLst>
            </a:custGeom>
            <a:solidFill>
              <a:srgbClr val="C3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" y="3962450"/>
              <a:ext cx="1600200" cy="89136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133600" y="4495799"/>
              <a:ext cx="2133600" cy="304800"/>
            </a:xfrm>
            <a:custGeom>
              <a:avLst/>
              <a:gdLst/>
              <a:ahLst/>
              <a:cxnLst/>
              <a:rect l="l" t="t" r="r" b="b"/>
              <a:pathLst>
                <a:path w="2133600" h="304800">
                  <a:moveTo>
                    <a:pt x="1981200" y="0"/>
                  </a:moveTo>
                  <a:lnTo>
                    <a:pt x="1981200" y="76200"/>
                  </a:lnTo>
                  <a:lnTo>
                    <a:pt x="152400" y="76200"/>
                  </a:lnTo>
                  <a:lnTo>
                    <a:pt x="152400" y="0"/>
                  </a:lnTo>
                  <a:lnTo>
                    <a:pt x="0" y="152400"/>
                  </a:lnTo>
                  <a:lnTo>
                    <a:pt x="152400" y="304800"/>
                  </a:lnTo>
                  <a:lnTo>
                    <a:pt x="152400" y="228600"/>
                  </a:lnTo>
                  <a:lnTo>
                    <a:pt x="1981200" y="228600"/>
                  </a:lnTo>
                  <a:lnTo>
                    <a:pt x="1981200" y="304800"/>
                  </a:lnTo>
                  <a:lnTo>
                    <a:pt x="2133600" y="152400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C3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33600" y="4495799"/>
              <a:ext cx="2133600" cy="304800"/>
            </a:xfrm>
            <a:custGeom>
              <a:avLst/>
              <a:gdLst/>
              <a:ahLst/>
              <a:cxnLst/>
              <a:rect l="l" t="t" r="r" b="b"/>
              <a:pathLst>
                <a:path w="2133600" h="304800">
                  <a:moveTo>
                    <a:pt x="1981200" y="0"/>
                  </a:moveTo>
                  <a:lnTo>
                    <a:pt x="2133600" y="152400"/>
                  </a:lnTo>
                  <a:lnTo>
                    <a:pt x="1981200" y="304800"/>
                  </a:lnTo>
                  <a:lnTo>
                    <a:pt x="1981200" y="228600"/>
                  </a:lnTo>
                  <a:lnTo>
                    <a:pt x="152400" y="228600"/>
                  </a:lnTo>
                  <a:lnTo>
                    <a:pt x="152400" y="304800"/>
                  </a:lnTo>
                  <a:lnTo>
                    <a:pt x="0" y="152400"/>
                  </a:lnTo>
                  <a:lnTo>
                    <a:pt x="152400" y="0"/>
                  </a:lnTo>
                  <a:lnTo>
                    <a:pt x="152400" y="76200"/>
                  </a:lnTo>
                  <a:lnTo>
                    <a:pt x="1981200" y="76200"/>
                  </a:lnTo>
                  <a:lnTo>
                    <a:pt x="1981200" y="0"/>
                  </a:lnTo>
                  <a:close/>
                </a:path>
              </a:pathLst>
            </a:custGeom>
            <a:ln w="12700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64407" y="4907533"/>
              <a:ext cx="1225550" cy="1158240"/>
            </a:xfrm>
            <a:custGeom>
              <a:avLst/>
              <a:gdLst/>
              <a:ahLst/>
              <a:cxnLst/>
              <a:rect l="l" t="t" r="r" b="b"/>
              <a:pathLst>
                <a:path w="1225550" h="1158239">
                  <a:moveTo>
                    <a:pt x="1217421" y="229108"/>
                  </a:moveTo>
                  <a:lnTo>
                    <a:pt x="1225168" y="7620"/>
                  </a:lnTo>
                  <a:lnTo>
                    <a:pt x="1003680" y="0"/>
                  </a:lnTo>
                  <a:lnTo>
                    <a:pt x="1057147" y="57277"/>
                  </a:lnTo>
                  <a:lnTo>
                    <a:pt x="61213" y="985888"/>
                  </a:lnTo>
                  <a:lnTo>
                    <a:pt x="7746" y="928585"/>
                  </a:lnTo>
                  <a:lnTo>
                    <a:pt x="0" y="1150061"/>
                  </a:lnTo>
                  <a:lnTo>
                    <a:pt x="221487" y="1157795"/>
                  </a:lnTo>
                  <a:lnTo>
                    <a:pt x="168147" y="1100493"/>
                  </a:lnTo>
                  <a:lnTo>
                    <a:pt x="1163954" y="171831"/>
                  </a:lnTo>
                  <a:lnTo>
                    <a:pt x="1217421" y="229108"/>
                  </a:lnTo>
                </a:path>
              </a:pathLst>
            </a:custGeom>
            <a:ln w="12700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67200" y="6096000"/>
              <a:ext cx="2743200" cy="304800"/>
            </a:xfrm>
            <a:custGeom>
              <a:avLst/>
              <a:gdLst/>
              <a:ahLst/>
              <a:cxnLst/>
              <a:rect l="l" t="t" r="r" b="b"/>
              <a:pathLst>
                <a:path w="2743200" h="304800">
                  <a:moveTo>
                    <a:pt x="2590800" y="0"/>
                  </a:moveTo>
                  <a:lnTo>
                    <a:pt x="2590800" y="76200"/>
                  </a:lnTo>
                  <a:lnTo>
                    <a:pt x="152400" y="76200"/>
                  </a:lnTo>
                  <a:lnTo>
                    <a:pt x="152400" y="0"/>
                  </a:lnTo>
                  <a:lnTo>
                    <a:pt x="0" y="152400"/>
                  </a:lnTo>
                  <a:lnTo>
                    <a:pt x="152400" y="304800"/>
                  </a:lnTo>
                  <a:lnTo>
                    <a:pt x="152400" y="228600"/>
                  </a:lnTo>
                  <a:lnTo>
                    <a:pt x="2590800" y="228600"/>
                  </a:lnTo>
                  <a:lnTo>
                    <a:pt x="2590800" y="304800"/>
                  </a:lnTo>
                  <a:lnTo>
                    <a:pt x="2743200" y="1524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C3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67200" y="6096000"/>
              <a:ext cx="2743200" cy="304800"/>
            </a:xfrm>
            <a:custGeom>
              <a:avLst/>
              <a:gdLst/>
              <a:ahLst/>
              <a:cxnLst/>
              <a:rect l="l" t="t" r="r" b="b"/>
              <a:pathLst>
                <a:path w="2743200" h="304800">
                  <a:moveTo>
                    <a:pt x="2590800" y="0"/>
                  </a:moveTo>
                  <a:lnTo>
                    <a:pt x="2743200" y="152400"/>
                  </a:lnTo>
                  <a:lnTo>
                    <a:pt x="2590800" y="304800"/>
                  </a:lnTo>
                  <a:lnTo>
                    <a:pt x="2590800" y="228600"/>
                  </a:lnTo>
                  <a:lnTo>
                    <a:pt x="152400" y="228600"/>
                  </a:lnTo>
                  <a:lnTo>
                    <a:pt x="152400" y="304800"/>
                  </a:lnTo>
                  <a:lnTo>
                    <a:pt x="0" y="152400"/>
                  </a:lnTo>
                  <a:lnTo>
                    <a:pt x="152400" y="0"/>
                  </a:lnTo>
                  <a:lnTo>
                    <a:pt x="152400" y="76200"/>
                  </a:lnTo>
                  <a:lnTo>
                    <a:pt x="2590800" y="76200"/>
                  </a:lnTo>
                  <a:lnTo>
                    <a:pt x="2590800" y="0"/>
                  </a:lnTo>
                  <a:close/>
                </a:path>
              </a:pathLst>
            </a:custGeom>
            <a:ln w="12700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52717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5" dirty="0"/>
              <a:t>Other</a:t>
            </a:r>
            <a:r>
              <a:rPr sz="4000" spc="-40" dirty="0"/>
              <a:t> </a:t>
            </a:r>
            <a:r>
              <a:rPr sz="4000" spc="-50" dirty="0"/>
              <a:t>Wireless</a:t>
            </a:r>
            <a:r>
              <a:rPr sz="4000" spc="-30" dirty="0"/>
              <a:t> </a:t>
            </a:r>
            <a:r>
              <a:rPr sz="4000" spc="-55" dirty="0"/>
              <a:t>Networks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74963"/>
            <a:ext cx="7111365" cy="435102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56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0" dirty="0">
                <a:latin typeface="Times New Roman"/>
                <a:cs typeface="Times New Roman"/>
              </a:rPr>
              <a:t>W</a:t>
            </a:r>
            <a:r>
              <a:rPr sz="2600" spc="-45" dirty="0">
                <a:latin typeface="Times New Roman"/>
                <a:cs typeface="Times New Roman"/>
              </a:rPr>
              <a:t>i</a:t>
            </a:r>
            <a:r>
              <a:rPr sz="2600" spc="-75" dirty="0">
                <a:latin typeface="Times New Roman"/>
                <a:cs typeface="Times New Roman"/>
              </a:rPr>
              <a:t>r</a:t>
            </a:r>
            <a:r>
              <a:rPr sz="2600" spc="-140" dirty="0">
                <a:latin typeface="Times New Roman"/>
                <a:cs typeface="Times New Roman"/>
              </a:rPr>
              <a:t>eless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lo</a:t>
            </a:r>
            <a:r>
              <a:rPr sz="2600" spc="-145" dirty="0">
                <a:latin typeface="Times New Roman"/>
                <a:cs typeface="Times New Roman"/>
              </a:rPr>
              <a:t>c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120" dirty="0">
                <a:latin typeface="Times New Roman"/>
                <a:cs typeface="Times New Roman"/>
              </a:rPr>
              <a:t>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</a:t>
            </a:r>
            <a:r>
              <a:rPr sz="2600" spc="-155" dirty="0">
                <a:latin typeface="Times New Roman"/>
                <a:cs typeface="Times New Roman"/>
              </a:rPr>
              <a:t>ea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ne</a:t>
            </a:r>
            <a:r>
              <a:rPr sz="2600" spc="-55" dirty="0">
                <a:latin typeface="Times New Roman"/>
                <a:cs typeface="Times New Roman"/>
              </a:rPr>
              <a:t>t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110" dirty="0">
                <a:latin typeface="Times New Roman"/>
                <a:cs typeface="Times New Roman"/>
              </a:rPr>
              <a:t>orks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(W</a:t>
            </a:r>
            <a:r>
              <a:rPr sz="2600" spc="-130" dirty="0">
                <a:latin typeface="Times New Roman"/>
                <a:cs typeface="Times New Roman"/>
              </a:rPr>
              <a:t>L</a:t>
            </a:r>
            <a:r>
              <a:rPr sz="2600" spc="-180" dirty="0">
                <a:latin typeface="Times New Roman"/>
                <a:cs typeface="Times New Roman"/>
              </a:rPr>
              <a:t>AN)</a:t>
            </a:r>
            <a:endParaRPr sz="26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229" dirty="0">
                <a:latin typeface="Times New Roman"/>
                <a:cs typeface="Times New Roman"/>
              </a:rPr>
              <a:t>IEEE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8</a:t>
            </a:r>
            <a:r>
              <a:rPr sz="2400" spc="-100" dirty="0">
                <a:latin typeface="Times New Roman"/>
                <a:cs typeface="Times New Roman"/>
              </a:rPr>
              <a:t>0</a:t>
            </a:r>
            <a:r>
              <a:rPr sz="2400" spc="-55" dirty="0">
                <a:latin typeface="Times New Roman"/>
                <a:cs typeface="Times New Roman"/>
              </a:rPr>
              <a:t>2.11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(</a:t>
            </a:r>
            <a:r>
              <a:rPr sz="2400" spc="-110" dirty="0">
                <a:latin typeface="Times New Roman"/>
                <a:cs typeface="Times New Roman"/>
              </a:rPr>
              <a:t>W</a:t>
            </a:r>
            <a:r>
              <a:rPr sz="2400" spc="-180" dirty="0">
                <a:latin typeface="Times New Roman"/>
                <a:cs typeface="Times New Roman"/>
              </a:rPr>
              <a:t>iF</a:t>
            </a:r>
            <a:r>
              <a:rPr sz="2400" spc="-114" dirty="0">
                <a:latin typeface="Times New Roman"/>
                <a:cs typeface="Times New Roman"/>
              </a:rPr>
              <a:t>i</a:t>
            </a:r>
            <a:r>
              <a:rPr sz="2400" spc="-5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105" dirty="0">
                <a:latin typeface="Times New Roman"/>
                <a:cs typeface="Times New Roman"/>
              </a:rPr>
              <a:t>10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105" dirty="0">
                <a:latin typeface="Times New Roman"/>
                <a:cs typeface="Times New Roman"/>
              </a:rPr>
              <a:t>1</a:t>
            </a:r>
            <a:r>
              <a:rPr sz="2400" spc="-100" dirty="0">
                <a:latin typeface="Times New Roman"/>
                <a:cs typeface="Times New Roman"/>
              </a:rPr>
              <a:t>0</a:t>
            </a:r>
            <a:r>
              <a:rPr sz="2400" spc="-105" dirty="0">
                <a:latin typeface="Times New Roman"/>
                <a:cs typeface="Times New Roman"/>
              </a:rPr>
              <a:t>0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Mbp</a:t>
            </a:r>
            <a:r>
              <a:rPr sz="2400" spc="-45" dirty="0">
                <a:latin typeface="Times New Roman"/>
                <a:cs typeface="Times New Roman"/>
              </a:rPr>
              <a:t>s,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1.5</a:t>
            </a:r>
            <a:r>
              <a:rPr sz="2400" spc="-70" dirty="0">
                <a:latin typeface="Times New Roman"/>
                <a:cs typeface="Times New Roman"/>
              </a:rPr>
              <a:t>k</a:t>
            </a:r>
            <a:r>
              <a:rPr sz="2400" spc="-145" dirty="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  <a:p>
            <a:pPr marL="891540" lvl="2" indent="-285750">
              <a:lnSpc>
                <a:spcPct val="100000"/>
              </a:lnSpc>
              <a:spcBef>
                <a:spcPts val="459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91540" algn="l"/>
                <a:tab pos="892175" algn="l"/>
              </a:tabLst>
            </a:pPr>
            <a:r>
              <a:rPr sz="2000" spc="-85" dirty="0">
                <a:latin typeface="Times New Roman"/>
                <a:cs typeface="Times New Roman"/>
              </a:rPr>
              <a:t>8</a:t>
            </a:r>
            <a:r>
              <a:rPr sz="2000" spc="-100" dirty="0">
                <a:latin typeface="Times New Roman"/>
                <a:cs typeface="Times New Roman"/>
              </a:rPr>
              <a:t>0</a:t>
            </a:r>
            <a:r>
              <a:rPr sz="2000" spc="-25" dirty="0">
                <a:latin typeface="Times New Roman"/>
                <a:cs typeface="Times New Roman"/>
              </a:rPr>
              <a:t>2.</a:t>
            </a:r>
            <a:r>
              <a:rPr sz="2000" spc="-45" dirty="0">
                <a:latin typeface="Times New Roman"/>
                <a:cs typeface="Times New Roman"/>
              </a:rPr>
              <a:t>1</a:t>
            </a:r>
            <a:r>
              <a:rPr sz="2000" spc="-85" dirty="0">
                <a:latin typeface="Times New Roman"/>
                <a:cs typeface="Times New Roman"/>
              </a:rPr>
              <a:t>1</a:t>
            </a:r>
            <a:r>
              <a:rPr sz="2000" spc="-50" dirty="0">
                <a:latin typeface="Times New Roman"/>
                <a:cs typeface="Times New Roman"/>
              </a:rPr>
              <a:t> (</a:t>
            </a:r>
            <a:r>
              <a:rPr sz="2000" spc="-85" dirty="0">
                <a:latin typeface="Times New Roman"/>
                <a:cs typeface="Times New Roman"/>
              </a:rPr>
              <a:t>19</a:t>
            </a:r>
            <a:r>
              <a:rPr sz="2000" spc="-100" dirty="0">
                <a:latin typeface="Times New Roman"/>
                <a:cs typeface="Times New Roman"/>
              </a:rPr>
              <a:t>9</a:t>
            </a:r>
            <a:r>
              <a:rPr sz="2000" spc="-75" dirty="0">
                <a:latin typeface="Times New Roman"/>
                <a:cs typeface="Times New Roman"/>
              </a:rPr>
              <a:t>7</a:t>
            </a:r>
            <a:r>
              <a:rPr sz="2000" spc="-60" dirty="0">
                <a:latin typeface="Times New Roman"/>
                <a:cs typeface="Times New Roman"/>
              </a:rPr>
              <a:t>)</a:t>
            </a:r>
            <a:r>
              <a:rPr sz="2000" spc="25" dirty="0">
                <a:latin typeface="Times New Roman"/>
                <a:cs typeface="Times New Roman"/>
              </a:rPr>
              <a:t>: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u</a:t>
            </a:r>
            <a:r>
              <a:rPr sz="2000" spc="-100" dirty="0">
                <a:latin typeface="Times New Roman"/>
                <a:cs typeface="Times New Roman"/>
              </a:rPr>
              <a:t>p</a:t>
            </a:r>
            <a:r>
              <a:rPr sz="2000" spc="-30" dirty="0">
                <a:latin typeface="Times New Roman"/>
                <a:cs typeface="Times New Roman"/>
              </a:rPr>
              <a:t>to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2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Mbps,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2.4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G</a:t>
            </a:r>
            <a:r>
              <a:rPr sz="2000" spc="-135" dirty="0">
                <a:latin typeface="Times New Roman"/>
                <a:cs typeface="Times New Roman"/>
              </a:rPr>
              <a:t>Hz</a:t>
            </a:r>
            <a:endParaRPr sz="2000">
              <a:latin typeface="Times New Roman"/>
              <a:cs typeface="Times New Roman"/>
            </a:endParaRPr>
          </a:p>
          <a:p>
            <a:pPr marL="891540" lvl="2" indent="-285750">
              <a:lnSpc>
                <a:spcPct val="100000"/>
              </a:lnSpc>
              <a:spcBef>
                <a:spcPts val="395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91540" algn="l"/>
                <a:tab pos="892175" algn="l"/>
              </a:tabLst>
            </a:pPr>
            <a:r>
              <a:rPr sz="2000" spc="-85" dirty="0">
                <a:latin typeface="Times New Roman"/>
                <a:cs typeface="Times New Roman"/>
              </a:rPr>
              <a:t>8</a:t>
            </a:r>
            <a:r>
              <a:rPr sz="2000" spc="-100" dirty="0">
                <a:latin typeface="Times New Roman"/>
                <a:cs typeface="Times New Roman"/>
              </a:rPr>
              <a:t>0</a:t>
            </a:r>
            <a:r>
              <a:rPr sz="2000" spc="-25" dirty="0">
                <a:latin typeface="Times New Roman"/>
                <a:cs typeface="Times New Roman"/>
              </a:rPr>
              <a:t>2.</a:t>
            </a:r>
            <a:r>
              <a:rPr sz="2000" spc="-45" dirty="0">
                <a:latin typeface="Times New Roman"/>
                <a:cs typeface="Times New Roman"/>
              </a:rPr>
              <a:t>1</a:t>
            </a:r>
            <a:r>
              <a:rPr sz="2000" spc="-120" dirty="0">
                <a:latin typeface="Times New Roman"/>
                <a:cs typeface="Times New Roman"/>
              </a:rPr>
              <a:t>1a</a:t>
            </a:r>
            <a:r>
              <a:rPr sz="2000" spc="-50" dirty="0">
                <a:latin typeface="Times New Roman"/>
                <a:cs typeface="Times New Roman"/>
              </a:rPr>
              <a:t> (</a:t>
            </a:r>
            <a:r>
              <a:rPr sz="2000" spc="-85" dirty="0">
                <a:latin typeface="Times New Roman"/>
                <a:cs typeface="Times New Roman"/>
              </a:rPr>
              <a:t>19</a:t>
            </a:r>
            <a:r>
              <a:rPr sz="2000" spc="-100" dirty="0">
                <a:latin typeface="Times New Roman"/>
                <a:cs typeface="Times New Roman"/>
              </a:rPr>
              <a:t>9</a:t>
            </a:r>
            <a:r>
              <a:rPr sz="2000" spc="-75" dirty="0">
                <a:latin typeface="Times New Roman"/>
                <a:cs typeface="Times New Roman"/>
              </a:rPr>
              <a:t>9</a:t>
            </a:r>
            <a:r>
              <a:rPr sz="2000" spc="-60" dirty="0">
                <a:latin typeface="Times New Roman"/>
                <a:cs typeface="Times New Roman"/>
              </a:rPr>
              <a:t>)</a:t>
            </a:r>
            <a:r>
              <a:rPr sz="2000" spc="25" dirty="0">
                <a:latin typeface="Times New Roman"/>
                <a:cs typeface="Times New Roman"/>
              </a:rPr>
              <a:t>: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u</a:t>
            </a:r>
            <a:r>
              <a:rPr sz="2000" spc="-100" dirty="0">
                <a:latin typeface="Times New Roman"/>
                <a:cs typeface="Times New Roman"/>
              </a:rPr>
              <a:t>p</a:t>
            </a:r>
            <a:r>
              <a:rPr sz="2000" spc="-30" dirty="0">
                <a:latin typeface="Times New Roman"/>
                <a:cs typeface="Times New Roman"/>
              </a:rPr>
              <a:t>to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54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229" dirty="0">
                <a:latin typeface="Times New Roman"/>
                <a:cs typeface="Times New Roman"/>
              </a:rPr>
              <a:t>M</a:t>
            </a:r>
            <a:r>
              <a:rPr sz="2000" spc="-125" dirty="0">
                <a:latin typeface="Times New Roman"/>
                <a:cs typeface="Times New Roman"/>
              </a:rPr>
              <a:t>bp</a:t>
            </a:r>
            <a:r>
              <a:rPr sz="2000" spc="-105" dirty="0">
                <a:latin typeface="Times New Roman"/>
                <a:cs typeface="Times New Roman"/>
              </a:rPr>
              <a:t>s</a:t>
            </a:r>
            <a:r>
              <a:rPr sz="2000" spc="85" dirty="0">
                <a:latin typeface="Times New Roman"/>
                <a:cs typeface="Times New Roman"/>
              </a:rPr>
              <a:t>,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5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GHz,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spc="30" dirty="0">
                <a:latin typeface="Times New Roman"/>
                <a:cs typeface="Times New Roman"/>
              </a:rPr>
              <a:t>~75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feet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o</a:t>
            </a:r>
            <a:r>
              <a:rPr sz="2000" spc="-100" dirty="0">
                <a:latin typeface="Times New Roman"/>
                <a:cs typeface="Times New Roman"/>
              </a:rPr>
              <a:t>u</a:t>
            </a:r>
            <a:r>
              <a:rPr sz="2000" spc="-45" dirty="0">
                <a:latin typeface="Times New Roman"/>
                <a:cs typeface="Times New Roman"/>
              </a:rPr>
              <a:t>td</a:t>
            </a:r>
            <a:r>
              <a:rPr sz="2000" spc="-65" dirty="0">
                <a:latin typeface="Times New Roman"/>
                <a:cs typeface="Times New Roman"/>
              </a:rPr>
              <a:t>o</a:t>
            </a:r>
            <a:r>
              <a:rPr sz="2000" spc="-30" dirty="0">
                <a:latin typeface="Times New Roman"/>
                <a:cs typeface="Times New Roman"/>
              </a:rPr>
              <a:t>or</a:t>
            </a:r>
            <a:endParaRPr sz="2000">
              <a:latin typeface="Times New Roman"/>
              <a:cs typeface="Times New Roman"/>
            </a:endParaRPr>
          </a:p>
          <a:p>
            <a:pPr marL="891540" lvl="2" indent="-285750">
              <a:lnSpc>
                <a:spcPct val="100000"/>
              </a:lnSpc>
              <a:spcBef>
                <a:spcPts val="405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91540" algn="l"/>
                <a:tab pos="892175" algn="l"/>
              </a:tabLst>
            </a:pPr>
            <a:r>
              <a:rPr sz="2000" spc="-65" dirty="0">
                <a:latin typeface="Times New Roman"/>
                <a:cs typeface="Times New Roman"/>
              </a:rPr>
              <a:t>802.11b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(1999):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upto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11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Mbps,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2.4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GHz,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~150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feet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[most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popular]</a:t>
            </a:r>
            <a:endParaRPr sz="2000">
              <a:latin typeface="Times New Roman"/>
              <a:cs typeface="Times New Roman"/>
            </a:endParaRPr>
          </a:p>
          <a:p>
            <a:pPr marL="835025" marR="410845" lvl="2" indent="-228600">
              <a:lnSpc>
                <a:spcPct val="100000"/>
              </a:lnSpc>
              <a:spcBef>
                <a:spcPts val="400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91540" algn="l"/>
                <a:tab pos="892175" algn="l"/>
              </a:tabLst>
            </a:pPr>
            <a:r>
              <a:rPr dirty="0"/>
              <a:t>	</a:t>
            </a:r>
            <a:r>
              <a:rPr sz="2000" spc="-75" dirty="0">
                <a:latin typeface="Times New Roman"/>
                <a:cs typeface="Times New Roman"/>
              </a:rPr>
              <a:t>802.11g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(2003):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upto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54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Mbps,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2.4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GHz,</a:t>
            </a:r>
            <a:r>
              <a:rPr sz="2000" spc="-1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~150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feet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[backward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compatible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with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802.11b,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becoming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more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popular]</a:t>
            </a:r>
            <a:endParaRPr sz="20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51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0" dirty="0">
                <a:latin typeface="Times New Roman"/>
                <a:cs typeface="Times New Roman"/>
              </a:rPr>
              <a:t>W</a:t>
            </a:r>
            <a:r>
              <a:rPr sz="2600" spc="-45" dirty="0">
                <a:latin typeface="Times New Roman"/>
                <a:cs typeface="Times New Roman"/>
              </a:rPr>
              <a:t>i</a:t>
            </a:r>
            <a:r>
              <a:rPr sz="2600" spc="-75" dirty="0">
                <a:latin typeface="Times New Roman"/>
                <a:cs typeface="Times New Roman"/>
              </a:rPr>
              <a:t>r</a:t>
            </a:r>
            <a:r>
              <a:rPr sz="2600" spc="-140" dirty="0">
                <a:latin typeface="Times New Roman"/>
                <a:cs typeface="Times New Roman"/>
              </a:rPr>
              <a:t>eless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met</a:t>
            </a:r>
            <a:r>
              <a:rPr sz="2600" spc="-65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p</a:t>
            </a:r>
            <a:r>
              <a:rPr sz="2600" spc="-95" dirty="0">
                <a:latin typeface="Times New Roman"/>
                <a:cs typeface="Times New Roman"/>
              </a:rPr>
              <a:t>olit</a:t>
            </a:r>
            <a:r>
              <a:rPr sz="2600" spc="-135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</a:t>
            </a:r>
            <a:r>
              <a:rPr sz="2600" spc="-155" dirty="0">
                <a:latin typeface="Times New Roman"/>
                <a:cs typeface="Times New Roman"/>
              </a:rPr>
              <a:t>ea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ne</a:t>
            </a:r>
            <a:r>
              <a:rPr sz="2600" spc="-55" dirty="0">
                <a:latin typeface="Times New Roman"/>
                <a:cs typeface="Times New Roman"/>
              </a:rPr>
              <a:t>t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110" dirty="0">
                <a:latin typeface="Times New Roman"/>
                <a:cs typeface="Times New Roman"/>
              </a:rPr>
              <a:t>orks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(WMAN)</a:t>
            </a:r>
            <a:endParaRPr sz="26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225" dirty="0">
                <a:latin typeface="Times New Roman"/>
                <a:cs typeface="Times New Roman"/>
              </a:rPr>
              <a:t>IEEE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802.16 </a:t>
            </a:r>
            <a:r>
              <a:rPr sz="2400" spc="-45" dirty="0">
                <a:latin typeface="Times New Roman"/>
                <a:cs typeface="Times New Roman"/>
              </a:rPr>
              <a:t>(</a:t>
            </a:r>
            <a:r>
              <a:rPr sz="2400" spc="-110" dirty="0">
                <a:latin typeface="Times New Roman"/>
                <a:cs typeface="Times New Roman"/>
              </a:rPr>
              <a:t>W</a:t>
            </a:r>
            <a:r>
              <a:rPr sz="2400" spc="-175" dirty="0">
                <a:latin typeface="Times New Roman"/>
                <a:cs typeface="Times New Roman"/>
              </a:rPr>
              <a:t>iMax</a:t>
            </a:r>
            <a:r>
              <a:rPr sz="2400" spc="-5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35" dirty="0">
                <a:latin typeface="Times New Roman"/>
                <a:cs typeface="Times New Roman"/>
              </a:rPr>
              <a:t>1.5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105" dirty="0">
                <a:latin typeface="Times New Roman"/>
                <a:cs typeface="Times New Roman"/>
              </a:rPr>
              <a:t>20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Mbp</a:t>
            </a:r>
            <a:r>
              <a:rPr sz="2400" spc="-45" dirty="0">
                <a:latin typeface="Times New Roman"/>
                <a:cs typeface="Times New Roman"/>
              </a:rPr>
              <a:t>s,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5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125" dirty="0">
                <a:latin typeface="Times New Roman"/>
                <a:cs typeface="Times New Roman"/>
              </a:rPr>
              <a:t>50km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52717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5" dirty="0"/>
              <a:t>Other</a:t>
            </a:r>
            <a:r>
              <a:rPr sz="4000" spc="-40" dirty="0"/>
              <a:t> </a:t>
            </a:r>
            <a:r>
              <a:rPr sz="4000" spc="-50" dirty="0"/>
              <a:t>Wireless</a:t>
            </a:r>
            <a:r>
              <a:rPr sz="4000" spc="-30" dirty="0"/>
              <a:t> </a:t>
            </a:r>
            <a:r>
              <a:rPr sz="4000" spc="-55" dirty="0"/>
              <a:t>Networks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74963"/>
            <a:ext cx="6087745" cy="215138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56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0" dirty="0">
                <a:latin typeface="Times New Roman"/>
                <a:cs typeface="Times New Roman"/>
              </a:rPr>
              <a:t>W</a:t>
            </a:r>
            <a:r>
              <a:rPr sz="2600" spc="-45" dirty="0">
                <a:latin typeface="Times New Roman"/>
                <a:cs typeface="Times New Roman"/>
              </a:rPr>
              <a:t>i</a:t>
            </a:r>
            <a:r>
              <a:rPr sz="2600" spc="-75" dirty="0">
                <a:latin typeface="Times New Roman"/>
                <a:cs typeface="Times New Roman"/>
              </a:rPr>
              <a:t>r</a:t>
            </a:r>
            <a:r>
              <a:rPr sz="2600" spc="-140" dirty="0">
                <a:latin typeface="Times New Roman"/>
                <a:cs typeface="Times New Roman"/>
              </a:rPr>
              <a:t>eless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wide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</a:t>
            </a:r>
            <a:r>
              <a:rPr sz="2600" spc="-155" dirty="0">
                <a:latin typeface="Times New Roman"/>
                <a:cs typeface="Times New Roman"/>
              </a:rPr>
              <a:t>ea</a:t>
            </a:r>
            <a:r>
              <a:rPr sz="2600" spc="-65" dirty="0">
                <a:latin typeface="Times New Roman"/>
                <a:cs typeface="Times New Roman"/>
              </a:rPr>
              <a:t> ne</a:t>
            </a:r>
            <a:r>
              <a:rPr sz="2600" spc="-55" dirty="0">
                <a:latin typeface="Times New Roman"/>
                <a:cs typeface="Times New Roman"/>
              </a:rPr>
              <a:t>t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110" dirty="0">
                <a:latin typeface="Times New Roman"/>
                <a:cs typeface="Times New Roman"/>
              </a:rPr>
              <a:t>orks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(W</a:t>
            </a:r>
            <a:r>
              <a:rPr sz="2600" spc="-335" dirty="0">
                <a:latin typeface="Times New Roman"/>
                <a:cs typeface="Times New Roman"/>
              </a:rPr>
              <a:t>W</a:t>
            </a:r>
            <a:r>
              <a:rPr sz="2600" spc="-180" dirty="0">
                <a:latin typeface="Times New Roman"/>
                <a:cs typeface="Times New Roman"/>
              </a:rPr>
              <a:t>AN)</a:t>
            </a:r>
            <a:endParaRPr sz="26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110" dirty="0">
                <a:latin typeface="Times New Roman"/>
                <a:cs typeface="Times New Roman"/>
              </a:rPr>
              <a:t>worldwide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260" dirty="0">
                <a:latin typeface="Times New Roman"/>
                <a:cs typeface="Times New Roman"/>
              </a:rPr>
              <a:t>GSM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(Glo</a:t>
            </a:r>
            <a:r>
              <a:rPr sz="2400" spc="-135" dirty="0">
                <a:latin typeface="Times New Roman"/>
                <a:cs typeface="Times New Roman"/>
              </a:rPr>
              <a:t>bal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85" dirty="0">
                <a:latin typeface="Times New Roman"/>
                <a:cs typeface="Times New Roman"/>
              </a:rPr>
              <a:t>S</a:t>
            </a:r>
            <a:r>
              <a:rPr sz="2400" spc="-265" dirty="0">
                <a:latin typeface="Times New Roman"/>
                <a:cs typeface="Times New Roman"/>
              </a:rPr>
              <a:t>y</a:t>
            </a:r>
            <a:r>
              <a:rPr sz="2400" spc="-100" dirty="0">
                <a:latin typeface="Times New Roman"/>
                <a:cs typeface="Times New Roman"/>
              </a:rPr>
              <a:t>stem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for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Mob</a:t>
            </a:r>
            <a:r>
              <a:rPr sz="2400" spc="-100" dirty="0">
                <a:latin typeface="Times New Roman"/>
                <a:cs typeface="Times New Roman"/>
              </a:rPr>
              <a:t>ile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co</a:t>
            </a:r>
            <a:r>
              <a:rPr sz="2400" spc="-170" dirty="0">
                <a:latin typeface="Times New Roman"/>
                <a:cs typeface="Times New Roman"/>
              </a:rPr>
              <a:t>mm</a:t>
            </a:r>
            <a:r>
              <a:rPr sz="2400" spc="-105" dirty="0">
                <a:latin typeface="Times New Roman"/>
                <a:cs typeface="Times New Roman"/>
              </a:rPr>
              <a:t>u</a:t>
            </a:r>
            <a:r>
              <a:rPr sz="2400" spc="-100" dirty="0">
                <a:latin typeface="Times New Roman"/>
                <a:cs typeface="Times New Roman"/>
              </a:rPr>
              <a:t>n</a:t>
            </a:r>
            <a:r>
              <a:rPr sz="2400" spc="-140" dirty="0">
                <a:latin typeface="Times New Roman"/>
                <a:cs typeface="Times New Roman"/>
              </a:rPr>
              <a:t>ic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95" dirty="0">
                <a:latin typeface="Times New Roman"/>
                <a:cs typeface="Times New Roman"/>
              </a:rPr>
              <a:t>tion</a:t>
            </a:r>
            <a:r>
              <a:rPr sz="2400" spc="-90" dirty="0">
                <a:latin typeface="Times New Roman"/>
                <a:cs typeface="Times New Roman"/>
              </a:rPr>
              <a:t>s</a:t>
            </a:r>
            <a:r>
              <a:rPr sz="2400" spc="-5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35" dirty="0">
                <a:latin typeface="Times New Roman"/>
                <a:cs typeface="Times New Roman"/>
              </a:rPr>
              <a:t>9.6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33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k</a:t>
            </a:r>
            <a:r>
              <a:rPr sz="2400" spc="-135" dirty="0">
                <a:latin typeface="Times New Roman"/>
                <a:cs typeface="Times New Roman"/>
              </a:rPr>
              <a:t>b</a:t>
            </a:r>
            <a:r>
              <a:rPr sz="2400" spc="-145" dirty="0">
                <a:latin typeface="Times New Roman"/>
                <a:cs typeface="Times New Roman"/>
              </a:rPr>
              <a:t>ps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135" dirty="0">
                <a:latin typeface="Times New Roman"/>
                <a:cs typeface="Times New Roman"/>
              </a:rPr>
              <a:t>3G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(</a:t>
            </a:r>
            <a:r>
              <a:rPr sz="2400" spc="-204" dirty="0">
                <a:latin typeface="Times New Roman"/>
                <a:cs typeface="Times New Roman"/>
              </a:rPr>
              <a:t>“</a:t>
            </a:r>
            <a:r>
              <a:rPr sz="2400" spc="-65" dirty="0">
                <a:latin typeface="Times New Roman"/>
                <a:cs typeface="Times New Roman"/>
              </a:rPr>
              <a:t>third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gener</a:t>
            </a:r>
            <a:r>
              <a:rPr sz="2400" spc="-140" dirty="0">
                <a:latin typeface="Times New Roman"/>
                <a:cs typeface="Times New Roman"/>
              </a:rPr>
              <a:t>a</a:t>
            </a:r>
            <a:r>
              <a:rPr sz="2400" spc="-120" dirty="0">
                <a:latin typeface="Times New Roman"/>
                <a:cs typeface="Times New Roman"/>
              </a:rPr>
              <a:t>tion</a:t>
            </a:r>
            <a:r>
              <a:rPr sz="2400" spc="-130" dirty="0">
                <a:latin typeface="Times New Roman"/>
                <a:cs typeface="Times New Roman"/>
              </a:rPr>
              <a:t>”</a:t>
            </a:r>
            <a:r>
              <a:rPr sz="2400" spc="-10" dirty="0">
                <a:latin typeface="Times New Roman"/>
                <a:cs typeface="Times New Roman"/>
              </a:rPr>
              <a:t>):</a:t>
            </a:r>
            <a:r>
              <a:rPr sz="2400" spc="-18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1</a:t>
            </a:r>
            <a:r>
              <a:rPr sz="2400" spc="-100" dirty="0">
                <a:latin typeface="Times New Roman"/>
                <a:cs typeface="Times New Roman"/>
              </a:rPr>
              <a:t>2</a:t>
            </a:r>
            <a:r>
              <a:rPr sz="2400" spc="-90" dirty="0">
                <a:latin typeface="Times New Roman"/>
                <a:cs typeface="Times New Roman"/>
              </a:rPr>
              <a:t>8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105" dirty="0">
                <a:latin typeface="Times New Roman"/>
                <a:cs typeface="Times New Roman"/>
              </a:rPr>
              <a:t>3</a:t>
            </a:r>
            <a:r>
              <a:rPr sz="2400" spc="-100" dirty="0">
                <a:latin typeface="Times New Roman"/>
                <a:cs typeface="Times New Roman"/>
              </a:rPr>
              <a:t>8</a:t>
            </a:r>
            <a:r>
              <a:rPr sz="2400" spc="-105" dirty="0">
                <a:latin typeface="Times New Roman"/>
                <a:cs typeface="Times New Roman"/>
              </a:rPr>
              <a:t>4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k</a:t>
            </a:r>
            <a:r>
              <a:rPr sz="2400" spc="-135" dirty="0">
                <a:latin typeface="Times New Roman"/>
                <a:cs typeface="Times New Roman"/>
              </a:rPr>
              <a:t>b</a:t>
            </a:r>
            <a:r>
              <a:rPr sz="2400" spc="-145" dirty="0">
                <a:latin typeface="Times New Roman"/>
                <a:cs typeface="Times New Roman"/>
              </a:rPr>
              <a:t>ps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2Mb</a:t>
            </a:r>
            <a:r>
              <a:rPr sz="2400" spc="-145" dirty="0">
                <a:latin typeface="Times New Roman"/>
                <a:cs typeface="Times New Roman"/>
              </a:rPr>
              <a:t>ps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33331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5" dirty="0"/>
              <a:t>Other</a:t>
            </a:r>
            <a:r>
              <a:rPr sz="4000" spc="-70" dirty="0"/>
              <a:t> </a:t>
            </a:r>
            <a:r>
              <a:rPr sz="4000" spc="-55" dirty="0"/>
              <a:t>Networks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74963"/>
            <a:ext cx="4812030" cy="131762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56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90" dirty="0">
                <a:latin typeface="Times New Roman"/>
                <a:cs typeface="Times New Roman"/>
              </a:rPr>
              <a:t>Internetworks</a:t>
            </a:r>
            <a:endParaRPr sz="26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spc="-110" dirty="0">
                <a:latin typeface="Times New Roman"/>
                <a:cs typeface="Times New Roman"/>
              </a:rPr>
              <a:t>connecting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different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kinds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networks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u</a:t>
            </a:r>
            <a:r>
              <a:rPr sz="2400" spc="-15" dirty="0">
                <a:latin typeface="Times New Roman"/>
                <a:cs typeface="Times New Roman"/>
              </a:rPr>
              <a:t>te</a:t>
            </a:r>
            <a:r>
              <a:rPr sz="2400" spc="30" dirty="0">
                <a:latin typeface="Times New Roman"/>
                <a:cs typeface="Times New Roman"/>
              </a:rPr>
              <a:t>r</a:t>
            </a:r>
            <a:r>
              <a:rPr sz="2400" spc="-45" dirty="0">
                <a:latin typeface="Times New Roman"/>
                <a:cs typeface="Times New Roman"/>
              </a:rPr>
              <a:t>s,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210" dirty="0">
                <a:latin typeface="Times New Roman"/>
                <a:cs typeface="Times New Roman"/>
              </a:rPr>
              <a:t>g</a:t>
            </a:r>
            <a:r>
              <a:rPr sz="2400" spc="-215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t</a:t>
            </a:r>
            <a:r>
              <a:rPr sz="2400" spc="-85" dirty="0">
                <a:latin typeface="Times New Roman"/>
                <a:cs typeface="Times New Roman"/>
              </a:rPr>
              <a:t>e</a:t>
            </a:r>
            <a:r>
              <a:rPr sz="2400" spc="-165" dirty="0">
                <a:latin typeface="Times New Roman"/>
                <a:cs typeface="Times New Roman"/>
              </a:rPr>
              <a:t>w</a:t>
            </a:r>
            <a:r>
              <a:rPr sz="2400" spc="-275" dirty="0">
                <a:latin typeface="Times New Roman"/>
                <a:cs typeface="Times New Roman"/>
              </a:rPr>
              <a:t>a</a:t>
            </a:r>
            <a:r>
              <a:rPr sz="2400" spc="-195" dirty="0">
                <a:latin typeface="Times New Roman"/>
                <a:cs typeface="Times New Roman"/>
              </a:rPr>
              <a:t>ys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5275" y="219011"/>
            <a:ext cx="5591175" cy="3488054"/>
            <a:chOff x="295275" y="219011"/>
            <a:chExt cx="5591175" cy="348805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5600" y="1371599"/>
              <a:ext cx="2762694" cy="23254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890773" y="1366774"/>
              <a:ext cx="2990850" cy="2335530"/>
            </a:xfrm>
            <a:custGeom>
              <a:avLst/>
              <a:gdLst/>
              <a:ahLst/>
              <a:cxnLst/>
              <a:rect l="l" t="t" r="r" b="b"/>
              <a:pathLst>
                <a:path w="2990850" h="2335529">
                  <a:moveTo>
                    <a:pt x="0" y="2335022"/>
                  </a:moveTo>
                  <a:lnTo>
                    <a:pt x="2990850" y="2335022"/>
                  </a:lnTo>
                  <a:lnTo>
                    <a:pt x="2990850" y="0"/>
                  </a:lnTo>
                  <a:lnTo>
                    <a:pt x="0" y="0"/>
                  </a:lnTo>
                  <a:lnTo>
                    <a:pt x="0" y="233502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228600"/>
              <a:ext cx="2743200" cy="202996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0037" y="223774"/>
              <a:ext cx="2752725" cy="2039620"/>
            </a:xfrm>
            <a:custGeom>
              <a:avLst/>
              <a:gdLst/>
              <a:ahLst/>
              <a:cxnLst/>
              <a:rect l="l" t="t" r="r" b="b"/>
              <a:pathLst>
                <a:path w="2752725" h="2039620">
                  <a:moveTo>
                    <a:pt x="0" y="2039492"/>
                  </a:moveTo>
                  <a:lnTo>
                    <a:pt x="2752725" y="2039492"/>
                  </a:lnTo>
                  <a:lnTo>
                    <a:pt x="2752725" y="0"/>
                  </a:lnTo>
                  <a:lnTo>
                    <a:pt x="0" y="0"/>
                  </a:lnTo>
                  <a:lnTo>
                    <a:pt x="0" y="203949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38800" y="4267212"/>
            <a:ext cx="3058899" cy="21833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19800" y="228600"/>
            <a:ext cx="2555072" cy="228614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8600" y="3898341"/>
            <a:ext cx="4267200" cy="274927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013450" y="222250"/>
            <a:ext cx="2629535" cy="233807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55"/>
              </a:spcBef>
            </a:pPr>
            <a:r>
              <a:rPr sz="1800" spc="-190" dirty="0">
                <a:latin typeface="Times New Roman"/>
                <a:cs typeface="Times New Roman"/>
              </a:rPr>
              <a:t>WAN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33973" y="4262450"/>
            <a:ext cx="3081020" cy="219329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8920">
              <a:lnSpc>
                <a:spcPts val="1710"/>
              </a:lnSpc>
            </a:pPr>
            <a:r>
              <a:rPr sz="1800" spc="-185" dirty="0">
                <a:latin typeface="Times New Roman"/>
                <a:cs typeface="Times New Roman"/>
              </a:rPr>
              <a:t>MAN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3837" y="3873462"/>
            <a:ext cx="4276725" cy="278574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629285">
              <a:lnSpc>
                <a:spcPct val="100000"/>
              </a:lnSpc>
              <a:spcBef>
                <a:spcPts val="150"/>
              </a:spcBef>
            </a:pPr>
            <a:r>
              <a:rPr sz="1800" spc="-145" dirty="0">
                <a:latin typeface="Times New Roman"/>
                <a:cs typeface="Times New Roman"/>
              </a:rPr>
              <a:t>CAN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94175" y="1348232"/>
            <a:ext cx="411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40" dirty="0">
                <a:latin typeface="Times New Roman"/>
                <a:cs typeface="Times New Roman"/>
              </a:rPr>
              <a:t>P</a:t>
            </a:r>
            <a:r>
              <a:rPr sz="1800" spc="-170" dirty="0">
                <a:latin typeface="Times New Roman"/>
                <a:cs typeface="Times New Roman"/>
              </a:rPr>
              <a:t>AN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3540" y="427735"/>
            <a:ext cx="428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80" dirty="0">
                <a:latin typeface="Times New Roman"/>
                <a:cs typeface="Times New Roman"/>
              </a:rPr>
              <a:t>LAN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22250" y="1136650"/>
          <a:ext cx="8934450" cy="5580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5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spc="-2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PARAMETERS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spc="-2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LAN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spc="-2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WAN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spc="-1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MAN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9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sz="1800" spc="-1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wne</a:t>
                      </a:r>
                      <a:r>
                        <a:rPr sz="1800" spc="35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ship</a:t>
                      </a:r>
                      <a:r>
                        <a:rPr sz="1800" spc="-55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65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1800" spc="-6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80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5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209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Private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209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pu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lic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209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pu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lic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209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9906">
                <a:tc>
                  <a:txBody>
                    <a:bodyPr/>
                    <a:lstStyle/>
                    <a:p>
                      <a:pPr marL="791845" marR="366395" indent="-41910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Geo</a:t>
                      </a:r>
                      <a:r>
                        <a:rPr sz="1800" spc="4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800" spc="-5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spc="5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5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ical</a:t>
                      </a:r>
                      <a:r>
                        <a:rPr sz="1800" spc="-65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area  </a:t>
                      </a:r>
                      <a:r>
                        <a:rPr sz="1800" spc="-9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covered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sz="1800" spc="-130" dirty="0">
                          <a:latin typeface="Times New Roman"/>
                          <a:cs typeface="Times New Roman"/>
                        </a:rPr>
                        <a:t>Small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209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sz="1800" spc="-19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ge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209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Moderate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209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99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45"/>
                        </a:spcBef>
                      </a:pPr>
                      <a:r>
                        <a:rPr sz="180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sz="1800" spc="-65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5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spc="-45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mainte</a:t>
                      </a:r>
                      <a:r>
                        <a:rPr sz="180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spc="-5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5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ce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21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45"/>
                        </a:spcBef>
                      </a:pPr>
                      <a:r>
                        <a:rPr sz="1800" spc="-160" dirty="0">
                          <a:latin typeface="Times New Roman"/>
                          <a:cs typeface="Times New Roman"/>
                        </a:rPr>
                        <a:t>Easy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21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easy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21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easy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21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23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9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Communication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9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medium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9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sted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180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(UTP)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PS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tellite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links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210185" marR="191770" algn="ctr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Coaxia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les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800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PST</a:t>
                      </a:r>
                      <a:r>
                        <a:rPr sz="1800" spc="-114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,  o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tical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800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les,  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wireless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8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989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2000" spc="-12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Bandwidth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025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2000" spc="-160" dirty="0">
                          <a:latin typeface="Times New Roman"/>
                          <a:cs typeface="Times New Roman"/>
                        </a:rPr>
                        <a:t>Low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025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2000" spc="-13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025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2000" spc="-75" dirty="0">
                          <a:latin typeface="Times New Roman"/>
                          <a:cs typeface="Times New Roman"/>
                        </a:rPr>
                        <a:t>moderate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025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9907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2000" spc="-1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000" spc="-25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ta</a:t>
                      </a:r>
                      <a:r>
                        <a:rPr sz="2000" spc="-55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000" spc="-25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tes(</a:t>
                      </a:r>
                      <a:r>
                        <a:rPr sz="2000" spc="-1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sp</a:t>
                      </a:r>
                      <a:r>
                        <a:rPr sz="2000" dirty="0">
                          <a:solidFill>
                            <a:srgbClr val="9E3611"/>
                          </a:solidFill>
                          <a:latin typeface="Times New Roman"/>
                          <a:cs typeface="Times New Roman"/>
                        </a:rPr>
                        <a:t>eed)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025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2000" spc="-125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025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2000" spc="-160" dirty="0">
                          <a:latin typeface="Times New Roman"/>
                          <a:cs typeface="Times New Roman"/>
                        </a:rPr>
                        <a:t>Low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025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2000" spc="-75" dirty="0">
                          <a:latin typeface="Times New Roman"/>
                          <a:cs typeface="Times New Roman"/>
                        </a:rPr>
                        <a:t>moderate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025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3608" y="310337"/>
            <a:ext cx="67132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0" dirty="0"/>
              <a:t>DISTINGUISH</a:t>
            </a:r>
            <a:r>
              <a:rPr sz="3200" spc="-40" dirty="0"/>
              <a:t> </a:t>
            </a:r>
            <a:r>
              <a:rPr sz="3200" spc="-5" dirty="0"/>
              <a:t>BETWEEN</a:t>
            </a:r>
            <a:r>
              <a:rPr sz="3200" spc="-30" dirty="0"/>
              <a:t> </a:t>
            </a:r>
            <a:r>
              <a:rPr sz="3200" spc="-75" dirty="0"/>
              <a:t>LAN,WAN,MAN</a:t>
            </a:r>
            <a:endParaRPr sz="3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46659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70" dirty="0"/>
              <a:t>Network</a:t>
            </a:r>
            <a:r>
              <a:rPr sz="4000" spc="-20" dirty="0"/>
              <a:t> </a:t>
            </a:r>
            <a:r>
              <a:rPr sz="4000" spc="-45" dirty="0"/>
              <a:t>performance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13744" y="1407350"/>
          <a:ext cx="6597649" cy="46594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3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4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6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800" i="1" spc="-204" dirty="0">
                          <a:latin typeface="Times New Roman"/>
                          <a:cs typeface="Times New Roman"/>
                        </a:rPr>
                        <a:t>Example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271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800" i="1" spc="-200" dirty="0">
                          <a:latin typeface="Times New Roman"/>
                          <a:cs typeface="Times New Roman"/>
                        </a:rPr>
                        <a:t>Range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271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1875"/>
                        </a:lnSpc>
                        <a:spcBef>
                          <a:spcPts val="730"/>
                        </a:spcBef>
                      </a:pPr>
                      <a:r>
                        <a:rPr sz="1800" i="1" spc="-175" dirty="0">
                          <a:latin typeface="Times New Roman"/>
                          <a:cs typeface="Times New Roman"/>
                        </a:rPr>
                        <a:t>Bandwidth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ts val="1370"/>
                        </a:lnSpc>
                      </a:pPr>
                      <a:r>
                        <a:rPr sz="1800" i="1" spc="-210" dirty="0">
                          <a:latin typeface="Times New Roman"/>
                          <a:cs typeface="Times New Roman"/>
                        </a:rPr>
                        <a:t>(Mbps)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271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875"/>
                        </a:lnSpc>
                        <a:spcBef>
                          <a:spcPts val="730"/>
                        </a:spcBef>
                      </a:pPr>
                      <a:r>
                        <a:rPr sz="1800" i="1" spc="-185" dirty="0">
                          <a:latin typeface="Times New Roman"/>
                          <a:cs typeface="Times New Roman"/>
                        </a:rPr>
                        <a:t>Latency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15570">
                        <a:lnSpc>
                          <a:spcPts val="1370"/>
                        </a:lnSpc>
                      </a:pPr>
                      <a:r>
                        <a:rPr sz="1800" i="1" spc="-195" dirty="0">
                          <a:latin typeface="Times New Roman"/>
                          <a:cs typeface="Times New Roman"/>
                        </a:rPr>
                        <a:t>(ms)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271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138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b="1" i="1" spc="-45" dirty="0">
                          <a:latin typeface="Times New Roman"/>
                          <a:cs typeface="Times New Roman"/>
                        </a:rPr>
                        <a:t>Wired: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3185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800" spc="-180" dirty="0">
                          <a:latin typeface="Times New Roman"/>
                          <a:cs typeface="Times New Roman"/>
                        </a:rPr>
                        <a:t>LAN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25730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Ethernet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79070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1-2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km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10-1000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15570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1-10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463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85" dirty="0">
                          <a:latin typeface="Times New Roman"/>
                          <a:cs typeface="Times New Roman"/>
                        </a:rPr>
                        <a:t>MAN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29" dirty="0">
                          <a:latin typeface="Times New Roman"/>
                          <a:cs typeface="Times New Roman"/>
                        </a:rPr>
                        <a:t>ATM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km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1-150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10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177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90" dirty="0">
                          <a:latin typeface="Times New Roman"/>
                          <a:cs typeface="Times New Roman"/>
                        </a:rPr>
                        <a:t>WAN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IP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worldwide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.01-600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100-500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177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Internetwork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Internet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worldwide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0.5-600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100-500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5688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i="1" spc="-55" dirty="0">
                          <a:latin typeface="Times New Roman"/>
                          <a:cs typeface="Times New Roman"/>
                        </a:rPr>
                        <a:t>Wireless: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318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800" spc="-155" dirty="0">
                          <a:latin typeface="Times New Roman"/>
                          <a:cs typeface="Times New Roman"/>
                        </a:rPr>
                        <a:t>WPAN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12573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Blue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(8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2.1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.1)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17907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30m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0.5-2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115570">
                        <a:lnSpc>
                          <a:spcPct val="100000"/>
                        </a:lnSpc>
                      </a:pP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5-20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052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45" dirty="0">
                          <a:latin typeface="Times New Roman"/>
                          <a:cs typeface="Times New Roman"/>
                        </a:rPr>
                        <a:t>WLAN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iFi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(I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2.1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/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0.1</a:t>
                      </a:r>
                      <a:r>
                        <a:rPr sz="1800" spc="10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-1.5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km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2-54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5-20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715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spc="-150" dirty="0">
                          <a:latin typeface="Times New Roman"/>
                          <a:cs typeface="Times New Roman"/>
                        </a:rPr>
                        <a:t>WMAN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4" marB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iMAX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(8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2.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6)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4" marB="0"/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550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km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4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1.5-20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4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5-20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4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057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55" dirty="0">
                          <a:latin typeface="Times New Roman"/>
                          <a:cs typeface="Times New Roman"/>
                        </a:rPr>
                        <a:t>WWAN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800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3G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ph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ne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nets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worldwide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0.01-2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100-500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1547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Out</a:t>
            </a:r>
            <a:r>
              <a:rPr sz="4000" spc="-35" dirty="0"/>
              <a:t>line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914400" y="1450594"/>
            <a:ext cx="6858000" cy="5100320"/>
          </a:xfrm>
          <a:custGeom>
            <a:avLst/>
            <a:gdLst/>
            <a:ahLst/>
            <a:cxnLst/>
            <a:rect l="l" t="t" r="r" b="b"/>
            <a:pathLst>
              <a:path w="6858000" h="5100320">
                <a:moveTo>
                  <a:pt x="0" y="77215"/>
                </a:moveTo>
                <a:lnTo>
                  <a:pt x="6067" y="47148"/>
                </a:lnTo>
                <a:lnTo>
                  <a:pt x="22615" y="22605"/>
                </a:lnTo>
                <a:lnTo>
                  <a:pt x="47159" y="6064"/>
                </a:lnTo>
                <a:lnTo>
                  <a:pt x="77215" y="0"/>
                </a:lnTo>
                <a:lnTo>
                  <a:pt x="6780783" y="0"/>
                </a:lnTo>
                <a:lnTo>
                  <a:pt x="6810851" y="6064"/>
                </a:lnTo>
                <a:lnTo>
                  <a:pt x="6835394" y="22606"/>
                </a:lnTo>
                <a:lnTo>
                  <a:pt x="6851935" y="47148"/>
                </a:lnTo>
                <a:lnTo>
                  <a:pt x="6858000" y="77215"/>
                </a:lnTo>
                <a:lnTo>
                  <a:pt x="6858000" y="386079"/>
                </a:lnTo>
                <a:lnTo>
                  <a:pt x="6851935" y="416147"/>
                </a:lnTo>
                <a:lnTo>
                  <a:pt x="6835394" y="440689"/>
                </a:lnTo>
                <a:lnTo>
                  <a:pt x="6810851" y="457231"/>
                </a:lnTo>
                <a:lnTo>
                  <a:pt x="6780783" y="463295"/>
                </a:lnTo>
                <a:lnTo>
                  <a:pt x="77215" y="463295"/>
                </a:lnTo>
                <a:lnTo>
                  <a:pt x="47159" y="457231"/>
                </a:lnTo>
                <a:lnTo>
                  <a:pt x="22615" y="440689"/>
                </a:lnTo>
                <a:lnTo>
                  <a:pt x="6067" y="416147"/>
                </a:lnTo>
                <a:lnTo>
                  <a:pt x="0" y="386079"/>
                </a:lnTo>
                <a:lnTo>
                  <a:pt x="0" y="77215"/>
                </a:lnTo>
                <a:close/>
              </a:path>
              <a:path w="6858000" h="5100320">
                <a:moveTo>
                  <a:pt x="0" y="592454"/>
                </a:moveTo>
                <a:lnTo>
                  <a:pt x="6067" y="562387"/>
                </a:lnTo>
                <a:lnTo>
                  <a:pt x="22615" y="537844"/>
                </a:lnTo>
                <a:lnTo>
                  <a:pt x="47159" y="521303"/>
                </a:lnTo>
                <a:lnTo>
                  <a:pt x="77215" y="515238"/>
                </a:lnTo>
                <a:lnTo>
                  <a:pt x="6780783" y="515238"/>
                </a:lnTo>
                <a:lnTo>
                  <a:pt x="6810851" y="521303"/>
                </a:lnTo>
                <a:lnTo>
                  <a:pt x="6835394" y="537845"/>
                </a:lnTo>
                <a:lnTo>
                  <a:pt x="6851935" y="562387"/>
                </a:lnTo>
                <a:lnTo>
                  <a:pt x="6858000" y="592454"/>
                </a:lnTo>
                <a:lnTo>
                  <a:pt x="6858000" y="901318"/>
                </a:lnTo>
                <a:lnTo>
                  <a:pt x="6851935" y="931386"/>
                </a:lnTo>
                <a:lnTo>
                  <a:pt x="6835394" y="955928"/>
                </a:lnTo>
                <a:lnTo>
                  <a:pt x="6810851" y="972470"/>
                </a:lnTo>
                <a:lnTo>
                  <a:pt x="6780783" y="978534"/>
                </a:lnTo>
                <a:lnTo>
                  <a:pt x="77215" y="978534"/>
                </a:lnTo>
                <a:lnTo>
                  <a:pt x="47159" y="972470"/>
                </a:lnTo>
                <a:lnTo>
                  <a:pt x="22615" y="955928"/>
                </a:lnTo>
                <a:lnTo>
                  <a:pt x="6067" y="931386"/>
                </a:lnTo>
                <a:lnTo>
                  <a:pt x="0" y="901318"/>
                </a:lnTo>
                <a:lnTo>
                  <a:pt x="0" y="592454"/>
                </a:lnTo>
                <a:close/>
              </a:path>
              <a:path w="6858000" h="5100320">
                <a:moveTo>
                  <a:pt x="0" y="1107566"/>
                </a:moveTo>
                <a:lnTo>
                  <a:pt x="6067" y="1077499"/>
                </a:lnTo>
                <a:lnTo>
                  <a:pt x="22615" y="1052956"/>
                </a:lnTo>
                <a:lnTo>
                  <a:pt x="47159" y="1036415"/>
                </a:lnTo>
                <a:lnTo>
                  <a:pt x="77215" y="1030351"/>
                </a:lnTo>
                <a:lnTo>
                  <a:pt x="6780783" y="1030351"/>
                </a:lnTo>
                <a:lnTo>
                  <a:pt x="6810851" y="1036415"/>
                </a:lnTo>
                <a:lnTo>
                  <a:pt x="6835394" y="1052957"/>
                </a:lnTo>
                <a:lnTo>
                  <a:pt x="6851935" y="1077499"/>
                </a:lnTo>
                <a:lnTo>
                  <a:pt x="6858000" y="1107566"/>
                </a:lnTo>
                <a:lnTo>
                  <a:pt x="6858000" y="1416430"/>
                </a:lnTo>
                <a:lnTo>
                  <a:pt x="6851935" y="1446498"/>
                </a:lnTo>
                <a:lnTo>
                  <a:pt x="6835394" y="1471040"/>
                </a:lnTo>
                <a:lnTo>
                  <a:pt x="6810851" y="1487582"/>
                </a:lnTo>
                <a:lnTo>
                  <a:pt x="6780783" y="1493646"/>
                </a:lnTo>
                <a:lnTo>
                  <a:pt x="77215" y="1493646"/>
                </a:lnTo>
                <a:lnTo>
                  <a:pt x="47159" y="1487582"/>
                </a:lnTo>
                <a:lnTo>
                  <a:pt x="22615" y="1471040"/>
                </a:lnTo>
                <a:lnTo>
                  <a:pt x="6067" y="1446498"/>
                </a:lnTo>
                <a:lnTo>
                  <a:pt x="0" y="1416430"/>
                </a:lnTo>
                <a:lnTo>
                  <a:pt x="0" y="1107566"/>
                </a:lnTo>
                <a:close/>
              </a:path>
              <a:path w="6858000" h="5100320">
                <a:moveTo>
                  <a:pt x="0" y="1622678"/>
                </a:moveTo>
                <a:lnTo>
                  <a:pt x="6067" y="1592665"/>
                </a:lnTo>
                <a:lnTo>
                  <a:pt x="22615" y="1568116"/>
                </a:lnTo>
                <a:lnTo>
                  <a:pt x="47159" y="1551545"/>
                </a:lnTo>
                <a:lnTo>
                  <a:pt x="77215" y="1545463"/>
                </a:lnTo>
                <a:lnTo>
                  <a:pt x="6780783" y="1545463"/>
                </a:lnTo>
                <a:lnTo>
                  <a:pt x="6810851" y="1551545"/>
                </a:lnTo>
                <a:lnTo>
                  <a:pt x="6835394" y="1568116"/>
                </a:lnTo>
                <a:lnTo>
                  <a:pt x="6851935" y="1592665"/>
                </a:lnTo>
                <a:lnTo>
                  <a:pt x="6858000" y="1622678"/>
                </a:lnTo>
                <a:lnTo>
                  <a:pt x="6858000" y="1931542"/>
                </a:lnTo>
                <a:lnTo>
                  <a:pt x="6851935" y="1961630"/>
                </a:lnTo>
                <a:lnTo>
                  <a:pt x="6835394" y="1986216"/>
                </a:lnTo>
                <a:lnTo>
                  <a:pt x="6810851" y="2002801"/>
                </a:lnTo>
                <a:lnTo>
                  <a:pt x="6780783" y="2008885"/>
                </a:lnTo>
                <a:lnTo>
                  <a:pt x="77215" y="2008885"/>
                </a:lnTo>
                <a:lnTo>
                  <a:pt x="47159" y="2002801"/>
                </a:lnTo>
                <a:lnTo>
                  <a:pt x="22615" y="1986216"/>
                </a:lnTo>
                <a:lnTo>
                  <a:pt x="6067" y="1961630"/>
                </a:lnTo>
                <a:lnTo>
                  <a:pt x="0" y="1931542"/>
                </a:lnTo>
                <a:lnTo>
                  <a:pt x="0" y="1622678"/>
                </a:lnTo>
                <a:close/>
              </a:path>
              <a:path w="6858000" h="5100320">
                <a:moveTo>
                  <a:pt x="0" y="2137917"/>
                </a:moveTo>
                <a:lnTo>
                  <a:pt x="6067" y="2107850"/>
                </a:lnTo>
                <a:lnTo>
                  <a:pt x="22615" y="2083307"/>
                </a:lnTo>
                <a:lnTo>
                  <a:pt x="47159" y="2066766"/>
                </a:lnTo>
                <a:lnTo>
                  <a:pt x="77215" y="2060702"/>
                </a:lnTo>
                <a:lnTo>
                  <a:pt x="6780783" y="2060702"/>
                </a:lnTo>
                <a:lnTo>
                  <a:pt x="6810851" y="2066766"/>
                </a:lnTo>
                <a:lnTo>
                  <a:pt x="6835394" y="2083308"/>
                </a:lnTo>
                <a:lnTo>
                  <a:pt x="6851935" y="2107850"/>
                </a:lnTo>
                <a:lnTo>
                  <a:pt x="6858000" y="2137917"/>
                </a:lnTo>
                <a:lnTo>
                  <a:pt x="6858000" y="2446781"/>
                </a:lnTo>
                <a:lnTo>
                  <a:pt x="6851935" y="2476849"/>
                </a:lnTo>
                <a:lnTo>
                  <a:pt x="6835394" y="2501391"/>
                </a:lnTo>
                <a:lnTo>
                  <a:pt x="6810851" y="2517933"/>
                </a:lnTo>
                <a:lnTo>
                  <a:pt x="6780783" y="2523997"/>
                </a:lnTo>
                <a:lnTo>
                  <a:pt x="77215" y="2523997"/>
                </a:lnTo>
                <a:lnTo>
                  <a:pt x="47159" y="2517933"/>
                </a:lnTo>
                <a:lnTo>
                  <a:pt x="22615" y="2501391"/>
                </a:lnTo>
                <a:lnTo>
                  <a:pt x="6067" y="2476849"/>
                </a:lnTo>
                <a:lnTo>
                  <a:pt x="0" y="2446781"/>
                </a:lnTo>
                <a:lnTo>
                  <a:pt x="0" y="2137917"/>
                </a:lnTo>
                <a:close/>
              </a:path>
              <a:path w="6858000" h="5100320">
                <a:moveTo>
                  <a:pt x="0" y="2653029"/>
                </a:moveTo>
                <a:lnTo>
                  <a:pt x="6067" y="2622962"/>
                </a:lnTo>
                <a:lnTo>
                  <a:pt x="22615" y="2598419"/>
                </a:lnTo>
                <a:lnTo>
                  <a:pt x="47159" y="2581878"/>
                </a:lnTo>
                <a:lnTo>
                  <a:pt x="77215" y="2575813"/>
                </a:lnTo>
                <a:lnTo>
                  <a:pt x="6780783" y="2575813"/>
                </a:lnTo>
                <a:lnTo>
                  <a:pt x="6810851" y="2581878"/>
                </a:lnTo>
                <a:lnTo>
                  <a:pt x="6835394" y="2598419"/>
                </a:lnTo>
                <a:lnTo>
                  <a:pt x="6851935" y="2622962"/>
                </a:lnTo>
                <a:lnTo>
                  <a:pt x="6858000" y="2653029"/>
                </a:lnTo>
                <a:lnTo>
                  <a:pt x="6858000" y="2961893"/>
                </a:lnTo>
                <a:lnTo>
                  <a:pt x="6851935" y="2991961"/>
                </a:lnTo>
                <a:lnTo>
                  <a:pt x="6835394" y="3016504"/>
                </a:lnTo>
                <a:lnTo>
                  <a:pt x="6810851" y="3033045"/>
                </a:lnTo>
                <a:lnTo>
                  <a:pt x="6780783" y="3039110"/>
                </a:lnTo>
                <a:lnTo>
                  <a:pt x="77215" y="3039110"/>
                </a:lnTo>
                <a:lnTo>
                  <a:pt x="47159" y="3033045"/>
                </a:lnTo>
                <a:lnTo>
                  <a:pt x="22615" y="3016504"/>
                </a:lnTo>
                <a:lnTo>
                  <a:pt x="6067" y="2991961"/>
                </a:lnTo>
                <a:lnTo>
                  <a:pt x="0" y="2961893"/>
                </a:lnTo>
                <a:lnTo>
                  <a:pt x="0" y="2653029"/>
                </a:lnTo>
                <a:close/>
              </a:path>
              <a:path w="6858000" h="5100320">
                <a:moveTo>
                  <a:pt x="0" y="3168268"/>
                </a:moveTo>
                <a:lnTo>
                  <a:pt x="6067" y="3138181"/>
                </a:lnTo>
                <a:lnTo>
                  <a:pt x="22615" y="3113595"/>
                </a:lnTo>
                <a:lnTo>
                  <a:pt x="47159" y="3097010"/>
                </a:lnTo>
                <a:lnTo>
                  <a:pt x="77215" y="3090925"/>
                </a:lnTo>
                <a:lnTo>
                  <a:pt x="6780783" y="3090925"/>
                </a:lnTo>
                <a:lnTo>
                  <a:pt x="6810851" y="3097010"/>
                </a:lnTo>
                <a:lnTo>
                  <a:pt x="6835394" y="3113595"/>
                </a:lnTo>
                <a:lnTo>
                  <a:pt x="6851935" y="3138181"/>
                </a:lnTo>
                <a:lnTo>
                  <a:pt x="6858000" y="3168268"/>
                </a:lnTo>
                <a:lnTo>
                  <a:pt x="6858000" y="3477132"/>
                </a:lnTo>
                <a:lnTo>
                  <a:pt x="6851935" y="3507146"/>
                </a:lnTo>
                <a:lnTo>
                  <a:pt x="6835394" y="3531695"/>
                </a:lnTo>
                <a:lnTo>
                  <a:pt x="6810851" y="3548266"/>
                </a:lnTo>
                <a:lnTo>
                  <a:pt x="6780783" y="3554349"/>
                </a:lnTo>
                <a:lnTo>
                  <a:pt x="77215" y="3554349"/>
                </a:lnTo>
                <a:lnTo>
                  <a:pt x="47159" y="3548266"/>
                </a:lnTo>
                <a:lnTo>
                  <a:pt x="22615" y="3531695"/>
                </a:lnTo>
                <a:lnTo>
                  <a:pt x="6067" y="3507146"/>
                </a:lnTo>
                <a:lnTo>
                  <a:pt x="0" y="3477132"/>
                </a:lnTo>
                <a:lnTo>
                  <a:pt x="0" y="3168268"/>
                </a:lnTo>
                <a:close/>
              </a:path>
              <a:path w="6858000" h="5100320">
                <a:moveTo>
                  <a:pt x="0" y="3683380"/>
                </a:moveTo>
                <a:lnTo>
                  <a:pt x="6067" y="3653313"/>
                </a:lnTo>
                <a:lnTo>
                  <a:pt x="22615" y="3628770"/>
                </a:lnTo>
                <a:lnTo>
                  <a:pt x="47159" y="3612229"/>
                </a:lnTo>
                <a:lnTo>
                  <a:pt x="77215" y="3606164"/>
                </a:lnTo>
                <a:lnTo>
                  <a:pt x="6780783" y="3606164"/>
                </a:lnTo>
                <a:lnTo>
                  <a:pt x="6810851" y="3612229"/>
                </a:lnTo>
                <a:lnTo>
                  <a:pt x="6835394" y="3628770"/>
                </a:lnTo>
                <a:lnTo>
                  <a:pt x="6851935" y="3653313"/>
                </a:lnTo>
                <a:lnTo>
                  <a:pt x="6858000" y="3683380"/>
                </a:lnTo>
                <a:lnTo>
                  <a:pt x="6858000" y="3992244"/>
                </a:lnTo>
                <a:lnTo>
                  <a:pt x="6851935" y="4022312"/>
                </a:lnTo>
                <a:lnTo>
                  <a:pt x="6835394" y="4046854"/>
                </a:lnTo>
                <a:lnTo>
                  <a:pt x="6810851" y="4063396"/>
                </a:lnTo>
                <a:lnTo>
                  <a:pt x="6780783" y="4069460"/>
                </a:lnTo>
                <a:lnTo>
                  <a:pt x="77215" y="4069460"/>
                </a:lnTo>
                <a:lnTo>
                  <a:pt x="47159" y="4063396"/>
                </a:lnTo>
                <a:lnTo>
                  <a:pt x="22615" y="4046854"/>
                </a:lnTo>
                <a:lnTo>
                  <a:pt x="6067" y="4022312"/>
                </a:lnTo>
                <a:lnTo>
                  <a:pt x="0" y="3992244"/>
                </a:lnTo>
                <a:lnTo>
                  <a:pt x="0" y="3683380"/>
                </a:lnTo>
                <a:close/>
              </a:path>
              <a:path w="6858000" h="5100320">
                <a:moveTo>
                  <a:pt x="0" y="4198531"/>
                </a:moveTo>
                <a:lnTo>
                  <a:pt x="6067" y="4168463"/>
                </a:lnTo>
                <a:lnTo>
                  <a:pt x="22615" y="4143906"/>
                </a:lnTo>
                <a:lnTo>
                  <a:pt x="47159" y="4127348"/>
                </a:lnTo>
                <a:lnTo>
                  <a:pt x="77215" y="4121277"/>
                </a:lnTo>
                <a:lnTo>
                  <a:pt x="6780783" y="4121277"/>
                </a:lnTo>
                <a:lnTo>
                  <a:pt x="6810851" y="4127348"/>
                </a:lnTo>
                <a:lnTo>
                  <a:pt x="6835394" y="4143906"/>
                </a:lnTo>
                <a:lnTo>
                  <a:pt x="6851935" y="4168463"/>
                </a:lnTo>
                <a:lnTo>
                  <a:pt x="6858000" y="4198531"/>
                </a:lnTo>
                <a:lnTo>
                  <a:pt x="6858000" y="4507407"/>
                </a:lnTo>
                <a:lnTo>
                  <a:pt x="6851935" y="4537464"/>
                </a:lnTo>
                <a:lnTo>
                  <a:pt x="6835394" y="4562008"/>
                </a:lnTo>
                <a:lnTo>
                  <a:pt x="6810851" y="4578555"/>
                </a:lnTo>
                <a:lnTo>
                  <a:pt x="6780783" y="4584623"/>
                </a:lnTo>
                <a:lnTo>
                  <a:pt x="77215" y="4584623"/>
                </a:lnTo>
                <a:lnTo>
                  <a:pt x="47159" y="4578555"/>
                </a:lnTo>
                <a:lnTo>
                  <a:pt x="22615" y="4562008"/>
                </a:lnTo>
                <a:lnTo>
                  <a:pt x="6067" y="4537464"/>
                </a:lnTo>
                <a:lnTo>
                  <a:pt x="0" y="4507407"/>
                </a:lnTo>
                <a:lnTo>
                  <a:pt x="0" y="4198531"/>
                </a:lnTo>
                <a:close/>
              </a:path>
              <a:path w="6858000" h="5100320">
                <a:moveTo>
                  <a:pt x="0" y="4713681"/>
                </a:moveTo>
                <a:lnTo>
                  <a:pt x="6067" y="4683624"/>
                </a:lnTo>
                <a:lnTo>
                  <a:pt x="22615" y="4659080"/>
                </a:lnTo>
                <a:lnTo>
                  <a:pt x="47159" y="4642533"/>
                </a:lnTo>
                <a:lnTo>
                  <a:pt x="77215" y="4636465"/>
                </a:lnTo>
                <a:lnTo>
                  <a:pt x="6780783" y="4636465"/>
                </a:lnTo>
                <a:lnTo>
                  <a:pt x="6810851" y="4642533"/>
                </a:lnTo>
                <a:lnTo>
                  <a:pt x="6835394" y="4659080"/>
                </a:lnTo>
                <a:lnTo>
                  <a:pt x="6851935" y="4683624"/>
                </a:lnTo>
                <a:lnTo>
                  <a:pt x="6858000" y="4713681"/>
                </a:lnTo>
                <a:lnTo>
                  <a:pt x="6858000" y="5022557"/>
                </a:lnTo>
                <a:lnTo>
                  <a:pt x="6851935" y="5052621"/>
                </a:lnTo>
                <a:lnTo>
                  <a:pt x="6835394" y="5077169"/>
                </a:lnTo>
                <a:lnTo>
                  <a:pt x="6810851" y="5093718"/>
                </a:lnTo>
                <a:lnTo>
                  <a:pt x="6780783" y="5099786"/>
                </a:lnTo>
                <a:lnTo>
                  <a:pt x="77215" y="5099786"/>
                </a:lnTo>
                <a:lnTo>
                  <a:pt x="47159" y="5093718"/>
                </a:lnTo>
                <a:lnTo>
                  <a:pt x="22615" y="5077169"/>
                </a:lnTo>
                <a:lnTo>
                  <a:pt x="6067" y="5052621"/>
                </a:lnTo>
                <a:lnTo>
                  <a:pt x="0" y="5022557"/>
                </a:lnTo>
                <a:lnTo>
                  <a:pt x="0" y="4713681"/>
                </a:lnTo>
                <a:close/>
              </a:path>
            </a:pathLst>
          </a:custGeom>
          <a:ln w="12700">
            <a:solidFill>
              <a:srgbClr val="BE40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3139" y="1470406"/>
            <a:ext cx="6036945" cy="4958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Introduction</a:t>
            </a:r>
            <a:r>
              <a:rPr sz="2000" b="1" spc="-8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0" dirty="0">
                <a:solidFill>
                  <a:srgbClr val="BEBEBE"/>
                </a:solidFill>
                <a:latin typeface="Times New Roman"/>
                <a:cs typeface="Times New Roman"/>
              </a:rPr>
              <a:t>of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75" dirty="0">
                <a:solidFill>
                  <a:srgbClr val="BEBEBE"/>
                </a:solidFill>
                <a:latin typeface="Times New Roman"/>
                <a:cs typeface="Times New Roman"/>
              </a:rPr>
              <a:t>LAN;</a:t>
            </a:r>
            <a:r>
              <a:rPr sz="2000" b="1" spc="-12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35" dirty="0">
                <a:solidFill>
                  <a:srgbClr val="BEBEBE"/>
                </a:solidFill>
                <a:latin typeface="Times New Roman"/>
                <a:cs typeface="Times New Roman"/>
              </a:rPr>
              <a:t>MAN;WAN;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30" dirty="0">
                <a:solidFill>
                  <a:srgbClr val="BEBEBE"/>
                </a:solidFill>
                <a:latin typeface="Times New Roman"/>
                <a:cs typeface="Times New Roman"/>
              </a:rPr>
              <a:t>PAN,</a:t>
            </a:r>
            <a:r>
              <a:rPr sz="2000" b="1" spc="-21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Ad-hoc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BEBEBE"/>
                </a:solidFill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Topologies</a:t>
            </a:r>
            <a:endParaRPr sz="1800">
              <a:latin typeface="Times New Roman"/>
              <a:cs typeface="Times New Roman"/>
            </a:endParaRPr>
          </a:p>
          <a:p>
            <a:pPr marL="12700" marR="4119879">
              <a:lnSpc>
                <a:spcPct val="187800"/>
              </a:lnSpc>
            </a:pPr>
            <a:r>
              <a:rPr sz="1800" spc="-55" dirty="0">
                <a:latin typeface="Times New Roman"/>
                <a:cs typeface="Times New Roman"/>
              </a:rPr>
              <a:t>Net</a:t>
            </a:r>
            <a:r>
              <a:rPr sz="1800" spc="-145" dirty="0">
                <a:latin typeface="Times New Roman"/>
                <a:cs typeface="Times New Roman"/>
              </a:rPr>
              <a:t>w</a:t>
            </a:r>
            <a:r>
              <a:rPr sz="1800" spc="-35" dirty="0">
                <a:latin typeface="Times New Roman"/>
                <a:cs typeface="Times New Roman"/>
              </a:rPr>
              <a:t>o</a:t>
            </a:r>
            <a:r>
              <a:rPr sz="1800" spc="-20" dirty="0">
                <a:latin typeface="Times New Roman"/>
                <a:cs typeface="Times New Roman"/>
              </a:rPr>
              <a:t>r</a:t>
            </a:r>
            <a:r>
              <a:rPr sz="1800" spc="-114" dirty="0">
                <a:latin typeface="Times New Roman"/>
                <a:cs typeface="Times New Roman"/>
              </a:rPr>
              <a:t>k</a:t>
            </a:r>
            <a:r>
              <a:rPr sz="1800" spc="-195" dirty="0">
                <a:latin typeface="Times New Roman"/>
                <a:cs typeface="Times New Roman"/>
              </a:rPr>
              <a:t> </a:t>
            </a:r>
            <a:r>
              <a:rPr sz="1800" spc="-120" dirty="0">
                <a:latin typeface="Times New Roman"/>
                <a:cs typeface="Times New Roman"/>
              </a:rPr>
              <a:t>Ar</a:t>
            </a:r>
            <a:r>
              <a:rPr sz="1800" spc="-55" dirty="0">
                <a:latin typeface="Times New Roman"/>
                <a:cs typeface="Times New Roman"/>
              </a:rPr>
              <a:t>c</a:t>
            </a:r>
            <a:r>
              <a:rPr sz="1800" spc="-70" dirty="0">
                <a:latin typeface="Times New Roman"/>
                <a:cs typeface="Times New Roman"/>
              </a:rPr>
              <a:t>hitec</a:t>
            </a:r>
            <a:r>
              <a:rPr sz="1800" spc="-25" dirty="0">
                <a:latin typeface="Times New Roman"/>
                <a:cs typeface="Times New Roman"/>
              </a:rPr>
              <a:t>tu</a:t>
            </a:r>
            <a:r>
              <a:rPr sz="1800" spc="10" dirty="0">
                <a:latin typeface="Times New Roman"/>
                <a:cs typeface="Times New Roman"/>
              </a:rPr>
              <a:t>r</a:t>
            </a:r>
            <a:r>
              <a:rPr sz="1800" spc="-85" dirty="0">
                <a:latin typeface="Times New Roman"/>
                <a:cs typeface="Times New Roman"/>
              </a:rPr>
              <a:t>es  </a:t>
            </a:r>
            <a:r>
              <a:rPr sz="1800" spc="-125" dirty="0">
                <a:latin typeface="Times New Roman"/>
                <a:cs typeface="Times New Roman"/>
              </a:rPr>
              <a:t>OSI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10" dirty="0">
                <a:latin typeface="Times New Roman"/>
                <a:cs typeface="Times New Roman"/>
              </a:rPr>
              <a:t>M</a:t>
            </a:r>
            <a:r>
              <a:rPr sz="1800" spc="-80" dirty="0">
                <a:latin typeface="Times New Roman"/>
                <a:cs typeface="Times New Roman"/>
              </a:rPr>
              <a:t>o</a:t>
            </a:r>
            <a:r>
              <a:rPr sz="1800" spc="-75" dirty="0">
                <a:latin typeface="Times New Roman"/>
                <a:cs typeface="Times New Roman"/>
              </a:rPr>
              <a:t>d</a:t>
            </a:r>
            <a:r>
              <a:rPr sz="1800" spc="-70" dirty="0">
                <a:latin typeface="Times New Roman"/>
                <a:cs typeface="Times New Roman"/>
              </a:rPr>
              <a:t>el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imes New Roman"/>
                <a:cs typeface="Times New Roman"/>
              </a:rPr>
              <a:t>TCP/IP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Model</a:t>
            </a:r>
            <a:endParaRPr sz="1800">
              <a:latin typeface="Times New Roman"/>
              <a:cs typeface="Times New Roman"/>
            </a:endParaRPr>
          </a:p>
          <a:p>
            <a:pPr marL="12700" marR="4053840">
              <a:lnSpc>
                <a:spcPct val="187800"/>
              </a:lnSpc>
            </a:pPr>
            <a:r>
              <a:rPr sz="1800" spc="-105" dirty="0">
                <a:latin typeface="Times New Roman"/>
                <a:cs typeface="Times New Roman"/>
              </a:rPr>
              <a:t>Design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issues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for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0" dirty="0">
                <a:latin typeface="Times New Roman"/>
                <a:cs typeface="Times New Roman"/>
              </a:rPr>
              <a:t>L</a:t>
            </a:r>
            <a:r>
              <a:rPr sz="1800" spc="-204" dirty="0">
                <a:latin typeface="Times New Roman"/>
                <a:cs typeface="Times New Roman"/>
              </a:rPr>
              <a:t>a</a:t>
            </a:r>
            <a:r>
              <a:rPr sz="1800" spc="-170" dirty="0">
                <a:latin typeface="Times New Roman"/>
                <a:cs typeface="Times New Roman"/>
              </a:rPr>
              <a:t>y</a:t>
            </a:r>
            <a:r>
              <a:rPr sz="1800" spc="-30" dirty="0">
                <a:latin typeface="Times New Roman"/>
                <a:cs typeface="Times New Roman"/>
              </a:rPr>
              <a:t>e</a:t>
            </a:r>
            <a:r>
              <a:rPr sz="1800" spc="15" dirty="0">
                <a:latin typeface="Times New Roman"/>
                <a:cs typeface="Times New Roman"/>
              </a:rPr>
              <a:t>r</a:t>
            </a:r>
            <a:r>
              <a:rPr sz="1800" spc="-105" dirty="0">
                <a:latin typeface="Times New Roman"/>
                <a:cs typeface="Times New Roman"/>
              </a:rPr>
              <a:t>s  </a:t>
            </a:r>
            <a:r>
              <a:rPr sz="1800" spc="-220" dirty="0">
                <a:latin typeface="Times New Roman"/>
                <a:cs typeface="Times New Roman"/>
              </a:rPr>
              <a:t>T</a:t>
            </a:r>
            <a:r>
              <a:rPr sz="1800" spc="-60" dirty="0">
                <a:latin typeface="Times New Roman"/>
                <a:cs typeface="Times New Roman"/>
              </a:rPr>
              <a:t>r</a:t>
            </a:r>
            <a:r>
              <a:rPr sz="1800" spc="-65" dirty="0">
                <a:latin typeface="Times New Roman"/>
                <a:cs typeface="Times New Roman"/>
              </a:rPr>
              <a:t>a</a:t>
            </a:r>
            <a:r>
              <a:rPr sz="1800" spc="-110" dirty="0">
                <a:latin typeface="Times New Roman"/>
                <a:cs typeface="Times New Roman"/>
              </a:rPr>
              <a:t>nsm</a:t>
            </a:r>
            <a:r>
              <a:rPr sz="1800" spc="-120" dirty="0">
                <a:latin typeface="Times New Roman"/>
                <a:cs typeface="Times New Roman"/>
              </a:rPr>
              <a:t>iss</a:t>
            </a:r>
            <a:r>
              <a:rPr sz="1800" spc="-105" dirty="0">
                <a:latin typeface="Times New Roman"/>
                <a:cs typeface="Times New Roman"/>
              </a:rPr>
              <a:t>i</a:t>
            </a:r>
            <a:r>
              <a:rPr sz="1800" spc="-80" dirty="0">
                <a:latin typeface="Times New Roman"/>
                <a:cs typeface="Times New Roman"/>
              </a:rPr>
              <a:t>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30" dirty="0">
                <a:latin typeface="Times New Roman"/>
                <a:cs typeface="Times New Roman"/>
              </a:rPr>
              <a:t>Me</a:t>
            </a:r>
            <a:r>
              <a:rPr sz="1800" spc="-95" dirty="0">
                <a:latin typeface="Times New Roman"/>
                <a:cs typeface="Times New Roman"/>
              </a:rPr>
              <a:t>d</a:t>
            </a:r>
            <a:r>
              <a:rPr sz="1800" spc="-90" dirty="0">
                <a:latin typeface="Times New Roman"/>
                <a:cs typeface="Times New Roman"/>
              </a:rPr>
              <a:t>iums  </a:t>
            </a:r>
            <a:r>
              <a:rPr sz="1800" spc="-55" dirty="0">
                <a:latin typeface="Times New Roman"/>
                <a:cs typeface="Times New Roman"/>
              </a:rPr>
              <a:t>Net</a:t>
            </a:r>
            <a:r>
              <a:rPr sz="1800" spc="-145" dirty="0">
                <a:latin typeface="Times New Roman"/>
                <a:cs typeface="Times New Roman"/>
              </a:rPr>
              <a:t>w</a:t>
            </a:r>
            <a:r>
              <a:rPr sz="1800" spc="-35" dirty="0">
                <a:latin typeface="Times New Roman"/>
                <a:cs typeface="Times New Roman"/>
              </a:rPr>
              <a:t>o</a:t>
            </a:r>
            <a:r>
              <a:rPr sz="1800" spc="-20" dirty="0">
                <a:latin typeface="Times New Roman"/>
                <a:cs typeface="Times New Roman"/>
              </a:rPr>
              <a:t>r</a:t>
            </a:r>
            <a:r>
              <a:rPr sz="1800" spc="-114" dirty="0">
                <a:latin typeface="Times New Roman"/>
                <a:cs typeface="Times New Roman"/>
              </a:rPr>
              <a:t>k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D</a:t>
            </a:r>
            <a:r>
              <a:rPr sz="1800" spc="-90" dirty="0">
                <a:latin typeface="Times New Roman"/>
                <a:cs typeface="Times New Roman"/>
              </a:rPr>
              <a:t>e</a:t>
            </a:r>
            <a:r>
              <a:rPr sz="1800" spc="-110" dirty="0">
                <a:latin typeface="Times New Roman"/>
                <a:cs typeface="Times New Roman"/>
              </a:rPr>
              <a:t>vices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240" dirty="0">
                <a:latin typeface="Times New Roman"/>
                <a:cs typeface="Times New Roman"/>
              </a:rPr>
              <a:t>M</a:t>
            </a:r>
            <a:r>
              <a:rPr sz="1800" spc="-114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50" dirty="0">
                <a:latin typeface="Times New Roman"/>
                <a:cs typeface="Times New Roman"/>
              </a:rPr>
              <a:t>c</a:t>
            </a:r>
            <a:r>
              <a:rPr sz="1800" spc="-110" dirty="0">
                <a:latin typeface="Times New Roman"/>
                <a:cs typeface="Times New Roman"/>
              </a:rPr>
              <a:t>hes</a:t>
            </a:r>
            <a:r>
              <a:rPr sz="1800" spc="-10" dirty="0">
                <a:latin typeface="Times New Roman"/>
                <a:cs typeface="Times New Roman"/>
              </a:rPr>
              <a:t>ter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an</a:t>
            </a:r>
            <a:r>
              <a:rPr sz="1800" spc="-80" dirty="0">
                <a:latin typeface="Times New Roman"/>
                <a:cs typeface="Times New Roman"/>
              </a:rPr>
              <a:t>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D</a:t>
            </a:r>
            <a:r>
              <a:rPr sz="1800" spc="-85" dirty="0">
                <a:latin typeface="Times New Roman"/>
                <a:cs typeface="Times New Roman"/>
              </a:rPr>
              <a:t>iffe</a:t>
            </a:r>
            <a:r>
              <a:rPr sz="1800" spc="-95" dirty="0">
                <a:latin typeface="Times New Roman"/>
                <a:cs typeface="Times New Roman"/>
              </a:rPr>
              <a:t>r</a:t>
            </a:r>
            <a:r>
              <a:rPr sz="1800" spc="-50" dirty="0">
                <a:latin typeface="Times New Roman"/>
                <a:cs typeface="Times New Roman"/>
              </a:rPr>
              <a:t>en</a:t>
            </a:r>
            <a:r>
              <a:rPr sz="1800" spc="-25" dirty="0">
                <a:latin typeface="Times New Roman"/>
                <a:cs typeface="Times New Roman"/>
              </a:rPr>
              <a:t>t</a:t>
            </a:r>
            <a:r>
              <a:rPr sz="1800" spc="-100" dirty="0">
                <a:latin typeface="Times New Roman"/>
                <a:cs typeface="Times New Roman"/>
              </a:rPr>
              <a:t>ial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40" dirty="0">
                <a:latin typeface="Times New Roman"/>
                <a:cs typeface="Times New Roman"/>
              </a:rPr>
              <a:t>M</a:t>
            </a:r>
            <a:r>
              <a:rPr sz="1800" spc="-114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50" dirty="0">
                <a:latin typeface="Times New Roman"/>
                <a:cs typeface="Times New Roman"/>
              </a:rPr>
              <a:t>c</a:t>
            </a:r>
            <a:r>
              <a:rPr sz="1800" spc="-110" dirty="0">
                <a:latin typeface="Times New Roman"/>
                <a:cs typeface="Times New Roman"/>
              </a:rPr>
              <a:t>hes</a:t>
            </a:r>
            <a:r>
              <a:rPr sz="1800" spc="-10" dirty="0">
                <a:latin typeface="Times New Roman"/>
                <a:cs typeface="Times New Roman"/>
              </a:rPr>
              <a:t>ter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90" dirty="0">
                <a:latin typeface="Times New Roman"/>
                <a:cs typeface="Times New Roman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85" dirty="0">
                <a:latin typeface="Times New Roman"/>
                <a:cs typeface="Times New Roman"/>
              </a:rPr>
              <a:t>c</a:t>
            </a:r>
            <a:r>
              <a:rPr sz="1800" spc="-80" dirty="0">
                <a:latin typeface="Times New Roman"/>
                <a:cs typeface="Times New Roman"/>
              </a:rPr>
              <a:t>o</a:t>
            </a:r>
            <a:r>
              <a:rPr sz="1800" spc="-75" dirty="0">
                <a:latin typeface="Times New Roman"/>
                <a:cs typeface="Times New Roman"/>
              </a:rPr>
              <a:t>d</a:t>
            </a:r>
            <a:r>
              <a:rPr sz="1800" spc="-85" dirty="0">
                <a:latin typeface="Times New Roman"/>
                <a:cs typeface="Times New Roman"/>
              </a:rPr>
              <a:t>ings;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90" dirty="0">
                <a:latin typeface="Times New Roman"/>
                <a:cs typeface="Times New Roman"/>
              </a:rPr>
              <a:t>IEEE802.11: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Frequency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Hopping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(FHSS)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Direct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Sequence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55" dirty="0">
                <a:latin typeface="Times New Roman"/>
                <a:cs typeface="Times New Roman"/>
              </a:rPr>
              <a:t>(DSSS)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7235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0" dirty="0"/>
              <a:t>T</a:t>
            </a:r>
            <a:r>
              <a:rPr spc="-35" dirty="0"/>
              <a:t>opologie</a:t>
            </a:r>
            <a:r>
              <a:rPr spc="-50" dirty="0"/>
              <a:t>s</a:t>
            </a:r>
            <a:r>
              <a:rPr spc="30" dirty="0"/>
              <a:t>-</a:t>
            </a:r>
            <a:r>
              <a:rPr b="1" spc="-670" dirty="0">
                <a:latin typeface="Arial"/>
                <a:cs typeface="Arial"/>
              </a:rPr>
              <a:t>T</a:t>
            </a:r>
            <a:r>
              <a:rPr b="1" spc="-500" dirty="0">
                <a:latin typeface="Arial"/>
                <a:cs typeface="Arial"/>
              </a:rPr>
              <a:t>y</a:t>
            </a:r>
            <a:r>
              <a:rPr b="1" spc="-220" dirty="0">
                <a:latin typeface="Arial"/>
                <a:cs typeface="Arial"/>
              </a:rPr>
              <a:t>p</a:t>
            </a:r>
            <a:r>
              <a:rPr b="1" spc="-185" dirty="0">
                <a:latin typeface="Arial"/>
                <a:cs typeface="Arial"/>
              </a:rPr>
              <a:t>e</a:t>
            </a:r>
            <a:r>
              <a:rPr b="1" spc="-335" dirty="0">
                <a:latin typeface="Arial"/>
                <a:cs typeface="Arial"/>
              </a:rPr>
              <a:t>s</a:t>
            </a:r>
            <a:r>
              <a:rPr b="1" spc="-125" dirty="0">
                <a:latin typeface="Arial"/>
                <a:cs typeface="Arial"/>
              </a:rPr>
              <a:t> 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120" dirty="0">
                <a:latin typeface="Arial"/>
                <a:cs typeface="Arial"/>
              </a:rPr>
              <a:t>f </a:t>
            </a:r>
            <a:r>
              <a:rPr b="1" spc="-229" dirty="0">
                <a:latin typeface="Arial"/>
                <a:cs typeface="Arial"/>
              </a:rPr>
              <a:t>N</a:t>
            </a:r>
            <a:r>
              <a:rPr b="1" spc="-170" dirty="0">
                <a:latin typeface="Arial"/>
                <a:cs typeface="Arial"/>
              </a:rPr>
              <a:t>et</a:t>
            </a:r>
            <a:r>
              <a:rPr b="1" spc="-340" dirty="0">
                <a:latin typeface="Arial"/>
                <a:cs typeface="Arial"/>
              </a:rPr>
              <a:t>w</a:t>
            </a:r>
            <a:r>
              <a:rPr b="1" spc="-335" dirty="0">
                <a:latin typeface="Arial"/>
                <a:cs typeface="Arial"/>
              </a:rPr>
              <a:t>o</a:t>
            </a:r>
            <a:r>
              <a:rPr b="1" spc="-225" dirty="0">
                <a:latin typeface="Arial"/>
                <a:cs typeface="Arial"/>
              </a:rPr>
              <a:t>r</a:t>
            </a:r>
            <a:r>
              <a:rPr b="1" spc="-200" dirty="0">
                <a:latin typeface="Arial"/>
                <a:cs typeface="Arial"/>
              </a:rPr>
              <a:t>k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670" dirty="0">
                <a:latin typeface="Arial"/>
                <a:cs typeface="Arial"/>
              </a:rPr>
              <a:t>T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270" dirty="0">
                <a:latin typeface="Arial"/>
                <a:cs typeface="Arial"/>
              </a:rPr>
              <a:t>pol</a:t>
            </a:r>
            <a:r>
              <a:rPr b="1" spc="-305" dirty="0">
                <a:latin typeface="Arial"/>
                <a:cs typeface="Arial"/>
              </a:rPr>
              <a:t>o</a:t>
            </a:r>
            <a:r>
              <a:rPr b="1" spc="-475" dirty="0">
                <a:latin typeface="Arial"/>
                <a:cs typeface="Arial"/>
              </a:rPr>
              <a:t>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358239"/>
            <a:ext cx="1378585" cy="28606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05" dirty="0">
                <a:latin typeface="Times New Roman"/>
                <a:cs typeface="Times New Roman"/>
              </a:rPr>
              <a:t>BUS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80" dirty="0">
                <a:latin typeface="Times New Roman"/>
                <a:cs typeface="Times New Roman"/>
              </a:rPr>
              <a:t>RING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10" dirty="0">
                <a:latin typeface="Times New Roman"/>
                <a:cs typeface="Times New Roman"/>
              </a:rPr>
              <a:t>STAR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70" dirty="0">
                <a:latin typeface="Times New Roman"/>
                <a:cs typeface="Times New Roman"/>
              </a:rPr>
              <a:t>MESH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10" dirty="0">
                <a:latin typeface="Times New Roman"/>
                <a:cs typeface="Times New Roman"/>
              </a:rPr>
              <a:t>TREE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50" dirty="0">
                <a:latin typeface="Times New Roman"/>
                <a:cs typeface="Times New Roman"/>
              </a:rPr>
              <a:t>HYBRID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2627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30" dirty="0">
                <a:latin typeface="Arial"/>
                <a:cs typeface="Arial"/>
              </a:rPr>
              <a:t>B</a:t>
            </a:r>
            <a:r>
              <a:rPr b="1" spc="-409" dirty="0">
                <a:latin typeface="Arial"/>
                <a:cs typeface="Arial"/>
              </a:rPr>
              <a:t>U</a:t>
            </a:r>
            <a:r>
              <a:rPr b="1" spc="-355" dirty="0">
                <a:latin typeface="Arial"/>
                <a:cs typeface="Arial"/>
              </a:rPr>
              <a:t>S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670" dirty="0">
                <a:latin typeface="Arial"/>
                <a:cs typeface="Arial"/>
              </a:rPr>
              <a:t>T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310" dirty="0">
                <a:latin typeface="Arial"/>
                <a:cs typeface="Arial"/>
              </a:rPr>
              <a:t>p</a:t>
            </a:r>
            <a:r>
              <a:rPr b="1" spc="-290" dirty="0">
                <a:latin typeface="Arial"/>
                <a:cs typeface="Arial"/>
              </a:rPr>
              <a:t>o</a:t>
            </a:r>
            <a:r>
              <a:rPr b="1" spc="-360" dirty="0">
                <a:latin typeface="Arial"/>
                <a:cs typeface="Arial"/>
              </a:rPr>
              <a:t>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3461" y="2799900"/>
            <a:ext cx="7213334" cy="19439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22705" y="1368297"/>
            <a:ext cx="723836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90" dirty="0">
                <a:latin typeface="Times New Roman"/>
                <a:cs typeface="Times New Roman"/>
              </a:rPr>
              <a:t>Bus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topology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is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60" dirty="0">
                <a:latin typeface="Times New Roman"/>
                <a:cs typeface="Times New Roman"/>
              </a:rPr>
              <a:t>a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network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type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in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which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Times New Roman"/>
                <a:cs typeface="Times New Roman"/>
              </a:rPr>
              <a:t>every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computer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and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network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device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is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connected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to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single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cable.When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it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45" dirty="0">
                <a:latin typeface="Times New Roman"/>
                <a:cs typeface="Times New Roman"/>
              </a:rPr>
              <a:t>has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exactly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two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endpoints,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then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it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is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called 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b="1" spc="-65" dirty="0">
                <a:latin typeface="Times New Roman"/>
                <a:cs typeface="Times New Roman"/>
              </a:rPr>
              <a:t>Linear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Bus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50" dirty="0">
                <a:latin typeface="Times New Roman"/>
                <a:cs typeface="Times New Roman"/>
              </a:rPr>
              <a:t>topology</a:t>
            </a:r>
            <a:r>
              <a:rPr sz="2000" spc="5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2705" y="5102809"/>
            <a:ext cx="388874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20" dirty="0">
                <a:latin typeface="Times New Roman"/>
                <a:cs typeface="Times New Roman"/>
              </a:rPr>
              <a:t>F</a:t>
            </a:r>
            <a:r>
              <a:rPr sz="2000" b="1" spc="-100" dirty="0">
                <a:latin typeface="Times New Roman"/>
                <a:cs typeface="Times New Roman"/>
              </a:rPr>
              <a:t>e</a:t>
            </a:r>
            <a:r>
              <a:rPr sz="2000" b="1" spc="-120" dirty="0">
                <a:latin typeface="Times New Roman"/>
                <a:cs typeface="Times New Roman"/>
              </a:rPr>
              <a:t>a</a:t>
            </a:r>
            <a:r>
              <a:rPr sz="2000" b="1" spc="10" dirty="0">
                <a:latin typeface="Times New Roman"/>
                <a:cs typeface="Times New Roman"/>
              </a:rPr>
              <a:t>t</a:t>
            </a:r>
            <a:r>
              <a:rPr sz="2000" b="1" spc="-15" dirty="0">
                <a:latin typeface="Times New Roman"/>
                <a:cs typeface="Times New Roman"/>
              </a:rPr>
              <a:t>ures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20" dirty="0">
                <a:latin typeface="Times New Roman"/>
                <a:cs typeface="Times New Roman"/>
              </a:rPr>
              <a:t>of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55" dirty="0">
                <a:latin typeface="Times New Roman"/>
                <a:cs typeface="Times New Roman"/>
              </a:rPr>
              <a:t>Bu</a:t>
            </a:r>
            <a:r>
              <a:rPr sz="2000" b="1" spc="-35" dirty="0">
                <a:latin typeface="Times New Roman"/>
                <a:cs typeface="Times New Roman"/>
              </a:rPr>
              <a:t>s</a:t>
            </a:r>
            <a:r>
              <a:rPr sz="2000" b="1" spc="-310" dirty="0">
                <a:latin typeface="Times New Roman"/>
                <a:cs typeface="Times New Roman"/>
              </a:rPr>
              <a:t> </a:t>
            </a:r>
            <a:r>
              <a:rPr sz="2000" b="1" spc="-380" dirty="0">
                <a:latin typeface="Times New Roman"/>
                <a:cs typeface="Times New Roman"/>
              </a:rPr>
              <a:t>T</a:t>
            </a:r>
            <a:r>
              <a:rPr sz="2000" b="1" spc="60" dirty="0">
                <a:latin typeface="Times New Roman"/>
                <a:cs typeface="Times New Roman"/>
              </a:rPr>
              <a:t>op</a:t>
            </a:r>
            <a:r>
              <a:rPr sz="2000" b="1" spc="55" dirty="0">
                <a:latin typeface="Times New Roman"/>
                <a:cs typeface="Times New Roman"/>
              </a:rPr>
              <a:t>ol</a:t>
            </a:r>
            <a:r>
              <a:rPr sz="2000" b="1" spc="35" dirty="0">
                <a:latin typeface="Times New Roman"/>
                <a:cs typeface="Times New Roman"/>
              </a:rPr>
              <a:t>ogy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spc="-60" dirty="0">
                <a:latin typeface="Times New Roman"/>
                <a:cs typeface="Times New Roman"/>
              </a:rPr>
              <a:t>It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tran</a:t>
            </a:r>
            <a:r>
              <a:rPr sz="2000" spc="-80" dirty="0">
                <a:latin typeface="Times New Roman"/>
                <a:cs typeface="Times New Roman"/>
              </a:rPr>
              <a:t>s</a:t>
            </a:r>
            <a:r>
              <a:rPr sz="2000" spc="-95" dirty="0">
                <a:latin typeface="Times New Roman"/>
                <a:cs typeface="Times New Roman"/>
              </a:rPr>
              <a:t>mit</a:t>
            </a:r>
            <a:r>
              <a:rPr sz="2000" spc="-80" dirty="0">
                <a:latin typeface="Times New Roman"/>
                <a:cs typeface="Times New Roman"/>
              </a:rPr>
              <a:t>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d</a:t>
            </a:r>
            <a:r>
              <a:rPr sz="2000" spc="-145" dirty="0">
                <a:latin typeface="Times New Roman"/>
                <a:cs typeface="Times New Roman"/>
              </a:rPr>
              <a:t>a</a:t>
            </a:r>
            <a:r>
              <a:rPr sz="2000" spc="-65" dirty="0">
                <a:latin typeface="Times New Roman"/>
                <a:cs typeface="Times New Roman"/>
              </a:rPr>
              <a:t>ta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o</a:t>
            </a:r>
            <a:r>
              <a:rPr sz="2000" spc="-105" dirty="0">
                <a:latin typeface="Times New Roman"/>
                <a:cs typeface="Times New Roman"/>
              </a:rPr>
              <a:t>nl</a:t>
            </a:r>
            <a:r>
              <a:rPr sz="2000" spc="-165" dirty="0">
                <a:latin typeface="Times New Roman"/>
                <a:cs typeface="Times New Roman"/>
              </a:rPr>
              <a:t>y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in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o</a:t>
            </a:r>
            <a:r>
              <a:rPr sz="2000" spc="-95" dirty="0">
                <a:latin typeface="Times New Roman"/>
                <a:cs typeface="Times New Roman"/>
              </a:rPr>
              <a:t>n</a:t>
            </a:r>
            <a:r>
              <a:rPr sz="2000" spc="-75" dirty="0">
                <a:latin typeface="Times New Roman"/>
                <a:cs typeface="Times New Roman"/>
              </a:rPr>
              <a:t>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14" dirty="0">
                <a:latin typeface="Times New Roman"/>
                <a:cs typeface="Times New Roman"/>
              </a:rPr>
              <a:t>d</a:t>
            </a:r>
            <a:r>
              <a:rPr sz="2000" spc="-75" dirty="0">
                <a:latin typeface="Times New Roman"/>
                <a:cs typeface="Times New Roman"/>
              </a:rPr>
              <a:t>i</a:t>
            </a:r>
            <a:r>
              <a:rPr sz="2000" spc="-15" dirty="0">
                <a:latin typeface="Times New Roman"/>
                <a:cs typeface="Times New Roman"/>
              </a:rPr>
              <a:t>r</a:t>
            </a:r>
            <a:r>
              <a:rPr sz="2000" spc="-65" dirty="0">
                <a:latin typeface="Times New Roman"/>
                <a:cs typeface="Times New Roman"/>
              </a:rPr>
              <a:t>ecti</a:t>
            </a:r>
            <a:r>
              <a:rPr sz="2000" spc="-10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n.  </a:t>
            </a:r>
            <a:r>
              <a:rPr sz="2000" spc="-204" dirty="0">
                <a:latin typeface="Times New Roman"/>
                <a:cs typeface="Times New Roman"/>
              </a:rPr>
              <a:t>E</a:t>
            </a:r>
            <a:r>
              <a:rPr sz="2000" spc="-200" dirty="0">
                <a:latin typeface="Times New Roman"/>
                <a:cs typeface="Times New Roman"/>
              </a:rPr>
              <a:t>v</a:t>
            </a:r>
            <a:r>
              <a:rPr sz="2000" spc="-3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spc="-165" dirty="0">
                <a:latin typeface="Times New Roman"/>
                <a:cs typeface="Times New Roman"/>
              </a:rPr>
              <a:t>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d</a:t>
            </a:r>
            <a:r>
              <a:rPr sz="2000" spc="-110" dirty="0">
                <a:latin typeface="Times New Roman"/>
                <a:cs typeface="Times New Roman"/>
              </a:rPr>
              <a:t>e</a:t>
            </a:r>
            <a:r>
              <a:rPr sz="2000" spc="-114" dirty="0">
                <a:latin typeface="Times New Roman"/>
                <a:cs typeface="Times New Roman"/>
              </a:rPr>
              <a:t>vice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is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co</a:t>
            </a:r>
            <a:r>
              <a:rPr sz="2000" spc="-110" dirty="0">
                <a:latin typeface="Times New Roman"/>
                <a:cs typeface="Times New Roman"/>
              </a:rPr>
              <a:t>n</a:t>
            </a:r>
            <a:r>
              <a:rPr sz="2000" spc="-95" dirty="0">
                <a:latin typeface="Times New Roman"/>
                <a:cs typeface="Times New Roman"/>
              </a:rPr>
              <a:t>ne</a:t>
            </a:r>
            <a:r>
              <a:rPr sz="2000" spc="-100" dirty="0">
                <a:latin typeface="Times New Roman"/>
                <a:cs typeface="Times New Roman"/>
              </a:rPr>
              <a:t>c</a:t>
            </a:r>
            <a:r>
              <a:rPr sz="2000" spc="-45" dirty="0">
                <a:latin typeface="Times New Roman"/>
                <a:cs typeface="Times New Roman"/>
              </a:rPr>
              <a:t>ted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30" dirty="0">
                <a:latin typeface="Times New Roman"/>
                <a:cs typeface="Times New Roman"/>
              </a:rPr>
              <a:t>t</a:t>
            </a:r>
            <a:r>
              <a:rPr sz="2000" spc="-85" dirty="0">
                <a:latin typeface="Times New Roman"/>
                <a:cs typeface="Times New Roman"/>
              </a:rPr>
              <a:t>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60" dirty="0">
                <a:latin typeface="Times New Roman"/>
                <a:cs typeface="Times New Roman"/>
              </a:rPr>
              <a:t>a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45" dirty="0">
                <a:latin typeface="Times New Roman"/>
                <a:cs typeface="Times New Roman"/>
              </a:rPr>
              <a:t>s</a:t>
            </a:r>
            <a:r>
              <a:rPr sz="2000" spc="-114" dirty="0">
                <a:latin typeface="Times New Roman"/>
                <a:cs typeface="Times New Roman"/>
              </a:rPr>
              <a:t>i</a:t>
            </a:r>
            <a:r>
              <a:rPr sz="2000" spc="-100" dirty="0">
                <a:latin typeface="Times New Roman"/>
                <a:cs typeface="Times New Roman"/>
              </a:rPr>
              <a:t>ngle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20" dirty="0">
                <a:latin typeface="Times New Roman"/>
                <a:cs typeface="Times New Roman"/>
              </a:rPr>
              <a:t>ca</a:t>
            </a:r>
            <a:r>
              <a:rPr sz="2000" spc="-180" dirty="0">
                <a:latin typeface="Times New Roman"/>
                <a:cs typeface="Times New Roman"/>
              </a:rPr>
              <a:t>b</a:t>
            </a:r>
            <a:r>
              <a:rPr sz="2000" spc="-80" dirty="0">
                <a:latin typeface="Times New Roman"/>
                <a:cs typeface="Times New Roman"/>
              </a:rPr>
              <a:t>le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9140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480" dirty="0">
                <a:latin typeface="Arial"/>
                <a:cs typeface="Arial"/>
              </a:rPr>
              <a:t>B</a:t>
            </a:r>
            <a:r>
              <a:rPr sz="4000" b="1" spc="-459" dirty="0">
                <a:latin typeface="Arial"/>
                <a:cs typeface="Arial"/>
              </a:rPr>
              <a:t>U</a:t>
            </a:r>
            <a:r>
              <a:rPr sz="4000" b="1" spc="-395" dirty="0">
                <a:latin typeface="Arial"/>
                <a:cs typeface="Arial"/>
              </a:rPr>
              <a:t>S</a:t>
            </a:r>
            <a:r>
              <a:rPr sz="4000" b="1" spc="-130" dirty="0">
                <a:latin typeface="Arial"/>
                <a:cs typeface="Arial"/>
              </a:rPr>
              <a:t> </a:t>
            </a:r>
            <a:r>
              <a:rPr sz="4000" b="1" spc="-745" dirty="0">
                <a:latin typeface="Arial"/>
                <a:cs typeface="Arial"/>
              </a:rPr>
              <a:t>T</a:t>
            </a:r>
            <a:r>
              <a:rPr sz="4000" b="1" spc="-340" dirty="0">
                <a:latin typeface="Arial"/>
                <a:cs typeface="Arial"/>
              </a:rPr>
              <a:t>o</a:t>
            </a:r>
            <a:r>
              <a:rPr sz="4000" b="1" spc="-335" dirty="0">
                <a:latin typeface="Arial"/>
                <a:cs typeface="Arial"/>
              </a:rPr>
              <a:t>p</a:t>
            </a:r>
            <a:r>
              <a:rPr sz="4000" b="1" spc="-395" dirty="0">
                <a:latin typeface="Arial"/>
                <a:cs typeface="Arial"/>
              </a:rPr>
              <a:t>ology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383538"/>
            <a:ext cx="7340600" cy="4373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5" dirty="0">
                <a:latin typeface="Times New Roman"/>
                <a:cs typeface="Times New Roman"/>
              </a:rPr>
              <a:t>A</a:t>
            </a:r>
            <a:r>
              <a:rPr sz="2400" b="1" spc="-85" dirty="0">
                <a:latin typeface="Times New Roman"/>
                <a:cs typeface="Times New Roman"/>
              </a:rPr>
              <a:t>d</a:t>
            </a:r>
            <a:r>
              <a:rPr sz="2400" b="1" spc="-40" dirty="0">
                <a:latin typeface="Times New Roman"/>
                <a:cs typeface="Times New Roman"/>
              </a:rPr>
              <a:t>van</a:t>
            </a:r>
            <a:r>
              <a:rPr sz="2400" b="1" spc="-25" dirty="0">
                <a:latin typeface="Times New Roman"/>
                <a:cs typeface="Times New Roman"/>
              </a:rPr>
              <a:t>ta</a:t>
            </a:r>
            <a:r>
              <a:rPr sz="2400" b="1" spc="-20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Times New Roman"/>
                <a:cs typeface="Times New Roman"/>
              </a:rPr>
              <a:t>e</a:t>
            </a:r>
            <a:r>
              <a:rPr sz="2400" b="1" dirty="0">
                <a:latin typeface="Times New Roman"/>
                <a:cs typeface="Times New Roman"/>
              </a:rPr>
              <a:t>s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25" dirty="0">
                <a:latin typeface="Times New Roman"/>
                <a:cs typeface="Times New Roman"/>
              </a:rPr>
              <a:t>of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70" dirty="0">
                <a:latin typeface="Times New Roman"/>
                <a:cs typeface="Times New Roman"/>
              </a:rPr>
              <a:t>Bu</a:t>
            </a:r>
            <a:r>
              <a:rPr sz="2400" b="1" spc="-40" dirty="0">
                <a:latin typeface="Times New Roman"/>
                <a:cs typeface="Times New Roman"/>
              </a:rPr>
              <a:t>s</a:t>
            </a:r>
            <a:r>
              <a:rPr sz="2400" b="1" spc="-360" dirty="0">
                <a:latin typeface="Times New Roman"/>
                <a:cs typeface="Times New Roman"/>
              </a:rPr>
              <a:t> </a:t>
            </a:r>
            <a:r>
              <a:rPr sz="2400" b="1" spc="-450" dirty="0">
                <a:latin typeface="Times New Roman"/>
                <a:cs typeface="Times New Roman"/>
              </a:rPr>
              <a:t>T</a:t>
            </a:r>
            <a:r>
              <a:rPr sz="2400" b="1" spc="75" dirty="0">
                <a:latin typeface="Times New Roman"/>
                <a:cs typeface="Times New Roman"/>
              </a:rPr>
              <a:t>opo</a:t>
            </a:r>
            <a:r>
              <a:rPr sz="2400" b="1" spc="30" dirty="0">
                <a:latin typeface="Times New Roman"/>
                <a:cs typeface="Times New Roman"/>
              </a:rPr>
              <a:t>l</a:t>
            </a:r>
            <a:r>
              <a:rPr sz="2400" b="1" spc="40" dirty="0">
                <a:latin typeface="Times New Roman"/>
                <a:cs typeface="Times New Roman"/>
              </a:rPr>
              <a:t>ogy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75" dirty="0">
                <a:latin typeface="Times New Roman"/>
                <a:cs typeface="Times New Roman"/>
              </a:rPr>
              <a:t>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co</a:t>
            </a:r>
            <a:r>
              <a:rPr sz="2400" spc="-120" dirty="0">
                <a:latin typeface="Times New Roman"/>
                <a:cs typeface="Times New Roman"/>
              </a:rPr>
              <a:t>s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eff</a:t>
            </a:r>
            <a:r>
              <a:rPr sz="2400" spc="-165" dirty="0">
                <a:latin typeface="Times New Roman"/>
                <a:cs typeface="Times New Roman"/>
              </a:rPr>
              <a:t>e</a:t>
            </a:r>
            <a:r>
              <a:rPr sz="2400" spc="-95" dirty="0">
                <a:latin typeface="Times New Roman"/>
                <a:cs typeface="Times New Roman"/>
              </a:rPr>
              <a:t>cti</a:t>
            </a:r>
            <a:r>
              <a:rPr sz="2400" spc="-200" dirty="0">
                <a:latin typeface="Times New Roman"/>
                <a:cs typeface="Times New Roman"/>
              </a:rPr>
              <a:t>v</a:t>
            </a:r>
            <a:r>
              <a:rPr sz="2400" spc="-145" dirty="0">
                <a:latin typeface="Times New Roman"/>
                <a:cs typeface="Times New Roman"/>
              </a:rPr>
              <a:t>e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35" dirty="0">
                <a:latin typeface="Times New Roman"/>
                <a:cs typeface="Times New Roman"/>
              </a:rPr>
              <a:t>Cable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required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least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compared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other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network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topology.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30" dirty="0">
                <a:latin typeface="Times New Roman"/>
                <a:cs typeface="Times New Roman"/>
              </a:rPr>
              <a:t>Used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sm</a:t>
            </a:r>
            <a:r>
              <a:rPr sz="2400" spc="-140" dirty="0">
                <a:latin typeface="Times New Roman"/>
                <a:cs typeface="Times New Roman"/>
              </a:rPr>
              <a:t>al</a:t>
            </a:r>
            <a:r>
              <a:rPr sz="2400" spc="-105" dirty="0">
                <a:latin typeface="Times New Roman"/>
                <a:cs typeface="Times New Roman"/>
              </a:rPr>
              <a:t>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net</a:t>
            </a:r>
            <a:r>
              <a:rPr sz="2400" spc="-204" dirty="0">
                <a:latin typeface="Times New Roman"/>
                <a:cs typeface="Times New Roman"/>
              </a:rPr>
              <a:t>w</a:t>
            </a:r>
            <a:r>
              <a:rPr sz="2400" spc="-70" dirty="0">
                <a:latin typeface="Times New Roman"/>
                <a:cs typeface="Times New Roman"/>
              </a:rPr>
              <a:t>or</a:t>
            </a:r>
            <a:r>
              <a:rPr sz="2400" spc="-80" dirty="0">
                <a:latin typeface="Times New Roman"/>
                <a:cs typeface="Times New Roman"/>
              </a:rPr>
              <a:t>k</a:t>
            </a:r>
            <a:r>
              <a:rPr sz="2400" spc="-229" dirty="0">
                <a:latin typeface="Times New Roman"/>
                <a:cs typeface="Times New Roman"/>
              </a:rPr>
              <a:t>s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75" dirty="0">
                <a:latin typeface="Times New Roman"/>
                <a:cs typeface="Times New Roman"/>
              </a:rPr>
              <a:t>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easy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un</a:t>
            </a:r>
            <a:r>
              <a:rPr sz="2400" spc="-65" dirty="0">
                <a:latin typeface="Times New Roman"/>
                <a:cs typeface="Times New Roman"/>
              </a:rPr>
              <a:t>de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stan</a:t>
            </a:r>
            <a:r>
              <a:rPr sz="2400" spc="-125" dirty="0">
                <a:latin typeface="Times New Roman"/>
                <a:cs typeface="Times New Roman"/>
              </a:rPr>
              <a:t>d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204" dirty="0">
                <a:latin typeface="Times New Roman"/>
                <a:cs typeface="Times New Roman"/>
              </a:rPr>
              <a:t>Easy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exp</a:t>
            </a:r>
            <a:r>
              <a:rPr sz="2400" spc="-135" dirty="0">
                <a:latin typeface="Times New Roman"/>
                <a:cs typeface="Times New Roman"/>
              </a:rPr>
              <a:t>an</a:t>
            </a:r>
            <a:r>
              <a:rPr sz="2400" spc="-140" dirty="0">
                <a:latin typeface="Times New Roman"/>
                <a:cs typeface="Times New Roman"/>
              </a:rPr>
              <a:t>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jo</a:t>
            </a:r>
            <a:r>
              <a:rPr sz="2400" spc="-85" dirty="0">
                <a:latin typeface="Times New Roman"/>
                <a:cs typeface="Times New Roman"/>
              </a:rPr>
              <a:t>i</a:t>
            </a:r>
            <a:r>
              <a:rPr sz="2400" spc="-100" dirty="0">
                <a:latin typeface="Times New Roman"/>
                <a:cs typeface="Times New Roman"/>
              </a:rPr>
              <a:t>ni</a:t>
            </a:r>
            <a:r>
              <a:rPr sz="2400" spc="-120" dirty="0">
                <a:latin typeface="Times New Roman"/>
                <a:cs typeface="Times New Roman"/>
              </a:rPr>
              <a:t>n</a:t>
            </a:r>
            <a:r>
              <a:rPr sz="2400" spc="-200" dirty="0">
                <a:latin typeface="Times New Roman"/>
                <a:cs typeface="Times New Roman"/>
              </a:rPr>
              <a:t>g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t</a:t>
            </a:r>
            <a:r>
              <a:rPr sz="2400" spc="-170" dirty="0">
                <a:latin typeface="Times New Roman"/>
                <a:cs typeface="Times New Roman"/>
              </a:rPr>
              <a:t>w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ca</a:t>
            </a:r>
            <a:r>
              <a:rPr sz="2400" spc="-195" dirty="0">
                <a:latin typeface="Times New Roman"/>
                <a:cs typeface="Times New Roman"/>
              </a:rPr>
              <a:t>b</a:t>
            </a:r>
            <a:r>
              <a:rPr sz="2400" spc="-125" dirty="0">
                <a:latin typeface="Times New Roman"/>
                <a:cs typeface="Times New Roman"/>
              </a:rPr>
              <a:t>le</a:t>
            </a:r>
            <a:r>
              <a:rPr sz="2400" spc="-130" dirty="0">
                <a:latin typeface="Times New Roman"/>
                <a:cs typeface="Times New Roman"/>
              </a:rPr>
              <a:t>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tog</a:t>
            </a:r>
            <a:r>
              <a:rPr sz="2400" spc="-105" dirty="0">
                <a:latin typeface="Times New Roman"/>
                <a:cs typeface="Times New Roman"/>
              </a:rPr>
              <a:t>e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195" dirty="0">
                <a:latin typeface="Times New Roman"/>
                <a:cs typeface="Times New Roman"/>
              </a:rPr>
              <a:t>r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b="1" spc="-25" dirty="0">
                <a:latin typeface="Times New Roman"/>
                <a:cs typeface="Times New Roman"/>
              </a:rPr>
              <a:t>Disa</a:t>
            </a:r>
            <a:r>
              <a:rPr sz="2400" b="1" spc="-55" dirty="0">
                <a:latin typeface="Times New Roman"/>
                <a:cs typeface="Times New Roman"/>
              </a:rPr>
              <a:t>d</a:t>
            </a:r>
            <a:r>
              <a:rPr sz="2400" b="1" spc="-40" dirty="0">
                <a:latin typeface="Times New Roman"/>
                <a:cs typeface="Times New Roman"/>
              </a:rPr>
              <a:t>v</a:t>
            </a:r>
            <a:r>
              <a:rPr sz="2400" b="1" spc="-25" dirty="0">
                <a:latin typeface="Times New Roman"/>
                <a:cs typeface="Times New Roman"/>
              </a:rPr>
              <a:t>an</a:t>
            </a:r>
            <a:r>
              <a:rPr sz="2400" b="1" spc="-10" dirty="0">
                <a:latin typeface="Times New Roman"/>
                <a:cs typeface="Times New Roman"/>
              </a:rPr>
              <a:t>t</a:t>
            </a:r>
            <a:r>
              <a:rPr sz="2400" b="1" spc="-20" dirty="0">
                <a:latin typeface="Times New Roman"/>
                <a:cs typeface="Times New Roman"/>
              </a:rPr>
              <a:t>ages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25" dirty="0">
                <a:latin typeface="Times New Roman"/>
                <a:cs typeface="Times New Roman"/>
              </a:rPr>
              <a:t>of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70" dirty="0">
                <a:latin typeface="Times New Roman"/>
                <a:cs typeface="Times New Roman"/>
              </a:rPr>
              <a:t>Bu</a:t>
            </a:r>
            <a:r>
              <a:rPr sz="2400" b="1" spc="-40" dirty="0">
                <a:latin typeface="Times New Roman"/>
                <a:cs typeface="Times New Roman"/>
              </a:rPr>
              <a:t>s</a:t>
            </a:r>
            <a:r>
              <a:rPr sz="2400" b="1" spc="-365" dirty="0">
                <a:latin typeface="Times New Roman"/>
                <a:cs typeface="Times New Roman"/>
              </a:rPr>
              <a:t> </a:t>
            </a:r>
            <a:r>
              <a:rPr sz="2400" b="1" spc="-450" dirty="0">
                <a:latin typeface="Times New Roman"/>
                <a:cs typeface="Times New Roman"/>
              </a:rPr>
              <a:t>T</a:t>
            </a:r>
            <a:r>
              <a:rPr sz="2400" b="1" spc="80" dirty="0">
                <a:latin typeface="Times New Roman"/>
                <a:cs typeface="Times New Roman"/>
              </a:rPr>
              <a:t>op</a:t>
            </a:r>
            <a:r>
              <a:rPr sz="2400" b="1" spc="65" dirty="0">
                <a:latin typeface="Times New Roman"/>
                <a:cs typeface="Times New Roman"/>
              </a:rPr>
              <a:t>o</a:t>
            </a:r>
            <a:r>
              <a:rPr sz="2400" b="1" spc="45" dirty="0">
                <a:latin typeface="Times New Roman"/>
                <a:cs typeface="Times New Roman"/>
              </a:rPr>
              <a:t>l</a:t>
            </a:r>
            <a:r>
              <a:rPr sz="2400" b="1" spc="70" dirty="0">
                <a:latin typeface="Times New Roman"/>
                <a:cs typeface="Times New Roman"/>
              </a:rPr>
              <a:t>o</a:t>
            </a:r>
            <a:r>
              <a:rPr sz="2400" b="1" spc="10" dirty="0">
                <a:latin typeface="Times New Roman"/>
                <a:cs typeface="Times New Roman"/>
              </a:rPr>
              <a:t>gy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60" dirty="0">
                <a:latin typeface="Times New Roman"/>
                <a:cs typeface="Times New Roman"/>
              </a:rPr>
              <a:t>Ca</a:t>
            </a:r>
            <a:r>
              <a:rPr sz="2400" spc="-175" dirty="0">
                <a:latin typeface="Times New Roman"/>
                <a:cs typeface="Times New Roman"/>
              </a:rPr>
              <a:t>b</a:t>
            </a:r>
            <a:r>
              <a:rPr sz="2400" spc="-125" dirty="0">
                <a:latin typeface="Times New Roman"/>
                <a:cs typeface="Times New Roman"/>
              </a:rPr>
              <a:t>le</a:t>
            </a:r>
            <a:r>
              <a:rPr sz="2400" spc="-130" dirty="0">
                <a:latin typeface="Times New Roman"/>
                <a:cs typeface="Times New Roman"/>
              </a:rPr>
              <a:t>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95" dirty="0">
                <a:latin typeface="Times New Roman"/>
                <a:cs typeface="Times New Roman"/>
              </a:rPr>
              <a:t>f</a:t>
            </a:r>
            <a:r>
              <a:rPr sz="2400" spc="-145" dirty="0">
                <a:latin typeface="Times New Roman"/>
                <a:cs typeface="Times New Roman"/>
              </a:rPr>
              <a:t>ail</a:t>
            </a:r>
            <a:r>
              <a:rPr sz="2400" spc="-165" dirty="0">
                <a:latin typeface="Times New Roman"/>
                <a:cs typeface="Times New Roman"/>
              </a:rPr>
              <a:t>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then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whole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50" dirty="0">
                <a:latin typeface="Times New Roman"/>
                <a:cs typeface="Times New Roman"/>
              </a:rPr>
              <a:t>et</a:t>
            </a:r>
            <a:r>
              <a:rPr sz="2400" spc="-195" dirty="0">
                <a:latin typeface="Times New Roman"/>
                <a:cs typeface="Times New Roman"/>
              </a:rPr>
              <a:t>w</a:t>
            </a:r>
            <a:r>
              <a:rPr sz="2400" spc="-75" dirty="0">
                <a:latin typeface="Times New Roman"/>
                <a:cs typeface="Times New Roman"/>
              </a:rPr>
              <a:t>ork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95" dirty="0">
                <a:latin typeface="Times New Roman"/>
                <a:cs typeface="Times New Roman"/>
              </a:rPr>
              <a:t>f</a:t>
            </a:r>
            <a:r>
              <a:rPr sz="2400" spc="-145" dirty="0">
                <a:latin typeface="Times New Roman"/>
                <a:cs typeface="Times New Roman"/>
              </a:rPr>
              <a:t>ail</a:t>
            </a:r>
            <a:r>
              <a:rPr sz="2400" spc="-210" dirty="0">
                <a:latin typeface="Times New Roman"/>
                <a:cs typeface="Times New Roman"/>
              </a:rPr>
              <a:t>s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ts val="2300"/>
              </a:lnSpc>
              <a:spcBef>
                <a:spcPts val="58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80" dirty="0">
                <a:latin typeface="Times New Roman"/>
                <a:cs typeface="Times New Roman"/>
              </a:rPr>
              <a:t>If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network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traffic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heavy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nodes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are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more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performance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net</a:t>
            </a:r>
            <a:r>
              <a:rPr sz="2400" spc="-204" dirty="0">
                <a:latin typeface="Times New Roman"/>
                <a:cs typeface="Times New Roman"/>
              </a:rPr>
              <a:t>w</a:t>
            </a:r>
            <a:r>
              <a:rPr sz="2400" spc="-75" dirty="0">
                <a:latin typeface="Times New Roman"/>
                <a:cs typeface="Times New Roman"/>
              </a:rPr>
              <a:t>ork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dec</a:t>
            </a:r>
            <a:r>
              <a:rPr sz="2400" spc="-80" dirty="0">
                <a:latin typeface="Times New Roman"/>
                <a:cs typeface="Times New Roman"/>
              </a:rPr>
              <a:t>r</a:t>
            </a:r>
            <a:r>
              <a:rPr sz="2400" spc="-155" dirty="0">
                <a:latin typeface="Times New Roman"/>
                <a:cs typeface="Times New Roman"/>
              </a:rPr>
              <a:t>ease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5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55" dirty="0">
                <a:latin typeface="Times New Roman"/>
                <a:cs typeface="Times New Roman"/>
              </a:rPr>
              <a:t>Ca</a:t>
            </a:r>
            <a:r>
              <a:rPr sz="2400" spc="-170" dirty="0">
                <a:latin typeface="Times New Roman"/>
                <a:cs typeface="Times New Roman"/>
              </a:rPr>
              <a:t>b</a:t>
            </a:r>
            <a:r>
              <a:rPr sz="2400" spc="-75" dirty="0">
                <a:latin typeface="Times New Roman"/>
                <a:cs typeface="Times New Roman"/>
              </a:rPr>
              <a:t>l</a:t>
            </a:r>
            <a:r>
              <a:rPr sz="2400" spc="-114" dirty="0">
                <a:latin typeface="Times New Roman"/>
                <a:cs typeface="Times New Roman"/>
              </a:rPr>
              <a:t>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75" dirty="0">
                <a:latin typeface="Times New Roman"/>
                <a:cs typeface="Times New Roman"/>
              </a:rPr>
              <a:t>has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l</a:t>
            </a:r>
            <a:r>
              <a:rPr sz="2400" spc="-90" dirty="0">
                <a:latin typeface="Times New Roman"/>
                <a:cs typeface="Times New Roman"/>
              </a:rPr>
              <a:t>imited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leng</a:t>
            </a:r>
            <a:r>
              <a:rPr sz="2400" spc="-80" dirty="0">
                <a:latin typeface="Times New Roman"/>
                <a:cs typeface="Times New Roman"/>
              </a:rPr>
              <a:t>t</a:t>
            </a:r>
            <a:r>
              <a:rPr sz="2400" spc="-25" dirty="0">
                <a:latin typeface="Times New Roman"/>
                <a:cs typeface="Times New Roman"/>
              </a:rPr>
              <a:t>h.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75" dirty="0">
                <a:latin typeface="Times New Roman"/>
                <a:cs typeface="Times New Roman"/>
              </a:rPr>
              <a:t>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sl</a:t>
            </a:r>
            <a:r>
              <a:rPr sz="2400" spc="-229" dirty="0">
                <a:latin typeface="Times New Roman"/>
                <a:cs typeface="Times New Roman"/>
              </a:rPr>
              <a:t>o</a:t>
            </a:r>
            <a:r>
              <a:rPr sz="2400" spc="-225" dirty="0">
                <a:latin typeface="Times New Roman"/>
                <a:cs typeface="Times New Roman"/>
              </a:rPr>
              <a:t>w</a:t>
            </a:r>
            <a:r>
              <a:rPr sz="2400" spc="-35" dirty="0">
                <a:latin typeface="Times New Roman"/>
                <a:cs typeface="Times New Roman"/>
              </a:rPr>
              <a:t>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than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Times New Roman"/>
                <a:cs typeface="Times New Roman"/>
              </a:rPr>
              <a:t>t</a:t>
            </a:r>
            <a:r>
              <a:rPr sz="2400" spc="-125" dirty="0">
                <a:latin typeface="Times New Roman"/>
                <a:cs typeface="Times New Roman"/>
              </a:rPr>
              <a:t>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r</a:t>
            </a:r>
            <a:r>
              <a:rPr sz="2400" spc="-140" dirty="0">
                <a:latin typeface="Times New Roman"/>
                <a:cs typeface="Times New Roman"/>
              </a:rPr>
              <a:t>ing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top</a:t>
            </a:r>
            <a:r>
              <a:rPr sz="2400" spc="-75" dirty="0">
                <a:latin typeface="Times New Roman"/>
                <a:cs typeface="Times New Roman"/>
              </a:rPr>
              <a:t>o</a:t>
            </a:r>
            <a:r>
              <a:rPr sz="2400" spc="-140" dirty="0">
                <a:latin typeface="Times New Roman"/>
                <a:cs typeface="Times New Roman"/>
              </a:rPr>
              <a:t>log</a:t>
            </a:r>
            <a:r>
              <a:rPr sz="2400" spc="-450" dirty="0">
                <a:latin typeface="Times New Roman"/>
                <a:cs typeface="Times New Roman"/>
              </a:rPr>
              <a:t>y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28035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385" dirty="0">
                <a:latin typeface="Arial"/>
                <a:cs typeface="Arial"/>
              </a:rPr>
              <a:t>R</a:t>
            </a:r>
            <a:r>
              <a:rPr b="1" spc="-100" dirty="0">
                <a:latin typeface="Arial"/>
                <a:cs typeface="Arial"/>
              </a:rPr>
              <a:t>I</a:t>
            </a:r>
            <a:r>
              <a:rPr b="1" spc="-229" dirty="0">
                <a:latin typeface="Arial"/>
                <a:cs typeface="Arial"/>
              </a:rPr>
              <a:t>N</a:t>
            </a:r>
            <a:r>
              <a:rPr b="1" spc="-475" dirty="0">
                <a:latin typeface="Arial"/>
                <a:cs typeface="Arial"/>
              </a:rPr>
              <a:t>G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670" dirty="0">
                <a:latin typeface="Arial"/>
                <a:cs typeface="Arial"/>
              </a:rPr>
              <a:t>T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270" dirty="0">
                <a:latin typeface="Arial"/>
                <a:cs typeface="Arial"/>
              </a:rPr>
              <a:t>pol</a:t>
            </a:r>
            <a:r>
              <a:rPr b="1" spc="-305" dirty="0">
                <a:latin typeface="Arial"/>
                <a:cs typeface="Arial"/>
              </a:rPr>
              <a:t>o</a:t>
            </a:r>
            <a:r>
              <a:rPr b="1" spc="-475" dirty="0">
                <a:latin typeface="Arial"/>
                <a:cs typeface="Arial"/>
              </a:rPr>
              <a:t>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9560" y="1942356"/>
            <a:ext cx="5688677" cy="346851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2140" y="1133094"/>
            <a:ext cx="74847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Times New Roman"/>
                <a:cs typeface="Times New Roman"/>
              </a:rPr>
              <a:t>It </a:t>
            </a:r>
            <a:r>
              <a:rPr sz="1800" spc="-114" dirty="0">
                <a:latin typeface="Times New Roman"/>
                <a:cs typeface="Times New Roman"/>
              </a:rPr>
              <a:t>is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called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ring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topology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because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forms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a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ring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as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each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computer </a:t>
            </a:r>
            <a:r>
              <a:rPr sz="1800" spc="-114" dirty="0">
                <a:latin typeface="Times New Roman"/>
                <a:cs typeface="Times New Roman"/>
              </a:rPr>
              <a:t>is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connected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another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60" dirty="0">
                <a:latin typeface="Times New Roman"/>
                <a:cs typeface="Times New Roman"/>
              </a:rPr>
              <a:t>computer,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with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the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last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one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connected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the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first.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Exactly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two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neighbours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for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each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device.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4967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40" dirty="0">
                <a:latin typeface="Arial"/>
                <a:cs typeface="Arial"/>
              </a:rPr>
              <a:t>F</a:t>
            </a:r>
            <a:r>
              <a:rPr b="1" spc="-114" dirty="0">
                <a:latin typeface="Arial"/>
                <a:cs typeface="Arial"/>
              </a:rPr>
              <a:t>e</a:t>
            </a:r>
            <a:r>
              <a:rPr b="1" spc="-95" dirty="0">
                <a:latin typeface="Arial"/>
                <a:cs typeface="Arial"/>
              </a:rPr>
              <a:t>a</a:t>
            </a:r>
            <a:r>
              <a:rPr b="1" spc="-204" dirty="0">
                <a:latin typeface="Arial"/>
                <a:cs typeface="Arial"/>
              </a:rPr>
              <a:t>tures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120" dirty="0">
                <a:latin typeface="Arial"/>
                <a:cs typeface="Arial"/>
              </a:rPr>
              <a:t>f </a:t>
            </a:r>
            <a:r>
              <a:rPr b="1" spc="-385" dirty="0">
                <a:latin typeface="Arial"/>
                <a:cs typeface="Arial"/>
              </a:rPr>
              <a:t>R</a:t>
            </a:r>
            <a:r>
              <a:rPr b="1" spc="-170" dirty="0">
                <a:latin typeface="Arial"/>
                <a:cs typeface="Arial"/>
              </a:rPr>
              <a:t>i</a:t>
            </a:r>
            <a:r>
              <a:rPr b="1" spc="-340" dirty="0">
                <a:latin typeface="Arial"/>
                <a:cs typeface="Arial"/>
              </a:rPr>
              <a:t>ng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670" dirty="0">
                <a:latin typeface="Arial"/>
                <a:cs typeface="Arial"/>
              </a:rPr>
              <a:t>T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270" dirty="0">
                <a:latin typeface="Arial"/>
                <a:cs typeface="Arial"/>
              </a:rPr>
              <a:t>pol</a:t>
            </a:r>
            <a:r>
              <a:rPr b="1" spc="-305" dirty="0">
                <a:latin typeface="Arial"/>
                <a:cs typeface="Arial"/>
              </a:rPr>
              <a:t>o</a:t>
            </a:r>
            <a:r>
              <a:rPr b="1" spc="-475" dirty="0">
                <a:latin typeface="Arial"/>
                <a:cs typeface="Arial"/>
              </a:rPr>
              <a:t>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383538"/>
            <a:ext cx="7601584" cy="44246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6385" marR="8255" indent="-274320">
              <a:lnSpc>
                <a:spcPct val="80000"/>
              </a:lnSpc>
              <a:spcBef>
                <a:spcPts val="67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310" dirty="0">
                <a:latin typeface="Times New Roman"/>
                <a:cs typeface="Times New Roman"/>
              </a:rPr>
              <a:t>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100" dirty="0">
                <a:latin typeface="Times New Roman"/>
                <a:cs typeface="Times New Roman"/>
              </a:rPr>
              <a:t>u</a:t>
            </a:r>
            <a:r>
              <a:rPr sz="2400" spc="-170" dirty="0">
                <a:latin typeface="Times New Roman"/>
                <a:cs typeface="Times New Roman"/>
              </a:rPr>
              <a:t>m</a:t>
            </a:r>
            <a:r>
              <a:rPr sz="2400" spc="-105" dirty="0">
                <a:latin typeface="Times New Roman"/>
                <a:cs typeface="Times New Roman"/>
              </a:rPr>
              <a:t>b</a:t>
            </a:r>
            <a:r>
              <a:rPr sz="2400" spc="-35" dirty="0">
                <a:latin typeface="Times New Roman"/>
                <a:cs typeface="Times New Roman"/>
              </a:rPr>
              <a:t>er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120" dirty="0">
                <a:latin typeface="Times New Roman"/>
                <a:cs typeface="Times New Roman"/>
              </a:rPr>
              <a:t>epe</a:t>
            </a:r>
            <a:r>
              <a:rPr sz="2400" spc="-14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te</a:t>
            </a:r>
            <a:r>
              <a:rPr sz="2400" spc="30" dirty="0">
                <a:latin typeface="Times New Roman"/>
                <a:cs typeface="Times New Roman"/>
              </a:rPr>
              <a:t>r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ar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us</a:t>
            </a:r>
            <a:r>
              <a:rPr sz="2400" spc="-100" dirty="0">
                <a:latin typeface="Times New Roman"/>
                <a:cs typeface="Times New Roman"/>
              </a:rPr>
              <a:t>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for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Ring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top</a:t>
            </a:r>
            <a:r>
              <a:rPr sz="2400" spc="-75" dirty="0">
                <a:latin typeface="Times New Roman"/>
                <a:cs typeface="Times New Roman"/>
              </a:rPr>
              <a:t>o</a:t>
            </a:r>
            <a:r>
              <a:rPr sz="2400" spc="-150" dirty="0">
                <a:latin typeface="Times New Roman"/>
                <a:cs typeface="Times New Roman"/>
              </a:rPr>
              <a:t>log</a:t>
            </a:r>
            <a:r>
              <a:rPr sz="2400" spc="-170" dirty="0">
                <a:latin typeface="Times New Roman"/>
                <a:cs typeface="Times New Roman"/>
              </a:rPr>
              <a:t>y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w</a:t>
            </a:r>
            <a:r>
              <a:rPr sz="2400" spc="-80" dirty="0">
                <a:latin typeface="Times New Roman"/>
                <a:cs typeface="Times New Roman"/>
              </a:rPr>
              <a:t>ith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large  </a:t>
            </a:r>
            <a:r>
              <a:rPr sz="2400" spc="-90" dirty="0">
                <a:latin typeface="Times New Roman"/>
                <a:cs typeface="Times New Roman"/>
              </a:rPr>
              <a:t>number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nodes,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because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someone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wants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send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some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data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to 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last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node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ring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topology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with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100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nodes,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then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data 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will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have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pass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through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99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nodes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reach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100th</a:t>
            </a:r>
            <a:r>
              <a:rPr sz="2400" spc="-70" dirty="0">
                <a:latin typeface="Times New Roman"/>
                <a:cs typeface="Times New Roman"/>
              </a:rPr>
              <a:t> node.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Hence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p</a:t>
            </a:r>
            <a:r>
              <a:rPr sz="2400" spc="-50" dirty="0">
                <a:latin typeface="Times New Roman"/>
                <a:cs typeface="Times New Roman"/>
              </a:rPr>
              <a:t>r</a:t>
            </a:r>
            <a:r>
              <a:rPr sz="2400" spc="-135" dirty="0">
                <a:latin typeface="Times New Roman"/>
                <a:cs typeface="Times New Roman"/>
              </a:rPr>
              <a:t>e</a:t>
            </a:r>
            <a:r>
              <a:rPr sz="2400" spc="-254" dirty="0">
                <a:latin typeface="Times New Roman"/>
                <a:cs typeface="Times New Roman"/>
              </a:rPr>
              <a:t>v</a:t>
            </a:r>
            <a:r>
              <a:rPr sz="2400" spc="-55" dirty="0">
                <a:latin typeface="Times New Roman"/>
                <a:cs typeface="Times New Roman"/>
              </a:rPr>
              <a:t>ent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d</a:t>
            </a:r>
            <a:r>
              <a:rPr sz="2400" spc="-165" dirty="0">
                <a:latin typeface="Times New Roman"/>
                <a:cs typeface="Times New Roman"/>
              </a:rPr>
              <a:t>a</a:t>
            </a:r>
            <a:r>
              <a:rPr sz="2400" spc="-80" dirty="0">
                <a:latin typeface="Times New Roman"/>
                <a:cs typeface="Times New Roman"/>
              </a:rPr>
              <a:t>ta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los</a:t>
            </a:r>
            <a:r>
              <a:rPr sz="2400" spc="-140" dirty="0">
                <a:latin typeface="Times New Roman"/>
                <a:cs typeface="Times New Roman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20" dirty="0">
                <a:latin typeface="Times New Roman"/>
                <a:cs typeface="Times New Roman"/>
              </a:rPr>
              <a:t>epe</a:t>
            </a:r>
            <a:r>
              <a:rPr sz="2400" spc="-14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te</a:t>
            </a:r>
            <a:r>
              <a:rPr sz="2400" spc="30" dirty="0">
                <a:latin typeface="Times New Roman"/>
                <a:cs typeface="Times New Roman"/>
              </a:rPr>
              <a:t>r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ar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us</a:t>
            </a:r>
            <a:r>
              <a:rPr sz="2400" spc="-100" dirty="0">
                <a:latin typeface="Times New Roman"/>
                <a:cs typeface="Times New Roman"/>
              </a:rPr>
              <a:t>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Times New Roman"/>
                <a:cs typeface="Times New Roman"/>
              </a:rPr>
              <a:t>t</a:t>
            </a:r>
            <a:r>
              <a:rPr sz="2400" spc="-125" dirty="0">
                <a:latin typeface="Times New Roman"/>
                <a:cs typeface="Times New Roman"/>
              </a:rPr>
              <a:t>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50" dirty="0">
                <a:latin typeface="Times New Roman"/>
                <a:cs typeface="Times New Roman"/>
              </a:rPr>
              <a:t>et</a:t>
            </a:r>
            <a:r>
              <a:rPr sz="2400" spc="-195" dirty="0">
                <a:latin typeface="Times New Roman"/>
                <a:cs typeface="Times New Roman"/>
              </a:rPr>
              <a:t>w</a:t>
            </a:r>
            <a:r>
              <a:rPr sz="2400" spc="-70" dirty="0">
                <a:latin typeface="Times New Roman"/>
                <a:cs typeface="Times New Roman"/>
              </a:rPr>
              <a:t>or</a:t>
            </a:r>
            <a:r>
              <a:rPr sz="2400" spc="-80" dirty="0">
                <a:latin typeface="Times New Roman"/>
                <a:cs typeface="Times New Roman"/>
              </a:rPr>
              <a:t>k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8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20" dirty="0">
                <a:latin typeface="Times New Roman"/>
                <a:cs typeface="Times New Roman"/>
              </a:rPr>
              <a:t>The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transmission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unidirectional,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but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it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can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be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made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bidirectional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75" dirty="0">
                <a:latin typeface="Times New Roman"/>
                <a:cs typeface="Times New Roman"/>
              </a:rPr>
              <a:t>b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h</a:t>
            </a:r>
            <a:r>
              <a:rPr sz="2400" spc="-235" dirty="0">
                <a:latin typeface="Times New Roman"/>
                <a:cs typeface="Times New Roman"/>
              </a:rPr>
              <a:t>a</a:t>
            </a:r>
            <a:r>
              <a:rPr sz="2400" spc="-155" dirty="0">
                <a:latin typeface="Times New Roman"/>
                <a:cs typeface="Times New Roman"/>
              </a:rPr>
              <a:t>ving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2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c</a:t>
            </a:r>
            <a:r>
              <a:rPr sz="2400" spc="-125" dirty="0">
                <a:latin typeface="Times New Roman"/>
                <a:cs typeface="Times New Roman"/>
              </a:rPr>
              <a:t>o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100" dirty="0">
                <a:latin typeface="Times New Roman"/>
                <a:cs typeface="Times New Roman"/>
              </a:rPr>
              <a:t>n</a:t>
            </a:r>
            <a:r>
              <a:rPr sz="2400" spc="-80" dirty="0">
                <a:latin typeface="Times New Roman"/>
                <a:cs typeface="Times New Roman"/>
              </a:rPr>
              <a:t>ec</a:t>
            </a:r>
            <a:r>
              <a:rPr sz="2400" spc="-60" dirty="0">
                <a:latin typeface="Times New Roman"/>
                <a:cs typeface="Times New Roman"/>
              </a:rPr>
              <a:t>t</a:t>
            </a:r>
            <a:r>
              <a:rPr sz="2400" spc="-100" dirty="0">
                <a:latin typeface="Times New Roman"/>
                <a:cs typeface="Times New Roman"/>
              </a:rPr>
              <a:t>io</a:t>
            </a:r>
            <a:r>
              <a:rPr sz="2400" spc="-120" dirty="0">
                <a:latin typeface="Times New Roman"/>
                <a:cs typeface="Times New Roman"/>
              </a:rPr>
              <a:t>n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bet</a:t>
            </a:r>
            <a:r>
              <a:rPr sz="2400" spc="-215" dirty="0">
                <a:latin typeface="Times New Roman"/>
                <a:cs typeface="Times New Roman"/>
              </a:rPr>
              <a:t>w</a:t>
            </a:r>
            <a:r>
              <a:rPr sz="2400" spc="-95" dirty="0">
                <a:latin typeface="Times New Roman"/>
                <a:cs typeface="Times New Roman"/>
              </a:rPr>
              <a:t>een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ea</a:t>
            </a:r>
            <a:r>
              <a:rPr sz="2400" spc="-105" dirty="0">
                <a:latin typeface="Times New Roman"/>
                <a:cs typeface="Times New Roman"/>
              </a:rPr>
              <a:t>c</a:t>
            </a:r>
            <a:r>
              <a:rPr sz="2400" spc="-150" dirty="0">
                <a:latin typeface="Times New Roman"/>
                <a:cs typeface="Times New Roman"/>
              </a:rPr>
              <a:t>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Net</a:t>
            </a:r>
            <a:r>
              <a:rPr sz="2400" spc="-210" dirty="0">
                <a:latin typeface="Times New Roman"/>
                <a:cs typeface="Times New Roman"/>
              </a:rPr>
              <a:t>w</a:t>
            </a:r>
            <a:r>
              <a:rPr sz="2400" spc="-75" dirty="0">
                <a:latin typeface="Times New Roman"/>
                <a:cs typeface="Times New Roman"/>
              </a:rPr>
              <a:t>ork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Nod</a:t>
            </a:r>
            <a:r>
              <a:rPr sz="2400" spc="-140" dirty="0">
                <a:latin typeface="Times New Roman"/>
                <a:cs typeface="Times New Roman"/>
              </a:rPr>
              <a:t>e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call</a:t>
            </a:r>
            <a:r>
              <a:rPr sz="2400" spc="-155" dirty="0">
                <a:latin typeface="Times New Roman"/>
                <a:cs typeface="Times New Roman"/>
              </a:rPr>
              <a:t>e</a:t>
            </a:r>
            <a:r>
              <a:rPr sz="2400" spc="-70" dirty="0">
                <a:latin typeface="Times New Roman"/>
                <a:cs typeface="Times New Roman"/>
              </a:rPr>
              <a:t>d  </a:t>
            </a:r>
            <a:r>
              <a:rPr sz="2400" b="1" spc="-20" dirty="0">
                <a:latin typeface="Times New Roman"/>
                <a:cs typeface="Times New Roman"/>
              </a:rPr>
              <a:t>Dual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Ring</a:t>
            </a:r>
            <a:r>
              <a:rPr sz="2400" b="1" spc="-3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Topology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 marR="379730" indent="-274320" algn="just">
              <a:lnSpc>
                <a:spcPts val="2300"/>
              </a:lnSpc>
              <a:spcBef>
                <a:spcPts val="58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spc="-140" dirty="0">
                <a:latin typeface="Times New Roman"/>
                <a:cs typeface="Times New Roman"/>
              </a:rPr>
              <a:t>In </a:t>
            </a:r>
            <a:r>
              <a:rPr sz="2400" spc="-130" dirty="0">
                <a:latin typeface="Times New Roman"/>
                <a:cs typeface="Times New Roman"/>
              </a:rPr>
              <a:t>Dual </a:t>
            </a:r>
            <a:r>
              <a:rPr sz="2400" spc="-155" dirty="0">
                <a:latin typeface="Times New Roman"/>
                <a:cs typeface="Times New Roman"/>
              </a:rPr>
              <a:t>Ring </a:t>
            </a:r>
            <a:r>
              <a:rPr sz="2400" spc="-165" dirty="0">
                <a:latin typeface="Times New Roman"/>
                <a:cs typeface="Times New Roman"/>
              </a:rPr>
              <a:t>Topology, </a:t>
            </a:r>
            <a:r>
              <a:rPr sz="2400" spc="-100" dirty="0">
                <a:latin typeface="Times New Roman"/>
                <a:cs typeface="Times New Roman"/>
              </a:rPr>
              <a:t>two </a:t>
            </a:r>
            <a:r>
              <a:rPr sz="2400" spc="-90" dirty="0">
                <a:latin typeface="Times New Roman"/>
                <a:cs typeface="Times New Roman"/>
              </a:rPr>
              <a:t>ring </a:t>
            </a:r>
            <a:r>
              <a:rPr sz="2400" spc="-100" dirty="0">
                <a:latin typeface="Times New Roman"/>
                <a:cs typeface="Times New Roman"/>
              </a:rPr>
              <a:t>networks are </a:t>
            </a:r>
            <a:r>
              <a:rPr sz="2400" spc="-65" dirty="0">
                <a:latin typeface="Times New Roman"/>
                <a:cs typeface="Times New Roman"/>
              </a:rPr>
              <a:t>formed, </a:t>
            </a:r>
            <a:r>
              <a:rPr sz="2400" spc="-135" dirty="0">
                <a:latin typeface="Times New Roman"/>
                <a:cs typeface="Times New Roman"/>
              </a:rPr>
              <a:t>and </a:t>
            </a:r>
            <a:r>
              <a:rPr sz="2400" spc="-120" dirty="0">
                <a:latin typeface="Times New Roman"/>
                <a:cs typeface="Times New Roman"/>
              </a:rPr>
              <a:t>data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flow </a:t>
            </a:r>
            <a:r>
              <a:rPr sz="2400" spc="-150" dirty="0">
                <a:latin typeface="Times New Roman"/>
                <a:cs typeface="Times New Roman"/>
              </a:rPr>
              <a:t>is </a:t>
            </a:r>
            <a:r>
              <a:rPr sz="2400" spc="-110" dirty="0">
                <a:latin typeface="Times New Roman"/>
                <a:cs typeface="Times New Roman"/>
              </a:rPr>
              <a:t>in </a:t>
            </a:r>
            <a:r>
              <a:rPr sz="2400" spc="-95" dirty="0">
                <a:latin typeface="Times New Roman"/>
                <a:cs typeface="Times New Roman"/>
              </a:rPr>
              <a:t>opposite </a:t>
            </a:r>
            <a:r>
              <a:rPr sz="2400" spc="-85" dirty="0">
                <a:latin typeface="Times New Roman"/>
                <a:cs typeface="Times New Roman"/>
              </a:rPr>
              <a:t>direction </a:t>
            </a:r>
            <a:r>
              <a:rPr sz="2400" spc="-110" dirty="0">
                <a:latin typeface="Times New Roman"/>
                <a:cs typeface="Times New Roman"/>
              </a:rPr>
              <a:t>in </a:t>
            </a:r>
            <a:r>
              <a:rPr sz="2400" spc="-55" dirty="0">
                <a:latin typeface="Times New Roman"/>
                <a:cs typeface="Times New Roman"/>
              </a:rPr>
              <a:t>them. </a:t>
            </a:r>
            <a:r>
              <a:rPr sz="2400" spc="-130" dirty="0">
                <a:latin typeface="Times New Roman"/>
                <a:cs typeface="Times New Roman"/>
              </a:rPr>
              <a:t>Also, </a:t>
            </a:r>
            <a:r>
              <a:rPr sz="2400" spc="-150" dirty="0">
                <a:latin typeface="Times New Roman"/>
                <a:cs typeface="Times New Roman"/>
              </a:rPr>
              <a:t>if </a:t>
            </a:r>
            <a:r>
              <a:rPr sz="2400" spc="-100" dirty="0">
                <a:latin typeface="Times New Roman"/>
                <a:cs typeface="Times New Roman"/>
              </a:rPr>
              <a:t>one </a:t>
            </a:r>
            <a:r>
              <a:rPr sz="2400" spc="-90" dirty="0">
                <a:latin typeface="Times New Roman"/>
                <a:cs typeface="Times New Roman"/>
              </a:rPr>
              <a:t>ring </a:t>
            </a:r>
            <a:r>
              <a:rPr sz="2400" spc="-114" dirty="0">
                <a:latin typeface="Times New Roman"/>
                <a:cs typeface="Times New Roman"/>
              </a:rPr>
              <a:t>fails, </a:t>
            </a:r>
            <a:r>
              <a:rPr sz="2400" spc="-70" dirty="0">
                <a:latin typeface="Times New Roman"/>
                <a:cs typeface="Times New Roman"/>
              </a:rPr>
              <a:t>the 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second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ring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can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act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backup,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keep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network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up.</a:t>
            </a:r>
            <a:endParaRPr sz="2400">
              <a:latin typeface="Times New Roman"/>
              <a:cs typeface="Times New Roman"/>
            </a:endParaRPr>
          </a:p>
          <a:p>
            <a:pPr marL="286385" marR="87630" indent="-274320">
              <a:lnSpc>
                <a:spcPct val="80000"/>
              </a:lnSpc>
              <a:spcBef>
                <a:spcPts val="6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30" dirty="0">
                <a:latin typeface="Times New Roman"/>
                <a:cs typeface="Times New Roman"/>
              </a:rPr>
              <a:t>Data </a:t>
            </a:r>
            <a:r>
              <a:rPr sz="2400" spc="-150" dirty="0">
                <a:latin typeface="Times New Roman"/>
                <a:cs typeface="Times New Roman"/>
              </a:rPr>
              <a:t>is </a:t>
            </a:r>
            <a:r>
              <a:rPr sz="2400" spc="-75" dirty="0">
                <a:latin typeface="Times New Roman"/>
                <a:cs typeface="Times New Roman"/>
              </a:rPr>
              <a:t>transferred </a:t>
            </a:r>
            <a:r>
              <a:rPr sz="2400" spc="-110" dirty="0">
                <a:latin typeface="Times New Roman"/>
                <a:cs typeface="Times New Roman"/>
              </a:rPr>
              <a:t>in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sequential </a:t>
            </a:r>
            <a:r>
              <a:rPr sz="2400" spc="-105" dirty="0">
                <a:latin typeface="Times New Roman"/>
                <a:cs typeface="Times New Roman"/>
              </a:rPr>
              <a:t>manner </a:t>
            </a:r>
            <a:r>
              <a:rPr sz="2400" spc="-80" dirty="0">
                <a:latin typeface="Times New Roman"/>
                <a:cs typeface="Times New Roman"/>
              </a:rPr>
              <a:t>that </a:t>
            </a:r>
            <a:r>
              <a:rPr sz="2400" spc="-150" dirty="0">
                <a:latin typeface="Times New Roman"/>
                <a:cs typeface="Times New Roman"/>
              </a:rPr>
              <a:t>is </a:t>
            </a:r>
            <a:r>
              <a:rPr sz="2400" spc="-70" dirty="0">
                <a:latin typeface="Times New Roman"/>
                <a:cs typeface="Times New Roman"/>
              </a:rPr>
              <a:t>bit </a:t>
            </a:r>
            <a:r>
              <a:rPr sz="2400" spc="-185" dirty="0">
                <a:latin typeface="Times New Roman"/>
                <a:cs typeface="Times New Roman"/>
              </a:rPr>
              <a:t>by</a:t>
            </a:r>
            <a:r>
              <a:rPr sz="2400" spc="-18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bit. </a:t>
            </a:r>
            <a:r>
              <a:rPr sz="2400" spc="-130" dirty="0">
                <a:latin typeface="Times New Roman"/>
                <a:cs typeface="Times New Roman"/>
              </a:rPr>
              <a:t>Data 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transmitted,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175" dirty="0">
                <a:latin typeface="Times New Roman"/>
                <a:cs typeface="Times New Roman"/>
              </a:rPr>
              <a:t>has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pass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through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each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node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network,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till 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des</a:t>
            </a:r>
            <a:r>
              <a:rPr sz="2400" spc="-90" dirty="0">
                <a:latin typeface="Times New Roman"/>
                <a:cs typeface="Times New Roman"/>
              </a:rPr>
              <a:t>tin</a:t>
            </a:r>
            <a:r>
              <a:rPr sz="2400" spc="-140" dirty="0">
                <a:latin typeface="Times New Roman"/>
                <a:cs typeface="Times New Roman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tion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100" dirty="0">
                <a:latin typeface="Times New Roman"/>
                <a:cs typeface="Times New Roman"/>
              </a:rPr>
              <a:t>o</a:t>
            </a:r>
            <a:r>
              <a:rPr sz="2400" spc="-105" dirty="0">
                <a:latin typeface="Times New Roman"/>
                <a:cs typeface="Times New Roman"/>
              </a:rPr>
              <a:t>d</a:t>
            </a:r>
            <a:r>
              <a:rPr sz="2400" spc="-145" dirty="0">
                <a:latin typeface="Times New Roman"/>
                <a:cs typeface="Times New Roman"/>
              </a:rPr>
              <a:t>e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9635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459" dirty="0">
                <a:latin typeface="Arial"/>
                <a:cs typeface="Arial"/>
              </a:rPr>
              <a:t>R</a:t>
            </a:r>
            <a:r>
              <a:rPr sz="4000" b="1" spc="-165" dirty="0">
                <a:latin typeface="Arial"/>
                <a:cs typeface="Arial"/>
              </a:rPr>
              <a:t>i</a:t>
            </a:r>
            <a:r>
              <a:rPr sz="4000" b="1" spc="-380" dirty="0">
                <a:latin typeface="Arial"/>
                <a:cs typeface="Arial"/>
              </a:rPr>
              <a:t>ng</a:t>
            </a:r>
            <a:r>
              <a:rPr sz="4000" b="1" spc="-120" dirty="0">
                <a:latin typeface="Arial"/>
                <a:cs typeface="Arial"/>
              </a:rPr>
              <a:t> </a:t>
            </a:r>
            <a:r>
              <a:rPr sz="4000" b="1" spc="-745" dirty="0">
                <a:latin typeface="Arial"/>
                <a:cs typeface="Arial"/>
              </a:rPr>
              <a:t>T</a:t>
            </a:r>
            <a:r>
              <a:rPr sz="4000" b="1" spc="-340" dirty="0">
                <a:latin typeface="Arial"/>
                <a:cs typeface="Arial"/>
              </a:rPr>
              <a:t>o</a:t>
            </a:r>
            <a:r>
              <a:rPr sz="4000" b="1" spc="-335" dirty="0">
                <a:latin typeface="Arial"/>
                <a:cs typeface="Arial"/>
              </a:rPr>
              <a:t>p</a:t>
            </a:r>
            <a:r>
              <a:rPr sz="4000" b="1" spc="-395" dirty="0">
                <a:latin typeface="Arial"/>
                <a:cs typeface="Arial"/>
              </a:rPr>
              <a:t>ology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358239"/>
            <a:ext cx="7038340" cy="45224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600" b="1" spc="-55" dirty="0">
                <a:latin typeface="Times New Roman"/>
                <a:cs typeface="Times New Roman"/>
              </a:rPr>
              <a:t>A</a:t>
            </a:r>
            <a:r>
              <a:rPr sz="2600" b="1" spc="-85" dirty="0">
                <a:latin typeface="Times New Roman"/>
                <a:cs typeface="Times New Roman"/>
              </a:rPr>
              <a:t>d</a:t>
            </a:r>
            <a:r>
              <a:rPr sz="2600" b="1" spc="-35" dirty="0">
                <a:latin typeface="Times New Roman"/>
                <a:cs typeface="Times New Roman"/>
              </a:rPr>
              <a:t>v</a:t>
            </a:r>
            <a:r>
              <a:rPr sz="2600" b="1" spc="-20" dirty="0">
                <a:latin typeface="Times New Roman"/>
                <a:cs typeface="Times New Roman"/>
              </a:rPr>
              <a:t>antages</a:t>
            </a:r>
            <a:r>
              <a:rPr sz="2600" b="1" spc="-95" dirty="0">
                <a:latin typeface="Times New Roman"/>
                <a:cs typeface="Times New Roman"/>
              </a:rPr>
              <a:t> </a:t>
            </a:r>
            <a:r>
              <a:rPr sz="2600" b="1" spc="30" dirty="0">
                <a:latin typeface="Times New Roman"/>
                <a:cs typeface="Times New Roman"/>
              </a:rPr>
              <a:t>of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spc="-180" dirty="0">
                <a:latin typeface="Times New Roman"/>
                <a:cs typeface="Times New Roman"/>
              </a:rPr>
              <a:t>R</a:t>
            </a:r>
            <a:r>
              <a:rPr sz="2600" b="1" spc="25" dirty="0">
                <a:latin typeface="Times New Roman"/>
                <a:cs typeface="Times New Roman"/>
              </a:rPr>
              <a:t>ing</a:t>
            </a:r>
            <a:r>
              <a:rPr sz="2600" b="1" spc="-380" dirty="0">
                <a:latin typeface="Times New Roman"/>
                <a:cs typeface="Times New Roman"/>
              </a:rPr>
              <a:t> </a:t>
            </a:r>
            <a:r>
              <a:rPr sz="2600" b="1" spc="-490" dirty="0">
                <a:latin typeface="Times New Roman"/>
                <a:cs typeface="Times New Roman"/>
              </a:rPr>
              <a:t>T</a:t>
            </a:r>
            <a:r>
              <a:rPr sz="2600" b="1" spc="70" dirty="0">
                <a:latin typeface="Times New Roman"/>
                <a:cs typeface="Times New Roman"/>
              </a:rPr>
              <a:t>opolo</a:t>
            </a:r>
            <a:r>
              <a:rPr sz="2600" b="1" spc="80" dirty="0">
                <a:latin typeface="Times New Roman"/>
                <a:cs typeface="Times New Roman"/>
              </a:rPr>
              <a:t>g</a:t>
            </a:r>
            <a:r>
              <a:rPr sz="2600" b="1" dirty="0">
                <a:latin typeface="Times New Roman"/>
                <a:cs typeface="Times New Roman"/>
              </a:rPr>
              <a:t>y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10" dirty="0">
                <a:latin typeface="Times New Roman"/>
                <a:cs typeface="Times New Roman"/>
              </a:rPr>
              <a:t>T</a:t>
            </a:r>
            <a:r>
              <a:rPr sz="2600" spc="-95" dirty="0">
                <a:latin typeface="Times New Roman"/>
                <a:cs typeface="Times New Roman"/>
              </a:rPr>
              <a:t>ransmitti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215" dirty="0">
                <a:latin typeface="Times New Roman"/>
                <a:cs typeface="Times New Roman"/>
              </a:rPr>
              <a:t>g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ne</a:t>
            </a:r>
            <a:r>
              <a:rPr sz="2600" spc="-55" dirty="0">
                <a:latin typeface="Times New Roman"/>
                <a:cs typeface="Times New Roman"/>
              </a:rPr>
              <a:t>t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80" dirty="0">
                <a:latin typeface="Times New Roman"/>
                <a:cs typeface="Times New Roman"/>
              </a:rPr>
              <a:t>ork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29" dirty="0">
                <a:latin typeface="Times New Roman"/>
                <a:cs typeface="Times New Roman"/>
              </a:rPr>
              <a:t>a</a:t>
            </a:r>
            <a:r>
              <a:rPr sz="2600" spc="-185" dirty="0">
                <a:latin typeface="Times New Roman"/>
                <a:cs typeface="Times New Roman"/>
              </a:rPr>
              <a:t>f</a:t>
            </a:r>
            <a:r>
              <a:rPr sz="2600" spc="-140" dirty="0">
                <a:latin typeface="Times New Roman"/>
                <a:cs typeface="Times New Roman"/>
              </a:rPr>
              <a:t>fe</a:t>
            </a:r>
            <a:r>
              <a:rPr sz="2600" spc="-175" dirty="0">
                <a:latin typeface="Times New Roman"/>
                <a:cs typeface="Times New Roman"/>
              </a:rPr>
              <a:t>c</a:t>
            </a:r>
            <a:r>
              <a:rPr sz="2600" spc="-60" dirty="0">
                <a:latin typeface="Times New Roman"/>
                <a:cs typeface="Times New Roman"/>
              </a:rPr>
              <a:t>ted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b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high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t</a:t>
            </a:r>
            <a:r>
              <a:rPr sz="2600" spc="-150" dirty="0">
                <a:latin typeface="Times New Roman"/>
                <a:cs typeface="Times New Roman"/>
              </a:rPr>
              <a:t>raf</a:t>
            </a:r>
            <a:r>
              <a:rPr sz="2600" spc="-140" dirty="0">
                <a:latin typeface="Times New Roman"/>
                <a:cs typeface="Times New Roman"/>
              </a:rPr>
              <a:t>fic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b</a:t>
            </a:r>
            <a:r>
              <a:rPr sz="2600" spc="-145" dirty="0">
                <a:latin typeface="Times New Roman"/>
                <a:cs typeface="Times New Roman"/>
              </a:rPr>
              <a:t>y  </a:t>
            </a:r>
            <a:r>
              <a:rPr sz="2600" spc="-150" dirty="0">
                <a:latin typeface="Times New Roman"/>
                <a:cs typeface="Times New Roman"/>
              </a:rPr>
              <a:t>adding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more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nodes,</a:t>
            </a:r>
            <a:r>
              <a:rPr sz="2600" spc="-18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only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nodes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having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tokens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can 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transmit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data.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0" dirty="0">
                <a:latin typeface="Times New Roman"/>
                <a:cs typeface="Times New Roman"/>
              </a:rPr>
              <a:t>Chea</a:t>
            </a:r>
            <a:r>
              <a:rPr sz="2600" spc="-140" dirty="0">
                <a:latin typeface="Times New Roman"/>
                <a:cs typeface="Times New Roman"/>
              </a:rPr>
              <a:t>p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install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20" dirty="0">
                <a:latin typeface="Times New Roman"/>
                <a:cs typeface="Times New Roman"/>
              </a:rPr>
              <a:t>x</a:t>
            </a:r>
            <a:r>
              <a:rPr sz="2600" spc="-140" dirty="0">
                <a:latin typeface="Times New Roman"/>
                <a:cs typeface="Times New Roman"/>
              </a:rPr>
              <a:t>pa</a:t>
            </a:r>
            <a:r>
              <a:rPr sz="2600" spc="-160" dirty="0">
                <a:latin typeface="Times New Roman"/>
                <a:cs typeface="Times New Roman"/>
              </a:rPr>
              <a:t>n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600" b="1" spc="-15" dirty="0">
                <a:latin typeface="Times New Roman"/>
                <a:cs typeface="Times New Roman"/>
              </a:rPr>
              <a:t>Di</a:t>
            </a:r>
            <a:r>
              <a:rPr sz="2600" b="1" spc="-25" dirty="0">
                <a:latin typeface="Times New Roman"/>
                <a:cs typeface="Times New Roman"/>
              </a:rPr>
              <a:t>s</a:t>
            </a:r>
            <a:r>
              <a:rPr sz="2600" b="1" spc="-30" dirty="0">
                <a:latin typeface="Times New Roman"/>
                <a:cs typeface="Times New Roman"/>
              </a:rPr>
              <a:t>a</a:t>
            </a:r>
            <a:r>
              <a:rPr sz="2600" b="1" spc="-85" dirty="0">
                <a:latin typeface="Times New Roman"/>
                <a:cs typeface="Times New Roman"/>
              </a:rPr>
              <a:t>d</a:t>
            </a:r>
            <a:r>
              <a:rPr sz="2600" b="1" spc="-35" dirty="0">
                <a:latin typeface="Times New Roman"/>
                <a:cs typeface="Times New Roman"/>
              </a:rPr>
              <a:t>v</a:t>
            </a:r>
            <a:r>
              <a:rPr sz="2600" b="1" spc="-45" dirty="0">
                <a:latin typeface="Times New Roman"/>
                <a:cs typeface="Times New Roman"/>
              </a:rPr>
              <a:t>a</a:t>
            </a:r>
            <a:r>
              <a:rPr sz="2600" b="1" spc="-60" dirty="0">
                <a:latin typeface="Times New Roman"/>
                <a:cs typeface="Times New Roman"/>
              </a:rPr>
              <a:t>n</a:t>
            </a:r>
            <a:r>
              <a:rPr sz="2600" b="1" spc="-15" dirty="0">
                <a:latin typeface="Times New Roman"/>
                <a:cs typeface="Times New Roman"/>
              </a:rPr>
              <a:t>tage</a:t>
            </a:r>
            <a:r>
              <a:rPr sz="2600" b="1" spc="-10" dirty="0">
                <a:latin typeface="Times New Roman"/>
                <a:cs typeface="Times New Roman"/>
              </a:rPr>
              <a:t>s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spc="30" dirty="0">
                <a:latin typeface="Times New Roman"/>
                <a:cs typeface="Times New Roman"/>
              </a:rPr>
              <a:t>of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spc="-185" dirty="0">
                <a:latin typeface="Times New Roman"/>
                <a:cs typeface="Times New Roman"/>
              </a:rPr>
              <a:t>R</a:t>
            </a:r>
            <a:r>
              <a:rPr sz="2600" b="1" spc="20" dirty="0">
                <a:latin typeface="Times New Roman"/>
                <a:cs typeface="Times New Roman"/>
              </a:rPr>
              <a:t>i</a:t>
            </a:r>
            <a:r>
              <a:rPr sz="2600" b="1" spc="30" dirty="0">
                <a:latin typeface="Times New Roman"/>
                <a:cs typeface="Times New Roman"/>
              </a:rPr>
              <a:t>n</a:t>
            </a:r>
            <a:r>
              <a:rPr sz="2600" b="1" spc="25" dirty="0">
                <a:latin typeface="Times New Roman"/>
                <a:cs typeface="Times New Roman"/>
              </a:rPr>
              <a:t>g</a:t>
            </a:r>
            <a:r>
              <a:rPr sz="2600" b="1" spc="-370" dirty="0">
                <a:latin typeface="Times New Roman"/>
                <a:cs typeface="Times New Roman"/>
              </a:rPr>
              <a:t> </a:t>
            </a:r>
            <a:r>
              <a:rPr sz="2600" b="1" spc="-490" dirty="0">
                <a:latin typeface="Times New Roman"/>
                <a:cs typeface="Times New Roman"/>
              </a:rPr>
              <a:t>T</a:t>
            </a:r>
            <a:r>
              <a:rPr sz="2600" b="1" spc="65" dirty="0">
                <a:latin typeface="Times New Roman"/>
                <a:cs typeface="Times New Roman"/>
              </a:rPr>
              <a:t>opology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10" dirty="0">
                <a:latin typeface="Times New Roman"/>
                <a:cs typeface="Times New Roman"/>
              </a:rPr>
              <a:t>T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u</a:t>
            </a:r>
            <a:r>
              <a:rPr sz="2600" spc="-175" dirty="0">
                <a:latin typeface="Times New Roman"/>
                <a:cs typeface="Times New Roman"/>
              </a:rPr>
              <a:t>b</a:t>
            </a:r>
            <a:r>
              <a:rPr sz="2600" spc="-130" dirty="0">
                <a:latin typeface="Times New Roman"/>
                <a:cs typeface="Times New Roman"/>
              </a:rPr>
              <a:t>lesho</a:t>
            </a:r>
            <a:r>
              <a:rPr sz="2600" spc="-165" dirty="0">
                <a:latin typeface="Times New Roman"/>
                <a:cs typeface="Times New Roman"/>
              </a:rPr>
              <a:t>o</a:t>
            </a:r>
            <a:r>
              <a:rPr sz="2600" spc="-105" dirty="0">
                <a:latin typeface="Times New Roman"/>
                <a:cs typeface="Times New Roman"/>
              </a:rPr>
              <a:t>ting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diffic</a:t>
            </a:r>
            <a:r>
              <a:rPr sz="2600" spc="-204" dirty="0">
                <a:latin typeface="Times New Roman"/>
                <a:cs typeface="Times New Roman"/>
              </a:rPr>
              <a:t>u</a:t>
            </a:r>
            <a:r>
              <a:rPr sz="2600" spc="-35" dirty="0">
                <a:latin typeface="Times New Roman"/>
                <a:cs typeface="Times New Roman"/>
              </a:rPr>
              <a:t>l</a:t>
            </a:r>
            <a:r>
              <a:rPr sz="2600" spc="-30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75" dirty="0">
                <a:latin typeface="Times New Roman"/>
                <a:cs typeface="Times New Roman"/>
              </a:rPr>
              <a:t>r</a:t>
            </a:r>
            <a:r>
              <a:rPr sz="2600" spc="-150" dirty="0">
                <a:latin typeface="Times New Roman"/>
                <a:cs typeface="Times New Roman"/>
              </a:rPr>
              <a:t>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top</a:t>
            </a:r>
            <a:r>
              <a:rPr sz="2600" spc="-95" dirty="0">
                <a:latin typeface="Times New Roman"/>
                <a:cs typeface="Times New Roman"/>
              </a:rPr>
              <a:t>o</a:t>
            </a:r>
            <a:r>
              <a:rPr sz="2600" spc="-135" dirty="0">
                <a:latin typeface="Times New Roman"/>
                <a:cs typeface="Times New Roman"/>
              </a:rPr>
              <a:t>lo</a:t>
            </a:r>
            <a:r>
              <a:rPr sz="2600" spc="-180" dirty="0">
                <a:latin typeface="Times New Roman"/>
                <a:cs typeface="Times New Roman"/>
              </a:rPr>
              <a:t>g</a:t>
            </a:r>
            <a:r>
              <a:rPr sz="2600" spc="-490" dirty="0">
                <a:latin typeface="Times New Roman"/>
                <a:cs typeface="Times New Roman"/>
              </a:rPr>
              <a:t>y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17145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00" dirty="0">
                <a:latin typeface="Times New Roman"/>
                <a:cs typeface="Times New Roman"/>
              </a:rPr>
              <a:t>Ad</a:t>
            </a:r>
            <a:r>
              <a:rPr sz="2600" spc="-170" dirty="0">
                <a:latin typeface="Times New Roman"/>
                <a:cs typeface="Times New Roman"/>
              </a:rPr>
              <a:t>d</a:t>
            </a:r>
            <a:r>
              <a:rPr sz="2600" spc="-150" dirty="0">
                <a:latin typeface="Times New Roman"/>
                <a:cs typeface="Times New Roman"/>
              </a:rPr>
              <a:t>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del</a:t>
            </a:r>
            <a:r>
              <a:rPr sz="2600" spc="-120" dirty="0">
                <a:latin typeface="Times New Roman"/>
                <a:cs typeface="Times New Roman"/>
              </a:rPr>
              <a:t>e</a:t>
            </a:r>
            <a:r>
              <a:rPr sz="2600" spc="-105" dirty="0">
                <a:latin typeface="Times New Roman"/>
                <a:cs typeface="Times New Roman"/>
              </a:rPr>
              <a:t>ting</a:t>
            </a:r>
            <a:r>
              <a:rPr sz="2600" spc="-75" dirty="0">
                <a:latin typeface="Times New Roman"/>
                <a:cs typeface="Times New Roman"/>
              </a:rPr>
              <a:t> the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o</a:t>
            </a:r>
            <a:r>
              <a:rPr sz="2600" spc="-140" dirty="0">
                <a:latin typeface="Times New Roman"/>
                <a:cs typeface="Times New Roman"/>
              </a:rPr>
              <a:t>mp</a:t>
            </a:r>
            <a:r>
              <a:rPr sz="2600" spc="-120" dirty="0">
                <a:latin typeface="Times New Roman"/>
                <a:cs typeface="Times New Roman"/>
              </a:rPr>
              <a:t>u</a:t>
            </a:r>
            <a:r>
              <a:rPr sz="2600" spc="-10" dirty="0">
                <a:latin typeface="Times New Roman"/>
                <a:cs typeface="Times New Roman"/>
              </a:rPr>
              <a:t>te</a:t>
            </a:r>
            <a:r>
              <a:rPr sz="2600" spc="30" dirty="0">
                <a:latin typeface="Times New Roman"/>
                <a:cs typeface="Times New Roman"/>
              </a:rPr>
              <a:t>r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dist</a:t>
            </a:r>
            <a:r>
              <a:rPr sz="2600" spc="-140" dirty="0">
                <a:latin typeface="Times New Roman"/>
                <a:cs typeface="Times New Roman"/>
              </a:rPr>
              <a:t>u</a:t>
            </a:r>
            <a:r>
              <a:rPr sz="2600" spc="-110" dirty="0">
                <a:latin typeface="Times New Roman"/>
                <a:cs typeface="Times New Roman"/>
              </a:rPr>
              <a:t>rb</a:t>
            </a:r>
            <a:r>
              <a:rPr sz="2600" spc="-100" dirty="0">
                <a:latin typeface="Times New Roman"/>
                <a:cs typeface="Times New Roman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65" dirty="0">
                <a:latin typeface="Times New Roman"/>
                <a:cs typeface="Times New Roman"/>
              </a:rPr>
              <a:t>ne</a:t>
            </a:r>
            <a:r>
              <a:rPr sz="2600" spc="-55" dirty="0">
                <a:latin typeface="Times New Roman"/>
                <a:cs typeface="Times New Roman"/>
              </a:rPr>
              <a:t>t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65" dirty="0">
                <a:latin typeface="Times New Roman"/>
                <a:cs typeface="Times New Roman"/>
              </a:rPr>
              <a:t>ork  </a:t>
            </a:r>
            <a:r>
              <a:rPr sz="2600" spc="-130" dirty="0">
                <a:latin typeface="Times New Roman"/>
                <a:cs typeface="Times New Roman"/>
              </a:rPr>
              <a:t>activity.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40" dirty="0">
                <a:latin typeface="Times New Roman"/>
                <a:cs typeface="Times New Roman"/>
              </a:rPr>
              <a:t>Failure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one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computer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disturbs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whole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network.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27857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15" dirty="0">
                <a:latin typeface="Arial"/>
                <a:cs typeface="Arial"/>
              </a:rPr>
              <a:t>S</a:t>
            </a:r>
            <a:r>
              <a:rPr b="1" spc="-655" dirty="0">
                <a:latin typeface="Arial"/>
                <a:cs typeface="Arial"/>
              </a:rPr>
              <a:t>T</a:t>
            </a:r>
            <a:r>
              <a:rPr b="1" spc="-535" dirty="0">
                <a:latin typeface="Arial"/>
                <a:cs typeface="Arial"/>
              </a:rPr>
              <a:t>AR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670" dirty="0">
                <a:latin typeface="Arial"/>
                <a:cs typeface="Arial"/>
              </a:rPr>
              <a:t>T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310" dirty="0">
                <a:latin typeface="Arial"/>
                <a:cs typeface="Arial"/>
              </a:rPr>
              <a:t>p</a:t>
            </a:r>
            <a:r>
              <a:rPr b="1" spc="-290" dirty="0">
                <a:latin typeface="Arial"/>
                <a:cs typeface="Arial"/>
              </a:rPr>
              <a:t>o</a:t>
            </a:r>
            <a:r>
              <a:rPr b="1" spc="-360" dirty="0">
                <a:latin typeface="Arial"/>
                <a:cs typeface="Arial"/>
              </a:rPr>
              <a:t>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504" y="2194862"/>
            <a:ext cx="4478524" cy="30016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4540" y="991870"/>
            <a:ext cx="72212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latin typeface="Times New Roman"/>
                <a:cs typeface="Times New Roman"/>
              </a:rPr>
              <a:t>In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this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type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topology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all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the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computers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are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connected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single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hub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through </a:t>
            </a:r>
            <a:r>
              <a:rPr sz="1800" spc="-145" dirty="0">
                <a:latin typeface="Times New Roman"/>
                <a:cs typeface="Times New Roman"/>
              </a:rPr>
              <a:t>a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cable.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This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hub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is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the</a:t>
            </a:r>
            <a:r>
              <a:rPr sz="1800" spc="-60" dirty="0">
                <a:latin typeface="Times New Roman"/>
                <a:cs typeface="Times New Roman"/>
              </a:rPr>
              <a:t> central </a:t>
            </a:r>
            <a:r>
              <a:rPr sz="1800" spc="-75" dirty="0">
                <a:latin typeface="Times New Roman"/>
                <a:cs typeface="Times New Roman"/>
              </a:rPr>
              <a:t>node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all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others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nodes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are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connected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r>
              <a:rPr sz="1800" spc="-55" dirty="0">
                <a:latin typeface="Times New Roman"/>
                <a:cs typeface="Times New Roman"/>
              </a:rPr>
              <a:t> the</a:t>
            </a:r>
            <a:r>
              <a:rPr sz="1800" spc="-60" dirty="0">
                <a:latin typeface="Times New Roman"/>
                <a:cs typeface="Times New Roman"/>
              </a:rPr>
              <a:t> central</a:t>
            </a:r>
            <a:r>
              <a:rPr sz="1800" spc="-50" dirty="0">
                <a:latin typeface="Times New Roman"/>
                <a:cs typeface="Times New Roman"/>
              </a:rPr>
              <a:t> node.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0475" y="5412435"/>
            <a:ext cx="50501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5" dirty="0">
                <a:latin typeface="Times New Roman"/>
                <a:cs typeface="Times New Roman"/>
              </a:rPr>
              <a:t>Fe</a:t>
            </a:r>
            <a:r>
              <a:rPr sz="1800" b="1" spc="-105" dirty="0">
                <a:latin typeface="Times New Roman"/>
                <a:cs typeface="Times New Roman"/>
              </a:rPr>
              <a:t>a</a:t>
            </a:r>
            <a:r>
              <a:rPr sz="1800" b="1" spc="-15" dirty="0">
                <a:latin typeface="Times New Roman"/>
                <a:cs typeface="Times New Roman"/>
              </a:rPr>
              <a:t>ture</a:t>
            </a:r>
            <a:r>
              <a:rPr sz="1800" b="1" spc="-10" dirty="0">
                <a:latin typeface="Times New Roman"/>
                <a:cs typeface="Times New Roman"/>
              </a:rPr>
              <a:t>s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Times New Roman"/>
                <a:cs typeface="Times New Roman"/>
              </a:rPr>
              <a:t>of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80" dirty="0">
                <a:latin typeface="Times New Roman"/>
                <a:cs typeface="Times New Roman"/>
              </a:rPr>
              <a:t>S</a:t>
            </a:r>
            <a:r>
              <a:rPr sz="1800" b="1" spc="-30" dirty="0">
                <a:latin typeface="Times New Roman"/>
                <a:cs typeface="Times New Roman"/>
              </a:rPr>
              <a:t>ta</a:t>
            </a:r>
            <a:r>
              <a:rPr sz="1800" b="1" spc="-70" dirty="0">
                <a:latin typeface="Times New Roman"/>
                <a:cs typeface="Times New Roman"/>
              </a:rPr>
              <a:t>r</a:t>
            </a:r>
            <a:r>
              <a:rPr sz="1800" b="1" spc="-280" dirty="0">
                <a:latin typeface="Times New Roman"/>
                <a:cs typeface="Times New Roman"/>
              </a:rPr>
              <a:t> </a:t>
            </a:r>
            <a:r>
              <a:rPr sz="1800" b="1" spc="-355" dirty="0">
                <a:latin typeface="Times New Roman"/>
                <a:cs typeface="Times New Roman"/>
              </a:rPr>
              <a:t>T</a:t>
            </a:r>
            <a:r>
              <a:rPr sz="1800" b="1" spc="60" dirty="0">
                <a:latin typeface="Times New Roman"/>
                <a:cs typeface="Times New Roman"/>
              </a:rPr>
              <a:t>op</a:t>
            </a:r>
            <a:r>
              <a:rPr sz="1800" b="1" spc="45" dirty="0">
                <a:latin typeface="Times New Roman"/>
                <a:cs typeface="Times New Roman"/>
              </a:rPr>
              <a:t>o</a:t>
            </a:r>
            <a:r>
              <a:rPr sz="1800" b="1" spc="35" dirty="0">
                <a:latin typeface="Times New Roman"/>
                <a:cs typeface="Times New Roman"/>
              </a:rPr>
              <a:t>log</a:t>
            </a:r>
            <a:r>
              <a:rPr sz="1800" b="1" dirty="0"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  <a:p>
            <a:pPr marL="12700" marR="403225">
              <a:lnSpc>
                <a:spcPct val="100000"/>
              </a:lnSpc>
            </a:pPr>
            <a:r>
              <a:rPr sz="1800" spc="-114" dirty="0">
                <a:latin typeface="Times New Roman"/>
                <a:cs typeface="Times New Roman"/>
              </a:rPr>
              <a:t>Every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node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30" dirty="0">
                <a:latin typeface="Times New Roman"/>
                <a:cs typeface="Times New Roman"/>
              </a:rPr>
              <a:t>has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its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own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dedicated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connection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the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hub.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Hub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30" dirty="0">
                <a:latin typeface="Times New Roman"/>
                <a:cs typeface="Times New Roman"/>
              </a:rPr>
              <a:t>a</a:t>
            </a:r>
            <a:r>
              <a:rPr sz="1800" spc="-125" dirty="0">
                <a:latin typeface="Times New Roman"/>
                <a:cs typeface="Times New Roman"/>
              </a:rPr>
              <a:t>c</a:t>
            </a:r>
            <a:r>
              <a:rPr sz="1800" spc="-60" dirty="0">
                <a:latin typeface="Times New Roman"/>
                <a:cs typeface="Times New Roman"/>
              </a:rPr>
              <a:t>ts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55" dirty="0">
                <a:latin typeface="Times New Roman"/>
                <a:cs typeface="Times New Roman"/>
              </a:rPr>
              <a:t>a</a:t>
            </a:r>
            <a:r>
              <a:rPr sz="1800" spc="-135" dirty="0">
                <a:latin typeface="Times New Roman"/>
                <a:cs typeface="Times New Roman"/>
              </a:rPr>
              <a:t>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a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r</a:t>
            </a:r>
            <a:r>
              <a:rPr sz="1800" spc="-75" dirty="0">
                <a:latin typeface="Times New Roman"/>
                <a:cs typeface="Times New Roman"/>
              </a:rPr>
              <a:t>epe</a:t>
            </a:r>
            <a:r>
              <a:rPr sz="1800" spc="-155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ter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for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da</a:t>
            </a:r>
            <a:r>
              <a:rPr sz="1800" spc="-60" dirty="0">
                <a:latin typeface="Times New Roman"/>
                <a:cs typeface="Times New Roman"/>
              </a:rPr>
              <a:t>ta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fl</a:t>
            </a:r>
            <a:r>
              <a:rPr sz="1800" spc="-170" dirty="0">
                <a:latin typeface="Times New Roman"/>
                <a:cs typeface="Times New Roman"/>
              </a:rPr>
              <a:t>o</a:t>
            </a:r>
            <a:r>
              <a:rPr sz="1800" spc="-320" dirty="0">
                <a:latin typeface="Times New Roman"/>
                <a:cs typeface="Times New Roman"/>
              </a:rPr>
              <a:t>w</a:t>
            </a:r>
            <a:r>
              <a:rPr sz="1800" spc="75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14" dirty="0">
                <a:latin typeface="Times New Roman"/>
                <a:cs typeface="Times New Roman"/>
              </a:rPr>
              <a:t>Ca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be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used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with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twisted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p</a:t>
            </a:r>
            <a:r>
              <a:rPr sz="1800" spc="-100" dirty="0">
                <a:latin typeface="Times New Roman"/>
                <a:cs typeface="Times New Roman"/>
              </a:rPr>
              <a:t>a</a:t>
            </a:r>
            <a:r>
              <a:rPr sz="1800" spc="-90" dirty="0">
                <a:latin typeface="Times New Roman"/>
                <a:cs typeface="Times New Roman"/>
              </a:rPr>
              <a:t>i</a:t>
            </a:r>
            <a:r>
              <a:rPr sz="1800" spc="-135" dirty="0">
                <a:latin typeface="Times New Roman"/>
                <a:cs typeface="Times New Roman"/>
              </a:rPr>
              <a:t>r</a:t>
            </a:r>
            <a:r>
              <a:rPr sz="1800" spc="75" dirty="0">
                <a:latin typeface="Times New Roman"/>
                <a:cs typeface="Times New Roman"/>
              </a:rPr>
              <a:t>,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Optical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Fib</a:t>
            </a:r>
            <a:r>
              <a:rPr sz="1800" spc="-85" dirty="0">
                <a:latin typeface="Times New Roman"/>
                <a:cs typeface="Times New Roman"/>
              </a:rPr>
              <a:t>r</a:t>
            </a:r>
            <a:r>
              <a:rPr sz="1800" spc="-70" dirty="0">
                <a:latin typeface="Times New Roman"/>
                <a:cs typeface="Times New Roman"/>
              </a:rPr>
              <a:t>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or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c</a:t>
            </a:r>
            <a:r>
              <a:rPr sz="1800" spc="-95" dirty="0">
                <a:latin typeface="Times New Roman"/>
                <a:cs typeface="Times New Roman"/>
              </a:rPr>
              <a:t>o</a:t>
            </a:r>
            <a:r>
              <a:rPr sz="1800" spc="-110" dirty="0">
                <a:latin typeface="Times New Roman"/>
                <a:cs typeface="Times New Roman"/>
              </a:rPr>
              <a:t>ax</a:t>
            </a:r>
            <a:r>
              <a:rPr sz="1800" spc="-100" dirty="0">
                <a:latin typeface="Times New Roman"/>
                <a:cs typeface="Times New Roman"/>
              </a:rPr>
              <a:t>ial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25" dirty="0">
                <a:latin typeface="Times New Roman"/>
                <a:cs typeface="Times New Roman"/>
              </a:rPr>
              <a:t>cab</a:t>
            </a:r>
            <a:r>
              <a:rPr sz="1800" spc="-60" dirty="0">
                <a:latin typeface="Times New Roman"/>
                <a:cs typeface="Times New Roman"/>
              </a:rPr>
              <a:t>l</a:t>
            </a:r>
            <a:r>
              <a:rPr sz="1800" spc="-120" dirty="0">
                <a:latin typeface="Times New Roman"/>
                <a:cs typeface="Times New Roman"/>
              </a:rPr>
              <a:t>e</a:t>
            </a:r>
            <a:r>
              <a:rPr sz="1800" spc="75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3088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465" dirty="0">
                <a:latin typeface="Arial"/>
                <a:cs typeface="Arial"/>
              </a:rPr>
              <a:t>S</a:t>
            </a:r>
            <a:r>
              <a:rPr sz="4000" b="1" spc="-735" dirty="0">
                <a:latin typeface="Arial"/>
                <a:cs typeface="Arial"/>
              </a:rPr>
              <a:t>T</a:t>
            </a:r>
            <a:r>
              <a:rPr sz="4000" b="1" spc="-595" dirty="0">
                <a:latin typeface="Arial"/>
                <a:cs typeface="Arial"/>
              </a:rPr>
              <a:t>AR</a:t>
            </a:r>
            <a:r>
              <a:rPr sz="4000" b="1" spc="-135" dirty="0">
                <a:latin typeface="Arial"/>
                <a:cs typeface="Arial"/>
              </a:rPr>
              <a:t> </a:t>
            </a:r>
            <a:r>
              <a:rPr sz="4000" b="1" spc="-745" dirty="0">
                <a:latin typeface="Arial"/>
                <a:cs typeface="Arial"/>
              </a:rPr>
              <a:t>T</a:t>
            </a:r>
            <a:r>
              <a:rPr sz="4000" b="1" spc="-340" dirty="0">
                <a:latin typeface="Arial"/>
                <a:cs typeface="Arial"/>
              </a:rPr>
              <a:t>o</a:t>
            </a:r>
            <a:r>
              <a:rPr sz="4000" b="1" spc="-335" dirty="0">
                <a:latin typeface="Arial"/>
                <a:cs typeface="Arial"/>
              </a:rPr>
              <a:t>p</a:t>
            </a:r>
            <a:r>
              <a:rPr sz="4000" b="1" spc="-395" dirty="0">
                <a:latin typeface="Arial"/>
                <a:cs typeface="Arial"/>
              </a:rPr>
              <a:t>ology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391158"/>
            <a:ext cx="7430770" cy="4342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5" dirty="0">
                <a:latin typeface="Times New Roman"/>
                <a:cs typeface="Times New Roman"/>
              </a:rPr>
              <a:t>A</a:t>
            </a:r>
            <a:r>
              <a:rPr sz="2200" b="1" spc="-80" dirty="0">
                <a:latin typeface="Times New Roman"/>
                <a:cs typeface="Times New Roman"/>
              </a:rPr>
              <a:t>d</a:t>
            </a:r>
            <a:r>
              <a:rPr sz="2200" b="1" spc="-40" dirty="0">
                <a:latin typeface="Times New Roman"/>
                <a:cs typeface="Times New Roman"/>
              </a:rPr>
              <a:t>v</a:t>
            </a:r>
            <a:r>
              <a:rPr sz="2200" b="1" spc="-20" dirty="0">
                <a:latin typeface="Times New Roman"/>
                <a:cs typeface="Times New Roman"/>
              </a:rPr>
              <a:t>antages </a:t>
            </a:r>
            <a:r>
              <a:rPr sz="2200" b="1" spc="20" dirty="0">
                <a:latin typeface="Times New Roman"/>
                <a:cs typeface="Times New Roman"/>
              </a:rPr>
              <a:t>of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spc="-100" dirty="0">
                <a:latin typeface="Times New Roman"/>
                <a:cs typeface="Times New Roman"/>
              </a:rPr>
              <a:t>St</a:t>
            </a:r>
            <a:r>
              <a:rPr sz="2200" b="1" spc="-90" dirty="0">
                <a:latin typeface="Times New Roman"/>
                <a:cs typeface="Times New Roman"/>
              </a:rPr>
              <a:t>ar</a:t>
            </a:r>
            <a:r>
              <a:rPr sz="2200" b="1" spc="-300" dirty="0">
                <a:latin typeface="Times New Roman"/>
                <a:cs typeface="Times New Roman"/>
              </a:rPr>
              <a:t> </a:t>
            </a:r>
            <a:r>
              <a:rPr sz="2200" b="1" spc="-430" dirty="0">
                <a:latin typeface="Times New Roman"/>
                <a:cs typeface="Times New Roman"/>
              </a:rPr>
              <a:t>T</a:t>
            </a:r>
            <a:r>
              <a:rPr sz="2200" b="1" spc="65" dirty="0">
                <a:latin typeface="Times New Roman"/>
                <a:cs typeface="Times New Roman"/>
              </a:rPr>
              <a:t>opo</a:t>
            </a:r>
            <a:r>
              <a:rPr sz="2200" b="1" spc="25" dirty="0">
                <a:latin typeface="Times New Roman"/>
                <a:cs typeface="Times New Roman"/>
              </a:rPr>
              <a:t>l</a:t>
            </a:r>
            <a:r>
              <a:rPr sz="2200" b="1" spc="35" dirty="0">
                <a:latin typeface="Times New Roman"/>
                <a:cs typeface="Times New Roman"/>
              </a:rPr>
              <a:t>ogy</a:t>
            </a:r>
            <a:endParaRPr sz="22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70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-155" dirty="0">
                <a:latin typeface="Times New Roman"/>
                <a:cs typeface="Times New Roman"/>
              </a:rPr>
              <a:t>Fast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performance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with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few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nodes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low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network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traffic.</a:t>
            </a:r>
            <a:endParaRPr sz="22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75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-114" dirty="0">
                <a:latin typeface="Times New Roman"/>
                <a:cs typeface="Times New Roman"/>
              </a:rPr>
              <a:t>Hub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35" dirty="0">
                <a:latin typeface="Times New Roman"/>
                <a:cs typeface="Times New Roman"/>
              </a:rPr>
              <a:t>can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be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up</a:t>
            </a:r>
            <a:r>
              <a:rPr sz="2200" spc="-80" dirty="0">
                <a:latin typeface="Times New Roman"/>
                <a:cs typeface="Times New Roman"/>
              </a:rPr>
              <a:t>g</a:t>
            </a:r>
            <a:r>
              <a:rPr sz="2200" spc="-90" dirty="0">
                <a:latin typeface="Times New Roman"/>
                <a:cs typeface="Times New Roman"/>
              </a:rPr>
              <a:t>rade</a:t>
            </a:r>
            <a:r>
              <a:rPr sz="2200" spc="-95" dirty="0">
                <a:latin typeface="Times New Roman"/>
                <a:cs typeface="Times New Roman"/>
              </a:rPr>
              <a:t>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50" dirty="0">
                <a:latin typeface="Times New Roman"/>
                <a:cs typeface="Times New Roman"/>
              </a:rPr>
              <a:t>ea</a:t>
            </a:r>
            <a:r>
              <a:rPr sz="2200" spc="-140" dirty="0">
                <a:latin typeface="Times New Roman"/>
                <a:cs typeface="Times New Roman"/>
              </a:rPr>
              <a:t>s</a:t>
            </a:r>
            <a:r>
              <a:rPr sz="2200" spc="-100" dirty="0">
                <a:latin typeface="Times New Roman"/>
                <a:cs typeface="Times New Roman"/>
              </a:rPr>
              <a:t>i</a:t>
            </a:r>
            <a:r>
              <a:rPr sz="2200" spc="-150" dirty="0">
                <a:latin typeface="Times New Roman"/>
                <a:cs typeface="Times New Roman"/>
              </a:rPr>
              <a:t>l</a:t>
            </a:r>
            <a:r>
              <a:rPr sz="2200" spc="-405" dirty="0">
                <a:latin typeface="Times New Roman"/>
                <a:cs typeface="Times New Roman"/>
              </a:rPr>
              <a:t>y</a:t>
            </a:r>
            <a:r>
              <a:rPr sz="2200" spc="9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75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-190" dirty="0">
                <a:latin typeface="Times New Roman"/>
                <a:cs typeface="Times New Roman"/>
              </a:rPr>
              <a:t>Easy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20" dirty="0">
                <a:latin typeface="Times New Roman"/>
                <a:cs typeface="Times New Roman"/>
              </a:rPr>
              <a:t>t</a:t>
            </a:r>
            <a:r>
              <a:rPr sz="2200" spc="-5" dirty="0">
                <a:latin typeface="Times New Roman"/>
                <a:cs typeface="Times New Roman"/>
              </a:rPr>
              <a:t>r</a:t>
            </a:r>
            <a:r>
              <a:rPr sz="2200" spc="-105" dirty="0">
                <a:latin typeface="Times New Roman"/>
                <a:cs typeface="Times New Roman"/>
              </a:rPr>
              <a:t>ou</a:t>
            </a:r>
            <a:r>
              <a:rPr sz="2200" spc="-140" dirty="0">
                <a:latin typeface="Times New Roman"/>
                <a:cs typeface="Times New Roman"/>
              </a:rPr>
              <a:t>b</a:t>
            </a:r>
            <a:r>
              <a:rPr sz="2200" spc="-114" dirty="0">
                <a:latin typeface="Times New Roman"/>
                <a:cs typeface="Times New Roman"/>
              </a:rPr>
              <a:t>les</a:t>
            </a:r>
            <a:r>
              <a:rPr sz="2200" spc="-160" dirty="0">
                <a:latin typeface="Times New Roman"/>
                <a:cs typeface="Times New Roman"/>
              </a:rPr>
              <a:t>h</a:t>
            </a:r>
            <a:r>
              <a:rPr sz="2200" spc="-20" dirty="0">
                <a:latin typeface="Times New Roman"/>
                <a:cs typeface="Times New Roman"/>
              </a:rPr>
              <a:t>oot.</a:t>
            </a:r>
            <a:endParaRPr sz="22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70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-190" dirty="0">
                <a:latin typeface="Times New Roman"/>
                <a:cs typeface="Times New Roman"/>
              </a:rPr>
              <a:t>Easy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s</a:t>
            </a:r>
            <a:r>
              <a:rPr sz="2200" spc="-150" dirty="0">
                <a:latin typeface="Times New Roman"/>
                <a:cs typeface="Times New Roman"/>
              </a:rPr>
              <a:t>e</a:t>
            </a:r>
            <a:r>
              <a:rPr sz="2200" spc="-55" dirty="0">
                <a:latin typeface="Times New Roman"/>
                <a:cs typeface="Times New Roman"/>
              </a:rPr>
              <a:t>tup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an</a:t>
            </a:r>
            <a:r>
              <a:rPr sz="2200" spc="-130" dirty="0">
                <a:latin typeface="Times New Roman"/>
                <a:cs typeface="Times New Roman"/>
              </a:rPr>
              <a:t>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m</a:t>
            </a:r>
            <a:r>
              <a:rPr sz="2200" spc="-90" dirty="0">
                <a:latin typeface="Times New Roman"/>
                <a:cs typeface="Times New Roman"/>
              </a:rPr>
              <a:t>o</a:t>
            </a:r>
            <a:r>
              <a:rPr sz="2200" spc="-130" dirty="0">
                <a:latin typeface="Times New Roman"/>
                <a:cs typeface="Times New Roman"/>
              </a:rPr>
              <a:t>di</a:t>
            </a:r>
            <a:r>
              <a:rPr sz="2200" spc="-105" dirty="0">
                <a:latin typeface="Times New Roman"/>
                <a:cs typeface="Times New Roman"/>
              </a:rPr>
              <a:t>f</a:t>
            </a:r>
            <a:r>
              <a:rPr sz="2200" spc="-405" dirty="0">
                <a:latin typeface="Times New Roman"/>
                <a:cs typeface="Times New Roman"/>
              </a:rPr>
              <a:t>y</a:t>
            </a:r>
            <a:r>
              <a:rPr sz="2200" spc="9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286385" marR="110489" indent="-274320">
              <a:lnSpc>
                <a:spcPct val="80000"/>
              </a:lnSpc>
              <a:spcBef>
                <a:spcPts val="600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-105" dirty="0">
                <a:latin typeface="Times New Roman"/>
                <a:cs typeface="Times New Roman"/>
              </a:rPr>
              <a:t>Only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that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node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affected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which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65" dirty="0">
                <a:latin typeface="Times New Roman"/>
                <a:cs typeface="Times New Roman"/>
              </a:rPr>
              <a:t>has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failed,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imes New Roman"/>
                <a:cs typeface="Times New Roman"/>
              </a:rPr>
              <a:t>rest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nodes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35" dirty="0">
                <a:latin typeface="Times New Roman"/>
                <a:cs typeface="Times New Roman"/>
              </a:rPr>
              <a:t>can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work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smoothly.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200" b="1" spc="-25" dirty="0">
                <a:latin typeface="Times New Roman"/>
                <a:cs typeface="Times New Roman"/>
              </a:rPr>
              <a:t>Disa</a:t>
            </a:r>
            <a:r>
              <a:rPr sz="2200" b="1" spc="-60" dirty="0">
                <a:latin typeface="Times New Roman"/>
                <a:cs typeface="Times New Roman"/>
              </a:rPr>
              <a:t>d</a:t>
            </a:r>
            <a:r>
              <a:rPr sz="2200" b="1" spc="-40" dirty="0">
                <a:latin typeface="Times New Roman"/>
                <a:cs typeface="Times New Roman"/>
              </a:rPr>
              <a:t>v</a:t>
            </a:r>
            <a:r>
              <a:rPr sz="2200" b="1" spc="-20" dirty="0">
                <a:latin typeface="Times New Roman"/>
                <a:cs typeface="Times New Roman"/>
              </a:rPr>
              <a:t>antages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b="1" spc="20" dirty="0">
                <a:latin typeface="Times New Roman"/>
                <a:cs typeface="Times New Roman"/>
              </a:rPr>
              <a:t>of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spc="-100" dirty="0">
                <a:latin typeface="Times New Roman"/>
                <a:cs typeface="Times New Roman"/>
              </a:rPr>
              <a:t>St</a:t>
            </a:r>
            <a:r>
              <a:rPr sz="2200" b="1" spc="-90" dirty="0">
                <a:latin typeface="Times New Roman"/>
                <a:cs typeface="Times New Roman"/>
              </a:rPr>
              <a:t>ar</a:t>
            </a:r>
            <a:r>
              <a:rPr sz="2200" b="1" spc="-300" dirty="0">
                <a:latin typeface="Times New Roman"/>
                <a:cs typeface="Times New Roman"/>
              </a:rPr>
              <a:t> </a:t>
            </a:r>
            <a:r>
              <a:rPr sz="2200" b="1" spc="-430" dirty="0">
                <a:latin typeface="Times New Roman"/>
                <a:cs typeface="Times New Roman"/>
              </a:rPr>
              <a:t>T</a:t>
            </a:r>
            <a:r>
              <a:rPr sz="2200" b="1" spc="65" dirty="0">
                <a:latin typeface="Times New Roman"/>
                <a:cs typeface="Times New Roman"/>
              </a:rPr>
              <a:t>opo</a:t>
            </a:r>
            <a:r>
              <a:rPr sz="2200" b="1" spc="25" dirty="0">
                <a:latin typeface="Times New Roman"/>
                <a:cs typeface="Times New Roman"/>
              </a:rPr>
              <a:t>l</a:t>
            </a:r>
            <a:r>
              <a:rPr sz="2200" b="1" spc="35" dirty="0">
                <a:latin typeface="Times New Roman"/>
                <a:cs typeface="Times New Roman"/>
              </a:rPr>
              <a:t>ogy</a:t>
            </a:r>
            <a:endParaRPr sz="22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70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-130" dirty="0">
                <a:latin typeface="Times New Roman"/>
                <a:cs typeface="Times New Roman"/>
              </a:rPr>
              <a:t>C</a:t>
            </a:r>
            <a:r>
              <a:rPr sz="2200" spc="-90" dirty="0">
                <a:latin typeface="Times New Roman"/>
                <a:cs typeface="Times New Roman"/>
              </a:rPr>
              <a:t>o</a:t>
            </a:r>
            <a:r>
              <a:rPr sz="2200" spc="-70" dirty="0">
                <a:latin typeface="Times New Roman"/>
                <a:cs typeface="Times New Roman"/>
              </a:rPr>
              <a:t>st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install</a:t>
            </a:r>
            <a:r>
              <a:rPr sz="2200" spc="-160" dirty="0">
                <a:latin typeface="Times New Roman"/>
                <a:cs typeface="Times New Roman"/>
              </a:rPr>
              <a:t>a</a:t>
            </a:r>
            <a:r>
              <a:rPr sz="2200" spc="-70" dirty="0">
                <a:latin typeface="Times New Roman"/>
                <a:cs typeface="Times New Roman"/>
              </a:rPr>
              <a:t>tion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is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35" dirty="0">
                <a:latin typeface="Times New Roman"/>
                <a:cs typeface="Times New Roman"/>
              </a:rPr>
              <a:t>hi</a:t>
            </a:r>
            <a:r>
              <a:rPr sz="2200" spc="-180" dirty="0">
                <a:latin typeface="Times New Roman"/>
                <a:cs typeface="Times New Roman"/>
              </a:rPr>
              <a:t>g</a:t>
            </a:r>
            <a:r>
              <a:rPr sz="2200" spc="-25" dirty="0">
                <a:latin typeface="Times New Roman"/>
                <a:cs typeface="Times New Roman"/>
              </a:rPr>
              <a:t>h.</a:t>
            </a:r>
            <a:endParaRPr sz="22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75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-135" dirty="0">
                <a:latin typeface="Times New Roman"/>
                <a:cs typeface="Times New Roman"/>
              </a:rPr>
              <a:t>Expensi</a:t>
            </a:r>
            <a:r>
              <a:rPr sz="2200" spc="-200" dirty="0">
                <a:latin typeface="Times New Roman"/>
                <a:cs typeface="Times New Roman"/>
              </a:rPr>
              <a:t>v</a:t>
            </a:r>
            <a:r>
              <a:rPr sz="2200" spc="-90" dirty="0">
                <a:latin typeface="Times New Roman"/>
                <a:cs typeface="Times New Roman"/>
              </a:rPr>
              <a:t>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to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us</a:t>
            </a:r>
            <a:r>
              <a:rPr sz="2200" spc="-175" dirty="0">
                <a:latin typeface="Times New Roman"/>
                <a:cs typeface="Times New Roman"/>
              </a:rPr>
              <a:t>e</a:t>
            </a:r>
            <a:r>
              <a:rPr sz="2200" spc="9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286385" indent="-274320">
              <a:lnSpc>
                <a:spcPts val="2380"/>
              </a:lnSpc>
              <a:spcBef>
                <a:spcPts val="70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-165" dirty="0">
                <a:latin typeface="Times New Roman"/>
                <a:cs typeface="Times New Roman"/>
              </a:rPr>
              <a:t>If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hub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fails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imes New Roman"/>
                <a:cs typeface="Times New Roman"/>
              </a:rPr>
              <a:t>then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whole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network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stopped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because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all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nodes</a:t>
            </a:r>
            <a:endParaRPr sz="2200">
              <a:latin typeface="Times New Roman"/>
              <a:cs typeface="Times New Roman"/>
            </a:endParaRPr>
          </a:p>
          <a:p>
            <a:pPr marL="286385">
              <a:lnSpc>
                <a:spcPts val="2380"/>
              </a:lnSpc>
            </a:pPr>
            <a:r>
              <a:rPr sz="2200" spc="-95" dirty="0">
                <a:latin typeface="Times New Roman"/>
                <a:cs typeface="Times New Roman"/>
              </a:rPr>
              <a:t>depend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t</a:t>
            </a:r>
            <a:r>
              <a:rPr sz="2200" spc="-80" dirty="0">
                <a:latin typeface="Times New Roman"/>
                <a:cs typeface="Times New Roman"/>
              </a:rPr>
              <a:t>h</a:t>
            </a:r>
            <a:r>
              <a:rPr sz="2200" spc="-85" dirty="0">
                <a:latin typeface="Times New Roman"/>
                <a:cs typeface="Times New Roman"/>
              </a:rPr>
              <a:t>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hu</a:t>
            </a:r>
            <a:r>
              <a:rPr sz="2200" spc="-250" dirty="0">
                <a:latin typeface="Times New Roman"/>
                <a:cs typeface="Times New Roman"/>
              </a:rPr>
              <a:t>b</a:t>
            </a:r>
            <a:r>
              <a:rPr sz="2200" spc="9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70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-100" dirty="0">
                <a:latin typeface="Times New Roman"/>
                <a:cs typeface="Times New Roman"/>
              </a:rPr>
              <a:t>Performance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based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hub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imes New Roman"/>
                <a:cs typeface="Times New Roman"/>
              </a:rPr>
              <a:t>that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is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it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depends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on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its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capacity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2988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80" dirty="0">
                <a:latin typeface="Arial"/>
                <a:cs typeface="Arial"/>
              </a:rPr>
              <a:t>M</a:t>
            </a:r>
            <a:r>
              <a:rPr b="1" spc="-395" dirty="0">
                <a:latin typeface="Arial"/>
                <a:cs typeface="Arial"/>
              </a:rPr>
              <a:t>E</a:t>
            </a:r>
            <a:r>
              <a:rPr b="1" spc="-380" dirty="0">
                <a:latin typeface="Arial"/>
                <a:cs typeface="Arial"/>
              </a:rPr>
              <a:t>S</a:t>
            </a:r>
            <a:r>
              <a:rPr b="1" spc="-290" dirty="0">
                <a:latin typeface="Arial"/>
                <a:cs typeface="Arial"/>
              </a:rPr>
              <a:t>H</a:t>
            </a:r>
            <a:r>
              <a:rPr b="1" spc="-135" dirty="0">
                <a:latin typeface="Arial"/>
                <a:cs typeface="Arial"/>
              </a:rPr>
              <a:t> </a:t>
            </a:r>
            <a:r>
              <a:rPr b="1" spc="-670" dirty="0">
                <a:latin typeface="Arial"/>
                <a:cs typeface="Arial"/>
              </a:rPr>
              <a:t>T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305" dirty="0">
                <a:latin typeface="Arial"/>
                <a:cs typeface="Arial"/>
              </a:rPr>
              <a:t>polo</a:t>
            </a:r>
            <a:r>
              <a:rPr b="1" spc="-335" dirty="0">
                <a:latin typeface="Arial"/>
                <a:cs typeface="Arial"/>
              </a:rPr>
              <a:t>g</a:t>
            </a:r>
            <a:r>
              <a:rPr b="1" spc="-509" dirty="0">
                <a:latin typeface="Arial"/>
                <a:cs typeface="Arial"/>
              </a:rPr>
              <a:t>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9877" y="2200363"/>
            <a:ext cx="4592959" cy="28395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69644" y="1144270"/>
            <a:ext cx="69926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Times New Roman"/>
                <a:cs typeface="Times New Roman"/>
              </a:rPr>
              <a:t>It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is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point-to-point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connection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other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nodes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devices.</a:t>
            </a:r>
            <a:r>
              <a:rPr sz="1800" spc="-295" dirty="0">
                <a:latin typeface="Times New Roman"/>
                <a:cs typeface="Times New Roman"/>
              </a:rPr>
              <a:t> </a:t>
            </a:r>
            <a:r>
              <a:rPr sz="1800" spc="-130" dirty="0">
                <a:latin typeface="Times New Roman"/>
                <a:cs typeface="Times New Roman"/>
              </a:rPr>
              <a:t>All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the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network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nodes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are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connected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each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other.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135" dirty="0">
                <a:latin typeface="Times New Roman"/>
                <a:cs typeface="Times New Roman"/>
              </a:rPr>
              <a:t>Mesh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30" dirty="0">
                <a:latin typeface="Times New Roman"/>
                <a:cs typeface="Times New Roman"/>
              </a:rPr>
              <a:t>has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n(n-1)/2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physical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channels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link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devices.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4394" y="5412435"/>
            <a:ext cx="259207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5" dirty="0">
                <a:latin typeface="Times New Roman"/>
                <a:cs typeface="Times New Roman"/>
              </a:rPr>
              <a:t>Fe</a:t>
            </a:r>
            <a:r>
              <a:rPr sz="1800" b="1" spc="-105" dirty="0">
                <a:latin typeface="Times New Roman"/>
                <a:cs typeface="Times New Roman"/>
              </a:rPr>
              <a:t>a</a:t>
            </a:r>
            <a:r>
              <a:rPr sz="1800" b="1" spc="-15" dirty="0">
                <a:latin typeface="Times New Roman"/>
                <a:cs typeface="Times New Roman"/>
              </a:rPr>
              <a:t>ture</a:t>
            </a:r>
            <a:r>
              <a:rPr sz="1800" b="1" spc="-10" dirty="0">
                <a:latin typeface="Times New Roman"/>
                <a:cs typeface="Times New Roman"/>
              </a:rPr>
              <a:t>s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Times New Roman"/>
                <a:cs typeface="Times New Roman"/>
              </a:rPr>
              <a:t>of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Mesh</a:t>
            </a:r>
            <a:r>
              <a:rPr sz="1800" b="1" spc="-265" dirty="0">
                <a:latin typeface="Times New Roman"/>
                <a:cs typeface="Times New Roman"/>
              </a:rPr>
              <a:t> </a:t>
            </a:r>
            <a:r>
              <a:rPr sz="1800" b="1" spc="-355" dirty="0">
                <a:latin typeface="Times New Roman"/>
                <a:cs typeface="Times New Roman"/>
              </a:rPr>
              <a:t>T</a:t>
            </a:r>
            <a:r>
              <a:rPr sz="1800" b="1" spc="60" dirty="0">
                <a:latin typeface="Times New Roman"/>
                <a:cs typeface="Times New Roman"/>
              </a:rPr>
              <a:t>op</a:t>
            </a:r>
            <a:r>
              <a:rPr sz="1800" b="1" spc="45" dirty="0">
                <a:latin typeface="Times New Roman"/>
                <a:cs typeface="Times New Roman"/>
              </a:rPr>
              <a:t>o</a:t>
            </a:r>
            <a:r>
              <a:rPr sz="1800" b="1" spc="35" dirty="0">
                <a:latin typeface="Times New Roman"/>
                <a:cs typeface="Times New Roman"/>
              </a:rPr>
              <a:t>log</a:t>
            </a:r>
            <a:r>
              <a:rPr sz="1800" b="1" dirty="0"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  <a:p>
            <a:pPr marL="12700" marR="1193800">
              <a:lnSpc>
                <a:spcPct val="100000"/>
              </a:lnSpc>
            </a:pPr>
            <a:r>
              <a:rPr sz="1800" spc="-135" dirty="0">
                <a:latin typeface="Times New Roman"/>
                <a:cs typeface="Times New Roman"/>
              </a:rPr>
              <a:t>F</a:t>
            </a:r>
            <a:r>
              <a:rPr sz="1800" spc="-114" dirty="0">
                <a:latin typeface="Times New Roman"/>
                <a:cs typeface="Times New Roman"/>
              </a:rPr>
              <a:t>u</a:t>
            </a:r>
            <a:r>
              <a:rPr sz="1800" spc="-75" dirty="0">
                <a:latin typeface="Times New Roman"/>
                <a:cs typeface="Times New Roman"/>
              </a:rPr>
              <a:t>l</a:t>
            </a:r>
            <a:r>
              <a:rPr sz="1800" spc="-110" dirty="0">
                <a:latin typeface="Times New Roman"/>
                <a:cs typeface="Times New Roman"/>
              </a:rPr>
              <a:t>l</a:t>
            </a:r>
            <a:r>
              <a:rPr sz="1800" spc="-150" dirty="0">
                <a:latin typeface="Times New Roman"/>
                <a:cs typeface="Times New Roman"/>
              </a:rPr>
              <a:t>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con</a:t>
            </a:r>
            <a:r>
              <a:rPr sz="1800" spc="-90" dirty="0">
                <a:latin typeface="Times New Roman"/>
                <a:cs typeface="Times New Roman"/>
              </a:rPr>
              <a:t>ne</a:t>
            </a:r>
            <a:r>
              <a:rPr sz="1800" spc="-80" dirty="0">
                <a:latin typeface="Times New Roman"/>
                <a:cs typeface="Times New Roman"/>
              </a:rPr>
              <a:t>c</a:t>
            </a:r>
            <a:r>
              <a:rPr sz="1800" spc="-10" dirty="0">
                <a:latin typeface="Times New Roman"/>
                <a:cs typeface="Times New Roman"/>
              </a:rPr>
              <a:t>ted.  </a:t>
            </a:r>
            <a:r>
              <a:rPr sz="1800" spc="-65" dirty="0">
                <a:latin typeface="Times New Roman"/>
                <a:cs typeface="Times New Roman"/>
              </a:rPr>
              <a:t>Robust.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Not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flexi</a:t>
            </a:r>
            <a:r>
              <a:rPr sz="1800" spc="-145" dirty="0">
                <a:latin typeface="Times New Roman"/>
                <a:cs typeface="Times New Roman"/>
              </a:rPr>
              <a:t>b</a:t>
            </a:r>
            <a:r>
              <a:rPr sz="1800" spc="-60" dirty="0">
                <a:latin typeface="Times New Roman"/>
                <a:cs typeface="Times New Roman"/>
              </a:rPr>
              <a:t>l</a:t>
            </a:r>
            <a:r>
              <a:rPr sz="1800" spc="-120" dirty="0">
                <a:latin typeface="Times New Roman"/>
                <a:cs typeface="Times New Roman"/>
              </a:rPr>
              <a:t>e</a:t>
            </a:r>
            <a:r>
              <a:rPr sz="1800" spc="75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33127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10" dirty="0"/>
              <a:t>MESH</a:t>
            </a:r>
            <a:r>
              <a:rPr sz="4000" spc="-55" dirty="0"/>
              <a:t> </a:t>
            </a:r>
            <a:r>
              <a:rPr sz="4000" spc="-85" dirty="0"/>
              <a:t>Topology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58239"/>
            <a:ext cx="5598795" cy="42786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600" b="1" spc="-55" dirty="0">
                <a:latin typeface="Times New Roman"/>
                <a:cs typeface="Times New Roman"/>
              </a:rPr>
              <a:t>A</a:t>
            </a:r>
            <a:r>
              <a:rPr sz="2600" b="1" spc="-85" dirty="0">
                <a:latin typeface="Times New Roman"/>
                <a:cs typeface="Times New Roman"/>
              </a:rPr>
              <a:t>d</a:t>
            </a:r>
            <a:r>
              <a:rPr sz="2600" b="1" spc="-35" dirty="0">
                <a:latin typeface="Times New Roman"/>
                <a:cs typeface="Times New Roman"/>
              </a:rPr>
              <a:t>v</a:t>
            </a:r>
            <a:r>
              <a:rPr sz="2600" b="1" spc="-20" dirty="0">
                <a:latin typeface="Times New Roman"/>
                <a:cs typeface="Times New Roman"/>
              </a:rPr>
              <a:t>antages</a:t>
            </a:r>
            <a:r>
              <a:rPr sz="2600" b="1" spc="-95" dirty="0">
                <a:latin typeface="Times New Roman"/>
                <a:cs typeface="Times New Roman"/>
              </a:rPr>
              <a:t> </a:t>
            </a:r>
            <a:r>
              <a:rPr sz="2600" b="1" spc="30" dirty="0">
                <a:latin typeface="Times New Roman"/>
                <a:cs typeface="Times New Roman"/>
              </a:rPr>
              <a:t>of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spc="-20" dirty="0">
                <a:latin typeface="Times New Roman"/>
                <a:cs typeface="Times New Roman"/>
              </a:rPr>
              <a:t>Mesh</a:t>
            </a:r>
            <a:r>
              <a:rPr sz="2600" b="1" spc="-390" dirty="0">
                <a:latin typeface="Times New Roman"/>
                <a:cs typeface="Times New Roman"/>
              </a:rPr>
              <a:t> </a:t>
            </a:r>
            <a:r>
              <a:rPr sz="2600" b="1" spc="-490" dirty="0">
                <a:latin typeface="Times New Roman"/>
                <a:cs typeface="Times New Roman"/>
              </a:rPr>
              <a:t>T</a:t>
            </a:r>
            <a:r>
              <a:rPr sz="2600" b="1" spc="70" dirty="0">
                <a:latin typeface="Times New Roman"/>
                <a:cs typeface="Times New Roman"/>
              </a:rPr>
              <a:t>opolo</a:t>
            </a:r>
            <a:r>
              <a:rPr sz="2600" b="1" spc="80" dirty="0">
                <a:latin typeface="Times New Roman"/>
                <a:cs typeface="Times New Roman"/>
              </a:rPr>
              <a:t>g</a:t>
            </a:r>
            <a:r>
              <a:rPr sz="2600" b="1" dirty="0">
                <a:latin typeface="Times New Roman"/>
                <a:cs typeface="Times New Roman"/>
              </a:rPr>
              <a:t>y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90" dirty="0">
                <a:latin typeface="Times New Roman"/>
                <a:cs typeface="Times New Roman"/>
              </a:rPr>
              <a:t>Each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connection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carry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its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own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data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load.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-160" dirty="0">
                <a:latin typeface="Times New Roman"/>
                <a:cs typeface="Times New Roman"/>
              </a:rPr>
              <a:t>b</a:t>
            </a:r>
            <a:r>
              <a:rPr sz="2600" spc="-105" dirty="0">
                <a:latin typeface="Times New Roman"/>
                <a:cs typeface="Times New Roman"/>
              </a:rPr>
              <a:t>us</a:t>
            </a:r>
            <a:r>
              <a:rPr sz="2600" spc="-75" dirty="0">
                <a:latin typeface="Times New Roman"/>
                <a:cs typeface="Times New Roman"/>
              </a:rPr>
              <a:t>t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25" dirty="0">
                <a:latin typeface="Times New Roman"/>
                <a:cs typeface="Times New Roman"/>
              </a:rPr>
              <a:t>F</a:t>
            </a:r>
            <a:r>
              <a:rPr sz="2600" spc="-165" dirty="0">
                <a:latin typeface="Times New Roman"/>
                <a:cs typeface="Times New Roman"/>
              </a:rPr>
              <a:t>au</a:t>
            </a:r>
            <a:r>
              <a:rPr sz="2600" spc="-105" dirty="0">
                <a:latin typeface="Times New Roman"/>
                <a:cs typeface="Times New Roman"/>
              </a:rPr>
              <a:t>l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diag</a:t>
            </a:r>
            <a:r>
              <a:rPr sz="2600" spc="-190" dirty="0">
                <a:latin typeface="Times New Roman"/>
                <a:cs typeface="Times New Roman"/>
              </a:rPr>
              <a:t>n</a:t>
            </a:r>
            <a:r>
              <a:rPr sz="2600" spc="-130" dirty="0">
                <a:latin typeface="Times New Roman"/>
                <a:cs typeface="Times New Roman"/>
              </a:rPr>
              <a:t>osed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easi</a:t>
            </a:r>
            <a:r>
              <a:rPr sz="2600" spc="-160" dirty="0">
                <a:latin typeface="Times New Roman"/>
                <a:cs typeface="Times New Roman"/>
              </a:rPr>
              <a:t>l</a:t>
            </a:r>
            <a:r>
              <a:rPr sz="2600" spc="-490" dirty="0">
                <a:latin typeface="Times New Roman"/>
                <a:cs typeface="Times New Roman"/>
              </a:rPr>
              <a:t>y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75" dirty="0">
                <a:latin typeface="Times New Roman"/>
                <a:cs typeface="Times New Roman"/>
              </a:rPr>
              <a:t>P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135" dirty="0">
                <a:latin typeface="Times New Roman"/>
                <a:cs typeface="Times New Roman"/>
              </a:rPr>
              <a:t>vid</a:t>
            </a:r>
            <a:r>
              <a:rPr sz="2600" spc="-155" dirty="0">
                <a:latin typeface="Times New Roman"/>
                <a:cs typeface="Times New Roman"/>
              </a:rPr>
              <a:t>e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sec</a:t>
            </a:r>
            <a:r>
              <a:rPr sz="2600" spc="-175" dirty="0">
                <a:latin typeface="Times New Roman"/>
                <a:cs typeface="Times New Roman"/>
              </a:rPr>
              <a:t>u</a:t>
            </a:r>
            <a:r>
              <a:rPr sz="2600" spc="75" dirty="0">
                <a:latin typeface="Times New Roman"/>
                <a:cs typeface="Times New Roman"/>
              </a:rPr>
              <a:t>r</a:t>
            </a:r>
            <a:r>
              <a:rPr sz="2600" spc="-105" dirty="0">
                <a:latin typeface="Times New Roman"/>
                <a:cs typeface="Times New Roman"/>
              </a:rPr>
              <a:t>ity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p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25" dirty="0">
                <a:latin typeface="Times New Roman"/>
                <a:cs typeface="Times New Roman"/>
              </a:rPr>
              <a:t>i</a:t>
            </a:r>
            <a:r>
              <a:rPr sz="2600" spc="-260" dirty="0">
                <a:latin typeface="Times New Roman"/>
                <a:cs typeface="Times New Roman"/>
              </a:rPr>
              <a:t>v</a:t>
            </a:r>
            <a:r>
              <a:rPr sz="2600" spc="-185" dirty="0">
                <a:latin typeface="Times New Roman"/>
                <a:cs typeface="Times New Roman"/>
              </a:rPr>
              <a:t>a</a:t>
            </a:r>
            <a:r>
              <a:rPr sz="2600" spc="-160" dirty="0">
                <a:latin typeface="Times New Roman"/>
                <a:cs typeface="Times New Roman"/>
              </a:rPr>
              <a:t>c</a:t>
            </a:r>
            <a:r>
              <a:rPr sz="2600" spc="-490" dirty="0">
                <a:latin typeface="Times New Roman"/>
                <a:cs typeface="Times New Roman"/>
              </a:rPr>
              <a:t>y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600" b="1" spc="-40" dirty="0">
                <a:latin typeface="Times New Roman"/>
                <a:cs typeface="Times New Roman"/>
              </a:rPr>
              <a:t>Dis</a:t>
            </a:r>
            <a:r>
              <a:rPr sz="2600" b="1" spc="-55" dirty="0">
                <a:latin typeface="Times New Roman"/>
                <a:cs typeface="Times New Roman"/>
              </a:rPr>
              <a:t>a</a:t>
            </a:r>
            <a:r>
              <a:rPr sz="2600" b="1" spc="5" dirty="0">
                <a:latin typeface="Times New Roman"/>
                <a:cs typeface="Times New Roman"/>
              </a:rPr>
              <a:t>d</a:t>
            </a:r>
            <a:r>
              <a:rPr sz="2600" b="1" spc="-35" dirty="0">
                <a:latin typeface="Times New Roman"/>
                <a:cs typeface="Times New Roman"/>
              </a:rPr>
              <a:t>v</a:t>
            </a:r>
            <a:r>
              <a:rPr sz="2600" b="1" spc="-20" dirty="0">
                <a:latin typeface="Times New Roman"/>
                <a:cs typeface="Times New Roman"/>
              </a:rPr>
              <a:t>antages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spc="30" dirty="0">
                <a:latin typeface="Times New Roman"/>
                <a:cs typeface="Times New Roman"/>
              </a:rPr>
              <a:t>of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spc="-20" dirty="0">
                <a:latin typeface="Times New Roman"/>
                <a:cs typeface="Times New Roman"/>
              </a:rPr>
              <a:t>Mesh</a:t>
            </a:r>
            <a:r>
              <a:rPr sz="2600" b="1" spc="-390" dirty="0">
                <a:latin typeface="Times New Roman"/>
                <a:cs typeface="Times New Roman"/>
              </a:rPr>
              <a:t> </a:t>
            </a:r>
            <a:r>
              <a:rPr sz="2600" b="1" spc="-490" dirty="0">
                <a:latin typeface="Times New Roman"/>
                <a:cs typeface="Times New Roman"/>
              </a:rPr>
              <a:t>T</a:t>
            </a:r>
            <a:r>
              <a:rPr sz="2600" b="1" spc="70" dirty="0">
                <a:latin typeface="Times New Roman"/>
                <a:cs typeface="Times New Roman"/>
              </a:rPr>
              <a:t>opolo</a:t>
            </a:r>
            <a:r>
              <a:rPr sz="2600" b="1" spc="80" dirty="0">
                <a:latin typeface="Times New Roman"/>
                <a:cs typeface="Times New Roman"/>
              </a:rPr>
              <a:t>g</a:t>
            </a:r>
            <a:r>
              <a:rPr sz="2600" b="1" dirty="0">
                <a:latin typeface="Times New Roman"/>
                <a:cs typeface="Times New Roman"/>
              </a:rPr>
              <a:t>y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20" dirty="0">
                <a:latin typeface="Times New Roman"/>
                <a:cs typeface="Times New Roman"/>
              </a:rPr>
              <a:t>Installation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configuration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difficult.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70" dirty="0">
                <a:latin typeface="Times New Roman"/>
                <a:cs typeface="Times New Roman"/>
              </a:rPr>
              <a:t>Ca</a:t>
            </a:r>
            <a:r>
              <a:rPr sz="2600" spc="-185" dirty="0">
                <a:latin typeface="Times New Roman"/>
                <a:cs typeface="Times New Roman"/>
              </a:rPr>
              <a:t>b</a:t>
            </a:r>
            <a:r>
              <a:rPr sz="2600" spc="-130" dirty="0">
                <a:latin typeface="Times New Roman"/>
                <a:cs typeface="Times New Roman"/>
              </a:rPr>
              <a:t>lin</a:t>
            </a:r>
            <a:r>
              <a:rPr sz="2600" spc="-175" dirty="0">
                <a:latin typeface="Times New Roman"/>
                <a:cs typeface="Times New Roman"/>
              </a:rPr>
              <a:t>g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c</a:t>
            </a:r>
            <a:r>
              <a:rPr sz="2600" spc="-90" dirty="0">
                <a:latin typeface="Times New Roman"/>
                <a:cs typeface="Times New Roman"/>
              </a:rPr>
              <a:t>ost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mo</a:t>
            </a:r>
            <a:r>
              <a:rPr sz="2600" spc="-75" dirty="0">
                <a:latin typeface="Times New Roman"/>
                <a:cs typeface="Times New Roman"/>
              </a:rPr>
              <a:t>r</a:t>
            </a:r>
            <a:r>
              <a:rPr sz="2600" spc="-150" dirty="0">
                <a:latin typeface="Times New Roman"/>
                <a:cs typeface="Times New Roman"/>
              </a:rPr>
              <a:t>e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95" dirty="0">
                <a:latin typeface="Times New Roman"/>
                <a:cs typeface="Times New Roman"/>
              </a:rPr>
              <a:t>Bulk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wi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50" dirty="0">
                <a:latin typeface="Times New Roman"/>
                <a:cs typeface="Times New Roman"/>
              </a:rPr>
              <a:t>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i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</a:t>
            </a:r>
            <a:r>
              <a:rPr sz="2600" spc="-114" dirty="0">
                <a:latin typeface="Times New Roman"/>
                <a:cs typeface="Times New Roman"/>
              </a:rPr>
              <a:t>eq</a:t>
            </a:r>
            <a:r>
              <a:rPr sz="2600" spc="-130" dirty="0">
                <a:latin typeface="Times New Roman"/>
                <a:cs typeface="Times New Roman"/>
              </a:rPr>
              <a:t>u</a:t>
            </a:r>
            <a:r>
              <a:rPr sz="2600" spc="-45" dirty="0">
                <a:latin typeface="Times New Roman"/>
                <a:cs typeface="Times New Roman"/>
              </a:rPr>
              <a:t>i</a:t>
            </a:r>
            <a:r>
              <a:rPr sz="2600" spc="-75" dirty="0">
                <a:latin typeface="Times New Roman"/>
                <a:cs typeface="Times New Roman"/>
              </a:rPr>
              <a:t>r</a:t>
            </a:r>
            <a:r>
              <a:rPr sz="2600" spc="-35" dirty="0">
                <a:latin typeface="Times New Roman"/>
                <a:cs typeface="Times New Roman"/>
              </a:rPr>
              <a:t>ed.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2818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45" dirty="0">
                <a:latin typeface="Arial"/>
                <a:cs typeface="Arial"/>
              </a:rPr>
              <a:t>T</a:t>
            </a:r>
            <a:r>
              <a:rPr b="1" spc="-385" dirty="0">
                <a:latin typeface="Arial"/>
                <a:cs typeface="Arial"/>
              </a:rPr>
              <a:t>R</a:t>
            </a:r>
            <a:r>
              <a:rPr b="1" spc="-430" dirty="0">
                <a:latin typeface="Arial"/>
                <a:cs typeface="Arial"/>
              </a:rPr>
              <a:t>EE</a:t>
            </a:r>
            <a:r>
              <a:rPr b="1" spc="-125" dirty="0">
                <a:latin typeface="Arial"/>
                <a:cs typeface="Arial"/>
              </a:rPr>
              <a:t> </a:t>
            </a:r>
            <a:r>
              <a:rPr b="1" spc="-670" dirty="0">
                <a:latin typeface="Arial"/>
                <a:cs typeface="Arial"/>
              </a:rPr>
              <a:t>T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310" dirty="0">
                <a:latin typeface="Arial"/>
                <a:cs typeface="Arial"/>
              </a:rPr>
              <a:t>p</a:t>
            </a:r>
            <a:r>
              <a:rPr b="1" spc="-290" dirty="0">
                <a:latin typeface="Arial"/>
                <a:cs typeface="Arial"/>
              </a:rPr>
              <a:t>o</a:t>
            </a:r>
            <a:r>
              <a:rPr b="1" spc="-360" dirty="0">
                <a:latin typeface="Arial"/>
                <a:cs typeface="Arial"/>
              </a:rPr>
              <a:t>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31" y="1866916"/>
            <a:ext cx="7203859" cy="280153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0739" y="1068070"/>
            <a:ext cx="7078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Times New Roman"/>
                <a:cs typeface="Times New Roman"/>
              </a:rPr>
              <a:t>It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30" dirty="0">
                <a:latin typeface="Times New Roman"/>
                <a:cs typeface="Times New Roman"/>
              </a:rPr>
              <a:t>has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a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root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node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all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other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nodes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are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connected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forming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hierarchy.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It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is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also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called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hierarchical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topology.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It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should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at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least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Times New Roman"/>
                <a:cs typeface="Times New Roman"/>
              </a:rPr>
              <a:t>have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three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levels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the </a:t>
            </a:r>
            <a:r>
              <a:rPr sz="1800" spc="-85" dirty="0">
                <a:latin typeface="Times New Roman"/>
                <a:cs typeface="Times New Roman"/>
              </a:rPr>
              <a:t>hierarchy.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0798" y="5183885"/>
            <a:ext cx="35147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5" dirty="0">
                <a:latin typeface="Times New Roman"/>
                <a:cs typeface="Times New Roman"/>
              </a:rPr>
              <a:t>Fe</a:t>
            </a:r>
            <a:r>
              <a:rPr sz="1800" b="1" spc="-105" dirty="0">
                <a:latin typeface="Times New Roman"/>
                <a:cs typeface="Times New Roman"/>
              </a:rPr>
              <a:t>a</a:t>
            </a:r>
            <a:r>
              <a:rPr sz="1800" b="1" spc="-15" dirty="0">
                <a:latin typeface="Times New Roman"/>
                <a:cs typeface="Times New Roman"/>
              </a:rPr>
              <a:t>ture</a:t>
            </a:r>
            <a:r>
              <a:rPr sz="1800" b="1" spc="-10" dirty="0">
                <a:latin typeface="Times New Roman"/>
                <a:cs typeface="Times New Roman"/>
              </a:rPr>
              <a:t>s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Times New Roman"/>
                <a:cs typeface="Times New Roman"/>
              </a:rPr>
              <a:t>of</a:t>
            </a:r>
            <a:r>
              <a:rPr sz="1800" b="1" spc="-260" dirty="0">
                <a:latin typeface="Times New Roman"/>
                <a:cs typeface="Times New Roman"/>
              </a:rPr>
              <a:t> </a:t>
            </a:r>
            <a:r>
              <a:rPr sz="1800" b="1" spc="-340" dirty="0">
                <a:latin typeface="Times New Roman"/>
                <a:cs typeface="Times New Roman"/>
              </a:rPr>
              <a:t>T</a:t>
            </a:r>
            <a:r>
              <a:rPr sz="1800" b="1" spc="5" dirty="0">
                <a:latin typeface="Times New Roman"/>
                <a:cs typeface="Times New Roman"/>
              </a:rPr>
              <a:t>ree</a:t>
            </a:r>
            <a:r>
              <a:rPr sz="1800" b="1" spc="-265" dirty="0">
                <a:latin typeface="Times New Roman"/>
                <a:cs typeface="Times New Roman"/>
              </a:rPr>
              <a:t> </a:t>
            </a:r>
            <a:r>
              <a:rPr sz="1800" b="1" spc="-355" dirty="0">
                <a:latin typeface="Times New Roman"/>
                <a:cs typeface="Times New Roman"/>
              </a:rPr>
              <a:t>T</a:t>
            </a:r>
            <a:r>
              <a:rPr sz="1800" b="1" spc="60" dirty="0">
                <a:latin typeface="Times New Roman"/>
                <a:cs typeface="Times New Roman"/>
              </a:rPr>
              <a:t>op</a:t>
            </a:r>
            <a:r>
              <a:rPr sz="1800" b="1" spc="45" dirty="0">
                <a:latin typeface="Times New Roman"/>
                <a:cs typeface="Times New Roman"/>
              </a:rPr>
              <a:t>o</a:t>
            </a:r>
            <a:r>
              <a:rPr sz="1800" b="1" spc="35" dirty="0">
                <a:latin typeface="Times New Roman"/>
                <a:cs typeface="Times New Roman"/>
              </a:rPr>
              <a:t>log</a:t>
            </a:r>
            <a:r>
              <a:rPr sz="1800" b="1" dirty="0"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800" spc="-105" dirty="0">
                <a:latin typeface="Times New Roman"/>
                <a:cs typeface="Times New Roman"/>
              </a:rPr>
              <a:t>Idea</a:t>
            </a:r>
            <a:r>
              <a:rPr sz="1800" spc="-70" dirty="0">
                <a:latin typeface="Times New Roman"/>
                <a:cs typeface="Times New Roman"/>
              </a:rPr>
              <a:t>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if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65" dirty="0">
                <a:latin typeface="Times New Roman"/>
                <a:cs typeface="Times New Roman"/>
              </a:rPr>
              <a:t>w</a:t>
            </a:r>
            <a:r>
              <a:rPr sz="1800" spc="-35" dirty="0">
                <a:latin typeface="Times New Roman"/>
                <a:cs typeface="Times New Roman"/>
              </a:rPr>
              <a:t>o</a:t>
            </a:r>
            <a:r>
              <a:rPr sz="1800" spc="-20" dirty="0">
                <a:latin typeface="Times New Roman"/>
                <a:cs typeface="Times New Roman"/>
              </a:rPr>
              <a:t>r</a:t>
            </a:r>
            <a:r>
              <a:rPr sz="1800" spc="-85" dirty="0">
                <a:latin typeface="Times New Roman"/>
                <a:cs typeface="Times New Roman"/>
              </a:rPr>
              <a:t>ks</a:t>
            </a:r>
            <a:r>
              <a:rPr sz="1800" spc="-50" dirty="0">
                <a:latin typeface="Times New Roman"/>
                <a:cs typeface="Times New Roman"/>
              </a:rPr>
              <a:t>t</a:t>
            </a:r>
            <a:r>
              <a:rPr sz="1800" spc="-155" dirty="0">
                <a:latin typeface="Times New Roman"/>
                <a:cs typeface="Times New Roman"/>
              </a:rPr>
              <a:t>a</a:t>
            </a:r>
            <a:r>
              <a:rPr sz="1800" spc="-55" dirty="0">
                <a:latin typeface="Times New Roman"/>
                <a:cs typeface="Times New Roman"/>
              </a:rPr>
              <a:t>tion</a:t>
            </a:r>
            <a:r>
              <a:rPr sz="1800" spc="-140" dirty="0">
                <a:latin typeface="Times New Roman"/>
                <a:cs typeface="Times New Roman"/>
              </a:rPr>
              <a:t>s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are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lo</a:t>
            </a:r>
            <a:r>
              <a:rPr sz="1800" spc="-90" dirty="0">
                <a:latin typeface="Times New Roman"/>
                <a:cs typeface="Times New Roman"/>
              </a:rPr>
              <a:t>c</a:t>
            </a:r>
            <a:r>
              <a:rPr sz="1800" spc="-155" dirty="0">
                <a:latin typeface="Times New Roman"/>
                <a:cs typeface="Times New Roman"/>
              </a:rPr>
              <a:t>a</a:t>
            </a:r>
            <a:r>
              <a:rPr sz="1800" spc="-40" dirty="0">
                <a:latin typeface="Times New Roman"/>
                <a:cs typeface="Times New Roman"/>
              </a:rPr>
              <a:t>ted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g</a:t>
            </a:r>
            <a:r>
              <a:rPr sz="1800" spc="10" dirty="0">
                <a:latin typeface="Times New Roman"/>
                <a:cs typeface="Times New Roman"/>
              </a:rPr>
              <a:t>r</a:t>
            </a:r>
            <a:r>
              <a:rPr sz="1800" spc="-80" dirty="0">
                <a:latin typeface="Times New Roman"/>
                <a:cs typeface="Times New Roman"/>
              </a:rPr>
              <a:t>o</a:t>
            </a:r>
            <a:r>
              <a:rPr sz="1800" spc="-75" dirty="0">
                <a:latin typeface="Times New Roman"/>
                <a:cs typeface="Times New Roman"/>
              </a:rPr>
              <a:t>u</a:t>
            </a:r>
            <a:r>
              <a:rPr sz="1800" spc="-120" dirty="0">
                <a:latin typeface="Times New Roman"/>
                <a:cs typeface="Times New Roman"/>
              </a:rPr>
              <a:t>p</a:t>
            </a:r>
            <a:r>
              <a:rPr sz="1800" spc="-130" dirty="0">
                <a:latin typeface="Times New Roman"/>
                <a:cs typeface="Times New Roman"/>
              </a:rPr>
              <a:t>s</a:t>
            </a:r>
            <a:r>
              <a:rPr sz="1800" spc="75" dirty="0">
                <a:latin typeface="Times New Roman"/>
                <a:cs typeface="Times New Roman"/>
              </a:rPr>
              <a:t>.  </a:t>
            </a:r>
            <a:r>
              <a:rPr sz="1800" spc="-100" dirty="0">
                <a:latin typeface="Times New Roman"/>
                <a:cs typeface="Times New Roman"/>
              </a:rPr>
              <a:t>Used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in</a:t>
            </a:r>
            <a:r>
              <a:rPr sz="1800" spc="-27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W</a:t>
            </a:r>
            <a:r>
              <a:rPr sz="1800" spc="-80" dirty="0">
                <a:latin typeface="Times New Roman"/>
                <a:cs typeface="Times New Roman"/>
              </a:rPr>
              <a:t>ide</a:t>
            </a:r>
            <a:r>
              <a:rPr sz="1800" spc="-20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Times New Roman"/>
                <a:cs typeface="Times New Roman"/>
              </a:rPr>
              <a:t>A</a:t>
            </a:r>
            <a:r>
              <a:rPr sz="1800" spc="-80" dirty="0">
                <a:latin typeface="Times New Roman"/>
                <a:cs typeface="Times New Roman"/>
              </a:rPr>
              <a:t>r</a:t>
            </a:r>
            <a:r>
              <a:rPr sz="1800" spc="-105" dirty="0">
                <a:latin typeface="Times New Roman"/>
                <a:cs typeface="Times New Roman"/>
              </a:rPr>
              <a:t>ea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N</a:t>
            </a:r>
            <a:r>
              <a:rPr sz="1800" spc="-40" dirty="0">
                <a:latin typeface="Times New Roman"/>
                <a:cs typeface="Times New Roman"/>
              </a:rPr>
              <a:t>et</a:t>
            </a:r>
            <a:r>
              <a:rPr sz="1800" spc="-135" dirty="0">
                <a:latin typeface="Times New Roman"/>
                <a:cs typeface="Times New Roman"/>
              </a:rPr>
              <a:t>w</a:t>
            </a:r>
            <a:r>
              <a:rPr sz="1800" spc="-35" dirty="0">
                <a:latin typeface="Times New Roman"/>
                <a:cs typeface="Times New Roman"/>
              </a:rPr>
              <a:t>o</a:t>
            </a:r>
            <a:r>
              <a:rPr sz="1800" spc="-20" dirty="0">
                <a:latin typeface="Times New Roman"/>
                <a:cs typeface="Times New Roman"/>
              </a:rPr>
              <a:t>rk.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31235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495" dirty="0">
                <a:latin typeface="Arial"/>
                <a:cs typeface="Arial"/>
              </a:rPr>
              <a:t>T</a:t>
            </a:r>
            <a:r>
              <a:rPr sz="4000" b="1" spc="-480" dirty="0">
                <a:latin typeface="Arial"/>
                <a:cs typeface="Arial"/>
              </a:rPr>
              <a:t>R</a:t>
            </a:r>
            <a:r>
              <a:rPr sz="4000" b="1" spc="-434" dirty="0">
                <a:latin typeface="Arial"/>
                <a:cs typeface="Arial"/>
              </a:rPr>
              <a:t>E</a:t>
            </a:r>
            <a:r>
              <a:rPr sz="4000" b="1" spc="-480" dirty="0">
                <a:latin typeface="Arial"/>
                <a:cs typeface="Arial"/>
              </a:rPr>
              <a:t>E</a:t>
            </a:r>
            <a:r>
              <a:rPr sz="4000" b="1" spc="-135" dirty="0">
                <a:latin typeface="Arial"/>
                <a:cs typeface="Arial"/>
              </a:rPr>
              <a:t> </a:t>
            </a:r>
            <a:r>
              <a:rPr sz="4000" b="1" spc="-745" dirty="0">
                <a:latin typeface="Arial"/>
                <a:cs typeface="Arial"/>
              </a:rPr>
              <a:t>T</a:t>
            </a:r>
            <a:r>
              <a:rPr sz="4000" b="1" spc="-340" dirty="0">
                <a:latin typeface="Arial"/>
                <a:cs typeface="Arial"/>
              </a:rPr>
              <a:t>o</a:t>
            </a:r>
            <a:r>
              <a:rPr sz="4000" b="1" spc="-335" dirty="0">
                <a:latin typeface="Arial"/>
                <a:cs typeface="Arial"/>
              </a:rPr>
              <a:t>p</a:t>
            </a:r>
            <a:r>
              <a:rPr sz="4000" b="1" spc="-395" dirty="0">
                <a:latin typeface="Arial"/>
                <a:cs typeface="Arial"/>
              </a:rPr>
              <a:t>ology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368907"/>
            <a:ext cx="6089015" cy="435483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600" b="1" spc="-55" dirty="0">
                <a:latin typeface="Times New Roman"/>
                <a:cs typeface="Times New Roman"/>
              </a:rPr>
              <a:t>A</a:t>
            </a:r>
            <a:r>
              <a:rPr sz="2600" b="1" spc="-85" dirty="0">
                <a:latin typeface="Times New Roman"/>
                <a:cs typeface="Times New Roman"/>
              </a:rPr>
              <a:t>d</a:t>
            </a:r>
            <a:r>
              <a:rPr sz="2600" b="1" spc="-35" dirty="0">
                <a:latin typeface="Times New Roman"/>
                <a:cs typeface="Times New Roman"/>
              </a:rPr>
              <a:t>v</a:t>
            </a:r>
            <a:r>
              <a:rPr sz="2600" b="1" spc="-20" dirty="0">
                <a:latin typeface="Times New Roman"/>
                <a:cs typeface="Times New Roman"/>
              </a:rPr>
              <a:t>antages</a:t>
            </a:r>
            <a:r>
              <a:rPr sz="2600" b="1" spc="-95" dirty="0">
                <a:latin typeface="Times New Roman"/>
                <a:cs typeface="Times New Roman"/>
              </a:rPr>
              <a:t> </a:t>
            </a:r>
            <a:r>
              <a:rPr sz="2600" b="1" spc="30" dirty="0">
                <a:latin typeface="Times New Roman"/>
                <a:cs typeface="Times New Roman"/>
              </a:rPr>
              <a:t>of</a:t>
            </a:r>
            <a:r>
              <a:rPr sz="2600" b="1" spc="-380" dirty="0">
                <a:latin typeface="Times New Roman"/>
                <a:cs typeface="Times New Roman"/>
              </a:rPr>
              <a:t> </a:t>
            </a:r>
            <a:r>
              <a:rPr sz="2600" b="1" spc="-480" dirty="0">
                <a:latin typeface="Times New Roman"/>
                <a:cs typeface="Times New Roman"/>
              </a:rPr>
              <a:t>T</a:t>
            </a:r>
            <a:r>
              <a:rPr sz="2600" b="1" spc="10" dirty="0">
                <a:latin typeface="Times New Roman"/>
                <a:cs typeface="Times New Roman"/>
              </a:rPr>
              <a:t>ree</a:t>
            </a:r>
            <a:r>
              <a:rPr sz="2600" b="1" spc="-385" dirty="0">
                <a:latin typeface="Times New Roman"/>
                <a:cs typeface="Times New Roman"/>
              </a:rPr>
              <a:t> </a:t>
            </a:r>
            <a:r>
              <a:rPr sz="2600" b="1" spc="-490" dirty="0">
                <a:latin typeface="Times New Roman"/>
                <a:cs typeface="Times New Roman"/>
              </a:rPr>
              <a:t>T</a:t>
            </a:r>
            <a:r>
              <a:rPr sz="2600" b="1" spc="70" dirty="0">
                <a:latin typeface="Times New Roman"/>
                <a:cs typeface="Times New Roman"/>
              </a:rPr>
              <a:t>opolo</a:t>
            </a:r>
            <a:r>
              <a:rPr sz="2600" b="1" spc="80" dirty="0">
                <a:latin typeface="Times New Roman"/>
                <a:cs typeface="Times New Roman"/>
              </a:rPr>
              <a:t>g</a:t>
            </a:r>
            <a:r>
              <a:rPr sz="2600" b="1" dirty="0">
                <a:latin typeface="Times New Roman"/>
                <a:cs typeface="Times New Roman"/>
              </a:rPr>
              <a:t>y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9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25" dirty="0">
                <a:latin typeface="Times New Roman"/>
                <a:cs typeface="Times New Roman"/>
              </a:rPr>
              <a:t>Extension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bus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star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topologies.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9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60" dirty="0">
                <a:latin typeface="Times New Roman"/>
                <a:cs typeface="Times New Roman"/>
              </a:rPr>
              <a:t>Expa</a:t>
            </a:r>
            <a:r>
              <a:rPr sz="2600" spc="-170" dirty="0">
                <a:latin typeface="Times New Roman"/>
                <a:cs typeface="Times New Roman"/>
              </a:rPr>
              <a:t>n</a:t>
            </a:r>
            <a:r>
              <a:rPr sz="2600" spc="-135" dirty="0">
                <a:latin typeface="Times New Roman"/>
                <a:cs typeface="Times New Roman"/>
              </a:rPr>
              <a:t>sion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no</a:t>
            </a:r>
            <a:r>
              <a:rPr sz="2600" spc="-125" dirty="0">
                <a:latin typeface="Times New Roman"/>
                <a:cs typeface="Times New Roman"/>
              </a:rPr>
              <a:t>d</a:t>
            </a:r>
            <a:r>
              <a:rPr sz="2600" spc="-150" dirty="0">
                <a:latin typeface="Times New Roman"/>
                <a:cs typeface="Times New Roman"/>
              </a:rPr>
              <a:t>es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possi</a:t>
            </a:r>
            <a:r>
              <a:rPr sz="2600" spc="-210" dirty="0">
                <a:latin typeface="Times New Roman"/>
                <a:cs typeface="Times New Roman"/>
              </a:rPr>
              <a:t>b</a:t>
            </a:r>
            <a:r>
              <a:rPr sz="2600" spc="-80" dirty="0">
                <a:latin typeface="Times New Roman"/>
                <a:cs typeface="Times New Roman"/>
              </a:rPr>
              <a:t>l</a:t>
            </a:r>
            <a:r>
              <a:rPr sz="2600" spc="-120" dirty="0">
                <a:latin typeface="Times New Roman"/>
                <a:cs typeface="Times New Roman"/>
              </a:rPr>
              <a:t>e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eas</a:t>
            </a:r>
            <a:r>
              <a:rPr sz="2600" spc="-490" dirty="0">
                <a:latin typeface="Times New Roman"/>
                <a:cs typeface="Times New Roman"/>
              </a:rPr>
              <a:t>y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9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95" dirty="0">
                <a:latin typeface="Times New Roman"/>
                <a:cs typeface="Times New Roman"/>
              </a:rPr>
              <a:t>Easi</a:t>
            </a:r>
            <a:r>
              <a:rPr sz="2600" spc="-170" dirty="0">
                <a:latin typeface="Times New Roman"/>
                <a:cs typeface="Times New Roman"/>
              </a:rPr>
              <a:t>l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ma</a:t>
            </a:r>
            <a:r>
              <a:rPr sz="2600" spc="-150" dirty="0">
                <a:latin typeface="Times New Roman"/>
                <a:cs typeface="Times New Roman"/>
              </a:rPr>
              <a:t>n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235" dirty="0">
                <a:latin typeface="Times New Roman"/>
                <a:cs typeface="Times New Roman"/>
              </a:rPr>
              <a:t>g</a:t>
            </a:r>
            <a:r>
              <a:rPr sz="2600" spc="-105" dirty="0">
                <a:latin typeface="Times New Roman"/>
                <a:cs typeface="Times New Roman"/>
              </a:rPr>
              <a:t>ed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a</a:t>
            </a:r>
            <a:r>
              <a:rPr sz="2600" spc="-180" dirty="0">
                <a:latin typeface="Times New Roman"/>
                <a:cs typeface="Times New Roman"/>
              </a:rPr>
              <a:t>n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main</a:t>
            </a:r>
            <a:r>
              <a:rPr sz="2600" spc="-85" dirty="0">
                <a:latin typeface="Times New Roman"/>
                <a:cs typeface="Times New Roman"/>
              </a:rPr>
              <a:t>t</a:t>
            </a:r>
            <a:r>
              <a:rPr sz="2600" spc="-130" dirty="0">
                <a:latin typeface="Times New Roman"/>
                <a:cs typeface="Times New Roman"/>
              </a:rPr>
              <a:t>aine</a:t>
            </a:r>
            <a:r>
              <a:rPr sz="2600" spc="-165" dirty="0">
                <a:latin typeface="Times New Roman"/>
                <a:cs typeface="Times New Roman"/>
              </a:rPr>
              <a:t>d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8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0" dirty="0">
                <a:latin typeface="Times New Roman"/>
                <a:cs typeface="Times New Roman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r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5" dirty="0">
                <a:latin typeface="Times New Roman"/>
                <a:cs typeface="Times New Roman"/>
              </a:rPr>
              <a:t> de</a:t>
            </a:r>
            <a:r>
              <a:rPr sz="2600" spc="-50" dirty="0">
                <a:latin typeface="Times New Roman"/>
                <a:cs typeface="Times New Roman"/>
              </a:rPr>
              <a:t>t</a:t>
            </a:r>
            <a:r>
              <a:rPr sz="2600" spc="-85" dirty="0">
                <a:latin typeface="Times New Roman"/>
                <a:cs typeface="Times New Roman"/>
              </a:rPr>
              <a:t>ec</a:t>
            </a:r>
            <a:r>
              <a:rPr sz="2600" spc="-70" dirty="0">
                <a:latin typeface="Times New Roman"/>
                <a:cs typeface="Times New Roman"/>
              </a:rPr>
              <a:t>t</a:t>
            </a:r>
            <a:r>
              <a:rPr sz="2600" spc="-114" dirty="0">
                <a:latin typeface="Times New Roman"/>
                <a:cs typeface="Times New Roman"/>
              </a:rPr>
              <a:t>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easi</a:t>
            </a:r>
            <a:r>
              <a:rPr sz="2600" spc="-160" dirty="0">
                <a:latin typeface="Times New Roman"/>
                <a:cs typeface="Times New Roman"/>
              </a:rPr>
              <a:t>l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d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150" dirty="0">
                <a:latin typeface="Times New Roman"/>
                <a:cs typeface="Times New Roman"/>
              </a:rPr>
              <a:t>e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600" b="1" spc="-15" dirty="0">
                <a:latin typeface="Times New Roman"/>
                <a:cs typeface="Times New Roman"/>
              </a:rPr>
              <a:t>Di</a:t>
            </a:r>
            <a:r>
              <a:rPr sz="2600" b="1" spc="-25" dirty="0">
                <a:latin typeface="Times New Roman"/>
                <a:cs typeface="Times New Roman"/>
              </a:rPr>
              <a:t>s</a:t>
            </a:r>
            <a:r>
              <a:rPr sz="2600" b="1" spc="-30" dirty="0">
                <a:latin typeface="Times New Roman"/>
                <a:cs typeface="Times New Roman"/>
              </a:rPr>
              <a:t>a</a:t>
            </a:r>
            <a:r>
              <a:rPr sz="2600" b="1" spc="-85" dirty="0">
                <a:latin typeface="Times New Roman"/>
                <a:cs typeface="Times New Roman"/>
              </a:rPr>
              <a:t>d</a:t>
            </a:r>
            <a:r>
              <a:rPr sz="2600" b="1" spc="-35" dirty="0">
                <a:latin typeface="Times New Roman"/>
                <a:cs typeface="Times New Roman"/>
              </a:rPr>
              <a:t>v</a:t>
            </a:r>
            <a:r>
              <a:rPr sz="2600" b="1" spc="-45" dirty="0">
                <a:latin typeface="Times New Roman"/>
                <a:cs typeface="Times New Roman"/>
              </a:rPr>
              <a:t>a</a:t>
            </a:r>
            <a:r>
              <a:rPr sz="2600" b="1" spc="-60" dirty="0">
                <a:latin typeface="Times New Roman"/>
                <a:cs typeface="Times New Roman"/>
              </a:rPr>
              <a:t>n</a:t>
            </a:r>
            <a:r>
              <a:rPr sz="2600" b="1" spc="-15" dirty="0">
                <a:latin typeface="Times New Roman"/>
                <a:cs typeface="Times New Roman"/>
              </a:rPr>
              <a:t>tage</a:t>
            </a:r>
            <a:r>
              <a:rPr sz="2600" b="1" spc="-10" dirty="0">
                <a:latin typeface="Times New Roman"/>
                <a:cs typeface="Times New Roman"/>
              </a:rPr>
              <a:t>s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spc="30" dirty="0">
                <a:latin typeface="Times New Roman"/>
                <a:cs typeface="Times New Roman"/>
              </a:rPr>
              <a:t>of</a:t>
            </a:r>
            <a:r>
              <a:rPr sz="2600" b="1" spc="-385" dirty="0">
                <a:latin typeface="Times New Roman"/>
                <a:cs typeface="Times New Roman"/>
              </a:rPr>
              <a:t> </a:t>
            </a:r>
            <a:r>
              <a:rPr sz="2600" b="1" spc="-480" dirty="0">
                <a:latin typeface="Times New Roman"/>
                <a:cs typeface="Times New Roman"/>
              </a:rPr>
              <a:t>T</a:t>
            </a:r>
            <a:r>
              <a:rPr sz="2600" b="1" spc="10" dirty="0">
                <a:latin typeface="Times New Roman"/>
                <a:cs typeface="Times New Roman"/>
              </a:rPr>
              <a:t>ree</a:t>
            </a:r>
            <a:r>
              <a:rPr sz="2600" b="1" spc="-375" dirty="0">
                <a:latin typeface="Times New Roman"/>
                <a:cs typeface="Times New Roman"/>
              </a:rPr>
              <a:t> </a:t>
            </a:r>
            <a:r>
              <a:rPr sz="2600" b="1" spc="-490" dirty="0">
                <a:latin typeface="Times New Roman"/>
                <a:cs typeface="Times New Roman"/>
              </a:rPr>
              <a:t>T</a:t>
            </a:r>
            <a:r>
              <a:rPr sz="2600" b="1" spc="65" dirty="0">
                <a:latin typeface="Times New Roman"/>
                <a:cs typeface="Times New Roman"/>
              </a:rPr>
              <a:t>opology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9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60" dirty="0">
                <a:latin typeface="Times New Roman"/>
                <a:cs typeface="Times New Roman"/>
              </a:rPr>
              <a:t>He</a:t>
            </a:r>
            <a:r>
              <a:rPr sz="2600" spc="-200" dirty="0">
                <a:latin typeface="Times New Roman"/>
                <a:cs typeface="Times New Roman"/>
              </a:rPr>
              <a:t>a</a:t>
            </a:r>
            <a:r>
              <a:rPr sz="2600" spc="-165" dirty="0">
                <a:latin typeface="Times New Roman"/>
                <a:cs typeface="Times New Roman"/>
              </a:rPr>
              <a:t>vi</a:t>
            </a:r>
            <a:r>
              <a:rPr sz="2600" spc="-170" dirty="0">
                <a:latin typeface="Times New Roman"/>
                <a:cs typeface="Times New Roman"/>
              </a:rPr>
              <a:t>l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ca</a:t>
            </a:r>
            <a:r>
              <a:rPr sz="2600" spc="-225" dirty="0">
                <a:latin typeface="Times New Roman"/>
                <a:cs typeface="Times New Roman"/>
              </a:rPr>
              <a:t>b</a:t>
            </a:r>
            <a:r>
              <a:rPr sz="2600" spc="-55" dirty="0">
                <a:latin typeface="Times New Roman"/>
                <a:cs typeface="Times New Roman"/>
              </a:rPr>
              <a:t>led.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8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40" dirty="0">
                <a:latin typeface="Times New Roman"/>
                <a:cs typeface="Times New Roman"/>
              </a:rPr>
              <a:t>Costly.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9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90" dirty="0">
                <a:latin typeface="Times New Roman"/>
                <a:cs typeface="Times New Roman"/>
              </a:rPr>
              <a:t>If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mo</a:t>
            </a:r>
            <a:r>
              <a:rPr sz="2600" spc="-7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120" dirty="0">
                <a:latin typeface="Times New Roman"/>
                <a:cs typeface="Times New Roman"/>
              </a:rPr>
              <a:t>o</a:t>
            </a:r>
            <a:r>
              <a:rPr sz="2600" spc="-135" dirty="0">
                <a:latin typeface="Times New Roman"/>
                <a:cs typeface="Times New Roman"/>
              </a:rPr>
              <a:t>des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ad</a:t>
            </a:r>
            <a:r>
              <a:rPr sz="2600" spc="-160" dirty="0">
                <a:latin typeface="Times New Roman"/>
                <a:cs typeface="Times New Roman"/>
              </a:rPr>
              <a:t>d</a:t>
            </a:r>
            <a:r>
              <a:rPr sz="2600" spc="-105" dirty="0">
                <a:latin typeface="Times New Roman"/>
                <a:cs typeface="Times New Roman"/>
              </a:rPr>
              <a:t>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main</a:t>
            </a:r>
            <a:r>
              <a:rPr sz="2600" spc="-80" dirty="0">
                <a:latin typeface="Times New Roman"/>
                <a:cs typeface="Times New Roman"/>
              </a:rPr>
              <a:t>t</a:t>
            </a:r>
            <a:r>
              <a:rPr sz="2600" spc="-140" dirty="0">
                <a:latin typeface="Times New Roman"/>
                <a:cs typeface="Times New Roman"/>
              </a:rPr>
              <a:t>en</a:t>
            </a:r>
            <a:r>
              <a:rPr sz="2600" spc="-145" dirty="0">
                <a:latin typeface="Times New Roman"/>
                <a:cs typeface="Times New Roman"/>
              </a:rPr>
              <a:t>a</a:t>
            </a:r>
            <a:r>
              <a:rPr sz="2600" spc="-140" dirty="0">
                <a:latin typeface="Times New Roman"/>
                <a:cs typeface="Times New Roman"/>
              </a:rPr>
              <a:t>nc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diffic</a:t>
            </a:r>
            <a:r>
              <a:rPr sz="2600" spc="-204" dirty="0">
                <a:latin typeface="Times New Roman"/>
                <a:cs typeface="Times New Roman"/>
              </a:rPr>
              <a:t>u</a:t>
            </a:r>
            <a:r>
              <a:rPr sz="2600" spc="10" dirty="0">
                <a:latin typeface="Times New Roman"/>
                <a:cs typeface="Times New Roman"/>
              </a:rPr>
              <a:t>lt.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9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95" dirty="0">
                <a:latin typeface="Times New Roman"/>
                <a:cs typeface="Times New Roman"/>
              </a:rPr>
              <a:t>Centra</a:t>
            </a:r>
            <a:r>
              <a:rPr sz="2600" spc="-55" dirty="0">
                <a:latin typeface="Times New Roman"/>
                <a:cs typeface="Times New Roman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hub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f</a:t>
            </a:r>
            <a:r>
              <a:rPr sz="2600" spc="-114" dirty="0">
                <a:latin typeface="Times New Roman"/>
                <a:cs typeface="Times New Roman"/>
              </a:rPr>
              <a:t>ails</a:t>
            </a:r>
            <a:r>
              <a:rPr sz="2600" spc="-80" dirty="0">
                <a:latin typeface="Times New Roman"/>
                <a:cs typeface="Times New Roman"/>
              </a:rPr>
              <a:t>,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ne</a:t>
            </a:r>
            <a:r>
              <a:rPr sz="2600" spc="-55" dirty="0">
                <a:latin typeface="Times New Roman"/>
                <a:cs typeface="Times New Roman"/>
              </a:rPr>
              <a:t>t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80" dirty="0">
                <a:latin typeface="Times New Roman"/>
                <a:cs typeface="Times New Roman"/>
              </a:rPr>
              <a:t>ork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f</a:t>
            </a:r>
            <a:r>
              <a:rPr sz="2600" spc="-155" dirty="0">
                <a:latin typeface="Times New Roman"/>
                <a:cs typeface="Times New Roman"/>
              </a:rPr>
              <a:t>ail</a:t>
            </a:r>
            <a:r>
              <a:rPr sz="2600" spc="-225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202438"/>
            <a:ext cx="33070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80" dirty="0">
                <a:solidFill>
                  <a:srgbClr val="696363"/>
                </a:solidFill>
                <a:latin typeface="Arial"/>
                <a:cs typeface="Arial"/>
              </a:rPr>
              <a:t>H</a:t>
            </a:r>
            <a:r>
              <a:rPr sz="3600" b="1" spc="-560" dirty="0">
                <a:solidFill>
                  <a:srgbClr val="696363"/>
                </a:solidFill>
                <a:latin typeface="Arial"/>
                <a:cs typeface="Arial"/>
              </a:rPr>
              <a:t>Y</a:t>
            </a:r>
            <a:r>
              <a:rPr sz="3600" b="1" spc="-415" dirty="0">
                <a:solidFill>
                  <a:srgbClr val="696363"/>
                </a:solidFill>
                <a:latin typeface="Arial"/>
                <a:cs typeface="Arial"/>
              </a:rPr>
              <a:t>B</a:t>
            </a:r>
            <a:r>
              <a:rPr sz="3600" b="1" spc="-405" dirty="0">
                <a:solidFill>
                  <a:srgbClr val="696363"/>
                </a:solidFill>
                <a:latin typeface="Arial"/>
                <a:cs typeface="Arial"/>
              </a:rPr>
              <a:t>R</a:t>
            </a:r>
            <a:r>
              <a:rPr sz="3600" b="1" spc="-190" dirty="0">
                <a:solidFill>
                  <a:srgbClr val="696363"/>
                </a:solidFill>
                <a:latin typeface="Arial"/>
                <a:cs typeface="Arial"/>
              </a:rPr>
              <a:t>ID</a:t>
            </a:r>
            <a:r>
              <a:rPr sz="3600" b="1" spc="-140" dirty="0">
                <a:solidFill>
                  <a:srgbClr val="696363"/>
                </a:solidFill>
                <a:latin typeface="Arial"/>
                <a:cs typeface="Arial"/>
              </a:rPr>
              <a:t> </a:t>
            </a:r>
            <a:r>
              <a:rPr sz="3600" b="1" spc="-670" dirty="0">
                <a:solidFill>
                  <a:srgbClr val="696363"/>
                </a:solidFill>
                <a:latin typeface="Arial"/>
                <a:cs typeface="Arial"/>
              </a:rPr>
              <a:t>T</a:t>
            </a:r>
            <a:r>
              <a:rPr sz="3600" b="1" spc="-325" dirty="0">
                <a:solidFill>
                  <a:srgbClr val="696363"/>
                </a:solidFill>
                <a:latin typeface="Arial"/>
                <a:cs typeface="Arial"/>
              </a:rPr>
              <a:t>o</a:t>
            </a:r>
            <a:r>
              <a:rPr sz="3600" b="1" spc="-310" dirty="0">
                <a:solidFill>
                  <a:srgbClr val="696363"/>
                </a:solidFill>
                <a:latin typeface="Arial"/>
                <a:cs typeface="Arial"/>
              </a:rPr>
              <a:t>p</a:t>
            </a:r>
            <a:r>
              <a:rPr sz="3600" b="1" spc="-290" dirty="0">
                <a:solidFill>
                  <a:srgbClr val="696363"/>
                </a:solidFill>
                <a:latin typeface="Arial"/>
                <a:cs typeface="Arial"/>
              </a:rPr>
              <a:t>o</a:t>
            </a:r>
            <a:r>
              <a:rPr sz="3600" b="1" spc="-360" dirty="0">
                <a:solidFill>
                  <a:srgbClr val="696363"/>
                </a:solidFill>
                <a:latin typeface="Arial"/>
                <a:cs typeface="Arial"/>
              </a:rPr>
              <a:t>logy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2286000"/>
            <a:ext cx="5928359" cy="45719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8340" y="991870"/>
            <a:ext cx="79705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Times New Roman"/>
                <a:cs typeface="Times New Roman"/>
              </a:rPr>
              <a:t>It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is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two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different</a:t>
            </a:r>
            <a:r>
              <a:rPr sz="1800" spc="-80" dirty="0">
                <a:latin typeface="Times New Roman"/>
                <a:cs typeface="Times New Roman"/>
              </a:rPr>
              <a:t> types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topologies </a:t>
            </a:r>
            <a:r>
              <a:rPr sz="1800" spc="-100" dirty="0">
                <a:latin typeface="Times New Roman"/>
                <a:cs typeface="Times New Roman"/>
              </a:rPr>
              <a:t>which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mixture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two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more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topologies.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For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example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if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in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an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office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one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department</a:t>
            </a:r>
            <a:r>
              <a:rPr sz="1800" spc="-65" dirty="0">
                <a:latin typeface="Times New Roman"/>
                <a:cs typeface="Times New Roman"/>
              </a:rPr>
              <a:t> ring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topology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is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used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in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another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star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topology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is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used, 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connecting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these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topologies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will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result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in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Hybrid</a:t>
            </a:r>
            <a:r>
              <a:rPr sz="1800" spc="-270" dirty="0">
                <a:latin typeface="Times New Roman"/>
                <a:cs typeface="Times New Roman"/>
              </a:rPr>
              <a:t> </a:t>
            </a:r>
            <a:r>
              <a:rPr sz="1800" spc="-125" dirty="0">
                <a:latin typeface="Times New Roman"/>
                <a:cs typeface="Times New Roman"/>
              </a:rPr>
              <a:t>Topology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(ring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topology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star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topology).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413969"/>
            <a:ext cx="36722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495" dirty="0">
                <a:latin typeface="Arial"/>
                <a:cs typeface="Arial"/>
              </a:rPr>
              <a:t>H</a:t>
            </a:r>
            <a:r>
              <a:rPr sz="4000" b="1" spc="-440" dirty="0">
                <a:latin typeface="Arial"/>
                <a:cs typeface="Arial"/>
              </a:rPr>
              <a:t>Y</a:t>
            </a:r>
            <a:r>
              <a:rPr sz="4000" b="1" spc="-465" dirty="0">
                <a:latin typeface="Arial"/>
                <a:cs typeface="Arial"/>
              </a:rPr>
              <a:t>B</a:t>
            </a:r>
            <a:r>
              <a:rPr sz="4000" b="1" spc="-450" dirty="0">
                <a:latin typeface="Arial"/>
                <a:cs typeface="Arial"/>
              </a:rPr>
              <a:t>R</a:t>
            </a:r>
            <a:r>
              <a:rPr sz="4000" b="1" spc="-210" dirty="0">
                <a:latin typeface="Arial"/>
                <a:cs typeface="Arial"/>
              </a:rPr>
              <a:t>ID</a:t>
            </a:r>
            <a:r>
              <a:rPr sz="4000" b="1" spc="-125" dirty="0">
                <a:latin typeface="Arial"/>
                <a:cs typeface="Arial"/>
              </a:rPr>
              <a:t> </a:t>
            </a:r>
            <a:r>
              <a:rPr sz="4000" b="1" spc="-745" dirty="0">
                <a:latin typeface="Arial"/>
                <a:cs typeface="Arial"/>
              </a:rPr>
              <a:t>T</a:t>
            </a:r>
            <a:r>
              <a:rPr sz="4000" b="1" spc="-340" dirty="0">
                <a:latin typeface="Arial"/>
                <a:cs typeface="Arial"/>
              </a:rPr>
              <a:t>opolo</a:t>
            </a:r>
            <a:r>
              <a:rPr sz="4000" b="1" spc="-380" dirty="0">
                <a:latin typeface="Arial"/>
                <a:cs typeface="Arial"/>
              </a:rPr>
              <a:t>g</a:t>
            </a:r>
            <a:r>
              <a:rPr sz="4000" b="1" spc="-570" dirty="0">
                <a:latin typeface="Arial"/>
                <a:cs typeface="Arial"/>
              </a:rPr>
              <a:t>y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383538"/>
            <a:ext cx="6699250" cy="4373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25" dirty="0">
                <a:latin typeface="Times New Roman"/>
                <a:cs typeface="Times New Roman"/>
              </a:rPr>
              <a:t>Fe</a:t>
            </a:r>
            <a:r>
              <a:rPr sz="2400" b="1" spc="-130" dirty="0">
                <a:latin typeface="Times New Roman"/>
                <a:cs typeface="Times New Roman"/>
              </a:rPr>
              <a:t>a</a:t>
            </a:r>
            <a:r>
              <a:rPr sz="2400" b="1" spc="-5" dirty="0">
                <a:latin typeface="Times New Roman"/>
                <a:cs typeface="Times New Roman"/>
              </a:rPr>
              <a:t>tur</a:t>
            </a:r>
            <a:r>
              <a:rPr sz="2400" b="1" dirty="0">
                <a:latin typeface="Times New Roman"/>
                <a:cs typeface="Times New Roman"/>
              </a:rPr>
              <a:t>e</a:t>
            </a:r>
            <a:r>
              <a:rPr sz="2400" b="1" spc="-60" dirty="0">
                <a:latin typeface="Times New Roman"/>
                <a:cs typeface="Times New Roman"/>
              </a:rPr>
              <a:t>s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spc="25" dirty="0">
                <a:latin typeface="Times New Roman"/>
                <a:cs typeface="Times New Roman"/>
              </a:rPr>
              <a:t>of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Hy</a:t>
            </a:r>
            <a:r>
              <a:rPr sz="2400" b="1" spc="-20" dirty="0">
                <a:latin typeface="Times New Roman"/>
                <a:cs typeface="Times New Roman"/>
              </a:rPr>
              <a:t>b</a:t>
            </a:r>
            <a:r>
              <a:rPr sz="2400" b="1" spc="-55" dirty="0">
                <a:latin typeface="Times New Roman"/>
                <a:cs typeface="Times New Roman"/>
              </a:rPr>
              <a:t>r</a:t>
            </a:r>
            <a:r>
              <a:rPr sz="2400" b="1" spc="35" dirty="0">
                <a:latin typeface="Times New Roman"/>
                <a:cs typeface="Times New Roman"/>
              </a:rPr>
              <a:t>id</a:t>
            </a:r>
            <a:r>
              <a:rPr sz="2400" b="1" spc="-350" dirty="0">
                <a:latin typeface="Times New Roman"/>
                <a:cs typeface="Times New Roman"/>
              </a:rPr>
              <a:t> </a:t>
            </a:r>
            <a:r>
              <a:rPr sz="2400" b="1" spc="-450" dirty="0">
                <a:latin typeface="Times New Roman"/>
                <a:cs typeface="Times New Roman"/>
              </a:rPr>
              <a:t>T</a:t>
            </a:r>
            <a:r>
              <a:rPr sz="2400" b="1" spc="75" dirty="0">
                <a:latin typeface="Times New Roman"/>
                <a:cs typeface="Times New Roman"/>
              </a:rPr>
              <a:t>opo</a:t>
            </a:r>
            <a:r>
              <a:rPr sz="2400" b="1" spc="30" dirty="0">
                <a:latin typeface="Times New Roman"/>
                <a:cs typeface="Times New Roman"/>
              </a:rPr>
              <a:t>l</a:t>
            </a:r>
            <a:r>
              <a:rPr sz="2400" b="1" spc="40" dirty="0">
                <a:latin typeface="Times New Roman"/>
                <a:cs typeface="Times New Roman"/>
              </a:rPr>
              <a:t>ogy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75" dirty="0">
                <a:latin typeface="Times New Roman"/>
                <a:cs typeface="Times New Roman"/>
              </a:rPr>
              <a:t>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co</a:t>
            </a:r>
            <a:r>
              <a:rPr sz="2400" spc="-170" dirty="0">
                <a:latin typeface="Times New Roman"/>
                <a:cs typeface="Times New Roman"/>
              </a:rPr>
              <a:t>m</a:t>
            </a:r>
            <a:r>
              <a:rPr sz="2400" spc="-105" dirty="0">
                <a:latin typeface="Times New Roman"/>
                <a:cs typeface="Times New Roman"/>
              </a:rPr>
              <a:t>bi</a:t>
            </a:r>
            <a:r>
              <a:rPr sz="2400" spc="-125" dirty="0">
                <a:latin typeface="Times New Roman"/>
                <a:cs typeface="Times New Roman"/>
              </a:rPr>
              <a:t>n</a:t>
            </a:r>
            <a:r>
              <a:rPr sz="2400" spc="-215" dirty="0">
                <a:latin typeface="Times New Roman"/>
                <a:cs typeface="Times New Roman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tion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Times New Roman"/>
                <a:cs typeface="Times New Roman"/>
              </a:rPr>
              <a:t>t</a:t>
            </a:r>
            <a:r>
              <a:rPr sz="2400" spc="-225" dirty="0">
                <a:latin typeface="Times New Roman"/>
                <a:cs typeface="Times New Roman"/>
              </a:rPr>
              <a:t>w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Times New Roman"/>
                <a:cs typeface="Times New Roman"/>
              </a:rPr>
              <a:t>t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p</a:t>
            </a:r>
            <a:r>
              <a:rPr sz="2400" spc="-90" dirty="0">
                <a:latin typeface="Times New Roman"/>
                <a:cs typeface="Times New Roman"/>
              </a:rPr>
              <a:t>ol</a:t>
            </a:r>
            <a:r>
              <a:rPr sz="2400" spc="-110" dirty="0">
                <a:latin typeface="Times New Roman"/>
                <a:cs typeface="Times New Roman"/>
              </a:rPr>
              <a:t>o</a:t>
            </a:r>
            <a:r>
              <a:rPr sz="2400" spc="-160" dirty="0">
                <a:latin typeface="Times New Roman"/>
                <a:cs typeface="Times New Roman"/>
              </a:rPr>
              <a:t>g</a:t>
            </a:r>
            <a:r>
              <a:rPr sz="2400" spc="-135" dirty="0">
                <a:latin typeface="Times New Roman"/>
                <a:cs typeface="Times New Roman"/>
              </a:rPr>
              <a:t>ies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ts val="2590"/>
              </a:lnSpc>
              <a:spcBef>
                <a:spcPts val="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90" dirty="0">
                <a:latin typeface="Times New Roman"/>
                <a:cs typeface="Times New Roman"/>
              </a:rPr>
              <a:t>Inherits</a:t>
            </a:r>
            <a:r>
              <a:rPr sz="2400" spc="-70" dirty="0">
                <a:latin typeface="Times New Roman"/>
                <a:cs typeface="Times New Roman"/>
              </a:rPr>
              <a:t> 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advantages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disadvantages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topologies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ts val="2590"/>
              </a:lnSpc>
            </a:pPr>
            <a:r>
              <a:rPr sz="2400" spc="-110" dirty="0">
                <a:latin typeface="Times New Roman"/>
                <a:cs typeface="Times New Roman"/>
              </a:rPr>
              <a:t>included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b="1" spc="-55" dirty="0">
                <a:latin typeface="Times New Roman"/>
                <a:cs typeface="Times New Roman"/>
              </a:rPr>
              <a:t>A</a:t>
            </a:r>
            <a:r>
              <a:rPr sz="2400" b="1" spc="-85" dirty="0">
                <a:latin typeface="Times New Roman"/>
                <a:cs typeface="Times New Roman"/>
              </a:rPr>
              <a:t>d</a:t>
            </a:r>
            <a:r>
              <a:rPr sz="2400" b="1" spc="-40" dirty="0">
                <a:latin typeface="Times New Roman"/>
                <a:cs typeface="Times New Roman"/>
              </a:rPr>
              <a:t>van</a:t>
            </a:r>
            <a:r>
              <a:rPr sz="2400" b="1" spc="-25" dirty="0">
                <a:latin typeface="Times New Roman"/>
                <a:cs typeface="Times New Roman"/>
              </a:rPr>
              <a:t>ta</a:t>
            </a:r>
            <a:r>
              <a:rPr sz="2400" b="1" spc="-20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Times New Roman"/>
                <a:cs typeface="Times New Roman"/>
              </a:rPr>
              <a:t>e</a:t>
            </a:r>
            <a:r>
              <a:rPr sz="2400" b="1" dirty="0">
                <a:latin typeface="Times New Roman"/>
                <a:cs typeface="Times New Roman"/>
              </a:rPr>
              <a:t>s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25" dirty="0">
                <a:latin typeface="Times New Roman"/>
                <a:cs typeface="Times New Roman"/>
              </a:rPr>
              <a:t>of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Hy</a:t>
            </a:r>
            <a:r>
              <a:rPr sz="2400" b="1" spc="-20" dirty="0">
                <a:latin typeface="Times New Roman"/>
                <a:cs typeface="Times New Roman"/>
              </a:rPr>
              <a:t>b</a:t>
            </a:r>
            <a:r>
              <a:rPr sz="2400" b="1" spc="-55" dirty="0">
                <a:latin typeface="Times New Roman"/>
                <a:cs typeface="Times New Roman"/>
              </a:rPr>
              <a:t>r</a:t>
            </a:r>
            <a:r>
              <a:rPr sz="2400" b="1" spc="35" dirty="0">
                <a:latin typeface="Times New Roman"/>
                <a:cs typeface="Times New Roman"/>
              </a:rPr>
              <a:t>id</a:t>
            </a:r>
            <a:r>
              <a:rPr sz="2400" b="1" spc="-350" dirty="0">
                <a:latin typeface="Times New Roman"/>
                <a:cs typeface="Times New Roman"/>
              </a:rPr>
              <a:t> </a:t>
            </a:r>
            <a:r>
              <a:rPr sz="2400" b="1" spc="-450" dirty="0">
                <a:latin typeface="Times New Roman"/>
                <a:cs typeface="Times New Roman"/>
              </a:rPr>
              <a:t>T</a:t>
            </a:r>
            <a:r>
              <a:rPr sz="2400" b="1" spc="75" dirty="0">
                <a:latin typeface="Times New Roman"/>
                <a:cs typeface="Times New Roman"/>
              </a:rPr>
              <a:t>opo</a:t>
            </a:r>
            <a:r>
              <a:rPr sz="2400" b="1" spc="30" dirty="0">
                <a:latin typeface="Times New Roman"/>
                <a:cs typeface="Times New Roman"/>
              </a:rPr>
              <a:t>l</a:t>
            </a:r>
            <a:r>
              <a:rPr sz="2400" b="1" spc="40" dirty="0">
                <a:latin typeface="Times New Roman"/>
                <a:cs typeface="Times New Roman"/>
              </a:rPr>
              <a:t>ogy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35" dirty="0">
                <a:latin typeface="Times New Roman"/>
                <a:cs typeface="Times New Roman"/>
              </a:rPr>
              <a:t>Relia</a:t>
            </a:r>
            <a:r>
              <a:rPr sz="2400" spc="-185" dirty="0">
                <a:latin typeface="Times New Roman"/>
                <a:cs typeface="Times New Roman"/>
              </a:rPr>
              <a:t>b</a:t>
            </a:r>
            <a:r>
              <a:rPr sz="2400" spc="-75" dirty="0">
                <a:latin typeface="Times New Roman"/>
                <a:cs typeface="Times New Roman"/>
              </a:rPr>
              <a:t>l</a:t>
            </a:r>
            <a:r>
              <a:rPr sz="2400" spc="-114" dirty="0">
                <a:latin typeface="Times New Roman"/>
                <a:cs typeface="Times New Roman"/>
              </a:rPr>
              <a:t>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04" dirty="0">
                <a:latin typeface="Times New Roman"/>
                <a:cs typeface="Times New Roman"/>
              </a:rPr>
              <a:t>a</a:t>
            </a:r>
            <a:r>
              <a:rPr sz="2400" spc="-175" dirty="0">
                <a:latin typeface="Times New Roman"/>
                <a:cs typeface="Times New Roman"/>
              </a:rPr>
              <a:t>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E</a:t>
            </a:r>
            <a:r>
              <a:rPr sz="2400" spc="-40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40" dirty="0">
                <a:latin typeface="Times New Roman"/>
                <a:cs typeface="Times New Roman"/>
              </a:rPr>
              <a:t>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de</a:t>
            </a:r>
            <a:r>
              <a:rPr sz="2400" spc="-50" dirty="0">
                <a:latin typeface="Times New Roman"/>
                <a:cs typeface="Times New Roman"/>
              </a:rPr>
              <a:t>t</a:t>
            </a:r>
            <a:r>
              <a:rPr sz="2400" spc="-80" dirty="0">
                <a:latin typeface="Times New Roman"/>
                <a:cs typeface="Times New Roman"/>
              </a:rPr>
              <a:t>ec</a:t>
            </a:r>
            <a:r>
              <a:rPr sz="2400" spc="-60" dirty="0">
                <a:latin typeface="Times New Roman"/>
                <a:cs typeface="Times New Roman"/>
              </a:rPr>
              <a:t>t</a:t>
            </a:r>
            <a:r>
              <a:rPr sz="2400" spc="-140" dirty="0">
                <a:latin typeface="Times New Roman"/>
                <a:cs typeface="Times New Roman"/>
              </a:rPr>
              <a:t>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</a:t>
            </a:r>
            <a:r>
              <a:rPr sz="2400" spc="-140" dirty="0">
                <a:latin typeface="Times New Roman"/>
                <a:cs typeface="Times New Roman"/>
              </a:rPr>
              <a:t>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u</a:t>
            </a:r>
            <a:r>
              <a:rPr sz="2400" spc="-165" dirty="0">
                <a:latin typeface="Times New Roman"/>
                <a:cs typeface="Times New Roman"/>
              </a:rPr>
              <a:t>b</a:t>
            </a:r>
            <a:r>
              <a:rPr sz="2400" spc="-75" dirty="0">
                <a:latin typeface="Times New Roman"/>
                <a:cs typeface="Times New Roman"/>
              </a:rPr>
              <a:t>l</a:t>
            </a:r>
            <a:r>
              <a:rPr sz="2400" spc="-114" dirty="0">
                <a:latin typeface="Times New Roman"/>
                <a:cs typeface="Times New Roman"/>
              </a:rPr>
              <a:t>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s</a:t>
            </a:r>
            <a:r>
              <a:rPr sz="2400" spc="-185" dirty="0">
                <a:latin typeface="Times New Roman"/>
                <a:cs typeface="Times New Roman"/>
              </a:rPr>
              <a:t>h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oting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eas</a:t>
            </a:r>
            <a:r>
              <a:rPr sz="2400" spc="-445" dirty="0">
                <a:latin typeface="Times New Roman"/>
                <a:cs typeface="Times New Roman"/>
              </a:rPr>
              <a:t>y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25" dirty="0">
                <a:latin typeface="Times New Roman"/>
                <a:cs typeface="Times New Roman"/>
              </a:rPr>
              <a:t>Effective.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75" dirty="0">
                <a:latin typeface="Times New Roman"/>
                <a:cs typeface="Times New Roman"/>
              </a:rPr>
              <a:t>Scala</a:t>
            </a:r>
            <a:r>
              <a:rPr sz="2400" spc="-245" dirty="0">
                <a:latin typeface="Times New Roman"/>
                <a:cs typeface="Times New Roman"/>
              </a:rPr>
              <a:t>b</a:t>
            </a:r>
            <a:r>
              <a:rPr sz="2400" spc="-75" dirty="0">
                <a:latin typeface="Times New Roman"/>
                <a:cs typeface="Times New Roman"/>
              </a:rPr>
              <a:t>l</a:t>
            </a:r>
            <a:r>
              <a:rPr sz="2400" spc="-114" dirty="0">
                <a:latin typeface="Times New Roman"/>
                <a:cs typeface="Times New Roman"/>
              </a:rPr>
              <a:t>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04" dirty="0">
                <a:latin typeface="Times New Roman"/>
                <a:cs typeface="Times New Roman"/>
              </a:rPr>
              <a:t>a</a:t>
            </a:r>
            <a:r>
              <a:rPr sz="2400" spc="-175" dirty="0">
                <a:latin typeface="Times New Roman"/>
                <a:cs typeface="Times New Roman"/>
              </a:rPr>
              <a:t>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si</a:t>
            </a:r>
            <a:r>
              <a:rPr sz="2400" spc="-145" dirty="0">
                <a:latin typeface="Times New Roman"/>
                <a:cs typeface="Times New Roman"/>
              </a:rPr>
              <a:t>z</a:t>
            </a:r>
            <a:r>
              <a:rPr sz="2400" spc="-140" dirty="0">
                <a:latin typeface="Times New Roman"/>
                <a:cs typeface="Times New Roman"/>
              </a:rPr>
              <a:t>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can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b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inc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35" dirty="0">
                <a:latin typeface="Times New Roman"/>
                <a:cs typeface="Times New Roman"/>
              </a:rPr>
              <a:t>eased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e</a:t>
            </a:r>
            <a:r>
              <a:rPr sz="2400" spc="-190" dirty="0">
                <a:latin typeface="Times New Roman"/>
                <a:cs typeface="Times New Roman"/>
              </a:rPr>
              <a:t>as</a:t>
            </a:r>
            <a:r>
              <a:rPr sz="2400" spc="-125" dirty="0">
                <a:latin typeface="Times New Roman"/>
                <a:cs typeface="Times New Roman"/>
              </a:rPr>
              <a:t>i</a:t>
            </a:r>
            <a:r>
              <a:rPr sz="2400" spc="-145" dirty="0">
                <a:latin typeface="Times New Roman"/>
                <a:cs typeface="Times New Roman"/>
              </a:rPr>
              <a:t>l</a:t>
            </a:r>
            <a:r>
              <a:rPr sz="2400" spc="-445" dirty="0">
                <a:latin typeface="Times New Roman"/>
                <a:cs typeface="Times New Roman"/>
              </a:rPr>
              <a:t>y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05" dirty="0">
                <a:latin typeface="Times New Roman"/>
                <a:cs typeface="Times New Roman"/>
              </a:rPr>
              <a:t>Flexible.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b="1" spc="-25" dirty="0">
                <a:latin typeface="Times New Roman"/>
                <a:cs typeface="Times New Roman"/>
              </a:rPr>
              <a:t>Disa</a:t>
            </a:r>
            <a:r>
              <a:rPr sz="2400" b="1" spc="-55" dirty="0">
                <a:latin typeface="Times New Roman"/>
                <a:cs typeface="Times New Roman"/>
              </a:rPr>
              <a:t>d</a:t>
            </a:r>
            <a:r>
              <a:rPr sz="2400" b="1" spc="-40" dirty="0">
                <a:latin typeface="Times New Roman"/>
                <a:cs typeface="Times New Roman"/>
              </a:rPr>
              <a:t>van</a:t>
            </a:r>
            <a:r>
              <a:rPr sz="2400" b="1" spc="-25" dirty="0">
                <a:latin typeface="Times New Roman"/>
                <a:cs typeface="Times New Roman"/>
              </a:rPr>
              <a:t>ta</a:t>
            </a:r>
            <a:r>
              <a:rPr sz="2400" b="1" spc="-20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Times New Roman"/>
                <a:cs typeface="Times New Roman"/>
              </a:rPr>
              <a:t>e</a:t>
            </a:r>
            <a:r>
              <a:rPr sz="2400" b="1" dirty="0">
                <a:latin typeface="Times New Roman"/>
                <a:cs typeface="Times New Roman"/>
              </a:rPr>
              <a:t>s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25" dirty="0">
                <a:latin typeface="Times New Roman"/>
                <a:cs typeface="Times New Roman"/>
              </a:rPr>
              <a:t>of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Hy</a:t>
            </a:r>
            <a:r>
              <a:rPr sz="2400" b="1" spc="-20" dirty="0">
                <a:latin typeface="Times New Roman"/>
                <a:cs typeface="Times New Roman"/>
              </a:rPr>
              <a:t>b</a:t>
            </a:r>
            <a:r>
              <a:rPr sz="2400" b="1" spc="-55" dirty="0">
                <a:latin typeface="Times New Roman"/>
                <a:cs typeface="Times New Roman"/>
              </a:rPr>
              <a:t>r</a:t>
            </a:r>
            <a:r>
              <a:rPr sz="2400" b="1" spc="35" dirty="0">
                <a:latin typeface="Times New Roman"/>
                <a:cs typeface="Times New Roman"/>
              </a:rPr>
              <a:t>id</a:t>
            </a:r>
            <a:r>
              <a:rPr sz="2400" b="1" spc="-350" dirty="0">
                <a:latin typeface="Times New Roman"/>
                <a:cs typeface="Times New Roman"/>
              </a:rPr>
              <a:t> </a:t>
            </a:r>
            <a:r>
              <a:rPr sz="2400" b="1" spc="-450" dirty="0">
                <a:latin typeface="Times New Roman"/>
                <a:cs typeface="Times New Roman"/>
              </a:rPr>
              <a:t>T</a:t>
            </a:r>
            <a:r>
              <a:rPr sz="2400" b="1" spc="75" dirty="0">
                <a:latin typeface="Times New Roman"/>
                <a:cs typeface="Times New Roman"/>
              </a:rPr>
              <a:t>opo</a:t>
            </a:r>
            <a:r>
              <a:rPr sz="2400" b="1" spc="30" dirty="0">
                <a:latin typeface="Times New Roman"/>
                <a:cs typeface="Times New Roman"/>
              </a:rPr>
              <a:t>l</a:t>
            </a:r>
            <a:r>
              <a:rPr sz="2400" b="1" spc="40" dirty="0">
                <a:latin typeface="Times New Roman"/>
                <a:cs typeface="Times New Roman"/>
              </a:rPr>
              <a:t>ogy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14" dirty="0">
                <a:latin typeface="Times New Roman"/>
                <a:cs typeface="Times New Roman"/>
              </a:rPr>
              <a:t>Comple</a:t>
            </a:r>
            <a:r>
              <a:rPr sz="2400" spc="-105" dirty="0">
                <a:latin typeface="Times New Roman"/>
                <a:cs typeface="Times New Roman"/>
              </a:rPr>
              <a:t>x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design.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25" dirty="0">
                <a:latin typeface="Times New Roman"/>
                <a:cs typeface="Times New Roman"/>
              </a:rPr>
              <a:t>Costly.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1547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Out</a:t>
            </a:r>
            <a:r>
              <a:rPr sz="4000" spc="-35" dirty="0"/>
              <a:t>line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914400" y="1450594"/>
            <a:ext cx="6858000" cy="5100320"/>
          </a:xfrm>
          <a:custGeom>
            <a:avLst/>
            <a:gdLst/>
            <a:ahLst/>
            <a:cxnLst/>
            <a:rect l="l" t="t" r="r" b="b"/>
            <a:pathLst>
              <a:path w="6858000" h="5100320">
                <a:moveTo>
                  <a:pt x="0" y="77215"/>
                </a:moveTo>
                <a:lnTo>
                  <a:pt x="6067" y="47148"/>
                </a:lnTo>
                <a:lnTo>
                  <a:pt x="22615" y="22605"/>
                </a:lnTo>
                <a:lnTo>
                  <a:pt x="47159" y="6064"/>
                </a:lnTo>
                <a:lnTo>
                  <a:pt x="77215" y="0"/>
                </a:lnTo>
                <a:lnTo>
                  <a:pt x="6780783" y="0"/>
                </a:lnTo>
                <a:lnTo>
                  <a:pt x="6810851" y="6064"/>
                </a:lnTo>
                <a:lnTo>
                  <a:pt x="6835394" y="22606"/>
                </a:lnTo>
                <a:lnTo>
                  <a:pt x="6851935" y="47148"/>
                </a:lnTo>
                <a:lnTo>
                  <a:pt x="6858000" y="77215"/>
                </a:lnTo>
                <a:lnTo>
                  <a:pt x="6858000" y="386079"/>
                </a:lnTo>
                <a:lnTo>
                  <a:pt x="6851935" y="416147"/>
                </a:lnTo>
                <a:lnTo>
                  <a:pt x="6835394" y="440689"/>
                </a:lnTo>
                <a:lnTo>
                  <a:pt x="6810851" y="457231"/>
                </a:lnTo>
                <a:lnTo>
                  <a:pt x="6780783" y="463295"/>
                </a:lnTo>
                <a:lnTo>
                  <a:pt x="77215" y="463295"/>
                </a:lnTo>
                <a:lnTo>
                  <a:pt x="47159" y="457231"/>
                </a:lnTo>
                <a:lnTo>
                  <a:pt x="22615" y="440689"/>
                </a:lnTo>
                <a:lnTo>
                  <a:pt x="6067" y="416147"/>
                </a:lnTo>
                <a:lnTo>
                  <a:pt x="0" y="386079"/>
                </a:lnTo>
                <a:lnTo>
                  <a:pt x="0" y="77215"/>
                </a:lnTo>
                <a:close/>
              </a:path>
              <a:path w="6858000" h="5100320">
                <a:moveTo>
                  <a:pt x="0" y="592454"/>
                </a:moveTo>
                <a:lnTo>
                  <a:pt x="6067" y="562387"/>
                </a:lnTo>
                <a:lnTo>
                  <a:pt x="22615" y="537844"/>
                </a:lnTo>
                <a:lnTo>
                  <a:pt x="47159" y="521303"/>
                </a:lnTo>
                <a:lnTo>
                  <a:pt x="77215" y="515238"/>
                </a:lnTo>
                <a:lnTo>
                  <a:pt x="6780783" y="515238"/>
                </a:lnTo>
                <a:lnTo>
                  <a:pt x="6810851" y="521303"/>
                </a:lnTo>
                <a:lnTo>
                  <a:pt x="6835394" y="537845"/>
                </a:lnTo>
                <a:lnTo>
                  <a:pt x="6851935" y="562387"/>
                </a:lnTo>
                <a:lnTo>
                  <a:pt x="6858000" y="592454"/>
                </a:lnTo>
                <a:lnTo>
                  <a:pt x="6858000" y="901318"/>
                </a:lnTo>
                <a:lnTo>
                  <a:pt x="6851935" y="931386"/>
                </a:lnTo>
                <a:lnTo>
                  <a:pt x="6835394" y="955928"/>
                </a:lnTo>
                <a:lnTo>
                  <a:pt x="6810851" y="972470"/>
                </a:lnTo>
                <a:lnTo>
                  <a:pt x="6780783" y="978534"/>
                </a:lnTo>
                <a:lnTo>
                  <a:pt x="77215" y="978534"/>
                </a:lnTo>
                <a:lnTo>
                  <a:pt x="47159" y="972470"/>
                </a:lnTo>
                <a:lnTo>
                  <a:pt x="22615" y="955928"/>
                </a:lnTo>
                <a:lnTo>
                  <a:pt x="6067" y="931386"/>
                </a:lnTo>
                <a:lnTo>
                  <a:pt x="0" y="901318"/>
                </a:lnTo>
                <a:lnTo>
                  <a:pt x="0" y="592454"/>
                </a:lnTo>
                <a:close/>
              </a:path>
              <a:path w="6858000" h="5100320">
                <a:moveTo>
                  <a:pt x="0" y="1107566"/>
                </a:moveTo>
                <a:lnTo>
                  <a:pt x="6067" y="1077499"/>
                </a:lnTo>
                <a:lnTo>
                  <a:pt x="22615" y="1052956"/>
                </a:lnTo>
                <a:lnTo>
                  <a:pt x="47159" y="1036415"/>
                </a:lnTo>
                <a:lnTo>
                  <a:pt x="77215" y="1030351"/>
                </a:lnTo>
                <a:lnTo>
                  <a:pt x="6780783" y="1030351"/>
                </a:lnTo>
                <a:lnTo>
                  <a:pt x="6810851" y="1036415"/>
                </a:lnTo>
                <a:lnTo>
                  <a:pt x="6835394" y="1052957"/>
                </a:lnTo>
                <a:lnTo>
                  <a:pt x="6851935" y="1077499"/>
                </a:lnTo>
                <a:lnTo>
                  <a:pt x="6858000" y="1107566"/>
                </a:lnTo>
                <a:lnTo>
                  <a:pt x="6858000" y="1416430"/>
                </a:lnTo>
                <a:lnTo>
                  <a:pt x="6851935" y="1446498"/>
                </a:lnTo>
                <a:lnTo>
                  <a:pt x="6835394" y="1471040"/>
                </a:lnTo>
                <a:lnTo>
                  <a:pt x="6810851" y="1487582"/>
                </a:lnTo>
                <a:lnTo>
                  <a:pt x="6780783" y="1493646"/>
                </a:lnTo>
                <a:lnTo>
                  <a:pt x="77215" y="1493646"/>
                </a:lnTo>
                <a:lnTo>
                  <a:pt x="47159" y="1487582"/>
                </a:lnTo>
                <a:lnTo>
                  <a:pt x="22615" y="1471040"/>
                </a:lnTo>
                <a:lnTo>
                  <a:pt x="6067" y="1446498"/>
                </a:lnTo>
                <a:lnTo>
                  <a:pt x="0" y="1416430"/>
                </a:lnTo>
                <a:lnTo>
                  <a:pt x="0" y="1107566"/>
                </a:lnTo>
                <a:close/>
              </a:path>
              <a:path w="6858000" h="5100320">
                <a:moveTo>
                  <a:pt x="0" y="1622678"/>
                </a:moveTo>
                <a:lnTo>
                  <a:pt x="6067" y="1592665"/>
                </a:lnTo>
                <a:lnTo>
                  <a:pt x="22615" y="1568116"/>
                </a:lnTo>
                <a:lnTo>
                  <a:pt x="47159" y="1551545"/>
                </a:lnTo>
                <a:lnTo>
                  <a:pt x="77215" y="1545463"/>
                </a:lnTo>
                <a:lnTo>
                  <a:pt x="6780783" y="1545463"/>
                </a:lnTo>
                <a:lnTo>
                  <a:pt x="6810851" y="1551545"/>
                </a:lnTo>
                <a:lnTo>
                  <a:pt x="6835394" y="1568116"/>
                </a:lnTo>
                <a:lnTo>
                  <a:pt x="6851935" y="1592665"/>
                </a:lnTo>
                <a:lnTo>
                  <a:pt x="6858000" y="1622678"/>
                </a:lnTo>
                <a:lnTo>
                  <a:pt x="6858000" y="1931542"/>
                </a:lnTo>
                <a:lnTo>
                  <a:pt x="6851935" y="1961630"/>
                </a:lnTo>
                <a:lnTo>
                  <a:pt x="6835394" y="1986216"/>
                </a:lnTo>
                <a:lnTo>
                  <a:pt x="6810851" y="2002801"/>
                </a:lnTo>
                <a:lnTo>
                  <a:pt x="6780783" y="2008885"/>
                </a:lnTo>
                <a:lnTo>
                  <a:pt x="77215" y="2008885"/>
                </a:lnTo>
                <a:lnTo>
                  <a:pt x="47159" y="2002801"/>
                </a:lnTo>
                <a:lnTo>
                  <a:pt x="22615" y="1986216"/>
                </a:lnTo>
                <a:lnTo>
                  <a:pt x="6067" y="1961630"/>
                </a:lnTo>
                <a:lnTo>
                  <a:pt x="0" y="1931542"/>
                </a:lnTo>
                <a:lnTo>
                  <a:pt x="0" y="1622678"/>
                </a:lnTo>
                <a:close/>
              </a:path>
              <a:path w="6858000" h="5100320">
                <a:moveTo>
                  <a:pt x="0" y="2137917"/>
                </a:moveTo>
                <a:lnTo>
                  <a:pt x="6067" y="2107850"/>
                </a:lnTo>
                <a:lnTo>
                  <a:pt x="22615" y="2083307"/>
                </a:lnTo>
                <a:lnTo>
                  <a:pt x="47159" y="2066766"/>
                </a:lnTo>
                <a:lnTo>
                  <a:pt x="77215" y="2060702"/>
                </a:lnTo>
                <a:lnTo>
                  <a:pt x="6780783" y="2060702"/>
                </a:lnTo>
                <a:lnTo>
                  <a:pt x="6810851" y="2066766"/>
                </a:lnTo>
                <a:lnTo>
                  <a:pt x="6835394" y="2083308"/>
                </a:lnTo>
                <a:lnTo>
                  <a:pt x="6851935" y="2107850"/>
                </a:lnTo>
                <a:lnTo>
                  <a:pt x="6858000" y="2137917"/>
                </a:lnTo>
                <a:lnTo>
                  <a:pt x="6858000" y="2446781"/>
                </a:lnTo>
                <a:lnTo>
                  <a:pt x="6851935" y="2476849"/>
                </a:lnTo>
                <a:lnTo>
                  <a:pt x="6835394" y="2501391"/>
                </a:lnTo>
                <a:lnTo>
                  <a:pt x="6810851" y="2517933"/>
                </a:lnTo>
                <a:lnTo>
                  <a:pt x="6780783" y="2523997"/>
                </a:lnTo>
                <a:lnTo>
                  <a:pt x="77215" y="2523997"/>
                </a:lnTo>
                <a:lnTo>
                  <a:pt x="47159" y="2517933"/>
                </a:lnTo>
                <a:lnTo>
                  <a:pt x="22615" y="2501391"/>
                </a:lnTo>
                <a:lnTo>
                  <a:pt x="6067" y="2476849"/>
                </a:lnTo>
                <a:lnTo>
                  <a:pt x="0" y="2446781"/>
                </a:lnTo>
                <a:lnTo>
                  <a:pt x="0" y="2137917"/>
                </a:lnTo>
                <a:close/>
              </a:path>
              <a:path w="6858000" h="5100320">
                <a:moveTo>
                  <a:pt x="0" y="2653029"/>
                </a:moveTo>
                <a:lnTo>
                  <a:pt x="6067" y="2622962"/>
                </a:lnTo>
                <a:lnTo>
                  <a:pt x="22615" y="2598419"/>
                </a:lnTo>
                <a:lnTo>
                  <a:pt x="47159" y="2581878"/>
                </a:lnTo>
                <a:lnTo>
                  <a:pt x="77215" y="2575813"/>
                </a:lnTo>
                <a:lnTo>
                  <a:pt x="6780783" y="2575813"/>
                </a:lnTo>
                <a:lnTo>
                  <a:pt x="6810851" y="2581878"/>
                </a:lnTo>
                <a:lnTo>
                  <a:pt x="6835394" y="2598419"/>
                </a:lnTo>
                <a:lnTo>
                  <a:pt x="6851935" y="2622962"/>
                </a:lnTo>
                <a:lnTo>
                  <a:pt x="6858000" y="2653029"/>
                </a:lnTo>
                <a:lnTo>
                  <a:pt x="6858000" y="2961893"/>
                </a:lnTo>
                <a:lnTo>
                  <a:pt x="6851935" y="2991961"/>
                </a:lnTo>
                <a:lnTo>
                  <a:pt x="6835394" y="3016504"/>
                </a:lnTo>
                <a:lnTo>
                  <a:pt x="6810851" y="3033045"/>
                </a:lnTo>
                <a:lnTo>
                  <a:pt x="6780783" y="3039110"/>
                </a:lnTo>
                <a:lnTo>
                  <a:pt x="77215" y="3039110"/>
                </a:lnTo>
                <a:lnTo>
                  <a:pt x="47159" y="3033045"/>
                </a:lnTo>
                <a:lnTo>
                  <a:pt x="22615" y="3016504"/>
                </a:lnTo>
                <a:lnTo>
                  <a:pt x="6067" y="2991961"/>
                </a:lnTo>
                <a:lnTo>
                  <a:pt x="0" y="2961893"/>
                </a:lnTo>
                <a:lnTo>
                  <a:pt x="0" y="2653029"/>
                </a:lnTo>
                <a:close/>
              </a:path>
              <a:path w="6858000" h="5100320">
                <a:moveTo>
                  <a:pt x="0" y="3168268"/>
                </a:moveTo>
                <a:lnTo>
                  <a:pt x="6067" y="3138181"/>
                </a:lnTo>
                <a:lnTo>
                  <a:pt x="22615" y="3113595"/>
                </a:lnTo>
                <a:lnTo>
                  <a:pt x="47159" y="3097010"/>
                </a:lnTo>
                <a:lnTo>
                  <a:pt x="77215" y="3090925"/>
                </a:lnTo>
                <a:lnTo>
                  <a:pt x="6780783" y="3090925"/>
                </a:lnTo>
                <a:lnTo>
                  <a:pt x="6810851" y="3097010"/>
                </a:lnTo>
                <a:lnTo>
                  <a:pt x="6835394" y="3113595"/>
                </a:lnTo>
                <a:lnTo>
                  <a:pt x="6851935" y="3138181"/>
                </a:lnTo>
                <a:lnTo>
                  <a:pt x="6858000" y="3168268"/>
                </a:lnTo>
                <a:lnTo>
                  <a:pt x="6858000" y="3477132"/>
                </a:lnTo>
                <a:lnTo>
                  <a:pt x="6851935" y="3507146"/>
                </a:lnTo>
                <a:lnTo>
                  <a:pt x="6835394" y="3531695"/>
                </a:lnTo>
                <a:lnTo>
                  <a:pt x="6810851" y="3548266"/>
                </a:lnTo>
                <a:lnTo>
                  <a:pt x="6780783" y="3554349"/>
                </a:lnTo>
                <a:lnTo>
                  <a:pt x="77215" y="3554349"/>
                </a:lnTo>
                <a:lnTo>
                  <a:pt x="47159" y="3548266"/>
                </a:lnTo>
                <a:lnTo>
                  <a:pt x="22615" y="3531695"/>
                </a:lnTo>
                <a:lnTo>
                  <a:pt x="6067" y="3507146"/>
                </a:lnTo>
                <a:lnTo>
                  <a:pt x="0" y="3477132"/>
                </a:lnTo>
                <a:lnTo>
                  <a:pt x="0" y="3168268"/>
                </a:lnTo>
                <a:close/>
              </a:path>
              <a:path w="6858000" h="5100320">
                <a:moveTo>
                  <a:pt x="0" y="3683380"/>
                </a:moveTo>
                <a:lnTo>
                  <a:pt x="6067" y="3653313"/>
                </a:lnTo>
                <a:lnTo>
                  <a:pt x="22615" y="3628770"/>
                </a:lnTo>
                <a:lnTo>
                  <a:pt x="47159" y="3612229"/>
                </a:lnTo>
                <a:lnTo>
                  <a:pt x="77215" y="3606164"/>
                </a:lnTo>
                <a:lnTo>
                  <a:pt x="6780783" y="3606164"/>
                </a:lnTo>
                <a:lnTo>
                  <a:pt x="6810851" y="3612229"/>
                </a:lnTo>
                <a:lnTo>
                  <a:pt x="6835394" y="3628770"/>
                </a:lnTo>
                <a:lnTo>
                  <a:pt x="6851935" y="3653313"/>
                </a:lnTo>
                <a:lnTo>
                  <a:pt x="6858000" y="3683380"/>
                </a:lnTo>
                <a:lnTo>
                  <a:pt x="6858000" y="3992244"/>
                </a:lnTo>
                <a:lnTo>
                  <a:pt x="6851935" y="4022312"/>
                </a:lnTo>
                <a:lnTo>
                  <a:pt x="6835394" y="4046854"/>
                </a:lnTo>
                <a:lnTo>
                  <a:pt x="6810851" y="4063396"/>
                </a:lnTo>
                <a:lnTo>
                  <a:pt x="6780783" y="4069460"/>
                </a:lnTo>
                <a:lnTo>
                  <a:pt x="77215" y="4069460"/>
                </a:lnTo>
                <a:lnTo>
                  <a:pt x="47159" y="4063396"/>
                </a:lnTo>
                <a:lnTo>
                  <a:pt x="22615" y="4046854"/>
                </a:lnTo>
                <a:lnTo>
                  <a:pt x="6067" y="4022312"/>
                </a:lnTo>
                <a:lnTo>
                  <a:pt x="0" y="3992244"/>
                </a:lnTo>
                <a:lnTo>
                  <a:pt x="0" y="3683380"/>
                </a:lnTo>
                <a:close/>
              </a:path>
              <a:path w="6858000" h="5100320">
                <a:moveTo>
                  <a:pt x="0" y="4198531"/>
                </a:moveTo>
                <a:lnTo>
                  <a:pt x="6067" y="4168463"/>
                </a:lnTo>
                <a:lnTo>
                  <a:pt x="22615" y="4143906"/>
                </a:lnTo>
                <a:lnTo>
                  <a:pt x="47159" y="4127348"/>
                </a:lnTo>
                <a:lnTo>
                  <a:pt x="77215" y="4121277"/>
                </a:lnTo>
                <a:lnTo>
                  <a:pt x="6780783" y="4121277"/>
                </a:lnTo>
                <a:lnTo>
                  <a:pt x="6810851" y="4127348"/>
                </a:lnTo>
                <a:lnTo>
                  <a:pt x="6835394" y="4143906"/>
                </a:lnTo>
                <a:lnTo>
                  <a:pt x="6851935" y="4168463"/>
                </a:lnTo>
                <a:lnTo>
                  <a:pt x="6858000" y="4198531"/>
                </a:lnTo>
                <a:lnTo>
                  <a:pt x="6858000" y="4507407"/>
                </a:lnTo>
                <a:lnTo>
                  <a:pt x="6851935" y="4537464"/>
                </a:lnTo>
                <a:lnTo>
                  <a:pt x="6835394" y="4562008"/>
                </a:lnTo>
                <a:lnTo>
                  <a:pt x="6810851" y="4578555"/>
                </a:lnTo>
                <a:lnTo>
                  <a:pt x="6780783" y="4584623"/>
                </a:lnTo>
                <a:lnTo>
                  <a:pt x="77215" y="4584623"/>
                </a:lnTo>
                <a:lnTo>
                  <a:pt x="47159" y="4578555"/>
                </a:lnTo>
                <a:lnTo>
                  <a:pt x="22615" y="4562008"/>
                </a:lnTo>
                <a:lnTo>
                  <a:pt x="6067" y="4537464"/>
                </a:lnTo>
                <a:lnTo>
                  <a:pt x="0" y="4507407"/>
                </a:lnTo>
                <a:lnTo>
                  <a:pt x="0" y="4198531"/>
                </a:lnTo>
                <a:close/>
              </a:path>
              <a:path w="6858000" h="5100320">
                <a:moveTo>
                  <a:pt x="0" y="4713681"/>
                </a:moveTo>
                <a:lnTo>
                  <a:pt x="6067" y="4683624"/>
                </a:lnTo>
                <a:lnTo>
                  <a:pt x="22615" y="4659080"/>
                </a:lnTo>
                <a:lnTo>
                  <a:pt x="47159" y="4642533"/>
                </a:lnTo>
                <a:lnTo>
                  <a:pt x="77215" y="4636465"/>
                </a:lnTo>
                <a:lnTo>
                  <a:pt x="6780783" y="4636465"/>
                </a:lnTo>
                <a:lnTo>
                  <a:pt x="6810851" y="4642533"/>
                </a:lnTo>
                <a:lnTo>
                  <a:pt x="6835394" y="4659080"/>
                </a:lnTo>
                <a:lnTo>
                  <a:pt x="6851935" y="4683624"/>
                </a:lnTo>
                <a:lnTo>
                  <a:pt x="6858000" y="4713681"/>
                </a:lnTo>
                <a:lnTo>
                  <a:pt x="6858000" y="5022557"/>
                </a:lnTo>
                <a:lnTo>
                  <a:pt x="6851935" y="5052621"/>
                </a:lnTo>
                <a:lnTo>
                  <a:pt x="6835394" y="5077169"/>
                </a:lnTo>
                <a:lnTo>
                  <a:pt x="6810851" y="5093718"/>
                </a:lnTo>
                <a:lnTo>
                  <a:pt x="6780783" y="5099786"/>
                </a:lnTo>
                <a:lnTo>
                  <a:pt x="77215" y="5099786"/>
                </a:lnTo>
                <a:lnTo>
                  <a:pt x="47159" y="5093718"/>
                </a:lnTo>
                <a:lnTo>
                  <a:pt x="22615" y="5077169"/>
                </a:lnTo>
                <a:lnTo>
                  <a:pt x="6067" y="5052621"/>
                </a:lnTo>
                <a:lnTo>
                  <a:pt x="0" y="5022557"/>
                </a:lnTo>
                <a:lnTo>
                  <a:pt x="0" y="4713681"/>
                </a:lnTo>
                <a:close/>
              </a:path>
            </a:pathLst>
          </a:custGeom>
          <a:ln w="12700">
            <a:solidFill>
              <a:srgbClr val="BE40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3139" y="1470406"/>
            <a:ext cx="6036945" cy="4958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Introduction</a:t>
            </a:r>
            <a:r>
              <a:rPr sz="2000" b="1" spc="-8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0" dirty="0">
                <a:solidFill>
                  <a:srgbClr val="BEBEBE"/>
                </a:solidFill>
                <a:latin typeface="Times New Roman"/>
                <a:cs typeface="Times New Roman"/>
              </a:rPr>
              <a:t>of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75" dirty="0">
                <a:solidFill>
                  <a:srgbClr val="BEBEBE"/>
                </a:solidFill>
                <a:latin typeface="Times New Roman"/>
                <a:cs typeface="Times New Roman"/>
              </a:rPr>
              <a:t>LAN;</a:t>
            </a:r>
            <a:r>
              <a:rPr sz="2000" b="1" spc="-12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35" dirty="0">
                <a:solidFill>
                  <a:srgbClr val="BEBEBE"/>
                </a:solidFill>
                <a:latin typeface="Times New Roman"/>
                <a:cs typeface="Times New Roman"/>
              </a:rPr>
              <a:t>MAN;WAN;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30" dirty="0">
                <a:solidFill>
                  <a:srgbClr val="BEBEBE"/>
                </a:solidFill>
                <a:latin typeface="Times New Roman"/>
                <a:cs typeface="Times New Roman"/>
              </a:rPr>
              <a:t>PAN,</a:t>
            </a:r>
            <a:r>
              <a:rPr sz="2000" b="1" spc="-21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Ad-hoc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BEBEBE"/>
                </a:solidFill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655"/>
              </a:spcBef>
            </a:pP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Topologies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sz="1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Net</a:t>
            </a:r>
            <a:r>
              <a:rPr sz="18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1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ork</a:t>
            </a:r>
            <a:r>
              <a:rPr sz="1800" b="1" spc="-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Arc</a:t>
            </a:r>
            <a:r>
              <a:rPr sz="18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sz="18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8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spc="4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800" b="1" spc="35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1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tures</a:t>
            </a:r>
            <a:endParaRPr sz="1800">
              <a:latin typeface="Times New Roman"/>
              <a:cs typeface="Times New Roman"/>
            </a:endParaRPr>
          </a:p>
          <a:p>
            <a:pPr marL="12700" marR="4759960">
              <a:lnSpc>
                <a:spcPts val="4060"/>
              </a:lnSpc>
              <a:spcBef>
                <a:spcPts val="450"/>
              </a:spcBef>
            </a:pPr>
            <a:r>
              <a:rPr sz="1800" spc="-125" dirty="0">
                <a:latin typeface="Times New Roman"/>
                <a:cs typeface="Times New Roman"/>
              </a:rPr>
              <a:t>OSI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10" dirty="0">
                <a:latin typeface="Times New Roman"/>
                <a:cs typeface="Times New Roman"/>
              </a:rPr>
              <a:t>M</a:t>
            </a:r>
            <a:r>
              <a:rPr sz="1800" spc="-80" dirty="0">
                <a:latin typeface="Times New Roman"/>
                <a:cs typeface="Times New Roman"/>
              </a:rPr>
              <a:t>o</a:t>
            </a:r>
            <a:r>
              <a:rPr sz="1800" spc="-75" dirty="0">
                <a:latin typeface="Times New Roman"/>
                <a:cs typeface="Times New Roman"/>
              </a:rPr>
              <a:t>d</a:t>
            </a:r>
            <a:r>
              <a:rPr sz="1800" spc="-60" dirty="0">
                <a:latin typeface="Times New Roman"/>
                <a:cs typeface="Times New Roman"/>
              </a:rPr>
              <a:t>el  </a:t>
            </a:r>
            <a:r>
              <a:rPr sz="1800" spc="-100" dirty="0">
                <a:latin typeface="Times New Roman"/>
                <a:cs typeface="Times New Roman"/>
              </a:rPr>
              <a:t>T</a:t>
            </a:r>
            <a:r>
              <a:rPr sz="1800" spc="-15" dirty="0">
                <a:latin typeface="Times New Roman"/>
                <a:cs typeface="Times New Roman"/>
              </a:rPr>
              <a:t>CP/I</a:t>
            </a:r>
            <a:r>
              <a:rPr sz="1800" spc="-10" dirty="0">
                <a:latin typeface="Times New Roman"/>
                <a:cs typeface="Times New Roman"/>
              </a:rPr>
              <a:t>P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85" dirty="0">
                <a:latin typeface="Times New Roman"/>
                <a:cs typeface="Times New Roman"/>
              </a:rPr>
              <a:t>M</a:t>
            </a:r>
            <a:r>
              <a:rPr sz="1800" spc="-100" dirty="0">
                <a:latin typeface="Times New Roman"/>
                <a:cs typeface="Times New Roman"/>
              </a:rPr>
              <a:t>o</a:t>
            </a:r>
            <a:r>
              <a:rPr sz="1800" spc="-75" dirty="0">
                <a:latin typeface="Times New Roman"/>
                <a:cs typeface="Times New Roman"/>
              </a:rPr>
              <a:t>del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800" spc="-105" dirty="0">
                <a:latin typeface="Times New Roman"/>
                <a:cs typeface="Times New Roman"/>
              </a:rPr>
              <a:t>Design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issues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for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0" dirty="0">
                <a:latin typeface="Times New Roman"/>
                <a:cs typeface="Times New Roman"/>
              </a:rPr>
              <a:t>L</a:t>
            </a:r>
            <a:r>
              <a:rPr sz="1800" spc="-204" dirty="0">
                <a:latin typeface="Times New Roman"/>
                <a:cs typeface="Times New Roman"/>
              </a:rPr>
              <a:t>a</a:t>
            </a:r>
            <a:r>
              <a:rPr sz="1800" spc="-170" dirty="0">
                <a:latin typeface="Times New Roman"/>
                <a:cs typeface="Times New Roman"/>
              </a:rPr>
              <a:t>y</a:t>
            </a:r>
            <a:r>
              <a:rPr sz="1800" spc="-30" dirty="0">
                <a:latin typeface="Times New Roman"/>
                <a:cs typeface="Times New Roman"/>
              </a:rPr>
              <a:t>e</a:t>
            </a:r>
            <a:r>
              <a:rPr sz="1800" spc="15" dirty="0">
                <a:latin typeface="Times New Roman"/>
                <a:cs typeface="Times New Roman"/>
              </a:rPr>
              <a:t>r</a:t>
            </a:r>
            <a:r>
              <a:rPr sz="1800" spc="-140" dirty="0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  <a:p>
            <a:pPr marL="12700" marR="4124325">
              <a:lnSpc>
                <a:spcPct val="187800"/>
              </a:lnSpc>
              <a:spcBef>
                <a:spcPts val="5"/>
              </a:spcBef>
            </a:pPr>
            <a:r>
              <a:rPr sz="1800" spc="-220" dirty="0">
                <a:latin typeface="Times New Roman"/>
                <a:cs typeface="Times New Roman"/>
              </a:rPr>
              <a:t>T</a:t>
            </a:r>
            <a:r>
              <a:rPr sz="1800" spc="-60" dirty="0">
                <a:latin typeface="Times New Roman"/>
                <a:cs typeface="Times New Roman"/>
              </a:rPr>
              <a:t>r</a:t>
            </a:r>
            <a:r>
              <a:rPr sz="1800" spc="-65" dirty="0">
                <a:latin typeface="Times New Roman"/>
                <a:cs typeface="Times New Roman"/>
              </a:rPr>
              <a:t>a</a:t>
            </a:r>
            <a:r>
              <a:rPr sz="1800" spc="-110" dirty="0">
                <a:latin typeface="Times New Roman"/>
                <a:cs typeface="Times New Roman"/>
              </a:rPr>
              <a:t>nsm</a:t>
            </a:r>
            <a:r>
              <a:rPr sz="1800" spc="-120" dirty="0">
                <a:latin typeface="Times New Roman"/>
                <a:cs typeface="Times New Roman"/>
              </a:rPr>
              <a:t>iss</a:t>
            </a:r>
            <a:r>
              <a:rPr sz="1800" spc="-105" dirty="0">
                <a:latin typeface="Times New Roman"/>
                <a:cs typeface="Times New Roman"/>
              </a:rPr>
              <a:t>i</a:t>
            </a:r>
            <a:r>
              <a:rPr sz="1800" spc="-80" dirty="0">
                <a:latin typeface="Times New Roman"/>
                <a:cs typeface="Times New Roman"/>
              </a:rPr>
              <a:t>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30" dirty="0">
                <a:latin typeface="Times New Roman"/>
                <a:cs typeface="Times New Roman"/>
              </a:rPr>
              <a:t>Me</a:t>
            </a:r>
            <a:r>
              <a:rPr sz="1800" spc="-95" dirty="0">
                <a:latin typeface="Times New Roman"/>
                <a:cs typeface="Times New Roman"/>
              </a:rPr>
              <a:t>d</a:t>
            </a:r>
            <a:r>
              <a:rPr sz="1800" spc="-90" dirty="0">
                <a:latin typeface="Times New Roman"/>
                <a:cs typeface="Times New Roman"/>
              </a:rPr>
              <a:t>iums  </a:t>
            </a:r>
            <a:r>
              <a:rPr sz="1800" spc="-55" dirty="0">
                <a:latin typeface="Times New Roman"/>
                <a:cs typeface="Times New Roman"/>
              </a:rPr>
              <a:t>Net</a:t>
            </a:r>
            <a:r>
              <a:rPr sz="1800" spc="-145" dirty="0">
                <a:latin typeface="Times New Roman"/>
                <a:cs typeface="Times New Roman"/>
              </a:rPr>
              <a:t>w</a:t>
            </a:r>
            <a:r>
              <a:rPr sz="1800" spc="-35" dirty="0">
                <a:latin typeface="Times New Roman"/>
                <a:cs typeface="Times New Roman"/>
              </a:rPr>
              <a:t>o</a:t>
            </a:r>
            <a:r>
              <a:rPr sz="1800" spc="-20" dirty="0">
                <a:latin typeface="Times New Roman"/>
                <a:cs typeface="Times New Roman"/>
              </a:rPr>
              <a:t>r</a:t>
            </a:r>
            <a:r>
              <a:rPr sz="1800" spc="-114" dirty="0">
                <a:latin typeface="Times New Roman"/>
                <a:cs typeface="Times New Roman"/>
              </a:rPr>
              <a:t>k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D</a:t>
            </a:r>
            <a:r>
              <a:rPr sz="1800" spc="-90" dirty="0">
                <a:latin typeface="Times New Roman"/>
                <a:cs typeface="Times New Roman"/>
              </a:rPr>
              <a:t>e</a:t>
            </a:r>
            <a:r>
              <a:rPr sz="1800" spc="-110" dirty="0">
                <a:latin typeface="Times New Roman"/>
                <a:cs typeface="Times New Roman"/>
              </a:rPr>
              <a:t>vices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240" dirty="0">
                <a:latin typeface="Times New Roman"/>
                <a:cs typeface="Times New Roman"/>
              </a:rPr>
              <a:t>M</a:t>
            </a:r>
            <a:r>
              <a:rPr sz="1800" spc="-114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50" dirty="0">
                <a:latin typeface="Times New Roman"/>
                <a:cs typeface="Times New Roman"/>
              </a:rPr>
              <a:t>c</a:t>
            </a:r>
            <a:r>
              <a:rPr sz="1800" spc="-110" dirty="0">
                <a:latin typeface="Times New Roman"/>
                <a:cs typeface="Times New Roman"/>
              </a:rPr>
              <a:t>hes</a:t>
            </a:r>
            <a:r>
              <a:rPr sz="1800" spc="-10" dirty="0">
                <a:latin typeface="Times New Roman"/>
                <a:cs typeface="Times New Roman"/>
              </a:rPr>
              <a:t>ter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an</a:t>
            </a:r>
            <a:r>
              <a:rPr sz="1800" spc="-80" dirty="0">
                <a:latin typeface="Times New Roman"/>
                <a:cs typeface="Times New Roman"/>
              </a:rPr>
              <a:t>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D</a:t>
            </a:r>
            <a:r>
              <a:rPr sz="1800" spc="-85" dirty="0">
                <a:latin typeface="Times New Roman"/>
                <a:cs typeface="Times New Roman"/>
              </a:rPr>
              <a:t>iffe</a:t>
            </a:r>
            <a:r>
              <a:rPr sz="1800" spc="-95" dirty="0">
                <a:latin typeface="Times New Roman"/>
                <a:cs typeface="Times New Roman"/>
              </a:rPr>
              <a:t>r</a:t>
            </a:r>
            <a:r>
              <a:rPr sz="1800" spc="-50" dirty="0">
                <a:latin typeface="Times New Roman"/>
                <a:cs typeface="Times New Roman"/>
              </a:rPr>
              <a:t>en</a:t>
            </a:r>
            <a:r>
              <a:rPr sz="1800" spc="-25" dirty="0">
                <a:latin typeface="Times New Roman"/>
                <a:cs typeface="Times New Roman"/>
              </a:rPr>
              <a:t>t</a:t>
            </a:r>
            <a:r>
              <a:rPr sz="1800" spc="-100" dirty="0">
                <a:latin typeface="Times New Roman"/>
                <a:cs typeface="Times New Roman"/>
              </a:rPr>
              <a:t>ial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40" dirty="0">
                <a:latin typeface="Times New Roman"/>
                <a:cs typeface="Times New Roman"/>
              </a:rPr>
              <a:t>M</a:t>
            </a:r>
            <a:r>
              <a:rPr sz="1800" spc="-114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50" dirty="0">
                <a:latin typeface="Times New Roman"/>
                <a:cs typeface="Times New Roman"/>
              </a:rPr>
              <a:t>c</a:t>
            </a:r>
            <a:r>
              <a:rPr sz="1800" spc="-110" dirty="0">
                <a:latin typeface="Times New Roman"/>
                <a:cs typeface="Times New Roman"/>
              </a:rPr>
              <a:t>hes</a:t>
            </a:r>
            <a:r>
              <a:rPr sz="1800" spc="-10" dirty="0">
                <a:latin typeface="Times New Roman"/>
                <a:cs typeface="Times New Roman"/>
              </a:rPr>
              <a:t>ter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90" dirty="0">
                <a:latin typeface="Times New Roman"/>
                <a:cs typeface="Times New Roman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85" dirty="0">
                <a:latin typeface="Times New Roman"/>
                <a:cs typeface="Times New Roman"/>
              </a:rPr>
              <a:t>c</a:t>
            </a:r>
            <a:r>
              <a:rPr sz="1800" spc="-80" dirty="0">
                <a:latin typeface="Times New Roman"/>
                <a:cs typeface="Times New Roman"/>
              </a:rPr>
              <a:t>o</a:t>
            </a:r>
            <a:r>
              <a:rPr sz="1800" spc="-75" dirty="0">
                <a:latin typeface="Times New Roman"/>
                <a:cs typeface="Times New Roman"/>
              </a:rPr>
              <a:t>d</a:t>
            </a:r>
            <a:r>
              <a:rPr sz="1800" spc="-85" dirty="0">
                <a:latin typeface="Times New Roman"/>
                <a:cs typeface="Times New Roman"/>
              </a:rPr>
              <a:t>ings;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90" dirty="0">
                <a:latin typeface="Times New Roman"/>
                <a:cs typeface="Times New Roman"/>
              </a:rPr>
              <a:t>IEEE802.11: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Frequency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Hopping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(FHSS)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Direct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Sequence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55" dirty="0">
                <a:latin typeface="Times New Roman"/>
                <a:cs typeface="Times New Roman"/>
              </a:rPr>
              <a:t>(DSSS)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8715" marR="5080" indent="-172148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NETWORK</a:t>
            </a:r>
            <a:r>
              <a:rPr spc="-15" dirty="0"/>
              <a:t> </a:t>
            </a:r>
            <a:r>
              <a:rPr spc="-75" dirty="0"/>
              <a:t>CLASSIFICATION</a:t>
            </a:r>
            <a:r>
              <a:rPr spc="-35" dirty="0"/>
              <a:t> </a:t>
            </a:r>
            <a:r>
              <a:rPr spc="-100" dirty="0"/>
              <a:t>BY</a:t>
            </a:r>
            <a:r>
              <a:rPr spc="-15" dirty="0"/>
              <a:t> </a:t>
            </a:r>
            <a:r>
              <a:rPr spc="-30" dirty="0"/>
              <a:t>THEIR </a:t>
            </a:r>
            <a:r>
              <a:rPr spc="-885" dirty="0"/>
              <a:t> </a:t>
            </a:r>
            <a:r>
              <a:rPr spc="-20" dirty="0"/>
              <a:t>COMPONENT</a:t>
            </a:r>
            <a:r>
              <a:rPr dirty="0"/>
              <a:t> </a:t>
            </a:r>
            <a:r>
              <a:rPr spc="-50" dirty="0"/>
              <a:t>ROLE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42972" y="2586227"/>
            <a:ext cx="4109085" cy="1607820"/>
            <a:chOff x="2442972" y="2586227"/>
            <a:chExt cx="4109085" cy="16078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2972" y="3476244"/>
              <a:ext cx="4108704" cy="7178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66060" y="2586227"/>
              <a:ext cx="3462528" cy="96164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194050" y="2829813"/>
            <a:ext cx="26047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9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000" spc="-105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000" spc="-204" dirty="0">
                <a:solidFill>
                  <a:srgbClr val="FFFFFF"/>
                </a:solidFill>
                <a:latin typeface="Times New Roman"/>
                <a:cs typeface="Times New Roman"/>
              </a:rPr>
              <a:t>CA</a:t>
            </a:r>
            <a:r>
              <a:rPr sz="2000" spc="-18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000" spc="-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15" dirty="0">
                <a:solidFill>
                  <a:srgbClr val="FFFFFF"/>
                </a:solidFill>
                <a:latin typeface="Times New Roman"/>
                <a:cs typeface="Times New Roman"/>
              </a:rPr>
              <a:t>AR</a:t>
            </a:r>
            <a:r>
              <a:rPr sz="2000" spc="-19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000" spc="-254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7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000" spc="-15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000" spc="-190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2000" spc="-114" dirty="0">
                <a:solidFill>
                  <a:srgbClr val="FFFFFF"/>
                </a:solidFill>
                <a:latin typeface="Times New Roman"/>
                <a:cs typeface="Times New Roman"/>
              </a:rPr>
              <a:t>ORK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2376" y="4174235"/>
            <a:ext cx="3462528" cy="118567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94638" y="4529709"/>
            <a:ext cx="27165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65" dirty="0">
                <a:solidFill>
                  <a:srgbClr val="FFFFFF"/>
                </a:solidFill>
                <a:latin typeface="Times New Roman"/>
                <a:cs typeface="Times New Roman"/>
              </a:rPr>
              <a:t>PEER</a:t>
            </a:r>
            <a:r>
              <a:rPr sz="2000" spc="-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7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65" dirty="0">
                <a:solidFill>
                  <a:srgbClr val="FFFFFF"/>
                </a:solidFill>
                <a:latin typeface="Times New Roman"/>
                <a:cs typeface="Times New Roman"/>
              </a:rPr>
              <a:t>PEER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7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000" spc="-15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000" spc="-190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2000" spc="-114" dirty="0">
                <a:solidFill>
                  <a:srgbClr val="FFFFFF"/>
                </a:solidFill>
                <a:latin typeface="Times New Roman"/>
                <a:cs typeface="Times New Roman"/>
              </a:rPr>
              <a:t>ORK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09744" y="4174235"/>
            <a:ext cx="3462528" cy="121462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101590" y="4544695"/>
            <a:ext cx="28835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7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000" spc="-14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000" spc="-130" dirty="0">
                <a:solidFill>
                  <a:srgbClr val="FFFFFF"/>
                </a:solidFill>
                <a:latin typeface="Times New Roman"/>
                <a:cs typeface="Times New Roman"/>
              </a:rPr>
              <a:t>IE</a:t>
            </a:r>
            <a:r>
              <a:rPr sz="2000" spc="-21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000" spc="-9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40" dirty="0">
                <a:solidFill>
                  <a:srgbClr val="FFFFFF"/>
                </a:solidFill>
                <a:latin typeface="Times New Roman"/>
                <a:cs typeface="Times New Roman"/>
              </a:rPr>
              <a:t>SE</a:t>
            </a:r>
            <a:r>
              <a:rPr sz="2000" spc="-35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000" spc="-204" dirty="0">
                <a:solidFill>
                  <a:srgbClr val="FFFFFF"/>
                </a:solidFill>
                <a:latin typeface="Times New Roman"/>
                <a:cs typeface="Times New Roman"/>
              </a:rPr>
              <a:t>VE</a:t>
            </a:r>
            <a:r>
              <a:rPr sz="2000" spc="-20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5" dirty="0">
                <a:solidFill>
                  <a:srgbClr val="FFFFFF"/>
                </a:solidFill>
                <a:latin typeface="Times New Roman"/>
                <a:cs typeface="Times New Roman"/>
              </a:rPr>
              <a:t>NET</a:t>
            </a:r>
            <a:r>
              <a:rPr sz="2000" spc="-245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2000" spc="-114" dirty="0">
                <a:solidFill>
                  <a:srgbClr val="FFFFFF"/>
                </a:solidFill>
                <a:latin typeface="Times New Roman"/>
                <a:cs typeface="Times New Roman"/>
              </a:rPr>
              <a:t>ORK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418922"/>
            <a:ext cx="54889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60" dirty="0"/>
              <a:t>PEER</a:t>
            </a:r>
            <a:r>
              <a:rPr sz="4000" spc="-15" dirty="0"/>
              <a:t> </a:t>
            </a:r>
            <a:r>
              <a:rPr sz="4000" spc="-85" dirty="0"/>
              <a:t>TO</a:t>
            </a:r>
            <a:r>
              <a:rPr sz="4000" spc="-20" dirty="0"/>
              <a:t> </a:t>
            </a:r>
            <a:r>
              <a:rPr sz="4000" spc="-55" dirty="0"/>
              <a:t>PEER</a:t>
            </a:r>
            <a:r>
              <a:rPr sz="4000" spc="-20" dirty="0"/>
              <a:t> </a:t>
            </a:r>
            <a:r>
              <a:rPr sz="4000" spc="-40" dirty="0"/>
              <a:t>NETWORK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88340" y="1238758"/>
            <a:ext cx="7806055" cy="526224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87020" marR="5080" indent="-274955">
              <a:lnSpc>
                <a:spcPct val="80000"/>
              </a:lnSpc>
              <a:spcBef>
                <a:spcPts val="620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7020" algn="l"/>
                <a:tab pos="287655" algn="l"/>
              </a:tabLst>
            </a:pPr>
            <a:r>
              <a:rPr sz="2200" spc="-285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peer-to-peer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network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75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imes New Roman"/>
                <a:cs typeface="Times New Roman"/>
              </a:rPr>
              <a:t>distributed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network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imes New Roman"/>
                <a:cs typeface="Times New Roman"/>
              </a:rPr>
              <a:t>architecture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114" dirty="0">
                <a:latin typeface="Times New Roman"/>
                <a:cs typeface="Times New Roman"/>
              </a:rPr>
              <a:t>composed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of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participants </a:t>
            </a:r>
            <a:r>
              <a:rPr sz="2200" spc="-75" dirty="0">
                <a:latin typeface="Times New Roman"/>
                <a:cs typeface="Times New Roman"/>
              </a:rPr>
              <a:t>that </a:t>
            </a:r>
            <a:r>
              <a:rPr sz="2200" spc="-145" dirty="0">
                <a:latin typeface="Times New Roman"/>
                <a:cs typeface="Times New Roman"/>
              </a:rPr>
              <a:t>make </a:t>
            </a:r>
            <a:r>
              <a:rPr sz="2200" spc="-175" dirty="0">
                <a:latin typeface="Times New Roman"/>
                <a:cs typeface="Times New Roman"/>
              </a:rPr>
              <a:t>a</a:t>
            </a:r>
            <a:r>
              <a:rPr sz="2200" spc="-170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imes New Roman"/>
                <a:cs typeface="Times New Roman"/>
              </a:rPr>
              <a:t>portion </a:t>
            </a:r>
            <a:r>
              <a:rPr sz="2200" spc="-130" dirty="0">
                <a:latin typeface="Times New Roman"/>
                <a:cs typeface="Times New Roman"/>
              </a:rPr>
              <a:t>of </a:t>
            </a:r>
            <a:r>
              <a:rPr sz="2200" spc="-60" dirty="0">
                <a:latin typeface="Times New Roman"/>
                <a:cs typeface="Times New Roman"/>
              </a:rPr>
              <a:t>their </a:t>
            </a:r>
            <a:r>
              <a:rPr sz="2200" spc="-75" dirty="0">
                <a:latin typeface="Times New Roman"/>
                <a:cs typeface="Times New Roman"/>
              </a:rPr>
              <a:t>resources, </a:t>
            </a:r>
            <a:r>
              <a:rPr sz="2200" spc="-125" dirty="0">
                <a:latin typeface="Times New Roman"/>
                <a:cs typeface="Times New Roman"/>
              </a:rPr>
              <a:t>such </a:t>
            </a:r>
            <a:r>
              <a:rPr sz="2200" spc="-175" dirty="0">
                <a:latin typeface="Times New Roman"/>
                <a:cs typeface="Times New Roman"/>
              </a:rPr>
              <a:t>as</a:t>
            </a:r>
            <a:r>
              <a:rPr sz="2200" spc="-170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processing 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power,</a:t>
            </a:r>
            <a:r>
              <a:rPr sz="2200" spc="-145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disk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storage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network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bandwidth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directly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network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participants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imes New Roman"/>
                <a:cs typeface="Times New Roman"/>
              </a:rPr>
              <a:t>without</a:t>
            </a:r>
            <a:r>
              <a:rPr sz="2200" spc="-65" dirty="0">
                <a:latin typeface="Times New Roman"/>
                <a:cs typeface="Times New Roman"/>
              </a:rPr>
              <a:t> 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need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for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imes New Roman"/>
                <a:cs typeface="Times New Roman"/>
              </a:rPr>
              <a:t>central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coordination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instances.</a:t>
            </a:r>
            <a:endParaRPr sz="2200">
              <a:latin typeface="Times New Roman"/>
              <a:cs typeface="Times New Roman"/>
            </a:endParaRPr>
          </a:p>
          <a:p>
            <a:pPr marL="287020" marR="671195" indent="-274955">
              <a:lnSpc>
                <a:spcPct val="80000"/>
              </a:lnSpc>
              <a:spcBef>
                <a:spcPts val="600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7020" algn="l"/>
                <a:tab pos="287655" algn="l"/>
              </a:tabLst>
            </a:pPr>
            <a:r>
              <a:rPr sz="2200" spc="-125" dirty="0">
                <a:latin typeface="Times New Roman"/>
                <a:cs typeface="Times New Roman"/>
              </a:rPr>
              <a:t>Used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largely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for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14" dirty="0">
                <a:latin typeface="Times New Roman"/>
                <a:cs typeface="Times New Roman"/>
              </a:rPr>
              <a:t>sharing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imes New Roman"/>
                <a:cs typeface="Times New Roman"/>
              </a:rPr>
              <a:t>content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files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such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75" dirty="0">
                <a:latin typeface="Times New Roman"/>
                <a:cs typeface="Times New Roman"/>
              </a:rPr>
              <a:t>as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audio,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video,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data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or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135" dirty="0">
                <a:latin typeface="Times New Roman"/>
                <a:cs typeface="Times New Roman"/>
              </a:rPr>
              <a:t>a</a:t>
            </a:r>
            <a:r>
              <a:rPr sz="2200" spc="-190" dirty="0">
                <a:latin typeface="Times New Roman"/>
                <a:cs typeface="Times New Roman"/>
              </a:rPr>
              <a:t>n</a:t>
            </a:r>
            <a:r>
              <a:rPr sz="2200" spc="-100" dirty="0">
                <a:latin typeface="Times New Roman"/>
                <a:cs typeface="Times New Roman"/>
              </a:rPr>
              <a:t>y</a:t>
            </a:r>
            <a:r>
              <a:rPr sz="2200" spc="-70" dirty="0">
                <a:latin typeface="Times New Roman"/>
                <a:cs typeface="Times New Roman"/>
              </a:rPr>
              <a:t>t</a:t>
            </a:r>
            <a:r>
              <a:rPr sz="2200" spc="-135" dirty="0">
                <a:latin typeface="Times New Roman"/>
                <a:cs typeface="Times New Roman"/>
              </a:rPr>
              <a:t>hing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75" dirty="0">
                <a:latin typeface="Times New Roman"/>
                <a:cs typeface="Times New Roman"/>
              </a:rPr>
              <a:t>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di</a:t>
            </a:r>
            <a:r>
              <a:rPr sz="2200" spc="-110" dirty="0">
                <a:latin typeface="Times New Roman"/>
                <a:cs typeface="Times New Roman"/>
              </a:rPr>
              <a:t>g</a:t>
            </a:r>
            <a:r>
              <a:rPr sz="2200" spc="-85" dirty="0">
                <a:latin typeface="Times New Roman"/>
                <a:cs typeface="Times New Roman"/>
              </a:rPr>
              <a:t>ital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fo</a:t>
            </a:r>
            <a:r>
              <a:rPr sz="2200" spc="75" dirty="0">
                <a:latin typeface="Times New Roman"/>
                <a:cs typeface="Times New Roman"/>
              </a:rPr>
              <a:t>r</a:t>
            </a:r>
            <a:r>
              <a:rPr sz="2200" spc="-200" dirty="0">
                <a:latin typeface="Times New Roman"/>
                <a:cs typeface="Times New Roman"/>
              </a:rPr>
              <a:t>m</a:t>
            </a:r>
            <a:r>
              <a:rPr sz="2200" spc="-135" dirty="0">
                <a:latin typeface="Times New Roman"/>
                <a:cs typeface="Times New Roman"/>
              </a:rPr>
              <a:t>a</a:t>
            </a:r>
            <a:r>
              <a:rPr sz="2200" spc="60" dirty="0">
                <a:latin typeface="Times New Roman"/>
                <a:cs typeface="Times New Roman"/>
              </a:rPr>
              <a:t>t.</a:t>
            </a:r>
            <a:endParaRPr sz="22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spcBef>
                <a:spcPts val="75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7020" algn="l"/>
                <a:tab pos="287655" algn="l"/>
              </a:tabLst>
            </a:pPr>
            <a:r>
              <a:rPr sz="2200" spc="-85" dirty="0">
                <a:latin typeface="Times New Roman"/>
                <a:cs typeface="Times New Roman"/>
              </a:rPr>
              <a:t>There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are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60" dirty="0">
                <a:latin typeface="Times New Roman"/>
                <a:cs typeface="Times New Roman"/>
              </a:rPr>
              <a:t>many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p2p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protocols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such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75" dirty="0">
                <a:latin typeface="Times New Roman"/>
                <a:cs typeface="Times New Roman"/>
              </a:rPr>
              <a:t>as</a:t>
            </a:r>
            <a:r>
              <a:rPr sz="2200" spc="-21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Ares,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Bittorrent,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eDonkey.</a:t>
            </a:r>
            <a:endParaRPr sz="22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spcBef>
                <a:spcPts val="70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7020" algn="l"/>
                <a:tab pos="287655" algn="l"/>
              </a:tabLst>
            </a:pPr>
            <a:r>
              <a:rPr sz="2200" spc="-180" dirty="0">
                <a:latin typeface="Times New Roman"/>
                <a:cs typeface="Times New Roman"/>
              </a:rPr>
              <a:t>C</a:t>
            </a:r>
            <a:r>
              <a:rPr sz="2200" spc="-114" dirty="0">
                <a:latin typeface="Times New Roman"/>
                <a:cs typeface="Times New Roman"/>
              </a:rPr>
              <a:t>a</a:t>
            </a:r>
            <a:r>
              <a:rPr sz="2200" spc="-95" dirty="0">
                <a:latin typeface="Times New Roman"/>
                <a:cs typeface="Times New Roman"/>
              </a:rPr>
              <a:t>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be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40" dirty="0">
                <a:latin typeface="Times New Roman"/>
                <a:cs typeface="Times New Roman"/>
              </a:rPr>
              <a:t>v</a:t>
            </a:r>
            <a:r>
              <a:rPr sz="2200" spc="-40" dirty="0">
                <a:latin typeface="Times New Roman"/>
                <a:cs typeface="Times New Roman"/>
              </a:rPr>
              <a:t>e</a:t>
            </a:r>
            <a:r>
              <a:rPr sz="2200" spc="-10" dirty="0">
                <a:latin typeface="Times New Roman"/>
                <a:cs typeface="Times New Roman"/>
              </a:rPr>
              <a:t>r</a:t>
            </a:r>
            <a:r>
              <a:rPr sz="2200" spc="-185" dirty="0">
                <a:latin typeface="Times New Roman"/>
                <a:cs typeface="Times New Roman"/>
              </a:rPr>
              <a:t>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l</a:t>
            </a:r>
            <a:r>
              <a:rPr sz="2200" spc="-114" dirty="0">
                <a:latin typeface="Times New Roman"/>
                <a:cs typeface="Times New Roman"/>
              </a:rPr>
              <a:t>arge</a:t>
            </a:r>
            <a:endParaRPr sz="2200">
              <a:latin typeface="Times New Roman"/>
              <a:cs typeface="Times New Roman"/>
            </a:endParaRPr>
          </a:p>
          <a:p>
            <a:pPr marL="287020" marR="135890" indent="-274955">
              <a:lnSpc>
                <a:spcPts val="2110"/>
              </a:lnSpc>
              <a:spcBef>
                <a:spcPts val="585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7020" algn="l"/>
                <a:tab pos="287655" algn="l"/>
              </a:tabLst>
            </a:pPr>
            <a:r>
              <a:rPr sz="2200" spc="-130" dirty="0">
                <a:latin typeface="Times New Roman"/>
                <a:cs typeface="Times New Roman"/>
              </a:rPr>
              <a:t>Can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35" dirty="0">
                <a:latin typeface="Times New Roman"/>
                <a:cs typeface="Times New Roman"/>
              </a:rPr>
              <a:t>also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be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14" dirty="0">
                <a:latin typeface="Times New Roman"/>
                <a:cs typeface="Times New Roman"/>
              </a:rPr>
              <a:t>used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for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business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solutions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for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relatively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small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companies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imes New Roman"/>
                <a:cs typeface="Times New Roman"/>
              </a:rPr>
              <a:t>that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190" dirty="0">
                <a:latin typeface="Times New Roman"/>
                <a:cs typeface="Times New Roman"/>
              </a:rPr>
              <a:t>may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imes New Roman"/>
                <a:cs typeface="Times New Roman"/>
              </a:rPr>
              <a:t>not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75" dirty="0">
                <a:latin typeface="Times New Roman"/>
                <a:cs typeface="Times New Roman"/>
              </a:rPr>
              <a:t>have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resources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50" dirty="0">
                <a:latin typeface="Times New Roman"/>
                <a:cs typeface="Times New Roman"/>
              </a:rPr>
              <a:t>available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to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implement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75" dirty="0">
                <a:latin typeface="Times New Roman"/>
                <a:cs typeface="Times New Roman"/>
              </a:rPr>
              <a:t>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server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solution.</a:t>
            </a:r>
            <a:endParaRPr sz="2200">
              <a:latin typeface="Times New Roman"/>
              <a:cs typeface="Times New Roman"/>
            </a:endParaRPr>
          </a:p>
          <a:p>
            <a:pPr marL="287020" marR="57785" indent="-274955">
              <a:lnSpc>
                <a:spcPct val="80000"/>
              </a:lnSpc>
              <a:spcBef>
                <a:spcPts val="620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7020" algn="l"/>
                <a:tab pos="287655" algn="l"/>
                <a:tab pos="2560320" algn="l"/>
              </a:tabLst>
            </a:pPr>
            <a:r>
              <a:rPr sz="2200" spc="-95" dirty="0">
                <a:latin typeface="Times New Roman"/>
                <a:cs typeface="Times New Roman"/>
              </a:rPr>
              <a:t>Peer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to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imes New Roman"/>
                <a:cs typeface="Times New Roman"/>
              </a:rPr>
              <a:t>peer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network	</a:t>
            </a:r>
            <a:r>
              <a:rPr sz="2200" spc="-14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useful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for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75" dirty="0">
                <a:latin typeface="Times New Roman"/>
                <a:cs typeface="Times New Roman"/>
              </a:rPr>
              <a:t>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small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network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containing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35" dirty="0">
                <a:latin typeface="Times New Roman"/>
                <a:cs typeface="Times New Roman"/>
              </a:rPr>
              <a:t>less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than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10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compute</a:t>
            </a:r>
            <a:r>
              <a:rPr sz="2200" spc="-15" dirty="0">
                <a:latin typeface="Times New Roman"/>
                <a:cs typeface="Times New Roman"/>
              </a:rPr>
              <a:t>r</a:t>
            </a:r>
            <a:r>
              <a:rPr sz="2200" spc="-170" dirty="0">
                <a:latin typeface="Times New Roman"/>
                <a:cs typeface="Times New Roman"/>
              </a:rPr>
              <a:t>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75" dirty="0">
                <a:latin typeface="Times New Roman"/>
                <a:cs typeface="Times New Roman"/>
              </a:rPr>
              <a:t>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single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245" dirty="0">
                <a:latin typeface="Times New Roman"/>
                <a:cs typeface="Times New Roman"/>
              </a:rPr>
              <a:t>L</a:t>
            </a:r>
            <a:r>
              <a:rPr sz="2200" spc="-210" dirty="0">
                <a:latin typeface="Times New Roman"/>
                <a:cs typeface="Times New Roman"/>
              </a:rPr>
              <a:t>A</a:t>
            </a:r>
            <a:r>
              <a:rPr sz="2200" spc="-204" dirty="0">
                <a:latin typeface="Times New Roman"/>
                <a:cs typeface="Times New Roman"/>
              </a:rPr>
              <a:t>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9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287020" marR="414020" indent="-274955">
              <a:lnSpc>
                <a:spcPts val="2110"/>
              </a:lnSpc>
              <a:spcBef>
                <a:spcPts val="585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7020" algn="l"/>
                <a:tab pos="287655" algn="l"/>
              </a:tabLst>
            </a:pPr>
            <a:r>
              <a:rPr sz="2200" spc="-130" dirty="0">
                <a:latin typeface="Times New Roman"/>
                <a:cs typeface="Times New Roman"/>
              </a:rPr>
              <a:t>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imes New Roman"/>
                <a:cs typeface="Times New Roman"/>
              </a:rPr>
              <a:t>peer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imes New Roman"/>
                <a:cs typeface="Times New Roman"/>
              </a:rPr>
              <a:t>peer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network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each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imes New Roman"/>
                <a:cs typeface="Times New Roman"/>
              </a:rPr>
              <a:t>computer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35" dirty="0">
                <a:latin typeface="Times New Roman"/>
                <a:cs typeface="Times New Roman"/>
              </a:rPr>
              <a:t>can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function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75" dirty="0">
                <a:latin typeface="Times New Roman"/>
                <a:cs typeface="Times New Roman"/>
              </a:rPr>
              <a:t>as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both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client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and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server.</a:t>
            </a:r>
            <a:endParaRPr sz="2200">
              <a:latin typeface="Times New Roman"/>
              <a:cs typeface="Times New Roman"/>
            </a:endParaRPr>
          </a:p>
          <a:p>
            <a:pPr marL="287020" marR="191770" indent="-274955">
              <a:lnSpc>
                <a:spcPts val="2110"/>
              </a:lnSpc>
              <a:spcBef>
                <a:spcPts val="610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7020" algn="l"/>
                <a:tab pos="287655" algn="l"/>
              </a:tabLst>
            </a:pPr>
            <a:r>
              <a:rPr sz="2200" spc="-95" dirty="0">
                <a:latin typeface="Times New Roman"/>
                <a:cs typeface="Times New Roman"/>
              </a:rPr>
              <a:t>Peer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imes New Roman"/>
                <a:cs typeface="Times New Roman"/>
              </a:rPr>
              <a:t>peer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networks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do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imes New Roman"/>
                <a:cs typeface="Times New Roman"/>
              </a:rPr>
              <a:t>not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75" dirty="0">
                <a:latin typeface="Times New Roman"/>
                <a:cs typeface="Times New Roman"/>
              </a:rPr>
              <a:t>have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75" dirty="0">
                <a:latin typeface="Times New Roman"/>
                <a:cs typeface="Times New Roman"/>
              </a:rPr>
              <a:t>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central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control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system.</a:t>
            </a:r>
            <a:r>
              <a:rPr sz="2200" spc="-40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There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are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no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s</a:t>
            </a:r>
            <a:r>
              <a:rPr sz="2200" spc="-150" dirty="0">
                <a:latin typeface="Times New Roman"/>
                <a:cs typeface="Times New Roman"/>
              </a:rPr>
              <a:t>e</a:t>
            </a:r>
            <a:r>
              <a:rPr sz="2200" spc="100" dirty="0">
                <a:latin typeface="Times New Roman"/>
                <a:cs typeface="Times New Roman"/>
              </a:rPr>
              <a:t>r</a:t>
            </a:r>
            <a:r>
              <a:rPr sz="2200" spc="-240" dirty="0">
                <a:latin typeface="Times New Roman"/>
                <a:cs typeface="Times New Roman"/>
              </a:rPr>
              <a:t>v</a:t>
            </a:r>
            <a:r>
              <a:rPr sz="2200" spc="-40" dirty="0">
                <a:latin typeface="Times New Roman"/>
                <a:cs typeface="Times New Roman"/>
              </a:rPr>
              <a:t>e</a:t>
            </a:r>
            <a:r>
              <a:rPr sz="2200" spc="10" dirty="0">
                <a:latin typeface="Times New Roman"/>
                <a:cs typeface="Times New Roman"/>
              </a:rPr>
              <a:t>r</a:t>
            </a:r>
            <a:r>
              <a:rPr sz="2200" spc="-170" dirty="0">
                <a:latin typeface="Times New Roman"/>
                <a:cs typeface="Times New Roman"/>
              </a:rPr>
              <a:t>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in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imes New Roman"/>
                <a:cs typeface="Times New Roman"/>
              </a:rPr>
              <a:t>peer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net</a:t>
            </a:r>
            <a:r>
              <a:rPr sz="2200" spc="-185" dirty="0">
                <a:latin typeface="Times New Roman"/>
                <a:cs typeface="Times New Roman"/>
              </a:rPr>
              <a:t>w</a:t>
            </a:r>
            <a:r>
              <a:rPr sz="2200" spc="-100" dirty="0">
                <a:latin typeface="Times New Roman"/>
                <a:cs typeface="Times New Roman"/>
              </a:rPr>
              <a:t>ork</a:t>
            </a:r>
            <a:r>
              <a:rPr sz="2200" spc="-145" dirty="0">
                <a:latin typeface="Times New Roman"/>
                <a:cs typeface="Times New Roman"/>
              </a:rPr>
              <a:t>s</a:t>
            </a:r>
            <a:r>
              <a:rPr sz="2200" spc="9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spcBef>
                <a:spcPts val="90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7020" algn="l"/>
                <a:tab pos="287655" algn="l"/>
              </a:tabLst>
            </a:pPr>
            <a:r>
              <a:rPr sz="2200" spc="-95" dirty="0">
                <a:latin typeface="Times New Roman"/>
                <a:cs typeface="Times New Roman"/>
              </a:rPr>
              <a:t>Peer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networks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are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amplified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into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14" dirty="0">
                <a:latin typeface="Times New Roman"/>
                <a:cs typeface="Times New Roman"/>
              </a:rPr>
              <a:t>home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imes New Roman"/>
                <a:cs typeface="Times New Roman"/>
              </a:rPr>
              <a:t>group.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80264"/>
            <a:ext cx="69462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ADVANTAGES</a:t>
            </a:r>
            <a:r>
              <a:rPr spc="-30" dirty="0"/>
              <a:t> </a:t>
            </a:r>
            <a:r>
              <a:rPr spc="-185" dirty="0"/>
              <a:t>&amp;</a:t>
            </a:r>
            <a:r>
              <a:rPr spc="-25" dirty="0"/>
              <a:t> </a:t>
            </a:r>
            <a:r>
              <a:rPr spc="-100" dirty="0"/>
              <a:t>DISADVANTAGES</a:t>
            </a:r>
            <a:r>
              <a:rPr spc="-45" dirty="0"/>
              <a:t> </a:t>
            </a:r>
            <a:r>
              <a:rPr spc="-25" dirty="0"/>
              <a:t>OF </a:t>
            </a:r>
            <a:r>
              <a:rPr spc="-885" dirty="0"/>
              <a:t> </a:t>
            </a:r>
            <a:r>
              <a:rPr spc="-45" dirty="0"/>
              <a:t>PEER</a:t>
            </a:r>
            <a:r>
              <a:rPr spc="-5" dirty="0"/>
              <a:t> </a:t>
            </a:r>
            <a:r>
              <a:rPr spc="-75" dirty="0"/>
              <a:t>TO</a:t>
            </a:r>
            <a:r>
              <a:rPr spc="-5" dirty="0"/>
              <a:t> </a:t>
            </a:r>
            <a:r>
              <a:rPr spc="-40" dirty="0"/>
              <a:t>PEER</a:t>
            </a:r>
            <a:r>
              <a:rPr spc="-5" dirty="0"/>
              <a:t> </a:t>
            </a:r>
            <a:r>
              <a:rPr spc="-35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332430"/>
            <a:ext cx="3464560" cy="313436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2800" u="heavy" spc="-1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Advantages:</a:t>
            </a:r>
            <a:endParaRPr sz="28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65"/>
              </a:spcBef>
              <a:buClr>
                <a:srgbClr val="D24717"/>
              </a:buClr>
              <a:buSzPct val="85416"/>
              <a:buFont typeface="Wingdings"/>
              <a:buChar char=""/>
              <a:tabLst>
                <a:tab pos="286385" algn="l"/>
                <a:tab pos="287020" algn="l"/>
              </a:tabLst>
            </a:pPr>
            <a:r>
              <a:rPr sz="2400" spc="-135" dirty="0">
                <a:latin typeface="Times New Roman"/>
                <a:cs typeface="Times New Roman"/>
              </a:rPr>
              <a:t>Use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l</a:t>
            </a:r>
            <a:r>
              <a:rPr sz="2400" spc="-130" dirty="0">
                <a:latin typeface="Times New Roman"/>
                <a:cs typeface="Times New Roman"/>
              </a:rPr>
              <a:t>e</a:t>
            </a:r>
            <a:r>
              <a:rPr sz="2400" spc="-185" dirty="0">
                <a:latin typeface="Times New Roman"/>
                <a:cs typeface="Times New Roman"/>
              </a:rPr>
              <a:t>ss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expen</a:t>
            </a:r>
            <a:r>
              <a:rPr sz="2400" spc="-90" dirty="0">
                <a:latin typeface="Times New Roman"/>
                <a:cs typeface="Times New Roman"/>
              </a:rPr>
              <a:t>s</a:t>
            </a:r>
            <a:r>
              <a:rPr sz="2400" spc="-114" dirty="0">
                <a:latin typeface="Times New Roman"/>
                <a:cs typeface="Times New Roman"/>
              </a:rPr>
              <a:t>i</a:t>
            </a:r>
            <a:r>
              <a:rPr sz="2400" spc="-260" dirty="0">
                <a:latin typeface="Times New Roman"/>
                <a:cs typeface="Times New Roman"/>
              </a:rPr>
              <a:t>v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comp</a:t>
            </a:r>
            <a:r>
              <a:rPr sz="2400" spc="-100" dirty="0">
                <a:latin typeface="Times New Roman"/>
                <a:cs typeface="Times New Roman"/>
              </a:rPr>
              <a:t>u</a:t>
            </a:r>
            <a:r>
              <a:rPr sz="2400" spc="-25" dirty="0">
                <a:latin typeface="Times New Roman"/>
                <a:cs typeface="Times New Roman"/>
              </a:rPr>
              <a:t>t</a:t>
            </a:r>
            <a:r>
              <a:rPr sz="2400" spc="-45" dirty="0">
                <a:latin typeface="Times New Roman"/>
                <a:cs typeface="Times New Roman"/>
              </a:rPr>
              <a:t>e</a:t>
            </a:r>
            <a:r>
              <a:rPr sz="2400" spc="25" dirty="0"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400" spc="-114" dirty="0">
                <a:latin typeface="Times New Roman"/>
                <a:cs typeface="Times New Roman"/>
              </a:rPr>
              <a:t>hardware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Wingdings"/>
              <a:buChar char=""/>
              <a:tabLst>
                <a:tab pos="286385" algn="l"/>
                <a:tab pos="287020" algn="l"/>
              </a:tabLst>
            </a:pPr>
            <a:r>
              <a:rPr sz="2400" spc="-204" dirty="0">
                <a:latin typeface="Times New Roman"/>
                <a:cs typeface="Times New Roman"/>
              </a:rPr>
              <a:t>Easy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ad</a:t>
            </a:r>
            <a:r>
              <a:rPr sz="2400" spc="-195" dirty="0">
                <a:latin typeface="Times New Roman"/>
                <a:cs typeface="Times New Roman"/>
              </a:rPr>
              <a:t>m</a:t>
            </a:r>
            <a:r>
              <a:rPr sz="2400" spc="-125" dirty="0">
                <a:latin typeface="Times New Roman"/>
                <a:cs typeface="Times New Roman"/>
              </a:rPr>
              <a:t>in</a:t>
            </a:r>
            <a:r>
              <a:rPr sz="2400" spc="-85" dirty="0">
                <a:latin typeface="Times New Roman"/>
                <a:cs typeface="Times New Roman"/>
              </a:rPr>
              <a:t>i</a:t>
            </a:r>
            <a:r>
              <a:rPr sz="2400" spc="-55" dirty="0">
                <a:latin typeface="Times New Roman"/>
                <a:cs typeface="Times New Roman"/>
              </a:rPr>
              <a:t>ster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Wingdings"/>
              <a:buChar char=""/>
              <a:tabLst>
                <a:tab pos="286385" algn="l"/>
                <a:tab pos="287020" algn="l"/>
              </a:tabLst>
            </a:pPr>
            <a:r>
              <a:rPr sz="2400" spc="-120" dirty="0">
                <a:latin typeface="Times New Roman"/>
                <a:cs typeface="Times New Roman"/>
              </a:rPr>
              <a:t>No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NOS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equ</a:t>
            </a:r>
            <a:r>
              <a:rPr sz="2400" spc="-45" dirty="0">
                <a:latin typeface="Times New Roman"/>
                <a:cs typeface="Times New Roman"/>
              </a:rPr>
              <a:t>i</a:t>
            </a:r>
            <a:r>
              <a:rPr sz="2400" spc="-70" dirty="0">
                <a:latin typeface="Times New Roman"/>
                <a:cs typeface="Times New Roman"/>
              </a:rPr>
              <a:t>r</a:t>
            </a:r>
            <a:r>
              <a:rPr sz="2400" spc="-100" dirty="0">
                <a:latin typeface="Times New Roman"/>
                <a:cs typeface="Times New Roman"/>
              </a:rPr>
              <a:t>ed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5416"/>
              <a:buFont typeface="Wingdings"/>
              <a:buChar char=""/>
              <a:tabLst>
                <a:tab pos="286385" algn="l"/>
                <a:tab pos="287020" algn="l"/>
              </a:tabLst>
            </a:pPr>
            <a:r>
              <a:rPr sz="2400" spc="-145" dirty="0">
                <a:latin typeface="Times New Roman"/>
                <a:cs typeface="Times New Roman"/>
              </a:rPr>
              <a:t>Mo</a:t>
            </a:r>
            <a:r>
              <a:rPr sz="2400" spc="-95" dirty="0">
                <a:latin typeface="Times New Roman"/>
                <a:cs typeface="Times New Roman"/>
              </a:rPr>
              <a:t>re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b</a:t>
            </a:r>
            <a:r>
              <a:rPr sz="2400" spc="-70" dirty="0">
                <a:latin typeface="Times New Roman"/>
                <a:cs typeface="Times New Roman"/>
              </a:rPr>
              <a:t>uilt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spc="-100" dirty="0">
                <a:latin typeface="Times New Roman"/>
                <a:cs typeface="Times New Roman"/>
              </a:rPr>
              <a:t>edun</a:t>
            </a:r>
            <a:r>
              <a:rPr sz="2400" spc="-135" dirty="0">
                <a:latin typeface="Times New Roman"/>
                <a:cs typeface="Times New Roman"/>
              </a:rPr>
              <a:t>dan</a:t>
            </a:r>
            <a:r>
              <a:rPr sz="2400" spc="-90" dirty="0">
                <a:latin typeface="Times New Roman"/>
                <a:cs typeface="Times New Roman"/>
              </a:rPr>
              <a:t>c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Wingdings"/>
              <a:buChar char=""/>
              <a:tabLst>
                <a:tab pos="286385" algn="l"/>
                <a:tab pos="287020" algn="l"/>
              </a:tabLst>
            </a:pPr>
            <a:r>
              <a:rPr sz="2400" spc="-204" dirty="0">
                <a:latin typeface="Times New Roman"/>
                <a:cs typeface="Times New Roman"/>
              </a:rPr>
              <a:t>Easy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setup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395" dirty="0">
                <a:latin typeface="Times New Roman"/>
                <a:cs typeface="Times New Roman"/>
              </a:rPr>
              <a:t>&amp;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l</a:t>
            </a:r>
            <a:r>
              <a:rPr sz="2400" spc="-195" dirty="0">
                <a:latin typeface="Times New Roman"/>
                <a:cs typeface="Times New Roman"/>
              </a:rPr>
              <a:t>o</a:t>
            </a:r>
            <a:r>
              <a:rPr sz="2400" spc="-135" dirty="0">
                <a:latin typeface="Times New Roman"/>
                <a:cs typeface="Times New Roman"/>
              </a:rPr>
              <a:t>w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co</a:t>
            </a:r>
            <a:r>
              <a:rPr sz="2400" spc="-120" dirty="0">
                <a:latin typeface="Times New Roman"/>
                <a:cs typeface="Times New Roman"/>
              </a:rPr>
              <a:t>s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63109" y="1362583"/>
            <a:ext cx="3472815" cy="329184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800" u="heavy" spc="-1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Disadvantages:</a:t>
            </a:r>
            <a:endParaRPr sz="2800">
              <a:latin typeface="Times New Roman"/>
              <a:cs typeface="Times New Roman"/>
            </a:endParaRPr>
          </a:p>
          <a:p>
            <a:pPr marL="287020" indent="-229235">
              <a:lnSpc>
                <a:spcPct val="100000"/>
              </a:lnSpc>
              <a:spcBef>
                <a:spcPts val="465"/>
              </a:spcBef>
              <a:buClr>
                <a:srgbClr val="9B2C1F"/>
              </a:buClr>
              <a:buSzPct val="85416"/>
              <a:buFont typeface="Wingdings"/>
              <a:buChar char=""/>
              <a:tabLst>
                <a:tab pos="287020" algn="l"/>
              </a:tabLst>
            </a:pPr>
            <a:r>
              <a:rPr sz="2400" spc="-70" dirty="0">
                <a:latin typeface="Times New Roman"/>
                <a:cs typeface="Times New Roman"/>
              </a:rPr>
              <a:t>Not </a:t>
            </a:r>
            <a:r>
              <a:rPr sz="2400" spc="-260" dirty="0">
                <a:latin typeface="Times New Roman"/>
                <a:cs typeface="Times New Roman"/>
              </a:rPr>
              <a:t>v</a:t>
            </a:r>
            <a:r>
              <a:rPr sz="2400" spc="-40" dirty="0">
                <a:latin typeface="Times New Roman"/>
                <a:cs typeface="Times New Roman"/>
              </a:rPr>
              <a:t>e</a:t>
            </a:r>
            <a:r>
              <a:rPr sz="2400" spc="-15" dirty="0">
                <a:latin typeface="Times New Roman"/>
                <a:cs typeface="Times New Roman"/>
              </a:rPr>
              <a:t>r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s</a:t>
            </a:r>
            <a:r>
              <a:rPr sz="2400" spc="-85" dirty="0">
                <a:latin typeface="Times New Roman"/>
                <a:cs typeface="Times New Roman"/>
              </a:rPr>
              <a:t>ecur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286385" marR="213995" indent="-228600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Wingdings"/>
              <a:buChar char=""/>
              <a:tabLst>
                <a:tab pos="287020" algn="l"/>
              </a:tabLst>
            </a:pPr>
            <a:r>
              <a:rPr sz="2400" spc="-120" dirty="0">
                <a:latin typeface="Times New Roman"/>
                <a:cs typeface="Times New Roman"/>
              </a:rPr>
              <a:t>No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central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p</a:t>
            </a:r>
            <a:r>
              <a:rPr sz="2400" spc="-100" dirty="0">
                <a:latin typeface="Times New Roman"/>
                <a:cs typeface="Times New Roman"/>
              </a:rPr>
              <a:t>o</a:t>
            </a:r>
            <a:r>
              <a:rPr sz="2400" spc="-65" dirty="0">
                <a:latin typeface="Times New Roman"/>
                <a:cs typeface="Times New Roman"/>
              </a:rPr>
              <a:t>int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torage  </a:t>
            </a:r>
            <a:r>
              <a:rPr sz="2400" spc="-40" dirty="0">
                <a:latin typeface="Times New Roman"/>
                <a:cs typeface="Times New Roman"/>
              </a:rPr>
              <a:t>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file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ar</a:t>
            </a:r>
            <a:r>
              <a:rPr sz="2400" spc="-75" dirty="0">
                <a:latin typeface="Times New Roman"/>
                <a:cs typeface="Times New Roman"/>
              </a:rPr>
              <a:t>c</a:t>
            </a:r>
            <a:r>
              <a:rPr sz="2400" spc="-135" dirty="0">
                <a:latin typeface="Times New Roman"/>
                <a:cs typeface="Times New Roman"/>
              </a:rPr>
              <a:t>hi</a:t>
            </a:r>
            <a:r>
              <a:rPr sz="2400" spc="-155" dirty="0">
                <a:latin typeface="Times New Roman"/>
                <a:cs typeface="Times New Roman"/>
              </a:rPr>
              <a:t>ving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28600">
              <a:lnSpc>
                <a:spcPct val="100000"/>
              </a:lnSpc>
              <a:spcBef>
                <a:spcPts val="409"/>
              </a:spcBef>
              <a:buClr>
                <a:srgbClr val="9B2C1F"/>
              </a:buClr>
              <a:buSzPct val="85416"/>
              <a:buFont typeface="Wingdings"/>
              <a:buChar char=""/>
              <a:tabLst>
                <a:tab pos="287020" algn="l"/>
              </a:tabLst>
            </a:pPr>
            <a:r>
              <a:rPr sz="2400" spc="-190" dirty="0">
                <a:latin typeface="Times New Roman"/>
                <a:cs typeface="Times New Roman"/>
              </a:rPr>
              <a:t>Ad</a:t>
            </a:r>
            <a:r>
              <a:rPr sz="2400" spc="-145" dirty="0">
                <a:latin typeface="Times New Roman"/>
                <a:cs typeface="Times New Roman"/>
              </a:rPr>
              <a:t>d</a:t>
            </a:r>
            <a:r>
              <a:rPr sz="2400" spc="-75" dirty="0">
                <a:latin typeface="Times New Roman"/>
                <a:cs typeface="Times New Roman"/>
              </a:rPr>
              <a:t>itio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180" dirty="0">
                <a:latin typeface="Times New Roman"/>
                <a:cs typeface="Times New Roman"/>
              </a:rPr>
              <a:t>a</a:t>
            </a:r>
            <a:r>
              <a:rPr sz="2400" spc="-110" dirty="0">
                <a:latin typeface="Times New Roman"/>
                <a:cs typeface="Times New Roman"/>
              </a:rPr>
              <a:t>l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loa</a:t>
            </a:r>
            <a:r>
              <a:rPr sz="2400" spc="-140" dirty="0">
                <a:latin typeface="Times New Roman"/>
                <a:cs typeface="Times New Roman"/>
              </a:rPr>
              <a:t>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co</a:t>
            </a:r>
            <a:r>
              <a:rPr sz="2400" spc="-170" dirty="0">
                <a:latin typeface="Times New Roman"/>
                <a:cs typeface="Times New Roman"/>
              </a:rPr>
              <a:t>m</a:t>
            </a:r>
            <a:r>
              <a:rPr sz="2400" spc="-105" dirty="0">
                <a:latin typeface="Times New Roman"/>
                <a:cs typeface="Times New Roman"/>
              </a:rPr>
              <a:t>p</a:t>
            </a:r>
            <a:r>
              <a:rPr sz="2400" spc="-100" dirty="0">
                <a:latin typeface="Times New Roman"/>
                <a:cs typeface="Times New Roman"/>
              </a:rPr>
              <a:t>u</a:t>
            </a:r>
            <a:r>
              <a:rPr sz="2400" spc="-10" dirty="0">
                <a:latin typeface="Times New Roman"/>
                <a:cs typeface="Times New Roman"/>
              </a:rPr>
              <a:t>ter  </a:t>
            </a:r>
            <a:r>
              <a:rPr sz="2400" spc="-135" dirty="0">
                <a:latin typeface="Times New Roman"/>
                <a:cs typeface="Times New Roman"/>
              </a:rPr>
              <a:t>because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114" dirty="0">
                <a:latin typeface="Times New Roman"/>
                <a:cs typeface="Times New Roman"/>
              </a:rPr>
              <a:t>eso</a:t>
            </a:r>
            <a:r>
              <a:rPr sz="2400" spc="-125" dirty="0">
                <a:latin typeface="Times New Roman"/>
                <a:cs typeface="Times New Roman"/>
              </a:rPr>
              <a:t>u</a:t>
            </a:r>
            <a:r>
              <a:rPr sz="2400" spc="-70" dirty="0">
                <a:latin typeface="Times New Roman"/>
                <a:cs typeface="Times New Roman"/>
              </a:rPr>
              <a:t>rc</a:t>
            </a:r>
            <a:r>
              <a:rPr sz="2400" spc="-75" dirty="0">
                <a:latin typeface="Times New Roman"/>
                <a:cs typeface="Times New Roman"/>
              </a:rPr>
              <a:t>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sh</a:t>
            </a:r>
            <a:r>
              <a:rPr sz="2400" spc="-1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r</a:t>
            </a:r>
            <a:r>
              <a:rPr sz="2400" spc="-140" dirty="0">
                <a:latin typeface="Times New Roman"/>
                <a:cs typeface="Times New Roman"/>
              </a:rPr>
              <a:t>ing</a:t>
            </a:r>
            <a:endParaRPr sz="2400">
              <a:latin typeface="Times New Roman"/>
              <a:cs typeface="Times New Roman"/>
            </a:endParaRPr>
          </a:p>
          <a:p>
            <a:pPr marL="286385" marR="436245" indent="-228600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Wingdings"/>
              <a:buChar char=""/>
              <a:tabLst>
                <a:tab pos="287020" algn="l"/>
              </a:tabLst>
            </a:pPr>
            <a:r>
              <a:rPr sz="2400" spc="-100" dirty="0">
                <a:latin typeface="Times New Roman"/>
                <a:cs typeface="Times New Roman"/>
              </a:rPr>
              <a:t>Hard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mai</a:t>
            </a:r>
            <a:r>
              <a:rPr sz="2400" spc="-135" dirty="0">
                <a:latin typeface="Times New Roman"/>
                <a:cs typeface="Times New Roman"/>
              </a:rPr>
              <a:t>n</a:t>
            </a:r>
            <a:r>
              <a:rPr sz="2400" spc="-95" dirty="0">
                <a:latin typeface="Times New Roman"/>
                <a:cs typeface="Times New Roman"/>
              </a:rPr>
              <a:t>tain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54" dirty="0">
                <a:latin typeface="Times New Roman"/>
                <a:cs typeface="Times New Roman"/>
              </a:rPr>
              <a:t>v</a:t>
            </a:r>
            <a:r>
              <a:rPr sz="2400" spc="-40" dirty="0">
                <a:latin typeface="Times New Roman"/>
                <a:cs typeface="Times New Roman"/>
              </a:rPr>
              <a:t>e</a:t>
            </a:r>
            <a:r>
              <a:rPr sz="2400" spc="15" dirty="0">
                <a:latin typeface="Times New Roman"/>
                <a:cs typeface="Times New Roman"/>
              </a:rPr>
              <a:t>r</a:t>
            </a:r>
            <a:r>
              <a:rPr sz="2400" spc="-150" dirty="0">
                <a:latin typeface="Times New Roman"/>
                <a:cs typeface="Times New Roman"/>
              </a:rPr>
              <a:t>si</a:t>
            </a:r>
            <a:r>
              <a:rPr sz="2400" spc="-80" dirty="0">
                <a:latin typeface="Times New Roman"/>
                <a:cs typeface="Times New Roman"/>
              </a:rPr>
              <a:t>on  </a:t>
            </a:r>
            <a:r>
              <a:rPr sz="2400" spc="-75" dirty="0">
                <a:latin typeface="Times New Roman"/>
                <a:cs typeface="Times New Roman"/>
              </a:rPr>
              <a:t>control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5361" y="1018768"/>
            <a:ext cx="7433550" cy="4974591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58743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5" dirty="0"/>
              <a:t>CLIENT/SERVER</a:t>
            </a:r>
            <a:r>
              <a:rPr sz="4000" spc="-40" dirty="0"/>
              <a:t> NETWORK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38402"/>
            <a:ext cx="7496175" cy="5010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40" dirty="0">
                <a:latin typeface="Times New Roman"/>
                <a:cs typeface="Times New Roman"/>
              </a:rPr>
              <a:t>In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client-server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network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relationships,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certain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computers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act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95" dirty="0">
                <a:latin typeface="Times New Roman"/>
                <a:cs typeface="Times New Roman"/>
              </a:rPr>
              <a:t>as 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server </a:t>
            </a:r>
            <a:r>
              <a:rPr sz="2400" spc="-135" dirty="0">
                <a:latin typeface="Times New Roman"/>
                <a:cs typeface="Times New Roman"/>
              </a:rPr>
              <a:t>and </a:t>
            </a:r>
            <a:r>
              <a:rPr sz="2400" spc="-60" dirty="0">
                <a:latin typeface="Times New Roman"/>
                <a:cs typeface="Times New Roman"/>
              </a:rPr>
              <a:t>other </a:t>
            </a:r>
            <a:r>
              <a:rPr sz="2400" spc="-105" dirty="0">
                <a:latin typeface="Times New Roman"/>
                <a:cs typeface="Times New Roman"/>
              </a:rPr>
              <a:t>act </a:t>
            </a:r>
            <a:r>
              <a:rPr sz="2400" spc="-190" dirty="0">
                <a:latin typeface="Times New Roman"/>
                <a:cs typeface="Times New Roman"/>
              </a:rPr>
              <a:t>as </a:t>
            </a:r>
            <a:r>
              <a:rPr sz="2400" spc="-80" dirty="0">
                <a:latin typeface="Times New Roman"/>
                <a:cs typeface="Times New Roman"/>
              </a:rPr>
              <a:t>clients. </a:t>
            </a:r>
            <a:r>
              <a:rPr sz="2400" spc="-310" dirty="0">
                <a:latin typeface="Times New Roman"/>
                <a:cs typeface="Times New Roman"/>
              </a:rPr>
              <a:t>A</a:t>
            </a:r>
            <a:r>
              <a:rPr sz="2400" spc="-305" dirty="0">
                <a:latin typeface="Times New Roman"/>
                <a:cs typeface="Times New Roman"/>
              </a:rPr>
              <a:t> </a:t>
            </a:r>
            <a:r>
              <a:rPr sz="2400" u="heavy" spc="-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server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 simply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computer, </a:t>
            </a:r>
            <a:r>
              <a:rPr sz="2400" spc="-75" dirty="0">
                <a:latin typeface="Times New Roman"/>
                <a:cs typeface="Times New Roman"/>
              </a:rPr>
              <a:t>that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available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network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resources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provides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service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other 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co</a:t>
            </a:r>
            <a:r>
              <a:rPr sz="2400" spc="-170" dirty="0">
                <a:latin typeface="Times New Roman"/>
                <a:cs typeface="Times New Roman"/>
              </a:rPr>
              <a:t>m</a:t>
            </a:r>
            <a:r>
              <a:rPr sz="2400" spc="-105" dirty="0">
                <a:latin typeface="Times New Roman"/>
                <a:cs typeface="Times New Roman"/>
              </a:rPr>
              <a:t>p</a:t>
            </a:r>
            <a:r>
              <a:rPr sz="2400" spc="-100" dirty="0">
                <a:latin typeface="Times New Roman"/>
                <a:cs typeface="Times New Roman"/>
              </a:rPr>
              <a:t>u</a:t>
            </a:r>
            <a:r>
              <a:rPr sz="2400" spc="-15" dirty="0">
                <a:latin typeface="Times New Roman"/>
                <a:cs typeface="Times New Roman"/>
              </a:rPr>
              <a:t>te</a:t>
            </a:r>
            <a:r>
              <a:rPr sz="2400" spc="30" dirty="0">
                <a:latin typeface="Times New Roman"/>
                <a:cs typeface="Times New Roman"/>
              </a:rPr>
              <a:t>r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when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</a:t>
            </a:r>
            <a:r>
              <a:rPr sz="2400" spc="-114" dirty="0">
                <a:latin typeface="Times New Roman"/>
                <a:cs typeface="Times New Roman"/>
              </a:rPr>
              <a:t>e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equ</a:t>
            </a:r>
            <a:r>
              <a:rPr sz="2400" spc="-85" dirty="0">
                <a:latin typeface="Times New Roman"/>
                <a:cs typeface="Times New Roman"/>
              </a:rPr>
              <a:t>est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it.</a:t>
            </a:r>
            <a:r>
              <a:rPr sz="2400" spc="-335" dirty="0">
                <a:latin typeface="Times New Roman"/>
                <a:cs typeface="Times New Roman"/>
              </a:rPr>
              <a:t> </a:t>
            </a:r>
            <a:r>
              <a:rPr sz="2400" spc="-310" dirty="0">
                <a:latin typeface="Times New Roman"/>
                <a:cs typeface="Times New Roman"/>
              </a:rPr>
              <a:t>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u="heavy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client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com</a:t>
            </a:r>
            <a:r>
              <a:rPr sz="2400" spc="-105" dirty="0">
                <a:latin typeface="Times New Roman"/>
                <a:cs typeface="Times New Roman"/>
              </a:rPr>
              <a:t>p</a:t>
            </a:r>
            <a:r>
              <a:rPr sz="2400" spc="-35" dirty="0">
                <a:latin typeface="Times New Roman"/>
                <a:cs typeface="Times New Roman"/>
              </a:rPr>
              <a:t>uter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8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u</a:t>
            </a:r>
            <a:r>
              <a:rPr sz="2400" spc="-100" dirty="0">
                <a:latin typeface="Times New Roman"/>
                <a:cs typeface="Times New Roman"/>
              </a:rPr>
              <a:t>nni</a:t>
            </a:r>
            <a:r>
              <a:rPr sz="2400" spc="-120" dirty="0">
                <a:latin typeface="Times New Roman"/>
                <a:cs typeface="Times New Roman"/>
              </a:rPr>
              <a:t>n</a:t>
            </a:r>
            <a:r>
              <a:rPr sz="2400" spc="-135" dirty="0">
                <a:latin typeface="Times New Roman"/>
                <a:cs typeface="Times New Roman"/>
              </a:rPr>
              <a:t>g 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p</a:t>
            </a:r>
            <a:r>
              <a:rPr sz="2400" spc="-50" dirty="0">
                <a:latin typeface="Times New Roman"/>
                <a:cs typeface="Times New Roman"/>
              </a:rPr>
              <a:t>r</a:t>
            </a:r>
            <a:r>
              <a:rPr sz="2400" spc="-150" dirty="0">
                <a:latin typeface="Times New Roman"/>
                <a:cs typeface="Times New Roman"/>
              </a:rPr>
              <a:t>o</a:t>
            </a:r>
            <a:r>
              <a:rPr sz="2400" spc="-105" dirty="0">
                <a:latin typeface="Times New Roman"/>
                <a:cs typeface="Times New Roman"/>
              </a:rPr>
              <a:t>g</a:t>
            </a:r>
            <a:r>
              <a:rPr sz="2400" spc="-85" dirty="0">
                <a:latin typeface="Times New Roman"/>
                <a:cs typeface="Times New Roman"/>
              </a:rPr>
              <a:t>ra</a:t>
            </a:r>
            <a:r>
              <a:rPr sz="2400" spc="-155" dirty="0">
                <a:latin typeface="Times New Roman"/>
                <a:cs typeface="Times New Roman"/>
              </a:rPr>
              <a:t>m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th</a:t>
            </a:r>
            <a:r>
              <a:rPr sz="2400" spc="-140" dirty="0">
                <a:latin typeface="Times New Roman"/>
                <a:cs typeface="Times New Roman"/>
              </a:rPr>
              <a:t>a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equ</a:t>
            </a:r>
            <a:r>
              <a:rPr sz="2400" spc="-110" dirty="0">
                <a:latin typeface="Times New Roman"/>
                <a:cs typeface="Times New Roman"/>
              </a:rPr>
              <a:t>ests</a:t>
            </a:r>
            <a:r>
              <a:rPr sz="2400" spc="-70" dirty="0">
                <a:latin typeface="Times New Roman"/>
                <a:cs typeface="Times New Roman"/>
              </a:rPr>
              <a:t> 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se</a:t>
            </a:r>
            <a:r>
              <a:rPr sz="2400" spc="20" dirty="0">
                <a:latin typeface="Times New Roman"/>
                <a:cs typeface="Times New Roman"/>
              </a:rPr>
              <a:t>r</a:t>
            </a:r>
            <a:r>
              <a:rPr sz="2400" spc="-140" dirty="0">
                <a:latin typeface="Times New Roman"/>
                <a:cs typeface="Times New Roman"/>
              </a:rPr>
              <a:t>vice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f</a:t>
            </a:r>
            <a:r>
              <a:rPr sz="2400" spc="-105" dirty="0">
                <a:latin typeface="Times New Roman"/>
                <a:cs typeface="Times New Roman"/>
              </a:rPr>
              <a:t>r</a:t>
            </a:r>
            <a:r>
              <a:rPr sz="2400" spc="-125" dirty="0">
                <a:latin typeface="Times New Roman"/>
                <a:cs typeface="Times New Roman"/>
              </a:rPr>
              <a:t>om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se</a:t>
            </a:r>
            <a:r>
              <a:rPr sz="2400" spc="20" dirty="0">
                <a:latin typeface="Times New Roman"/>
                <a:cs typeface="Times New Roman"/>
              </a:rPr>
              <a:t>r</a:t>
            </a:r>
            <a:r>
              <a:rPr sz="2400" spc="-254" dirty="0">
                <a:latin typeface="Times New Roman"/>
                <a:cs typeface="Times New Roman"/>
              </a:rPr>
              <a:t>v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195" dirty="0">
                <a:latin typeface="Times New Roman"/>
                <a:cs typeface="Times New Roman"/>
              </a:rPr>
              <a:t>r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 marR="69215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60" dirty="0">
                <a:latin typeface="Times New Roman"/>
                <a:cs typeface="Times New Roman"/>
              </a:rPr>
              <a:t>Local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area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network(LAN)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based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client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server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network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relationship.</a:t>
            </a:r>
            <a:endParaRPr sz="2400">
              <a:latin typeface="Times New Roman"/>
              <a:cs typeface="Times New Roman"/>
            </a:endParaRPr>
          </a:p>
          <a:p>
            <a:pPr marL="286385" marR="208915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31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client-server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network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one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which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all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available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network 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resources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such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files,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directories,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applications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shared 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d</a:t>
            </a:r>
            <a:r>
              <a:rPr sz="2400" spc="-130" dirty="0">
                <a:latin typeface="Times New Roman"/>
                <a:cs typeface="Times New Roman"/>
              </a:rPr>
              <a:t>e</a:t>
            </a:r>
            <a:r>
              <a:rPr sz="2400" spc="-135" dirty="0">
                <a:latin typeface="Times New Roman"/>
                <a:cs typeface="Times New Roman"/>
              </a:rPr>
              <a:t>vic</a:t>
            </a:r>
            <a:r>
              <a:rPr sz="2400" spc="-160" dirty="0">
                <a:latin typeface="Times New Roman"/>
                <a:cs typeface="Times New Roman"/>
              </a:rPr>
              <a:t>e</a:t>
            </a:r>
            <a:r>
              <a:rPr sz="2400" spc="-45" dirty="0">
                <a:latin typeface="Times New Roman"/>
                <a:cs typeface="Times New Roman"/>
              </a:rPr>
              <a:t>s,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a</a:t>
            </a:r>
            <a:r>
              <a:rPr sz="2400" spc="-95" dirty="0">
                <a:latin typeface="Times New Roman"/>
                <a:cs typeface="Times New Roman"/>
              </a:rPr>
              <a:t>re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c</a:t>
            </a:r>
            <a:r>
              <a:rPr sz="2400" spc="-130" dirty="0">
                <a:latin typeface="Times New Roman"/>
                <a:cs typeface="Times New Roman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ntral</a:t>
            </a:r>
            <a:r>
              <a:rPr sz="2400" spc="-110" dirty="0">
                <a:latin typeface="Times New Roman"/>
                <a:cs typeface="Times New Roman"/>
              </a:rPr>
              <a:t>l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manag</a:t>
            </a:r>
            <a:r>
              <a:rPr sz="2400" spc="-100" dirty="0">
                <a:latin typeface="Times New Roman"/>
                <a:cs typeface="Times New Roman"/>
              </a:rPr>
              <a:t>ed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hosted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Times New Roman"/>
                <a:cs typeface="Times New Roman"/>
              </a:rPr>
              <a:t>t</a:t>
            </a:r>
            <a:r>
              <a:rPr sz="2400" spc="-114" dirty="0">
                <a:latin typeface="Times New Roman"/>
                <a:cs typeface="Times New Roman"/>
              </a:rPr>
              <a:t>hen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a</a:t>
            </a:r>
            <a:r>
              <a:rPr sz="2400" spc="-95" dirty="0">
                <a:latin typeface="Times New Roman"/>
                <a:cs typeface="Times New Roman"/>
              </a:rPr>
              <a:t>re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acc</a:t>
            </a:r>
            <a:r>
              <a:rPr sz="2400" spc="-155" dirty="0">
                <a:latin typeface="Times New Roman"/>
                <a:cs typeface="Times New Roman"/>
              </a:rPr>
              <a:t>e</a:t>
            </a:r>
            <a:r>
              <a:rPr sz="2400" spc="-185" dirty="0">
                <a:latin typeface="Times New Roman"/>
                <a:cs typeface="Times New Roman"/>
              </a:rPr>
              <a:t>ss</a:t>
            </a:r>
            <a:r>
              <a:rPr sz="2400" spc="-75" dirty="0">
                <a:latin typeface="Times New Roman"/>
                <a:cs typeface="Times New Roman"/>
              </a:rPr>
              <a:t>ed  </a:t>
            </a:r>
            <a:r>
              <a:rPr sz="2400" spc="-175" dirty="0">
                <a:latin typeface="Times New Roman"/>
                <a:cs typeface="Times New Roman"/>
              </a:rPr>
              <a:t>b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r>
              <a:rPr sz="2400" spc="-60" dirty="0">
                <a:latin typeface="Times New Roman"/>
                <a:cs typeface="Times New Roman"/>
              </a:rPr>
              <a:t> client.</a:t>
            </a:r>
            <a:endParaRPr sz="2400">
              <a:latin typeface="Times New Roman"/>
              <a:cs typeface="Times New Roman"/>
            </a:endParaRPr>
          </a:p>
          <a:p>
            <a:pPr marL="286385" marR="5715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90" dirty="0">
                <a:latin typeface="Times New Roman"/>
                <a:cs typeface="Times New Roman"/>
              </a:rPr>
              <a:t>Client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serve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network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are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defined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85" dirty="0">
                <a:latin typeface="Times New Roman"/>
                <a:cs typeface="Times New Roman"/>
              </a:rPr>
              <a:t>by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presence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servers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on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 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network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that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provide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security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administration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network.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74758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ADVANTAGES</a:t>
            </a:r>
            <a:r>
              <a:rPr spc="-35" dirty="0"/>
              <a:t> </a:t>
            </a:r>
            <a:r>
              <a:rPr spc="-85" dirty="0"/>
              <a:t>AND</a:t>
            </a:r>
            <a:r>
              <a:rPr spc="-25" dirty="0"/>
              <a:t> </a:t>
            </a:r>
            <a:r>
              <a:rPr spc="-100" dirty="0"/>
              <a:t>DISADVANTAGES</a:t>
            </a:r>
            <a:r>
              <a:rPr spc="-40" dirty="0"/>
              <a:t> </a:t>
            </a:r>
            <a:r>
              <a:rPr spc="-25" dirty="0"/>
              <a:t>OF </a:t>
            </a:r>
            <a:r>
              <a:rPr spc="-885" dirty="0"/>
              <a:t> </a:t>
            </a:r>
            <a:r>
              <a:rPr spc="-30" dirty="0"/>
              <a:t>CLIENT-SERVER</a:t>
            </a:r>
            <a:r>
              <a:rPr spc="-5" dirty="0"/>
              <a:t> </a:t>
            </a:r>
            <a:r>
              <a:rPr spc="-35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891707"/>
            <a:ext cx="2646045" cy="23882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600" u="heavy" spc="-1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Advantages: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Wingdings"/>
              <a:buChar char=""/>
              <a:tabLst>
                <a:tab pos="286385" algn="l"/>
                <a:tab pos="287020" algn="l"/>
              </a:tabLst>
            </a:pPr>
            <a:r>
              <a:rPr sz="2600" spc="-625" dirty="0">
                <a:latin typeface="Times New Roman"/>
                <a:cs typeface="Times New Roman"/>
              </a:rPr>
              <a:t>V</a:t>
            </a:r>
            <a:r>
              <a:rPr sz="2600" spc="-4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sec</a:t>
            </a:r>
            <a:r>
              <a:rPr sz="2600" spc="-175" dirty="0">
                <a:latin typeface="Times New Roman"/>
                <a:cs typeface="Times New Roman"/>
              </a:rPr>
              <a:t>u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Wingdings"/>
              <a:buChar char=""/>
              <a:tabLst>
                <a:tab pos="286385" algn="l"/>
                <a:tab pos="287020" algn="l"/>
              </a:tabLst>
            </a:pPr>
            <a:r>
              <a:rPr sz="2600" spc="-85" dirty="0">
                <a:latin typeface="Times New Roman"/>
                <a:cs typeface="Times New Roman"/>
              </a:rPr>
              <a:t>Better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perf</a:t>
            </a:r>
            <a:r>
              <a:rPr sz="2600" spc="-130" dirty="0">
                <a:latin typeface="Times New Roman"/>
                <a:cs typeface="Times New Roman"/>
              </a:rPr>
              <a:t>o</a:t>
            </a:r>
            <a:r>
              <a:rPr sz="2600" spc="100" dirty="0">
                <a:latin typeface="Times New Roman"/>
                <a:cs typeface="Times New Roman"/>
              </a:rPr>
              <a:t>r</a:t>
            </a:r>
            <a:r>
              <a:rPr sz="2600" spc="-170" dirty="0">
                <a:latin typeface="Times New Roman"/>
                <a:cs typeface="Times New Roman"/>
              </a:rPr>
              <a:t>man</a:t>
            </a:r>
            <a:r>
              <a:rPr sz="2600" spc="-145" dirty="0">
                <a:latin typeface="Times New Roman"/>
                <a:cs typeface="Times New Roman"/>
              </a:rPr>
              <a:t>c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Wingdings"/>
              <a:buChar char=""/>
              <a:tabLst>
                <a:tab pos="286385" algn="l"/>
                <a:tab pos="287020" algn="l"/>
              </a:tabLst>
            </a:pPr>
            <a:r>
              <a:rPr sz="2600" spc="-105" dirty="0">
                <a:latin typeface="Times New Roman"/>
                <a:cs typeface="Times New Roman"/>
              </a:rPr>
              <a:t>Centralize</a:t>
            </a:r>
            <a:r>
              <a:rPr sz="2600" spc="-120" dirty="0">
                <a:latin typeface="Times New Roman"/>
                <a:cs typeface="Times New Roman"/>
              </a:rPr>
              <a:t>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ba</a:t>
            </a:r>
            <a:r>
              <a:rPr sz="2600" spc="-130" dirty="0">
                <a:latin typeface="Times New Roman"/>
                <a:cs typeface="Times New Roman"/>
              </a:rPr>
              <a:t>c</a:t>
            </a:r>
            <a:r>
              <a:rPr sz="2600" spc="-125" dirty="0">
                <a:latin typeface="Times New Roman"/>
                <a:cs typeface="Times New Roman"/>
              </a:rPr>
              <a:t>kup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Wingdings"/>
              <a:buChar char=""/>
              <a:tabLst>
                <a:tab pos="286385" algn="l"/>
                <a:tab pos="287020" algn="l"/>
              </a:tabLst>
            </a:pP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4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25" dirty="0">
                <a:latin typeface="Times New Roman"/>
                <a:cs typeface="Times New Roman"/>
              </a:rPr>
              <a:t>elia</a:t>
            </a:r>
            <a:r>
              <a:rPr sz="2600" spc="-210" dirty="0">
                <a:latin typeface="Times New Roman"/>
                <a:cs typeface="Times New Roman"/>
              </a:rPr>
              <a:t>b</a:t>
            </a:r>
            <a:r>
              <a:rPr sz="2600" spc="-105" dirty="0">
                <a:latin typeface="Times New Roman"/>
                <a:cs typeface="Times New Roman"/>
              </a:rPr>
              <a:t>le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63109" y="1908451"/>
            <a:ext cx="3536315" cy="251714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600" u="heavy" spc="-1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Disadvantages</a:t>
            </a:r>
            <a:r>
              <a:rPr sz="2600" spc="-150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286385" marR="969644" indent="-228600">
              <a:lnSpc>
                <a:spcPct val="100000"/>
              </a:lnSpc>
              <a:spcBef>
                <a:spcPts val="425"/>
              </a:spcBef>
              <a:buClr>
                <a:srgbClr val="9B2C1F"/>
              </a:buClr>
              <a:buSzPct val="85416"/>
              <a:buFont typeface="Wingdings"/>
              <a:buChar char="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equ</a:t>
            </a:r>
            <a:r>
              <a:rPr sz="2400" spc="-45" dirty="0">
                <a:latin typeface="Times New Roman"/>
                <a:cs typeface="Times New Roman"/>
              </a:rPr>
              <a:t>i</a:t>
            </a:r>
            <a:r>
              <a:rPr sz="2400" spc="-70" dirty="0">
                <a:latin typeface="Times New Roman"/>
                <a:cs typeface="Times New Roman"/>
              </a:rPr>
              <a:t>r</a:t>
            </a:r>
            <a:r>
              <a:rPr sz="2400" spc="-140" dirty="0">
                <a:latin typeface="Times New Roman"/>
                <a:cs typeface="Times New Roman"/>
              </a:rPr>
              <a:t>es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p</a:t>
            </a:r>
            <a:r>
              <a:rPr sz="2400" spc="-50" dirty="0">
                <a:latin typeface="Times New Roman"/>
                <a:cs typeface="Times New Roman"/>
              </a:rPr>
              <a:t>r</a:t>
            </a:r>
            <a:r>
              <a:rPr sz="2400" spc="-140" dirty="0">
                <a:latin typeface="Times New Roman"/>
                <a:cs typeface="Times New Roman"/>
              </a:rPr>
              <a:t>ofes</a:t>
            </a:r>
            <a:r>
              <a:rPr sz="2400" spc="-150" dirty="0">
                <a:latin typeface="Times New Roman"/>
                <a:cs typeface="Times New Roman"/>
              </a:rPr>
              <a:t>si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n</a:t>
            </a:r>
            <a:r>
              <a:rPr sz="2400" spc="-125" dirty="0">
                <a:latin typeface="Times New Roman"/>
                <a:cs typeface="Times New Roman"/>
              </a:rPr>
              <a:t>al  </a:t>
            </a:r>
            <a:r>
              <a:rPr sz="2400" spc="-100" dirty="0">
                <a:latin typeface="Times New Roman"/>
                <a:cs typeface="Times New Roman"/>
              </a:rPr>
              <a:t>administration</a:t>
            </a:r>
            <a:endParaRPr sz="2400">
              <a:latin typeface="Times New Roman"/>
              <a:cs typeface="Times New Roman"/>
            </a:endParaRPr>
          </a:p>
          <a:p>
            <a:pPr marL="287020" indent="-22923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Wingdings"/>
              <a:buChar char=""/>
              <a:tabLst>
                <a:tab pos="287020" algn="l"/>
              </a:tabLst>
            </a:pPr>
            <a:r>
              <a:rPr sz="2400" spc="-145" dirty="0">
                <a:latin typeface="Times New Roman"/>
                <a:cs typeface="Times New Roman"/>
              </a:rPr>
              <a:t>Mo</a:t>
            </a:r>
            <a:r>
              <a:rPr sz="2400" spc="-90" dirty="0">
                <a:latin typeface="Times New Roman"/>
                <a:cs typeface="Times New Roman"/>
              </a:rPr>
              <a:t>r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har</a:t>
            </a:r>
            <a:r>
              <a:rPr sz="2400" spc="-160" dirty="0">
                <a:latin typeface="Times New Roman"/>
                <a:cs typeface="Times New Roman"/>
              </a:rPr>
              <a:t>d</a:t>
            </a:r>
            <a:r>
              <a:rPr sz="2400" spc="-165" dirty="0">
                <a:latin typeface="Times New Roman"/>
                <a:cs typeface="Times New Roman"/>
              </a:rPr>
              <a:t>w</a:t>
            </a:r>
            <a:r>
              <a:rPr sz="2400" spc="-100" dirty="0">
                <a:latin typeface="Times New Roman"/>
                <a:cs typeface="Times New Roman"/>
              </a:rPr>
              <a:t>a</a:t>
            </a:r>
            <a:r>
              <a:rPr sz="2400" spc="-95" dirty="0">
                <a:latin typeface="Times New Roman"/>
                <a:cs typeface="Times New Roman"/>
              </a:rPr>
              <a:t>r</a:t>
            </a:r>
            <a:r>
              <a:rPr sz="2400" spc="-100" dirty="0">
                <a:latin typeface="Times New Roman"/>
                <a:cs typeface="Times New Roman"/>
              </a:rPr>
              <a:t>e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95" dirty="0">
                <a:latin typeface="Times New Roman"/>
                <a:cs typeface="Times New Roman"/>
              </a:rPr>
              <a:t>inten</a:t>
            </a:r>
            <a:r>
              <a:rPr sz="2400" spc="-90" dirty="0">
                <a:latin typeface="Times New Roman"/>
                <a:cs typeface="Times New Roman"/>
              </a:rPr>
              <a:t>s</a:t>
            </a:r>
            <a:r>
              <a:rPr sz="2400" spc="-114" dirty="0">
                <a:latin typeface="Times New Roman"/>
                <a:cs typeface="Times New Roman"/>
              </a:rPr>
              <a:t>i</a:t>
            </a:r>
            <a:r>
              <a:rPr sz="2400" spc="-260" dirty="0">
                <a:latin typeface="Times New Roman"/>
                <a:cs typeface="Times New Roman"/>
              </a:rPr>
              <a:t>v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287020" indent="-229235">
              <a:lnSpc>
                <a:spcPct val="100000"/>
              </a:lnSpc>
              <a:spcBef>
                <a:spcPts val="409"/>
              </a:spcBef>
              <a:buClr>
                <a:srgbClr val="9B2C1F"/>
              </a:buClr>
              <a:buSzPct val="85416"/>
              <a:buFont typeface="Wingdings"/>
              <a:buChar char=""/>
              <a:tabLst>
                <a:tab pos="287020" algn="l"/>
              </a:tabLst>
            </a:pPr>
            <a:r>
              <a:rPr sz="2400" spc="-145" dirty="0">
                <a:latin typeface="Times New Roman"/>
                <a:cs typeface="Times New Roman"/>
              </a:rPr>
              <a:t>Mo</a:t>
            </a:r>
            <a:r>
              <a:rPr sz="2400" spc="-95" dirty="0">
                <a:latin typeface="Times New Roman"/>
                <a:cs typeface="Times New Roman"/>
              </a:rPr>
              <a:t>re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soft</a:t>
            </a:r>
            <a:r>
              <a:rPr sz="2400" spc="-215" dirty="0">
                <a:latin typeface="Times New Roman"/>
                <a:cs typeface="Times New Roman"/>
              </a:rPr>
              <a:t>w</a:t>
            </a:r>
            <a:r>
              <a:rPr sz="2400" spc="-100" dirty="0">
                <a:latin typeface="Times New Roman"/>
                <a:cs typeface="Times New Roman"/>
              </a:rPr>
              <a:t>a</a:t>
            </a:r>
            <a:r>
              <a:rPr sz="2400" spc="-95" dirty="0">
                <a:latin typeface="Times New Roman"/>
                <a:cs typeface="Times New Roman"/>
              </a:rPr>
              <a:t>re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intensi</a:t>
            </a:r>
            <a:r>
              <a:rPr sz="2400" spc="-190" dirty="0">
                <a:latin typeface="Times New Roman"/>
                <a:cs typeface="Times New Roman"/>
              </a:rPr>
              <a:t>v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287020" indent="-22923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Wingdings"/>
              <a:buChar char=""/>
              <a:tabLst>
                <a:tab pos="287020" algn="l"/>
              </a:tabLst>
            </a:pPr>
            <a:r>
              <a:rPr sz="2400" spc="-155" dirty="0">
                <a:latin typeface="Times New Roman"/>
                <a:cs typeface="Times New Roman"/>
              </a:rPr>
              <a:t>Ex</a:t>
            </a:r>
            <a:r>
              <a:rPr sz="2400" spc="-135" dirty="0">
                <a:latin typeface="Times New Roman"/>
                <a:cs typeface="Times New Roman"/>
              </a:rPr>
              <a:t>pen</a:t>
            </a:r>
            <a:r>
              <a:rPr sz="2400" spc="-105" dirty="0">
                <a:latin typeface="Times New Roman"/>
                <a:cs typeface="Times New Roman"/>
              </a:rPr>
              <a:t>s</a:t>
            </a:r>
            <a:r>
              <a:rPr sz="2400" spc="-114" dirty="0">
                <a:latin typeface="Times New Roman"/>
                <a:cs typeface="Times New Roman"/>
              </a:rPr>
              <a:t>i</a:t>
            </a:r>
            <a:r>
              <a:rPr sz="2400" spc="-260" dirty="0">
                <a:latin typeface="Times New Roman"/>
                <a:cs typeface="Times New Roman"/>
              </a:rPr>
              <a:t>v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ded</a:t>
            </a:r>
            <a:r>
              <a:rPr sz="2400" spc="-140" dirty="0">
                <a:latin typeface="Times New Roman"/>
                <a:cs typeface="Times New Roman"/>
              </a:rPr>
              <a:t>ic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55" dirty="0">
                <a:latin typeface="Times New Roman"/>
                <a:cs typeface="Times New Roman"/>
              </a:rPr>
              <a:t>ted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so</a:t>
            </a:r>
            <a:r>
              <a:rPr sz="2400" spc="-65" dirty="0">
                <a:latin typeface="Times New Roman"/>
                <a:cs typeface="Times New Roman"/>
              </a:rPr>
              <a:t>ft</a:t>
            </a:r>
            <a:r>
              <a:rPr sz="2400" spc="-185" dirty="0">
                <a:latin typeface="Times New Roman"/>
                <a:cs typeface="Times New Roman"/>
              </a:rPr>
              <a:t>w</a:t>
            </a:r>
            <a:r>
              <a:rPr sz="2400" spc="-100" dirty="0">
                <a:latin typeface="Times New Roman"/>
                <a:cs typeface="Times New Roman"/>
              </a:rPr>
              <a:t>a</a:t>
            </a:r>
            <a:r>
              <a:rPr sz="2400" spc="-95" dirty="0">
                <a:latin typeface="Times New Roman"/>
                <a:cs typeface="Times New Roman"/>
              </a:rPr>
              <a:t>re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4256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TYPES</a:t>
            </a:r>
            <a:r>
              <a:rPr sz="4000" spc="-40" dirty="0"/>
              <a:t> </a:t>
            </a:r>
            <a:r>
              <a:rPr sz="4000" spc="-30" dirty="0"/>
              <a:t>OF</a:t>
            </a:r>
            <a:r>
              <a:rPr sz="4000" spc="-20" dirty="0"/>
              <a:t> </a:t>
            </a:r>
            <a:r>
              <a:rPr sz="4000" spc="-40" dirty="0"/>
              <a:t>SERVERS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559308" y="2798064"/>
            <a:ext cx="8260080" cy="2247900"/>
            <a:chOff x="559308" y="2798064"/>
            <a:chExt cx="8260080" cy="2247900"/>
          </a:xfrm>
        </p:grpSpPr>
        <p:sp>
          <p:nvSpPr>
            <p:cNvPr id="4" name="object 4"/>
            <p:cNvSpPr/>
            <p:nvPr/>
          </p:nvSpPr>
          <p:spPr>
            <a:xfrm>
              <a:off x="1311275" y="3885692"/>
              <a:ext cx="6756400" cy="293370"/>
            </a:xfrm>
            <a:custGeom>
              <a:avLst/>
              <a:gdLst/>
              <a:ahLst/>
              <a:cxnLst/>
              <a:rect l="l" t="t" r="r" b="b"/>
              <a:pathLst>
                <a:path w="6756400" h="293370">
                  <a:moveTo>
                    <a:pt x="3378073" y="0"/>
                  </a:moveTo>
                  <a:lnTo>
                    <a:pt x="3378073" y="146557"/>
                  </a:lnTo>
                  <a:lnTo>
                    <a:pt x="6756146" y="146557"/>
                  </a:lnTo>
                  <a:lnTo>
                    <a:pt x="6756146" y="293115"/>
                  </a:lnTo>
                </a:path>
                <a:path w="6756400" h="293370">
                  <a:moveTo>
                    <a:pt x="3378073" y="0"/>
                  </a:moveTo>
                  <a:lnTo>
                    <a:pt x="3378073" y="146557"/>
                  </a:lnTo>
                  <a:lnTo>
                    <a:pt x="5067046" y="146557"/>
                  </a:lnTo>
                  <a:lnTo>
                    <a:pt x="5067046" y="293115"/>
                  </a:lnTo>
                </a:path>
                <a:path w="6756400" h="293370">
                  <a:moveTo>
                    <a:pt x="3378073" y="0"/>
                  </a:moveTo>
                  <a:lnTo>
                    <a:pt x="3378073" y="293115"/>
                  </a:lnTo>
                </a:path>
                <a:path w="6756400" h="293370">
                  <a:moveTo>
                    <a:pt x="3378073" y="0"/>
                  </a:moveTo>
                  <a:lnTo>
                    <a:pt x="3378073" y="146557"/>
                  </a:lnTo>
                  <a:lnTo>
                    <a:pt x="1689100" y="146557"/>
                  </a:lnTo>
                  <a:lnTo>
                    <a:pt x="1689100" y="293115"/>
                  </a:lnTo>
                </a:path>
                <a:path w="6756400" h="293370">
                  <a:moveTo>
                    <a:pt x="3378073" y="0"/>
                  </a:moveTo>
                  <a:lnTo>
                    <a:pt x="3378073" y="146557"/>
                  </a:lnTo>
                  <a:lnTo>
                    <a:pt x="0" y="146557"/>
                  </a:lnTo>
                  <a:lnTo>
                    <a:pt x="0" y="293115"/>
                  </a:lnTo>
                </a:path>
              </a:pathLst>
            </a:custGeom>
            <a:ln w="12700">
              <a:solidFill>
                <a:srgbClr val="A838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8831" y="2798064"/>
              <a:ext cx="2161032" cy="11932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9308" y="4157472"/>
              <a:ext cx="1504188" cy="82448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7900" y="4157472"/>
              <a:ext cx="1560576" cy="82448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36492" y="4157472"/>
              <a:ext cx="1539239" cy="888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35167" y="4157472"/>
              <a:ext cx="1746504" cy="82448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15200" y="4157472"/>
              <a:ext cx="1504188" cy="8884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4256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TYPES</a:t>
            </a:r>
            <a:r>
              <a:rPr sz="4000" spc="-40" dirty="0"/>
              <a:t> </a:t>
            </a:r>
            <a:r>
              <a:rPr sz="4000" spc="-30" dirty="0"/>
              <a:t>OF</a:t>
            </a:r>
            <a:r>
              <a:rPr sz="4000" spc="-20" dirty="0"/>
              <a:t> </a:t>
            </a:r>
            <a:r>
              <a:rPr sz="4000" spc="-40" dirty="0"/>
              <a:t>SERVERS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10970"/>
            <a:ext cx="7501255" cy="497649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86385" marR="138430" indent="-274320">
              <a:lnSpc>
                <a:spcPct val="90100"/>
              </a:lnSpc>
              <a:spcBef>
                <a:spcPts val="38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spc="-50" dirty="0">
                <a:latin typeface="Times New Roman"/>
                <a:cs typeface="Times New Roman"/>
              </a:rPr>
              <a:t>File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5" dirty="0">
                <a:latin typeface="Times New Roman"/>
                <a:cs typeface="Times New Roman"/>
              </a:rPr>
              <a:t>server</a:t>
            </a:r>
            <a:r>
              <a:rPr sz="2400" spc="-15" dirty="0">
                <a:latin typeface="Times New Roman"/>
                <a:cs typeface="Times New Roman"/>
              </a:rPr>
              <a:t>: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These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servers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provide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services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for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storing, 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retrieving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moving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data.</a:t>
            </a:r>
            <a:r>
              <a:rPr sz="2400" spc="-350" dirty="0">
                <a:latin typeface="Times New Roman"/>
                <a:cs typeface="Times New Roman"/>
              </a:rPr>
              <a:t> </a:t>
            </a:r>
            <a:r>
              <a:rPr sz="2400" spc="-310" dirty="0">
                <a:latin typeface="Times New Roman"/>
                <a:cs typeface="Times New Roman"/>
              </a:rPr>
              <a:t>A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user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can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read,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write,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exchange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manage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files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with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help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file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servers.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ts val="2590"/>
              </a:lnSpc>
              <a:spcBef>
                <a:spcPts val="64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spc="-150" dirty="0">
                <a:latin typeface="Times New Roman"/>
                <a:cs typeface="Times New Roman"/>
              </a:rPr>
              <a:t>P</a:t>
            </a:r>
            <a:r>
              <a:rPr sz="2400" b="1" spc="-75" dirty="0">
                <a:latin typeface="Times New Roman"/>
                <a:cs typeface="Times New Roman"/>
              </a:rPr>
              <a:t>r</a:t>
            </a:r>
            <a:r>
              <a:rPr sz="2400" b="1" spc="5" dirty="0">
                <a:latin typeface="Times New Roman"/>
                <a:cs typeface="Times New Roman"/>
              </a:rPr>
              <a:t>inter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35" dirty="0">
                <a:latin typeface="Times New Roman"/>
                <a:cs typeface="Times New Roman"/>
              </a:rPr>
              <a:t>se</a:t>
            </a:r>
            <a:r>
              <a:rPr sz="2400" b="1" spc="20" dirty="0">
                <a:latin typeface="Times New Roman"/>
                <a:cs typeface="Times New Roman"/>
              </a:rPr>
              <a:t>r</a:t>
            </a:r>
            <a:r>
              <a:rPr sz="2400" b="1" spc="-50" dirty="0">
                <a:latin typeface="Times New Roman"/>
                <a:cs typeface="Times New Roman"/>
              </a:rPr>
              <a:t>v</a:t>
            </a:r>
            <a:r>
              <a:rPr sz="2400" b="1" spc="-25" dirty="0">
                <a:latin typeface="Times New Roman"/>
                <a:cs typeface="Times New Roman"/>
              </a:rPr>
              <a:t>e</a:t>
            </a:r>
            <a:r>
              <a:rPr sz="2400" b="1" spc="-15" dirty="0">
                <a:latin typeface="Times New Roman"/>
                <a:cs typeface="Times New Roman"/>
              </a:rPr>
              <a:t>r</a:t>
            </a:r>
            <a:r>
              <a:rPr sz="2400" spc="180" dirty="0">
                <a:latin typeface="Times New Roman"/>
                <a:cs typeface="Times New Roman"/>
              </a:rPr>
              <a:t>:</a:t>
            </a:r>
            <a:r>
              <a:rPr sz="2400" spc="-145" dirty="0">
                <a:latin typeface="Times New Roman"/>
                <a:cs typeface="Times New Roman"/>
              </a:rPr>
              <a:t>T</a:t>
            </a:r>
            <a:r>
              <a:rPr sz="2400" spc="-114" dirty="0">
                <a:latin typeface="Times New Roman"/>
                <a:cs typeface="Times New Roman"/>
              </a:rPr>
              <a:t>h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p</a:t>
            </a:r>
            <a:r>
              <a:rPr sz="2400" spc="20" dirty="0">
                <a:latin typeface="Times New Roman"/>
                <a:cs typeface="Times New Roman"/>
              </a:rPr>
              <a:t>r</a:t>
            </a:r>
            <a:r>
              <a:rPr sz="2400" spc="-50" dirty="0">
                <a:latin typeface="Times New Roman"/>
                <a:cs typeface="Times New Roman"/>
              </a:rPr>
              <a:t>inter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se</a:t>
            </a:r>
            <a:r>
              <a:rPr sz="2400" spc="20" dirty="0">
                <a:latin typeface="Times New Roman"/>
                <a:cs typeface="Times New Roman"/>
              </a:rPr>
              <a:t>r</a:t>
            </a:r>
            <a:r>
              <a:rPr sz="2400" spc="-254" dirty="0">
                <a:latin typeface="Times New Roman"/>
                <a:cs typeface="Times New Roman"/>
              </a:rPr>
              <a:t>v</a:t>
            </a:r>
            <a:r>
              <a:rPr sz="2400" spc="-35" dirty="0">
                <a:latin typeface="Times New Roman"/>
                <a:cs typeface="Times New Roman"/>
              </a:rPr>
              <a:t>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u</a:t>
            </a:r>
            <a:r>
              <a:rPr sz="2400" spc="-120" dirty="0">
                <a:latin typeface="Times New Roman"/>
                <a:cs typeface="Times New Roman"/>
              </a:rPr>
              <a:t>s</a:t>
            </a:r>
            <a:r>
              <a:rPr sz="2400" spc="-100" dirty="0">
                <a:latin typeface="Times New Roman"/>
                <a:cs typeface="Times New Roman"/>
              </a:rPr>
              <a:t>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for</a:t>
            </a:r>
            <a:r>
              <a:rPr sz="2400" spc="-60" dirty="0">
                <a:latin typeface="Times New Roman"/>
                <a:cs typeface="Times New Roman"/>
              </a:rPr>
              <a:t> cont</a:t>
            </a:r>
            <a:r>
              <a:rPr sz="2400" spc="-75" dirty="0">
                <a:latin typeface="Times New Roman"/>
                <a:cs typeface="Times New Roman"/>
              </a:rPr>
              <a:t>r</a:t>
            </a:r>
            <a:r>
              <a:rPr sz="2400" spc="-100" dirty="0">
                <a:latin typeface="Times New Roman"/>
                <a:cs typeface="Times New Roman"/>
              </a:rPr>
              <a:t>olli</a:t>
            </a:r>
            <a:r>
              <a:rPr sz="2400" spc="-150" dirty="0">
                <a:latin typeface="Times New Roman"/>
                <a:cs typeface="Times New Roman"/>
              </a:rPr>
              <a:t>ng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and  </a:t>
            </a:r>
            <a:r>
              <a:rPr sz="2400" spc="-155" dirty="0">
                <a:latin typeface="Times New Roman"/>
                <a:cs typeface="Times New Roman"/>
              </a:rPr>
              <a:t>managing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printing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network.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It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also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offers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fax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service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to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net</a:t>
            </a:r>
            <a:r>
              <a:rPr sz="2400" spc="-204" dirty="0">
                <a:latin typeface="Times New Roman"/>
                <a:cs typeface="Times New Roman"/>
              </a:rPr>
              <a:t>w</a:t>
            </a:r>
            <a:r>
              <a:rPr sz="2400" spc="-75" dirty="0">
                <a:latin typeface="Times New Roman"/>
                <a:cs typeface="Times New Roman"/>
              </a:rPr>
              <a:t>ork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u</a:t>
            </a:r>
            <a:r>
              <a:rPr sz="2400" spc="-120" dirty="0">
                <a:latin typeface="Times New Roman"/>
                <a:cs typeface="Times New Roman"/>
              </a:rPr>
              <a:t>s</a:t>
            </a:r>
            <a:r>
              <a:rPr sz="2400" spc="-40" dirty="0">
                <a:latin typeface="Times New Roman"/>
                <a:cs typeface="Times New Roman"/>
              </a:rPr>
              <a:t>e</a:t>
            </a:r>
            <a:r>
              <a:rPr sz="2400" spc="15" dirty="0">
                <a:latin typeface="Times New Roman"/>
                <a:cs typeface="Times New Roman"/>
              </a:rPr>
              <a:t>r</a:t>
            </a:r>
            <a:r>
              <a:rPr sz="2400" spc="-229" dirty="0">
                <a:latin typeface="Times New Roman"/>
                <a:cs typeface="Times New Roman"/>
              </a:rPr>
              <a:t>s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 marR="297180" indent="-274320">
              <a:lnSpc>
                <a:spcPts val="2590"/>
              </a:lnSpc>
              <a:spcBef>
                <a:spcPts val="60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spc="5" dirty="0">
                <a:latin typeface="Times New Roman"/>
                <a:cs typeface="Times New Roman"/>
              </a:rPr>
              <a:t>Application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5" dirty="0">
                <a:latin typeface="Times New Roman"/>
                <a:cs typeface="Times New Roman"/>
              </a:rPr>
              <a:t>server</a:t>
            </a:r>
            <a:r>
              <a:rPr sz="2400" spc="-15" dirty="0">
                <a:latin typeface="Times New Roman"/>
                <a:cs typeface="Times New Roman"/>
              </a:rPr>
              <a:t>: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The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expensive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software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additional 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computing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power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can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be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shared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85" dirty="0">
                <a:latin typeface="Times New Roman"/>
                <a:cs typeface="Times New Roman"/>
              </a:rPr>
              <a:t>by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computers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network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with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he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help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</a:t>
            </a:r>
            <a:r>
              <a:rPr sz="2400" spc="-150" dirty="0">
                <a:latin typeface="Times New Roman"/>
                <a:cs typeface="Times New Roman"/>
              </a:rPr>
              <a:t>p</a:t>
            </a:r>
            <a:r>
              <a:rPr sz="2400" spc="-105" dirty="0">
                <a:latin typeface="Times New Roman"/>
                <a:cs typeface="Times New Roman"/>
              </a:rPr>
              <a:t>pli</a:t>
            </a:r>
            <a:r>
              <a:rPr sz="2400" spc="-170" dirty="0">
                <a:latin typeface="Times New Roman"/>
                <a:cs typeface="Times New Roman"/>
              </a:rPr>
              <a:t>c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tion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se</a:t>
            </a:r>
            <a:r>
              <a:rPr sz="2400" spc="20" dirty="0">
                <a:latin typeface="Times New Roman"/>
                <a:cs typeface="Times New Roman"/>
              </a:rPr>
              <a:t>r</a:t>
            </a:r>
            <a:r>
              <a:rPr sz="2400" spc="-254" dirty="0">
                <a:latin typeface="Times New Roman"/>
                <a:cs typeface="Times New Roman"/>
              </a:rPr>
              <a:t>v</a:t>
            </a:r>
            <a:r>
              <a:rPr sz="2400" spc="-40" dirty="0">
                <a:latin typeface="Times New Roman"/>
                <a:cs typeface="Times New Roman"/>
              </a:rPr>
              <a:t>e</a:t>
            </a:r>
            <a:r>
              <a:rPr sz="2400" spc="15" dirty="0">
                <a:latin typeface="Times New Roman"/>
                <a:cs typeface="Times New Roman"/>
              </a:rPr>
              <a:t>r</a:t>
            </a:r>
            <a:r>
              <a:rPr sz="2400" spc="-229" dirty="0">
                <a:latin typeface="Times New Roman"/>
                <a:cs typeface="Times New Roman"/>
              </a:rPr>
              <a:t>s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 marR="94615" indent="-274320">
              <a:lnSpc>
                <a:spcPct val="90100"/>
              </a:lnSpc>
              <a:spcBef>
                <a:spcPts val="56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spc="-25" dirty="0">
                <a:latin typeface="Times New Roman"/>
                <a:cs typeface="Times New Roman"/>
              </a:rPr>
              <a:t>Message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35" dirty="0">
                <a:latin typeface="Times New Roman"/>
                <a:cs typeface="Times New Roman"/>
              </a:rPr>
              <a:t>se</a:t>
            </a:r>
            <a:r>
              <a:rPr sz="2400" b="1" spc="20" dirty="0">
                <a:latin typeface="Times New Roman"/>
                <a:cs typeface="Times New Roman"/>
              </a:rPr>
              <a:t>r</a:t>
            </a:r>
            <a:r>
              <a:rPr sz="2400" b="1" spc="-50" dirty="0">
                <a:latin typeface="Times New Roman"/>
                <a:cs typeface="Times New Roman"/>
              </a:rPr>
              <a:t>v</a:t>
            </a:r>
            <a:r>
              <a:rPr sz="2400" b="1" spc="-25" dirty="0">
                <a:latin typeface="Times New Roman"/>
                <a:cs typeface="Times New Roman"/>
              </a:rPr>
              <a:t>e</a:t>
            </a:r>
            <a:r>
              <a:rPr sz="2400" b="1" spc="-20" dirty="0">
                <a:latin typeface="Times New Roman"/>
                <a:cs typeface="Times New Roman"/>
              </a:rPr>
              <a:t>r</a:t>
            </a:r>
            <a:r>
              <a:rPr sz="2400" spc="30" dirty="0">
                <a:latin typeface="Times New Roman"/>
                <a:cs typeface="Times New Roman"/>
              </a:rPr>
              <a:t>: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u</a:t>
            </a:r>
            <a:r>
              <a:rPr sz="2400" spc="-125" dirty="0">
                <a:latin typeface="Times New Roman"/>
                <a:cs typeface="Times New Roman"/>
              </a:rPr>
              <a:t>sed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c</a:t>
            </a:r>
            <a:r>
              <a:rPr sz="2400" spc="-120" dirty="0">
                <a:latin typeface="Times New Roman"/>
                <a:cs typeface="Times New Roman"/>
              </a:rPr>
              <a:t>o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55" dirty="0">
                <a:latin typeface="Times New Roman"/>
                <a:cs typeface="Times New Roman"/>
              </a:rPr>
              <a:t>or</a:t>
            </a:r>
            <a:r>
              <a:rPr sz="2400" spc="-65" dirty="0">
                <a:latin typeface="Times New Roman"/>
                <a:cs typeface="Times New Roman"/>
              </a:rPr>
              <a:t>d</a:t>
            </a:r>
            <a:r>
              <a:rPr sz="2400" spc="-130" dirty="0">
                <a:latin typeface="Times New Roman"/>
                <a:cs typeface="Times New Roman"/>
              </a:rPr>
              <a:t>in</a:t>
            </a:r>
            <a:r>
              <a:rPr sz="2400" spc="-17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te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interaction  </a:t>
            </a:r>
            <a:r>
              <a:rPr sz="2400" spc="-100" dirty="0">
                <a:latin typeface="Times New Roman"/>
                <a:cs typeface="Times New Roman"/>
              </a:rPr>
              <a:t>between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users,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documents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applications.The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data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can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be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used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for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audio,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video,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binary,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text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graphics.</a:t>
            </a:r>
            <a:endParaRPr sz="2400">
              <a:latin typeface="Times New Roman"/>
              <a:cs typeface="Times New Roman"/>
            </a:endParaRPr>
          </a:p>
          <a:p>
            <a:pPr marL="286385" marR="147955" indent="-274320">
              <a:lnSpc>
                <a:spcPts val="2590"/>
              </a:lnSpc>
              <a:spcBef>
                <a:spcPts val="64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spc="-70" dirty="0">
                <a:latin typeface="Times New Roman"/>
                <a:cs typeface="Times New Roman"/>
              </a:rPr>
              <a:t>D</a:t>
            </a:r>
            <a:r>
              <a:rPr sz="2400" b="1" spc="-65" dirty="0">
                <a:latin typeface="Times New Roman"/>
                <a:cs typeface="Times New Roman"/>
              </a:rPr>
              <a:t>a</a:t>
            </a:r>
            <a:r>
              <a:rPr sz="2400" b="1" spc="-35" dirty="0">
                <a:latin typeface="Times New Roman"/>
                <a:cs typeface="Times New Roman"/>
              </a:rPr>
              <a:t>t</a:t>
            </a:r>
            <a:r>
              <a:rPr sz="2400" b="1" spc="-75" dirty="0">
                <a:latin typeface="Times New Roman"/>
                <a:cs typeface="Times New Roman"/>
              </a:rPr>
              <a:t>a</a:t>
            </a:r>
            <a:r>
              <a:rPr sz="2400" b="1" spc="-30" dirty="0">
                <a:latin typeface="Times New Roman"/>
                <a:cs typeface="Times New Roman"/>
              </a:rPr>
              <a:t>base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-35" dirty="0">
                <a:latin typeface="Times New Roman"/>
                <a:cs typeface="Times New Roman"/>
              </a:rPr>
              <a:t>se</a:t>
            </a:r>
            <a:r>
              <a:rPr sz="2400" b="1" spc="20" dirty="0">
                <a:latin typeface="Times New Roman"/>
                <a:cs typeface="Times New Roman"/>
              </a:rPr>
              <a:t>r</a:t>
            </a:r>
            <a:r>
              <a:rPr sz="2400" b="1" spc="-50" dirty="0">
                <a:latin typeface="Times New Roman"/>
                <a:cs typeface="Times New Roman"/>
              </a:rPr>
              <a:t>v</a:t>
            </a:r>
            <a:r>
              <a:rPr sz="2400" b="1" spc="-25" dirty="0">
                <a:latin typeface="Times New Roman"/>
                <a:cs typeface="Times New Roman"/>
              </a:rPr>
              <a:t>e</a:t>
            </a:r>
            <a:r>
              <a:rPr sz="2400" b="1" spc="-20" dirty="0">
                <a:latin typeface="Times New Roman"/>
                <a:cs typeface="Times New Roman"/>
              </a:rPr>
              <a:t>r</a:t>
            </a:r>
            <a:r>
              <a:rPr sz="2400" spc="30" dirty="0">
                <a:latin typeface="Times New Roman"/>
                <a:cs typeface="Times New Roman"/>
              </a:rPr>
              <a:t>: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It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t</a:t>
            </a:r>
            <a:r>
              <a:rPr sz="2400" spc="-120" dirty="0">
                <a:latin typeface="Times New Roman"/>
                <a:cs typeface="Times New Roman"/>
              </a:rPr>
              <a:t>y</a:t>
            </a:r>
            <a:r>
              <a:rPr sz="2400" spc="-100" dirty="0">
                <a:latin typeface="Times New Roman"/>
                <a:cs typeface="Times New Roman"/>
              </a:rPr>
              <a:t>pe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applic</a:t>
            </a:r>
            <a:r>
              <a:rPr sz="2400" spc="-165" dirty="0">
                <a:latin typeface="Times New Roman"/>
                <a:cs typeface="Times New Roman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se</a:t>
            </a:r>
            <a:r>
              <a:rPr sz="2400" spc="15" dirty="0">
                <a:latin typeface="Times New Roman"/>
                <a:cs typeface="Times New Roman"/>
              </a:rPr>
              <a:t>r</a:t>
            </a:r>
            <a:r>
              <a:rPr sz="2400" spc="-254" dirty="0">
                <a:latin typeface="Times New Roman"/>
                <a:cs typeface="Times New Roman"/>
              </a:rPr>
              <a:t>v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195" dirty="0">
                <a:latin typeface="Times New Roman"/>
                <a:cs typeface="Times New Roman"/>
              </a:rPr>
              <a:t>r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all</a:t>
            </a:r>
            <a:r>
              <a:rPr sz="2400" spc="-235" dirty="0">
                <a:latin typeface="Times New Roman"/>
                <a:cs typeface="Times New Roman"/>
              </a:rPr>
              <a:t>o</a:t>
            </a:r>
            <a:r>
              <a:rPr sz="2400" spc="-160" dirty="0">
                <a:latin typeface="Times New Roman"/>
                <a:cs typeface="Times New Roman"/>
              </a:rPr>
              <a:t>ws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the  </a:t>
            </a:r>
            <a:r>
              <a:rPr sz="2400" spc="-160" dirty="0">
                <a:latin typeface="Times New Roman"/>
                <a:cs typeface="Times New Roman"/>
              </a:rPr>
              <a:t>u</a:t>
            </a:r>
            <a:r>
              <a:rPr sz="2400" spc="-120" dirty="0">
                <a:latin typeface="Times New Roman"/>
                <a:cs typeface="Times New Roman"/>
              </a:rPr>
              <a:t>s</a:t>
            </a:r>
            <a:r>
              <a:rPr sz="2400" spc="-140" dirty="0">
                <a:latin typeface="Times New Roman"/>
                <a:cs typeface="Times New Roman"/>
              </a:rPr>
              <a:t>es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acces</a:t>
            </a:r>
            <a:r>
              <a:rPr sz="2400" spc="-145" dirty="0">
                <a:latin typeface="Times New Roman"/>
                <a:cs typeface="Times New Roman"/>
              </a:rPr>
              <a:t>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centralised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st</a:t>
            </a:r>
            <a:r>
              <a:rPr sz="2400" spc="-7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n</a:t>
            </a:r>
            <a:r>
              <a:rPr sz="2400" spc="-200" dirty="0">
                <a:latin typeface="Times New Roman"/>
                <a:cs typeface="Times New Roman"/>
              </a:rPr>
              <a:t>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d</a:t>
            </a:r>
            <a:r>
              <a:rPr sz="2400" spc="-165" dirty="0">
                <a:latin typeface="Times New Roman"/>
                <a:cs typeface="Times New Roman"/>
              </a:rPr>
              <a:t>a</a:t>
            </a:r>
            <a:r>
              <a:rPr sz="2400" spc="-125" dirty="0">
                <a:latin typeface="Times New Roman"/>
                <a:cs typeface="Times New Roman"/>
              </a:rPr>
              <a:t>tabas</a:t>
            </a:r>
            <a:r>
              <a:rPr sz="2400" spc="-185" dirty="0">
                <a:latin typeface="Times New Roman"/>
                <a:cs typeface="Times New Roman"/>
              </a:rPr>
              <a:t>e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45027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5" dirty="0"/>
              <a:t>Distributed</a:t>
            </a:r>
            <a:r>
              <a:rPr sz="4000" spc="-75" dirty="0"/>
              <a:t> </a:t>
            </a:r>
            <a:r>
              <a:rPr sz="4000" spc="-55" dirty="0"/>
              <a:t>Networks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732790" marR="5080" indent="-274320">
              <a:lnSpc>
                <a:spcPct val="90100"/>
              </a:lnSpc>
              <a:spcBef>
                <a:spcPts val="38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733425" algn="l"/>
                <a:tab pos="734060" algn="l"/>
              </a:tabLst>
            </a:pPr>
            <a:r>
              <a:rPr spc="-105" dirty="0"/>
              <a:t>Arrangement</a:t>
            </a:r>
            <a:r>
              <a:rPr spc="-65" dirty="0"/>
              <a:t> </a:t>
            </a:r>
            <a:r>
              <a:rPr spc="-140" dirty="0"/>
              <a:t>of</a:t>
            </a:r>
            <a:r>
              <a:rPr spc="-55" dirty="0"/>
              <a:t> </a:t>
            </a:r>
            <a:r>
              <a:rPr spc="-95" dirty="0"/>
              <a:t>networked</a:t>
            </a:r>
            <a:r>
              <a:rPr spc="-65" dirty="0"/>
              <a:t> </a:t>
            </a:r>
            <a:r>
              <a:rPr spc="-85" dirty="0"/>
              <a:t>computers</a:t>
            </a:r>
            <a:r>
              <a:rPr spc="-75" dirty="0"/>
              <a:t> </a:t>
            </a:r>
            <a:r>
              <a:rPr spc="-110" dirty="0"/>
              <a:t>in</a:t>
            </a:r>
            <a:r>
              <a:rPr spc="-55" dirty="0"/>
              <a:t> </a:t>
            </a:r>
            <a:r>
              <a:rPr spc="-130" dirty="0"/>
              <a:t>which</a:t>
            </a:r>
            <a:r>
              <a:rPr spc="-60" dirty="0"/>
              <a:t> </a:t>
            </a:r>
            <a:r>
              <a:rPr spc="-135" dirty="0"/>
              <a:t>several</a:t>
            </a:r>
            <a:r>
              <a:rPr spc="-70" dirty="0"/>
              <a:t> </a:t>
            </a:r>
            <a:r>
              <a:rPr spc="-100" dirty="0"/>
              <a:t>processors </a:t>
            </a:r>
            <a:r>
              <a:rPr spc="-585" dirty="0"/>
              <a:t> </a:t>
            </a:r>
            <a:r>
              <a:rPr spc="-65" dirty="0"/>
              <a:t>(the</a:t>
            </a:r>
            <a:r>
              <a:rPr spc="-70" dirty="0"/>
              <a:t> </a:t>
            </a:r>
            <a:r>
              <a:rPr spc="-130" dirty="0"/>
              <a:t>CPUs)</a:t>
            </a:r>
            <a:r>
              <a:rPr spc="-65" dirty="0"/>
              <a:t> </a:t>
            </a:r>
            <a:r>
              <a:rPr spc="-100" dirty="0"/>
              <a:t>are</a:t>
            </a:r>
            <a:r>
              <a:rPr spc="-60" dirty="0"/>
              <a:t> </a:t>
            </a:r>
            <a:r>
              <a:rPr spc="-105" dirty="0"/>
              <a:t>located</a:t>
            </a:r>
            <a:r>
              <a:rPr spc="-60" dirty="0"/>
              <a:t> </a:t>
            </a:r>
            <a:r>
              <a:rPr spc="-105" dirty="0"/>
              <a:t>on</a:t>
            </a:r>
            <a:r>
              <a:rPr spc="-70" dirty="0"/>
              <a:t> </a:t>
            </a:r>
            <a:r>
              <a:rPr spc="-85" dirty="0"/>
              <a:t>scattered</a:t>
            </a:r>
            <a:r>
              <a:rPr spc="-60" dirty="0"/>
              <a:t> </a:t>
            </a:r>
            <a:r>
              <a:rPr spc="-110" dirty="0"/>
              <a:t>machines,</a:t>
            </a:r>
            <a:r>
              <a:rPr spc="-175" dirty="0"/>
              <a:t> </a:t>
            </a:r>
            <a:r>
              <a:rPr spc="-75" dirty="0"/>
              <a:t>but </a:t>
            </a:r>
            <a:r>
              <a:rPr spc="-95" dirty="0"/>
              <a:t>are</a:t>
            </a:r>
            <a:r>
              <a:rPr spc="-60" dirty="0"/>
              <a:t> </a:t>
            </a:r>
            <a:r>
              <a:rPr spc="-140" dirty="0"/>
              <a:t>capable</a:t>
            </a:r>
            <a:r>
              <a:rPr spc="-75" dirty="0"/>
              <a:t> </a:t>
            </a:r>
            <a:r>
              <a:rPr spc="-140" dirty="0"/>
              <a:t>of </a:t>
            </a:r>
            <a:r>
              <a:rPr spc="-135" dirty="0"/>
              <a:t> </a:t>
            </a:r>
            <a:r>
              <a:rPr spc="-125" dirty="0"/>
              <a:t>working</a:t>
            </a:r>
            <a:r>
              <a:rPr spc="-75" dirty="0"/>
              <a:t> </a:t>
            </a:r>
            <a:r>
              <a:rPr spc="-85" dirty="0"/>
              <a:t>both</a:t>
            </a:r>
            <a:r>
              <a:rPr spc="-75" dirty="0"/>
              <a:t> </a:t>
            </a:r>
            <a:r>
              <a:rPr spc="-100" dirty="0"/>
              <a:t>independently</a:t>
            </a:r>
            <a:r>
              <a:rPr spc="-80" dirty="0"/>
              <a:t> </a:t>
            </a:r>
            <a:r>
              <a:rPr spc="-135" dirty="0"/>
              <a:t>and</a:t>
            </a:r>
            <a:r>
              <a:rPr spc="-65" dirty="0"/>
              <a:t> </a:t>
            </a:r>
            <a:r>
              <a:rPr spc="-110" dirty="0"/>
              <a:t>jointly</a:t>
            </a:r>
            <a:r>
              <a:rPr spc="-75" dirty="0"/>
              <a:t> </a:t>
            </a:r>
            <a:r>
              <a:rPr spc="-190" dirty="0"/>
              <a:t>as</a:t>
            </a:r>
            <a:r>
              <a:rPr spc="-75" dirty="0"/>
              <a:t> </a:t>
            </a:r>
            <a:r>
              <a:rPr spc="-60" dirty="0"/>
              <a:t>required.</a:t>
            </a:r>
          </a:p>
          <a:p>
            <a:pPr marL="732790" marR="99060" indent="-274320">
              <a:lnSpc>
                <a:spcPct val="9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733425" algn="l"/>
                <a:tab pos="734060" algn="l"/>
              </a:tabLst>
            </a:pPr>
            <a:r>
              <a:rPr spc="-145" dirty="0"/>
              <a:t>T</a:t>
            </a:r>
            <a:r>
              <a:rPr spc="-114" dirty="0"/>
              <a:t>h</a:t>
            </a:r>
            <a:r>
              <a:rPr spc="-95" dirty="0"/>
              <a:t>e</a:t>
            </a:r>
            <a:r>
              <a:rPr spc="-75" dirty="0"/>
              <a:t> </a:t>
            </a:r>
            <a:r>
              <a:rPr spc="-185" dirty="0"/>
              <a:t>k</a:t>
            </a:r>
            <a:r>
              <a:rPr spc="-135" dirty="0"/>
              <a:t>e</a:t>
            </a:r>
            <a:r>
              <a:rPr spc="-200" dirty="0"/>
              <a:t>y</a:t>
            </a:r>
            <a:r>
              <a:rPr spc="-60" dirty="0"/>
              <a:t> </a:t>
            </a:r>
            <a:r>
              <a:rPr spc="-105" dirty="0"/>
              <a:t>element</a:t>
            </a:r>
            <a:r>
              <a:rPr spc="-85" dirty="0"/>
              <a:t>s</a:t>
            </a:r>
            <a:r>
              <a:rPr spc="-65" dirty="0"/>
              <a:t> </a:t>
            </a:r>
            <a:r>
              <a:rPr spc="-105" dirty="0"/>
              <a:t>o</a:t>
            </a:r>
            <a:r>
              <a:rPr spc="-180" dirty="0"/>
              <a:t>f</a:t>
            </a:r>
            <a:r>
              <a:rPr spc="-75" dirty="0"/>
              <a:t> </a:t>
            </a:r>
            <a:r>
              <a:rPr spc="-80" dirty="0"/>
              <a:t>Dist</a:t>
            </a:r>
            <a:r>
              <a:rPr spc="-20" dirty="0"/>
              <a:t>r</a:t>
            </a:r>
            <a:r>
              <a:rPr spc="-90" dirty="0"/>
              <a:t>i</a:t>
            </a:r>
            <a:r>
              <a:rPr spc="-180" dirty="0"/>
              <a:t>b</a:t>
            </a:r>
            <a:r>
              <a:rPr spc="-65" dirty="0"/>
              <a:t>uted</a:t>
            </a:r>
            <a:r>
              <a:rPr spc="-70" dirty="0"/>
              <a:t> </a:t>
            </a:r>
            <a:r>
              <a:rPr spc="-80" dirty="0"/>
              <a:t>Ne</a:t>
            </a:r>
            <a:r>
              <a:rPr spc="-55" dirty="0"/>
              <a:t>t</a:t>
            </a:r>
            <a:r>
              <a:rPr spc="-225" dirty="0"/>
              <a:t>w</a:t>
            </a:r>
            <a:r>
              <a:rPr spc="-75" dirty="0"/>
              <a:t>ork</a:t>
            </a:r>
            <a:r>
              <a:rPr spc="-235" dirty="0"/>
              <a:t> </a:t>
            </a:r>
            <a:r>
              <a:rPr spc="-155" dirty="0"/>
              <a:t>Ar</a:t>
            </a:r>
            <a:r>
              <a:rPr spc="-80" dirty="0"/>
              <a:t>c</a:t>
            </a:r>
            <a:r>
              <a:rPr spc="-135" dirty="0"/>
              <a:t>hi</a:t>
            </a:r>
            <a:r>
              <a:rPr spc="-65" dirty="0"/>
              <a:t>te</a:t>
            </a:r>
            <a:r>
              <a:rPr spc="-90" dirty="0"/>
              <a:t>c</a:t>
            </a:r>
            <a:r>
              <a:rPr spc="-15" dirty="0"/>
              <a:t>tu</a:t>
            </a:r>
            <a:r>
              <a:rPr spc="-40" dirty="0"/>
              <a:t>r</a:t>
            </a:r>
            <a:r>
              <a:rPr spc="-95" dirty="0"/>
              <a:t>e</a:t>
            </a:r>
            <a:r>
              <a:rPr spc="-75" dirty="0"/>
              <a:t> </a:t>
            </a:r>
            <a:r>
              <a:rPr spc="-100" dirty="0"/>
              <a:t>a</a:t>
            </a:r>
            <a:r>
              <a:rPr spc="-95" dirty="0"/>
              <a:t>r</a:t>
            </a:r>
            <a:r>
              <a:rPr spc="-145" dirty="0"/>
              <a:t>e</a:t>
            </a:r>
            <a:r>
              <a:rPr spc="100" dirty="0"/>
              <a:t>,</a:t>
            </a:r>
            <a:r>
              <a:rPr spc="-165" dirty="0"/>
              <a:t> </a:t>
            </a:r>
            <a:r>
              <a:rPr spc="-204" dirty="0"/>
              <a:t>a</a:t>
            </a:r>
            <a:r>
              <a:rPr spc="-175" dirty="0"/>
              <a:t>s</a:t>
            </a:r>
            <a:r>
              <a:rPr spc="-65" dirty="0"/>
              <a:t> </a:t>
            </a:r>
            <a:r>
              <a:rPr spc="-60" dirty="0"/>
              <a:t>the  </a:t>
            </a:r>
            <a:r>
              <a:rPr spc="-135" dirty="0"/>
              <a:t>name</a:t>
            </a:r>
            <a:r>
              <a:rPr spc="-70" dirty="0"/>
              <a:t> </a:t>
            </a:r>
            <a:r>
              <a:rPr spc="-95" dirty="0"/>
              <a:t>implies,</a:t>
            </a:r>
            <a:r>
              <a:rPr spc="-165" dirty="0"/>
              <a:t> </a:t>
            </a:r>
            <a:r>
              <a:rPr spc="-70" dirty="0"/>
              <a:t>the</a:t>
            </a:r>
            <a:r>
              <a:rPr spc="-50" dirty="0"/>
              <a:t> </a:t>
            </a:r>
            <a:r>
              <a:rPr spc="-80" dirty="0"/>
              <a:t>distribution</a:t>
            </a:r>
            <a:r>
              <a:rPr spc="-60" dirty="0"/>
              <a:t> </a:t>
            </a:r>
            <a:r>
              <a:rPr spc="-140" dirty="0"/>
              <a:t>of</a:t>
            </a:r>
            <a:r>
              <a:rPr spc="-65" dirty="0"/>
              <a:t> </a:t>
            </a:r>
            <a:r>
              <a:rPr spc="-130" dirty="0"/>
              <a:t>decision-making</a:t>
            </a:r>
            <a:r>
              <a:rPr spc="-80" dirty="0"/>
              <a:t> </a:t>
            </a:r>
            <a:r>
              <a:rPr spc="-135" dirty="0"/>
              <a:t>and</a:t>
            </a:r>
            <a:r>
              <a:rPr spc="-60" dirty="0"/>
              <a:t> </a:t>
            </a:r>
            <a:r>
              <a:rPr spc="-75" dirty="0"/>
              <a:t>control</a:t>
            </a:r>
            <a:r>
              <a:rPr spc="-55" dirty="0"/>
              <a:t> </a:t>
            </a:r>
            <a:r>
              <a:rPr spc="-60" dirty="0"/>
              <a:t>out </a:t>
            </a:r>
            <a:r>
              <a:rPr spc="-585" dirty="0"/>
              <a:t> </a:t>
            </a:r>
            <a:r>
              <a:rPr spc="-35" dirty="0"/>
              <a:t>to</a:t>
            </a:r>
            <a:r>
              <a:rPr spc="-55" dirty="0"/>
              <a:t> </a:t>
            </a:r>
            <a:r>
              <a:rPr spc="-135" dirty="0"/>
              <a:t>each</a:t>
            </a:r>
            <a:r>
              <a:rPr spc="-55" dirty="0"/>
              <a:t> </a:t>
            </a:r>
            <a:r>
              <a:rPr spc="-65" dirty="0"/>
              <a:t>site,</a:t>
            </a:r>
            <a:r>
              <a:rPr spc="-165" dirty="0"/>
              <a:t> </a:t>
            </a:r>
            <a:r>
              <a:rPr spc="-120" dirty="0"/>
              <a:t>while</a:t>
            </a:r>
            <a:r>
              <a:rPr spc="-55" dirty="0"/>
              <a:t> </a:t>
            </a:r>
            <a:r>
              <a:rPr spc="-125" dirty="0"/>
              <a:t>simultaneously,</a:t>
            </a:r>
            <a:r>
              <a:rPr spc="-170" dirty="0"/>
              <a:t> </a:t>
            </a:r>
            <a:r>
              <a:rPr spc="-105" dirty="0"/>
              <a:t>networking</a:t>
            </a:r>
            <a:r>
              <a:rPr spc="-65" dirty="0"/>
              <a:t> </a:t>
            </a:r>
            <a:r>
              <a:rPr spc="-135" dirty="0"/>
              <a:t>and</a:t>
            </a:r>
            <a:r>
              <a:rPr spc="-55" dirty="0"/>
              <a:t> </a:t>
            </a:r>
            <a:r>
              <a:rPr spc="-130" dirty="0"/>
              <a:t>synchronizing </a:t>
            </a:r>
            <a:r>
              <a:rPr spc="-125" dirty="0"/>
              <a:t> </a:t>
            </a:r>
            <a:r>
              <a:rPr spc="-70" dirty="0"/>
              <a:t>the</a:t>
            </a:r>
            <a:r>
              <a:rPr spc="-65" dirty="0"/>
              <a:t> </a:t>
            </a:r>
            <a:r>
              <a:rPr spc="-245" dirty="0"/>
              <a:t>v</a:t>
            </a:r>
            <a:r>
              <a:rPr spc="-100" dirty="0"/>
              <a:t>a</a:t>
            </a:r>
            <a:r>
              <a:rPr spc="-25" dirty="0"/>
              <a:t>r</a:t>
            </a:r>
            <a:r>
              <a:rPr spc="-100" dirty="0"/>
              <a:t>io</a:t>
            </a:r>
            <a:r>
              <a:rPr spc="-120" dirty="0"/>
              <a:t>u</a:t>
            </a:r>
            <a:r>
              <a:rPr spc="-185" dirty="0"/>
              <a:t>s</a:t>
            </a:r>
            <a:r>
              <a:rPr spc="-85" dirty="0"/>
              <a:t> </a:t>
            </a:r>
            <a:r>
              <a:rPr spc="-110" dirty="0"/>
              <a:t>sites</a:t>
            </a:r>
            <a:r>
              <a:rPr spc="-60" dirty="0"/>
              <a:t> </a:t>
            </a:r>
            <a:r>
              <a:rPr spc="-90" dirty="0"/>
              <a:t>tog</a:t>
            </a:r>
            <a:r>
              <a:rPr spc="-105" dirty="0"/>
              <a:t>e</a:t>
            </a:r>
            <a:r>
              <a:rPr spc="-45" dirty="0"/>
              <a:t>ther</a:t>
            </a:r>
            <a:r>
              <a:rPr spc="-60" dirty="0"/>
              <a:t> </a:t>
            </a:r>
            <a:r>
              <a:rPr spc="-210" dirty="0"/>
              <a:t>v</a:t>
            </a:r>
            <a:r>
              <a:rPr spc="-155" dirty="0"/>
              <a:t>ia</a:t>
            </a:r>
            <a:r>
              <a:rPr spc="-60" dirty="0"/>
              <a:t> </a:t>
            </a:r>
            <a:r>
              <a:rPr spc="-190" dirty="0"/>
              <a:t>a</a:t>
            </a:r>
            <a:r>
              <a:rPr spc="-75" dirty="0"/>
              <a:t> </a:t>
            </a:r>
            <a:r>
              <a:rPr spc="-80" dirty="0"/>
              <a:t>central</a:t>
            </a:r>
            <a:r>
              <a:rPr spc="-60" dirty="0"/>
              <a:t> </a:t>
            </a:r>
            <a:r>
              <a:rPr spc="-125" dirty="0"/>
              <a:t>hu</a:t>
            </a:r>
            <a:r>
              <a:rPr spc="-265" dirty="0"/>
              <a:t>b</a:t>
            </a:r>
            <a:r>
              <a:rPr spc="100" dirty="0"/>
              <a:t>.</a:t>
            </a:r>
          </a:p>
          <a:p>
            <a:pPr marL="732790" marR="86360" indent="-274320">
              <a:lnSpc>
                <a:spcPts val="2590"/>
              </a:lnSpc>
              <a:spcBef>
                <a:spcPts val="64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733425" algn="l"/>
                <a:tab pos="734060" algn="l"/>
              </a:tabLst>
            </a:pPr>
            <a:r>
              <a:rPr b="1" spc="-25" dirty="0">
                <a:latin typeface="Times New Roman"/>
                <a:cs typeface="Times New Roman"/>
              </a:rPr>
              <a:t>Dist</a:t>
            </a:r>
            <a:r>
              <a:rPr b="1" spc="20" dirty="0">
                <a:latin typeface="Times New Roman"/>
                <a:cs typeface="Times New Roman"/>
              </a:rPr>
              <a:t>r</a:t>
            </a:r>
            <a:r>
              <a:rPr b="1" spc="5" dirty="0">
                <a:latin typeface="Times New Roman"/>
                <a:cs typeface="Times New Roman"/>
              </a:rPr>
              <a:t>i</a:t>
            </a:r>
            <a:r>
              <a:rPr b="1" spc="-20" dirty="0">
                <a:latin typeface="Times New Roman"/>
                <a:cs typeface="Times New Roman"/>
              </a:rPr>
              <a:t>b</a:t>
            </a:r>
            <a:r>
              <a:rPr b="1" spc="30" dirty="0">
                <a:latin typeface="Times New Roman"/>
                <a:cs typeface="Times New Roman"/>
              </a:rPr>
              <a:t>ut</a:t>
            </a:r>
            <a:r>
              <a:rPr b="1" spc="35" dirty="0">
                <a:latin typeface="Times New Roman"/>
                <a:cs typeface="Times New Roman"/>
              </a:rPr>
              <a:t>ed</a:t>
            </a:r>
            <a:r>
              <a:rPr b="1" spc="-60" dirty="0">
                <a:latin typeface="Times New Roman"/>
                <a:cs typeface="Times New Roman"/>
              </a:rPr>
              <a:t> </a:t>
            </a:r>
            <a:r>
              <a:rPr b="1" spc="40" dirty="0">
                <a:latin typeface="Times New Roman"/>
                <a:cs typeface="Times New Roman"/>
              </a:rPr>
              <a:t>net</a:t>
            </a:r>
            <a:r>
              <a:rPr b="1" spc="-5" dirty="0">
                <a:latin typeface="Times New Roman"/>
                <a:cs typeface="Times New Roman"/>
              </a:rPr>
              <a:t>w</a:t>
            </a:r>
            <a:r>
              <a:rPr b="1" spc="15" dirty="0">
                <a:latin typeface="Times New Roman"/>
                <a:cs typeface="Times New Roman"/>
              </a:rPr>
              <a:t>orking</a:t>
            </a:r>
            <a:r>
              <a:rPr b="1" spc="-70" dirty="0">
                <a:latin typeface="Times New Roman"/>
                <a:cs typeface="Times New Roman"/>
              </a:rPr>
              <a:t> </a:t>
            </a:r>
            <a:r>
              <a:rPr spc="-150" dirty="0"/>
              <a:t>is</a:t>
            </a:r>
            <a:r>
              <a:rPr spc="-70" dirty="0"/>
              <a:t> </a:t>
            </a:r>
            <a:r>
              <a:rPr spc="-190" dirty="0"/>
              <a:t>a</a:t>
            </a:r>
            <a:r>
              <a:rPr spc="-60" dirty="0"/>
              <a:t> </a:t>
            </a:r>
            <a:r>
              <a:rPr u="heavy" spc="-13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di</a:t>
            </a:r>
            <a:r>
              <a:rPr u="heavy" spc="-13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s</a:t>
            </a:r>
            <a:r>
              <a:rPr u="heavy" spc="2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t</a:t>
            </a:r>
            <a:r>
              <a:rPr u="heavy" spc="7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r</a:t>
            </a:r>
            <a:r>
              <a:rPr u="heavy" spc="-9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i</a:t>
            </a:r>
            <a:r>
              <a:rPr u="heavy" spc="-18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b</a:t>
            </a:r>
            <a:r>
              <a:rPr u="heavy" spc="-5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ute</a:t>
            </a:r>
            <a:r>
              <a:rPr u="heavy" spc="-10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d</a:t>
            </a:r>
            <a:r>
              <a:rPr u="heavy" spc="-8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 </a:t>
            </a:r>
            <a:r>
              <a:rPr u="heavy" spc="-10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co</a:t>
            </a:r>
            <a:r>
              <a:rPr u="heavy" spc="-17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m</a:t>
            </a:r>
            <a:r>
              <a:rPr u="heavy" spc="-10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p</a:t>
            </a:r>
            <a:r>
              <a:rPr u="heavy" spc="-10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/>
              </a:rPr>
              <a:t>uting</a:t>
            </a:r>
            <a:r>
              <a:rPr spc="-65" dirty="0">
                <a:solidFill>
                  <a:srgbClr val="CC9900"/>
                </a:solidFill>
                <a:hlinkClick r:id="rId2"/>
              </a:rPr>
              <a:t> </a:t>
            </a:r>
            <a:r>
              <a:rPr spc="-65" dirty="0"/>
              <a:t>net</a:t>
            </a:r>
            <a:r>
              <a:rPr spc="-204" dirty="0"/>
              <a:t>w</a:t>
            </a:r>
            <a:r>
              <a:rPr spc="-65" dirty="0"/>
              <a:t>ork  </a:t>
            </a:r>
            <a:r>
              <a:rPr spc="-95" dirty="0"/>
              <a:t>system,</a:t>
            </a:r>
            <a:r>
              <a:rPr spc="-165" dirty="0"/>
              <a:t> </a:t>
            </a:r>
            <a:r>
              <a:rPr spc="-150" dirty="0"/>
              <a:t>said</a:t>
            </a:r>
            <a:r>
              <a:rPr spc="-80" dirty="0"/>
              <a:t> </a:t>
            </a:r>
            <a:r>
              <a:rPr spc="-35" dirty="0"/>
              <a:t>to</a:t>
            </a:r>
            <a:r>
              <a:rPr spc="-60" dirty="0"/>
              <a:t> </a:t>
            </a:r>
            <a:r>
              <a:rPr spc="-110" dirty="0"/>
              <a:t>be</a:t>
            </a:r>
            <a:r>
              <a:rPr spc="-60" dirty="0"/>
              <a:t> </a:t>
            </a:r>
            <a:r>
              <a:rPr spc="-75" dirty="0"/>
              <a:t>distributed</a:t>
            </a:r>
            <a:r>
              <a:rPr spc="-85" dirty="0"/>
              <a:t> </a:t>
            </a:r>
            <a:r>
              <a:rPr spc="-120" dirty="0"/>
              <a:t>when</a:t>
            </a:r>
            <a:r>
              <a:rPr spc="-55" dirty="0"/>
              <a:t> </a:t>
            </a:r>
            <a:r>
              <a:rPr spc="-70" dirty="0"/>
              <a:t>the</a:t>
            </a:r>
            <a:r>
              <a:rPr spc="-60" dirty="0"/>
              <a:t> </a:t>
            </a:r>
            <a:r>
              <a:rPr spc="-80" dirty="0"/>
              <a:t>computer </a:t>
            </a:r>
            <a:r>
              <a:rPr spc="-114" dirty="0"/>
              <a:t>programming </a:t>
            </a:r>
            <a:r>
              <a:rPr spc="-110" dirty="0"/>
              <a:t> </a:t>
            </a:r>
            <a:r>
              <a:rPr spc="-135" dirty="0"/>
              <a:t>and</a:t>
            </a:r>
            <a:r>
              <a:rPr spc="-70" dirty="0"/>
              <a:t> the</a:t>
            </a:r>
            <a:r>
              <a:rPr spc="-60" dirty="0"/>
              <a:t> </a:t>
            </a:r>
            <a:r>
              <a:rPr spc="-120" dirty="0"/>
              <a:t>data</a:t>
            </a:r>
            <a:r>
              <a:rPr spc="-55" dirty="0"/>
              <a:t> </a:t>
            </a:r>
            <a:r>
              <a:rPr spc="-40" dirty="0"/>
              <a:t>to</a:t>
            </a:r>
            <a:r>
              <a:rPr spc="-60" dirty="0"/>
              <a:t> </a:t>
            </a:r>
            <a:r>
              <a:rPr spc="-110" dirty="0"/>
              <a:t>be</a:t>
            </a:r>
            <a:r>
              <a:rPr spc="-60" dirty="0"/>
              <a:t> </a:t>
            </a:r>
            <a:r>
              <a:rPr spc="-114" dirty="0"/>
              <a:t>worked</a:t>
            </a:r>
            <a:r>
              <a:rPr spc="-65" dirty="0"/>
              <a:t> </a:t>
            </a:r>
            <a:r>
              <a:rPr spc="-105" dirty="0"/>
              <a:t>on</a:t>
            </a:r>
            <a:r>
              <a:rPr spc="-65" dirty="0"/>
              <a:t> </a:t>
            </a:r>
            <a:r>
              <a:rPr spc="-95" dirty="0"/>
              <a:t>are</a:t>
            </a:r>
            <a:r>
              <a:rPr spc="-55" dirty="0"/>
              <a:t> </a:t>
            </a:r>
            <a:r>
              <a:rPr spc="-114" dirty="0"/>
              <a:t>spread</a:t>
            </a:r>
            <a:r>
              <a:rPr spc="-85" dirty="0"/>
              <a:t> </a:t>
            </a:r>
            <a:r>
              <a:rPr spc="-55" dirty="0"/>
              <a:t>out</a:t>
            </a:r>
            <a:r>
              <a:rPr spc="-60" dirty="0"/>
              <a:t> </a:t>
            </a:r>
            <a:r>
              <a:rPr spc="-135" dirty="0"/>
              <a:t>across</a:t>
            </a:r>
            <a:r>
              <a:rPr spc="-75" dirty="0"/>
              <a:t> </a:t>
            </a:r>
            <a:r>
              <a:rPr spc="-85" dirty="0"/>
              <a:t>more</a:t>
            </a:r>
            <a:r>
              <a:rPr spc="-75" dirty="0"/>
              <a:t> </a:t>
            </a:r>
            <a:r>
              <a:rPr spc="-105" dirty="0"/>
              <a:t>than</a:t>
            </a:r>
            <a:r>
              <a:rPr spc="-55" dirty="0"/>
              <a:t> </a:t>
            </a:r>
            <a:r>
              <a:rPr spc="-100" dirty="0"/>
              <a:t>one </a:t>
            </a:r>
            <a:r>
              <a:rPr spc="-585" dirty="0"/>
              <a:t> </a:t>
            </a:r>
            <a:r>
              <a:rPr spc="-80" dirty="0"/>
              <a:t>computer.</a:t>
            </a:r>
            <a:r>
              <a:rPr spc="-175" dirty="0"/>
              <a:t> </a:t>
            </a:r>
            <a:r>
              <a:rPr spc="-150" dirty="0"/>
              <a:t>Usually,</a:t>
            </a:r>
            <a:r>
              <a:rPr spc="-160" dirty="0"/>
              <a:t> </a:t>
            </a:r>
            <a:r>
              <a:rPr spc="-105" dirty="0"/>
              <a:t>this</a:t>
            </a:r>
            <a:r>
              <a:rPr spc="-65" dirty="0"/>
              <a:t> </a:t>
            </a:r>
            <a:r>
              <a:rPr spc="-150" dirty="0"/>
              <a:t>is</a:t>
            </a:r>
            <a:r>
              <a:rPr spc="-55" dirty="0"/>
              <a:t> </a:t>
            </a:r>
            <a:r>
              <a:rPr spc="-95" dirty="0"/>
              <a:t>implemented</a:t>
            </a:r>
            <a:r>
              <a:rPr spc="-70" dirty="0"/>
              <a:t> </a:t>
            </a:r>
            <a:r>
              <a:rPr spc="-125" dirty="0"/>
              <a:t>over</a:t>
            </a:r>
            <a:r>
              <a:rPr spc="-60" dirty="0"/>
              <a:t> </a:t>
            </a:r>
            <a:r>
              <a:rPr spc="-190" dirty="0"/>
              <a:t>a</a:t>
            </a:r>
            <a:r>
              <a:rPr spc="-65" dirty="0">
                <a:solidFill>
                  <a:srgbClr val="CC9900"/>
                </a:solidFill>
              </a:rPr>
              <a:t> </a:t>
            </a:r>
            <a:r>
              <a:rPr u="heavy" spc="-8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3"/>
              </a:rPr>
              <a:t>computer</a:t>
            </a:r>
            <a:r>
              <a:rPr u="heavy" spc="-7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3"/>
              </a:rPr>
              <a:t> </a:t>
            </a:r>
            <a:r>
              <a:rPr u="heavy" spc="-6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3"/>
              </a:rPr>
              <a:t>network</a:t>
            </a:r>
            <a:r>
              <a:rPr spc="-65" dirty="0"/>
              <a:t>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509981"/>
            <a:ext cx="83426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35" dirty="0">
                <a:latin typeface="Times New Roman"/>
                <a:cs typeface="Times New Roman"/>
              </a:rPr>
              <a:t>Benefits</a:t>
            </a:r>
            <a:r>
              <a:rPr sz="4000" spc="-100" dirty="0">
                <a:latin typeface="Times New Roman"/>
                <a:cs typeface="Times New Roman"/>
              </a:rPr>
              <a:t> </a:t>
            </a:r>
            <a:r>
              <a:rPr sz="4000" spc="-235" dirty="0">
                <a:latin typeface="Times New Roman"/>
                <a:cs typeface="Times New Roman"/>
              </a:rPr>
              <a:t>of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spc="-135" dirty="0">
                <a:latin typeface="Times New Roman"/>
                <a:cs typeface="Times New Roman"/>
              </a:rPr>
              <a:t>Distributed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spc="-160" dirty="0">
                <a:latin typeface="Times New Roman"/>
                <a:cs typeface="Times New Roman"/>
              </a:rPr>
              <a:t>Network</a:t>
            </a:r>
            <a:r>
              <a:rPr sz="4000" spc="-365" dirty="0">
                <a:latin typeface="Times New Roman"/>
                <a:cs typeface="Times New Roman"/>
              </a:rPr>
              <a:t> </a:t>
            </a:r>
            <a:r>
              <a:rPr sz="4000" spc="-145" dirty="0">
                <a:latin typeface="Times New Roman"/>
                <a:cs typeface="Times New Roman"/>
              </a:rPr>
              <a:t>Architecture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404874"/>
            <a:ext cx="7487284" cy="449897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86385" marR="146050" indent="-274320">
              <a:lnSpc>
                <a:spcPct val="90000"/>
              </a:lnSpc>
              <a:spcBef>
                <a:spcPts val="41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b="1" spc="-45" dirty="0">
                <a:latin typeface="Times New Roman"/>
                <a:cs typeface="Times New Roman"/>
              </a:rPr>
              <a:t>Scalability: </a:t>
            </a:r>
            <a:r>
              <a:rPr sz="2600" spc="-85" dirty="0">
                <a:latin typeface="Times New Roman"/>
                <a:cs typeface="Times New Roman"/>
              </a:rPr>
              <a:t>Enterprise </a:t>
            </a:r>
            <a:r>
              <a:rPr sz="2600" spc="-120" dirty="0">
                <a:latin typeface="Times New Roman"/>
                <a:cs typeface="Times New Roman"/>
              </a:rPr>
              <a:t>solutions </a:t>
            </a:r>
            <a:r>
              <a:rPr sz="2600" spc="-80" dirty="0">
                <a:latin typeface="Times New Roman"/>
                <a:cs typeface="Times New Roman"/>
              </a:rPr>
              <a:t>that </a:t>
            </a:r>
            <a:r>
              <a:rPr sz="2600" spc="-114" dirty="0">
                <a:latin typeface="Times New Roman"/>
                <a:cs typeface="Times New Roman"/>
              </a:rPr>
              <a:t>rely on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20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single 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Enterprise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server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inevitably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suffer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from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performance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issues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Enterprise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grows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server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overwhelmed. 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Moreover,</a:t>
            </a:r>
            <a:r>
              <a:rPr sz="2600" spc="-19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single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server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solutions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are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highly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susceptible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 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network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failures.</a:t>
            </a:r>
            <a:endParaRPr sz="2600">
              <a:latin typeface="Times New Roman"/>
              <a:cs typeface="Times New Roman"/>
            </a:endParaRPr>
          </a:p>
          <a:p>
            <a:pPr marL="286385" marR="172085" indent="-274320">
              <a:lnSpc>
                <a:spcPct val="9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b="1" spc="-80" dirty="0">
                <a:latin typeface="Times New Roman"/>
                <a:cs typeface="Times New Roman"/>
              </a:rPr>
              <a:t>Cost:</a:t>
            </a:r>
            <a:r>
              <a:rPr sz="2600" b="1" spc="-17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Servers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software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at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each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local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site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 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appropriately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sized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meet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specific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needs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each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site, 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without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requiring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installing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expensive</a:t>
            </a:r>
            <a:r>
              <a:rPr sz="2600" spc="-85" dirty="0">
                <a:latin typeface="Times New Roman"/>
                <a:cs typeface="Times New Roman"/>
              </a:rPr>
              <a:t> server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at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even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smallest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site</a:t>
            </a:r>
            <a:r>
              <a:rPr sz="2600" spc="-180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9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b="1" spc="-25" dirty="0">
                <a:latin typeface="Times New Roman"/>
                <a:cs typeface="Times New Roman"/>
              </a:rPr>
              <a:t>Reliability: </a:t>
            </a:r>
            <a:r>
              <a:rPr sz="2600" spc="-85" dirty="0">
                <a:latin typeface="Times New Roman"/>
                <a:cs typeface="Times New Roman"/>
              </a:rPr>
              <a:t>Distributed </a:t>
            </a:r>
            <a:r>
              <a:rPr sz="2600" spc="-100" dirty="0">
                <a:latin typeface="Times New Roman"/>
                <a:cs typeface="Times New Roman"/>
              </a:rPr>
              <a:t>Network </a:t>
            </a:r>
            <a:r>
              <a:rPr sz="2600" spc="-95" dirty="0">
                <a:latin typeface="Times New Roman"/>
                <a:cs typeface="Times New Roman"/>
              </a:rPr>
              <a:t>Architecture </a:t>
            </a:r>
            <a:r>
              <a:rPr sz="2600" spc="-165" dirty="0">
                <a:latin typeface="Times New Roman"/>
                <a:cs typeface="Times New Roman"/>
              </a:rPr>
              <a:t>is </a:t>
            </a:r>
            <a:r>
              <a:rPr sz="2600" spc="-140" dirty="0">
                <a:latin typeface="Times New Roman"/>
                <a:cs typeface="Times New Roman"/>
              </a:rPr>
              <a:t>much </a:t>
            </a:r>
            <a:r>
              <a:rPr sz="2600" spc="-13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mo</a:t>
            </a:r>
            <a:r>
              <a:rPr sz="2600" spc="-7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</a:t>
            </a:r>
            <a:r>
              <a:rPr sz="2600" spc="-55" dirty="0">
                <a:latin typeface="Times New Roman"/>
                <a:cs typeface="Times New Roman"/>
              </a:rPr>
              <a:t>o</a:t>
            </a:r>
            <a:r>
              <a:rPr sz="2600" spc="-85" dirty="0">
                <a:latin typeface="Times New Roman"/>
                <a:cs typeface="Times New Roman"/>
              </a:rPr>
              <a:t>leran</a:t>
            </a:r>
            <a:r>
              <a:rPr sz="2600" spc="-55" dirty="0">
                <a:latin typeface="Times New Roman"/>
                <a:cs typeface="Times New Roman"/>
              </a:rPr>
              <a:t>t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50" dirty="0">
                <a:latin typeface="Times New Roman"/>
                <a:cs typeface="Times New Roman"/>
              </a:rPr>
              <a:t>et</a:t>
            </a:r>
            <a:r>
              <a:rPr sz="2600" spc="-204" dirty="0">
                <a:latin typeface="Times New Roman"/>
                <a:cs typeface="Times New Roman"/>
              </a:rPr>
              <a:t>w</a:t>
            </a:r>
            <a:r>
              <a:rPr sz="2600" spc="-80" dirty="0">
                <a:latin typeface="Times New Roman"/>
                <a:cs typeface="Times New Roman"/>
              </a:rPr>
              <a:t>ork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har</a:t>
            </a:r>
            <a:r>
              <a:rPr sz="2600" spc="-175" dirty="0">
                <a:latin typeface="Times New Roman"/>
                <a:cs typeface="Times New Roman"/>
              </a:rPr>
              <a:t>d</a:t>
            </a:r>
            <a:r>
              <a:rPr sz="2600" spc="-170" dirty="0">
                <a:latin typeface="Times New Roman"/>
                <a:cs typeface="Times New Roman"/>
              </a:rPr>
              <a:t>w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f</a:t>
            </a:r>
            <a:r>
              <a:rPr sz="2600" spc="-110" dirty="0">
                <a:latin typeface="Times New Roman"/>
                <a:cs typeface="Times New Roman"/>
              </a:rPr>
              <a:t>ailu</a:t>
            </a:r>
            <a:r>
              <a:rPr sz="2600" spc="-120" dirty="0">
                <a:latin typeface="Times New Roman"/>
                <a:cs typeface="Times New Roman"/>
              </a:rPr>
              <a:t>r</a:t>
            </a:r>
            <a:r>
              <a:rPr sz="2600" spc="-150" dirty="0">
                <a:latin typeface="Times New Roman"/>
                <a:cs typeface="Times New Roman"/>
              </a:rPr>
              <a:t>es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than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single  </a:t>
            </a:r>
            <a:r>
              <a:rPr sz="2600" spc="-85" dirty="0">
                <a:latin typeface="Times New Roman"/>
                <a:cs typeface="Times New Roman"/>
              </a:rPr>
              <a:t>server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approach.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1547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Out</a:t>
            </a:r>
            <a:r>
              <a:rPr sz="4000" spc="-35" dirty="0"/>
              <a:t>line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914400" y="1450594"/>
            <a:ext cx="6858000" cy="5100320"/>
          </a:xfrm>
          <a:custGeom>
            <a:avLst/>
            <a:gdLst/>
            <a:ahLst/>
            <a:cxnLst/>
            <a:rect l="l" t="t" r="r" b="b"/>
            <a:pathLst>
              <a:path w="6858000" h="5100320">
                <a:moveTo>
                  <a:pt x="0" y="77215"/>
                </a:moveTo>
                <a:lnTo>
                  <a:pt x="6067" y="47148"/>
                </a:lnTo>
                <a:lnTo>
                  <a:pt x="22615" y="22605"/>
                </a:lnTo>
                <a:lnTo>
                  <a:pt x="47159" y="6064"/>
                </a:lnTo>
                <a:lnTo>
                  <a:pt x="77215" y="0"/>
                </a:lnTo>
                <a:lnTo>
                  <a:pt x="6780783" y="0"/>
                </a:lnTo>
                <a:lnTo>
                  <a:pt x="6810851" y="6064"/>
                </a:lnTo>
                <a:lnTo>
                  <a:pt x="6835394" y="22606"/>
                </a:lnTo>
                <a:lnTo>
                  <a:pt x="6851935" y="47148"/>
                </a:lnTo>
                <a:lnTo>
                  <a:pt x="6858000" y="77215"/>
                </a:lnTo>
                <a:lnTo>
                  <a:pt x="6858000" y="386079"/>
                </a:lnTo>
                <a:lnTo>
                  <a:pt x="6851935" y="416147"/>
                </a:lnTo>
                <a:lnTo>
                  <a:pt x="6835394" y="440689"/>
                </a:lnTo>
                <a:lnTo>
                  <a:pt x="6810851" y="457231"/>
                </a:lnTo>
                <a:lnTo>
                  <a:pt x="6780783" y="463295"/>
                </a:lnTo>
                <a:lnTo>
                  <a:pt x="77215" y="463295"/>
                </a:lnTo>
                <a:lnTo>
                  <a:pt x="47159" y="457231"/>
                </a:lnTo>
                <a:lnTo>
                  <a:pt x="22615" y="440689"/>
                </a:lnTo>
                <a:lnTo>
                  <a:pt x="6067" y="416147"/>
                </a:lnTo>
                <a:lnTo>
                  <a:pt x="0" y="386079"/>
                </a:lnTo>
                <a:lnTo>
                  <a:pt x="0" y="77215"/>
                </a:lnTo>
                <a:close/>
              </a:path>
              <a:path w="6858000" h="5100320">
                <a:moveTo>
                  <a:pt x="0" y="592454"/>
                </a:moveTo>
                <a:lnTo>
                  <a:pt x="6067" y="562387"/>
                </a:lnTo>
                <a:lnTo>
                  <a:pt x="22615" y="537844"/>
                </a:lnTo>
                <a:lnTo>
                  <a:pt x="47159" y="521303"/>
                </a:lnTo>
                <a:lnTo>
                  <a:pt x="77215" y="515238"/>
                </a:lnTo>
                <a:lnTo>
                  <a:pt x="6780783" y="515238"/>
                </a:lnTo>
                <a:lnTo>
                  <a:pt x="6810851" y="521303"/>
                </a:lnTo>
                <a:lnTo>
                  <a:pt x="6835394" y="537845"/>
                </a:lnTo>
                <a:lnTo>
                  <a:pt x="6851935" y="562387"/>
                </a:lnTo>
                <a:lnTo>
                  <a:pt x="6858000" y="592454"/>
                </a:lnTo>
                <a:lnTo>
                  <a:pt x="6858000" y="901318"/>
                </a:lnTo>
                <a:lnTo>
                  <a:pt x="6851935" y="931386"/>
                </a:lnTo>
                <a:lnTo>
                  <a:pt x="6835394" y="955928"/>
                </a:lnTo>
                <a:lnTo>
                  <a:pt x="6810851" y="972470"/>
                </a:lnTo>
                <a:lnTo>
                  <a:pt x="6780783" y="978534"/>
                </a:lnTo>
                <a:lnTo>
                  <a:pt x="77215" y="978534"/>
                </a:lnTo>
                <a:lnTo>
                  <a:pt x="47159" y="972470"/>
                </a:lnTo>
                <a:lnTo>
                  <a:pt x="22615" y="955928"/>
                </a:lnTo>
                <a:lnTo>
                  <a:pt x="6067" y="931386"/>
                </a:lnTo>
                <a:lnTo>
                  <a:pt x="0" y="901318"/>
                </a:lnTo>
                <a:lnTo>
                  <a:pt x="0" y="592454"/>
                </a:lnTo>
                <a:close/>
              </a:path>
              <a:path w="6858000" h="5100320">
                <a:moveTo>
                  <a:pt x="0" y="1107566"/>
                </a:moveTo>
                <a:lnTo>
                  <a:pt x="6067" y="1077499"/>
                </a:lnTo>
                <a:lnTo>
                  <a:pt x="22615" y="1052956"/>
                </a:lnTo>
                <a:lnTo>
                  <a:pt x="47159" y="1036415"/>
                </a:lnTo>
                <a:lnTo>
                  <a:pt x="77215" y="1030351"/>
                </a:lnTo>
                <a:lnTo>
                  <a:pt x="6780783" y="1030351"/>
                </a:lnTo>
                <a:lnTo>
                  <a:pt x="6810851" y="1036415"/>
                </a:lnTo>
                <a:lnTo>
                  <a:pt x="6835394" y="1052957"/>
                </a:lnTo>
                <a:lnTo>
                  <a:pt x="6851935" y="1077499"/>
                </a:lnTo>
                <a:lnTo>
                  <a:pt x="6858000" y="1107566"/>
                </a:lnTo>
                <a:lnTo>
                  <a:pt x="6858000" y="1416430"/>
                </a:lnTo>
                <a:lnTo>
                  <a:pt x="6851935" y="1446498"/>
                </a:lnTo>
                <a:lnTo>
                  <a:pt x="6835394" y="1471040"/>
                </a:lnTo>
                <a:lnTo>
                  <a:pt x="6810851" y="1487582"/>
                </a:lnTo>
                <a:lnTo>
                  <a:pt x="6780783" y="1493646"/>
                </a:lnTo>
                <a:lnTo>
                  <a:pt x="77215" y="1493646"/>
                </a:lnTo>
                <a:lnTo>
                  <a:pt x="47159" y="1487582"/>
                </a:lnTo>
                <a:lnTo>
                  <a:pt x="22615" y="1471040"/>
                </a:lnTo>
                <a:lnTo>
                  <a:pt x="6067" y="1446498"/>
                </a:lnTo>
                <a:lnTo>
                  <a:pt x="0" y="1416430"/>
                </a:lnTo>
                <a:lnTo>
                  <a:pt x="0" y="1107566"/>
                </a:lnTo>
                <a:close/>
              </a:path>
              <a:path w="6858000" h="5100320">
                <a:moveTo>
                  <a:pt x="0" y="1622678"/>
                </a:moveTo>
                <a:lnTo>
                  <a:pt x="6067" y="1592665"/>
                </a:lnTo>
                <a:lnTo>
                  <a:pt x="22615" y="1568116"/>
                </a:lnTo>
                <a:lnTo>
                  <a:pt x="47159" y="1551545"/>
                </a:lnTo>
                <a:lnTo>
                  <a:pt x="77215" y="1545463"/>
                </a:lnTo>
                <a:lnTo>
                  <a:pt x="6780783" y="1545463"/>
                </a:lnTo>
                <a:lnTo>
                  <a:pt x="6810851" y="1551545"/>
                </a:lnTo>
                <a:lnTo>
                  <a:pt x="6835394" y="1568116"/>
                </a:lnTo>
                <a:lnTo>
                  <a:pt x="6851935" y="1592665"/>
                </a:lnTo>
                <a:lnTo>
                  <a:pt x="6858000" y="1622678"/>
                </a:lnTo>
                <a:lnTo>
                  <a:pt x="6858000" y="1931542"/>
                </a:lnTo>
                <a:lnTo>
                  <a:pt x="6851935" y="1961630"/>
                </a:lnTo>
                <a:lnTo>
                  <a:pt x="6835394" y="1986216"/>
                </a:lnTo>
                <a:lnTo>
                  <a:pt x="6810851" y="2002801"/>
                </a:lnTo>
                <a:lnTo>
                  <a:pt x="6780783" y="2008885"/>
                </a:lnTo>
                <a:lnTo>
                  <a:pt x="77215" y="2008885"/>
                </a:lnTo>
                <a:lnTo>
                  <a:pt x="47159" y="2002801"/>
                </a:lnTo>
                <a:lnTo>
                  <a:pt x="22615" y="1986216"/>
                </a:lnTo>
                <a:lnTo>
                  <a:pt x="6067" y="1961630"/>
                </a:lnTo>
                <a:lnTo>
                  <a:pt x="0" y="1931542"/>
                </a:lnTo>
                <a:lnTo>
                  <a:pt x="0" y="1622678"/>
                </a:lnTo>
                <a:close/>
              </a:path>
              <a:path w="6858000" h="5100320">
                <a:moveTo>
                  <a:pt x="0" y="2137917"/>
                </a:moveTo>
                <a:lnTo>
                  <a:pt x="6067" y="2107850"/>
                </a:lnTo>
                <a:lnTo>
                  <a:pt x="22615" y="2083307"/>
                </a:lnTo>
                <a:lnTo>
                  <a:pt x="47159" y="2066766"/>
                </a:lnTo>
                <a:lnTo>
                  <a:pt x="77215" y="2060702"/>
                </a:lnTo>
                <a:lnTo>
                  <a:pt x="6780783" y="2060702"/>
                </a:lnTo>
                <a:lnTo>
                  <a:pt x="6810851" y="2066766"/>
                </a:lnTo>
                <a:lnTo>
                  <a:pt x="6835394" y="2083308"/>
                </a:lnTo>
                <a:lnTo>
                  <a:pt x="6851935" y="2107850"/>
                </a:lnTo>
                <a:lnTo>
                  <a:pt x="6858000" y="2137917"/>
                </a:lnTo>
                <a:lnTo>
                  <a:pt x="6858000" y="2446781"/>
                </a:lnTo>
                <a:lnTo>
                  <a:pt x="6851935" y="2476849"/>
                </a:lnTo>
                <a:lnTo>
                  <a:pt x="6835394" y="2501391"/>
                </a:lnTo>
                <a:lnTo>
                  <a:pt x="6810851" y="2517933"/>
                </a:lnTo>
                <a:lnTo>
                  <a:pt x="6780783" y="2523997"/>
                </a:lnTo>
                <a:lnTo>
                  <a:pt x="77215" y="2523997"/>
                </a:lnTo>
                <a:lnTo>
                  <a:pt x="47159" y="2517933"/>
                </a:lnTo>
                <a:lnTo>
                  <a:pt x="22615" y="2501391"/>
                </a:lnTo>
                <a:lnTo>
                  <a:pt x="6067" y="2476849"/>
                </a:lnTo>
                <a:lnTo>
                  <a:pt x="0" y="2446781"/>
                </a:lnTo>
                <a:lnTo>
                  <a:pt x="0" y="2137917"/>
                </a:lnTo>
                <a:close/>
              </a:path>
              <a:path w="6858000" h="5100320">
                <a:moveTo>
                  <a:pt x="0" y="2653029"/>
                </a:moveTo>
                <a:lnTo>
                  <a:pt x="6067" y="2622962"/>
                </a:lnTo>
                <a:lnTo>
                  <a:pt x="22615" y="2598419"/>
                </a:lnTo>
                <a:lnTo>
                  <a:pt x="47159" y="2581878"/>
                </a:lnTo>
                <a:lnTo>
                  <a:pt x="77215" y="2575813"/>
                </a:lnTo>
                <a:lnTo>
                  <a:pt x="6780783" y="2575813"/>
                </a:lnTo>
                <a:lnTo>
                  <a:pt x="6810851" y="2581878"/>
                </a:lnTo>
                <a:lnTo>
                  <a:pt x="6835394" y="2598419"/>
                </a:lnTo>
                <a:lnTo>
                  <a:pt x="6851935" y="2622962"/>
                </a:lnTo>
                <a:lnTo>
                  <a:pt x="6858000" y="2653029"/>
                </a:lnTo>
                <a:lnTo>
                  <a:pt x="6858000" y="2961893"/>
                </a:lnTo>
                <a:lnTo>
                  <a:pt x="6851935" y="2991961"/>
                </a:lnTo>
                <a:lnTo>
                  <a:pt x="6835394" y="3016504"/>
                </a:lnTo>
                <a:lnTo>
                  <a:pt x="6810851" y="3033045"/>
                </a:lnTo>
                <a:lnTo>
                  <a:pt x="6780783" y="3039110"/>
                </a:lnTo>
                <a:lnTo>
                  <a:pt x="77215" y="3039110"/>
                </a:lnTo>
                <a:lnTo>
                  <a:pt x="47159" y="3033045"/>
                </a:lnTo>
                <a:lnTo>
                  <a:pt x="22615" y="3016504"/>
                </a:lnTo>
                <a:lnTo>
                  <a:pt x="6067" y="2991961"/>
                </a:lnTo>
                <a:lnTo>
                  <a:pt x="0" y="2961893"/>
                </a:lnTo>
                <a:lnTo>
                  <a:pt x="0" y="2653029"/>
                </a:lnTo>
                <a:close/>
              </a:path>
              <a:path w="6858000" h="5100320">
                <a:moveTo>
                  <a:pt x="0" y="3168268"/>
                </a:moveTo>
                <a:lnTo>
                  <a:pt x="6067" y="3138181"/>
                </a:lnTo>
                <a:lnTo>
                  <a:pt x="22615" y="3113595"/>
                </a:lnTo>
                <a:lnTo>
                  <a:pt x="47159" y="3097010"/>
                </a:lnTo>
                <a:lnTo>
                  <a:pt x="77215" y="3090925"/>
                </a:lnTo>
                <a:lnTo>
                  <a:pt x="6780783" y="3090925"/>
                </a:lnTo>
                <a:lnTo>
                  <a:pt x="6810851" y="3097010"/>
                </a:lnTo>
                <a:lnTo>
                  <a:pt x="6835394" y="3113595"/>
                </a:lnTo>
                <a:lnTo>
                  <a:pt x="6851935" y="3138181"/>
                </a:lnTo>
                <a:lnTo>
                  <a:pt x="6858000" y="3168268"/>
                </a:lnTo>
                <a:lnTo>
                  <a:pt x="6858000" y="3477132"/>
                </a:lnTo>
                <a:lnTo>
                  <a:pt x="6851935" y="3507146"/>
                </a:lnTo>
                <a:lnTo>
                  <a:pt x="6835394" y="3531695"/>
                </a:lnTo>
                <a:lnTo>
                  <a:pt x="6810851" y="3548266"/>
                </a:lnTo>
                <a:lnTo>
                  <a:pt x="6780783" y="3554349"/>
                </a:lnTo>
                <a:lnTo>
                  <a:pt x="77215" y="3554349"/>
                </a:lnTo>
                <a:lnTo>
                  <a:pt x="47159" y="3548266"/>
                </a:lnTo>
                <a:lnTo>
                  <a:pt x="22615" y="3531695"/>
                </a:lnTo>
                <a:lnTo>
                  <a:pt x="6067" y="3507146"/>
                </a:lnTo>
                <a:lnTo>
                  <a:pt x="0" y="3477132"/>
                </a:lnTo>
                <a:lnTo>
                  <a:pt x="0" y="3168268"/>
                </a:lnTo>
                <a:close/>
              </a:path>
              <a:path w="6858000" h="5100320">
                <a:moveTo>
                  <a:pt x="0" y="3683380"/>
                </a:moveTo>
                <a:lnTo>
                  <a:pt x="6067" y="3653313"/>
                </a:lnTo>
                <a:lnTo>
                  <a:pt x="22615" y="3628770"/>
                </a:lnTo>
                <a:lnTo>
                  <a:pt x="47159" y="3612229"/>
                </a:lnTo>
                <a:lnTo>
                  <a:pt x="77215" y="3606164"/>
                </a:lnTo>
                <a:lnTo>
                  <a:pt x="6780783" y="3606164"/>
                </a:lnTo>
                <a:lnTo>
                  <a:pt x="6810851" y="3612229"/>
                </a:lnTo>
                <a:lnTo>
                  <a:pt x="6835394" y="3628770"/>
                </a:lnTo>
                <a:lnTo>
                  <a:pt x="6851935" y="3653313"/>
                </a:lnTo>
                <a:lnTo>
                  <a:pt x="6858000" y="3683380"/>
                </a:lnTo>
                <a:lnTo>
                  <a:pt x="6858000" y="3992244"/>
                </a:lnTo>
                <a:lnTo>
                  <a:pt x="6851935" y="4022312"/>
                </a:lnTo>
                <a:lnTo>
                  <a:pt x="6835394" y="4046854"/>
                </a:lnTo>
                <a:lnTo>
                  <a:pt x="6810851" y="4063396"/>
                </a:lnTo>
                <a:lnTo>
                  <a:pt x="6780783" y="4069460"/>
                </a:lnTo>
                <a:lnTo>
                  <a:pt x="77215" y="4069460"/>
                </a:lnTo>
                <a:lnTo>
                  <a:pt x="47159" y="4063396"/>
                </a:lnTo>
                <a:lnTo>
                  <a:pt x="22615" y="4046854"/>
                </a:lnTo>
                <a:lnTo>
                  <a:pt x="6067" y="4022312"/>
                </a:lnTo>
                <a:lnTo>
                  <a:pt x="0" y="3992244"/>
                </a:lnTo>
                <a:lnTo>
                  <a:pt x="0" y="3683380"/>
                </a:lnTo>
                <a:close/>
              </a:path>
              <a:path w="6858000" h="5100320">
                <a:moveTo>
                  <a:pt x="0" y="4198531"/>
                </a:moveTo>
                <a:lnTo>
                  <a:pt x="6067" y="4168463"/>
                </a:lnTo>
                <a:lnTo>
                  <a:pt x="22615" y="4143906"/>
                </a:lnTo>
                <a:lnTo>
                  <a:pt x="47159" y="4127348"/>
                </a:lnTo>
                <a:lnTo>
                  <a:pt x="77215" y="4121277"/>
                </a:lnTo>
                <a:lnTo>
                  <a:pt x="6780783" y="4121277"/>
                </a:lnTo>
                <a:lnTo>
                  <a:pt x="6810851" y="4127348"/>
                </a:lnTo>
                <a:lnTo>
                  <a:pt x="6835394" y="4143906"/>
                </a:lnTo>
                <a:lnTo>
                  <a:pt x="6851935" y="4168463"/>
                </a:lnTo>
                <a:lnTo>
                  <a:pt x="6858000" y="4198531"/>
                </a:lnTo>
                <a:lnTo>
                  <a:pt x="6858000" y="4507407"/>
                </a:lnTo>
                <a:lnTo>
                  <a:pt x="6851935" y="4537464"/>
                </a:lnTo>
                <a:lnTo>
                  <a:pt x="6835394" y="4562008"/>
                </a:lnTo>
                <a:lnTo>
                  <a:pt x="6810851" y="4578555"/>
                </a:lnTo>
                <a:lnTo>
                  <a:pt x="6780783" y="4584623"/>
                </a:lnTo>
                <a:lnTo>
                  <a:pt x="77215" y="4584623"/>
                </a:lnTo>
                <a:lnTo>
                  <a:pt x="47159" y="4578555"/>
                </a:lnTo>
                <a:lnTo>
                  <a:pt x="22615" y="4562008"/>
                </a:lnTo>
                <a:lnTo>
                  <a:pt x="6067" y="4537464"/>
                </a:lnTo>
                <a:lnTo>
                  <a:pt x="0" y="4507407"/>
                </a:lnTo>
                <a:lnTo>
                  <a:pt x="0" y="4198531"/>
                </a:lnTo>
                <a:close/>
              </a:path>
              <a:path w="6858000" h="5100320">
                <a:moveTo>
                  <a:pt x="0" y="4713681"/>
                </a:moveTo>
                <a:lnTo>
                  <a:pt x="6067" y="4683624"/>
                </a:lnTo>
                <a:lnTo>
                  <a:pt x="22615" y="4659080"/>
                </a:lnTo>
                <a:lnTo>
                  <a:pt x="47159" y="4642533"/>
                </a:lnTo>
                <a:lnTo>
                  <a:pt x="77215" y="4636465"/>
                </a:lnTo>
                <a:lnTo>
                  <a:pt x="6780783" y="4636465"/>
                </a:lnTo>
                <a:lnTo>
                  <a:pt x="6810851" y="4642533"/>
                </a:lnTo>
                <a:lnTo>
                  <a:pt x="6835394" y="4659080"/>
                </a:lnTo>
                <a:lnTo>
                  <a:pt x="6851935" y="4683624"/>
                </a:lnTo>
                <a:lnTo>
                  <a:pt x="6858000" y="4713681"/>
                </a:lnTo>
                <a:lnTo>
                  <a:pt x="6858000" y="5022557"/>
                </a:lnTo>
                <a:lnTo>
                  <a:pt x="6851935" y="5052621"/>
                </a:lnTo>
                <a:lnTo>
                  <a:pt x="6835394" y="5077169"/>
                </a:lnTo>
                <a:lnTo>
                  <a:pt x="6810851" y="5093718"/>
                </a:lnTo>
                <a:lnTo>
                  <a:pt x="6780783" y="5099786"/>
                </a:lnTo>
                <a:lnTo>
                  <a:pt x="77215" y="5099786"/>
                </a:lnTo>
                <a:lnTo>
                  <a:pt x="47159" y="5093718"/>
                </a:lnTo>
                <a:lnTo>
                  <a:pt x="22615" y="5077169"/>
                </a:lnTo>
                <a:lnTo>
                  <a:pt x="6067" y="5052621"/>
                </a:lnTo>
                <a:lnTo>
                  <a:pt x="0" y="5022557"/>
                </a:lnTo>
                <a:lnTo>
                  <a:pt x="0" y="4713681"/>
                </a:lnTo>
                <a:close/>
              </a:path>
            </a:pathLst>
          </a:custGeom>
          <a:ln w="12700">
            <a:solidFill>
              <a:srgbClr val="BE40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3139" y="1470406"/>
            <a:ext cx="6036945" cy="4958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Introduction</a:t>
            </a:r>
            <a:r>
              <a:rPr sz="2000" b="1" spc="-8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0" dirty="0">
                <a:solidFill>
                  <a:srgbClr val="BEBEBE"/>
                </a:solidFill>
                <a:latin typeface="Times New Roman"/>
                <a:cs typeface="Times New Roman"/>
              </a:rPr>
              <a:t>of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75" dirty="0">
                <a:solidFill>
                  <a:srgbClr val="BEBEBE"/>
                </a:solidFill>
                <a:latin typeface="Times New Roman"/>
                <a:cs typeface="Times New Roman"/>
              </a:rPr>
              <a:t>LAN;</a:t>
            </a:r>
            <a:r>
              <a:rPr sz="2000" b="1" spc="-12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35" dirty="0">
                <a:solidFill>
                  <a:srgbClr val="BEBEBE"/>
                </a:solidFill>
                <a:latin typeface="Times New Roman"/>
                <a:cs typeface="Times New Roman"/>
              </a:rPr>
              <a:t>MAN;WAN;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30" dirty="0">
                <a:solidFill>
                  <a:srgbClr val="BEBEBE"/>
                </a:solidFill>
                <a:latin typeface="Times New Roman"/>
                <a:cs typeface="Times New Roman"/>
              </a:rPr>
              <a:t>PAN,</a:t>
            </a:r>
            <a:r>
              <a:rPr sz="2000" b="1" spc="-21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Ad-hoc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BEBEBE"/>
                </a:solidFill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655"/>
              </a:spcBef>
            </a:pP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Topologies</a:t>
            </a:r>
            <a:endParaRPr sz="20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655"/>
              </a:spcBef>
            </a:pPr>
            <a:r>
              <a:rPr sz="2000" b="1" spc="-35" dirty="0">
                <a:solidFill>
                  <a:srgbClr val="BEBEBE"/>
                </a:solidFill>
                <a:latin typeface="Times New Roman"/>
                <a:cs typeface="Times New Roman"/>
              </a:rPr>
              <a:t>Ne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t</a:t>
            </a:r>
            <a:r>
              <a:rPr sz="2000" b="1" dirty="0">
                <a:solidFill>
                  <a:srgbClr val="BEBEBE"/>
                </a:solidFill>
                <a:latin typeface="Times New Roman"/>
                <a:cs typeface="Times New Roman"/>
              </a:rPr>
              <a:t>w</a:t>
            </a: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o</a:t>
            </a:r>
            <a:r>
              <a:rPr sz="2000" b="1" spc="10" dirty="0">
                <a:solidFill>
                  <a:srgbClr val="BEBEBE"/>
                </a:solidFill>
                <a:latin typeface="Times New Roman"/>
                <a:cs typeface="Times New Roman"/>
              </a:rPr>
              <a:t>r</a:t>
            </a: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k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Arc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hit</a:t>
            </a:r>
            <a:r>
              <a:rPr sz="2000" b="1" spc="20" dirty="0">
                <a:solidFill>
                  <a:srgbClr val="BEBEBE"/>
                </a:solidFill>
                <a:latin typeface="Times New Roman"/>
                <a:cs typeface="Times New Roman"/>
              </a:rPr>
              <a:t>e</a:t>
            </a:r>
            <a:r>
              <a:rPr sz="2000" b="1" spc="35" dirty="0">
                <a:solidFill>
                  <a:srgbClr val="BEBEBE"/>
                </a:solidFill>
                <a:latin typeface="Times New Roman"/>
                <a:cs typeface="Times New Roman"/>
              </a:rPr>
              <a:t>c</a:t>
            </a: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t</a:t>
            </a:r>
            <a:r>
              <a:rPr sz="2000" b="1" spc="-15" dirty="0">
                <a:solidFill>
                  <a:srgbClr val="BEBEBE"/>
                </a:solidFill>
                <a:latin typeface="Times New Roman"/>
                <a:cs typeface="Times New Roman"/>
              </a:rPr>
              <a:t>ures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sz="1800" b="1" spc="-17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18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8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Mod</a:t>
            </a:r>
            <a:r>
              <a:rPr sz="18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8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latin typeface="Times New Roman"/>
                <a:cs typeface="Times New Roman"/>
              </a:rPr>
              <a:t>TCP/IP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Model</a:t>
            </a:r>
            <a:endParaRPr sz="1800">
              <a:latin typeface="Times New Roman"/>
              <a:cs typeface="Times New Roman"/>
            </a:endParaRPr>
          </a:p>
          <a:p>
            <a:pPr marL="12700" marR="4053840">
              <a:lnSpc>
                <a:spcPct val="187800"/>
              </a:lnSpc>
            </a:pPr>
            <a:r>
              <a:rPr sz="1800" spc="-105" dirty="0">
                <a:latin typeface="Times New Roman"/>
                <a:cs typeface="Times New Roman"/>
              </a:rPr>
              <a:t>Design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issues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for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0" dirty="0">
                <a:latin typeface="Times New Roman"/>
                <a:cs typeface="Times New Roman"/>
              </a:rPr>
              <a:t>L</a:t>
            </a:r>
            <a:r>
              <a:rPr sz="1800" spc="-204" dirty="0">
                <a:latin typeface="Times New Roman"/>
                <a:cs typeface="Times New Roman"/>
              </a:rPr>
              <a:t>a</a:t>
            </a:r>
            <a:r>
              <a:rPr sz="1800" spc="-170" dirty="0">
                <a:latin typeface="Times New Roman"/>
                <a:cs typeface="Times New Roman"/>
              </a:rPr>
              <a:t>y</a:t>
            </a:r>
            <a:r>
              <a:rPr sz="1800" spc="-30" dirty="0">
                <a:latin typeface="Times New Roman"/>
                <a:cs typeface="Times New Roman"/>
              </a:rPr>
              <a:t>e</a:t>
            </a:r>
            <a:r>
              <a:rPr sz="1800" spc="15" dirty="0">
                <a:latin typeface="Times New Roman"/>
                <a:cs typeface="Times New Roman"/>
              </a:rPr>
              <a:t>r</a:t>
            </a:r>
            <a:r>
              <a:rPr sz="1800" spc="-105" dirty="0">
                <a:latin typeface="Times New Roman"/>
                <a:cs typeface="Times New Roman"/>
              </a:rPr>
              <a:t>s  </a:t>
            </a:r>
            <a:r>
              <a:rPr sz="1800" spc="-220" dirty="0">
                <a:latin typeface="Times New Roman"/>
                <a:cs typeface="Times New Roman"/>
              </a:rPr>
              <a:t>T</a:t>
            </a:r>
            <a:r>
              <a:rPr sz="1800" spc="-60" dirty="0">
                <a:latin typeface="Times New Roman"/>
                <a:cs typeface="Times New Roman"/>
              </a:rPr>
              <a:t>r</a:t>
            </a:r>
            <a:r>
              <a:rPr sz="1800" spc="-65" dirty="0">
                <a:latin typeface="Times New Roman"/>
                <a:cs typeface="Times New Roman"/>
              </a:rPr>
              <a:t>a</a:t>
            </a:r>
            <a:r>
              <a:rPr sz="1800" spc="-110" dirty="0">
                <a:latin typeface="Times New Roman"/>
                <a:cs typeface="Times New Roman"/>
              </a:rPr>
              <a:t>nsm</a:t>
            </a:r>
            <a:r>
              <a:rPr sz="1800" spc="-120" dirty="0">
                <a:latin typeface="Times New Roman"/>
                <a:cs typeface="Times New Roman"/>
              </a:rPr>
              <a:t>iss</a:t>
            </a:r>
            <a:r>
              <a:rPr sz="1800" spc="-105" dirty="0">
                <a:latin typeface="Times New Roman"/>
                <a:cs typeface="Times New Roman"/>
              </a:rPr>
              <a:t>i</a:t>
            </a:r>
            <a:r>
              <a:rPr sz="1800" spc="-80" dirty="0">
                <a:latin typeface="Times New Roman"/>
                <a:cs typeface="Times New Roman"/>
              </a:rPr>
              <a:t>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30" dirty="0">
                <a:latin typeface="Times New Roman"/>
                <a:cs typeface="Times New Roman"/>
              </a:rPr>
              <a:t>Me</a:t>
            </a:r>
            <a:r>
              <a:rPr sz="1800" spc="-95" dirty="0">
                <a:latin typeface="Times New Roman"/>
                <a:cs typeface="Times New Roman"/>
              </a:rPr>
              <a:t>d</a:t>
            </a:r>
            <a:r>
              <a:rPr sz="1800" spc="-90" dirty="0">
                <a:latin typeface="Times New Roman"/>
                <a:cs typeface="Times New Roman"/>
              </a:rPr>
              <a:t>iums  </a:t>
            </a:r>
            <a:r>
              <a:rPr sz="1800" spc="-55" dirty="0">
                <a:latin typeface="Times New Roman"/>
                <a:cs typeface="Times New Roman"/>
              </a:rPr>
              <a:t>Net</a:t>
            </a:r>
            <a:r>
              <a:rPr sz="1800" spc="-145" dirty="0">
                <a:latin typeface="Times New Roman"/>
                <a:cs typeface="Times New Roman"/>
              </a:rPr>
              <a:t>w</a:t>
            </a:r>
            <a:r>
              <a:rPr sz="1800" spc="-35" dirty="0">
                <a:latin typeface="Times New Roman"/>
                <a:cs typeface="Times New Roman"/>
              </a:rPr>
              <a:t>o</a:t>
            </a:r>
            <a:r>
              <a:rPr sz="1800" spc="-20" dirty="0">
                <a:latin typeface="Times New Roman"/>
                <a:cs typeface="Times New Roman"/>
              </a:rPr>
              <a:t>r</a:t>
            </a:r>
            <a:r>
              <a:rPr sz="1800" spc="-114" dirty="0">
                <a:latin typeface="Times New Roman"/>
                <a:cs typeface="Times New Roman"/>
              </a:rPr>
              <a:t>k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D</a:t>
            </a:r>
            <a:r>
              <a:rPr sz="1800" spc="-90" dirty="0">
                <a:latin typeface="Times New Roman"/>
                <a:cs typeface="Times New Roman"/>
              </a:rPr>
              <a:t>e</a:t>
            </a:r>
            <a:r>
              <a:rPr sz="1800" spc="-110" dirty="0">
                <a:latin typeface="Times New Roman"/>
                <a:cs typeface="Times New Roman"/>
              </a:rPr>
              <a:t>vices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240" dirty="0">
                <a:latin typeface="Times New Roman"/>
                <a:cs typeface="Times New Roman"/>
              </a:rPr>
              <a:t>M</a:t>
            </a:r>
            <a:r>
              <a:rPr sz="1800" spc="-114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50" dirty="0">
                <a:latin typeface="Times New Roman"/>
                <a:cs typeface="Times New Roman"/>
              </a:rPr>
              <a:t>c</a:t>
            </a:r>
            <a:r>
              <a:rPr sz="1800" spc="-110" dirty="0">
                <a:latin typeface="Times New Roman"/>
                <a:cs typeface="Times New Roman"/>
              </a:rPr>
              <a:t>hes</a:t>
            </a:r>
            <a:r>
              <a:rPr sz="1800" spc="-10" dirty="0">
                <a:latin typeface="Times New Roman"/>
                <a:cs typeface="Times New Roman"/>
              </a:rPr>
              <a:t>ter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an</a:t>
            </a:r>
            <a:r>
              <a:rPr sz="1800" spc="-80" dirty="0">
                <a:latin typeface="Times New Roman"/>
                <a:cs typeface="Times New Roman"/>
              </a:rPr>
              <a:t>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D</a:t>
            </a:r>
            <a:r>
              <a:rPr sz="1800" spc="-85" dirty="0">
                <a:latin typeface="Times New Roman"/>
                <a:cs typeface="Times New Roman"/>
              </a:rPr>
              <a:t>iffe</a:t>
            </a:r>
            <a:r>
              <a:rPr sz="1800" spc="-95" dirty="0">
                <a:latin typeface="Times New Roman"/>
                <a:cs typeface="Times New Roman"/>
              </a:rPr>
              <a:t>r</a:t>
            </a:r>
            <a:r>
              <a:rPr sz="1800" spc="-50" dirty="0">
                <a:latin typeface="Times New Roman"/>
                <a:cs typeface="Times New Roman"/>
              </a:rPr>
              <a:t>en</a:t>
            </a:r>
            <a:r>
              <a:rPr sz="1800" spc="-25" dirty="0">
                <a:latin typeface="Times New Roman"/>
                <a:cs typeface="Times New Roman"/>
              </a:rPr>
              <a:t>t</a:t>
            </a:r>
            <a:r>
              <a:rPr sz="1800" spc="-100" dirty="0">
                <a:latin typeface="Times New Roman"/>
                <a:cs typeface="Times New Roman"/>
              </a:rPr>
              <a:t>ial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40" dirty="0">
                <a:latin typeface="Times New Roman"/>
                <a:cs typeface="Times New Roman"/>
              </a:rPr>
              <a:t>M</a:t>
            </a:r>
            <a:r>
              <a:rPr sz="1800" spc="-114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50" dirty="0">
                <a:latin typeface="Times New Roman"/>
                <a:cs typeface="Times New Roman"/>
              </a:rPr>
              <a:t>c</a:t>
            </a:r>
            <a:r>
              <a:rPr sz="1800" spc="-110" dirty="0">
                <a:latin typeface="Times New Roman"/>
                <a:cs typeface="Times New Roman"/>
              </a:rPr>
              <a:t>hes</a:t>
            </a:r>
            <a:r>
              <a:rPr sz="1800" spc="-10" dirty="0">
                <a:latin typeface="Times New Roman"/>
                <a:cs typeface="Times New Roman"/>
              </a:rPr>
              <a:t>ter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90" dirty="0">
                <a:latin typeface="Times New Roman"/>
                <a:cs typeface="Times New Roman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85" dirty="0">
                <a:latin typeface="Times New Roman"/>
                <a:cs typeface="Times New Roman"/>
              </a:rPr>
              <a:t>c</a:t>
            </a:r>
            <a:r>
              <a:rPr sz="1800" spc="-80" dirty="0">
                <a:latin typeface="Times New Roman"/>
                <a:cs typeface="Times New Roman"/>
              </a:rPr>
              <a:t>o</a:t>
            </a:r>
            <a:r>
              <a:rPr sz="1800" spc="-75" dirty="0">
                <a:latin typeface="Times New Roman"/>
                <a:cs typeface="Times New Roman"/>
              </a:rPr>
              <a:t>d</a:t>
            </a:r>
            <a:r>
              <a:rPr sz="1800" spc="-85" dirty="0">
                <a:latin typeface="Times New Roman"/>
                <a:cs typeface="Times New Roman"/>
              </a:rPr>
              <a:t>ings;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90" dirty="0">
                <a:latin typeface="Times New Roman"/>
                <a:cs typeface="Times New Roman"/>
              </a:rPr>
              <a:t>IEEE802.11: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Frequency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Hopping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(FHSS)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Direct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Sequence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55" dirty="0">
                <a:latin typeface="Times New Roman"/>
                <a:cs typeface="Times New Roman"/>
              </a:rPr>
              <a:t>(DSSS)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490169"/>
            <a:ext cx="553466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b="1" spc="-505" dirty="0">
                <a:latin typeface="Arial"/>
                <a:cs typeface="Arial"/>
              </a:rPr>
              <a:t>R</a:t>
            </a:r>
            <a:r>
              <a:rPr sz="4000" b="1" spc="-175" dirty="0">
                <a:latin typeface="Arial"/>
                <a:cs typeface="Arial"/>
              </a:rPr>
              <a:t>e</a:t>
            </a:r>
            <a:r>
              <a:rPr sz="4000" b="1" spc="-185" dirty="0">
                <a:latin typeface="Arial"/>
                <a:cs typeface="Arial"/>
              </a:rPr>
              <a:t>f</a:t>
            </a:r>
            <a:r>
              <a:rPr sz="4000" b="1" spc="-225" dirty="0">
                <a:latin typeface="Arial"/>
                <a:cs typeface="Arial"/>
              </a:rPr>
              <a:t>e</a:t>
            </a:r>
            <a:r>
              <a:rPr sz="4000" b="1" spc="-150" dirty="0">
                <a:latin typeface="Arial"/>
                <a:cs typeface="Arial"/>
              </a:rPr>
              <a:t>r</a:t>
            </a:r>
            <a:r>
              <a:rPr sz="4000" b="1" spc="-265" dirty="0">
                <a:latin typeface="Arial"/>
                <a:cs typeface="Arial"/>
              </a:rPr>
              <a:t>en</a:t>
            </a:r>
            <a:r>
              <a:rPr sz="4000" b="1" spc="-240" dirty="0">
                <a:latin typeface="Arial"/>
                <a:cs typeface="Arial"/>
              </a:rPr>
              <a:t>c</a:t>
            </a:r>
            <a:r>
              <a:rPr sz="4000" b="1" spc="-145" dirty="0">
                <a:latin typeface="Arial"/>
                <a:cs typeface="Arial"/>
              </a:rPr>
              <a:t>e </a:t>
            </a:r>
            <a:r>
              <a:rPr sz="4000" b="1" spc="-90" dirty="0">
                <a:latin typeface="Arial"/>
                <a:cs typeface="Arial"/>
              </a:rPr>
              <a:t>M</a:t>
            </a:r>
            <a:r>
              <a:rPr sz="4000" b="1" spc="-330" dirty="0">
                <a:latin typeface="Arial"/>
                <a:cs typeface="Arial"/>
              </a:rPr>
              <a:t>o</a:t>
            </a:r>
            <a:r>
              <a:rPr sz="4000" b="1" spc="-325" dirty="0">
                <a:latin typeface="Arial"/>
                <a:cs typeface="Arial"/>
              </a:rPr>
              <a:t>d</a:t>
            </a:r>
            <a:r>
              <a:rPr sz="4000" b="1" spc="-225" dirty="0">
                <a:latin typeface="Arial"/>
                <a:cs typeface="Arial"/>
              </a:rPr>
              <a:t>e</a:t>
            </a:r>
            <a:r>
              <a:rPr sz="4000" b="1" spc="-100" dirty="0">
                <a:latin typeface="Arial"/>
                <a:cs typeface="Arial"/>
              </a:rPr>
              <a:t>l</a:t>
            </a:r>
            <a:r>
              <a:rPr sz="4000" b="1" spc="-370" dirty="0">
                <a:latin typeface="Arial"/>
                <a:cs typeface="Arial"/>
              </a:rPr>
              <a:t>s</a:t>
            </a:r>
            <a:r>
              <a:rPr sz="4000" b="1" spc="-135" dirty="0">
                <a:latin typeface="Arial"/>
                <a:cs typeface="Arial"/>
              </a:rPr>
              <a:t> </a:t>
            </a:r>
            <a:r>
              <a:rPr sz="4000" b="1" spc="-200" dirty="0">
                <a:latin typeface="Arial"/>
                <a:cs typeface="Arial"/>
              </a:rPr>
              <a:t>in  </a:t>
            </a:r>
            <a:r>
              <a:rPr sz="4000" b="1" spc="-565" dirty="0">
                <a:latin typeface="Arial"/>
                <a:cs typeface="Arial"/>
              </a:rPr>
              <a:t>C</a:t>
            </a:r>
            <a:r>
              <a:rPr sz="4000" b="1" spc="-275" dirty="0">
                <a:latin typeface="Arial"/>
                <a:cs typeface="Arial"/>
              </a:rPr>
              <a:t>o</a:t>
            </a:r>
            <a:r>
              <a:rPr sz="4000" b="1" spc="-385" dirty="0">
                <a:latin typeface="Arial"/>
                <a:cs typeface="Arial"/>
              </a:rPr>
              <a:t>m</a:t>
            </a:r>
            <a:r>
              <a:rPr sz="4000" b="1" spc="-350" dirty="0">
                <a:latin typeface="Arial"/>
                <a:cs typeface="Arial"/>
              </a:rPr>
              <a:t>m</a:t>
            </a:r>
            <a:r>
              <a:rPr sz="4000" b="1" spc="-229" dirty="0">
                <a:latin typeface="Arial"/>
                <a:cs typeface="Arial"/>
              </a:rPr>
              <a:t>u</a:t>
            </a:r>
            <a:r>
              <a:rPr sz="4000" b="1" spc="-325" dirty="0">
                <a:latin typeface="Arial"/>
                <a:cs typeface="Arial"/>
              </a:rPr>
              <a:t>n</a:t>
            </a:r>
            <a:r>
              <a:rPr sz="4000" b="1" spc="-140" dirty="0">
                <a:latin typeface="Arial"/>
                <a:cs typeface="Arial"/>
              </a:rPr>
              <a:t>i</a:t>
            </a:r>
            <a:r>
              <a:rPr sz="4000" b="1" spc="-240" dirty="0">
                <a:latin typeface="Arial"/>
                <a:cs typeface="Arial"/>
              </a:rPr>
              <a:t>cation</a:t>
            </a:r>
            <a:r>
              <a:rPr sz="4000" b="1" spc="-110" dirty="0">
                <a:latin typeface="Arial"/>
                <a:cs typeface="Arial"/>
              </a:rPr>
              <a:t> </a:t>
            </a:r>
            <a:r>
              <a:rPr sz="4000" b="1" spc="-254" dirty="0">
                <a:latin typeface="Arial"/>
                <a:cs typeface="Arial"/>
              </a:rPr>
              <a:t>N</a:t>
            </a:r>
            <a:r>
              <a:rPr sz="4000" b="1" spc="-160" dirty="0">
                <a:latin typeface="Arial"/>
                <a:cs typeface="Arial"/>
              </a:rPr>
              <a:t>e</a:t>
            </a:r>
            <a:r>
              <a:rPr sz="4000" b="1" spc="-170" dirty="0">
                <a:latin typeface="Arial"/>
                <a:cs typeface="Arial"/>
              </a:rPr>
              <a:t>t</a:t>
            </a:r>
            <a:r>
              <a:rPr sz="4000" b="1" spc="-430" dirty="0">
                <a:latin typeface="Arial"/>
                <a:cs typeface="Arial"/>
              </a:rPr>
              <a:t>w</a:t>
            </a:r>
            <a:r>
              <a:rPr sz="4000" b="1" spc="-305" dirty="0">
                <a:latin typeface="Arial"/>
                <a:cs typeface="Arial"/>
              </a:rPr>
              <a:t>orks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924555" y="2261616"/>
            <a:ext cx="3752215" cy="2219325"/>
            <a:chOff x="2924555" y="2261616"/>
            <a:chExt cx="3752215" cy="22193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4555" y="3825240"/>
              <a:ext cx="3752088" cy="65531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3427" y="2261616"/>
              <a:ext cx="3604260" cy="173736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306571" y="2308987"/>
            <a:ext cx="2987040" cy="135255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 marR="5080" algn="ctr">
              <a:lnSpc>
                <a:spcPts val="3300"/>
              </a:lnSpc>
              <a:spcBef>
                <a:spcPts val="665"/>
              </a:spcBef>
            </a:pPr>
            <a:r>
              <a:rPr sz="3200" spc="-16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0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3200" spc="-14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st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65" dirty="0">
                <a:solidFill>
                  <a:srgbClr val="FFFFFF"/>
                </a:solidFill>
                <a:latin typeface="Times New Roman"/>
                <a:cs typeface="Times New Roman"/>
              </a:rPr>
              <a:t>im</a:t>
            </a:r>
            <a:r>
              <a:rPr sz="3200" spc="-17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3200" spc="6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tant  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3200" spc="-204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3200" spc="-17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3200" spc="-12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3200" spc="-14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200" spc="-155" dirty="0">
                <a:solidFill>
                  <a:srgbClr val="FFFFFF"/>
                </a:solidFill>
                <a:latin typeface="Times New Roman"/>
                <a:cs typeface="Times New Roman"/>
              </a:rPr>
              <a:t>ce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60" dirty="0">
                <a:solidFill>
                  <a:srgbClr val="FFFFFF"/>
                </a:solidFill>
                <a:latin typeface="Times New Roman"/>
                <a:cs typeface="Times New Roman"/>
              </a:rPr>
              <a:t>mod</a:t>
            </a:r>
            <a:r>
              <a:rPr sz="3200" spc="-13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3200" spc="-165" dirty="0">
                <a:solidFill>
                  <a:srgbClr val="FFFFFF"/>
                </a:solidFill>
                <a:latin typeface="Times New Roman"/>
                <a:cs typeface="Times New Roman"/>
              </a:rPr>
              <a:t>ls  </a:t>
            </a:r>
            <a:r>
              <a:rPr sz="3200" spc="-13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125" dirty="0">
                <a:solidFill>
                  <a:srgbClr val="FFFFFF"/>
                </a:solidFill>
                <a:latin typeface="Times New Roman"/>
                <a:cs typeface="Times New Roman"/>
              </a:rPr>
              <a:t>re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4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1788" y="4460747"/>
            <a:ext cx="3166872" cy="162458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902714" y="4708397"/>
            <a:ext cx="2068195" cy="93345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509270" marR="5080" indent="-497205">
              <a:lnSpc>
                <a:spcPts val="3300"/>
              </a:lnSpc>
              <a:spcBef>
                <a:spcPts val="660"/>
              </a:spcBef>
            </a:pPr>
            <a:r>
              <a:rPr sz="3200" spc="-220" dirty="0">
                <a:solidFill>
                  <a:srgbClr val="FFFFFF"/>
                </a:solidFill>
                <a:latin typeface="Times New Roman"/>
                <a:cs typeface="Times New Roman"/>
              </a:rPr>
              <a:t>OSI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3200" spc="-204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3200" spc="-165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3200" spc="-120" dirty="0">
                <a:solidFill>
                  <a:srgbClr val="FFFFFF"/>
                </a:solidFill>
                <a:latin typeface="Times New Roman"/>
                <a:cs typeface="Times New Roman"/>
              </a:rPr>
              <a:t>ence  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model.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58155" y="4460747"/>
            <a:ext cx="3307079" cy="16245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321934" y="4708397"/>
            <a:ext cx="2691130" cy="93345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821690" marR="5080" indent="-809625">
              <a:lnSpc>
                <a:spcPts val="3300"/>
              </a:lnSpc>
              <a:spcBef>
                <a:spcPts val="660"/>
              </a:spcBef>
            </a:pP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TCP/IP</a:t>
            </a:r>
            <a:r>
              <a:rPr sz="32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20" dirty="0">
                <a:solidFill>
                  <a:srgbClr val="FFFFFF"/>
                </a:solidFill>
                <a:latin typeface="Times New Roman"/>
                <a:cs typeface="Times New Roman"/>
              </a:rPr>
              <a:t>reference </a:t>
            </a:r>
            <a:r>
              <a:rPr sz="3200" spc="-7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model.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7620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OSI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612380" cy="3822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4605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95" dirty="0">
                <a:latin typeface="Times New Roman"/>
                <a:cs typeface="Times New Roman"/>
              </a:rPr>
              <a:t>There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are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0" dirty="0">
                <a:latin typeface="Times New Roman"/>
                <a:cs typeface="Times New Roman"/>
              </a:rPr>
              <a:t>many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users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who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use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computer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network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are 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located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all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over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world.</a:t>
            </a:r>
            <a:r>
              <a:rPr sz="2600" spc="-480" dirty="0">
                <a:latin typeface="Times New Roman"/>
                <a:cs typeface="Times New Roman"/>
              </a:rPr>
              <a:t> </a:t>
            </a:r>
            <a:r>
              <a:rPr sz="2600" spc="-285" dirty="0">
                <a:latin typeface="Times New Roman"/>
                <a:cs typeface="Times New Roman"/>
              </a:rPr>
              <a:t>To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ensure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national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worldwide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data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communication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ISO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(ISO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stands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for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International 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Organization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Standardization.)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developed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this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model.</a:t>
            </a:r>
            <a:endParaRPr sz="2600">
              <a:latin typeface="Times New Roman"/>
              <a:cs typeface="Times New Roman"/>
            </a:endParaRPr>
          </a:p>
          <a:p>
            <a:pPr marL="286385" marR="8763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5" dirty="0">
                <a:latin typeface="Times New Roman"/>
                <a:cs typeface="Times New Roman"/>
              </a:rPr>
              <a:t>This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called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model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open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system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interconnection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(OSI)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</a:t>
            </a:r>
            <a:r>
              <a:rPr sz="2600" spc="-175" dirty="0">
                <a:latin typeface="Times New Roman"/>
                <a:cs typeface="Times New Roman"/>
              </a:rPr>
              <a:t>n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100" dirty="0">
                <a:latin typeface="Times New Roman"/>
                <a:cs typeface="Times New Roman"/>
              </a:rPr>
              <a:t>r</a:t>
            </a:r>
            <a:r>
              <a:rPr sz="2600" spc="-160" dirty="0">
                <a:latin typeface="Times New Roman"/>
                <a:cs typeface="Times New Roman"/>
              </a:rPr>
              <a:t>mal</a:t>
            </a:r>
            <a:r>
              <a:rPr sz="2600" spc="-145" dirty="0">
                <a:latin typeface="Times New Roman"/>
                <a:cs typeface="Times New Roman"/>
              </a:rPr>
              <a:t>l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call</a:t>
            </a:r>
            <a:r>
              <a:rPr sz="2600" spc="-165" dirty="0">
                <a:latin typeface="Times New Roman"/>
                <a:cs typeface="Times New Roman"/>
              </a:rPr>
              <a:t>e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20" dirty="0">
                <a:latin typeface="Times New Roman"/>
                <a:cs typeface="Times New Roman"/>
              </a:rPr>
              <a:t>a</a:t>
            </a:r>
            <a:r>
              <a:rPr sz="2600" spc="-19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O</a:t>
            </a:r>
            <a:r>
              <a:rPr sz="2600" spc="-275" dirty="0">
                <a:latin typeface="Times New Roman"/>
                <a:cs typeface="Times New Roman"/>
              </a:rPr>
              <a:t>SI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mo</a:t>
            </a:r>
            <a:r>
              <a:rPr sz="2600" spc="-120" dirty="0">
                <a:latin typeface="Times New Roman"/>
                <a:cs typeface="Times New Roman"/>
              </a:rPr>
              <a:t>de</a:t>
            </a:r>
            <a:r>
              <a:rPr sz="2600" spc="-70" dirty="0">
                <a:latin typeface="Times New Roman"/>
                <a:cs typeface="Times New Roman"/>
              </a:rPr>
              <a:t>l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80" dirty="0">
                <a:latin typeface="Times New Roman"/>
                <a:cs typeface="Times New Roman"/>
              </a:rPr>
              <a:t>OSI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model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architecture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consists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seven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layers.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59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361315" algn="l"/>
                <a:tab pos="361950" algn="l"/>
              </a:tabLst>
            </a:pPr>
            <a:r>
              <a:rPr dirty="0"/>
              <a:t>	</a:t>
            </a: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defines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seven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layers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levels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complete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communication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system.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324053"/>
            <a:ext cx="20021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OSI</a:t>
            </a:r>
            <a:r>
              <a:rPr spc="-65" dirty="0"/>
              <a:t> </a:t>
            </a:r>
            <a:r>
              <a:rPr spc="-2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9457" y="980459"/>
            <a:ext cx="5787126" cy="572514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43097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40" dirty="0">
                <a:latin typeface="Arial"/>
                <a:cs typeface="Arial"/>
              </a:rPr>
              <a:t>F</a:t>
            </a:r>
            <a:r>
              <a:rPr b="1" spc="-114" dirty="0">
                <a:latin typeface="Arial"/>
                <a:cs typeface="Arial"/>
              </a:rPr>
              <a:t>e</a:t>
            </a:r>
            <a:r>
              <a:rPr b="1" spc="-95" dirty="0">
                <a:latin typeface="Arial"/>
                <a:cs typeface="Arial"/>
              </a:rPr>
              <a:t>a</a:t>
            </a:r>
            <a:r>
              <a:rPr b="1" spc="-175" dirty="0">
                <a:latin typeface="Arial"/>
                <a:cs typeface="Arial"/>
              </a:rPr>
              <a:t>ture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120" dirty="0">
                <a:latin typeface="Arial"/>
                <a:cs typeface="Arial"/>
              </a:rPr>
              <a:t>f </a:t>
            </a:r>
            <a:r>
              <a:rPr b="1" spc="-475" dirty="0">
                <a:latin typeface="Arial"/>
                <a:cs typeface="Arial"/>
              </a:rPr>
              <a:t>O</a:t>
            </a:r>
            <a:r>
              <a:rPr b="1" spc="-390" dirty="0">
                <a:latin typeface="Arial"/>
                <a:cs typeface="Arial"/>
              </a:rPr>
              <a:t>S</a:t>
            </a:r>
            <a:r>
              <a:rPr b="1" spc="-105" dirty="0">
                <a:latin typeface="Arial"/>
                <a:cs typeface="Arial"/>
              </a:rPr>
              <a:t>I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80" dirty="0">
                <a:latin typeface="Arial"/>
                <a:cs typeface="Arial"/>
              </a:rPr>
              <a:t>M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254" dirty="0">
                <a:latin typeface="Arial"/>
                <a:cs typeface="Arial"/>
              </a:rPr>
              <a:t>d</a:t>
            </a:r>
            <a:r>
              <a:rPr b="1" spc="-155" dirty="0">
                <a:latin typeface="Arial"/>
                <a:cs typeface="Arial"/>
              </a:rPr>
              <a:t>el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300" dirty="0">
                <a:latin typeface="Arial"/>
                <a:cs typeface="Arial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425690" cy="3105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669414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50" dirty="0">
                <a:latin typeface="Times New Roman"/>
                <a:cs typeface="Times New Roman"/>
              </a:rPr>
              <a:t>Big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pic</a:t>
            </a:r>
            <a:r>
              <a:rPr sz="2600" spc="-75" dirty="0">
                <a:latin typeface="Times New Roman"/>
                <a:cs typeface="Times New Roman"/>
              </a:rPr>
              <a:t>t</a:t>
            </a:r>
            <a:r>
              <a:rPr sz="2600" spc="-50" dirty="0">
                <a:latin typeface="Times New Roman"/>
                <a:cs typeface="Times New Roman"/>
              </a:rPr>
              <a:t>u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o</a:t>
            </a:r>
            <a:r>
              <a:rPr sz="2600" spc="-155" dirty="0">
                <a:latin typeface="Times New Roman"/>
                <a:cs typeface="Times New Roman"/>
              </a:rPr>
              <a:t>m</a:t>
            </a:r>
            <a:r>
              <a:rPr sz="2600" spc="-175" dirty="0">
                <a:latin typeface="Times New Roman"/>
                <a:cs typeface="Times New Roman"/>
              </a:rPr>
              <a:t>m</a:t>
            </a:r>
            <a:r>
              <a:rPr sz="2600" spc="-110" dirty="0">
                <a:latin typeface="Times New Roman"/>
                <a:cs typeface="Times New Roman"/>
              </a:rPr>
              <a:t>u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150" dirty="0">
                <a:latin typeface="Times New Roman"/>
                <a:cs typeface="Times New Roman"/>
              </a:rPr>
              <a:t>ic</a:t>
            </a:r>
            <a:r>
              <a:rPr sz="2600" spc="-215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tion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35" dirty="0">
                <a:latin typeface="Times New Roman"/>
                <a:cs typeface="Times New Roman"/>
              </a:rPr>
              <a:t>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50" dirty="0">
                <a:latin typeface="Times New Roman"/>
                <a:cs typeface="Times New Roman"/>
              </a:rPr>
              <a:t>et</a:t>
            </a:r>
            <a:r>
              <a:rPr sz="2600" spc="-204" dirty="0">
                <a:latin typeface="Times New Roman"/>
                <a:cs typeface="Times New Roman"/>
              </a:rPr>
              <a:t>w</a:t>
            </a:r>
            <a:r>
              <a:rPr sz="2600" spc="-80" dirty="0">
                <a:latin typeface="Times New Roman"/>
                <a:cs typeface="Times New Roman"/>
              </a:rPr>
              <a:t>ork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is  </a:t>
            </a:r>
            <a:r>
              <a:rPr sz="2600" spc="-114" dirty="0">
                <a:latin typeface="Times New Roman"/>
                <a:cs typeface="Times New Roman"/>
              </a:rPr>
              <a:t>understandable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through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this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OSI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model.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60" dirty="0">
                <a:latin typeface="Times New Roman"/>
                <a:cs typeface="Times New Roman"/>
              </a:rPr>
              <a:t>W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see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h</a:t>
            </a:r>
            <a:r>
              <a:rPr sz="2600" spc="-215" dirty="0">
                <a:latin typeface="Times New Roman"/>
                <a:cs typeface="Times New Roman"/>
              </a:rPr>
              <a:t>o</a:t>
            </a:r>
            <a:r>
              <a:rPr sz="2600" spc="-145" dirty="0">
                <a:latin typeface="Times New Roman"/>
                <a:cs typeface="Times New Roman"/>
              </a:rPr>
              <a:t>w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h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40" dirty="0">
                <a:latin typeface="Times New Roman"/>
                <a:cs typeface="Times New Roman"/>
              </a:rPr>
              <a:t>r</a:t>
            </a:r>
            <a:r>
              <a:rPr sz="2600" spc="-105" dirty="0">
                <a:latin typeface="Times New Roman"/>
                <a:cs typeface="Times New Roman"/>
              </a:rPr>
              <a:t>d</a:t>
            </a:r>
            <a:r>
              <a:rPr sz="2600" spc="-170" dirty="0">
                <a:latin typeface="Times New Roman"/>
                <a:cs typeface="Times New Roman"/>
              </a:rPr>
              <a:t>w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sof</a:t>
            </a:r>
            <a:r>
              <a:rPr sz="2600" spc="-100" dirty="0">
                <a:latin typeface="Times New Roman"/>
                <a:cs typeface="Times New Roman"/>
              </a:rPr>
              <a:t>t</a:t>
            </a:r>
            <a:r>
              <a:rPr sz="2600" spc="-170" dirty="0">
                <a:latin typeface="Times New Roman"/>
                <a:cs typeface="Times New Roman"/>
              </a:rPr>
              <a:t>w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80" dirty="0">
                <a:latin typeface="Times New Roman"/>
                <a:cs typeface="Times New Roman"/>
              </a:rPr>
              <a:t>ork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</a:t>
            </a:r>
            <a:r>
              <a:rPr sz="2600" spc="-55" dirty="0">
                <a:latin typeface="Times New Roman"/>
                <a:cs typeface="Times New Roman"/>
              </a:rPr>
              <a:t>o</a:t>
            </a:r>
            <a:r>
              <a:rPr sz="2600" spc="-110" dirty="0">
                <a:latin typeface="Times New Roman"/>
                <a:cs typeface="Times New Roman"/>
              </a:rPr>
              <a:t>ge</a:t>
            </a:r>
            <a:r>
              <a:rPr sz="2600" spc="-80" dirty="0">
                <a:latin typeface="Times New Roman"/>
                <a:cs typeface="Times New Roman"/>
              </a:rPr>
              <a:t>t</a:t>
            </a:r>
            <a:r>
              <a:rPr sz="2600" spc="-130" dirty="0">
                <a:latin typeface="Times New Roman"/>
                <a:cs typeface="Times New Roman"/>
              </a:rPr>
              <a:t>he</a:t>
            </a:r>
            <a:r>
              <a:rPr sz="2600" spc="-200" dirty="0">
                <a:latin typeface="Times New Roman"/>
                <a:cs typeface="Times New Roman"/>
              </a:rPr>
              <a:t>r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29" dirty="0">
                <a:latin typeface="Times New Roman"/>
                <a:cs typeface="Times New Roman"/>
              </a:rPr>
              <a:t>We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can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understand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new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technologies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they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are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developed.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10" dirty="0">
                <a:latin typeface="Times New Roman"/>
                <a:cs typeface="Times New Roman"/>
              </a:rPr>
              <a:t>T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u</a:t>
            </a:r>
            <a:r>
              <a:rPr sz="2600" spc="-175" dirty="0">
                <a:latin typeface="Times New Roman"/>
                <a:cs typeface="Times New Roman"/>
              </a:rPr>
              <a:t>b</a:t>
            </a:r>
            <a:r>
              <a:rPr sz="2600" spc="-130" dirty="0">
                <a:latin typeface="Times New Roman"/>
                <a:cs typeface="Times New Roman"/>
              </a:rPr>
              <a:t>lesho</a:t>
            </a:r>
            <a:r>
              <a:rPr sz="2600" spc="-165" dirty="0">
                <a:latin typeface="Times New Roman"/>
                <a:cs typeface="Times New Roman"/>
              </a:rPr>
              <a:t>o</a:t>
            </a:r>
            <a:r>
              <a:rPr sz="2600" spc="-105" dirty="0">
                <a:latin typeface="Times New Roman"/>
                <a:cs typeface="Times New Roman"/>
              </a:rPr>
              <a:t>ting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easier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b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se</a:t>
            </a:r>
            <a:r>
              <a:rPr sz="2600" spc="-165" dirty="0">
                <a:latin typeface="Times New Roman"/>
                <a:cs typeface="Times New Roman"/>
              </a:rPr>
              <a:t>p</a:t>
            </a:r>
            <a:r>
              <a:rPr sz="2600" spc="-125" dirty="0">
                <a:latin typeface="Times New Roman"/>
                <a:cs typeface="Times New Roman"/>
              </a:rPr>
              <a:t>ar</a:t>
            </a:r>
            <a:r>
              <a:rPr sz="2600" spc="-165" dirty="0">
                <a:latin typeface="Times New Roman"/>
                <a:cs typeface="Times New Roman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te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ne</a:t>
            </a:r>
            <a:r>
              <a:rPr sz="2600" spc="-55" dirty="0">
                <a:latin typeface="Times New Roman"/>
                <a:cs typeface="Times New Roman"/>
              </a:rPr>
              <a:t>t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114" dirty="0">
                <a:latin typeface="Times New Roman"/>
                <a:cs typeface="Times New Roman"/>
              </a:rPr>
              <a:t>ork</a:t>
            </a:r>
            <a:r>
              <a:rPr sz="2600" spc="-150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398145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5" dirty="0">
                <a:latin typeface="Times New Roman"/>
                <a:cs typeface="Times New Roman"/>
              </a:rPr>
              <a:t>Can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used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compare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basic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functional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relationships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diff</a:t>
            </a:r>
            <a:r>
              <a:rPr sz="2600" spc="-40" dirty="0">
                <a:latin typeface="Times New Roman"/>
                <a:cs typeface="Times New Roman"/>
              </a:rPr>
              <a:t>e</a:t>
            </a:r>
            <a:r>
              <a:rPr sz="2600" spc="-55" dirty="0">
                <a:latin typeface="Times New Roman"/>
                <a:cs typeface="Times New Roman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ent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ne</a:t>
            </a:r>
            <a:r>
              <a:rPr sz="2600" spc="-50" dirty="0">
                <a:latin typeface="Times New Roman"/>
                <a:cs typeface="Times New Roman"/>
              </a:rPr>
              <a:t>t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114" dirty="0">
                <a:latin typeface="Times New Roman"/>
                <a:cs typeface="Times New Roman"/>
              </a:rPr>
              <a:t>ork</a:t>
            </a:r>
            <a:r>
              <a:rPr sz="2600" spc="-150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54152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110" dirty="0">
                <a:latin typeface="Arial"/>
                <a:cs typeface="Arial"/>
              </a:rPr>
              <a:t>1</a:t>
            </a:r>
            <a:r>
              <a:rPr b="1" spc="-300" dirty="0">
                <a:latin typeface="Arial"/>
                <a:cs typeface="Arial"/>
              </a:rPr>
              <a:t>:</a:t>
            </a:r>
            <a:r>
              <a:rPr b="1" spc="-120" dirty="0">
                <a:latin typeface="Arial"/>
                <a:cs typeface="Arial"/>
              </a:rPr>
              <a:t> </a:t>
            </a:r>
            <a:r>
              <a:rPr b="1" spc="-445" dirty="0">
                <a:latin typeface="Arial"/>
                <a:cs typeface="Arial"/>
              </a:rPr>
              <a:t>T</a:t>
            </a:r>
            <a:r>
              <a:rPr b="1" spc="-250" dirty="0">
                <a:latin typeface="Arial"/>
                <a:cs typeface="Arial"/>
              </a:rPr>
              <a:t>h</a:t>
            </a:r>
            <a:r>
              <a:rPr b="1" spc="-130" dirty="0">
                <a:latin typeface="Arial"/>
                <a:cs typeface="Arial"/>
              </a:rPr>
              <a:t>e </a:t>
            </a:r>
            <a:r>
              <a:rPr b="1" spc="-380" dirty="0">
                <a:latin typeface="Arial"/>
                <a:cs typeface="Arial"/>
              </a:rPr>
              <a:t>P</a:t>
            </a:r>
            <a:r>
              <a:rPr b="1" spc="-320" dirty="0">
                <a:latin typeface="Arial"/>
                <a:cs typeface="Arial"/>
              </a:rPr>
              <a:t>h</a:t>
            </a:r>
            <a:r>
              <a:rPr b="1" spc="-500" dirty="0">
                <a:latin typeface="Arial"/>
                <a:cs typeface="Arial"/>
              </a:rPr>
              <a:t>y</a:t>
            </a:r>
            <a:r>
              <a:rPr b="1" spc="-340" dirty="0">
                <a:latin typeface="Arial"/>
                <a:cs typeface="Arial"/>
              </a:rPr>
              <a:t>s</a:t>
            </a:r>
            <a:r>
              <a:rPr b="1" spc="-160" dirty="0">
                <a:latin typeface="Arial"/>
                <a:cs typeface="Arial"/>
              </a:rPr>
              <a:t>i</a:t>
            </a:r>
            <a:r>
              <a:rPr b="1" spc="-200" dirty="0">
                <a:latin typeface="Arial"/>
                <a:cs typeface="Arial"/>
              </a:rPr>
              <a:t>cal</a:t>
            </a:r>
            <a:r>
              <a:rPr b="1" spc="-145" dirty="0">
                <a:latin typeface="Arial"/>
                <a:cs typeface="Arial"/>
              </a:rPr>
              <a:t> </a:t>
            </a: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300" dirty="0">
                <a:latin typeface="Arial"/>
                <a:cs typeface="Arial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358239"/>
            <a:ext cx="7403465" cy="44462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lowest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layer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80" dirty="0">
                <a:latin typeface="Times New Roman"/>
                <a:cs typeface="Times New Roman"/>
              </a:rPr>
              <a:t>OSI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Model.</a:t>
            </a:r>
            <a:endParaRPr sz="2600">
              <a:latin typeface="Times New Roman"/>
              <a:cs typeface="Times New Roman"/>
            </a:endParaRPr>
          </a:p>
          <a:p>
            <a:pPr marL="286385" marR="123952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activates,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maintains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deactivates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70" dirty="0">
                <a:latin typeface="Times New Roman"/>
                <a:cs typeface="Times New Roman"/>
              </a:rPr>
              <a:t>physical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connection.</a:t>
            </a:r>
            <a:endParaRPr sz="2600">
              <a:latin typeface="Times New Roman"/>
              <a:cs typeface="Times New Roman"/>
            </a:endParaRPr>
          </a:p>
          <a:p>
            <a:pPr marL="286385" marR="81661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responsible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for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transmission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reception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of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u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st</a:t>
            </a:r>
            <a:r>
              <a:rPr sz="2600" spc="10" dirty="0">
                <a:latin typeface="Times New Roman"/>
                <a:cs typeface="Times New Roman"/>
              </a:rPr>
              <a:t>r</a:t>
            </a:r>
            <a:r>
              <a:rPr sz="2600" spc="-140" dirty="0">
                <a:latin typeface="Times New Roman"/>
                <a:cs typeface="Times New Roman"/>
              </a:rPr>
              <a:t>uc</a:t>
            </a:r>
            <a:r>
              <a:rPr sz="2600" spc="-25" dirty="0">
                <a:latin typeface="Times New Roman"/>
                <a:cs typeface="Times New Roman"/>
              </a:rPr>
              <a:t>t</a:t>
            </a:r>
            <a:r>
              <a:rPr sz="2600" spc="-55" dirty="0">
                <a:latin typeface="Times New Roman"/>
                <a:cs typeface="Times New Roman"/>
              </a:rPr>
              <a:t>u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05" dirty="0">
                <a:latin typeface="Times New Roman"/>
                <a:cs typeface="Times New Roman"/>
              </a:rPr>
              <a:t>ed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r</a:t>
            </a:r>
            <a:r>
              <a:rPr sz="2600" spc="-195" dirty="0">
                <a:latin typeface="Times New Roman"/>
                <a:cs typeface="Times New Roman"/>
              </a:rPr>
              <a:t>a</a:t>
            </a:r>
            <a:r>
              <a:rPr sz="2600" spc="-145" dirty="0">
                <a:latin typeface="Times New Roman"/>
                <a:cs typeface="Times New Roman"/>
              </a:rPr>
              <a:t>w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d</a:t>
            </a:r>
            <a:r>
              <a:rPr sz="2600" spc="-180" dirty="0">
                <a:latin typeface="Times New Roman"/>
                <a:cs typeface="Times New Roman"/>
              </a:rPr>
              <a:t>a</a:t>
            </a:r>
            <a:r>
              <a:rPr sz="2600" spc="-85" dirty="0">
                <a:latin typeface="Times New Roman"/>
                <a:cs typeface="Times New Roman"/>
              </a:rPr>
              <a:t>ta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o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35" dirty="0">
                <a:latin typeface="Times New Roman"/>
                <a:cs typeface="Times New Roman"/>
              </a:rPr>
              <a:t>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50" dirty="0">
                <a:latin typeface="Times New Roman"/>
                <a:cs typeface="Times New Roman"/>
              </a:rPr>
              <a:t>et</a:t>
            </a:r>
            <a:r>
              <a:rPr sz="2600" spc="-204" dirty="0">
                <a:latin typeface="Times New Roman"/>
                <a:cs typeface="Times New Roman"/>
              </a:rPr>
              <a:t>w</a:t>
            </a:r>
            <a:r>
              <a:rPr sz="2600" spc="-35" dirty="0">
                <a:latin typeface="Times New Roman"/>
                <a:cs typeface="Times New Roman"/>
              </a:rPr>
              <a:t>ork.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95" dirty="0">
                <a:latin typeface="Times New Roman"/>
                <a:cs typeface="Times New Roman"/>
              </a:rPr>
              <a:t>Voltages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data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rates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needed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transmission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defined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p</a:t>
            </a:r>
            <a:r>
              <a:rPr sz="2600" spc="-210" dirty="0">
                <a:latin typeface="Times New Roman"/>
                <a:cs typeface="Times New Roman"/>
              </a:rPr>
              <a:t>h</a:t>
            </a:r>
            <a:r>
              <a:rPr sz="2600" spc="-175" dirty="0">
                <a:latin typeface="Times New Roman"/>
                <a:cs typeface="Times New Roman"/>
              </a:rPr>
              <a:t>ysic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l</a:t>
            </a:r>
            <a:r>
              <a:rPr sz="2600" spc="-285" dirty="0">
                <a:latin typeface="Times New Roman"/>
                <a:cs typeface="Times New Roman"/>
              </a:rPr>
              <a:t>a</a:t>
            </a:r>
            <a:r>
              <a:rPr sz="2600" spc="-260" dirty="0">
                <a:latin typeface="Times New Roman"/>
                <a:cs typeface="Times New Roman"/>
              </a:rPr>
              <a:t>y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95" dirty="0">
                <a:latin typeface="Times New Roman"/>
                <a:cs typeface="Times New Roman"/>
              </a:rPr>
              <a:t>r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34544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converts</a:t>
            </a:r>
            <a:r>
              <a:rPr sz="2600" spc="-75" dirty="0">
                <a:latin typeface="Times New Roman"/>
                <a:cs typeface="Times New Roman"/>
              </a:rPr>
              <a:t> 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digital/analog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bits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into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electrical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signal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p</a:t>
            </a:r>
            <a:r>
              <a:rPr sz="2600" spc="-70" dirty="0">
                <a:latin typeface="Times New Roman"/>
                <a:cs typeface="Times New Roman"/>
              </a:rPr>
              <a:t>ti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114" dirty="0">
                <a:latin typeface="Times New Roman"/>
                <a:cs typeface="Times New Roman"/>
              </a:rPr>
              <a:t>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sig</a:t>
            </a:r>
            <a:r>
              <a:rPr sz="2600" spc="-210" dirty="0">
                <a:latin typeface="Times New Roman"/>
                <a:cs typeface="Times New Roman"/>
              </a:rPr>
              <a:t>n</a:t>
            </a:r>
            <a:r>
              <a:rPr sz="2600" spc="-170" dirty="0">
                <a:latin typeface="Times New Roman"/>
                <a:cs typeface="Times New Roman"/>
              </a:rPr>
              <a:t>al</a:t>
            </a:r>
            <a:r>
              <a:rPr sz="2600" spc="-229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15" dirty="0">
                <a:latin typeface="Times New Roman"/>
                <a:cs typeface="Times New Roman"/>
              </a:rPr>
              <a:t>D</a:t>
            </a:r>
            <a:r>
              <a:rPr sz="2600" spc="-160" dirty="0">
                <a:latin typeface="Times New Roman"/>
                <a:cs typeface="Times New Roman"/>
              </a:rPr>
              <a:t>a</a:t>
            </a:r>
            <a:r>
              <a:rPr sz="2600" spc="-85" dirty="0">
                <a:latin typeface="Times New Roman"/>
                <a:cs typeface="Times New Roman"/>
              </a:rPr>
              <a:t>ta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20" dirty="0">
                <a:latin typeface="Times New Roman"/>
                <a:cs typeface="Times New Roman"/>
              </a:rPr>
              <a:t>n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o</a:t>
            </a:r>
            <a:r>
              <a:rPr sz="2600" spc="-140" dirty="0">
                <a:latin typeface="Times New Roman"/>
                <a:cs typeface="Times New Roman"/>
              </a:rPr>
              <a:t>ding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130" dirty="0">
                <a:latin typeface="Times New Roman"/>
                <a:cs typeface="Times New Roman"/>
              </a:rPr>
              <a:t>l</a:t>
            </a:r>
            <a:r>
              <a:rPr sz="2600" spc="-155" dirty="0">
                <a:latin typeface="Times New Roman"/>
                <a:cs typeface="Times New Roman"/>
              </a:rPr>
              <a:t>so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-105" dirty="0">
                <a:latin typeface="Times New Roman"/>
                <a:cs typeface="Times New Roman"/>
              </a:rPr>
              <a:t>ne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this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l</a:t>
            </a:r>
            <a:r>
              <a:rPr sz="2600" spc="-285" dirty="0">
                <a:latin typeface="Times New Roman"/>
                <a:cs typeface="Times New Roman"/>
              </a:rPr>
              <a:t>a</a:t>
            </a:r>
            <a:r>
              <a:rPr sz="2600" spc="-260" dirty="0">
                <a:latin typeface="Times New Roman"/>
                <a:cs typeface="Times New Roman"/>
              </a:rPr>
              <a:t>y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95" dirty="0">
                <a:latin typeface="Times New Roman"/>
                <a:cs typeface="Times New Roman"/>
              </a:rPr>
              <a:t>r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4870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110" dirty="0">
                <a:latin typeface="Arial"/>
                <a:cs typeface="Arial"/>
              </a:rPr>
              <a:t>2</a:t>
            </a:r>
            <a:r>
              <a:rPr b="1" spc="-300" dirty="0">
                <a:latin typeface="Arial"/>
                <a:cs typeface="Arial"/>
              </a:rPr>
              <a:t>:</a:t>
            </a:r>
            <a:r>
              <a:rPr b="1" spc="-120" dirty="0">
                <a:latin typeface="Arial"/>
                <a:cs typeface="Arial"/>
              </a:rPr>
              <a:t> </a:t>
            </a:r>
            <a:r>
              <a:rPr b="1" spc="-210" dirty="0">
                <a:latin typeface="Arial"/>
                <a:cs typeface="Arial"/>
              </a:rPr>
              <a:t>D</a:t>
            </a:r>
            <a:r>
              <a:rPr b="1" spc="-145" dirty="0">
                <a:latin typeface="Arial"/>
                <a:cs typeface="Arial"/>
              </a:rPr>
              <a:t>a</a:t>
            </a:r>
            <a:r>
              <a:rPr b="1" spc="-95" dirty="0">
                <a:latin typeface="Arial"/>
                <a:cs typeface="Arial"/>
              </a:rPr>
              <a:t>ta</a:t>
            </a:r>
            <a:r>
              <a:rPr b="1" spc="-135" dirty="0">
                <a:latin typeface="Arial"/>
                <a:cs typeface="Arial"/>
              </a:rPr>
              <a:t> </a:t>
            </a: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i</a:t>
            </a:r>
            <a:r>
              <a:rPr b="1" spc="-225" dirty="0">
                <a:latin typeface="Arial"/>
                <a:cs typeface="Arial"/>
              </a:rPr>
              <a:t>nk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300" dirty="0">
                <a:latin typeface="Arial"/>
                <a:cs typeface="Arial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410970"/>
            <a:ext cx="7512050" cy="43180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6385" marR="781050" indent="-274320">
              <a:lnSpc>
                <a:spcPts val="2590"/>
              </a:lnSpc>
              <a:spcBef>
                <a:spcPts val="4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200" dirty="0">
                <a:latin typeface="Times New Roman"/>
                <a:cs typeface="Times New Roman"/>
              </a:rPr>
              <a:t>D</a:t>
            </a:r>
            <a:r>
              <a:rPr sz="2400" spc="-155" dirty="0">
                <a:latin typeface="Times New Roman"/>
                <a:cs typeface="Times New Roman"/>
              </a:rPr>
              <a:t>a</a:t>
            </a:r>
            <a:r>
              <a:rPr sz="2400" spc="-80" dirty="0">
                <a:latin typeface="Times New Roman"/>
                <a:cs typeface="Times New Roman"/>
              </a:rPr>
              <a:t>ta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lin</a:t>
            </a:r>
            <a:r>
              <a:rPr sz="2400" spc="-150" dirty="0">
                <a:latin typeface="Times New Roman"/>
                <a:cs typeface="Times New Roman"/>
              </a:rPr>
              <a:t>k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l</a:t>
            </a:r>
            <a:r>
              <a:rPr sz="2400" spc="-260" dirty="0">
                <a:latin typeface="Times New Roman"/>
                <a:cs typeface="Times New Roman"/>
              </a:rPr>
              <a:t>a</a:t>
            </a:r>
            <a:r>
              <a:rPr sz="2400" spc="-245" dirty="0">
                <a:latin typeface="Times New Roman"/>
                <a:cs typeface="Times New Roman"/>
              </a:rPr>
              <a:t>y</a:t>
            </a:r>
            <a:r>
              <a:rPr sz="2400" spc="-35" dirty="0">
                <a:latin typeface="Times New Roman"/>
                <a:cs typeface="Times New Roman"/>
              </a:rPr>
              <a:t>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syn</a:t>
            </a:r>
            <a:r>
              <a:rPr sz="2400" spc="-105" dirty="0">
                <a:latin typeface="Times New Roman"/>
                <a:cs typeface="Times New Roman"/>
              </a:rPr>
              <a:t>c</a:t>
            </a:r>
            <a:r>
              <a:rPr sz="2400" spc="-75" dirty="0">
                <a:latin typeface="Times New Roman"/>
                <a:cs typeface="Times New Roman"/>
              </a:rPr>
              <a:t>h</a:t>
            </a:r>
            <a:r>
              <a:rPr sz="2400" spc="-7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n</a:t>
            </a:r>
            <a:r>
              <a:rPr sz="2400" spc="-145" dirty="0">
                <a:latin typeface="Times New Roman"/>
                <a:cs typeface="Times New Roman"/>
              </a:rPr>
              <a:t>izes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inf</a:t>
            </a:r>
            <a:r>
              <a:rPr sz="2400" spc="-150" dirty="0">
                <a:latin typeface="Times New Roman"/>
                <a:cs typeface="Times New Roman"/>
              </a:rPr>
              <a:t>o</a:t>
            </a:r>
            <a:r>
              <a:rPr sz="2400" spc="95" dirty="0">
                <a:latin typeface="Times New Roman"/>
                <a:cs typeface="Times New Roman"/>
              </a:rPr>
              <a:t>r</a:t>
            </a:r>
            <a:r>
              <a:rPr sz="2400" spc="-215" dirty="0">
                <a:latin typeface="Times New Roman"/>
                <a:cs typeface="Times New Roman"/>
              </a:rPr>
              <a:t>m</a:t>
            </a:r>
            <a:r>
              <a:rPr sz="2400" spc="-145" dirty="0">
                <a:latin typeface="Times New Roman"/>
                <a:cs typeface="Times New Roman"/>
              </a:rPr>
              <a:t>a</a:t>
            </a:r>
            <a:r>
              <a:rPr sz="2400" spc="-75" dirty="0">
                <a:latin typeface="Times New Roman"/>
                <a:cs typeface="Times New Roman"/>
              </a:rPr>
              <a:t>tion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whi</a:t>
            </a:r>
            <a:r>
              <a:rPr sz="2400" spc="-80" dirty="0">
                <a:latin typeface="Times New Roman"/>
                <a:cs typeface="Times New Roman"/>
              </a:rPr>
              <a:t>c</a:t>
            </a:r>
            <a:r>
              <a:rPr sz="2400" spc="-150" dirty="0">
                <a:latin typeface="Times New Roman"/>
                <a:cs typeface="Times New Roman"/>
              </a:rPr>
              <a:t>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be  trans</a:t>
            </a:r>
            <a:r>
              <a:rPr sz="2400" spc="-65" dirty="0">
                <a:latin typeface="Times New Roman"/>
                <a:cs typeface="Times New Roman"/>
              </a:rPr>
              <a:t>mitt</a:t>
            </a:r>
            <a:r>
              <a:rPr sz="2400" spc="-75" dirty="0">
                <a:latin typeface="Times New Roman"/>
                <a:cs typeface="Times New Roman"/>
              </a:rPr>
              <a:t>e</a:t>
            </a:r>
            <a:r>
              <a:rPr sz="2400" spc="-105" dirty="0">
                <a:latin typeface="Times New Roman"/>
                <a:cs typeface="Times New Roman"/>
              </a:rPr>
              <a:t>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o</a:t>
            </a:r>
            <a:r>
              <a:rPr sz="2400" spc="-254" dirty="0">
                <a:latin typeface="Times New Roman"/>
                <a:cs typeface="Times New Roman"/>
              </a:rPr>
              <a:t>v</a:t>
            </a:r>
            <a:r>
              <a:rPr sz="2400" spc="-35" dirty="0">
                <a:latin typeface="Times New Roman"/>
                <a:cs typeface="Times New Roman"/>
              </a:rPr>
              <a:t>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p</a:t>
            </a:r>
            <a:r>
              <a:rPr sz="2400" spc="-170" dirty="0">
                <a:latin typeface="Times New Roman"/>
                <a:cs typeface="Times New Roman"/>
              </a:rPr>
              <a:t>h</a:t>
            </a:r>
            <a:r>
              <a:rPr sz="2400" spc="-155" dirty="0">
                <a:latin typeface="Times New Roman"/>
                <a:cs typeface="Times New Roman"/>
              </a:rPr>
              <a:t>ysical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l</a:t>
            </a:r>
            <a:r>
              <a:rPr sz="2400" spc="-260" dirty="0">
                <a:latin typeface="Times New Roman"/>
                <a:cs typeface="Times New Roman"/>
              </a:rPr>
              <a:t>a</a:t>
            </a:r>
            <a:r>
              <a:rPr sz="2400" spc="-245" dirty="0">
                <a:latin typeface="Times New Roman"/>
                <a:cs typeface="Times New Roman"/>
              </a:rPr>
              <a:t>y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195" dirty="0">
                <a:latin typeface="Times New Roman"/>
                <a:cs typeface="Times New Roman"/>
              </a:rPr>
              <a:t>r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ts val="2735"/>
              </a:lnSpc>
              <a:spcBef>
                <a:spcPts val="28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20" dirty="0">
                <a:latin typeface="Times New Roman"/>
                <a:cs typeface="Times New Roman"/>
              </a:rPr>
              <a:t>The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main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function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this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layer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make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sure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data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transfer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ts val="2735"/>
              </a:lnSpc>
            </a:pPr>
            <a:r>
              <a:rPr sz="2400" spc="-20" dirty="0">
                <a:latin typeface="Times New Roman"/>
                <a:cs typeface="Times New Roman"/>
              </a:rPr>
              <a:t>error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free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from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one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node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another,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over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 </a:t>
            </a:r>
            <a:r>
              <a:rPr sz="2400" spc="-155" dirty="0">
                <a:latin typeface="Times New Roman"/>
                <a:cs typeface="Times New Roman"/>
              </a:rPr>
              <a:t>physical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layer.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ts val="2590"/>
              </a:lnSpc>
              <a:spcBef>
                <a:spcPts val="64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14" dirty="0">
                <a:latin typeface="Times New Roman"/>
                <a:cs typeface="Times New Roman"/>
              </a:rPr>
              <a:t>Transmitting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receiving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data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frames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sequentially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managed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85" dirty="0">
                <a:latin typeface="Times New Roman"/>
                <a:cs typeface="Times New Roman"/>
              </a:rPr>
              <a:t>by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this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l</a:t>
            </a:r>
            <a:r>
              <a:rPr sz="2400" spc="-260" dirty="0">
                <a:latin typeface="Times New Roman"/>
                <a:cs typeface="Times New Roman"/>
              </a:rPr>
              <a:t>a</a:t>
            </a:r>
            <a:r>
              <a:rPr sz="2400" spc="-245" dirty="0">
                <a:latin typeface="Times New Roman"/>
                <a:cs typeface="Times New Roman"/>
              </a:rPr>
              <a:t>y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195" dirty="0">
                <a:latin typeface="Times New Roman"/>
                <a:cs typeface="Times New Roman"/>
              </a:rPr>
              <a:t>r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 marR="342265" indent="-274320">
              <a:lnSpc>
                <a:spcPts val="2590"/>
              </a:lnSpc>
              <a:spcBef>
                <a:spcPts val="60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55" dirty="0">
                <a:latin typeface="Times New Roman"/>
                <a:cs typeface="Times New Roman"/>
              </a:rPr>
              <a:t>Th</a:t>
            </a:r>
            <a:r>
              <a:rPr sz="2400" spc="-75" dirty="0">
                <a:latin typeface="Times New Roman"/>
                <a:cs typeface="Times New Roman"/>
              </a:rPr>
              <a:t>i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l</a:t>
            </a:r>
            <a:r>
              <a:rPr sz="2400" spc="-265" dirty="0">
                <a:latin typeface="Times New Roman"/>
                <a:cs typeface="Times New Roman"/>
              </a:rPr>
              <a:t>a</a:t>
            </a:r>
            <a:r>
              <a:rPr sz="2400" spc="-245" dirty="0">
                <a:latin typeface="Times New Roman"/>
                <a:cs typeface="Times New Roman"/>
              </a:rPr>
              <a:t>y</a:t>
            </a:r>
            <a:r>
              <a:rPr sz="2400" spc="-35" dirty="0">
                <a:latin typeface="Times New Roman"/>
                <a:cs typeface="Times New Roman"/>
              </a:rPr>
              <a:t>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sends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e</a:t>
            </a:r>
            <a:r>
              <a:rPr sz="2400" spc="-100" dirty="0">
                <a:latin typeface="Times New Roman"/>
                <a:cs typeface="Times New Roman"/>
              </a:rPr>
              <a:t>xp</a:t>
            </a:r>
            <a:r>
              <a:rPr sz="2400" spc="-75" dirty="0">
                <a:latin typeface="Times New Roman"/>
                <a:cs typeface="Times New Roman"/>
              </a:rPr>
              <a:t>ec</a:t>
            </a:r>
            <a:r>
              <a:rPr sz="2400" spc="-60" dirty="0">
                <a:latin typeface="Times New Roman"/>
                <a:cs typeface="Times New Roman"/>
              </a:rPr>
              <a:t>t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a</a:t>
            </a:r>
            <a:r>
              <a:rPr sz="2400" spc="-120" dirty="0">
                <a:latin typeface="Times New Roman"/>
                <a:cs typeface="Times New Roman"/>
              </a:rPr>
              <a:t>c</a:t>
            </a:r>
            <a:r>
              <a:rPr sz="2400" spc="-125" dirty="0">
                <a:latin typeface="Times New Roman"/>
                <a:cs typeface="Times New Roman"/>
              </a:rPr>
              <a:t>kn</a:t>
            </a:r>
            <a:r>
              <a:rPr sz="2400" spc="-170" dirty="0">
                <a:latin typeface="Times New Roman"/>
                <a:cs typeface="Times New Roman"/>
              </a:rPr>
              <a:t>o</a:t>
            </a:r>
            <a:r>
              <a:rPr sz="2400" spc="-110" dirty="0">
                <a:latin typeface="Times New Roman"/>
                <a:cs typeface="Times New Roman"/>
              </a:rPr>
              <a:t>wle</a:t>
            </a:r>
            <a:r>
              <a:rPr sz="2400" spc="-130" dirty="0">
                <a:latin typeface="Times New Roman"/>
                <a:cs typeface="Times New Roman"/>
              </a:rPr>
              <a:t>dgem</a:t>
            </a:r>
            <a:r>
              <a:rPr sz="2400" spc="-114" dirty="0">
                <a:latin typeface="Times New Roman"/>
                <a:cs typeface="Times New Roman"/>
              </a:rPr>
              <a:t>e</a:t>
            </a:r>
            <a:r>
              <a:rPr sz="2400" spc="-85" dirty="0">
                <a:latin typeface="Times New Roman"/>
                <a:cs typeface="Times New Roman"/>
              </a:rPr>
              <a:t>nts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for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frames  received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sent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respectively.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Resending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non- 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acknowledgement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received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frames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also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handled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85" dirty="0">
                <a:latin typeface="Times New Roman"/>
                <a:cs typeface="Times New Roman"/>
              </a:rPr>
              <a:t>by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this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layer.</a:t>
            </a:r>
            <a:endParaRPr sz="2400">
              <a:latin typeface="Times New Roman"/>
              <a:cs typeface="Times New Roman"/>
            </a:endParaRPr>
          </a:p>
          <a:p>
            <a:pPr marL="286385" marR="59055" indent="-274320">
              <a:lnSpc>
                <a:spcPct val="90000"/>
              </a:lnSpc>
              <a:spcBef>
                <a:spcPts val="56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40" dirty="0">
                <a:latin typeface="Times New Roman"/>
                <a:cs typeface="Times New Roman"/>
              </a:rPr>
              <a:t>This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layer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establishes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logical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layer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between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two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nodes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also 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manages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Frame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traffic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control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over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network.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It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signals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transmitting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node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stop,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when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frame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buffers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are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full.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5445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110" dirty="0">
                <a:latin typeface="Arial"/>
                <a:cs typeface="Arial"/>
              </a:rPr>
              <a:t>3</a:t>
            </a:r>
            <a:r>
              <a:rPr b="1" spc="-300" dirty="0">
                <a:latin typeface="Arial"/>
                <a:cs typeface="Arial"/>
              </a:rPr>
              <a:t>:</a:t>
            </a:r>
            <a:r>
              <a:rPr b="1" spc="-120" dirty="0">
                <a:latin typeface="Arial"/>
                <a:cs typeface="Arial"/>
              </a:rPr>
              <a:t> </a:t>
            </a:r>
            <a:r>
              <a:rPr b="1" spc="-445" dirty="0">
                <a:latin typeface="Arial"/>
                <a:cs typeface="Arial"/>
              </a:rPr>
              <a:t>T</a:t>
            </a:r>
            <a:r>
              <a:rPr b="1" spc="-250" dirty="0">
                <a:latin typeface="Arial"/>
                <a:cs typeface="Arial"/>
              </a:rPr>
              <a:t>h</a:t>
            </a:r>
            <a:r>
              <a:rPr b="1" spc="-130" dirty="0">
                <a:latin typeface="Arial"/>
                <a:cs typeface="Arial"/>
              </a:rPr>
              <a:t>e </a:t>
            </a:r>
            <a:r>
              <a:rPr b="1" spc="-229" dirty="0">
                <a:latin typeface="Arial"/>
                <a:cs typeface="Arial"/>
              </a:rPr>
              <a:t>N</a:t>
            </a:r>
            <a:r>
              <a:rPr b="1" spc="-170" dirty="0">
                <a:latin typeface="Arial"/>
                <a:cs typeface="Arial"/>
              </a:rPr>
              <a:t>et</a:t>
            </a:r>
            <a:r>
              <a:rPr b="1" spc="-330" dirty="0">
                <a:latin typeface="Arial"/>
                <a:cs typeface="Arial"/>
              </a:rPr>
              <a:t>w</a:t>
            </a:r>
            <a:r>
              <a:rPr b="1" spc="-335" dirty="0">
                <a:latin typeface="Arial"/>
                <a:cs typeface="Arial"/>
              </a:rPr>
              <a:t>o</a:t>
            </a:r>
            <a:r>
              <a:rPr b="1" spc="-225" dirty="0">
                <a:latin typeface="Arial"/>
                <a:cs typeface="Arial"/>
              </a:rPr>
              <a:t>r</a:t>
            </a:r>
            <a:r>
              <a:rPr b="1" spc="-200" dirty="0">
                <a:latin typeface="Arial"/>
                <a:cs typeface="Arial"/>
              </a:rPr>
              <a:t>k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300" dirty="0">
                <a:latin typeface="Arial"/>
                <a:cs typeface="Arial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526020" cy="2632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routes</a:t>
            </a:r>
            <a:r>
              <a:rPr sz="2600" spc="-75" dirty="0">
                <a:latin typeface="Times New Roman"/>
                <a:cs typeface="Times New Roman"/>
              </a:rPr>
              <a:t> 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signal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through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different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channels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from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node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other.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acts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network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controller.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manages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Subnet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traffic.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de</a:t>
            </a:r>
            <a:r>
              <a:rPr sz="2600" spc="-130" dirty="0">
                <a:latin typeface="Times New Roman"/>
                <a:cs typeface="Times New Roman"/>
              </a:rPr>
              <a:t>c</a:t>
            </a:r>
            <a:r>
              <a:rPr sz="2600" spc="-135" dirty="0">
                <a:latin typeface="Times New Roman"/>
                <a:cs typeface="Times New Roman"/>
              </a:rPr>
              <a:t>ides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b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whi</a:t>
            </a:r>
            <a:r>
              <a:rPr sz="2600" spc="-95" dirty="0">
                <a:latin typeface="Times New Roman"/>
                <a:cs typeface="Times New Roman"/>
              </a:rPr>
              <a:t>c</a:t>
            </a:r>
            <a:r>
              <a:rPr sz="2600" spc="-160" dirty="0">
                <a:latin typeface="Times New Roman"/>
                <a:cs typeface="Times New Roman"/>
              </a:rPr>
              <a:t>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u</a:t>
            </a:r>
            <a:r>
              <a:rPr sz="2600" spc="-30" dirty="0">
                <a:latin typeface="Times New Roman"/>
                <a:cs typeface="Times New Roman"/>
              </a:rPr>
              <a:t>te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d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85" dirty="0">
                <a:latin typeface="Times New Roman"/>
                <a:cs typeface="Times New Roman"/>
              </a:rPr>
              <a:t>ta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sh</a:t>
            </a:r>
            <a:r>
              <a:rPr sz="2600" spc="-180" dirty="0">
                <a:latin typeface="Times New Roman"/>
                <a:cs typeface="Times New Roman"/>
              </a:rPr>
              <a:t>o</a:t>
            </a:r>
            <a:r>
              <a:rPr sz="2600" spc="-105" dirty="0">
                <a:latin typeface="Times New Roman"/>
                <a:cs typeface="Times New Roman"/>
              </a:rPr>
              <a:t>uld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ta</a:t>
            </a:r>
            <a:r>
              <a:rPr sz="2600" spc="-180" dirty="0">
                <a:latin typeface="Times New Roman"/>
                <a:cs typeface="Times New Roman"/>
              </a:rPr>
              <a:t>k</a:t>
            </a:r>
            <a:r>
              <a:rPr sz="2600" spc="-150" dirty="0">
                <a:latin typeface="Times New Roman"/>
                <a:cs typeface="Times New Roman"/>
              </a:rPr>
              <a:t>e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19050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divides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outgoing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messages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into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packets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and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assembles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in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145" dirty="0">
                <a:latin typeface="Times New Roman"/>
                <a:cs typeface="Times New Roman"/>
              </a:rPr>
              <a:t>oming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pa</a:t>
            </a:r>
            <a:r>
              <a:rPr sz="2600" spc="-120" dirty="0">
                <a:latin typeface="Times New Roman"/>
                <a:cs typeface="Times New Roman"/>
              </a:rPr>
              <a:t>c</a:t>
            </a:r>
            <a:r>
              <a:rPr sz="2600" spc="-200" dirty="0">
                <a:latin typeface="Times New Roman"/>
                <a:cs typeface="Times New Roman"/>
              </a:rPr>
              <a:t>k</a:t>
            </a:r>
            <a:r>
              <a:rPr sz="2600" spc="-90" dirty="0">
                <a:latin typeface="Times New Roman"/>
                <a:cs typeface="Times New Roman"/>
              </a:rPr>
              <a:t>ets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t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messa</a:t>
            </a:r>
            <a:r>
              <a:rPr sz="2600" spc="-195" dirty="0">
                <a:latin typeface="Times New Roman"/>
                <a:cs typeface="Times New Roman"/>
              </a:rPr>
              <a:t>g</a:t>
            </a:r>
            <a:r>
              <a:rPr sz="2600" spc="-150" dirty="0">
                <a:latin typeface="Times New Roman"/>
                <a:cs typeface="Times New Roman"/>
              </a:rPr>
              <a:t>es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f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30" dirty="0">
                <a:latin typeface="Times New Roman"/>
                <a:cs typeface="Times New Roman"/>
              </a:rPr>
              <a:t>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higher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l</a:t>
            </a:r>
            <a:r>
              <a:rPr sz="2600" spc="-160" dirty="0">
                <a:latin typeface="Times New Roman"/>
                <a:cs typeface="Times New Roman"/>
              </a:rPr>
              <a:t>e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130" dirty="0">
                <a:latin typeface="Times New Roman"/>
                <a:cs typeface="Times New Roman"/>
              </a:rPr>
              <a:t>el</a:t>
            </a:r>
            <a:r>
              <a:rPr sz="2600" spc="-190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4867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110" dirty="0">
                <a:latin typeface="Arial"/>
                <a:cs typeface="Arial"/>
              </a:rPr>
              <a:t>4</a:t>
            </a:r>
            <a:r>
              <a:rPr b="1" spc="-300" dirty="0">
                <a:latin typeface="Arial"/>
                <a:cs typeface="Arial"/>
              </a:rPr>
              <a:t>:</a:t>
            </a:r>
            <a:r>
              <a:rPr b="1" spc="-120" dirty="0">
                <a:latin typeface="Arial"/>
                <a:cs typeface="Arial"/>
              </a:rPr>
              <a:t> </a:t>
            </a:r>
            <a:r>
              <a:rPr b="1" spc="-680" dirty="0">
                <a:latin typeface="Arial"/>
                <a:cs typeface="Arial"/>
              </a:rPr>
              <a:t>T</a:t>
            </a:r>
            <a:r>
              <a:rPr b="1" spc="-210" dirty="0">
                <a:latin typeface="Arial"/>
                <a:cs typeface="Arial"/>
              </a:rPr>
              <a:t>r</a:t>
            </a:r>
            <a:r>
              <a:rPr b="1" spc="-265" dirty="0">
                <a:latin typeface="Arial"/>
                <a:cs typeface="Arial"/>
              </a:rPr>
              <a:t>anspo</a:t>
            </a:r>
            <a:r>
              <a:rPr b="1" spc="-60" dirty="0">
                <a:latin typeface="Arial"/>
                <a:cs typeface="Arial"/>
              </a:rPr>
              <a:t>r</a:t>
            </a:r>
            <a:r>
              <a:rPr b="1" spc="-95" dirty="0">
                <a:latin typeface="Arial"/>
                <a:cs typeface="Arial"/>
              </a:rPr>
              <a:t>t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300" dirty="0">
                <a:latin typeface="Arial"/>
                <a:cs typeface="Arial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404874"/>
            <a:ext cx="7442834" cy="42945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198755" indent="-274320">
              <a:lnSpc>
                <a:spcPts val="2810"/>
              </a:lnSpc>
              <a:spcBef>
                <a:spcPts val="45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decides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if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data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transmission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should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parallel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path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single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p</a:t>
            </a:r>
            <a:r>
              <a:rPr sz="2600" spc="-18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th.</a:t>
            </a:r>
            <a:endParaRPr sz="2600">
              <a:latin typeface="Times New Roman"/>
              <a:cs typeface="Times New Roman"/>
            </a:endParaRPr>
          </a:p>
          <a:p>
            <a:pPr marL="286385" marR="133985" indent="-274320">
              <a:lnSpc>
                <a:spcPts val="281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90" dirty="0">
                <a:latin typeface="Times New Roman"/>
                <a:cs typeface="Times New Roman"/>
              </a:rPr>
              <a:t>Fu</a:t>
            </a:r>
            <a:r>
              <a:rPr sz="2600" spc="-140" dirty="0">
                <a:latin typeface="Times New Roman"/>
                <a:cs typeface="Times New Roman"/>
              </a:rPr>
              <a:t>nc</a:t>
            </a:r>
            <a:r>
              <a:rPr sz="2600" spc="-70" dirty="0">
                <a:latin typeface="Times New Roman"/>
                <a:cs typeface="Times New Roman"/>
              </a:rPr>
              <a:t>tio</a:t>
            </a:r>
            <a:r>
              <a:rPr sz="2600" spc="-114" dirty="0">
                <a:latin typeface="Times New Roman"/>
                <a:cs typeface="Times New Roman"/>
              </a:rPr>
              <a:t>n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su</a:t>
            </a:r>
            <a:r>
              <a:rPr sz="2600" spc="-120" dirty="0">
                <a:latin typeface="Times New Roman"/>
                <a:cs typeface="Times New Roman"/>
              </a:rPr>
              <a:t>c</a:t>
            </a:r>
            <a:r>
              <a:rPr sz="2600" spc="-160" dirty="0">
                <a:latin typeface="Times New Roman"/>
                <a:cs typeface="Times New Roman"/>
              </a:rPr>
              <a:t>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20" dirty="0">
                <a:latin typeface="Times New Roman"/>
                <a:cs typeface="Times New Roman"/>
              </a:rPr>
              <a:t>a</a:t>
            </a:r>
            <a:r>
              <a:rPr sz="2600" spc="-190" dirty="0">
                <a:latin typeface="Times New Roman"/>
                <a:cs typeface="Times New Roman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Mul</a:t>
            </a:r>
            <a:r>
              <a:rPr sz="2600" spc="-85" dirty="0">
                <a:latin typeface="Times New Roman"/>
                <a:cs typeface="Times New Roman"/>
              </a:rPr>
              <a:t>t</a:t>
            </a:r>
            <a:r>
              <a:rPr sz="2600" spc="-105" dirty="0">
                <a:latin typeface="Times New Roman"/>
                <a:cs typeface="Times New Roman"/>
              </a:rPr>
              <a:t>iplexi</a:t>
            </a:r>
            <a:r>
              <a:rPr sz="2600" spc="-150" dirty="0">
                <a:latin typeface="Times New Roman"/>
                <a:cs typeface="Times New Roman"/>
              </a:rPr>
              <a:t>n</a:t>
            </a:r>
            <a:r>
              <a:rPr sz="2600" spc="-260" dirty="0">
                <a:latin typeface="Times New Roman"/>
                <a:cs typeface="Times New Roman"/>
              </a:rPr>
              <a:t>g</a:t>
            </a:r>
            <a:r>
              <a:rPr sz="2600" spc="110" dirty="0">
                <a:latin typeface="Times New Roman"/>
                <a:cs typeface="Times New Roman"/>
              </a:rPr>
              <a:t>,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Times New Roman"/>
                <a:cs typeface="Times New Roman"/>
              </a:rPr>
              <a:t>Se</a:t>
            </a:r>
            <a:r>
              <a:rPr sz="2600" spc="-240" dirty="0">
                <a:latin typeface="Times New Roman"/>
                <a:cs typeface="Times New Roman"/>
              </a:rPr>
              <a:t>g</a:t>
            </a:r>
            <a:r>
              <a:rPr sz="2600" spc="-100" dirty="0">
                <a:latin typeface="Times New Roman"/>
                <a:cs typeface="Times New Roman"/>
              </a:rPr>
              <a:t>men</a:t>
            </a:r>
            <a:r>
              <a:rPr sz="2600" spc="-60" dirty="0">
                <a:latin typeface="Times New Roman"/>
                <a:cs typeface="Times New Roman"/>
              </a:rPr>
              <a:t>t</a:t>
            </a:r>
            <a:r>
              <a:rPr sz="2600" spc="-150" dirty="0">
                <a:latin typeface="Times New Roman"/>
                <a:cs typeface="Times New Roman"/>
              </a:rPr>
              <a:t>ing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Times New Roman"/>
                <a:cs typeface="Times New Roman"/>
              </a:rPr>
              <a:t>S</a:t>
            </a:r>
            <a:r>
              <a:rPr sz="2600" spc="-235" dirty="0">
                <a:latin typeface="Times New Roman"/>
                <a:cs typeface="Times New Roman"/>
              </a:rPr>
              <a:t>p</a:t>
            </a:r>
            <a:r>
              <a:rPr sz="2600" spc="-85" dirty="0">
                <a:latin typeface="Times New Roman"/>
                <a:cs typeface="Times New Roman"/>
              </a:rPr>
              <a:t>littin</a:t>
            </a:r>
            <a:r>
              <a:rPr sz="2600" spc="-125" dirty="0">
                <a:latin typeface="Times New Roman"/>
                <a:cs typeface="Times New Roman"/>
              </a:rPr>
              <a:t>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on 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d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85" dirty="0">
                <a:latin typeface="Times New Roman"/>
                <a:cs typeface="Times New Roman"/>
              </a:rPr>
              <a:t>ta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120" dirty="0">
                <a:latin typeface="Times New Roman"/>
                <a:cs typeface="Times New Roman"/>
              </a:rPr>
              <a:t>o</a:t>
            </a:r>
            <a:r>
              <a:rPr sz="2600" spc="-105" dirty="0">
                <a:latin typeface="Times New Roman"/>
                <a:cs typeface="Times New Roman"/>
              </a:rPr>
              <a:t>ne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b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25" dirty="0">
                <a:latin typeface="Times New Roman"/>
                <a:cs typeface="Times New Roman"/>
              </a:rPr>
              <a:t>t</a:t>
            </a:r>
            <a:r>
              <a:rPr sz="2600" spc="-165" dirty="0">
                <a:latin typeface="Times New Roman"/>
                <a:cs typeface="Times New Roman"/>
              </a:rPr>
              <a:t>his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l</a:t>
            </a:r>
            <a:r>
              <a:rPr sz="2600" spc="-280" dirty="0">
                <a:latin typeface="Times New Roman"/>
                <a:cs typeface="Times New Roman"/>
              </a:rPr>
              <a:t>a</a:t>
            </a:r>
            <a:r>
              <a:rPr sz="2600" spc="-260" dirty="0">
                <a:latin typeface="Times New Roman"/>
                <a:cs typeface="Times New Roman"/>
              </a:rPr>
              <a:t>y</a:t>
            </a:r>
            <a:r>
              <a:rPr sz="2600" spc="-35" dirty="0">
                <a:latin typeface="Times New Roman"/>
                <a:cs typeface="Times New Roman"/>
              </a:rPr>
              <a:t>er</a:t>
            </a:r>
            <a:endParaRPr sz="2600">
              <a:latin typeface="Times New Roman"/>
              <a:cs typeface="Times New Roman"/>
            </a:endParaRPr>
          </a:p>
          <a:p>
            <a:pPr marL="286385" marR="45720" indent="-274320">
              <a:lnSpc>
                <a:spcPct val="90000"/>
              </a:lnSpc>
              <a:spcBef>
                <a:spcPts val="55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receives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messages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from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Session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layer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above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it,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convert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70" dirty="0">
                <a:latin typeface="Times New Roman"/>
                <a:cs typeface="Times New Roman"/>
              </a:rPr>
              <a:t>message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into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smaller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units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passes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it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5" dirty="0">
                <a:latin typeface="Times New Roman"/>
                <a:cs typeface="Times New Roman"/>
              </a:rPr>
              <a:t> the 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Net</a:t>
            </a:r>
            <a:r>
              <a:rPr sz="2600" spc="-215" dirty="0">
                <a:latin typeface="Times New Roman"/>
                <a:cs typeface="Times New Roman"/>
              </a:rPr>
              <a:t>w</a:t>
            </a:r>
            <a:r>
              <a:rPr sz="2600" spc="-80" dirty="0">
                <a:latin typeface="Times New Roman"/>
                <a:cs typeface="Times New Roman"/>
              </a:rPr>
              <a:t>ork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l</a:t>
            </a:r>
            <a:r>
              <a:rPr sz="2600" spc="-285" dirty="0">
                <a:latin typeface="Times New Roman"/>
                <a:cs typeface="Times New Roman"/>
              </a:rPr>
              <a:t>a</a:t>
            </a:r>
            <a:r>
              <a:rPr sz="2600" spc="-260" dirty="0">
                <a:latin typeface="Times New Roman"/>
                <a:cs typeface="Times New Roman"/>
              </a:rPr>
              <a:t>y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95" dirty="0">
                <a:latin typeface="Times New Roman"/>
                <a:cs typeface="Times New Roman"/>
              </a:rPr>
              <a:t>r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280035" indent="-274320">
              <a:lnSpc>
                <a:spcPts val="2810"/>
              </a:lnSpc>
              <a:spcBef>
                <a:spcPts val="64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00" dirty="0">
                <a:latin typeface="Times New Roman"/>
                <a:cs typeface="Times New Roman"/>
              </a:rPr>
              <a:t>Transport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layer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can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very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complex,</a:t>
            </a:r>
            <a:r>
              <a:rPr sz="2600" spc="-17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depending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upon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network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requirements.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ts val="281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00" dirty="0">
                <a:latin typeface="Times New Roman"/>
                <a:cs typeface="Times New Roman"/>
              </a:rPr>
              <a:t>Transport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layer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breaks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message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(data)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into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small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units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so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that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they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are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handled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more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efficiently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by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network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layer.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5370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110" dirty="0">
                <a:latin typeface="Arial"/>
                <a:cs typeface="Arial"/>
              </a:rPr>
              <a:t>5</a:t>
            </a:r>
            <a:r>
              <a:rPr b="1" spc="-300" dirty="0">
                <a:latin typeface="Arial"/>
                <a:cs typeface="Arial"/>
              </a:rPr>
              <a:t>:</a:t>
            </a:r>
            <a:r>
              <a:rPr b="1" spc="-120" dirty="0">
                <a:latin typeface="Arial"/>
                <a:cs typeface="Arial"/>
              </a:rPr>
              <a:t> </a:t>
            </a:r>
            <a:r>
              <a:rPr b="1" spc="-445" dirty="0">
                <a:latin typeface="Arial"/>
                <a:cs typeface="Arial"/>
              </a:rPr>
              <a:t>T</a:t>
            </a:r>
            <a:r>
              <a:rPr b="1" spc="-250" dirty="0">
                <a:latin typeface="Arial"/>
                <a:cs typeface="Arial"/>
              </a:rPr>
              <a:t>h</a:t>
            </a:r>
            <a:r>
              <a:rPr b="1" spc="-130" dirty="0">
                <a:latin typeface="Arial"/>
                <a:cs typeface="Arial"/>
              </a:rPr>
              <a:t>e </a:t>
            </a:r>
            <a:r>
              <a:rPr b="1" spc="-350" dirty="0">
                <a:latin typeface="Arial"/>
                <a:cs typeface="Arial"/>
              </a:rPr>
              <a:t>S</a:t>
            </a:r>
            <a:r>
              <a:rPr b="1" spc="-235" dirty="0">
                <a:latin typeface="Arial"/>
                <a:cs typeface="Arial"/>
              </a:rPr>
              <a:t>e</a:t>
            </a:r>
            <a:r>
              <a:rPr b="1" spc="-220" dirty="0">
                <a:latin typeface="Arial"/>
                <a:cs typeface="Arial"/>
              </a:rPr>
              <a:t>s</a:t>
            </a:r>
            <a:r>
              <a:rPr b="1" spc="-340" dirty="0">
                <a:latin typeface="Arial"/>
                <a:cs typeface="Arial"/>
              </a:rPr>
              <a:t>s</a:t>
            </a:r>
            <a:r>
              <a:rPr b="1" spc="-160" dirty="0">
                <a:latin typeface="Arial"/>
                <a:cs typeface="Arial"/>
              </a:rPr>
              <a:t>i</a:t>
            </a:r>
            <a:r>
              <a:rPr b="1" spc="-290" dirty="0">
                <a:latin typeface="Arial"/>
                <a:cs typeface="Arial"/>
              </a:rPr>
              <a:t>on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300" dirty="0">
                <a:latin typeface="Arial"/>
                <a:cs typeface="Arial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468870" cy="2480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83565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75" dirty="0">
                <a:latin typeface="Times New Roman"/>
                <a:cs typeface="Times New Roman"/>
              </a:rPr>
              <a:t>Session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layer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manages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and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synchronize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conversation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be</a:t>
            </a:r>
            <a:r>
              <a:rPr sz="2600" spc="-55" dirty="0">
                <a:latin typeface="Times New Roman"/>
                <a:cs typeface="Times New Roman"/>
              </a:rPr>
              <a:t>t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105" dirty="0">
                <a:latin typeface="Times New Roman"/>
                <a:cs typeface="Times New Roman"/>
              </a:rPr>
              <a:t>een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</a:t>
            </a:r>
            <a:r>
              <a:rPr sz="2600" spc="-175" dirty="0">
                <a:latin typeface="Times New Roman"/>
                <a:cs typeface="Times New Roman"/>
              </a:rPr>
              <a:t>w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diff</a:t>
            </a:r>
            <a:r>
              <a:rPr sz="2600" spc="-40" dirty="0">
                <a:latin typeface="Times New Roman"/>
                <a:cs typeface="Times New Roman"/>
              </a:rPr>
              <a:t>e</a:t>
            </a:r>
            <a:r>
              <a:rPr sz="2600" spc="-55" dirty="0">
                <a:latin typeface="Times New Roman"/>
                <a:cs typeface="Times New Roman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ent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ap</a:t>
            </a:r>
            <a:r>
              <a:rPr sz="2600" spc="-160" dirty="0">
                <a:latin typeface="Times New Roman"/>
                <a:cs typeface="Times New Roman"/>
              </a:rPr>
              <a:t>p</a:t>
            </a:r>
            <a:r>
              <a:rPr sz="2600" spc="-140" dirty="0">
                <a:latin typeface="Times New Roman"/>
                <a:cs typeface="Times New Roman"/>
              </a:rPr>
              <a:t>lic</a:t>
            </a:r>
            <a:r>
              <a:rPr sz="2600" spc="-215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tio</a:t>
            </a:r>
            <a:r>
              <a:rPr sz="2600" spc="-114" dirty="0">
                <a:latin typeface="Times New Roman"/>
                <a:cs typeface="Times New Roman"/>
              </a:rPr>
              <a:t>n</a:t>
            </a:r>
            <a:r>
              <a:rPr sz="2600" spc="-250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10" dirty="0">
                <a:latin typeface="Times New Roman"/>
                <a:cs typeface="Times New Roman"/>
              </a:rPr>
              <a:t>T</a:t>
            </a:r>
            <a:r>
              <a:rPr sz="2600" spc="-130" dirty="0">
                <a:latin typeface="Times New Roman"/>
                <a:cs typeface="Times New Roman"/>
              </a:rPr>
              <a:t>ransf</a:t>
            </a:r>
            <a:r>
              <a:rPr sz="2600" spc="-150" dirty="0">
                <a:latin typeface="Times New Roman"/>
                <a:cs typeface="Times New Roman"/>
              </a:rPr>
              <a:t>e</a:t>
            </a:r>
            <a:r>
              <a:rPr sz="2600" spc="30" dirty="0">
                <a:latin typeface="Times New Roman"/>
                <a:cs typeface="Times New Roman"/>
              </a:rPr>
              <a:t>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-190" dirty="0">
                <a:latin typeface="Times New Roman"/>
                <a:cs typeface="Times New Roman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d</a:t>
            </a:r>
            <a:r>
              <a:rPr sz="2600" spc="-185" dirty="0">
                <a:latin typeface="Times New Roman"/>
                <a:cs typeface="Times New Roman"/>
              </a:rPr>
              <a:t>a</a:t>
            </a:r>
            <a:r>
              <a:rPr sz="2600" spc="-85" dirty="0">
                <a:latin typeface="Times New Roman"/>
                <a:cs typeface="Times New Roman"/>
              </a:rPr>
              <a:t>ta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f</a:t>
            </a:r>
            <a:r>
              <a:rPr sz="2600" spc="-100" dirty="0">
                <a:latin typeface="Times New Roman"/>
                <a:cs typeface="Times New Roman"/>
              </a:rPr>
              <a:t>r</a:t>
            </a:r>
            <a:r>
              <a:rPr sz="2600" spc="-130" dirty="0">
                <a:latin typeface="Times New Roman"/>
                <a:cs typeface="Times New Roman"/>
              </a:rPr>
              <a:t>om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so</a:t>
            </a:r>
            <a:r>
              <a:rPr sz="2600" spc="-165" dirty="0">
                <a:latin typeface="Times New Roman"/>
                <a:cs typeface="Times New Roman"/>
              </a:rPr>
              <a:t>u</a:t>
            </a:r>
            <a:r>
              <a:rPr sz="2600" spc="-75" dirty="0">
                <a:latin typeface="Times New Roman"/>
                <a:cs typeface="Times New Roman"/>
              </a:rPr>
              <a:t>rc</a:t>
            </a:r>
            <a:r>
              <a:rPr sz="2600" spc="-80" dirty="0">
                <a:latin typeface="Times New Roman"/>
                <a:cs typeface="Times New Roman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desti</a:t>
            </a:r>
            <a:r>
              <a:rPr sz="2600" spc="-135" dirty="0">
                <a:latin typeface="Times New Roman"/>
                <a:cs typeface="Times New Roman"/>
              </a:rPr>
              <a:t>n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tion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session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l</a:t>
            </a:r>
            <a:r>
              <a:rPr sz="2600" spc="-285" dirty="0">
                <a:latin typeface="Times New Roman"/>
                <a:cs typeface="Times New Roman"/>
              </a:rPr>
              <a:t>a</a:t>
            </a:r>
            <a:r>
              <a:rPr sz="2600" spc="-260" dirty="0">
                <a:latin typeface="Times New Roman"/>
                <a:cs typeface="Times New Roman"/>
              </a:rPr>
              <a:t>y</a:t>
            </a:r>
            <a:r>
              <a:rPr sz="2600" spc="-30" dirty="0">
                <a:latin typeface="Times New Roman"/>
                <a:cs typeface="Times New Roman"/>
              </a:rPr>
              <a:t>er  </a:t>
            </a:r>
            <a:r>
              <a:rPr sz="2600" spc="-114" dirty="0">
                <a:latin typeface="Times New Roman"/>
                <a:cs typeface="Times New Roman"/>
              </a:rPr>
              <a:t>streams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data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are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marked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are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resynchronized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properly,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so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that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ends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messages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are</a:t>
            </a:r>
            <a:r>
              <a:rPr sz="2600" spc="-65" dirty="0">
                <a:latin typeface="Times New Roman"/>
                <a:cs typeface="Times New Roman"/>
              </a:rPr>
              <a:t> not </a:t>
            </a:r>
            <a:r>
              <a:rPr sz="2600" spc="-80" dirty="0">
                <a:latin typeface="Times New Roman"/>
                <a:cs typeface="Times New Roman"/>
              </a:rPr>
              <a:t>cut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prematurely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and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d</a:t>
            </a:r>
            <a:r>
              <a:rPr sz="2600" spc="-180" dirty="0">
                <a:latin typeface="Times New Roman"/>
                <a:cs typeface="Times New Roman"/>
              </a:rPr>
              <a:t>a</a:t>
            </a:r>
            <a:r>
              <a:rPr sz="2600" spc="-85" dirty="0">
                <a:latin typeface="Times New Roman"/>
                <a:cs typeface="Times New Roman"/>
              </a:rPr>
              <a:t>ta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los</a:t>
            </a:r>
            <a:r>
              <a:rPr sz="2600" spc="-150" dirty="0">
                <a:latin typeface="Times New Roman"/>
                <a:cs typeface="Times New Roman"/>
              </a:rPr>
              <a:t>s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80" dirty="0">
                <a:latin typeface="Times New Roman"/>
                <a:cs typeface="Times New Roman"/>
              </a:rPr>
              <a:t>a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105" dirty="0">
                <a:latin typeface="Times New Roman"/>
                <a:cs typeface="Times New Roman"/>
              </a:rPr>
              <a:t>oi</a:t>
            </a:r>
            <a:r>
              <a:rPr sz="2600" spc="-145" dirty="0">
                <a:latin typeface="Times New Roman"/>
                <a:cs typeface="Times New Roman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20" dirty="0">
                <a:latin typeface="Times New Roman"/>
                <a:cs typeface="Times New Roman"/>
              </a:rPr>
              <a:t>d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6311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110" dirty="0">
                <a:latin typeface="Arial"/>
                <a:cs typeface="Arial"/>
              </a:rPr>
              <a:t>6</a:t>
            </a:r>
            <a:r>
              <a:rPr b="1" spc="-300" dirty="0">
                <a:latin typeface="Arial"/>
                <a:cs typeface="Arial"/>
              </a:rPr>
              <a:t>:</a:t>
            </a:r>
            <a:r>
              <a:rPr b="1" spc="-120" dirty="0">
                <a:latin typeface="Arial"/>
                <a:cs typeface="Arial"/>
              </a:rPr>
              <a:t> </a:t>
            </a:r>
            <a:r>
              <a:rPr b="1" spc="-445" dirty="0">
                <a:latin typeface="Arial"/>
                <a:cs typeface="Arial"/>
              </a:rPr>
              <a:t>T</a:t>
            </a:r>
            <a:r>
              <a:rPr b="1" spc="-250" dirty="0">
                <a:latin typeface="Arial"/>
                <a:cs typeface="Arial"/>
              </a:rPr>
              <a:t>h</a:t>
            </a:r>
            <a:r>
              <a:rPr b="1" spc="-130" dirty="0">
                <a:latin typeface="Arial"/>
                <a:cs typeface="Arial"/>
              </a:rPr>
              <a:t>e </a:t>
            </a:r>
            <a:r>
              <a:rPr b="1" spc="-380" dirty="0">
                <a:latin typeface="Arial"/>
                <a:cs typeface="Arial"/>
              </a:rPr>
              <a:t>P</a:t>
            </a:r>
            <a:r>
              <a:rPr b="1" spc="-210" dirty="0">
                <a:latin typeface="Arial"/>
                <a:cs typeface="Arial"/>
              </a:rPr>
              <a:t>r</a:t>
            </a:r>
            <a:r>
              <a:rPr b="1" spc="-235" dirty="0">
                <a:latin typeface="Arial"/>
                <a:cs typeface="Arial"/>
              </a:rPr>
              <a:t>e</a:t>
            </a:r>
            <a:r>
              <a:rPr b="1" spc="-220" dirty="0">
                <a:latin typeface="Arial"/>
                <a:cs typeface="Arial"/>
              </a:rPr>
              <a:t>s</a:t>
            </a:r>
            <a:r>
              <a:rPr b="1" spc="-180" dirty="0">
                <a:latin typeface="Arial"/>
                <a:cs typeface="Arial"/>
              </a:rPr>
              <a:t>e</a:t>
            </a:r>
            <a:r>
              <a:rPr b="1" spc="-210" dirty="0">
                <a:latin typeface="Arial"/>
                <a:cs typeface="Arial"/>
              </a:rPr>
              <a:t>n</a:t>
            </a:r>
            <a:r>
              <a:rPr b="1" spc="-175" dirty="0">
                <a:latin typeface="Arial"/>
                <a:cs typeface="Arial"/>
              </a:rPr>
              <a:t>tation</a:t>
            </a:r>
            <a:r>
              <a:rPr b="1" spc="-125" dirty="0">
                <a:latin typeface="Arial"/>
                <a:cs typeface="Arial"/>
              </a:rPr>
              <a:t> </a:t>
            </a: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300" dirty="0">
                <a:latin typeface="Arial"/>
                <a:cs typeface="Arial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419975" cy="4218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95" dirty="0">
                <a:latin typeface="Times New Roman"/>
                <a:cs typeface="Times New Roman"/>
              </a:rPr>
              <a:t>Presentation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layer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takes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care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that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30" dirty="0">
                <a:latin typeface="Times New Roman"/>
                <a:cs typeface="Times New Roman"/>
              </a:rPr>
              <a:t>data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sent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such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 </a:t>
            </a:r>
            <a:r>
              <a:rPr sz="2600" spc="-200" dirty="0">
                <a:latin typeface="Times New Roman"/>
                <a:cs typeface="Times New Roman"/>
              </a:rPr>
              <a:t> </a:t>
            </a:r>
            <a:r>
              <a:rPr sz="2600" spc="-229" dirty="0">
                <a:latin typeface="Times New Roman"/>
                <a:cs typeface="Times New Roman"/>
              </a:rPr>
              <a:t>way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that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receiver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will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understand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information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(data)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w</a:t>
            </a:r>
            <a:r>
              <a:rPr sz="2600" spc="-70" dirty="0">
                <a:latin typeface="Times New Roman"/>
                <a:cs typeface="Times New Roman"/>
              </a:rPr>
              <a:t>i</a:t>
            </a:r>
            <a:r>
              <a:rPr sz="2600" spc="-105" dirty="0">
                <a:latin typeface="Times New Roman"/>
                <a:cs typeface="Times New Roman"/>
              </a:rPr>
              <a:t>l</a:t>
            </a:r>
            <a:r>
              <a:rPr sz="2600" spc="-100" dirty="0">
                <a:latin typeface="Times New Roman"/>
                <a:cs typeface="Times New Roman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a</a:t>
            </a:r>
            <a:r>
              <a:rPr sz="2600" spc="-225" dirty="0">
                <a:latin typeface="Times New Roman"/>
                <a:cs typeface="Times New Roman"/>
              </a:rPr>
              <a:t>b</a:t>
            </a:r>
            <a:r>
              <a:rPr sz="2600" spc="-80" dirty="0">
                <a:latin typeface="Times New Roman"/>
                <a:cs typeface="Times New Roman"/>
              </a:rPr>
              <a:t>l</a:t>
            </a:r>
            <a:r>
              <a:rPr sz="2600" spc="-120" dirty="0">
                <a:latin typeface="Times New Roman"/>
                <a:cs typeface="Times New Roman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use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d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20" dirty="0">
                <a:latin typeface="Times New Roman"/>
                <a:cs typeface="Times New Roman"/>
              </a:rPr>
              <a:t>ta.</a:t>
            </a:r>
            <a:endParaRPr sz="2600">
              <a:latin typeface="Times New Roman"/>
              <a:cs typeface="Times New Roman"/>
            </a:endParaRPr>
          </a:p>
          <a:p>
            <a:pPr marL="286385" marR="13335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0" dirty="0">
                <a:latin typeface="Times New Roman"/>
                <a:cs typeface="Times New Roman"/>
              </a:rPr>
              <a:t>While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receiving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data,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presentation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layer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transforms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d</a:t>
            </a:r>
            <a:r>
              <a:rPr sz="2600" spc="-185" dirty="0">
                <a:latin typeface="Times New Roman"/>
                <a:cs typeface="Times New Roman"/>
              </a:rPr>
              <a:t>a</a:t>
            </a:r>
            <a:r>
              <a:rPr sz="2600" spc="-85" dirty="0">
                <a:latin typeface="Times New Roman"/>
                <a:cs typeface="Times New Roman"/>
              </a:rPr>
              <a:t>ta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35" dirty="0">
                <a:latin typeface="Times New Roman"/>
                <a:cs typeface="Times New Roman"/>
              </a:rPr>
              <a:t>ea</a:t>
            </a:r>
            <a:r>
              <a:rPr sz="2600" spc="-195" dirty="0">
                <a:latin typeface="Times New Roman"/>
                <a:cs typeface="Times New Roman"/>
              </a:rPr>
              <a:t>d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f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a</a:t>
            </a:r>
            <a:r>
              <a:rPr sz="2600" spc="-180" dirty="0">
                <a:latin typeface="Times New Roman"/>
                <a:cs typeface="Times New Roman"/>
              </a:rPr>
              <a:t>p</a:t>
            </a:r>
            <a:r>
              <a:rPr sz="2600" spc="-114" dirty="0">
                <a:latin typeface="Times New Roman"/>
                <a:cs typeface="Times New Roman"/>
              </a:rPr>
              <a:t>pli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tion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l</a:t>
            </a:r>
            <a:r>
              <a:rPr sz="2600" spc="-285" dirty="0">
                <a:latin typeface="Times New Roman"/>
                <a:cs typeface="Times New Roman"/>
              </a:rPr>
              <a:t>a</a:t>
            </a:r>
            <a:r>
              <a:rPr sz="2600" spc="-260" dirty="0">
                <a:latin typeface="Times New Roman"/>
                <a:cs typeface="Times New Roman"/>
              </a:rPr>
              <a:t>y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95" dirty="0">
                <a:latin typeface="Times New Roman"/>
                <a:cs typeface="Times New Roman"/>
              </a:rPr>
              <a:t>r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129539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04" dirty="0">
                <a:latin typeface="Times New Roman"/>
                <a:cs typeface="Times New Roman"/>
              </a:rPr>
              <a:t>Lan</a:t>
            </a:r>
            <a:r>
              <a:rPr sz="2600" spc="-215" dirty="0">
                <a:latin typeface="Times New Roman"/>
                <a:cs typeface="Times New Roman"/>
              </a:rPr>
              <a:t>g</a:t>
            </a:r>
            <a:r>
              <a:rPr sz="2600" spc="-165" dirty="0">
                <a:latin typeface="Times New Roman"/>
                <a:cs typeface="Times New Roman"/>
              </a:rPr>
              <a:t>u</a:t>
            </a:r>
            <a:r>
              <a:rPr sz="2600" spc="-155" dirty="0">
                <a:latin typeface="Times New Roman"/>
                <a:cs typeface="Times New Roman"/>
              </a:rPr>
              <a:t>a</a:t>
            </a:r>
            <a:r>
              <a:rPr sz="2600" spc="-165" dirty="0">
                <a:latin typeface="Times New Roman"/>
                <a:cs typeface="Times New Roman"/>
              </a:rPr>
              <a:t>g</a:t>
            </a:r>
            <a:r>
              <a:rPr sz="2600" spc="-160" dirty="0">
                <a:latin typeface="Times New Roman"/>
                <a:cs typeface="Times New Roman"/>
              </a:rPr>
              <a:t>e</a:t>
            </a:r>
            <a:r>
              <a:rPr sz="2600" spc="-150" dirty="0">
                <a:latin typeface="Times New Roman"/>
                <a:cs typeface="Times New Roman"/>
              </a:rPr>
              <a:t>s(sy</a:t>
            </a:r>
            <a:r>
              <a:rPr sz="2600" spc="-200" dirty="0">
                <a:latin typeface="Times New Roman"/>
                <a:cs typeface="Times New Roman"/>
              </a:rPr>
              <a:t>n</a:t>
            </a:r>
            <a:r>
              <a:rPr sz="2600" spc="-65" dirty="0">
                <a:latin typeface="Times New Roman"/>
                <a:cs typeface="Times New Roman"/>
              </a:rPr>
              <a:t>t</a:t>
            </a:r>
            <a:r>
              <a:rPr sz="2600" spc="-114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x)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a</a:t>
            </a:r>
            <a:r>
              <a:rPr sz="2600" spc="-165" dirty="0">
                <a:latin typeface="Times New Roman"/>
                <a:cs typeface="Times New Roman"/>
              </a:rPr>
              <a:t>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be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di</a:t>
            </a:r>
            <a:r>
              <a:rPr sz="2600" spc="-140" dirty="0">
                <a:latin typeface="Times New Roman"/>
                <a:cs typeface="Times New Roman"/>
              </a:rPr>
              <a:t>f</a:t>
            </a:r>
            <a:r>
              <a:rPr sz="2600" spc="-125" dirty="0">
                <a:latin typeface="Times New Roman"/>
                <a:cs typeface="Times New Roman"/>
              </a:rPr>
              <a:t>f</a:t>
            </a:r>
            <a:r>
              <a:rPr sz="2600" spc="-175" dirty="0">
                <a:latin typeface="Times New Roman"/>
                <a:cs typeface="Times New Roman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20" dirty="0">
                <a:latin typeface="Times New Roman"/>
                <a:cs typeface="Times New Roman"/>
              </a:rPr>
              <a:t>n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-190" dirty="0">
                <a:latin typeface="Times New Roman"/>
                <a:cs typeface="Times New Roman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t</a:t>
            </a:r>
            <a:r>
              <a:rPr sz="2600" spc="-130" dirty="0">
                <a:latin typeface="Times New Roman"/>
                <a:cs typeface="Times New Roman"/>
              </a:rPr>
              <a:t>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245" dirty="0">
                <a:latin typeface="Times New Roman"/>
                <a:cs typeface="Times New Roman"/>
              </a:rPr>
              <a:t>w</a:t>
            </a:r>
            <a:r>
              <a:rPr sz="2600" spc="-75" dirty="0">
                <a:latin typeface="Times New Roman"/>
                <a:cs typeface="Times New Roman"/>
              </a:rPr>
              <a:t>o  </a:t>
            </a:r>
            <a:r>
              <a:rPr sz="2600" spc="-135" dirty="0">
                <a:latin typeface="Times New Roman"/>
                <a:cs typeface="Times New Roman"/>
              </a:rPr>
              <a:t>communicating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systems.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Under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this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condition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presentation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l</a:t>
            </a:r>
            <a:r>
              <a:rPr sz="2600" spc="-285" dirty="0">
                <a:latin typeface="Times New Roman"/>
                <a:cs typeface="Times New Roman"/>
              </a:rPr>
              <a:t>a</a:t>
            </a:r>
            <a:r>
              <a:rPr sz="2600" spc="-260" dirty="0">
                <a:latin typeface="Times New Roman"/>
                <a:cs typeface="Times New Roman"/>
              </a:rPr>
              <a:t>y</a:t>
            </a:r>
            <a:r>
              <a:rPr sz="2600" spc="-35" dirty="0">
                <a:latin typeface="Times New Roman"/>
                <a:cs typeface="Times New Roman"/>
              </a:rPr>
              <a:t>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pl</a:t>
            </a:r>
            <a:r>
              <a:rPr sz="2600" spc="-250" dirty="0">
                <a:latin typeface="Times New Roman"/>
                <a:cs typeface="Times New Roman"/>
              </a:rPr>
              <a:t>a</a:t>
            </a:r>
            <a:r>
              <a:rPr sz="2600" spc="-210" dirty="0">
                <a:latin typeface="Times New Roman"/>
                <a:cs typeface="Times New Roman"/>
              </a:rPr>
              <a:t>ys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05" dirty="0">
                <a:latin typeface="Times New Roman"/>
                <a:cs typeface="Times New Roman"/>
              </a:rPr>
              <a:t>ole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-190" dirty="0">
                <a:latin typeface="Times New Roman"/>
                <a:cs typeface="Times New Roman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tra</a:t>
            </a:r>
            <a:r>
              <a:rPr sz="2600" spc="-95" dirty="0">
                <a:latin typeface="Times New Roman"/>
                <a:cs typeface="Times New Roman"/>
              </a:rPr>
              <a:t>n</a:t>
            </a:r>
            <a:r>
              <a:rPr sz="2600" spc="-150" dirty="0">
                <a:latin typeface="Times New Roman"/>
                <a:cs typeface="Times New Roman"/>
              </a:rPr>
              <a:t>sl</a:t>
            </a:r>
            <a:r>
              <a:rPr sz="2600" spc="-229" dirty="0">
                <a:latin typeface="Times New Roman"/>
                <a:cs typeface="Times New Roman"/>
              </a:rPr>
              <a:t>a</a:t>
            </a:r>
            <a:r>
              <a:rPr sz="2600" spc="-25" dirty="0">
                <a:latin typeface="Times New Roman"/>
                <a:cs typeface="Times New Roman"/>
              </a:rPr>
              <a:t>t</a:t>
            </a:r>
            <a:r>
              <a:rPr sz="2600" spc="-55" dirty="0">
                <a:latin typeface="Times New Roman"/>
                <a:cs typeface="Times New Roman"/>
              </a:rPr>
              <a:t>o</a:t>
            </a:r>
            <a:r>
              <a:rPr sz="2600" spc="-195" dirty="0">
                <a:latin typeface="Times New Roman"/>
                <a:cs typeface="Times New Roman"/>
              </a:rPr>
              <a:t>r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784225" indent="-274320">
              <a:lnSpc>
                <a:spcPct val="100000"/>
              </a:lnSpc>
              <a:spcBef>
                <a:spcPts val="59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90" dirty="0">
                <a:latin typeface="Times New Roman"/>
                <a:cs typeface="Times New Roman"/>
              </a:rPr>
              <a:t>I</a:t>
            </a:r>
            <a:r>
              <a:rPr sz="2600" spc="-70" dirty="0">
                <a:latin typeface="Times New Roman"/>
                <a:cs typeface="Times New Roman"/>
              </a:rPr>
              <a:t>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perf</a:t>
            </a:r>
            <a:r>
              <a:rPr sz="2600" spc="-90" dirty="0">
                <a:latin typeface="Times New Roman"/>
                <a:cs typeface="Times New Roman"/>
              </a:rPr>
              <a:t>r</a:t>
            </a:r>
            <a:r>
              <a:rPr sz="2600" spc="-155" dirty="0">
                <a:latin typeface="Times New Roman"/>
                <a:cs typeface="Times New Roman"/>
              </a:rPr>
              <a:t>oms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D</a:t>
            </a:r>
            <a:r>
              <a:rPr sz="2600" spc="-160" dirty="0">
                <a:latin typeface="Times New Roman"/>
                <a:cs typeface="Times New Roman"/>
              </a:rPr>
              <a:t>a</a:t>
            </a:r>
            <a:r>
              <a:rPr sz="2600" spc="-85" dirty="0">
                <a:latin typeface="Times New Roman"/>
                <a:cs typeface="Times New Roman"/>
              </a:rPr>
              <a:t>ta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com</a:t>
            </a:r>
            <a:r>
              <a:rPr sz="2600" spc="-130" dirty="0">
                <a:latin typeface="Times New Roman"/>
                <a:cs typeface="Times New Roman"/>
              </a:rPr>
              <a:t>p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05" dirty="0">
                <a:latin typeface="Times New Roman"/>
                <a:cs typeface="Times New Roman"/>
              </a:rPr>
              <a:t>ession,</a:t>
            </a:r>
            <a:r>
              <a:rPr sz="2600" spc="-185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D</a:t>
            </a:r>
            <a:r>
              <a:rPr sz="2600" spc="-160" dirty="0">
                <a:latin typeface="Times New Roman"/>
                <a:cs typeface="Times New Roman"/>
              </a:rPr>
              <a:t>a</a:t>
            </a:r>
            <a:r>
              <a:rPr sz="2600" spc="-85" dirty="0">
                <a:latin typeface="Times New Roman"/>
                <a:cs typeface="Times New Roman"/>
              </a:rPr>
              <a:t>ta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20" dirty="0">
                <a:latin typeface="Times New Roman"/>
                <a:cs typeface="Times New Roman"/>
              </a:rPr>
              <a:t>n</a:t>
            </a:r>
            <a:r>
              <a:rPr sz="2600" spc="-70" dirty="0">
                <a:latin typeface="Times New Roman"/>
                <a:cs typeface="Times New Roman"/>
              </a:rPr>
              <a:t>c</a:t>
            </a:r>
            <a:r>
              <a:rPr sz="2600" spc="-40" dirty="0">
                <a:latin typeface="Times New Roman"/>
                <a:cs typeface="Times New Roman"/>
              </a:rPr>
              <a:t>r</a:t>
            </a:r>
            <a:r>
              <a:rPr sz="2600" spc="-165" dirty="0">
                <a:latin typeface="Times New Roman"/>
                <a:cs typeface="Times New Roman"/>
              </a:rPr>
              <a:t>y</a:t>
            </a:r>
            <a:r>
              <a:rPr sz="2600" spc="-180" dirty="0">
                <a:latin typeface="Times New Roman"/>
                <a:cs typeface="Times New Roman"/>
              </a:rPr>
              <a:t>p</a:t>
            </a:r>
            <a:r>
              <a:rPr sz="2600" spc="-70" dirty="0">
                <a:latin typeface="Times New Roman"/>
                <a:cs typeface="Times New Roman"/>
              </a:rPr>
              <a:t>tio</a:t>
            </a:r>
            <a:r>
              <a:rPr sz="2600" spc="-114" dirty="0">
                <a:latin typeface="Times New Roman"/>
                <a:cs typeface="Times New Roman"/>
              </a:rPr>
              <a:t>n</a:t>
            </a:r>
            <a:r>
              <a:rPr sz="2600" spc="110" dirty="0">
                <a:latin typeface="Times New Roman"/>
                <a:cs typeface="Times New Roman"/>
              </a:rPr>
              <a:t>,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D</a:t>
            </a:r>
            <a:r>
              <a:rPr sz="2600" spc="-160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ta  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o</a:t>
            </a:r>
            <a:r>
              <a:rPr sz="2600" spc="-165" dirty="0">
                <a:latin typeface="Times New Roman"/>
                <a:cs typeface="Times New Roman"/>
              </a:rPr>
              <a:t>n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40" dirty="0">
                <a:latin typeface="Times New Roman"/>
                <a:cs typeface="Times New Roman"/>
              </a:rPr>
              <a:t>e</a:t>
            </a:r>
            <a:r>
              <a:rPr sz="2600" spc="20" dirty="0">
                <a:latin typeface="Times New Roman"/>
                <a:cs typeface="Times New Roman"/>
              </a:rPr>
              <a:t>r</a:t>
            </a:r>
            <a:r>
              <a:rPr sz="2600" spc="-135" dirty="0">
                <a:latin typeface="Times New Roman"/>
                <a:cs typeface="Times New Roman"/>
              </a:rPr>
              <a:t>sion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e</a:t>
            </a:r>
            <a:r>
              <a:rPr sz="2600" spc="-35" dirty="0">
                <a:latin typeface="Times New Roman"/>
                <a:cs typeface="Times New Roman"/>
              </a:rPr>
              <a:t>t</a:t>
            </a:r>
            <a:r>
              <a:rPr sz="2600" spc="-190" dirty="0">
                <a:latin typeface="Times New Roman"/>
                <a:cs typeface="Times New Roman"/>
              </a:rPr>
              <a:t>c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51276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160" dirty="0">
                <a:latin typeface="Arial"/>
                <a:cs typeface="Arial"/>
              </a:rPr>
              <a:t>7</a:t>
            </a:r>
            <a:r>
              <a:rPr b="1" spc="-300" dirty="0">
                <a:latin typeface="Arial"/>
                <a:cs typeface="Arial"/>
              </a:rPr>
              <a:t>:</a:t>
            </a:r>
            <a:r>
              <a:rPr b="1" spc="-120" dirty="0">
                <a:latin typeface="Arial"/>
                <a:cs typeface="Arial"/>
              </a:rPr>
              <a:t> </a:t>
            </a:r>
            <a:r>
              <a:rPr b="1" spc="-665" dirty="0">
                <a:latin typeface="Arial"/>
                <a:cs typeface="Arial"/>
              </a:rPr>
              <a:t>A</a:t>
            </a:r>
            <a:r>
              <a:rPr b="1" spc="-285" dirty="0">
                <a:latin typeface="Arial"/>
                <a:cs typeface="Arial"/>
              </a:rPr>
              <a:t>p</a:t>
            </a:r>
            <a:r>
              <a:rPr b="1" spc="-270" dirty="0">
                <a:latin typeface="Arial"/>
                <a:cs typeface="Arial"/>
              </a:rPr>
              <a:t>p</a:t>
            </a:r>
            <a:r>
              <a:rPr b="1" spc="-175" dirty="0">
                <a:latin typeface="Arial"/>
                <a:cs typeface="Arial"/>
              </a:rPr>
              <a:t>lic</a:t>
            </a:r>
            <a:r>
              <a:rPr b="1" spc="-275" dirty="0">
                <a:latin typeface="Arial"/>
                <a:cs typeface="Arial"/>
              </a:rPr>
              <a:t>a</a:t>
            </a:r>
            <a:r>
              <a:rPr b="1" spc="-145" dirty="0">
                <a:latin typeface="Arial"/>
                <a:cs typeface="Arial"/>
              </a:rPr>
              <a:t>t</a:t>
            </a:r>
            <a:r>
              <a:rPr b="1" spc="-120" dirty="0">
                <a:latin typeface="Arial"/>
                <a:cs typeface="Arial"/>
              </a:rPr>
              <a:t>i</a:t>
            </a:r>
            <a:r>
              <a:rPr b="1" spc="-290" dirty="0">
                <a:latin typeface="Arial"/>
                <a:cs typeface="Arial"/>
              </a:rPr>
              <a:t>on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300" dirty="0">
                <a:latin typeface="Arial"/>
                <a:cs typeface="Arial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358239"/>
            <a:ext cx="7474584" cy="2632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 indent="-274320" algn="just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t</a:t>
            </a:r>
            <a:r>
              <a:rPr sz="2600" spc="-130" dirty="0">
                <a:latin typeface="Times New Roman"/>
                <a:cs typeface="Times New Roman"/>
              </a:rPr>
              <a:t>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</a:t>
            </a:r>
            <a:r>
              <a:rPr sz="2600" spc="-55" dirty="0">
                <a:latin typeface="Times New Roman"/>
                <a:cs typeface="Times New Roman"/>
              </a:rPr>
              <a:t>o</a:t>
            </a:r>
            <a:r>
              <a:rPr sz="2600" spc="-135" dirty="0">
                <a:latin typeface="Times New Roman"/>
                <a:cs typeface="Times New Roman"/>
              </a:rPr>
              <a:t>pm</a:t>
            </a:r>
            <a:r>
              <a:rPr sz="2600" spc="-120" dirty="0">
                <a:latin typeface="Times New Roman"/>
                <a:cs typeface="Times New Roman"/>
              </a:rPr>
              <a:t>o</a:t>
            </a:r>
            <a:r>
              <a:rPr sz="2600" spc="-80" dirty="0">
                <a:latin typeface="Times New Roman"/>
                <a:cs typeface="Times New Roman"/>
              </a:rPr>
              <a:t>st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l</a:t>
            </a:r>
            <a:r>
              <a:rPr sz="2600" spc="-285" dirty="0">
                <a:latin typeface="Times New Roman"/>
                <a:cs typeface="Times New Roman"/>
              </a:rPr>
              <a:t>a</a:t>
            </a:r>
            <a:r>
              <a:rPr sz="2600" spc="-260" dirty="0">
                <a:latin typeface="Times New Roman"/>
                <a:cs typeface="Times New Roman"/>
              </a:rPr>
              <a:t>y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95" dirty="0">
                <a:latin typeface="Times New Roman"/>
                <a:cs typeface="Times New Roman"/>
              </a:rPr>
              <a:t>r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43180" indent="-274320" algn="just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20" dirty="0">
                <a:latin typeface="Times New Roman"/>
                <a:cs typeface="Times New Roman"/>
              </a:rPr>
              <a:t>Transferring </a:t>
            </a:r>
            <a:r>
              <a:rPr sz="2600" spc="-150" dirty="0">
                <a:latin typeface="Times New Roman"/>
                <a:cs typeface="Times New Roman"/>
              </a:rPr>
              <a:t>of </a:t>
            </a:r>
            <a:r>
              <a:rPr sz="2600" spc="-145" dirty="0">
                <a:latin typeface="Times New Roman"/>
                <a:cs typeface="Times New Roman"/>
              </a:rPr>
              <a:t>files </a:t>
            </a:r>
            <a:r>
              <a:rPr sz="2600" spc="-110" dirty="0">
                <a:latin typeface="Times New Roman"/>
                <a:cs typeface="Times New Roman"/>
              </a:rPr>
              <a:t>disturbing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95" dirty="0">
                <a:latin typeface="Times New Roman"/>
                <a:cs typeface="Times New Roman"/>
              </a:rPr>
              <a:t>results </a:t>
            </a:r>
            <a:r>
              <a:rPr sz="2600" spc="-35" dirty="0">
                <a:latin typeface="Times New Roman"/>
                <a:cs typeface="Times New Roman"/>
              </a:rPr>
              <a:t>to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95" dirty="0">
                <a:latin typeface="Times New Roman"/>
                <a:cs typeface="Times New Roman"/>
              </a:rPr>
              <a:t>user </a:t>
            </a:r>
            <a:r>
              <a:rPr sz="2600" spc="-165" dirty="0">
                <a:latin typeface="Times New Roman"/>
                <a:cs typeface="Times New Roman"/>
              </a:rPr>
              <a:t>is </a:t>
            </a:r>
            <a:r>
              <a:rPr sz="2600" spc="-160" dirty="0">
                <a:latin typeface="Times New Roman"/>
                <a:cs typeface="Times New Roman"/>
              </a:rPr>
              <a:t>also 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-105" dirty="0">
                <a:latin typeface="Times New Roman"/>
                <a:cs typeface="Times New Roman"/>
              </a:rPr>
              <a:t>ne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this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l</a:t>
            </a:r>
            <a:r>
              <a:rPr sz="2600" spc="-285" dirty="0">
                <a:latin typeface="Times New Roman"/>
                <a:cs typeface="Times New Roman"/>
              </a:rPr>
              <a:t>a</a:t>
            </a:r>
            <a:r>
              <a:rPr sz="2600" spc="-260" dirty="0">
                <a:latin typeface="Times New Roman"/>
                <a:cs typeface="Times New Roman"/>
              </a:rPr>
              <a:t>y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95" dirty="0">
                <a:latin typeface="Times New Roman"/>
                <a:cs typeface="Times New Roman"/>
              </a:rPr>
              <a:t>r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Mail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se</a:t>
            </a:r>
            <a:r>
              <a:rPr sz="2600" spc="25" dirty="0">
                <a:latin typeface="Times New Roman"/>
                <a:cs typeface="Times New Roman"/>
              </a:rPr>
              <a:t>r</a:t>
            </a:r>
            <a:r>
              <a:rPr sz="2600" spc="-160" dirty="0">
                <a:latin typeface="Times New Roman"/>
                <a:cs typeface="Times New Roman"/>
              </a:rPr>
              <a:t>vi</a:t>
            </a:r>
            <a:r>
              <a:rPr sz="2600" spc="-190" dirty="0">
                <a:latin typeface="Times New Roman"/>
                <a:cs typeface="Times New Roman"/>
              </a:rPr>
              <a:t>c</a:t>
            </a:r>
            <a:r>
              <a:rPr sz="2600" spc="-65" dirty="0">
                <a:latin typeface="Times New Roman"/>
                <a:cs typeface="Times New Roman"/>
              </a:rPr>
              <a:t>es,</a:t>
            </a:r>
            <a:r>
              <a:rPr sz="2600" spc="-18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di</a:t>
            </a:r>
            <a:r>
              <a:rPr sz="2600" spc="-85" dirty="0">
                <a:latin typeface="Times New Roman"/>
                <a:cs typeface="Times New Roman"/>
              </a:rPr>
              <a:t>rec</a:t>
            </a:r>
            <a:r>
              <a:rPr sz="2600" spc="-70" dirty="0">
                <a:latin typeface="Times New Roman"/>
                <a:cs typeface="Times New Roman"/>
              </a:rPr>
              <a:t>t</a:t>
            </a:r>
            <a:r>
              <a:rPr sz="2600" spc="-50" dirty="0">
                <a:latin typeface="Times New Roman"/>
                <a:cs typeface="Times New Roman"/>
              </a:rPr>
              <a:t>o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se</a:t>
            </a:r>
            <a:r>
              <a:rPr sz="2600" spc="25" dirty="0">
                <a:latin typeface="Times New Roman"/>
                <a:cs typeface="Times New Roman"/>
              </a:rPr>
              <a:t>r</a:t>
            </a:r>
            <a:r>
              <a:rPr sz="2600" spc="-160" dirty="0">
                <a:latin typeface="Times New Roman"/>
                <a:cs typeface="Times New Roman"/>
              </a:rPr>
              <a:t>vi</a:t>
            </a:r>
            <a:r>
              <a:rPr sz="2600" spc="-190" dirty="0">
                <a:latin typeface="Times New Roman"/>
                <a:cs typeface="Times New Roman"/>
              </a:rPr>
              <a:t>c</a:t>
            </a:r>
            <a:r>
              <a:rPr sz="2600" spc="-65" dirty="0">
                <a:latin typeface="Times New Roman"/>
                <a:cs typeface="Times New Roman"/>
              </a:rPr>
              <a:t>es,</a:t>
            </a:r>
            <a:r>
              <a:rPr sz="2600" spc="-18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ne</a:t>
            </a:r>
            <a:r>
              <a:rPr sz="2600" spc="-50" dirty="0">
                <a:latin typeface="Times New Roman"/>
                <a:cs typeface="Times New Roman"/>
              </a:rPr>
              <a:t>t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65" dirty="0">
                <a:latin typeface="Times New Roman"/>
                <a:cs typeface="Times New Roman"/>
              </a:rPr>
              <a:t>ork  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25" dirty="0">
                <a:latin typeface="Times New Roman"/>
                <a:cs typeface="Times New Roman"/>
              </a:rPr>
              <a:t>eso</a:t>
            </a:r>
            <a:r>
              <a:rPr sz="2600" spc="-150" dirty="0">
                <a:latin typeface="Times New Roman"/>
                <a:cs typeface="Times New Roman"/>
              </a:rPr>
              <a:t>u</a:t>
            </a:r>
            <a:r>
              <a:rPr sz="2600" spc="-75" dirty="0">
                <a:latin typeface="Times New Roman"/>
                <a:cs typeface="Times New Roman"/>
              </a:rPr>
              <a:t>rc</a:t>
            </a:r>
            <a:r>
              <a:rPr sz="2600" spc="-80" dirty="0">
                <a:latin typeface="Times New Roman"/>
                <a:cs typeface="Times New Roman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 etc 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se</a:t>
            </a:r>
            <a:r>
              <a:rPr sz="2600" spc="25" dirty="0">
                <a:latin typeface="Times New Roman"/>
                <a:cs typeface="Times New Roman"/>
              </a:rPr>
              <a:t>r</a:t>
            </a:r>
            <a:r>
              <a:rPr sz="2600" spc="-160" dirty="0">
                <a:latin typeface="Times New Roman"/>
                <a:cs typeface="Times New Roman"/>
              </a:rPr>
              <a:t>vi</a:t>
            </a:r>
            <a:r>
              <a:rPr sz="2600" spc="-190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es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p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135" dirty="0">
                <a:latin typeface="Times New Roman"/>
                <a:cs typeface="Times New Roman"/>
              </a:rPr>
              <a:t>vid</a:t>
            </a:r>
            <a:r>
              <a:rPr sz="2600" spc="-155" dirty="0">
                <a:latin typeface="Times New Roman"/>
                <a:cs typeface="Times New Roman"/>
              </a:rPr>
              <a:t>e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b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a</a:t>
            </a:r>
            <a:r>
              <a:rPr sz="2600" spc="-180" dirty="0">
                <a:latin typeface="Times New Roman"/>
                <a:cs typeface="Times New Roman"/>
              </a:rPr>
              <a:t>p</a:t>
            </a:r>
            <a:r>
              <a:rPr sz="2600" spc="-114" dirty="0">
                <a:latin typeface="Times New Roman"/>
                <a:cs typeface="Times New Roman"/>
              </a:rPr>
              <a:t>pli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tion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l</a:t>
            </a:r>
            <a:r>
              <a:rPr sz="2600" spc="-285" dirty="0">
                <a:latin typeface="Times New Roman"/>
                <a:cs typeface="Times New Roman"/>
              </a:rPr>
              <a:t>a</a:t>
            </a:r>
            <a:r>
              <a:rPr sz="2600" spc="-260" dirty="0">
                <a:latin typeface="Times New Roman"/>
                <a:cs typeface="Times New Roman"/>
              </a:rPr>
              <a:t>y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95" dirty="0">
                <a:latin typeface="Times New Roman"/>
                <a:cs typeface="Times New Roman"/>
              </a:rPr>
              <a:t>r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5" dirty="0">
                <a:latin typeface="Times New Roman"/>
                <a:cs typeface="Times New Roman"/>
              </a:rPr>
              <a:t>This </a:t>
            </a:r>
            <a:r>
              <a:rPr sz="2600" spc="-150" dirty="0">
                <a:latin typeface="Times New Roman"/>
                <a:cs typeface="Times New Roman"/>
              </a:rPr>
              <a:t>layer </a:t>
            </a:r>
            <a:r>
              <a:rPr sz="2600" spc="-165" dirty="0">
                <a:latin typeface="Times New Roman"/>
                <a:cs typeface="Times New Roman"/>
              </a:rPr>
              <a:t>mainly </a:t>
            </a:r>
            <a:r>
              <a:rPr sz="2600" spc="-140" dirty="0">
                <a:latin typeface="Times New Roman"/>
                <a:cs typeface="Times New Roman"/>
              </a:rPr>
              <a:t>holds </a:t>
            </a:r>
            <a:r>
              <a:rPr sz="2600" spc="-125" dirty="0">
                <a:latin typeface="Times New Roman"/>
                <a:cs typeface="Times New Roman"/>
              </a:rPr>
              <a:t>application </a:t>
            </a:r>
            <a:r>
              <a:rPr sz="2600" spc="-120" dirty="0">
                <a:latin typeface="Times New Roman"/>
                <a:cs typeface="Times New Roman"/>
              </a:rPr>
              <a:t>programs </a:t>
            </a:r>
            <a:r>
              <a:rPr sz="2600" spc="-35" dirty="0">
                <a:latin typeface="Times New Roman"/>
                <a:cs typeface="Times New Roman"/>
              </a:rPr>
              <a:t>to </a:t>
            </a:r>
            <a:r>
              <a:rPr sz="2600" spc="-110" dirty="0">
                <a:latin typeface="Times New Roman"/>
                <a:cs typeface="Times New Roman"/>
              </a:rPr>
              <a:t>act </a:t>
            </a:r>
            <a:r>
              <a:rPr sz="2600" spc="-114" dirty="0">
                <a:latin typeface="Times New Roman"/>
                <a:cs typeface="Times New Roman"/>
              </a:rPr>
              <a:t>upon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25" dirty="0">
                <a:latin typeface="Times New Roman"/>
                <a:cs typeface="Times New Roman"/>
              </a:rPr>
              <a:t>e</a:t>
            </a:r>
            <a:r>
              <a:rPr sz="2600" spc="-135" dirty="0">
                <a:latin typeface="Times New Roman"/>
                <a:cs typeface="Times New Roman"/>
              </a:rPr>
              <a:t>c</a:t>
            </a:r>
            <a:r>
              <a:rPr sz="2600" spc="-130" dirty="0">
                <a:latin typeface="Times New Roman"/>
                <a:cs typeface="Times New Roman"/>
              </a:rPr>
              <a:t>ei</a:t>
            </a:r>
            <a:r>
              <a:rPr sz="2600" spc="-235" dirty="0">
                <a:latin typeface="Times New Roman"/>
                <a:cs typeface="Times New Roman"/>
              </a:rPr>
              <a:t>v</a:t>
            </a:r>
            <a:r>
              <a:rPr sz="2600" spc="-105" dirty="0">
                <a:latin typeface="Times New Roman"/>
                <a:cs typeface="Times New Roman"/>
              </a:rPr>
              <a:t>ed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</a:t>
            </a:r>
            <a:r>
              <a:rPr sz="2600" spc="-175" dirty="0">
                <a:latin typeface="Times New Roman"/>
                <a:cs typeface="Times New Roman"/>
              </a:rPr>
              <a:t>n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t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b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se</a:t>
            </a:r>
            <a:r>
              <a:rPr sz="2600" spc="-160" dirty="0">
                <a:latin typeface="Times New Roman"/>
                <a:cs typeface="Times New Roman"/>
              </a:rPr>
              <a:t>n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d</a:t>
            </a:r>
            <a:r>
              <a:rPr sz="2600" spc="-180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t</a:t>
            </a:r>
            <a:r>
              <a:rPr sz="2600" spc="-114" dirty="0">
                <a:latin typeface="Times New Roman"/>
                <a:cs typeface="Times New Roman"/>
              </a:rPr>
              <a:t>a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58915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80" dirty="0">
                <a:latin typeface="Arial"/>
                <a:cs typeface="Arial"/>
              </a:rPr>
              <a:t>M</a:t>
            </a:r>
            <a:r>
              <a:rPr b="1" spc="-204" dirty="0">
                <a:latin typeface="Arial"/>
                <a:cs typeface="Arial"/>
              </a:rPr>
              <a:t>e</a:t>
            </a:r>
            <a:r>
              <a:rPr b="1" spc="-130" dirty="0">
                <a:latin typeface="Arial"/>
                <a:cs typeface="Arial"/>
              </a:rPr>
              <a:t>r</a:t>
            </a:r>
            <a:r>
              <a:rPr b="1" spc="-165" dirty="0">
                <a:latin typeface="Arial"/>
                <a:cs typeface="Arial"/>
              </a:rPr>
              <a:t>it</a:t>
            </a:r>
            <a:r>
              <a:rPr b="1" spc="-285" dirty="0">
                <a:latin typeface="Arial"/>
                <a:cs typeface="Arial"/>
              </a:rPr>
              <a:t>s</a:t>
            </a:r>
            <a:r>
              <a:rPr b="1" spc="-135" dirty="0">
                <a:latin typeface="Arial"/>
                <a:cs typeface="Arial"/>
              </a:rPr>
              <a:t> 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120" dirty="0">
                <a:latin typeface="Arial"/>
                <a:cs typeface="Arial"/>
              </a:rPr>
              <a:t>f </a:t>
            </a:r>
            <a:r>
              <a:rPr b="1" spc="-475" dirty="0">
                <a:latin typeface="Arial"/>
                <a:cs typeface="Arial"/>
              </a:rPr>
              <a:t>O</a:t>
            </a:r>
            <a:r>
              <a:rPr b="1" spc="-390" dirty="0">
                <a:latin typeface="Arial"/>
                <a:cs typeface="Arial"/>
              </a:rPr>
              <a:t>S</a:t>
            </a:r>
            <a:r>
              <a:rPr b="1" spc="-105" dirty="0">
                <a:latin typeface="Arial"/>
                <a:cs typeface="Arial"/>
              </a:rPr>
              <a:t>I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210" dirty="0">
                <a:latin typeface="Arial"/>
                <a:cs typeface="Arial"/>
              </a:rPr>
              <a:t>r</a:t>
            </a:r>
            <a:r>
              <a:rPr b="1" spc="-155" dirty="0">
                <a:latin typeface="Arial"/>
                <a:cs typeface="Arial"/>
              </a:rPr>
              <a:t>e</a:t>
            </a:r>
            <a:r>
              <a:rPr b="1" spc="-160" dirty="0">
                <a:latin typeface="Arial"/>
                <a:cs typeface="Arial"/>
              </a:rPr>
              <a:t>f</a:t>
            </a:r>
            <a:r>
              <a:rPr b="1" spc="-210" dirty="0">
                <a:latin typeface="Arial"/>
                <a:cs typeface="Arial"/>
              </a:rPr>
              <a:t>eren</a:t>
            </a:r>
            <a:r>
              <a:rPr b="1" spc="-229" dirty="0">
                <a:latin typeface="Arial"/>
                <a:cs typeface="Arial"/>
              </a:rPr>
              <a:t>c</a:t>
            </a:r>
            <a:r>
              <a:rPr b="1" spc="-130" dirty="0">
                <a:latin typeface="Arial"/>
                <a:cs typeface="Arial"/>
              </a:rPr>
              <a:t>e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360" dirty="0">
                <a:latin typeface="Arial"/>
                <a:cs typeface="Arial"/>
              </a:rPr>
              <a:t>m</a:t>
            </a:r>
            <a:r>
              <a:rPr b="1" spc="-229" dirty="0">
                <a:latin typeface="Arial"/>
                <a:cs typeface="Arial"/>
              </a:rPr>
              <a:t>o</a:t>
            </a:r>
            <a:r>
              <a:rPr b="1" spc="-254" dirty="0">
                <a:latin typeface="Arial"/>
                <a:cs typeface="Arial"/>
              </a:rPr>
              <a:t>d</a:t>
            </a:r>
            <a:r>
              <a:rPr b="1" spc="-200" dirty="0">
                <a:latin typeface="Arial"/>
                <a:cs typeface="Arial"/>
              </a:rPr>
              <a:t>el: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588884" cy="3028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80" dirty="0">
                <a:latin typeface="Times New Roman"/>
                <a:cs typeface="Times New Roman"/>
              </a:rPr>
              <a:t>OSI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model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distinguishes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well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between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services,</a:t>
            </a:r>
            <a:r>
              <a:rPr sz="2600" spc="-18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interfaces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p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45" dirty="0">
                <a:latin typeface="Times New Roman"/>
                <a:cs typeface="Times New Roman"/>
              </a:rPr>
              <a:t>o</a:t>
            </a:r>
            <a:r>
              <a:rPr sz="2600" spc="-35" dirty="0">
                <a:latin typeface="Times New Roman"/>
                <a:cs typeface="Times New Roman"/>
              </a:rPr>
              <a:t>t</a:t>
            </a:r>
            <a:r>
              <a:rPr sz="2600" spc="-140" dirty="0">
                <a:latin typeface="Times New Roman"/>
                <a:cs typeface="Times New Roman"/>
              </a:rPr>
              <a:t>oc</a:t>
            </a:r>
            <a:r>
              <a:rPr sz="2600" spc="-135" dirty="0">
                <a:latin typeface="Times New Roman"/>
                <a:cs typeface="Times New Roman"/>
              </a:rPr>
              <a:t>ol</a:t>
            </a:r>
            <a:r>
              <a:rPr sz="2600" spc="-190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75" dirty="0">
                <a:latin typeface="Times New Roman"/>
                <a:cs typeface="Times New Roman"/>
              </a:rPr>
              <a:t>P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45" dirty="0">
                <a:latin typeface="Times New Roman"/>
                <a:cs typeface="Times New Roman"/>
              </a:rPr>
              <a:t>o</a:t>
            </a:r>
            <a:r>
              <a:rPr sz="2600" spc="-35" dirty="0">
                <a:latin typeface="Times New Roman"/>
                <a:cs typeface="Times New Roman"/>
              </a:rPr>
              <a:t>t</a:t>
            </a:r>
            <a:r>
              <a:rPr sz="2600" spc="-140" dirty="0">
                <a:latin typeface="Times New Roman"/>
                <a:cs typeface="Times New Roman"/>
              </a:rPr>
              <a:t>oc</a:t>
            </a:r>
            <a:r>
              <a:rPr sz="2600" spc="-135" dirty="0">
                <a:latin typeface="Times New Roman"/>
                <a:cs typeface="Times New Roman"/>
              </a:rPr>
              <a:t>ols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OSI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mo</a:t>
            </a:r>
            <a:r>
              <a:rPr sz="2600" spc="-120" dirty="0">
                <a:latin typeface="Times New Roman"/>
                <a:cs typeface="Times New Roman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el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re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4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100" dirty="0">
                <a:latin typeface="Times New Roman"/>
                <a:cs typeface="Times New Roman"/>
              </a:rPr>
              <a:t>ell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hidd</a:t>
            </a:r>
            <a:r>
              <a:rPr sz="2600" spc="-13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n.</a:t>
            </a:r>
            <a:endParaRPr sz="2600">
              <a:latin typeface="Times New Roman"/>
              <a:cs typeface="Times New Roman"/>
            </a:endParaRPr>
          </a:p>
          <a:p>
            <a:pPr marL="286385" marR="43815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00" dirty="0">
                <a:latin typeface="Times New Roman"/>
                <a:cs typeface="Times New Roman"/>
              </a:rPr>
              <a:t>Protocols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can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replaced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by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new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protocols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technology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changes.</a:t>
            </a:r>
            <a:endParaRPr sz="2600">
              <a:latin typeface="Times New Roman"/>
              <a:cs typeface="Times New Roman"/>
            </a:endParaRPr>
          </a:p>
          <a:p>
            <a:pPr marL="286385" marR="1560195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0" dirty="0">
                <a:latin typeface="Times New Roman"/>
                <a:cs typeface="Times New Roman"/>
              </a:rPr>
              <a:t>Supports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connection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oriented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services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well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o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85" dirty="0">
                <a:latin typeface="Times New Roman"/>
                <a:cs typeface="Times New Roman"/>
              </a:rPr>
              <a:t>ec</a:t>
            </a:r>
            <a:r>
              <a:rPr sz="2600" spc="-70" dirty="0">
                <a:latin typeface="Times New Roman"/>
                <a:cs typeface="Times New Roman"/>
              </a:rPr>
              <a:t>t</a:t>
            </a:r>
            <a:r>
              <a:rPr sz="2600" spc="-135" dirty="0">
                <a:latin typeface="Times New Roman"/>
                <a:cs typeface="Times New Roman"/>
              </a:rPr>
              <a:t>ionless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se</a:t>
            </a:r>
            <a:r>
              <a:rPr sz="2600" spc="25" dirty="0">
                <a:latin typeface="Times New Roman"/>
                <a:cs typeface="Times New Roman"/>
              </a:rPr>
              <a:t>r</a:t>
            </a:r>
            <a:r>
              <a:rPr sz="2600" spc="-160" dirty="0">
                <a:latin typeface="Times New Roman"/>
                <a:cs typeface="Times New Roman"/>
              </a:rPr>
              <a:t>vi</a:t>
            </a:r>
            <a:r>
              <a:rPr sz="2600" spc="-190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e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64300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29" dirty="0">
                <a:latin typeface="Arial"/>
                <a:cs typeface="Arial"/>
              </a:rPr>
              <a:t>D</a:t>
            </a:r>
            <a:r>
              <a:rPr b="1" spc="-165" dirty="0">
                <a:latin typeface="Arial"/>
                <a:cs typeface="Arial"/>
              </a:rPr>
              <a:t>e</a:t>
            </a:r>
            <a:r>
              <a:rPr b="1" spc="-250" dirty="0">
                <a:latin typeface="Arial"/>
                <a:cs typeface="Arial"/>
              </a:rPr>
              <a:t>m</a:t>
            </a:r>
            <a:r>
              <a:rPr b="1" spc="-145" dirty="0">
                <a:latin typeface="Arial"/>
                <a:cs typeface="Arial"/>
              </a:rPr>
              <a:t>e</a:t>
            </a:r>
            <a:r>
              <a:rPr b="1" spc="-204" dirty="0">
                <a:latin typeface="Arial"/>
                <a:cs typeface="Arial"/>
              </a:rPr>
              <a:t>rits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120" dirty="0">
                <a:latin typeface="Arial"/>
                <a:cs typeface="Arial"/>
              </a:rPr>
              <a:t>f </a:t>
            </a:r>
            <a:r>
              <a:rPr b="1" spc="-475" dirty="0">
                <a:latin typeface="Arial"/>
                <a:cs typeface="Arial"/>
              </a:rPr>
              <a:t>O</a:t>
            </a:r>
            <a:r>
              <a:rPr b="1" spc="-390" dirty="0">
                <a:latin typeface="Arial"/>
                <a:cs typeface="Arial"/>
              </a:rPr>
              <a:t>S</a:t>
            </a:r>
            <a:r>
              <a:rPr b="1" spc="-105" dirty="0">
                <a:latin typeface="Arial"/>
                <a:cs typeface="Arial"/>
              </a:rPr>
              <a:t>I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210" dirty="0">
                <a:latin typeface="Arial"/>
                <a:cs typeface="Arial"/>
              </a:rPr>
              <a:t>r</a:t>
            </a:r>
            <a:r>
              <a:rPr b="1" spc="-155" dirty="0">
                <a:latin typeface="Arial"/>
                <a:cs typeface="Arial"/>
              </a:rPr>
              <a:t>e</a:t>
            </a:r>
            <a:r>
              <a:rPr b="1" spc="-160" dirty="0">
                <a:latin typeface="Arial"/>
                <a:cs typeface="Arial"/>
              </a:rPr>
              <a:t>f</a:t>
            </a:r>
            <a:r>
              <a:rPr b="1" spc="-210" dirty="0">
                <a:latin typeface="Arial"/>
                <a:cs typeface="Arial"/>
              </a:rPr>
              <a:t>eren</a:t>
            </a:r>
            <a:r>
              <a:rPr b="1" spc="-229" dirty="0">
                <a:latin typeface="Arial"/>
                <a:cs typeface="Arial"/>
              </a:rPr>
              <a:t>c</a:t>
            </a:r>
            <a:r>
              <a:rPr b="1" spc="-130" dirty="0">
                <a:latin typeface="Arial"/>
                <a:cs typeface="Arial"/>
              </a:rPr>
              <a:t>e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360" dirty="0">
                <a:latin typeface="Arial"/>
                <a:cs typeface="Arial"/>
              </a:rPr>
              <a:t>m</a:t>
            </a:r>
            <a:r>
              <a:rPr b="1" spc="-229" dirty="0">
                <a:latin typeface="Arial"/>
                <a:cs typeface="Arial"/>
              </a:rPr>
              <a:t>o</a:t>
            </a:r>
            <a:r>
              <a:rPr b="1" spc="-254" dirty="0">
                <a:latin typeface="Arial"/>
                <a:cs typeface="Arial"/>
              </a:rPr>
              <a:t>d</a:t>
            </a:r>
            <a:r>
              <a:rPr b="1" spc="-200" dirty="0">
                <a:latin typeface="Arial"/>
                <a:cs typeface="Arial"/>
              </a:rPr>
              <a:t>el: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358239"/>
            <a:ext cx="6607175" cy="14433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65" dirty="0">
                <a:latin typeface="Times New Roman"/>
                <a:cs typeface="Times New Roman"/>
              </a:rPr>
              <a:t>M</a:t>
            </a:r>
            <a:r>
              <a:rPr sz="2600" spc="-160" dirty="0">
                <a:latin typeface="Times New Roman"/>
                <a:cs typeface="Times New Roman"/>
              </a:rPr>
              <a:t>o</a:t>
            </a:r>
            <a:r>
              <a:rPr sz="2600" spc="-105" dirty="0">
                <a:latin typeface="Times New Roman"/>
                <a:cs typeface="Times New Roman"/>
              </a:rPr>
              <a:t>del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w</a:t>
            </a:r>
            <a:r>
              <a:rPr sz="2600" spc="-220" dirty="0">
                <a:latin typeface="Times New Roman"/>
                <a:cs typeface="Times New Roman"/>
              </a:rPr>
              <a:t>a</a:t>
            </a:r>
            <a:r>
              <a:rPr sz="2600" spc="-190" dirty="0">
                <a:latin typeface="Times New Roman"/>
                <a:cs typeface="Times New Roman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145" dirty="0">
                <a:latin typeface="Times New Roman"/>
                <a:cs typeface="Times New Roman"/>
              </a:rPr>
              <a:t>e</a:t>
            </a:r>
            <a:r>
              <a:rPr sz="2600" spc="-150" dirty="0">
                <a:latin typeface="Times New Roman"/>
                <a:cs typeface="Times New Roman"/>
              </a:rPr>
              <a:t>vised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be</a:t>
            </a:r>
            <a:r>
              <a:rPr sz="2600" spc="-120" dirty="0">
                <a:latin typeface="Times New Roman"/>
                <a:cs typeface="Times New Roman"/>
              </a:rPr>
              <a:t>f</a:t>
            </a:r>
            <a:r>
              <a:rPr sz="2600" spc="-50" dirty="0">
                <a:latin typeface="Times New Roman"/>
                <a:cs typeface="Times New Roman"/>
              </a:rPr>
              <a:t>o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i</a:t>
            </a:r>
            <a:r>
              <a:rPr sz="2600" spc="-204" dirty="0">
                <a:latin typeface="Times New Roman"/>
                <a:cs typeface="Times New Roman"/>
              </a:rPr>
              <a:t>n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65" dirty="0">
                <a:latin typeface="Times New Roman"/>
                <a:cs typeface="Times New Roman"/>
              </a:rPr>
              <a:t>en</a:t>
            </a:r>
            <a:r>
              <a:rPr sz="2600" spc="-50" dirty="0">
                <a:latin typeface="Times New Roman"/>
                <a:cs typeface="Times New Roman"/>
              </a:rPr>
              <a:t>t</a:t>
            </a:r>
            <a:r>
              <a:rPr sz="2600" spc="-114" dirty="0">
                <a:latin typeface="Times New Roman"/>
                <a:cs typeface="Times New Roman"/>
              </a:rPr>
              <a:t>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o</a:t>
            </a:r>
            <a:r>
              <a:rPr sz="2600" spc="-190" dirty="0">
                <a:latin typeface="Times New Roman"/>
                <a:cs typeface="Times New Roman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p</a:t>
            </a:r>
            <a:r>
              <a:rPr sz="2600" spc="-65" dirty="0">
                <a:latin typeface="Times New Roman"/>
                <a:cs typeface="Times New Roman"/>
              </a:rPr>
              <a:t>r</a:t>
            </a:r>
            <a:r>
              <a:rPr sz="2600" spc="-45" dirty="0">
                <a:latin typeface="Times New Roman"/>
                <a:cs typeface="Times New Roman"/>
              </a:rPr>
              <a:t>o</a:t>
            </a:r>
            <a:r>
              <a:rPr sz="2600" spc="-35" dirty="0">
                <a:latin typeface="Times New Roman"/>
                <a:cs typeface="Times New Roman"/>
              </a:rPr>
              <a:t>t</a:t>
            </a:r>
            <a:r>
              <a:rPr sz="2600" spc="-140" dirty="0">
                <a:latin typeface="Times New Roman"/>
                <a:cs typeface="Times New Roman"/>
              </a:rPr>
              <a:t>oc</a:t>
            </a:r>
            <a:r>
              <a:rPr sz="2600" spc="-135" dirty="0">
                <a:latin typeface="Times New Roman"/>
                <a:cs typeface="Times New Roman"/>
              </a:rPr>
              <a:t>ol</a:t>
            </a:r>
            <a:r>
              <a:rPr sz="2600" spc="-190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5" dirty="0">
                <a:latin typeface="Times New Roman"/>
                <a:cs typeface="Times New Roman"/>
              </a:rPr>
              <a:t>Fit</a:t>
            </a:r>
            <a:r>
              <a:rPr sz="2600" spc="-80" dirty="0">
                <a:latin typeface="Times New Roman"/>
                <a:cs typeface="Times New Roman"/>
              </a:rPr>
              <a:t>t</a:t>
            </a:r>
            <a:r>
              <a:rPr sz="2600" spc="-150" dirty="0">
                <a:latin typeface="Times New Roman"/>
                <a:cs typeface="Times New Roman"/>
              </a:rPr>
              <a:t>ing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p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45" dirty="0">
                <a:latin typeface="Times New Roman"/>
                <a:cs typeface="Times New Roman"/>
              </a:rPr>
              <a:t>o</a:t>
            </a:r>
            <a:r>
              <a:rPr sz="2600" spc="-35" dirty="0">
                <a:latin typeface="Times New Roman"/>
                <a:cs typeface="Times New Roman"/>
              </a:rPr>
              <a:t>t</a:t>
            </a:r>
            <a:r>
              <a:rPr sz="2600" spc="-140" dirty="0">
                <a:latin typeface="Times New Roman"/>
                <a:cs typeface="Times New Roman"/>
              </a:rPr>
              <a:t>oc</a:t>
            </a:r>
            <a:r>
              <a:rPr sz="2600" spc="-135" dirty="0">
                <a:latin typeface="Times New Roman"/>
                <a:cs typeface="Times New Roman"/>
              </a:rPr>
              <a:t>ols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tedio</a:t>
            </a:r>
            <a:r>
              <a:rPr sz="2600" spc="-120" dirty="0">
                <a:latin typeface="Times New Roman"/>
                <a:cs typeface="Times New Roman"/>
              </a:rPr>
              <a:t>u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task.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just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used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20" dirty="0">
                <a:latin typeface="Times New Roman"/>
                <a:cs typeface="Times New Roman"/>
              </a:rPr>
              <a:t>a</a:t>
            </a:r>
            <a:r>
              <a:rPr sz="2600" spc="-190" dirty="0">
                <a:latin typeface="Times New Roman"/>
                <a:cs typeface="Times New Roman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95" dirty="0">
                <a:latin typeface="Times New Roman"/>
                <a:cs typeface="Times New Roman"/>
              </a:rPr>
              <a:t>efe</a:t>
            </a:r>
            <a:r>
              <a:rPr sz="2600" spc="-110" dirty="0">
                <a:latin typeface="Times New Roman"/>
                <a:cs typeface="Times New Roman"/>
              </a:rPr>
              <a:t>r</a:t>
            </a:r>
            <a:r>
              <a:rPr sz="2600" spc="-125" dirty="0">
                <a:latin typeface="Times New Roman"/>
                <a:cs typeface="Times New Roman"/>
              </a:rPr>
              <a:t>en</a:t>
            </a:r>
            <a:r>
              <a:rPr sz="2600" spc="-130" dirty="0">
                <a:latin typeface="Times New Roman"/>
                <a:cs typeface="Times New Roman"/>
              </a:rPr>
              <a:t>c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mo</a:t>
            </a:r>
            <a:r>
              <a:rPr sz="2600" spc="-120" dirty="0">
                <a:latin typeface="Times New Roman"/>
                <a:cs typeface="Times New Roman"/>
              </a:rPr>
              <a:t>d</a:t>
            </a:r>
            <a:r>
              <a:rPr sz="2600" spc="-30" dirty="0">
                <a:latin typeface="Times New Roman"/>
                <a:cs typeface="Times New Roman"/>
              </a:rPr>
              <a:t>el.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1547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Out</a:t>
            </a:r>
            <a:r>
              <a:rPr sz="4000" spc="-35" dirty="0"/>
              <a:t>line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914400" y="1450594"/>
            <a:ext cx="6858000" cy="5100320"/>
          </a:xfrm>
          <a:custGeom>
            <a:avLst/>
            <a:gdLst/>
            <a:ahLst/>
            <a:cxnLst/>
            <a:rect l="l" t="t" r="r" b="b"/>
            <a:pathLst>
              <a:path w="6858000" h="5100320">
                <a:moveTo>
                  <a:pt x="0" y="77215"/>
                </a:moveTo>
                <a:lnTo>
                  <a:pt x="6067" y="47148"/>
                </a:lnTo>
                <a:lnTo>
                  <a:pt x="22615" y="22605"/>
                </a:lnTo>
                <a:lnTo>
                  <a:pt x="47159" y="6064"/>
                </a:lnTo>
                <a:lnTo>
                  <a:pt x="77215" y="0"/>
                </a:lnTo>
                <a:lnTo>
                  <a:pt x="6780783" y="0"/>
                </a:lnTo>
                <a:lnTo>
                  <a:pt x="6810851" y="6064"/>
                </a:lnTo>
                <a:lnTo>
                  <a:pt x="6835394" y="22606"/>
                </a:lnTo>
                <a:lnTo>
                  <a:pt x="6851935" y="47148"/>
                </a:lnTo>
                <a:lnTo>
                  <a:pt x="6858000" y="77215"/>
                </a:lnTo>
                <a:lnTo>
                  <a:pt x="6858000" y="386079"/>
                </a:lnTo>
                <a:lnTo>
                  <a:pt x="6851935" y="416147"/>
                </a:lnTo>
                <a:lnTo>
                  <a:pt x="6835394" y="440689"/>
                </a:lnTo>
                <a:lnTo>
                  <a:pt x="6810851" y="457231"/>
                </a:lnTo>
                <a:lnTo>
                  <a:pt x="6780783" y="463295"/>
                </a:lnTo>
                <a:lnTo>
                  <a:pt x="77215" y="463295"/>
                </a:lnTo>
                <a:lnTo>
                  <a:pt x="47159" y="457231"/>
                </a:lnTo>
                <a:lnTo>
                  <a:pt x="22615" y="440689"/>
                </a:lnTo>
                <a:lnTo>
                  <a:pt x="6067" y="416147"/>
                </a:lnTo>
                <a:lnTo>
                  <a:pt x="0" y="386079"/>
                </a:lnTo>
                <a:lnTo>
                  <a:pt x="0" y="77215"/>
                </a:lnTo>
                <a:close/>
              </a:path>
              <a:path w="6858000" h="5100320">
                <a:moveTo>
                  <a:pt x="0" y="592454"/>
                </a:moveTo>
                <a:lnTo>
                  <a:pt x="6067" y="562387"/>
                </a:lnTo>
                <a:lnTo>
                  <a:pt x="22615" y="537844"/>
                </a:lnTo>
                <a:lnTo>
                  <a:pt x="47159" y="521303"/>
                </a:lnTo>
                <a:lnTo>
                  <a:pt x="77215" y="515238"/>
                </a:lnTo>
                <a:lnTo>
                  <a:pt x="6780783" y="515238"/>
                </a:lnTo>
                <a:lnTo>
                  <a:pt x="6810851" y="521303"/>
                </a:lnTo>
                <a:lnTo>
                  <a:pt x="6835394" y="537845"/>
                </a:lnTo>
                <a:lnTo>
                  <a:pt x="6851935" y="562387"/>
                </a:lnTo>
                <a:lnTo>
                  <a:pt x="6858000" y="592454"/>
                </a:lnTo>
                <a:lnTo>
                  <a:pt x="6858000" y="901318"/>
                </a:lnTo>
                <a:lnTo>
                  <a:pt x="6851935" y="931386"/>
                </a:lnTo>
                <a:lnTo>
                  <a:pt x="6835394" y="955928"/>
                </a:lnTo>
                <a:lnTo>
                  <a:pt x="6810851" y="972470"/>
                </a:lnTo>
                <a:lnTo>
                  <a:pt x="6780783" y="978534"/>
                </a:lnTo>
                <a:lnTo>
                  <a:pt x="77215" y="978534"/>
                </a:lnTo>
                <a:lnTo>
                  <a:pt x="47159" y="972470"/>
                </a:lnTo>
                <a:lnTo>
                  <a:pt x="22615" y="955928"/>
                </a:lnTo>
                <a:lnTo>
                  <a:pt x="6067" y="931386"/>
                </a:lnTo>
                <a:lnTo>
                  <a:pt x="0" y="901318"/>
                </a:lnTo>
                <a:lnTo>
                  <a:pt x="0" y="592454"/>
                </a:lnTo>
                <a:close/>
              </a:path>
              <a:path w="6858000" h="5100320">
                <a:moveTo>
                  <a:pt x="0" y="1107566"/>
                </a:moveTo>
                <a:lnTo>
                  <a:pt x="6067" y="1077499"/>
                </a:lnTo>
                <a:lnTo>
                  <a:pt x="22615" y="1052956"/>
                </a:lnTo>
                <a:lnTo>
                  <a:pt x="47159" y="1036415"/>
                </a:lnTo>
                <a:lnTo>
                  <a:pt x="77215" y="1030351"/>
                </a:lnTo>
                <a:lnTo>
                  <a:pt x="6780783" y="1030351"/>
                </a:lnTo>
                <a:lnTo>
                  <a:pt x="6810851" y="1036415"/>
                </a:lnTo>
                <a:lnTo>
                  <a:pt x="6835394" y="1052957"/>
                </a:lnTo>
                <a:lnTo>
                  <a:pt x="6851935" y="1077499"/>
                </a:lnTo>
                <a:lnTo>
                  <a:pt x="6858000" y="1107566"/>
                </a:lnTo>
                <a:lnTo>
                  <a:pt x="6858000" y="1416430"/>
                </a:lnTo>
                <a:lnTo>
                  <a:pt x="6851935" y="1446498"/>
                </a:lnTo>
                <a:lnTo>
                  <a:pt x="6835394" y="1471040"/>
                </a:lnTo>
                <a:lnTo>
                  <a:pt x="6810851" y="1487582"/>
                </a:lnTo>
                <a:lnTo>
                  <a:pt x="6780783" y="1493646"/>
                </a:lnTo>
                <a:lnTo>
                  <a:pt x="77215" y="1493646"/>
                </a:lnTo>
                <a:lnTo>
                  <a:pt x="47159" y="1487582"/>
                </a:lnTo>
                <a:lnTo>
                  <a:pt x="22615" y="1471040"/>
                </a:lnTo>
                <a:lnTo>
                  <a:pt x="6067" y="1446498"/>
                </a:lnTo>
                <a:lnTo>
                  <a:pt x="0" y="1416430"/>
                </a:lnTo>
                <a:lnTo>
                  <a:pt x="0" y="1107566"/>
                </a:lnTo>
                <a:close/>
              </a:path>
              <a:path w="6858000" h="5100320">
                <a:moveTo>
                  <a:pt x="0" y="1622678"/>
                </a:moveTo>
                <a:lnTo>
                  <a:pt x="6067" y="1592665"/>
                </a:lnTo>
                <a:lnTo>
                  <a:pt x="22615" y="1568116"/>
                </a:lnTo>
                <a:lnTo>
                  <a:pt x="47159" y="1551545"/>
                </a:lnTo>
                <a:lnTo>
                  <a:pt x="77215" y="1545463"/>
                </a:lnTo>
                <a:lnTo>
                  <a:pt x="6780783" y="1545463"/>
                </a:lnTo>
                <a:lnTo>
                  <a:pt x="6810851" y="1551545"/>
                </a:lnTo>
                <a:lnTo>
                  <a:pt x="6835394" y="1568116"/>
                </a:lnTo>
                <a:lnTo>
                  <a:pt x="6851935" y="1592665"/>
                </a:lnTo>
                <a:lnTo>
                  <a:pt x="6858000" y="1622678"/>
                </a:lnTo>
                <a:lnTo>
                  <a:pt x="6858000" y="1931542"/>
                </a:lnTo>
                <a:lnTo>
                  <a:pt x="6851935" y="1961630"/>
                </a:lnTo>
                <a:lnTo>
                  <a:pt x="6835394" y="1986216"/>
                </a:lnTo>
                <a:lnTo>
                  <a:pt x="6810851" y="2002801"/>
                </a:lnTo>
                <a:lnTo>
                  <a:pt x="6780783" y="2008885"/>
                </a:lnTo>
                <a:lnTo>
                  <a:pt x="77215" y="2008885"/>
                </a:lnTo>
                <a:lnTo>
                  <a:pt x="47159" y="2002801"/>
                </a:lnTo>
                <a:lnTo>
                  <a:pt x="22615" y="1986216"/>
                </a:lnTo>
                <a:lnTo>
                  <a:pt x="6067" y="1961630"/>
                </a:lnTo>
                <a:lnTo>
                  <a:pt x="0" y="1931542"/>
                </a:lnTo>
                <a:lnTo>
                  <a:pt x="0" y="1622678"/>
                </a:lnTo>
                <a:close/>
              </a:path>
              <a:path w="6858000" h="5100320">
                <a:moveTo>
                  <a:pt x="0" y="2137917"/>
                </a:moveTo>
                <a:lnTo>
                  <a:pt x="6067" y="2107850"/>
                </a:lnTo>
                <a:lnTo>
                  <a:pt x="22615" y="2083307"/>
                </a:lnTo>
                <a:lnTo>
                  <a:pt x="47159" y="2066766"/>
                </a:lnTo>
                <a:lnTo>
                  <a:pt x="77215" y="2060702"/>
                </a:lnTo>
                <a:lnTo>
                  <a:pt x="6780783" y="2060702"/>
                </a:lnTo>
                <a:lnTo>
                  <a:pt x="6810851" y="2066766"/>
                </a:lnTo>
                <a:lnTo>
                  <a:pt x="6835394" y="2083308"/>
                </a:lnTo>
                <a:lnTo>
                  <a:pt x="6851935" y="2107850"/>
                </a:lnTo>
                <a:lnTo>
                  <a:pt x="6858000" y="2137917"/>
                </a:lnTo>
                <a:lnTo>
                  <a:pt x="6858000" y="2446781"/>
                </a:lnTo>
                <a:lnTo>
                  <a:pt x="6851935" y="2476849"/>
                </a:lnTo>
                <a:lnTo>
                  <a:pt x="6835394" y="2501391"/>
                </a:lnTo>
                <a:lnTo>
                  <a:pt x="6810851" y="2517933"/>
                </a:lnTo>
                <a:lnTo>
                  <a:pt x="6780783" y="2523997"/>
                </a:lnTo>
                <a:lnTo>
                  <a:pt x="77215" y="2523997"/>
                </a:lnTo>
                <a:lnTo>
                  <a:pt x="47159" y="2517933"/>
                </a:lnTo>
                <a:lnTo>
                  <a:pt x="22615" y="2501391"/>
                </a:lnTo>
                <a:lnTo>
                  <a:pt x="6067" y="2476849"/>
                </a:lnTo>
                <a:lnTo>
                  <a:pt x="0" y="2446781"/>
                </a:lnTo>
                <a:lnTo>
                  <a:pt x="0" y="2137917"/>
                </a:lnTo>
                <a:close/>
              </a:path>
              <a:path w="6858000" h="5100320">
                <a:moveTo>
                  <a:pt x="0" y="2653029"/>
                </a:moveTo>
                <a:lnTo>
                  <a:pt x="6067" y="2622962"/>
                </a:lnTo>
                <a:lnTo>
                  <a:pt x="22615" y="2598419"/>
                </a:lnTo>
                <a:lnTo>
                  <a:pt x="47159" y="2581878"/>
                </a:lnTo>
                <a:lnTo>
                  <a:pt x="77215" y="2575813"/>
                </a:lnTo>
                <a:lnTo>
                  <a:pt x="6780783" y="2575813"/>
                </a:lnTo>
                <a:lnTo>
                  <a:pt x="6810851" y="2581878"/>
                </a:lnTo>
                <a:lnTo>
                  <a:pt x="6835394" y="2598419"/>
                </a:lnTo>
                <a:lnTo>
                  <a:pt x="6851935" y="2622962"/>
                </a:lnTo>
                <a:lnTo>
                  <a:pt x="6858000" y="2653029"/>
                </a:lnTo>
                <a:lnTo>
                  <a:pt x="6858000" y="2961893"/>
                </a:lnTo>
                <a:lnTo>
                  <a:pt x="6851935" y="2991961"/>
                </a:lnTo>
                <a:lnTo>
                  <a:pt x="6835394" y="3016504"/>
                </a:lnTo>
                <a:lnTo>
                  <a:pt x="6810851" y="3033045"/>
                </a:lnTo>
                <a:lnTo>
                  <a:pt x="6780783" y="3039110"/>
                </a:lnTo>
                <a:lnTo>
                  <a:pt x="77215" y="3039110"/>
                </a:lnTo>
                <a:lnTo>
                  <a:pt x="47159" y="3033045"/>
                </a:lnTo>
                <a:lnTo>
                  <a:pt x="22615" y="3016504"/>
                </a:lnTo>
                <a:lnTo>
                  <a:pt x="6067" y="2991961"/>
                </a:lnTo>
                <a:lnTo>
                  <a:pt x="0" y="2961893"/>
                </a:lnTo>
                <a:lnTo>
                  <a:pt x="0" y="2653029"/>
                </a:lnTo>
                <a:close/>
              </a:path>
              <a:path w="6858000" h="5100320">
                <a:moveTo>
                  <a:pt x="0" y="3168268"/>
                </a:moveTo>
                <a:lnTo>
                  <a:pt x="6067" y="3138181"/>
                </a:lnTo>
                <a:lnTo>
                  <a:pt x="22615" y="3113595"/>
                </a:lnTo>
                <a:lnTo>
                  <a:pt x="47159" y="3097010"/>
                </a:lnTo>
                <a:lnTo>
                  <a:pt x="77215" y="3090925"/>
                </a:lnTo>
                <a:lnTo>
                  <a:pt x="6780783" y="3090925"/>
                </a:lnTo>
                <a:lnTo>
                  <a:pt x="6810851" y="3097010"/>
                </a:lnTo>
                <a:lnTo>
                  <a:pt x="6835394" y="3113595"/>
                </a:lnTo>
                <a:lnTo>
                  <a:pt x="6851935" y="3138181"/>
                </a:lnTo>
                <a:lnTo>
                  <a:pt x="6858000" y="3168268"/>
                </a:lnTo>
                <a:lnTo>
                  <a:pt x="6858000" y="3477132"/>
                </a:lnTo>
                <a:lnTo>
                  <a:pt x="6851935" y="3507146"/>
                </a:lnTo>
                <a:lnTo>
                  <a:pt x="6835394" y="3531695"/>
                </a:lnTo>
                <a:lnTo>
                  <a:pt x="6810851" y="3548266"/>
                </a:lnTo>
                <a:lnTo>
                  <a:pt x="6780783" y="3554349"/>
                </a:lnTo>
                <a:lnTo>
                  <a:pt x="77215" y="3554349"/>
                </a:lnTo>
                <a:lnTo>
                  <a:pt x="47159" y="3548266"/>
                </a:lnTo>
                <a:lnTo>
                  <a:pt x="22615" y="3531695"/>
                </a:lnTo>
                <a:lnTo>
                  <a:pt x="6067" y="3507146"/>
                </a:lnTo>
                <a:lnTo>
                  <a:pt x="0" y="3477132"/>
                </a:lnTo>
                <a:lnTo>
                  <a:pt x="0" y="3168268"/>
                </a:lnTo>
                <a:close/>
              </a:path>
              <a:path w="6858000" h="5100320">
                <a:moveTo>
                  <a:pt x="0" y="3683380"/>
                </a:moveTo>
                <a:lnTo>
                  <a:pt x="6067" y="3653313"/>
                </a:lnTo>
                <a:lnTo>
                  <a:pt x="22615" y="3628770"/>
                </a:lnTo>
                <a:lnTo>
                  <a:pt x="47159" y="3612229"/>
                </a:lnTo>
                <a:lnTo>
                  <a:pt x="77215" y="3606164"/>
                </a:lnTo>
                <a:lnTo>
                  <a:pt x="6780783" y="3606164"/>
                </a:lnTo>
                <a:lnTo>
                  <a:pt x="6810851" y="3612229"/>
                </a:lnTo>
                <a:lnTo>
                  <a:pt x="6835394" y="3628770"/>
                </a:lnTo>
                <a:lnTo>
                  <a:pt x="6851935" y="3653313"/>
                </a:lnTo>
                <a:lnTo>
                  <a:pt x="6858000" y="3683380"/>
                </a:lnTo>
                <a:lnTo>
                  <a:pt x="6858000" y="3992244"/>
                </a:lnTo>
                <a:lnTo>
                  <a:pt x="6851935" y="4022312"/>
                </a:lnTo>
                <a:lnTo>
                  <a:pt x="6835394" y="4046854"/>
                </a:lnTo>
                <a:lnTo>
                  <a:pt x="6810851" y="4063396"/>
                </a:lnTo>
                <a:lnTo>
                  <a:pt x="6780783" y="4069460"/>
                </a:lnTo>
                <a:lnTo>
                  <a:pt x="77215" y="4069460"/>
                </a:lnTo>
                <a:lnTo>
                  <a:pt x="47159" y="4063396"/>
                </a:lnTo>
                <a:lnTo>
                  <a:pt x="22615" y="4046854"/>
                </a:lnTo>
                <a:lnTo>
                  <a:pt x="6067" y="4022312"/>
                </a:lnTo>
                <a:lnTo>
                  <a:pt x="0" y="3992244"/>
                </a:lnTo>
                <a:lnTo>
                  <a:pt x="0" y="3683380"/>
                </a:lnTo>
                <a:close/>
              </a:path>
              <a:path w="6858000" h="5100320">
                <a:moveTo>
                  <a:pt x="0" y="4198531"/>
                </a:moveTo>
                <a:lnTo>
                  <a:pt x="6067" y="4168463"/>
                </a:lnTo>
                <a:lnTo>
                  <a:pt x="22615" y="4143906"/>
                </a:lnTo>
                <a:lnTo>
                  <a:pt x="47159" y="4127348"/>
                </a:lnTo>
                <a:lnTo>
                  <a:pt x="77215" y="4121277"/>
                </a:lnTo>
                <a:lnTo>
                  <a:pt x="6780783" y="4121277"/>
                </a:lnTo>
                <a:lnTo>
                  <a:pt x="6810851" y="4127348"/>
                </a:lnTo>
                <a:lnTo>
                  <a:pt x="6835394" y="4143906"/>
                </a:lnTo>
                <a:lnTo>
                  <a:pt x="6851935" y="4168463"/>
                </a:lnTo>
                <a:lnTo>
                  <a:pt x="6858000" y="4198531"/>
                </a:lnTo>
                <a:lnTo>
                  <a:pt x="6858000" y="4507407"/>
                </a:lnTo>
                <a:lnTo>
                  <a:pt x="6851935" y="4537464"/>
                </a:lnTo>
                <a:lnTo>
                  <a:pt x="6835394" y="4562008"/>
                </a:lnTo>
                <a:lnTo>
                  <a:pt x="6810851" y="4578555"/>
                </a:lnTo>
                <a:lnTo>
                  <a:pt x="6780783" y="4584623"/>
                </a:lnTo>
                <a:lnTo>
                  <a:pt x="77215" y="4584623"/>
                </a:lnTo>
                <a:lnTo>
                  <a:pt x="47159" y="4578555"/>
                </a:lnTo>
                <a:lnTo>
                  <a:pt x="22615" y="4562008"/>
                </a:lnTo>
                <a:lnTo>
                  <a:pt x="6067" y="4537464"/>
                </a:lnTo>
                <a:lnTo>
                  <a:pt x="0" y="4507407"/>
                </a:lnTo>
                <a:lnTo>
                  <a:pt x="0" y="4198531"/>
                </a:lnTo>
                <a:close/>
              </a:path>
              <a:path w="6858000" h="5100320">
                <a:moveTo>
                  <a:pt x="0" y="4713681"/>
                </a:moveTo>
                <a:lnTo>
                  <a:pt x="6067" y="4683624"/>
                </a:lnTo>
                <a:lnTo>
                  <a:pt x="22615" y="4659080"/>
                </a:lnTo>
                <a:lnTo>
                  <a:pt x="47159" y="4642533"/>
                </a:lnTo>
                <a:lnTo>
                  <a:pt x="77215" y="4636465"/>
                </a:lnTo>
                <a:lnTo>
                  <a:pt x="6780783" y="4636465"/>
                </a:lnTo>
                <a:lnTo>
                  <a:pt x="6810851" y="4642533"/>
                </a:lnTo>
                <a:lnTo>
                  <a:pt x="6835394" y="4659080"/>
                </a:lnTo>
                <a:lnTo>
                  <a:pt x="6851935" y="4683624"/>
                </a:lnTo>
                <a:lnTo>
                  <a:pt x="6858000" y="4713681"/>
                </a:lnTo>
                <a:lnTo>
                  <a:pt x="6858000" y="5022557"/>
                </a:lnTo>
                <a:lnTo>
                  <a:pt x="6851935" y="5052621"/>
                </a:lnTo>
                <a:lnTo>
                  <a:pt x="6835394" y="5077169"/>
                </a:lnTo>
                <a:lnTo>
                  <a:pt x="6810851" y="5093718"/>
                </a:lnTo>
                <a:lnTo>
                  <a:pt x="6780783" y="5099786"/>
                </a:lnTo>
                <a:lnTo>
                  <a:pt x="77215" y="5099786"/>
                </a:lnTo>
                <a:lnTo>
                  <a:pt x="47159" y="5093718"/>
                </a:lnTo>
                <a:lnTo>
                  <a:pt x="22615" y="5077169"/>
                </a:lnTo>
                <a:lnTo>
                  <a:pt x="6067" y="5052621"/>
                </a:lnTo>
                <a:lnTo>
                  <a:pt x="0" y="5022557"/>
                </a:lnTo>
                <a:lnTo>
                  <a:pt x="0" y="4713681"/>
                </a:lnTo>
                <a:close/>
              </a:path>
            </a:pathLst>
          </a:custGeom>
          <a:ln w="12700">
            <a:solidFill>
              <a:srgbClr val="BE40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3139" y="1470406"/>
            <a:ext cx="6036945" cy="4958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Introduction</a:t>
            </a:r>
            <a:r>
              <a:rPr sz="2000" b="1" spc="-8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0" dirty="0">
                <a:solidFill>
                  <a:srgbClr val="BEBEBE"/>
                </a:solidFill>
                <a:latin typeface="Times New Roman"/>
                <a:cs typeface="Times New Roman"/>
              </a:rPr>
              <a:t>of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75" dirty="0">
                <a:solidFill>
                  <a:srgbClr val="BEBEBE"/>
                </a:solidFill>
                <a:latin typeface="Times New Roman"/>
                <a:cs typeface="Times New Roman"/>
              </a:rPr>
              <a:t>LAN;</a:t>
            </a:r>
            <a:r>
              <a:rPr sz="2000" b="1" spc="-12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35" dirty="0">
                <a:solidFill>
                  <a:srgbClr val="BEBEBE"/>
                </a:solidFill>
                <a:latin typeface="Times New Roman"/>
                <a:cs typeface="Times New Roman"/>
              </a:rPr>
              <a:t>MAN;WAN;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30" dirty="0">
                <a:solidFill>
                  <a:srgbClr val="BEBEBE"/>
                </a:solidFill>
                <a:latin typeface="Times New Roman"/>
                <a:cs typeface="Times New Roman"/>
              </a:rPr>
              <a:t>PAN,</a:t>
            </a:r>
            <a:r>
              <a:rPr sz="2000" b="1" spc="-21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Ad-hoc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BEBEBE"/>
                </a:solidFill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655"/>
              </a:spcBef>
            </a:pP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Topologies</a:t>
            </a:r>
            <a:endParaRPr sz="2000">
              <a:latin typeface="Times New Roman"/>
              <a:cs typeface="Times New Roman"/>
            </a:endParaRPr>
          </a:p>
          <a:p>
            <a:pPr marL="19685" marR="3536315">
              <a:lnSpc>
                <a:spcPct val="169000"/>
              </a:lnSpc>
            </a:pPr>
            <a:r>
              <a:rPr sz="2000" b="1" spc="-35" dirty="0">
                <a:solidFill>
                  <a:srgbClr val="BEBEBE"/>
                </a:solidFill>
                <a:latin typeface="Times New Roman"/>
                <a:cs typeface="Times New Roman"/>
              </a:rPr>
              <a:t>Ne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t</a:t>
            </a:r>
            <a:r>
              <a:rPr sz="2000" b="1" dirty="0">
                <a:solidFill>
                  <a:srgbClr val="BEBEBE"/>
                </a:solidFill>
                <a:latin typeface="Times New Roman"/>
                <a:cs typeface="Times New Roman"/>
              </a:rPr>
              <a:t>w</a:t>
            </a: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o</a:t>
            </a:r>
            <a:r>
              <a:rPr sz="2000" b="1" spc="10" dirty="0">
                <a:solidFill>
                  <a:srgbClr val="BEBEBE"/>
                </a:solidFill>
                <a:latin typeface="Times New Roman"/>
                <a:cs typeface="Times New Roman"/>
              </a:rPr>
              <a:t>r</a:t>
            </a: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k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Arc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hit</a:t>
            </a:r>
            <a:r>
              <a:rPr sz="2000" b="1" spc="20" dirty="0">
                <a:solidFill>
                  <a:srgbClr val="BEBEBE"/>
                </a:solidFill>
                <a:latin typeface="Times New Roman"/>
                <a:cs typeface="Times New Roman"/>
              </a:rPr>
              <a:t>e</a:t>
            </a:r>
            <a:r>
              <a:rPr sz="2000" b="1" spc="35" dirty="0">
                <a:solidFill>
                  <a:srgbClr val="BEBEBE"/>
                </a:solidFill>
                <a:latin typeface="Times New Roman"/>
                <a:cs typeface="Times New Roman"/>
              </a:rPr>
              <a:t>c</a:t>
            </a: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t</a:t>
            </a:r>
            <a:r>
              <a:rPr sz="2000" b="1" spc="-15" dirty="0">
                <a:solidFill>
                  <a:srgbClr val="BEBEBE"/>
                </a:solidFill>
                <a:latin typeface="Times New Roman"/>
                <a:cs typeface="Times New Roman"/>
              </a:rPr>
              <a:t>ures  </a:t>
            </a:r>
            <a:r>
              <a:rPr sz="2000" b="1" spc="-185" dirty="0">
                <a:solidFill>
                  <a:srgbClr val="BEBEBE"/>
                </a:solidFill>
                <a:latin typeface="Times New Roman"/>
                <a:cs typeface="Times New Roman"/>
              </a:rPr>
              <a:t>O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S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I </a:t>
            </a: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Mo</a:t>
            </a:r>
            <a:r>
              <a:rPr sz="2000" b="1" spc="35" dirty="0">
                <a:solidFill>
                  <a:srgbClr val="BEBEBE"/>
                </a:solidFill>
                <a:latin typeface="Times New Roman"/>
                <a:cs typeface="Times New Roman"/>
              </a:rPr>
              <a:t>del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1800" b="1" spc="-2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spc="-180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1800" b="1" spc="-155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1800" b="1" spc="170" dirty="0">
                <a:solidFill>
                  <a:srgbClr val="FF0000"/>
                </a:solidFill>
                <a:latin typeface="Times New Roman"/>
                <a:cs typeface="Times New Roman"/>
              </a:rPr>
              <a:t>/</a:t>
            </a:r>
            <a:r>
              <a:rPr sz="1800" b="1" spc="24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800" b="1" spc="-125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18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Mod</a:t>
            </a:r>
            <a:r>
              <a:rPr sz="1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8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endParaRPr sz="1800">
              <a:latin typeface="Times New Roman"/>
              <a:cs typeface="Times New Roman"/>
            </a:endParaRPr>
          </a:p>
          <a:p>
            <a:pPr marL="12700" marR="4053840">
              <a:lnSpc>
                <a:spcPct val="187800"/>
              </a:lnSpc>
            </a:pPr>
            <a:r>
              <a:rPr sz="1800" spc="-105" dirty="0">
                <a:latin typeface="Times New Roman"/>
                <a:cs typeface="Times New Roman"/>
              </a:rPr>
              <a:t>Design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issues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for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0" dirty="0">
                <a:latin typeface="Times New Roman"/>
                <a:cs typeface="Times New Roman"/>
              </a:rPr>
              <a:t>L</a:t>
            </a:r>
            <a:r>
              <a:rPr sz="1800" spc="-204" dirty="0">
                <a:latin typeface="Times New Roman"/>
                <a:cs typeface="Times New Roman"/>
              </a:rPr>
              <a:t>a</a:t>
            </a:r>
            <a:r>
              <a:rPr sz="1800" spc="-170" dirty="0">
                <a:latin typeface="Times New Roman"/>
                <a:cs typeface="Times New Roman"/>
              </a:rPr>
              <a:t>y</a:t>
            </a:r>
            <a:r>
              <a:rPr sz="1800" spc="-30" dirty="0">
                <a:latin typeface="Times New Roman"/>
                <a:cs typeface="Times New Roman"/>
              </a:rPr>
              <a:t>e</a:t>
            </a:r>
            <a:r>
              <a:rPr sz="1800" spc="15" dirty="0">
                <a:latin typeface="Times New Roman"/>
                <a:cs typeface="Times New Roman"/>
              </a:rPr>
              <a:t>r</a:t>
            </a:r>
            <a:r>
              <a:rPr sz="1800" spc="-105" dirty="0">
                <a:latin typeface="Times New Roman"/>
                <a:cs typeface="Times New Roman"/>
              </a:rPr>
              <a:t>s  </a:t>
            </a:r>
            <a:r>
              <a:rPr sz="1800" spc="-220" dirty="0">
                <a:latin typeface="Times New Roman"/>
                <a:cs typeface="Times New Roman"/>
              </a:rPr>
              <a:t>T</a:t>
            </a:r>
            <a:r>
              <a:rPr sz="1800" spc="-60" dirty="0">
                <a:latin typeface="Times New Roman"/>
                <a:cs typeface="Times New Roman"/>
              </a:rPr>
              <a:t>r</a:t>
            </a:r>
            <a:r>
              <a:rPr sz="1800" spc="-65" dirty="0">
                <a:latin typeface="Times New Roman"/>
                <a:cs typeface="Times New Roman"/>
              </a:rPr>
              <a:t>a</a:t>
            </a:r>
            <a:r>
              <a:rPr sz="1800" spc="-110" dirty="0">
                <a:latin typeface="Times New Roman"/>
                <a:cs typeface="Times New Roman"/>
              </a:rPr>
              <a:t>nsm</a:t>
            </a:r>
            <a:r>
              <a:rPr sz="1800" spc="-120" dirty="0">
                <a:latin typeface="Times New Roman"/>
                <a:cs typeface="Times New Roman"/>
              </a:rPr>
              <a:t>iss</a:t>
            </a:r>
            <a:r>
              <a:rPr sz="1800" spc="-105" dirty="0">
                <a:latin typeface="Times New Roman"/>
                <a:cs typeface="Times New Roman"/>
              </a:rPr>
              <a:t>i</a:t>
            </a:r>
            <a:r>
              <a:rPr sz="1800" spc="-80" dirty="0">
                <a:latin typeface="Times New Roman"/>
                <a:cs typeface="Times New Roman"/>
              </a:rPr>
              <a:t>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30" dirty="0">
                <a:latin typeface="Times New Roman"/>
                <a:cs typeface="Times New Roman"/>
              </a:rPr>
              <a:t>Me</a:t>
            </a:r>
            <a:r>
              <a:rPr sz="1800" spc="-95" dirty="0">
                <a:latin typeface="Times New Roman"/>
                <a:cs typeface="Times New Roman"/>
              </a:rPr>
              <a:t>d</a:t>
            </a:r>
            <a:r>
              <a:rPr sz="1800" spc="-90" dirty="0">
                <a:latin typeface="Times New Roman"/>
                <a:cs typeface="Times New Roman"/>
              </a:rPr>
              <a:t>iums  </a:t>
            </a:r>
            <a:r>
              <a:rPr sz="1800" spc="-55" dirty="0">
                <a:latin typeface="Times New Roman"/>
                <a:cs typeface="Times New Roman"/>
              </a:rPr>
              <a:t>Net</a:t>
            </a:r>
            <a:r>
              <a:rPr sz="1800" spc="-145" dirty="0">
                <a:latin typeface="Times New Roman"/>
                <a:cs typeface="Times New Roman"/>
              </a:rPr>
              <a:t>w</a:t>
            </a:r>
            <a:r>
              <a:rPr sz="1800" spc="-35" dirty="0">
                <a:latin typeface="Times New Roman"/>
                <a:cs typeface="Times New Roman"/>
              </a:rPr>
              <a:t>o</a:t>
            </a:r>
            <a:r>
              <a:rPr sz="1800" spc="-20" dirty="0">
                <a:latin typeface="Times New Roman"/>
                <a:cs typeface="Times New Roman"/>
              </a:rPr>
              <a:t>r</a:t>
            </a:r>
            <a:r>
              <a:rPr sz="1800" spc="-114" dirty="0">
                <a:latin typeface="Times New Roman"/>
                <a:cs typeface="Times New Roman"/>
              </a:rPr>
              <a:t>k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D</a:t>
            </a:r>
            <a:r>
              <a:rPr sz="1800" spc="-90" dirty="0">
                <a:latin typeface="Times New Roman"/>
                <a:cs typeface="Times New Roman"/>
              </a:rPr>
              <a:t>e</a:t>
            </a:r>
            <a:r>
              <a:rPr sz="1800" spc="-110" dirty="0">
                <a:latin typeface="Times New Roman"/>
                <a:cs typeface="Times New Roman"/>
              </a:rPr>
              <a:t>vices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240" dirty="0">
                <a:latin typeface="Times New Roman"/>
                <a:cs typeface="Times New Roman"/>
              </a:rPr>
              <a:t>M</a:t>
            </a:r>
            <a:r>
              <a:rPr sz="1800" spc="-114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50" dirty="0">
                <a:latin typeface="Times New Roman"/>
                <a:cs typeface="Times New Roman"/>
              </a:rPr>
              <a:t>c</a:t>
            </a:r>
            <a:r>
              <a:rPr sz="1800" spc="-110" dirty="0">
                <a:latin typeface="Times New Roman"/>
                <a:cs typeface="Times New Roman"/>
              </a:rPr>
              <a:t>hes</a:t>
            </a:r>
            <a:r>
              <a:rPr sz="1800" spc="-10" dirty="0">
                <a:latin typeface="Times New Roman"/>
                <a:cs typeface="Times New Roman"/>
              </a:rPr>
              <a:t>ter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an</a:t>
            </a:r>
            <a:r>
              <a:rPr sz="1800" spc="-80" dirty="0">
                <a:latin typeface="Times New Roman"/>
                <a:cs typeface="Times New Roman"/>
              </a:rPr>
              <a:t>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D</a:t>
            </a:r>
            <a:r>
              <a:rPr sz="1800" spc="-85" dirty="0">
                <a:latin typeface="Times New Roman"/>
                <a:cs typeface="Times New Roman"/>
              </a:rPr>
              <a:t>iffe</a:t>
            </a:r>
            <a:r>
              <a:rPr sz="1800" spc="-95" dirty="0">
                <a:latin typeface="Times New Roman"/>
                <a:cs typeface="Times New Roman"/>
              </a:rPr>
              <a:t>r</a:t>
            </a:r>
            <a:r>
              <a:rPr sz="1800" spc="-50" dirty="0">
                <a:latin typeface="Times New Roman"/>
                <a:cs typeface="Times New Roman"/>
              </a:rPr>
              <a:t>en</a:t>
            </a:r>
            <a:r>
              <a:rPr sz="1800" spc="-25" dirty="0">
                <a:latin typeface="Times New Roman"/>
                <a:cs typeface="Times New Roman"/>
              </a:rPr>
              <a:t>t</a:t>
            </a:r>
            <a:r>
              <a:rPr sz="1800" spc="-100" dirty="0">
                <a:latin typeface="Times New Roman"/>
                <a:cs typeface="Times New Roman"/>
              </a:rPr>
              <a:t>ial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40" dirty="0">
                <a:latin typeface="Times New Roman"/>
                <a:cs typeface="Times New Roman"/>
              </a:rPr>
              <a:t>M</a:t>
            </a:r>
            <a:r>
              <a:rPr sz="1800" spc="-114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50" dirty="0">
                <a:latin typeface="Times New Roman"/>
                <a:cs typeface="Times New Roman"/>
              </a:rPr>
              <a:t>c</a:t>
            </a:r>
            <a:r>
              <a:rPr sz="1800" spc="-110" dirty="0">
                <a:latin typeface="Times New Roman"/>
                <a:cs typeface="Times New Roman"/>
              </a:rPr>
              <a:t>hes</a:t>
            </a:r>
            <a:r>
              <a:rPr sz="1800" spc="-10" dirty="0">
                <a:latin typeface="Times New Roman"/>
                <a:cs typeface="Times New Roman"/>
              </a:rPr>
              <a:t>ter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90" dirty="0">
                <a:latin typeface="Times New Roman"/>
                <a:cs typeface="Times New Roman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85" dirty="0">
                <a:latin typeface="Times New Roman"/>
                <a:cs typeface="Times New Roman"/>
              </a:rPr>
              <a:t>c</a:t>
            </a:r>
            <a:r>
              <a:rPr sz="1800" spc="-80" dirty="0">
                <a:latin typeface="Times New Roman"/>
                <a:cs typeface="Times New Roman"/>
              </a:rPr>
              <a:t>o</a:t>
            </a:r>
            <a:r>
              <a:rPr sz="1800" spc="-75" dirty="0">
                <a:latin typeface="Times New Roman"/>
                <a:cs typeface="Times New Roman"/>
              </a:rPr>
              <a:t>d</a:t>
            </a:r>
            <a:r>
              <a:rPr sz="1800" spc="-85" dirty="0">
                <a:latin typeface="Times New Roman"/>
                <a:cs typeface="Times New Roman"/>
              </a:rPr>
              <a:t>ings;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90" dirty="0">
                <a:latin typeface="Times New Roman"/>
                <a:cs typeface="Times New Roman"/>
              </a:rPr>
              <a:t>IEEE802.11: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Frequency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Hopping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(FHSS)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Direct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Sequence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55" dirty="0">
                <a:latin typeface="Times New Roman"/>
                <a:cs typeface="Times New Roman"/>
              </a:rPr>
              <a:t>(DSSS)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49174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TCP/IP</a:t>
            </a:r>
            <a:r>
              <a:rPr sz="4000" spc="-35" dirty="0"/>
              <a:t> </a:t>
            </a:r>
            <a:r>
              <a:rPr sz="4000" spc="-70" dirty="0"/>
              <a:t>model</a:t>
            </a:r>
            <a:r>
              <a:rPr sz="4000" spc="-30" dirty="0"/>
              <a:t> </a:t>
            </a:r>
            <a:r>
              <a:rPr sz="4000" spc="-50" dirty="0"/>
              <a:t>overview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38402"/>
            <a:ext cx="7592695" cy="4433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161925" indent="-274320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30" dirty="0">
                <a:latin typeface="Times New Roman"/>
                <a:cs typeface="Times New Roman"/>
              </a:rPr>
              <a:t>TCP/IP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Times New Roman"/>
                <a:cs typeface="Times New Roman"/>
              </a:rPr>
              <a:t>t</a:t>
            </a:r>
            <a:r>
              <a:rPr sz="2400" spc="-180" dirty="0">
                <a:latin typeface="Times New Roman"/>
                <a:cs typeface="Times New Roman"/>
              </a:rPr>
              <a:t>ha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spc="-280" dirty="0">
                <a:latin typeface="Times New Roman"/>
                <a:cs typeface="Times New Roman"/>
              </a:rPr>
              <a:t>T</a:t>
            </a:r>
            <a:r>
              <a:rPr sz="2400" spc="-85" dirty="0">
                <a:latin typeface="Times New Roman"/>
                <a:cs typeface="Times New Roman"/>
              </a:rPr>
              <a:t>ra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165" dirty="0">
                <a:latin typeface="Times New Roman"/>
                <a:cs typeface="Times New Roman"/>
              </a:rPr>
              <a:t>sm</a:t>
            </a:r>
            <a:r>
              <a:rPr sz="2400" spc="-150" dirty="0">
                <a:latin typeface="Times New Roman"/>
                <a:cs typeface="Times New Roman"/>
              </a:rPr>
              <a:t>issi</a:t>
            </a:r>
            <a:r>
              <a:rPr sz="2400" spc="-105" dirty="0">
                <a:latin typeface="Times New Roman"/>
                <a:cs typeface="Times New Roman"/>
              </a:rPr>
              <a:t>on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Co</a:t>
            </a:r>
            <a:r>
              <a:rPr sz="2400" spc="-95" dirty="0">
                <a:latin typeface="Times New Roman"/>
                <a:cs typeface="Times New Roman"/>
              </a:rPr>
              <a:t>n</a:t>
            </a:r>
            <a:r>
              <a:rPr sz="2400" spc="2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00" dirty="0">
                <a:latin typeface="Times New Roman"/>
                <a:cs typeface="Times New Roman"/>
              </a:rPr>
              <a:t>ol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P</a:t>
            </a:r>
            <a:r>
              <a:rPr sz="2400" spc="-75" dirty="0">
                <a:latin typeface="Times New Roman"/>
                <a:cs typeface="Times New Roman"/>
              </a:rPr>
              <a:t>r</a:t>
            </a:r>
            <a:r>
              <a:rPr sz="2400" spc="-80" dirty="0">
                <a:latin typeface="Times New Roman"/>
                <a:cs typeface="Times New Roman"/>
              </a:rPr>
              <a:t>otoc</a:t>
            </a:r>
            <a:r>
              <a:rPr sz="2400" spc="-90" dirty="0">
                <a:latin typeface="Times New Roman"/>
                <a:cs typeface="Times New Roman"/>
              </a:rPr>
              <a:t>o</a:t>
            </a:r>
            <a:r>
              <a:rPr sz="2400" spc="-95" dirty="0">
                <a:latin typeface="Times New Roman"/>
                <a:cs typeface="Times New Roman"/>
              </a:rPr>
              <a:t>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</a:t>
            </a:r>
            <a:r>
              <a:rPr sz="2400" spc="-140" dirty="0">
                <a:latin typeface="Times New Roman"/>
                <a:cs typeface="Times New Roman"/>
              </a:rPr>
              <a:t>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Inte</a:t>
            </a:r>
            <a:r>
              <a:rPr sz="2400" spc="15" dirty="0">
                <a:latin typeface="Times New Roman"/>
                <a:cs typeface="Times New Roman"/>
              </a:rPr>
              <a:t>r</a:t>
            </a:r>
            <a:r>
              <a:rPr sz="2400" spc="-45" dirty="0">
                <a:latin typeface="Times New Roman"/>
                <a:cs typeface="Times New Roman"/>
              </a:rPr>
              <a:t>net  </a:t>
            </a:r>
            <a:r>
              <a:rPr sz="2400" spc="-70" dirty="0">
                <a:latin typeface="Times New Roman"/>
                <a:cs typeface="Times New Roman"/>
              </a:rPr>
              <a:t>Pr</a:t>
            </a:r>
            <a:r>
              <a:rPr sz="2400" spc="-80" dirty="0">
                <a:latin typeface="Times New Roman"/>
                <a:cs typeface="Times New Roman"/>
              </a:rPr>
              <a:t>otoc</a:t>
            </a:r>
            <a:r>
              <a:rPr sz="2400" spc="-90" dirty="0">
                <a:latin typeface="Times New Roman"/>
                <a:cs typeface="Times New Roman"/>
              </a:rPr>
              <a:t>o</a:t>
            </a:r>
            <a:r>
              <a:rPr sz="2400" spc="-95" dirty="0">
                <a:latin typeface="Times New Roman"/>
                <a:cs typeface="Times New Roman"/>
              </a:rPr>
              <a:t>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w</a:t>
            </a:r>
            <a:r>
              <a:rPr sz="2400" spc="-204" dirty="0">
                <a:latin typeface="Times New Roman"/>
                <a:cs typeface="Times New Roman"/>
              </a:rPr>
              <a:t>a</a:t>
            </a:r>
            <a:r>
              <a:rPr sz="2400" spc="-175" dirty="0">
                <a:latin typeface="Times New Roman"/>
                <a:cs typeface="Times New Roman"/>
              </a:rPr>
              <a:t>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d</a:t>
            </a:r>
            <a:r>
              <a:rPr sz="2400" spc="-140" dirty="0">
                <a:latin typeface="Times New Roman"/>
                <a:cs typeface="Times New Roman"/>
              </a:rPr>
              <a:t>e</a:t>
            </a:r>
            <a:r>
              <a:rPr sz="2400" spc="-254" dirty="0">
                <a:latin typeface="Times New Roman"/>
                <a:cs typeface="Times New Roman"/>
              </a:rPr>
              <a:t>v</a:t>
            </a:r>
            <a:r>
              <a:rPr sz="2400" spc="-95" dirty="0">
                <a:latin typeface="Times New Roman"/>
                <a:cs typeface="Times New Roman"/>
              </a:rPr>
              <a:t>elo</a:t>
            </a:r>
            <a:r>
              <a:rPr sz="2400" spc="-110" dirty="0">
                <a:latin typeface="Times New Roman"/>
                <a:cs typeface="Times New Roman"/>
              </a:rPr>
              <a:t>p</a:t>
            </a:r>
            <a:r>
              <a:rPr sz="2400" spc="-100" dirty="0">
                <a:latin typeface="Times New Roman"/>
                <a:cs typeface="Times New Roman"/>
              </a:rPr>
              <a:t>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75" dirty="0">
                <a:latin typeface="Times New Roman"/>
                <a:cs typeface="Times New Roman"/>
              </a:rPr>
              <a:t>b</a:t>
            </a:r>
            <a:r>
              <a:rPr sz="2400" spc="-200" dirty="0">
                <a:latin typeface="Times New Roman"/>
                <a:cs typeface="Times New Roman"/>
              </a:rPr>
              <a:t>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D</a:t>
            </a:r>
            <a:r>
              <a:rPr sz="2400" spc="-100" dirty="0">
                <a:latin typeface="Times New Roman"/>
                <a:cs typeface="Times New Roman"/>
              </a:rPr>
              <a:t>epa</a:t>
            </a:r>
            <a:r>
              <a:rPr sz="2400" spc="15" dirty="0">
                <a:latin typeface="Times New Roman"/>
                <a:cs typeface="Times New Roman"/>
              </a:rPr>
              <a:t>r</a:t>
            </a:r>
            <a:r>
              <a:rPr sz="2400" spc="-55" dirty="0">
                <a:latin typeface="Times New Roman"/>
                <a:cs typeface="Times New Roman"/>
              </a:rPr>
              <a:t>tment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Def</a:t>
            </a:r>
            <a:r>
              <a:rPr sz="2400" spc="-125" dirty="0">
                <a:latin typeface="Times New Roman"/>
                <a:cs typeface="Times New Roman"/>
              </a:rPr>
              <a:t>e</a:t>
            </a:r>
            <a:r>
              <a:rPr sz="2400" spc="-105" dirty="0">
                <a:latin typeface="Times New Roman"/>
                <a:cs typeface="Times New Roman"/>
              </a:rPr>
              <a:t>nce's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Pr</a:t>
            </a:r>
            <a:r>
              <a:rPr sz="2400" spc="-75" dirty="0">
                <a:latin typeface="Times New Roman"/>
                <a:cs typeface="Times New Roman"/>
              </a:rPr>
              <a:t>oject  </a:t>
            </a:r>
            <a:r>
              <a:rPr sz="2400" spc="-125" dirty="0">
                <a:latin typeface="Times New Roman"/>
                <a:cs typeface="Times New Roman"/>
              </a:rPr>
              <a:t>Research </a:t>
            </a:r>
            <a:r>
              <a:rPr sz="2400" spc="-175" dirty="0">
                <a:latin typeface="Times New Roman"/>
                <a:cs typeface="Times New Roman"/>
              </a:rPr>
              <a:t>Agency </a:t>
            </a:r>
            <a:r>
              <a:rPr sz="2400" spc="-180" dirty="0">
                <a:latin typeface="Times New Roman"/>
                <a:cs typeface="Times New Roman"/>
              </a:rPr>
              <a:t>(ARPA, </a:t>
            </a:r>
            <a:r>
              <a:rPr sz="2400" spc="-70" dirty="0">
                <a:latin typeface="Times New Roman"/>
                <a:cs typeface="Times New Roman"/>
              </a:rPr>
              <a:t>later </a:t>
            </a:r>
            <a:r>
              <a:rPr sz="2400" spc="-240" dirty="0">
                <a:latin typeface="Times New Roman"/>
                <a:cs typeface="Times New Roman"/>
              </a:rPr>
              <a:t>DARPA)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as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part </a:t>
            </a:r>
            <a:r>
              <a:rPr sz="2400" spc="-140" dirty="0">
                <a:latin typeface="Times New Roman"/>
                <a:cs typeface="Times New Roman"/>
              </a:rPr>
              <a:t>of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research 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project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network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interconnection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connect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remote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machines.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20" dirty="0">
                <a:latin typeface="Times New Roman"/>
                <a:cs typeface="Times New Roman"/>
              </a:rPr>
              <a:t>The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features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TCP/IP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reference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model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were:</a:t>
            </a:r>
            <a:endParaRPr sz="2400">
              <a:latin typeface="Times New Roman"/>
              <a:cs typeface="Times New Roman"/>
            </a:endParaRPr>
          </a:p>
          <a:p>
            <a:pPr marL="560705" marR="723265" lvl="1" indent="-228600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1340" algn="l"/>
              </a:tabLst>
            </a:pPr>
            <a:r>
              <a:rPr sz="2200" spc="-85" dirty="0">
                <a:latin typeface="Times New Roman"/>
                <a:cs typeface="Times New Roman"/>
              </a:rPr>
              <a:t>Support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for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75" dirty="0">
                <a:latin typeface="Times New Roman"/>
                <a:cs typeface="Times New Roman"/>
              </a:rPr>
              <a:t>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flexible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imes New Roman"/>
                <a:cs typeface="Times New Roman"/>
              </a:rPr>
              <a:t>architecture.</a:t>
            </a:r>
            <a:r>
              <a:rPr sz="2200" spc="-280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Adding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more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machines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to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75" dirty="0">
                <a:latin typeface="Times New Roman"/>
                <a:cs typeface="Times New Roman"/>
              </a:rPr>
              <a:t>a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net</a:t>
            </a:r>
            <a:r>
              <a:rPr sz="2200" spc="-185" dirty="0">
                <a:latin typeface="Times New Roman"/>
                <a:cs typeface="Times New Roman"/>
              </a:rPr>
              <a:t>w</a:t>
            </a:r>
            <a:r>
              <a:rPr sz="2200" spc="-70" dirty="0">
                <a:latin typeface="Times New Roman"/>
                <a:cs typeface="Times New Roman"/>
              </a:rPr>
              <a:t>ork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50" dirty="0">
                <a:latin typeface="Times New Roman"/>
                <a:cs typeface="Times New Roman"/>
              </a:rPr>
              <a:t>w</a:t>
            </a:r>
            <a:r>
              <a:rPr sz="2200" spc="-190" dirty="0">
                <a:latin typeface="Times New Roman"/>
                <a:cs typeface="Times New Roman"/>
              </a:rPr>
              <a:t>a</a:t>
            </a:r>
            <a:r>
              <a:rPr sz="2200" spc="-165" dirty="0">
                <a:latin typeface="Times New Roman"/>
                <a:cs typeface="Times New Roman"/>
              </a:rPr>
              <a:t>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50" dirty="0">
                <a:latin typeface="Times New Roman"/>
                <a:cs typeface="Times New Roman"/>
              </a:rPr>
              <a:t>ea</a:t>
            </a:r>
            <a:r>
              <a:rPr sz="2200" spc="-145" dirty="0">
                <a:latin typeface="Times New Roman"/>
                <a:cs typeface="Times New Roman"/>
              </a:rPr>
              <a:t>s</a:t>
            </a:r>
            <a:r>
              <a:rPr sz="2200" spc="-405" dirty="0">
                <a:latin typeface="Times New Roman"/>
                <a:cs typeface="Times New Roman"/>
              </a:rPr>
              <a:t>y</a:t>
            </a:r>
            <a:r>
              <a:rPr sz="2200" spc="9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560705" marR="209550" lvl="1" indent="-228600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1340" algn="l"/>
              </a:tabLst>
            </a:pPr>
            <a:r>
              <a:rPr sz="2200" spc="-114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network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70" dirty="0">
                <a:latin typeface="Times New Roman"/>
                <a:cs typeface="Times New Roman"/>
              </a:rPr>
              <a:t>was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imes New Roman"/>
                <a:cs typeface="Times New Roman"/>
              </a:rPr>
              <a:t>robust,</a:t>
            </a:r>
            <a:r>
              <a:rPr sz="2200" spc="-125" dirty="0">
                <a:latin typeface="Times New Roman"/>
                <a:cs typeface="Times New Roman"/>
              </a:rPr>
              <a:t> 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connections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remained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imes New Roman"/>
                <a:cs typeface="Times New Roman"/>
              </a:rPr>
              <a:t>intact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imes New Roman"/>
                <a:cs typeface="Times New Roman"/>
              </a:rPr>
              <a:t>untill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the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source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an</a:t>
            </a:r>
            <a:r>
              <a:rPr sz="2200" spc="-130" dirty="0">
                <a:latin typeface="Times New Roman"/>
                <a:cs typeface="Times New Roman"/>
              </a:rPr>
              <a:t>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des</a:t>
            </a:r>
            <a:r>
              <a:rPr sz="2200" spc="-70" dirty="0">
                <a:latin typeface="Times New Roman"/>
                <a:cs typeface="Times New Roman"/>
              </a:rPr>
              <a:t>t</a:t>
            </a:r>
            <a:r>
              <a:rPr sz="2200" spc="-120" dirty="0">
                <a:latin typeface="Times New Roman"/>
                <a:cs typeface="Times New Roman"/>
              </a:rPr>
              <a:t>in</a:t>
            </a:r>
            <a:r>
              <a:rPr sz="2200" spc="-160" dirty="0">
                <a:latin typeface="Times New Roman"/>
                <a:cs typeface="Times New Roman"/>
              </a:rPr>
              <a:t>a</a:t>
            </a:r>
            <a:r>
              <a:rPr sz="2200" spc="-70" dirty="0">
                <a:latin typeface="Times New Roman"/>
                <a:cs typeface="Times New Roman"/>
              </a:rPr>
              <a:t>tion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0" dirty="0">
                <a:latin typeface="Times New Roman"/>
                <a:cs typeface="Times New Roman"/>
              </a:rPr>
              <a:t>m</a:t>
            </a:r>
            <a:r>
              <a:rPr sz="2200" spc="-114" dirty="0">
                <a:latin typeface="Times New Roman"/>
                <a:cs typeface="Times New Roman"/>
              </a:rPr>
              <a:t>a</a:t>
            </a:r>
            <a:r>
              <a:rPr sz="2200" spc="-95" dirty="0">
                <a:latin typeface="Times New Roman"/>
                <a:cs typeface="Times New Roman"/>
              </a:rPr>
              <a:t>c</a:t>
            </a:r>
            <a:r>
              <a:rPr sz="2200" spc="-120" dirty="0">
                <a:latin typeface="Times New Roman"/>
                <a:cs typeface="Times New Roman"/>
              </a:rPr>
              <a:t>hines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0" dirty="0">
                <a:latin typeface="Times New Roman"/>
                <a:cs typeface="Times New Roman"/>
              </a:rPr>
              <a:t>w</a:t>
            </a:r>
            <a:r>
              <a:rPr sz="2200" spc="-40" dirty="0">
                <a:latin typeface="Times New Roman"/>
                <a:cs typeface="Times New Roman"/>
              </a:rPr>
              <a:t>e</a:t>
            </a:r>
            <a:r>
              <a:rPr sz="2200" spc="-60" dirty="0">
                <a:latin typeface="Times New Roman"/>
                <a:cs typeface="Times New Roman"/>
              </a:rPr>
              <a:t>r</a:t>
            </a:r>
            <a:r>
              <a:rPr sz="2200" spc="-90" dirty="0">
                <a:latin typeface="Times New Roman"/>
                <a:cs typeface="Times New Roman"/>
              </a:rPr>
              <a:t>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func</a:t>
            </a:r>
            <a:r>
              <a:rPr sz="2200" spc="-75" dirty="0">
                <a:latin typeface="Times New Roman"/>
                <a:cs typeface="Times New Roman"/>
              </a:rPr>
              <a:t>t</a:t>
            </a:r>
            <a:r>
              <a:rPr sz="2200" spc="-105" dirty="0">
                <a:latin typeface="Times New Roman"/>
                <a:cs typeface="Times New Roman"/>
              </a:rPr>
              <a:t>ioni</a:t>
            </a:r>
            <a:r>
              <a:rPr sz="2200" spc="-95" dirty="0">
                <a:latin typeface="Times New Roman"/>
                <a:cs typeface="Times New Roman"/>
              </a:rPr>
              <a:t>n</a:t>
            </a:r>
            <a:r>
              <a:rPr sz="2200" spc="-380" dirty="0">
                <a:latin typeface="Times New Roman"/>
                <a:cs typeface="Times New Roman"/>
              </a:rPr>
              <a:t>g</a:t>
            </a:r>
            <a:r>
              <a:rPr sz="2200" spc="9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560705" marR="5080" lvl="1" indent="-228600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1340" algn="l"/>
              </a:tabLst>
            </a:pPr>
            <a:r>
              <a:rPr sz="2200" spc="-114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14" dirty="0">
                <a:latin typeface="Times New Roman"/>
                <a:cs typeface="Times New Roman"/>
              </a:rPr>
              <a:t>overall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idea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70" dirty="0">
                <a:latin typeface="Times New Roman"/>
                <a:cs typeface="Times New Roman"/>
              </a:rPr>
              <a:t>was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allow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one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application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one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imes New Roman"/>
                <a:cs typeface="Times New Roman"/>
              </a:rPr>
              <a:t>computer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talk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to(send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data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packets)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another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application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running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different </a:t>
            </a:r>
            <a:r>
              <a:rPr sz="2200" spc="-80" dirty="0">
                <a:latin typeface="Times New Roman"/>
                <a:cs typeface="Times New Roman"/>
              </a:rPr>
              <a:t> computer.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69900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TCP/IP</a:t>
            </a:r>
            <a:r>
              <a:rPr sz="4000" spc="-25" dirty="0"/>
              <a:t> </a:t>
            </a:r>
            <a:r>
              <a:rPr sz="4000" spc="-30" dirty="0"/>
              <a:t>reference</a:t>
            </a:r>
            <a:r>
              <a:rPr sz="4000" dirty="0"/>
              <a:t> </a:t>
            </a:r>
            <a:r>
              <a:rPr sz="4000" spc="-75" dirty="0"/>
              <a:t>model</a:t>
            </a:r>
            <a:r>
              <a:rPr sz="4000" spc="-15" dirty="0"/>
              <a:t> </a:t>
            </a:r>
            <a:r>
              <a:rPr sz="4000" spc="-75" dirty="0"/>
              <a:t>diagram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3380" y="1626698"/>
            <a:ext cx="2644440" cy="5022884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58369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110" dirty="0">
                <a:latin typeface="Arial"/>
                <a:cs typeface="Arial"/>
              </a:rPr>
              <a:t>1</a:t>
            </a:r>
            <a:r>
              <a:rPr b="1" spc="-300" dirty="0">
                <a:latin typeface="Arial"/>
                <a:cs typeface="Arial"/>
              </a:rPr>
              <a:t>:</a:t>
            </a:r>
            <a:r>
              <a:rPr b="1" spc="-120" dirty="0">
                <a:latin typeface="Arial"/>
                <a:cs typeface="Arial"/>
              </a:rPr>
              <a:t> </a:t>
            </a:r>
            <a:r>
              <a:rPr b="1" spc="-280" dirty="0">
                <a:latin typeface="Arial"/>
                <a:cs typeface="Arial"/>
              </a:rPr>
              <a:t>H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265" dirty="0">
                <a:latin typeface="Arial"/>
                <a:cs typeface="Arial"/>
              </a:rPr>
              <a:t>s</a:t>
            </a:r>
            <a:r>
              <a:rPr b="1" spc="-120" dirty="0">
                <a:latin typeface="Arial"/>
                <a:cs typeface="Arial"/>
              </a:rPr>
              <a:t>t</a:t>
            </a:r>
            <a:r>
              <a:rPr b="1" spc="-300" dirty="0">
                <a:latin typeface="Arial"/>
                <a:cs typeface="Arial"/>
              </a:rPr>
              <a:t>-</a:t>
            </a:r>
            <a:r>
              <a:rPr b="1" spc="-204" dirty="0">
                <a:latin typeface="Arial"/>
                <a:cs typeface="Arial"/>
              </a:rPr>
              <a:t>t</a:t>
            </a:r>
            <a:r>
              <a:rPr b="1" spc="-275" dirty="0">
                <a:latin typeface="Arial"/>
                <a:cs typeface="Arial"/>
              </a:rPr>
              <a:t>o</a:t>
            </a:r>
            <a:r>
              <a:rPr b="1" spc="-300" dirty="0">
                <a:latin typeface="Arial"/>
                <a:cs typeface="Arial"/>
              </a:rPr>
              <a:t>-</a:t>
            </a:r>
            <a:r>
              <a:rPr b="1" spc="-200" dirty="0">
                <a:latin typeface="Arial"/>
                <a:cs typeface="Arial"/>
              </a:rPr>
              <a:t>n</a:t>
            </a:r>
            <a:r>
              <a:rPr b="1" spc="-195" dirty="0">
                <a:latin typeface="Arial"/>
                <a:cs typeface="Arial"/>
              </a:rPr>
              <a:t>e</a:t>
            </a:r>
            <a:r>
              <a:rPr b="1" spc="-155" dirty="0">
                <a:latin typeface="Arial"/>
                <a:cs typeface="Arial"/>
              </a:rPr>
              <a:t>t</a:t>
            </a:r>
            <a:r>
              <a:rPr b="1" spc="-400" dirty="0">
                <a:latin typeface="Arial"/>
                <a:cs typeface="Arial"/>
              </a:rPr>
              <a:t>w</a:t>
            </a:r>
            <a:r>
              <a:rPr b="1" spc="-335" dirty="0">
                <a:latin typeface="Arial"/>
                <a:cs typeface="Arial"/>
              </a:rPr>
              <a:t>o</a:t>
            </a:r>
            <a:r>
              <a:rPr b="1" spc="-240" dirty="0">
                <a:latin typeface="Arial"/>
                <a:cs typeface="Arial"/>
              </a:rPr>
              <a:t>r</a:t>
            </a:r>
            <a:r>
              <a:rPr b="1" spc="-200" dirty="0">
                <a:latin typeface="Arial"/>
                <a:cs typeface="Arial"/>
              </a:rPr>
              <a:t>k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40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358239"/>
            <a:ext cx="7217409" cy="18395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20" dirty="0">
                <a:latin typeface="Times New Roman"/>
                <a:cs typeface="Times New Roman"/>
              </a:rPr>
              <a:t>L</a:t>
            </a:r>
            <a:r>
              <a:rPr sz="2600" spc="-254" dirty="0">
                <a:latin typeface="Times New Roman"/>
                <a:cs typeface="Times New Roman"/>
              </a:rPr>
              <a:t>o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90" dirty="0">
                <a:latin typeface="Times New Roman"/>
                <a:cs typeface="Times New Roman"/>
              </a:rPr>
              <a:t>est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l</a:t>
            </a:r>
            <a:r>
              <a:rPr sz="2600" spc="-285" dirty="0">
                <a:latin typeface="Times New Roman"/>
                <a:cs typeface="Times New Roman"/>
              </a:rPr>
              <a:t>a</a:t>
            </a:r>
            <a:r>
              <a:rPr sz="2600" spc="-260" dirty="0">
                <a:latin typeface="Times New Roman"/>
                <a:cs typeface="Times New Roman"/>
              </a:rPr>
              <a:t>y</a:t>
            </a:r>
            <a:r>
              <a:rPr sz="2600" spc="-35" dirty="0">
                <a:latin typeface="Times New Roman"/>
                <a:cs typeface="Times New Roman"/>
              </a:rPr>
              <a:t>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80" dirty="0">
                <a:latin typeface="Times New Roman"/>
                <a:cs typeface="Times New Roman"/>
              </a:rPr>
              <a:t>all.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90" dirty="0">
                <a:latin typeface="Times New Roman"/>
                <a:cs typeface="Times New Roman"/>
              </a:rPr>
              <a:t>Protocol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used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connect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host,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so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that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packets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c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se</a:t>
            </a:r>
            <a:r>
              <a:rPr sz="2600" spc="-170" dirty="0">
                <a:latin typeface="Times New Roman"/>
                <a:cs typeface="Times New Roman"/>
              </a:rPr>
              <a:t>n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35" dirty="0">
                <a:latin typeface="Times New Roman"/>
                <a:cs typeface="Times New Roman"/>
              </a:rPr>
              <a:t>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i</a:t>
            </a:r>
            <a:r>
              <a:rPr sz="2600" spc="70" dirty="0">
                <a:latin typeface="Times New Roman"/>
                <a:cs typeface="Times New Roman"/>
              </a:rPr>
              <a:t>t.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90" dirty="0">
                <a:latin typeface="Times New Roman"/>
                <a:cs typeface="Times New Roman"/>
              </a:rPr>
              <a:t>Varies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from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host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host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network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0" dirty="0">
                <a:latin typeface="Times New Roman"/>
                <a:cs typeface="Times New Roman"/>
              </a:rPr>
              <a:t> network.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4199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110" dirty="0">
                <a:latin typeface="Arial"/>
                <a:cs typeface="Arial"/>
              </a:rPr>
              <a:t>2</a:t>
            </a:r>
            <a:r>
              <a:rPr b="1" spc="-300" dirty="0">
                <a:latin typeface="Arial"/>
                <a:cs typeface="Arial"/>
              </a:rPr>
              <a:t>:</a:t>
            </a:r>
            <a:r>
              <a:rPr b="1" spc="-120" dirty="0">
                <a:latin typeface="Arial"/>
                <a:cs typeface="Arial"/>
              </a:rPr>
              <a:t> </a:t>
            </a:r>
            <a:r>
              <a:rPr b="1" spc="-100" dirty="0">
                <a:latin typeface="Arial"/>
                <a:cs typeface="Arial"/>
              </a:rPr>
              <a:t>I</a:t>
            </a:r>
            <a:r>
              <a:rPr b="1" spc="-240" dirty="0">
                <a:latin typeface="Arial"/>
                <a:cs typeface="Arial"/>
              </a:rPr>
              <a:t>n</a:t>
            </a:r>
            <a:r>
              <a:rPr b="1" spc="-150" dirty="0">
                <a:latin typeface="Arial"/>
                <a:cs typeface="Arial"/>
              </a:rPr>
              <a:t>t</a:t>
            </a:r>
            <a:r>
              <a:rPr b="1" spc="-180" dirty="0">
                <a:latin typeface="Arial"/>
                <a:cs typeface="Arial"/>
              </a:rPr>
              <a:t>er</a:t>
            </a:r>
            <a:r>
              <a:rPr b="1" spc="-245" dirty="0">
                <a:latin typeface="Arial"/>
                <a:cs typeface="Arial"/>
              </a:rPr>
              <a:t>n</a:t>
            </a:r>
            <a:r>
              <a:rPr b="1" spc="-145" dirty="0">
                <a:latin typeface="Arial"/>
                <a:cs typeface="Arial"/>
              </a:rPr>
              <a:t>e</a:t>
            </a:r>
            <a:r>
              <a:rPr b="1" spc="-95" dirty="0">
                <a:latin typeface="Arial"/>
                <a:cs typeface="Arial"/>
              </a:rPr>
              <a:t>t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170" dirty="0">
                <a:latin typeface="Arial"/>
                <a:cs typeface="Arial"/>
              </a:rPr>
              <a:t>la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539355" cy="3105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7272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0" dirty="0">
                <a:latin typeface="Times New Roman"/>
                <a:cs typeface="Times New Roman"/>
              </a:rPr>
              <a:t>Selection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of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packet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switching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network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which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based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connectionless</a:t>
            </a:r>
            <a:r>
              <a:rPr sz="2600" spc="-75" dirty="0">
                <a:latin typeface="Times New Roman"/>
                <a:cs typeface="Times New Roman"/>
              </a:rPr>
              <a:t> internetwork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layer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is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called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internet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layer.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layer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which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holds</a:t>
            </a:r>
            <a:r>
              <a:rPr sz="2600" spc="-75" dirty="0">
                <a:latin typeface="Times New Roman"/>
                <a:cs typeface="Times New Roman"/>
              </a:rPr>
              <a:t> 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whole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architecture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together.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helps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packet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travel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independently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90" dirty="0">
                <a:latin typeface="Times New Roman"/>
                <a:cs typeface="Times New Roman"/>
              </a:rPr>
              <a:t>destination.</a:t>
            </a:r>
            <a:endParaRPr sz="2600">
              <a:latin typeface="Times New Roman"/>
              <a:cs typeface="Times New Roman"/>
            </a:endParaRPr>
          </a:p>
          <a:p>
            <a:pPr marL="286385" marR="467359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25" dirty="0">
                <a:latin typeface="Times New Roman"/>
                <a:cs typeface="Times New Roman"/>
              </a:rPr>
              <a:t>Order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which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packets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are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received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different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from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w</a:t>
            </a:r>
            <a:r>
              <a:rPr sz="2600" spc="-305" dirty="0">
                <a:latin typeface="Times New Roman"/>
                <a:cs typeface="Times New Roman"/>
              </a:rPr>
              <a:t>a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th</a:t>
            </a:r>
            <a:r>
              <a:rPr sz="2600" spc="-125" dirty="0">
                <a:latin typeface="Times New Roman"/>
                <a:cs typeface="Times New Roman"/>
              </a:rPr>
              <a:t>e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sen</a:t>
            </a:r>
            <a:r>
              <a:rPr sz="2600" spc="-80" dirty="0">
                <a:latin typeface="Times New Roman"/>
                <a:cs typeface="Times New Roman"/>
              </a:rPr>
              <a:t>t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70" dirty="0">
                <a:latin typeface="Times New Roman"/>
                <a:cs typeface="Times New Roman"/>
              </a:rPr>
              <a:t>IP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(Internet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Protocol)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used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this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layer.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4641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110" dirty="0">
                <a:latin typeface="Arial"/>
                <a:cs typeface="Arial"/>
              </a:rPr>
              <a:t>3</a:t>
            </a:r>
            <a:r>
              <a:rPr b="1" spc="-300" dirty="0">
                <a:latin typeface="Arial"/>
                <a:cs typeface="Arial"/>
              </a:rPr>
              <a:t>:</a:t>
            </a:r>
            <a:r>
              <a:rPr b="1" spc="-120" dirty="0">
                <a:latin typeface="Arial"/>
                <a:cs typeface="Arial"/>
              </a:rPr>
              <a:t> </a:t>
            </a:r>
            <a:r>
              <a:rPr b="1" spc="-680" dirty="0">
                <a:latin typeface="Arial"/>
                <a:cs typeface="Arial"/>
              </a:rPr>
              <a:t>T</a:t>
            </a:r>
            <a:r>
              <a:rPr b="1" spc="-210" dirty="0">
                <a:latin typeface="Arial"/>
                <a:cs typeface="Arial"/>
              </a:rPr>
              <a:t>r</a:t>
            </a:r>
            <a:r>
              <a:rPr b="1" spc="-265" dirty="0">
                <a:latin typeface="Arial"/>
                <a:cs typeface="Arial"/>
              </a:rPr>
              <a:t>anspo</a:t>
            </a:r>
            <a:r>
              <a:rPr b="1" spc="-60" dirty="0">
                <a:latin typeface="Arial"/>
                <a:cs typeface="Arial"/>
              </a:rPr>
              <a:t>r</a:t>
            </a:r>
            <a:r>
              <a:rPr b="1" spc="-95" dirty="0">
                <a:latin typeface="Arial"/>
                <a:cs typeface="Arial"/>
              </a:rPr>
              <a:t>t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441565" cy="4370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97485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decides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if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data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transmission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should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parallel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path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single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p</a:t>
            </a:r>
            <a:r>
              <a:rPr sz="2600" spc="-18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th.</a:t>
            </a:r>
            <a:endParaRPr sz="2600">
              <a:latin typeface="Times New Roman"/>
              <a:cs typeface="Times New Roman"/>
            </a:endParaRPr>
          </a:p>
          <a:p>
            <a:pPr marL="286385" marR="22034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90" dirty="0">
                <a:latin typeface="Times New Roman"/>
                <a:cs typeface="Times New Roman"/>
              </a:rPr>
              <a:t>Fu</a:t>
            </a:r>
            <a:r>
              <a:rPr sz="2600" spc="-140" dirty="0">
                <a:latin typeface="Times New Roman"/>
                <a:cs typeface="Times New Roman"/>
              </a:rPr>
              <a:t>nc</a:t>
            </a:r>
            <a:r>
              <a:rPr sz="2600" spc="-70" dirty="0">
                <a:latin typeface="Times New Roman"/>
                <a:cs typeface="Times New Roman"/>
              </a:rPr>
              <a:t>tio</a:t>
            </a:r>
            <a:r>
              <a:rPr sz="2600" spc="-114" dirty="0">
                <a:latin typeface="Times New Roman"/>
                <a:cs typeface="Times New Roman"/>
              </a:rPr>
              <a:t>n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su</a:t>
            </a:r>
            <a:r>
              <a:rPr sz="2600" spc="-120" dirty="0">
                <a:latin typeface="Times New Roman"/>
                <a:cs typeface="Times New Roman"/>
              </a:rPr>
              <a:t>c</a:t>
            </a:r>
            <a:r>
              <a:rPr sz="2600" spc="-160" dirty="0">
                <a:latin typeface="Times New Roman"/>
                <a:cs typeface="Times New Roman"/>
              </a:rPr>
              <a:t>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20" dirty="0">
                <a:latin typeface="Times New Roman"/>
                <a:cs typeface="Times New Roman"/>
              </a:rPr>
              <a:t>a</a:t>
            </a:r>
            <a:r>
              <a:rPr sz="2600" spc="-190" dirty="0">
                <a:latin typeface="Times New Roman"/>
                <a:cs typeface="Times New Roman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m</a:t>
            </a:r>
            <a:r>
              <a:rPr sz="2600" spc="-65" dirty="0">
                <a:latin typeface="Times New Roman"/>
                <a:cs typeface="Times New Roman"/>
              </a:rPr>
              <a:t>ul</a:t>
            </a:r>
            <a:r>
              <a:rPr sz="2600" spc="-60" dirty="0">
                <a:latin typeface="Times New Roman"/>
                <a:cs typeface="Times New Roman"/>
              </a:rPr>
              <a:t>t</a:t>
            </a:r>
            <a:r>
              <a:rPr sz="2600" spc="-105" dirty="0">
                <a:latin typeface="Times New Roman"/>
                <a:cs typeface="Times New Roman"/>
              </a:rPr>
              <a:t>iplexi</a:t>
            </a:r>
            <a:r>
              <a:rPr sz="2600" spc="-150" dirty="0">
                <a:latin typeface="Times New Roman"/>
                <a:cs typeface="Times New Roman"/>
              </a:rPr>
              <a:t>n</a:t>
            </a:r>
            <a:r>
              <a:rPr sz="2600" spc="-260" dirty="0">
                <a:latin typeface="Times New Roman"/>
                <a:cs typeface="Times New Roman"/>
              </a:rPr>
              <a:t>g</a:t>
            </a:r>
            <a:r>
              <a:rPr sz="2600" spc="110" dirty="0">
                <a:latin typeface="Times New Roman"/>
                <a:cs typeface="Times New Roman"/>
              </a:rPr>
              <a:t>,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segme</a:t>
            </a:r>
            <a:r>
              <a:rPr sz="2600" spc="-160" dirty="0">
                <a:latin typeface="Times New Roman"/>
                <a:cs typeface="Times New Roman"/>
              </a:rPr>
              <a:t>n</a:t>
            </a:r>
            <a:r>
              <a:rPr sz="2600" spc="-105" dirty="0">
                <a:latin typeface="Times New Roman"/>
                <a:cs typeface="Times New Roman"/>
              </a:rPr>
              <a:t>ting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splitting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on 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d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85" dirty="0">
                <a:latin typeface="Times New Roman"/>
                <a:cs typeface="Times New Roman"/>
              </a:rPr>
              <a:t>ta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do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b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trans</a:t>
            </a:r>
            <a:r>
              <a:rPr sz="2600" spc="-130" dirty="0">
                <a:latin typeface="Times New Roman"/>
                <a:cs typeface="Times New Roman"/>
              </a:rPr>
              <a:t>p</a:t>
            </a:r>
            <a:r>
              <a:rPr sz="2600" spc="-50" dirty="0">
                <a:latin typeface="Times New Roman"/>
                <a:cs typeface="Times New Roman"/>
              </a:rPr>
              <a:t>o</a:t>
            </a:r>
            <a:r>
              <a:rPr sz="2600" spc="55" dirty="0">
                <a:latin typeface="Times New Roman"/>
                <a:cs typeface="Times New Roman"/>
              </a:rPr>
              <a:t>r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l</a:t>
            </a:r>
            <a:r>
              <a:rPr sz="2600" spc="-310" dirty="0">
                <a:latin typeface="Times New Roman"/>
                <a:cs typeface="Times New Roman"/>
              </a:rPr>
              <a:t>a</a:t>
            </a:r>
            <a:r>
              <a:rPr sz="2600" spc="-260" dirty="0">
                <a:latin typeface="Times New Roman"/>
                <a:cs typeface="Times New Roman"/>
              </a:rPr>
              <a:t>y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195" dirty="0">
                <a:latin typeface="Times New Roman"/>
                <a:cs typeface="Times New Roman"/>
              </a:rPr>
              <a:t>r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0" dirty="0">
                <a:latin typeface="Times New Roman"/>
                <a:cs typeface="Times New Roman"/>
              </a:rPr>
              <a:t>The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applications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can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read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write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transport </a:t>
            </a:r>
            <a:r>
              <a:rPr sz="2600" spc="-145" dirty="0">
                <a:latin typeface="Times New Roman"/>
                <a:cs typeface="Times New Roman"/>
              </a:rPr>
              <a:t>layer.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00" dirty="0">
                <a:latin typeface="Times New Roman"/>
                <a:cs typeface="Times New Roman"/>
              </a:rPr>
              <a:t>Transport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layer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adds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header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information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data.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00" dirty="0">
                <a:latin typeface="Times New Roman"/>
                <a:cs typeface="Times New Roman"/>
              </a:rPr>
              <a:t>Transport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layer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breaks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message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(data)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into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small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units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so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that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they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are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handled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more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efficiently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by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network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layer.</a:t>
            </a:r>
            <a:endParaRPr sz="2600">
              <a:latin typeface="Times New Roman"/>
              <a:cs typeface="Times New Roman"/>
            </a:endParaRPr>
          </a:p>
          <a:p>
            <a:pPr marL="286385" marR="80137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00" dirty="0">
                <a:latin typeface="Times New Roman"/>
                <a:cs typeface="Times New Roman"/>
              </a:rPr>
              <a:t>Transport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layer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also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arrange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packets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to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be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sent,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sequence.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49383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110" dirty="0">
                <a:latin typeface="Arial"/>
                <a:cs typeface="Arial"/>
              </a:rPr>
              <a:t>4</a:t>
            </a:r>
            <a:r>
              <a:rPr b="1" spc="-300" dirty="0">
                <a:latin typeface="Arial"/>
                <a:cs typeface="Arial"/>
              </a:rPr>
              <a:t>:</a:t>
            </a:r>
            <a:r>
              <a:rPr b="1" spc="-120" dirty="0">
                <a:latin typeface="Arial"/>
                <a:cs typeface="Arial"/>
              </a:rPr>
              <a:t> </a:t>
            </a:r>
            <a:r>
              <a:rPr b="1" spc="-665" dirty="0">
                <a:latin typeface="Arial"/>
                <a:cs typeface="Arial"/>
              </a:rPr>
              <a:t>A</a:t>
            </a:r>
            <a:r>
              <a:rPr b="1" spc="-285" dirty="0">
                <a:latin typeface="Arial"/>
                <a:cs typeface="Arial"/>
              </a:rPr>
              <a:t>p</a:t>
            </a:r>
            <a:r>
              <a:rPr b="1" spc="-270" dirty="0">
                <a:latin typeface="Arial"/>
                <a:cs typeface="Arial"/>
              </a:rPr>
              <a:t>p</a:t>
            </a:r>
            <a:r>
              <a:rPr b="1" spc="-175" dirty="0">
                <a:latin typeface="Arial"/>
                <a:cs typeface="Arial"/>
              </a:rPr>
              <a:t>lic</a:t>
            </a:r>
            <a:r>
              <a:rPr b="1" spc="-275" dirty="0">
                <a:latin typeface="Arial"/>
                <a:cs typeface="Arial"/>
              </a:rPr>
              <a:t>a</a:t>
            </a:r>
            <a:r>
              <a:rPr b="1" spc="-145" dirty="0">
                <a:latin typeface="Arial"/>
                <a:cs typeface="Arial"/>
              </a:rPr>
              <a:t>t</a:t>
            </a:r>
            <a:r>
              <a:rPr b="1" spc="-120" dirty="0">
                <a:latin typeface="Arial"/>
                <a:cs typeface="Arial"/>
              </a:rPr>
              <a:t>i</a:t>
            </a:r>
            <a:r>
              <a:rPr b="1" spc="-290" dirty="0">
                <a:latin typeface="Arial"/>
                <a:cs typeface="Arial"/>
              </a:rPr>
              <a:t>on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434" dirty="0">
                <a:latin typeface="Arial"/>
                <a:cs typeface="Arial"/>
              </a:rPr>
              <a:t>L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555" dirty="0">
                <a:latin typeface="Arial"/>
                <a:cs typeface="Arial"/>
              </a:rPr>
              <a:t>y</a:t>
            </a:r>
            <a:r>
              <a:rPr b="1" spc="-175" dirty="0">
                <a:latin typeface="Arial"/>
                <a:cs typeface="Arial"/>
              </a:rPr>
              <a:t>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383538"/>
            <a:ext cx="7586980" cy="420878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 marR="5080">
              <a:lnSpc>
                <a:spcPct val="80100"/>
              </a:lnSpc>
              <a:spcBef>
                <a:spcPts val="670"/>
              </a:spcBef>
            </a:pPr>
            <a:r>
              <a:rPr sz="2400" spc="-120" dirty="0">
                <a:latin typeface="Times New Roman"/>
                <a:cs typeface="Times New Roman"/>
              </a:rPr>
              <a:t>The</a:t>
            </a:r>
            <a:r>
              <a:rPr sz="2400" spc="-36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TCP/IP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specifications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described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lot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applications</a:t>
            </a:r>
            <a:r>
              <a:rPr sz="2400" spc="-75" dirty="0">
                <a:latin typeface="Times New Roman"/>
                <a:cs typeface="Times New Roman"/>
              </a:rPr>
              <a:t> that </a:t>
            </a:r>
            <a:r>
              <a:rPr sz="2400" spc="-105" dirty="0">
                <a:latin typeface="Times New Roman"/>
                <a:cs typeface="Times New Roman"/>
              </a:rPr>
              <a:t>were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at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top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protocol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stack.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Some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them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were</a:t>
            </a:r>
            <a:r>
              <a:rPr sz="2400" spc="-35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TELNET,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FTP, 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240" dirty="0">
                <a:latin typeface="Times New Roman"/>
                <a:cs typeface="Times New Roman"/>
              </a:rPr>
              <a:t>S</a:t>
            </a:r>
            <a:r>
              <a:rPr sz="2400" spc="-390" dirty="0">
                <a:latin typeface="Times New Roman"/>
                <a:cs typeface="Times New Roman"/>
              </a:rPr>
              <a:t>M</a:t>
            </a:r>
            <a:r>
              <a:rPr sz="2400" spc="-114" dirty="0">
                <a:latin typeface="Times New Roman"/>
                <a:cs typeface="Times New Roman"/>
              </a:rPr>
              <a:t>T</a:t>
            </a:r>
            <a:r>
              <a:rPr sz="2400" spc="-545" dirty="0">
                <a:latin typeface="Times New Roman"/>
                <a:cs typeface="Times New Roman"/>
              </a:rPr>
              <a:t>P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D</a:t>
            </a:r>
            <a:r>
              <a:rPr sz="2400" spc="-150" dirty="0">
                <a:latin typeface="Times New Roman"/>
                <a:cs typeface="Times New Roman"/>
              </a:rPr>
              <a:t>N</a:t>
            </a:r>
            <a:r>
              <a:rPr sz="2400" spc="-335" dirty="0">
                <a:latin typeface="Times New Roman"/>
                <a:cs typeface="Times New Roman"/>
              </a:rPr>
              <a:t>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et</a:t>
            </a:r>
            <a:r>
              <a:rPr sz="2400" spc="-105" dirty="0">
                <a:latin typeface="Times New Roman"/>
                <a:cs typeface="Times New Roman"/>
              </a:rPr>
              <a:t>c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 marR="588010" indent="-274320" algn="just">
              <a:lnSpc>
                <a:spcPts val="2300"/>
              </a:lnSpc>
              <a:spcBef>
                <a:spcPts val="58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spc="-190" dirty="0">
                <a:latin typeface="Times New Roman"/>
                <a:cs typeface="Times New Roman"/>
              </a:rPr>
              <a:t>TELNET </a:t>
            </a:r>
            <a:r>
              <a:rPr sz="2400" spc="-150" dirty="0">
                <a:latin typeface="Times New Roman"/>
                <a:cs typeface="Times New Roman"/>
              </a:rPr>
              <a:t>is </a:t>
            </a:r>
            <a:r>
              <a:rPr sz="2400" spc="-190" dirty="0">
                <a:latin typeface="Times New Roman"/>
                <a:cs typeface="Times New Roman"/>
              </a:rPr>
              <a:t>a </a:t>
            </a:r>
            <a:r>
              <a:rPr sz="2400" spc="-140" dirty="0">
                <a:latin typeface="Times New Roman"/>
                <a:cs typeface="Times New Roman"/>
              </a:rPr>
              <a:t>two-way </a:t>
            </a:r>
            <a:r>
              <a:rPr sz="2400" spc="-120" dirty="0">
                <a:latin typeface="Times New Roman"/>
                <a:cs typeface="Times New Roman"/>
              </a:rPr>
              <a:t>communication </a:t>
            </a:r>
            <a:r>
              <a:rPr sz="2400" spc="-75" dirty="0">
                <a:latin typeface="Times New Roman"/>
                <a:cs typeface="Times New Roman"/>
              </a:rPr>
              <a:t>protocol </a:t>
            </a:r>
            <a:r>
              <a:rPr sz="2400" spc="-130" dirty="0">
                <a:latin typeface="Times New Roman"/>
                <a:cs typeface="Times New Roman"/>
              </a:rPr>
              <a:t>which </a:t>
            </a:r>
            <a:r>
              <a:rPr sz="2400" spc="-150" dirty="0">
                <a:latin typeface="Times New Roman"/>
                <a:cs typeface="Times New Roman"/>
              </a:rPr>
              <a:t>allows 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connecting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remote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machine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run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applications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it.</a:t>
            </a:r>
            <a:endParaRPr sz="2400">
              <a:latin typeface="Times New Roman"/>
              <a:cs typeface="Times New Roman"/>
            </a:endParaRPr>
          </a:p>
          <a:p>
            <a:pPr marL="286385" marR="140335" indent="-274320" algn="just">
              <a:lnSpc>
                <a:spcPct val="80000"/>
              </a:lnSpc>
              <a:spcBef>
                <a:spcPts val="6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spc="-135" dirty="0">
                <a:latin typeface="Times New Roman"/>
                <a:cs typeface="Times New Roman"/>
              </a:rPr>
              <a:t>FTP(File </a:t>
            </a:r>
            <a:r>
              <a:rPr sz="2400" spc="-125" dirty="0">
                <a:latin typeface="Times New Roman"/>
                <a:cs typeface="Times New Roman"/>
              </a:rPr>
              <a:t>Transfer </a:t>
            </a:r>
            <a:r>
              <a:rPr sz="2400" spc="-80" dirty="0">
                <a:latin typeface="Times New Roman"/>
                <a:cs typeface="Times New Roman"/>
              </a:rPr>
              <a:t>Protocol) </a:t>
            </a:r>
            <a:r>
              <a:rPr sz="2400" spc="-150" dirty="0">
                <a:latin typeface="Times New Roman"/>
                <a:cs typeface="Times New Roman"/>
              </a:rPr>
              <a:t>is </a:t>
            </a:r>
            <a:r>
              <a:rPr sz="2400" spc="-190" dirty="0">
                <a:latin typeface="Times New Roman"/>
                <a:cs typeface="Times New Roman"/>
              </a:rPr>
              <a:t>a </a:t>
            </a:r>
            <a:r>
              <a:rPr sz="2400" spc="-55" dirty="0">
                <a:latin typeface="Times New Roman"/>
                <a:cs typeface="Times New Roman"/>
              </a:rPr>
              <a:t>protocol, </a:t>
            </a:r>
            <a:r>
              <a:rPr sz="2400" spc="-75" dirty="0">
                <a:latin typeface="Times New Roman"/>
                <a:cs typeface="Times New Roman"/>
              </a:rPr>
              <a:t>that </a:t>
            </a:r>
            <a:r>
              <a:rPr sz="2400" spc="-145" dirty="0">
                <a:latin typeface="Times New Roman"/>
                <a:cs typeface="Times New Roman"/>
              </a:rPr>
              <a:t>allows </a:t>
            </a:r>
            <a:r>
              <a:rPr sz="2400" spc="-135" dirty="0">
                <a:latin typeface="Times New Roman"/>
                <a:cs typeface="Times New Roman"/>
              </a:rPr>
              <a:t>File </a:t>
            </a:r>
            <a:r>
              <a:rPr sz="2400" spc="-85" dirty="0">
                <a:latin typeface="Times New Roman"/>
                <a:cs typeface="Times New Roman"/>
              </a:rPr>
              <a:t>transfer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amongst </a:t>
            </a:r>
            <a:r>
              <a:rPr sz="2400" spc="-80" dirty="0">
                <a:latin typeface="Times New Roman"/>
                <a:cs typeface="Times New Roman"/>
              </a:rPr>
              <a:t>computer </a:t>
            </a:r>
            <a:r>
              <a:rPr sz="2400" spc="-100" dirty="0">
                <a:latin typeface="Times New Roman"/>
                <a:cs typeface="Times New Roman"/>
              </a:rPr>
              <a:t>users </a:t>
            </a:r>
            <a:r>
              <a:rPr sz="2400" spc="-95" dirty="0">
                <a:latin typeface="Times New Roman"/>
                <a:cs typeface="Times New Roman"/>
              </a:rPr>
              <a:t>connected </a:t>
            </a:r>
            <a:r>
              <a:rPr sz="2400" spc="-125" dirty="0">
                <a:latin typeface="Times New Roman"/>
                <a:cs typeface="Times New Roman"/>
              </a:rPr>
              <a:t>over </a:t>
            </a:r>
            <a:r>
              <a:rPr sz="2400" spc="-190" dirty="0">
                <a:latin typeface="Times New Roman"/>
                <a:cs typeface="Times New Roman"/>
              </a:rPr>
              <a:t>a </a:t>
            </a:r>
            <a:r>
              <a:rPr sz="2400" spc="-65" dirty="0">
                <a:latin typeface="Times New Roman"/>
                <a:cs typeface="Times New Roman"/>
              </a:rPr>
              <a:t>network. </a:t>
            </a:r>
            <a:r>
              <a:rPr sz="2400" spc="-75" dirty="0">
                <a:latin typeface="Times New Roman"/>
                <a:cs typeface="Times New Roman"/>
              </a:rPr>
              <a:t>It </a:t>
            </a:r>
            <a:r>
              <a:rPr sz="2400" spc="-150" dirty="0">
                <a:latin typeface="Times New Roman"/>
                <a:cs typeface="Times New Roman"/>
              </a:rPr>
              <a:t>is </a:t>
            </a:r>
            <a:r>
              <a:rPr sz="2400" spc="-90" dirty="0">
                <a:latin typeface="Times New Roman"/>
                <a:cs typeface="Times New Roman"/>
              </a:rPr>
              <a:t>reliable, 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si</a:t>
            </a:r>
            <a:r>
              <a:rPr sz="2400" spc="-155" dirty="0">
                <a:latin typeface="Times New Roman"/>
                <a:cs typeface="Times New Roman"/>
              </a:rPr>
              <a:t>m</a:t>
            </a:r>
            <a:r>
              <a:rPr sz="2400" spc="-95" dirty="0">
                <a:latin typeface="Times New Roman"/>
                <a:cs typeface="Times New Roman"/>
              </a:rPr>
              <a:t>p</a:t>
            </a:r>
            <a:r>
              <a:rPr sz="2400" spc="-75" dirty="0">
                <a:latin typeface="Times New Roman"/>
                <a:cs typeface="Times New Roman"/>
              </a:rPr>
              <a:t>l</a:t>
            </a:r>
            <a:r>
              <a:rPr sz="2400" spc="-114" dirty="0">
                <a:latin typeface="Times New Roman"/>
                <a:cs typeface="Times New Roman"/>
              </a:rPr>
              <a:t>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an</a:t>
            </a:r>
            <a:r>
              <a:rPr sz="2400" spc="-140" dirty="0">
                <a:latin typeface="Times New Roman"/>
                <a:cs typeface="Times New Roman"/>
              </a:rPr>
              <a:t>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efficient.</a:t>
            </a:r>
            <a:endParaRPr sz="2400">
              <a:latin typeface="Times New Roman"/>
              <a:cs typeface="Times New Roman"/>
            </a:endParaRPr>
          </a:p>
          <a:p>
            <a:pPr marL="286385" marR="508000" indent="-274320">
              <a:lnSpc>
                <a:spcPts val="2300"/>
              </a:lnSpc>
              <a:spcBef>
                <a:spcPts val="58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240" dirty="0">
                <a:latin typeface="Times New Roman"/>
                <a:cs typeface="Times New Roman"/>
              </a:rPr>
              <a:t>S</a:t>
            </a:r>
            <a:r>
              <a:rPr sz="2400" spc="-390" dirty="0">
                <a:latin typeface="Times New Roman"/>
                <a:cs typeface="Times New Roman"/>
              </a:rPr>
              <a:t>M</a:t>
            </a:r>
            <a:r>
              <a:rPr sz="2400" spc="-120" dirty="0">
                <a:latin typeface="Times New Roman"/>
                <a:cs typeface="Times New Roman"/>
              </a:rPr>
              <a:t>TP</a:t>
            </a:r>
            <a:r>
              <a:rPr sz="2400" spc="-65" dirty="0">
                <a:latin typeface="Times New Roman"/>
                <a:cs typeface="Times New Roman"/>
              </a:rPr>
              <a:t>(</a:t>
            </a:r>
            <a:r>
              <a:rPr sz="2400" spc="-150" dirty="0">
                <a:latin typeface="Times New Roman"/>
                <a:cs typeface="Times New Roman"/>
              </a:rPr>
              <a:t>Simple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Mail</a:t>
            </a:r>
            <a:r>
              <a:rPr sz="2400" spc="-350" dirty="0">
                <a:latin typeface="Times New Roman"/>
                <a:cs typeface="Times New Roman"/>
              </a:rPr>
              <a:t> </a:t>
            </a:r>
            <a:r>
              <a:rPr sz="2400" spc="-280" dirty="0">
                <a:latin typeface="Times New Roman"/>
                <a:cs typeface="Times New Roman"/>
              </a:rPr>
              <a:t>T</a:t>
            </a:r>
            <a:r>
              <a:rPr sz="2400" spc="-85" dirty="0">
                <a:latin typeface="Times New Roman"/>
                <a:cs typeface="Times New Roman"/>
              </a:rPr>
              <a:t>ra</a:t>
            </a:r>
            <a:r>
              <a:rPr sz="2400" spc="-105" dirty="0">
                <a:latin typeface="Times New Roman"/>
                <a:cs typeface="Times New Roman"/>
              </a:rPr>
              <a:t>n</a:t>
            </a:r>
            <a:r>
              <a:rPr sz="2400" spc="-125" dirty="0">
                <a:latin typeface="Times New Roman"/>
                <a:cs typeface="Times New Roman"/>
              </a:rPr>
              <a:t>s</a:t>
            </a:r>
            <a:r>
              <a:rPr sz="2400" spc="-155" dirty="0">
                <a:latin typeface="Times New Roman"/>
                <a:cs typeface="Times New Roman"/>
              </a:rPr>
              <a:t>p</a:t>
            </a:r>
            <a:r>
              <a:rPr sz="2400" spc="-45" dirty="0">
                <a:latin typeface="Times New Roman"/>
                <a:cs typeface="Times New Roman"/>
              </a:rPr>
              <a:t>o</a:t>
            </a:r>
            <a:r>
              <a:rPr sz="2400" spc="55" dirty="0">
                <a:latin typeface="Times New Roman"/>
                <a:cs typeface="Times New Roman"/>
              </a:rPr>
              <a:t>r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Pr</a:t>
            </a:r>
            <a:r>
              <a:rPr sz="2400" spc="-80" dirty="0">
                <a:latin typeface="Times New Roman"/>
                <a:cs typeface="Times New Roman"/>
              </a:rPr>
              <a:t>otoc</a:t>
            </a:r>
            <a:r>
              <a:rPr sz="2400" spc="-90" dirty="0">
                <a:latin typeface="Times New Roman"/>
                <a:cs typeface="Times New Roman"/>
              </a:rPr>
              <a:t>o</a:t>
            </a:r>
            <a:r>
              <a:rPr sz="2400" spc="-70" dirty="0">
                <a:latin typeface="Times New Roman"/>
                <a:cs typeface="Times New Roman"/>
              </a:rPr>
              <a:t>l</a:t>
            </a:r>
            <a:r>
              <a:rPr sz="2400" spc="-80" dirty="0">
                <a:latin typeface="Times New Roman"/>
                <a:cs typeface="Times New Roman"/>
              </a:rPr>
              <a:t>)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is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p</a:t>
            </a:r>
            <a:r>
              <a:rPr sz="2400" spc="-50" dirty="0">
                <a:latin typeface="Times New Roman"/>
                <a:cs typeface="Times New Roman"/>
              </a:rPr>
              <a:t>r</a:t>
            </a:r>
            <a:r>
              <a:rPr sz="2400" spc="-80" dirty="0">
                <a:latin typeface="Times New Roman"/>
                <a:cs typeface="Times New Roman"/>
              </a:rPr>
              <a:t>otoc</a:t>
            </a:r>
            <a:r>
              <a:rPr sz="2400" spc="-90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l</a:t>
            </a:r>
            <a:r>
              <a:rPr sz="2400" spc="5" dirty="0">
                <a:latin typeface="Times New Roman"/>
                <a:cs typeface="Times New Roman"/>
              </a:rPr>
              <a:t>,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whi</a:t>
            </a:r>
            <a:r>
              <a:rPr sz="2400" spc="-80" dirty="0">
                <a:latin typeface="Times New Roman"/>
                <a:cs typeface="Times New Roman"/>
              </a:rPr>
              <a:t>c</a:t>
            </a:r>
            <a:r>
              <a:rPr sz="2400" spc="-150" dirty="0">
                <a:latin typeface="Times New Roman"/>
                <a:cs typeface="Times New Roman"/>
              </a:rPr>
              <a:t>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is  </a:t>
            </a:r>
            <a:r>
              <a:rPr sz="2400" spc="-160" dirty="0">
                <a:latin typeface="Times New Roman"/>
                <a:cs typeface="Times New Roman"/>
              </a:rPr>
              <a:t>u</a:t>
            </a:r>
            <a:r>
              <a:rPr sz="2400" spc="-120" dirty="0">
                <a:latin typeface="Times New Roman"/>
                <a:cs typeface="Times New Roman"/>
              </a:rPr>
              <a:t>s</a:t>
            </a:r>
            <a:r>
              <a:rPr sz="2400" spc="-100" dirty="0">
                <a:latin typeface="Times New Roman"/>
                <a:cs typeface="Times New Roman"/>
              </a:rPr>
              <a:t>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trans</a:t>
            </a:r>
            <a:r>
              <a:rPr sz="2400" spc="-105" dirty="0">
                <a:latin typeface="Times New Roman"/>
                <a:cs typeface="Times New Roman"/>
              </a:rPr>
              <a:t>p</a:t>
            </a:r>
            <a:r>
              <a:rPr sz="2400" spc="-100" dirty="0">
                <a:latin typeface="Times New Roman"/>
                <a:cs typeface="Times New Roman"/>
              </a:rPr>
              <a:t>o</a:t>
            </a:r>
            <a:r>
              <a:rPr sz="2400" spc="105" dirty="0">
                <a:latin typeface="Times New Roman"/>
                <a:cs typeface="Times New Roman"/>
              </a:rPr>
              <a:t>r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elec</a:t>
            </a:r>
            <a:r>
              <a:rPr sz="2400" spc="-7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n</a:t>
            </a:r>
            <a:r>
              <a:rPr sz="2400" spc="-130" dirty="0">
                <a:latin typeface="Times New Roman"/>
                <a:cs typeface="Times New Roman"/>
              </a:rPr>
              <a:t>ic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ma</a:t>
            </a:r>
            <a:r>
              <a:rPr sz="2400" spc="-85" dirty="0">
                <a:latin typeface="Times New Roman"/>
                <a:cs typeface="Times New Roman"/>
              </a:rPr>
              <a:t>i</a:t>
            </a:r>
            <a:r>
              <a:rPr sz="2400" spc="-95" dirty="0">
                <a:latin typeface="Times New Roman"/>
                <a:cs typeface="Times New Roman"/>
              </a:rPr>
              <a:t>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bet</a:t>
            </a:r>
            <a:r>
              <a:rPr sz="2400" spc="-215" dirty="0">
                <a:latin typeface="Times New Roman"/>
                <a:cs typeface="Times New Roman"/>
              </a:rPr>
              <a:t>w</a:t>
            </a:r>
            <a:r>
              <a:rPr sz="2400" spc="-95" dirty="0">
                <a:latin typeface="Times New Roman"/>
                <a:cs typeface="Times New Roman"/>
              </a:rPr>
              <a:t>een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s</a:t>
            </a:r>
            <a:r>
              <a:rPr sz="2400" spc="-155" dirty="0">
                <a:latin typeface="Times New Roman"/>
                <a:cs typeface="Times New Roman"/>
              </a:rPr>
              <a:t>o</a:t>
            </a:r>
            <a:r>
              <a:rPr sz="2400" spc="-75" dirty="0">
                <a:latin typeface="Times New Roman"/>
                <a:cs typeface="Times New Roman"/>
              </a:rPr>
              <a:t>urc</a:t>
            </a:r>
            <a:r>
              <a:rPr sz="2400" spc="-95" dirty="0">
                <a:latin typeface="Times New Roman"/>
                <a:cs typeface="Times New Roman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and  </a:t>
            </a:r>
            <a:r>
              <a:rPr sz="2400" spc="-125" dirty="0">
                <a:latin typeface="Times New Roman"/>
                <a:cs typeface="Times New Roman"/>
              </a:rPr>
              <a:t>des</a:t>
            </a:r>
            <a:r>
              <a:rPr sz="2400" spc="-90" dirty="0">
                <a:latin typeface="Times New Roman"/>
                <a:cs typeface="Times New Roman"/>
              </a:rPr>
              <a:t>tin</a:t>
            </a:r>
            <a:r>
              <a:rPr sz="2400" spc="-14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tion,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di</a:t>
            </a:r>
            <a:r>
              <a:rPr sz="2400" spc="-75" dirty="0">
                <a:latin typeface="Times New Roman"/>
                <a:cs typeface="Times New Roman"/>
              </a:rPr>
              <a:t>r</a:t>
            </a:r>
            <a:r>
              <a:rPr sz="2400" spc="-80" dirty="0">
                <a:latin typeface="Times New Roman"/>
                <a:cs typeface="Times New Roman"/>
              </a:rPr>
              <a:t>ec</a:t>
            </a:r>
            <a:r>
              <a:rPr sz="2400" spc="-60" dirty="0">
                <a:latin typeface="Times New Roman"/>
                <a:cs typeface="Times New Roman"/>
              </a:rPr>
              <a:t>t</a:t>
            </a:r>
            <a:r>
              <a:rPr sz="2400" spc="-100" dirty="0">
                <a:latin typeface="Times New Roman"/>
                <a:cs typeface="Times New Roman"/>
              </a:rPr>
              <a:t>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via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00" dirty="0">
                <a:latin typeface="Times New Roman"/>
                <a:cs typeface="Times New Roman"/>
              </a:rPr>
              <a:t>u</a:t>
            </a:r>
            <a:r>
              <a:rPr sz="2400" spc="-25" dirty="0">
                <a:latin typeface="Times New Roman"/>
                <a:cs typeface="Times New Roman"/>
              </a:rPr>
              <a:t>t</a:t>
            </a:r>
            <a:r>
              <a:rPr sz="2400" spc="-100" dirty="0">
                <a:latin typeface="Times New Roman"/>
                <a:cs typeface="Times New Roman"/>
              </a:rPr>
              <a:t>e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ts val="2590"/>
              </a:lnSpc>
              <a:spcBef>
                <a:spcPts val="5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145" dirty="0">
                <a:latin typeface="Times New Roman"/>
                <a:cs typeface="Times New Roman"/>
              </a:rPr>
              <a:t>DNS(Domain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Name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Server)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resolves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an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IP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address</a:t>
            </a:r>
            <a:r>
              <a:rPr sz="2400" spc="-75" dirty="0">
                <a:latin typeface="Times New Roman"/>
                <a:cs typeface="Times New Roman"/>
              </a:rPr>
              <a:t> into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textual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ts val="2590"/>
              </a:lnSpc>
            </a:pPr>
            <a:r>
              <a:rPr sz="2400" spc="-135" dirty="0">
                <a:latin typeface="Times New Roman"/>
                <a:cs typeface="Times New Roman"/>
              </a:rPr>
              <a:t>add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55" dirty="0">
                <a:latin typeface="Times New Roman"/>
                <a:cs typeface="Times New Roman"/>
              </a:rPr>
              <a:t>ess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for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H</a:t>
            </a:r>
            <a:r>
              <a:rPr sz="2400" spc="-160" dirty="0">
                <a:latin typeface="Times New Roman"/>
                <a:cs typeface="Times New Roman"/>
              </a:rPr>
              <a:t>o</a:t>
            </a:r>
            <a:r>
              <a:rPr sz="2400" spc="-120" dirty="0">
                <a:latin typeface="Times New Roman"/>
                <a:cs typeface="Times New Roman"/>
              </a:rPr>
              <a:t>s</a:t>
            </a:r>
            <a:r>
              <a:rPr sz="2400" spc="-75" dirty="0">
                <a:latin typeface="Times New Roman"/>
                <a:cs typeface="Times New Roman"/>
              </a:rPr>
              <a:t>ts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con</a:t>
            </a:r>
            <a:r>
              <a:rPr sz="2400" spc="-85" dirty="0">
                <a:latin typeface="Times New Roman"/>
                <a:cs typeface="Times New Roman"/>
              </a:rPr>
              <a:t>nected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75" dirty="0">
                <a:latin typeface="Times New Roman"/>
                <a:cs typeface="Times New Roman"/>
              </a:rPr>
              <a:t>o</a:t>
            </a:r>
            <a:r>
              <a:rPr sz="2400" spc="-254" dirty="0">
                <a:latin typeface="Times New Roman"/>
                <a:cs typeface="Times New Roman"/>
              </a:rPr>
              <a:t>v</a:t>
            </a:r>
            <a:r>
              <a:rPr sz="2400" spc="-35" dirty="0">
                <a:latin typeface="Times New Roman"/>
                <a:cs typeface="Times New Roman"/>
              </a:rPr>
              <a:t>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net</a:t>
            </a:r>
            <a:r>
              <a:rPr sz="2400" spc="-204" dirty="0">
                <a:latin typeface="Times New Roman"/>
                <a:cs typeface="Times New Roman"/>
              </a:rPr>
              <a:t>w</a:t>
            </a:r>
            <a:r>
              <a:rPr sz="2400" spc="-70" dirty="0">
                <a:latin typeface="Times New Roman"/>
                <a:cs typeface="Times New Roman"/>
              </a:rPr>
              <a:t>or</a:t>
            </a:r>
            <a:r>
              <a:rPr sz="2400" spc="-80" dirty="0">
                <a:latin typeface="Times New Roman"/>
                <a:cs typeface="Times New Roman"/>
              </a:rPr>
              <a:t>k</a:t>
            </a:r>
            <a:r>
              <a:rPr sz="2400" spc="1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44672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80" dirty="0">
                <a:latin typeface="Arial"/>
                <a:cs typeface="Arial"/>
              </a:rPr>
              <a:t>M</a:t>
            </a:r>
            <a:r>
              <a:rPr b="1" spc="-204" dirty="0">
                <a:latin typeface="Arial"/>
                <a:cs typeface="Arial"/>
              </a:rPr>
              <a:t>e</a:t>
            </a:r>
            <a:r>
              <a:rPr b="1" spc="-130" dirty="0">
                <a:latin typeface="Arial"/>
                <a:cs typeface="Arial"/>
              </a:rPr>
              <a:t>r</a:t>
            </a:r>
            <a:r>
              <a:rPr b="1" spc="-165" dirty="0">
                <a:latin typeface="Arial"/>
                <a:cs typeface="Arial"/>
              </a:rPr>
              <a:t>it</a:t>
            </a:r>
            <a:r>
              <a:rPr b="1" spc="-285" dirty="0">
                <a:latin typeface="Arial"/>
                <a:cs typeface="Arial"/>
              </a:rPr>
              <a:t>s</a:t>
            </a:r>
            <a:r>
              <a:rPr b="1" spc="-135" dirty="0">
                <a:latin typeface="Arial"/>
                <a:cs typeface="Arial"/>
              </a:rPr>
              <a:t> 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120" dirty="0">
                <a:latin typeface="Arial"/>
                <a:cs typeface="Arial"/>
              </a:rPr>
              <a:t>f </a:t>
            </a:r>
            <a:r>
              <a:rPr b="1" spc="-540" dirty="0">
                <a:latin typeface="Arial"/>
                <a:cs typeface="Arial"/>
              </a:rPr>
              <a:t>T</a:t>
            </a:r>
            <a:r>
              <a:rPr b="1" spc="-505" dirty="0">
                <a:latin typeface="Arial"/>
                <a:cs typeface="Arial"/>
              </a:rPr>
              <a:t>C</a:t>
            </a:r>
            <a:r>
              <a:rPr b="1" spc="-60" dirty="0">
                <a:latin typeface="Arial"/>
                <a:cs typeface="Arial"/>
              </a:rPr>
              <a:t>P/I</a:t>
            </a:r>
            <a:r>
              <a:rPr b="1" spc="-90" dirty="0">
                <a:latin typeface="Arial"/>
                <a:cs typeface="Arial"/>
              </a:rPr>
              <a:t>P</a:t>
            </a:r>
            <a:r>
              <a:rPr b="1" spc="-135" dirty="0">
                <a:latin typeface="Arial"/>
                <a:cs typeface="Arial"/>
              </a:rPr>
              <a:t> </a:t>
            </a:r>
            <a:r>
              <a:rPr b="1" spc="-360" dirty="0">
                <a:latin typeface="Arial"/>
                <a:cs typeface="Arial"/>
              </a:rPr>
              <a:t>m</a:t>
            </a:r>
            <a:r>
              <a:rPr b="1" spc="-229" dirty="0">
                <a:latin typeface="Arial"/>
                <a:cs typeface="Arial"/>
              </a:rPr>
              <a:t>o</a:t>
            </a:r>
            <a:r>
              <a:rPr b="1" spc="-254" dirty="0">
                <a:latin typeface="Arial"/>
                <a:cs typeface="Arial"/>
              </a:rPr>
              <a:t>d</a:t>
            </a:r>
            <a:r>
              <a:rPr b="1" spc="-155" dirty="0">
                <a:latin typeface="Arial"/>
                <a:cs typeface="Arial"/>
              </a:rPr>
              <a:t>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358239"/>
            <a:ext cx="6333490" cy="27844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p</a:t>
            </a:r>
            <a:r>
              <a:rPr sz="2600" spc="-90" dirty="0">
                <a:latin typeface="Times New Roman"/>
                <a:cs typeface="Times New Roman"/>
              </a:rPr>
              <a:t>er</a:t>
            </a:r>
            <a:r>
              <a:rPr sz="2600" spc="-125" dirty="0">
                <a:latin typeface="Times New Roman"/>
                <a:cs typeface="Times New Roman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ted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inde</a:t>
            </a:r>
            <a:r>
              <a:rPr sz="2600" spc="-140" dirty="0">
                <a:latin typeface="Times New Roman"/>
                <a:cs typeface="Times New Roman"/>
              </a:rPr>
              <a:t>p</a:t>
            </a:r>
            <a:r>
              <a:rPr sz="2600" spc="-105" dirty="0">
                <a:latin typeface="Times New Roman"/>
                <a:cs typeface="Times New Roman"/>
              </a:rPr>
              <a:t>en</a:t>
            </a:r>
            <a:r>
              <a:rPr sz="2600" spc="-120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en</a:t>
            </a:r>
            <a:r>
              <a:rPr sz="2600" spc="-50" dirty="0">
                <a:latin typeface="Times New Roman"/>
                <a:cs typeface="Times New Roman"/>
              </a:rPr>
              <a:t>t</a:t>
            </a:r>
            <a:r>
              <a:rPr sz="2600" spc="-155" dirty="0">
                <a:latin typeface="Times New Roman"/>
                <a:cs typeface="Times New Roman"/>
              </a:rPr>
              <a:t>l</a:t>
            </a:r>
            <a:r>
              <a:rPr sz="2600" spc="-490" dirty="0">
                <a:latin typeface="Times New Roman"/>
                <a:cs typeface="Times New Roman"/>
              </a:rPr>
              <a:t>y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s</a:t>
            </a:r>
            <a:r>
              <a:rPr sz="2600" spc="-204" dirty="0">
                <a:latin typeface="Times New Roman"/>
                <a:cs typeface="Times New Roman"/>
              </a:rPr>
              <a:t>c</a:t>
            </a:r>
            <a:r>
              <a:rPr sz="2600" spc="-155" dirty="0">
                <a:latin typeface="Times New Roman"/>
                <a:cs typeface="Times New Roman"/>
              </a:rPr>
              <a:t>ala</a:t>
            </a:r>
            <a:r>
              <a:rPr sz="2600" spc="-240" dirty="0">
                <a:latin typeface="Times New Roman"/>
                <a:cs typeface="Times New Roman"/>
              </a:rPr>
              <a:t>b</a:t>
            </a:r>
            <a:r>
              <a:rPr sz="2600" spc="-80" dirty="0">
                <a:latin typeface="Times New Roman"/>
                <a:cs typeface="Times New Roman"/>
              </a:rPr>
              <a:t>l</a:t>
            </a:r>
            <a:r>
              <a:rPr sz="2600" spc="-175" dirty="0">
                <a:latin typeface="Times New Roman"/>
                <a:cs typeface="Times New Roman"/>
              </a:rPr>
              <a:t>e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5" dirty="0">
                <a:latin typeface="Times New Roman"/>
                <a:cs typeface="Times New Roman"/>
              </a:rPr>
              <a:t>Client/server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architecture.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0" dirty="0">
                <a:latin typeface="Times New Roman"/>
                <a:cs typeface="Times New Roman"/>
              </a:rPr>
              <a:t>Supports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number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routing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protocols.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5" dirty="0">
                <a:latin typeface="Times New Roman"/>
                <a:cs typeface="Times New Roman"/>
              </a:rPr>
              <a:t>Can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used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establish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connection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between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two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computers.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36937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29" dirty="0">
                <a:latin typeface="Arial"/>
                <a:cs typeface="Arial"/>
              </a:rPr>
              <a:t>D</a:t>
            </a:r>
            <a:r>
              <a:rPr b="1" spc="-165" dirty="0">
                <a:latin typeface="Arial"/>
                <a:cs typeface="Arial"/>
              </a:rPr>
              <a:t>e</a:t>
            </a:r>
            <a:r>
              <a:rPr b="1" spc="-250" dirty="0">
                <a:latin typeface="Arial"/>
                <a:cs typeface="Arial"/>
              </a:rPr>
              <a:t>m</a:t>
            </a:r>
            <a:r>
              <a:rPr b="1" spc="-145" dirty="0">
                <a:latin typeface="Arial"/>
                <a:cs typeface="Arial"/>
              </a:rPr>
              <a:t>e</a:t>
            </a:r>
            <a:r>
              <a:rPr b="1" spc="-204" dirty="0">
                <a:latin typeface="Arial"/>
                <a:cs typeface="Arial"/>
              </a:rPr>
              <a:t>rits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120" dirty="0">
                <a:latin typeface="Arial"/>
                <a:cs typeface="Arial"/>
              </a:rPr>
              <a:t>f </a:t>
            </a:r>
            <a:r>
              <a:rPr b="1" spc="-540" dirty="0">
                <a:latin typeface="Arial"/>
                <a:cs typeface="Arial"/>
              </a:rPr>
              <a:t>T</a:t>
            </a:r>
            <a:r>
              <a:rPr b="1" spc="-505" dirty="0">
                <a:latin typeface="Arial"/>
                <a:cs typeface="Arial"/>
              </a:rPr>
              <a:t>C</a:t>
            </a:r>
            <a:r>
              <a:rPr b="1" spc="165" dirty="0">
                <a:latin typeface="Arial"/>
                <a:cs typeface="Arial"/>
              </a:rPr>
              <a:t>P</a:t>
            </a:r>
            <a:r>
              <a:rPr b="1" spc="80" dirty="0">
                <a:latin typeface="Arial"/>
                <a:cs typeface="Arial"/>
              </a:rPr>
              <a:t>/</a:t>
            </a:r>
            <a:r>
              <a:rPr b="1" spc="-245" dirty="0">
                <a:latin typeface="Arial"/>
                <a:cs typeface="Arial"/>
              </a:rPr>
              <a:t>IP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058659" cy="2632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0" dirty="0">
                <a:latin typeface="Times New Roman"/>
                <a:cs typeface="Times New Roman"/>
              </a:rPr>
              <a:t>In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this,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25" dirty="0">
                <a:latin typeface="Times New Roman"/>
                <a:cs typeface="Times New Roman"/>
              </a:rPr>
              <a:t>t</a:t>
            </a:r>
            <a:r>
              <a:rPr sz="2600" spc="-120" dirty="0">
                <a:latin typeface="Times New Roman"/>
                <a:cs typeface="Times New Roman"/>
              </a:rPr>
              <a:t>ransp</a:t>
            </a:r>
            <a:r>
              <a:rPr sz="2600" spc="-145" dirty="0">
                <a:latin typeface="Times New Roman"/>
                <a:cs typeface="Times New Roman"/>
              </a:rPr>
              <a:t>o</a:t>
            </a:r>
            <a:r>
              <a:rPr sz="2600" spc="125" dirty="0">
                <a:latin typeface="Times New Roman"/>
                <a:cs typeface="Times New Roman"/>
              </a:rPr>
              <a:t>r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l</a:t>
            </a:r>
            <a:r>
              <a:rPr sz="2600" spc="-310" dirty="0">
                <a:latin typeface="Times New Roman"/>
                <a:cs typeface="Times New Roman"/>
              </a:rPr>
              <a:t>a</a:t>
            </a:r>
            <a:r>
              <a:rPr sz="2600" spc="-260" dirty="0">
                <a:latin typeface="Times New Roman"/>
                <a:cs typeface="Times New Roman"/>
              </a:rPr>
              <a:t>y</a:t>
            </a:r>
            <a:r>
              <a:rPr sz="2600" spc="-35" dirty="0">
                <a:latin typeface="Times New Roman"/>
                <a:cs typeface="Times New Roman"/>
              </a:rPr>
              <a:t>er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-150" dirty="0">
                <a:latin typeface="Times New Roman"/>
                <a:cs typeface="Times New Roman"/>
              </a:rPr>
              <a:t>es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Times New Roman"/>
                <a:cs typeface="Times New Roman"/>
              </a:rPr>
              <a:t>g</a:t>
            </a:r>
            <a:r>
              <a:rPr sz="2600" spc="-114" dirty="0">
                <a:latin typeface="Times New Roman"/>
                <a:cs typeface="Times New Roman"/>
              </a:rPr>
              <a:t>uara</a:t>
            </a:r>
            <a:r>
              <a:rPr sz="2600" spc="-150" dirty="0">
                <a:latin typeface="Times New Roman"/>
                <a:cs typeface="Times New Roman"/>
              </a:rPr>
              <a:t>n</a:t>
            </a:r>
            <a:r>
              <a:rPr sz="2600" spc="-55" dirty="0">
                <a:latin typeface="Times New Roman"/>
                <a:cs typeface="Times New Roman"/>
              </a:rPr>
              <a:t>tee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deli</a:t>
            </a:r>
            <a:r>
              <a:rPr sz="2600" spc="-215" dirty="0">
                <a:latin typeface="Times New Roman"/>
                <a:cs typeface="Times New Roman"/>
              </a:rPr>
              <a:t>v</a:t>
            </a:r>
            <a:r>
              <a:rPr sz="2600" spc="-4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o</a:t>
            </a:r>
            <a:r>
              <a:rPr sz="2600" spc="-160" dirty="0">
                <a:latin typeface="Times New Roman"/>
                <a:cs typeface="Times New Roman"/>
              </a:rPr>
              <a:t>f  </a:t>
            </a:r>
            <a:r>
              <a:rPr sz="2600" spc="-105" dirty="0">
                <a:latin typeface="Times New Roman"/>
                <a:cs typeface="Times New Roman"/>
              </a:rPr>
              <a:t>packets.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0" dirty="0">
                <a:latin typeface="Times New Roman"/>
                <a:cs typeface="Times New Roman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model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cannot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used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any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other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application.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45" dirty="0">
                <a:latin typeface="Times New Roman"/>
                <a:cs typeface="Times New Roman"/>
              </a:rPr>
              <a:t>Repla</a:t>
            </a:r>
            <a:r>
              <a:rPr sz="2600" spc="-150" dirty="0">
                <a:latin typeface="Times New Roman"/>
                <a:cs typeface="Times New Roman"/>
              </a:rPr>
              <a:t>cing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p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45" dirty="0">
                <a:latin typeface="Times New Roman"/>
                <a:cs typeface="Times New Roman"/>
              </a:rPr>
              <a:t>o</a:t>
            </a:r>
            <a:r>
              <a:rPr sz="2600" spc="-35" dirty="0">
                <a:latin typeface="Times New Roman"/>
                <a:cs typeface="Times New Roman"/>
              </a:rPr>
              <a:t>t</a:t>
            </a:r>
            <a:r>
              <a:rPr sz="2600" spc="-140" dirty="0">
                <a:latin typeface="Times New Roman"/>
                <a:cs typeface="Times New Roman"/>
              </a:rPr>
              <a:t>oc</a:t>
            </a:r>
            <a:r>
              <a:rPr sz="2600" spc="-105" dirty="0">
                <a:latin typeface="Times New Roman"/>
                <a:cs typeface="Times New Roman"/>
              </a:rPr>
              <a:t>ol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not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eas</a:t>
            </a:r>
            <a:r>
              <a:rPr sz="2600" spc="-490" dirty="0">
                <a:latin typeface="Times New Roman"/>
                <a:cs typeface="Times New Roman"/>
              </a:rPr>
              <a:t>y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44577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0" dirty="0">
                <a:latin typeface="Times New Roman"/>
                <a:cs typeface="Times New Roman"/>
              </a:rPr>
              <a:t>has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cl</a:t>
            </a:r>
            <a:r>
              <a:rPr sz="2600" spc="-145" dirty="0">
                <a:latin typeface="Times New Roman"/>
                <a:cs typeface="Times New Roman"/>
              </a:rPr>
              <a:t>e</a:t>
            </a:r>
            <a:r>
              <a:rPr sz="2600" spc="-105" dirty="0">
                <a:latin typeface="Times New Roman"/>
                <a:cs typeface="Times New Roman"/>
              </a:rPr>
              <a:t>ar</a:t>
            </a:r>
            <a:r>
              <a:rPr sz="2600" spc="-125" dirty="0">
                <a:latin typeface="Times New Roman"/>
                <a:cs typeface="Times New Roman"/>
              </a:rPr>
              <a:t>l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se</a:t>
            </a:r>
            <a:r>
              <a:rPr sz="2600" spc="-165" dirty="0">
                <a:latin typeface="Times New Roman"/>
                <a:cs typeface="Times New Roman"/>
              </a:rPr>
              <a:t>p</a:t>
            </a:r>
            <a:r>
              <a:rPr sz="2600" spc="-125" dirty="0">
                <a:latin typeface="Times New Roman"/>
                <a:cs typeface="Times New Roman"/>
              </a:rPr>
              <a:t>ar</a:t>
            </a:r>
            <a:r>
              <a:rPr sz="2600" spc="-165" dirty="0">
                <a:latin typeface="Times New Roman"/>
                <a:cs typeface="Times New Roman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ted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its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se</a:t>
            </a:r>
            <a:r>
              <a:rPr sz="2600" spc="30" dirty="0">
                <a:latin typeface="Times New Roman"/>
                <a:cs typeface="Times New Roman"/>
              </a:rPr>
              <a:t>r</a:t>
            </a:r>
            <a:r>
              <a:rPr sz="2600" spc="-160" dirty="0">
                <a:latin typeface="Times New Roman"/>
                <a:cs typeface="Times New Roman"/>
              </a:rPr>
              <a:t>vi</a:t>
            </a:r>
            <a:r>
              <a:rPr sz="2600" spc="-190" dirty="0">
                <a:latin typeface="Times New Roman"/>
                <a:cs typeface="Times New Roman"/>
              </a:rPr>
              <a:t>c</a:t>
            </a:r>
            <a:r>
              <a:rPr sz="2600" spc="-65" dirty="0">
                <a:latin typeface="Times New Roman"/>
                <a:cs typeface="Times New Roman"/>
              </a:rPr>
              <a:t>es,</a:t>
            </a:r>
            <a:r>
              <a:rPr sz="2600" spc="-18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inter</a:t>
            </a:r>
            <a:r>
              <a:rPr sz="2600" spc="-90" dirty="0">
                <a:latin typeface="Times New Roman"/>
                <a:cs typeface="Times New Roman"/>
              </a:rPr>
              <a:t>f</a:t>
            </a:r>
            <a:r>
              <a:rPr sz="2600" spc="-185" dirty="0">
                <a:latin typeface="Times New Roman"/>
                <a:cs typeface="Times New Roman"/>
              </a:rPr>
              <a:t>a</a:t>
            </a:r>
            <a:r>
              <a:rPr sz="2600" spc="-190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es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and  </a:t>
            </a:r>
            <a:r>
              <a:rPr sz="2600" spc="-85" dirty="0">
                <a:latin typeface="Times New Roman"/>
                <a:cs typeface="Times New Roman"/>
              </a:rPr>
              <a:t>protocols.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69957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-505" dirty="0">
                <a:latin typeface="Arial"/>
                <a:cs typeface="Arial"/>
              </a:rPr>
              <a:t>C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305" dirty="0">
                <a:latin typeface="Arial"/>
                <a:cs typeface="Arial"/>
              </a:rPr>
              <a:t>m</a:t>
            </a:r>
            <a:r>
              <a:rPr b="1" spc="-204" dirty="0">
                <a:latin typeface="Arial"/>
                <a:cs typeface="Arial"/>
              </a:rPr>
              <a:t>p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260" dirty="0">
                <a:latin typeface="Arial"/>
                <a:cs typeface="Arial"/>
              </a:rPr>
              <a:t>rison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120" dirty="0">
                <a:latin typeface="Arial"/>
                <a:cs typeface="Arial"/>
              </a:rPr>
              <a:t>f </a:t>
            </a:r>
            <a:r>
              <a:rPr b="1" spc="-475" dirty="0">
                <a:latin typeface="Arial"/>
                <a:cs typeface="Arial"/>
              </a:rPr>
              <a:t>O</a:t>
            </a:r>
            <a:r>
              <a:rPr b="1" spc="-390" dirty="0">
                <a:latin typeface="Arial"/>
                <a:cs typeface="Arial"/>
              </a:rPr>
              <a:t>S</a:t>
            </a:r>
            <a:r>
              <a:rPr b="1" spc="-105" dirty="0">
                <a:latin typeface="Arial"/>
                <a:cs typeface="Arial"/>
              </a:rPr>
              <a:t>I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445" dirty="0">
                <a:latin typeface="Arial"/>
                <a:cs typeface="Arial"/>
              </a:rPr>
              <a:t>R</a:t>
            </a:r>
            <a:r>
              <a:rPr b="1" spc="-155" dirty="0">
                <a:latin typeface="Arial"/>
                <a:cs typeface="Arial"/>
              </a:rPr>
              <a:t>e</a:t>
            </a:r>
            <a:r>
              <a:rPr b="1" spc="-160" dirty="0">
                <a:latin typeface="Arial"/>
                <a:cs typeface="Arial"/>
              </a:rPr>
              <a:t>f</a:t>
            </a:r>
            <a:r>
              <a:rPr b="1" spc="-200" dirty="0">
                <a:latin typeface="Arial"/>
                <a:cs typeface="Arial"/>
              </a:rPr>
              <a:t>erence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80" dirty="0">
                <a:latin typeface="Arial"/>
                <a:cs typeface="Arial"/>
              </a:rPr>
              <a:t>M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160" dirty="0">
                <a:latin typeface="Arial"/>
                <a:cs typeface="Arial"/>
              </a:rPr>
              <a:t>del  </a:t>
            </a:r>
            <a:r>
              <a:rPr b="1" spc="-90" dirty="0">
                <a:latin typeface="Arial"/>
                <a:cs typeface="Arial"/>
              </a:rPr>
              <a:t>a</a:t>
            </a:r>
            <a:r>
              <a:rPr b="1" spc="-254" dirty="0">
                <a:latin typeface="Arial"/>
                <a:cs typeface="Arial"/>
              </a:rPr>
              <a:t>nd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540" dirty="0">
                <a:latin typeface="Arial"/>
                <a:cs typeface="Arial"/>
              </a:rPr>
              <a:t>T</a:t>
            </a:r>
            <a:r>
              <a:rPr b="1" spc="-505" dirty="0">
                <a:latin typeface="Arial"/>
                <a:cs typeface="Arial"/>
              </a:rPr>
              <a:t>C</a:t>
            </a:r>
            <a:r>
              <a:rPr b="1" spc="165" dirty="0">
                <a:latin typeface="Arial"/>
                <a:cs typeface="Arial"/>
              </a:rPr>
              <a:t>P</a:t>
            </a:r>
            <a:r>
              <a:rPr b="1" spc="80" dirty="0">
                <a:latin typeface="Arial"/>
                <a:cs typeface="Arial"/>
              </a:rPr>
              <a:t>/</a:t>
            </a:r>
            <a:r>
              <a:rPr b="1" spc="-245" dirty="0">
                <a:latin typeface="Arial"/>
                <a:cs typeface="Arial"/>
              </a:rPr>
              <a:t>IP</a:t>
            </a:r>
            <a:r>
              <a:rPr b="1" spc="-135" dirty="0">
                <a:latin typeface="Arial"/>
                <a:cs typeface="Arial"/>
              </a:rPr>
              <a:t> </a:t>
            </a:r>
            <a:r>
              <a:rPr b="1" spc="-445" dirty="0">
                <a:latin typeface="Arial"/>
                <a:cs typeface="Arial"/>
              </a:rPr>
              <a:t>R</a:t>
            </a:r>
            <a:r>
              <a:rPr b="1" spc="-155" dirty="0">
                <a:latin typeface="Arial"/>
                <a:cs typeface="Arial"/>
              </a:rPr>
              <a:t>e</a:t>
            </a:r>
            <a:r>
              <a:rPr b="1" spc="-170" dirty="0">
                <a:latin typeface="Arial"/>
                <a:cs typeface="Arial"/>
              </a:rPr>
              <a:t>f</a:t>
            </a:r>
            <a:r>
              <a:rPr b="1" spc="-200" dirty="0">
                <a:latin typeface="Arial"/>
                <a:cs typeface="Arial"/>
              </a:rPr>
              <a:t>erence</a:t>
            </a:r>
            <a:r>
              <a:rPr b="1" spc="-135" dirty="0">
                <a:latin typeface="Arial"/>
                <a:cs typeface="Arial"/>
              </a:rPr>
              <a:t> </a:t>
            </a:r>
            <a:r>
              <a:rPr b="1" spc="-80" dirty="0">
                <a:latin typeface="Arial"/>
                <a:cs typeface="Arial"/>
              </a:rPr>
              <a:t>M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190" dirty="0">
                <a:latin typeface="Arial"/>
                <a:cs typeface="Arial"/>
              </a:rPr>
              <a:t>del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8050" y="1441450"/>
          <a:ext cx="7772400" cy="57689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7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OSI(Open System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Interconnection)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182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TCP/IP(Transmission 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Control </a:t>
                      </a:r>
                      <a:r>
                        <a:rPr sz="1800" b="1" spc="-43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Protocol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4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Internet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Protocol)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91440" marR="10922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1.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OSI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ne</a:t>
                      </a:r>
                      <a:r>
                        <a:rPr sz="1800" spc="4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800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protoc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inde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ent  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standard,</a:t>
                      </a:r>
                      <a:r>
                        <a:rPr sz="1800" spc="-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90" dirty="0">
                          <a:latin typeface="Times New Roman"/>
                          <a:cs typeface="Times New Roman"/>
                        </a:rPr>
                        <a:t>acting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45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4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90" dirty="0">
                          <a:latin typeface="Times New Roman"/>
                          <a:cs typeface="Times New Roman"/>
                        </a:rPr>
                        <a:t>communication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20" dirty="0">
                          <a:latin typeface="Times New Roman"/>
                          <a:cs typeface="Times New Roman"/>
                        </a:rPr>
                        <a:t>gateway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bet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een</a:t>
                      </a:r>
                      <a:r>
                        <a:rPr sz="18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ne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-15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489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11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/IP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mode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standa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rd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protoc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arou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whi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Inte</a:t>
                      </a:r>
                      <a:r>
                        <a:rPr sz="1800" spc="5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  d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elo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ed.</a:t>
                      </a:r>
                      <a:r>
                        <a:rPr sz="1800" spc="-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ic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tion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protoc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l,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whi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ws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ne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tion</a:t>
                      </a:r>
                      <a:r>
                        <a:rPr sz="18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hosts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er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 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network.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399">
                <a:tc>
                  <a:txBody>
                    <a:bodyPr/>
                    <a:lstStyle/>
                    <a:p>
                      <a:pPr marL="91440" marR="88963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2.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OSI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odel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sp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6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er  g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tees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deli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4033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2.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-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/IP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mode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tr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ans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6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er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does  n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tees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deli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pa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800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ill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CP/I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odel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elia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3.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oll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ws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6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tical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ap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oa</a:t>
                      </a:r>
                      <a:r>
                        <a:rPr sz="1800" spc="4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3.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oll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ws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ho</a:t>
                      </a:r>
                      <a:r>
                        <a:rPr sz="1800" spc="4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izontal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oa</a:t>
                      </a:r>
                      <a:r>
                        <a:rPr sz="1800" spc="4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marL="91440" marR="432434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4.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OSI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odel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sep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ese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tion 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er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Session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-15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0805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800" spc="11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CP/I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sep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  P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ese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tion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er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ssion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-15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 marR="9588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5.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SI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refe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ce</a:t>
                      </a:r>
                      <a:r>
                        <a:rPr sz="18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mode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ou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whi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  the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ne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ks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uilt.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Gener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al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as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idance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tool.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4297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800" spc="11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CP/I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odel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s,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y  implement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tion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OSI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odel.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438"/>
            <a:ext cx="69957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-505" dirty="0">
                <a:latin typeface="Arial"/>
                <a:cs typeface="Arial"/>
              </a:rPr>
              <a:t>C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305" dirty="0">
                <a:latin typeface="Arial"/>
                <a:cs typeface="Arial"/>
              </a:rPr>
              <a:t>m</a:t>
            </a:r>
            <a:r>
              <a:rPr b="1" spc="-204" dirty="0">
                <a:latin typeface="Arial"/>
                <a:cs typeface="Arial"/>
              </a:rPr>
              <a:t>p</a:t>
            </a:r>
            <a:r>
              <a:rPr b="1" spc="-170" dirty="0">
                <a:latin typeface="Arial"/>
                <a:cs typeface="Arial"/>
              </a:rPr>
              <a:t>a</a:t>
            </a:r>
            <a:r>
              <a:rPr b="1" spc="-260" dirty="0">
                <a:latin typeface="Arial"/>
                <a:cs typeface="Arial"/>
              </a:rPr>
              <a:t>rison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120" dirty="0">
                <a:latin typeface="Arial"/>
                <a:cs typeface="Arial"/>
              </a:rPr>
              <a:t>f </a:t>
            </a:r>
            <a:r>
              <a:rPr b="1" spc="-475" dirty="0">
                <a:latin typeface="Arial"/>
                <a:cs typeface="Arial"/>
              </a:rPr>
              <a:t>O</a:t>
            </a:r>
            <a:r>
              <a:rPr b="1" spc="-390" dirty="0">
                <a:latin typeface="Arial"/>
                <a:cs typeface="Arial"/>
              </a:rPr>
              <a:t>S</a:t>
            </a:r>
            <a:r>
              <a:rPr b="1" spc="-105" dirty="0">
                <a:latin typeface="Arial"/>
                <a:cs typeface="Arial"/>
              </a:rPr>
              <a:t>I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445" dirty="0">
                <a:latin typeface="Arial"/>
                <a:cs typeface="Arial"/>
              </a:rPr>
              <a:t>R</a:t>
            </a:r>
            <a:r>
              <a:rPr b="1" spc="-155" dirty="0">
                <a:latin typeface="Arial"/>
                <a:cs typeface="Arial"/>
              </a:rPr>
              <a:t>e</a:t>
            </a:r>
            <a:r>
              <a:rPr b="1" spc="-160" dirty="0">
                <a:latin typeface="Arial"/>
                <a:cs typeface="Arial"/>
              </a:rPr>
              <a:t>f</a:t>
            </a:r>
            <a:r>
              <a:rPr b="1" spc="-200" dirty="0">
                <a:latin typeface="Arial"/>
                <a:cs typeface="Arial"/>
              </a:rPr>
              <a:t>erence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80" dirty="0">
                <a:latin typeface="Arial"/>
                <a:cs typeface="Arial"/>
              </a:rPr>
              <a:t>M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160" dirty="0">
                <a:latin typeface="Arial"/>
                <a:cs typeface="Arial"/>
              </a:rPr>
              <a:t>del  </a:t>
            </a:r>
            <a:r>
              <a:rPr b="1" spc="-90" dirty="0">
                <a:latin typeface="Arial"/>
                <a:cs typeface="Arial"/>
              </a:rPr>
              <a:t>a</a:t>
            </a:r>
            <a:r>
              <a:rPr b="1" spc="-254" dirty="0">
                <a:latin typeface="Arial"/>
                <a:cs typeface="Arial"/>
              </a:rPr>
              <a:t>nd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540" dirty="0">
                <a:latin typeface="Arial"/>
                <a:cs typeface="Arial"/>
              </a:rPr>
              <a:t>T</a:t>
            </a:r>
            <a:r>
              <a:rPr b="1" spc="-505" dirty="0">
                <a:latin typeface="Arial"/>
                <a:cs typeface="Arial"/>
              </a:rPr>
              <a:t>C</a:t>
            </a:r>
            <a:r>
              <a:rPr b="1" spc="165" dirty="0">
                <a:latin typeface="Arial"/>
                <a:cs typeface="Arial"/>
              </a:rPr>
              <a:t>P</a:t>
            </a:r>
            <a:r>
              <a:rPr b="1" spc="80" dirty="0">
                <a:latin typeface="Arial"/>
                <a:cs typeface="Arial"/>
              </a:rPr>
              <a:t>/</a:t>
            </a:r>
            <a:r>
              <a:rPr b="1" spc="-245" dirty="0">
                <a:latin typeface="Arial"/>
                <a:cs typeface="Arial"/>
              </a:rPr>
              <a:t>IP</a:t>
            </a:r>
            <a:r>
              <a:rPr b="1" spc="-135" dirty="0">
                <a:latin typeface="Arial"/>
                <a:cs typeface="Arial"/>
              </a:rPr>
              <a:t> </a:t>
            </a:r>
            <a:r>
              <a:rPr b="1" spc="-445" dirty="0">
                <a:latin typeface="Arial"/>
                <a:cs typeface="Arial"/>
              </a:rPr>
              <a:t>R</a:t>
            </a:r>
            <a:r>
              <a:rPr b="1" spc="-155" dirty="0">
                <a:latin typeface="Arial"/>
                <a:cs typeface="Arial"/>
              </a:rPr>
              <a:t>e</a:t>
            </a:r>
            <a:r>
              <a:rPr b="1" spc="-170" dirty="0">
                <a:latin typeface="Arial"/>
                <a:cs typeface="Arial"/>
              </a:rPr>
              <a:t>f</a:t>
            </a:r>
            <a:r>
              <a:rPr b="1" spc="-200" dirty="0">
                <a:latin typeface="Arial"/>
                <a:cs typeface="Arial"/>
              </a:rPr>
              <a:t>erence</a:t>
            </a:r>
            <a:r>
              <a:rPr b="1" spc="-135" dirty="0">
                <a:latin typeface="Arial"/>
                <a:cs typeface="Arial"/>
              </a:rPr>
              <a:t> </a:t>
            </a:r>
            <a:r>
              <a:rPr b="1" spc="-80" dirty="0">
                <a:latin typeface="Arial"/>
                <a:cs typeface="Arial"/>
              </a:rPr>
              <a:t>M</a:t>
            </a:r>
            <a:r>
              <a:rPr b="1" spc="-325" dirty="0">
                <a:latin typeface="Arial"/>
                <a:cs typeface="Arial"/>
              </a:rPr>
              <a:t>o</a:t>
            </a:r>
            <a:r>
              <a:rPr b="1" spc="-190" dirty="0">
                <a:latin typeface="Arial"/>
                <a:cs typeface="Arial"/>
              </a:rPr>
              <a:t>del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8050" y="1441450"/>
          <a:ext cx="7772400" cy="50990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7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OSI(Open System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Interconnection)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182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TCP/IP(Transmission 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Control </a:t>
                      </a:r>
                      <a:r>
                        <a:rPr sz="1800" b="1" spc="-43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Protocol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4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Internet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Protocol)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 marR="1022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6.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er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SI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mode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vides  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both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connection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oriented </a:t>
                      </a:r>
                      <a:r>
                        <a:rPr sz="1800" spc="-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connectionless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service.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6896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800" spc="11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he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er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-2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CP/I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odel  pr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vides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ionless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se</a:t>
                      </a:r>
                      <a:r>
                        <a:rPr sz="1800" spc="7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vic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 marR="4184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7.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OSI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odel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pro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tting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  protoc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odel.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1800" spc="11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CP/I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odel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does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fit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protoc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 marR="37782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8.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oto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ols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hid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OSI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odel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and  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are </a:t>
                      </a:r>
                      <a:r>
                        <a:rPr sz="1800" spc="-120" dirty="0">
                          <a:latin typeface="Times New Roman"/>
                          <a:cs typeface="Times New Roman"/>
                        </a:rPr>
                        <a:t>easily 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replaced </a:t>
                      </a:r>
                      <a:r>
                        <a:rPr sz="1800" spc="-145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800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technology 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90" dirty="0">
                          <a:latin typeface="Times New Roman"/>
                          <a:cs typeface="Times New Roman"/>
                        </a:rPr>
                        <a:t>changes.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8.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-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CP/I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epl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cing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protoc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eas</a:t>
                      </a:r>
                      <a:r>
                        <a:rPr sz="1800" spc="-17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91440" marR="11303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9.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OSI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odel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defines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se</a:t>
                      </a:r>
                      <a:r>
                        <a:rPr sz="1800" spc="7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vices,</a:t>
                      </a:r>
                      <a:r>
                        <a:rPr sz="1800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inte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ces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  protoc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clea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ma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cle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  dist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nction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bet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een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them.</a:t>
                      </a:r>
                      <a:r>
                        <a:rPr sz="1800" spc="-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ot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col  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independent.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79070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9.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-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CP/I</a:t>
                      </a:r>
                      <a:r>
                        <a:rPr sz="1800" spc="-30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8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se</a:t>
                      </a:r>
                      <a:r>
                        <a:rPr sz="1800" spc="7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vices,</a:t>
                      </a:r>
                      <a:r>
                        <a:rPr sz="1800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inte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ces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  p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ot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cols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clea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separ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ted.</a:t>
                      </a:r>
                      <a:r>
                        <a:rPr sz="1800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also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protoc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4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4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25958"/>
            <a:ext cx="797179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b="1" spc="-235" dirty="0">
                <a:latin typeface="Arial"/>
                <a:cs typeface="Arial"/>
              </a:rPr>
              <a:t>D</a:t>
            </a:r>
            <a:r>
              <a:rPr sz="3200" b="1" spc="-155" dirty="0">
                <a:latin typeface="Arial"/>
                <a:cs typeface="Arial"/>
              </a:rPr>
              <a:t>i</a:t>
            </a:r>
            <a:r>
              <a:rPr sz="3200" b="1" spc="-225" dirty="0">
                <a:latin typeface="Arial"/>
                <a:cs typeface="Arial"/>
              </a:rPr>
              <a:t>a</a:t>
            </a:r>
            <a:r>
              <a:rPr sz="3200" b="1" spc="-235" dirty="0">
                <a:latin typeface="Arial"/>
                <a:cs typeface="Arial"/>
              </a:rPr>
              <a:t>g</a:t>
            </a:r>
            <a:r>
              <a:rPr sz="3200" b="1" spc="-185" dirty="0">
                <a:latin typeface="Arial"/>
                <a:cs typeface="Arial"/>
              </a:rPr>
              <a:t>r</a:t>
            </a:r>
            <a:r>
              <a:rPr sz="3200" b="1" spc="-175" dirty="0">
                <a:latin typeface="Arial"/>
                <a:cs typeface="Arial"/>
              </a:rPr>
              <a:t>amm</a:t>
            </a:r>
            <a:r>
              <a:rPr sz="3200" b="1" spc="-114" dirty="0">
                <a:latin typeface="Arial"/>
                <a:cs typeface="Arial"/>
              </a:rPr>
              <a:t>a</a:t>
            </a:r>
            <a:r>
              <a:rPr sz="3200" b="1" spc="-175" dirty="0">
                <a:latin typeface="Arial"/>
                <a:cs typeface="Arial"/>
              </a:rPr>
              <a:t>tic</a:t>
            </a:r>
            <a:r>
              <a:rPr sz="3200" b="1" spc="-135" dirty="0">
                <a:latin typeface="Arial"/>
                <a:cs typeface="Arial"/>
              </a:rPr>
              <a:t> </a:t>
            </a:r>
            <a:r>
              <a:rPr sz="3200" b="1" spc="-445" dirty="0">
                <a:latin typeface="Arial"/>
                <a:cs typeface="Arial"/>
              </a:rPr>
              <a:t>C</a:t>
            </a:r>
            <a:r>
              <a:rPr sz="3200" b="1" spc="-280" dirty="0">
                <a:latin typeface="Arial"/>
                <a:cs typeface="Arial"/>
              </a:rPr>
              <a:t>o</a:t>
            </a:r>
            <a:r>
              <a:rPr sz="3200" b="1" spc="-270" dirty="0">
                <a:latin typeface="Arial"/>
                <a:cs typeface="Arial"/>
              </a:rPr>
              <a:t>m</a:t>
            </a:r>
            <a:r>
              <a:rPr sz="3200" b="1" spc="-210" dirty="0">
                <a:latin typeface="Arial"/>
                <a:cs typeface="Arial"/>
              </a:rPr>
              <a:t>pariso</a:t>
            </a:r>
            <a:r>
              <a:rPr sz="3200" b="1" spc="-250" dirty="0">
                <a:latin typeface="Arial"/>
                <a:cs typeface="Arial"/>
              </a:rPr>
              <a:t>n</a:t>
            </a:r>
            <a:r>
              <a:rPr sz="3200" b="1" spc="-130" dirty="0">
                <a:latin typeface="Arial"/>
                <a:cs typeface="Arial"/>
              </a:rPr>
              <a:t> </a:t>
            </a:r>
            <a:r>
              <a:rPr sz="3200" b="1" spc="-170" dirty="0">
                <a:latin typeface="Arial"/>
                <a:cs typeface="Arial"/>
              </a:rPr>
              <a:t>be</a:t>
            </a:r>
            <a:r>
              <a:rPr sz="3200" b="1" spc="-90" dirty="0">
                <a:latin typeface="Arial"/>
                <a:cs typeface="Arial"/>
              </a:rPr>
              <a:t>t</a:t>
            </a:r>
            <a:r>
              <a:rPr sz="3200" b="1" spc="-405" dirty="0">
                <a:latin typeface="Arial"/>
                <a:cs typeface="Arial"/>
              </a:rPr>
              <a:t>w</a:t>
            </a:r>
            <a:r>
              <a:rPr sz="3200" b="1" spc="-114" dirty="0">
                <a:latin typeface="Arial"/>
                <a:cs typeface="Arial"/>
              </a:rPr>
              <a:t>e</a:t>
            </a:r>
            <a:r>
              <a:rPr sz="3200" b="1" spc="-130" dirty="0">
                <a:latin typeface="Arial"/>
                <a:cs typeface="Arial"/>
              </a:rPr>
              <a:t>e</a:t>
            </a:r>
            <a:r>
              <a:rPr sz="3200" b="1" spc="-220" dirty="0">
                <a:latin typeface="Arial"/>
                <a:cs typeface="Arial"/>
              </a:rPr>
              <a:t>n</a:t>
            </a:r>
            <a:r>
              <a:rPr sz="3200" b="1" spc="-120" dirty="0">
                <a:latin typeface="Arial"/>
                <a:cs typeface="Arial"/>
              </a:rPr>
              <a:t> </a:t>
            </a:r>
            <a:r>
              <a:rPr sz="3200" b="1" spc="-420" dirty="0">
                <a:latin typeface="Arial"/>
                <a:cs typeface="Arial"/>
              </a:rPr>
              <a:t>O</a:t>
            </a:r>
            <a:r>
              <a:rPr sz="3200" b="1" spc="-350" dirty="0">
                <a:latin typeface="Arial"/>
                <a:cs typeface="Arial"/>
              </a:rPr>
              <a:t>S</a:t>
            </a:r>
            <a:r>
              <a:rPr sz="3200" b="1" spc="-90" dirty="0">
                <a:latin typeface="Arial"/>
                <a:cs typeface="Arial"/>
              </a:rPr>
              <a:t>I  </a:t>
            </a:r>
            <a:r>
              <a:rPr sz="3200" b="1" spc="-395" dirty="0">
                <a:latin typeface="Arial"/>
                <a:cs typeface="Arial"/>
              </a:rPr>
              <a:t>R</a:t>
            </a:r>
            <a:r>
              <a:rPr sz="3200" b="1" spc="-110" dirty="0">
                <a:latin typeface="Arial"/>
                <a:cs typeface="Arial"/>
              </a:rPr>
              <a:t>e</a:t>
            </a:r>
            <a:r>
              <a:rPr sz="3200" b="1" spc="-180" dirty="0">
                <a:latin typeface="Arial"/>
                <a:cs typeface="Arial"/>
              </a:rPr>
              <a:t>f</a:t>
            </a:r>
            <a:r>
              <a:rPr sz="3200" b="1" spc="-185" dirty="0">
                <a:latin typeface="Arial"/>
                <a:cs typeface="Arial"/>
              </a:rPr>
              <a:t>eren</a:t>
            </a:r>
            <a:r>
              <a:rPr sz="3200" b="1" spc="-210" dirty="0">
                <a:latin typeface="Arial"/>
                <a:cs typeface="Arial"/>
              </a:rPr>
              <a:t>c</a:t>
            </a:r>
            <a:r>
              <a:rPr sz="3200" b="1" spc="-114" dirty="0">
                <a:latin typeface="Arial"/>
                <a:cs typeface="Arial"/>
              </a:rPr>
              <a:t>e</a:t>
            </a:r>
            <a:r>
              <a:rPr sz="3200" b="1" spc="-125" dirty="0">
                <a:latin typeface="Arial"/>
                <a:cs typeface="Arial"/>
              </a:rPr>
              <a:t> </a:t>
            </a:r>
            <a:r>
              <a:rPr sz="3200" b="1" spc="-215" dirty="0">
                <a:latin typeface="Arial"/>
                <a:cs typeface="Arial"/>
              </a:rPr>
              <a:t>M</a:t>
            </a:r>
            <a:r>
              <a:rPr sz="3200" b="1" spc="-140" dirty="0">
                <a:latin typeface="Arial"/>
                <a:cs typeface="Arial"/>
              </a:rPr>
              <a:t>o</a:t>
            </a:r>
            <a:r>
              <a:rPr sz="3200" b="1" spc="-165" dirty="0">
                <a:latin typeface="Arial"/>
                <a:cs typeface="Arial"/>
              </a:rPr>
              <a:t>del</a:t>
            </a:r>
            <a:r>
              <a:rPr sz="3200" b="1" spc="-125" dirty="0">
                <a:latin typeface="Arial"/>
                <a:cs typeface="Arial"/>
              </a:rPr>
              <a:t> </a:t>
            </a:r>
            <a:r>
              <a:rPr sz="3200" b="1" spc="-145" dirty="0">
                <a:latin typeface="Arial"/>
                <a:cs typeface="Arial"/>
              </a:rPr>
              <a:t>a</a:t>
            </a:r>
            <a:r>
              <a:rPr sz="3200" b="1" spc="-140" dirty="0">
                <a:latin typeface="Arial"/>
                <a:cs typeface="Arial"/>
              </a:rPr>
              <a:t>n</a:t>
            </a:r>
            <a:r>
              <a:rPr sz="3200" b="1" spc="-229" dirty="0">
                <a:latin typeface="Arial"/>
                <a:cs typeface="Arial"/>
              </a:rPr>
              <a:t>d</a:t>
            </a:r>
            <a:r>
              <a:rPr sz="3200" b="1" spc="-110" dirty="0">
                <a:latin typeface="Arial"/>
                <a:cs typeface="Arial"/>
              </a:rPr>
              <a:t> </a:t>
            </a:r>
            <a:r>
              <a:rPr sz="3200" b="1" spc="-470" dirty="0">
                <a:latin typeface="Arial"/>
                <a:cs typeface="Arial"/>
              </a:rPr>
              <a:t>T</a:t>
            </a:r>
            <a:r>
              <a:rPr sz="3200" b="1" spc="-130" dirty="0">
                <a:latin typeface="Arial"/>
                <a:cs typeface="Arial"/>
              </a:rPr>
              <a:t>CP/I</a:t>
            </a:r>
            <a:r>
              <a:rPr sz="3200" b="1" spc="-170" dirty="0">
                <a:latin typeface="Arial"/>
                <a:cs typeface="Arial"/>
              </a:rPr>
              <a:t>P</a:t>
            </a:r>
            <a:r>
              <a:rPr sz="3200" b="1" spc="-135" dirty="0">
                <a:latin typeface="Arial"/>
                <a:cs typeface="Arial"/>
              </a:rPr>
              <a:t> </a:t>
            </a:r>
            <a:r>
              <a:rPr sz="3200" b="1" spc="-395" dirty="0">
                <a:latin typeface="Arial"/>
                <a:cs typeface="Arial"/>
              </a:rPr>
              <a:t>R</a:t>
            </a:r>
            <a:r>
              <a:rPr sz="3200" b="1" spc="-110" dirty="0">
                <a:latin typeface="Arial"/>
                <a:cs typeface="Arial"/>
              </a:rPr>
              <a:t>e</a:t>
            </a:r>
            <a:r>
              <a:rPr sz="3200" b="1" spc="-180" dirty="0">
                <a:latin typeface="Arial"/>
                <a:cs typeface="Arial"/>
              </a:rPr>
              <a:t>f</a:t>
            </a:r>
            <a:r>
              <a:rPr sz="3200" b="1" spc="-175" dirty="0">
                <a:latin typeface="Arial"/>
                <a:cs typeface="Arial"/>
              </a:rPr>
              <a:t>erence</a:t>
            </a:r>
            <a:r>
              <a:rPr sz="3200" b="1" spc="-120" dirty="0">
                <a:latin typeface="Arial"/>
                <a:cs typeface="Arial"/>
              </a:rPr>
              <a:t> </a:t>
            </a:r>
            <a:r>
              <a:rPr sz="3200" b="1" spc="-215" dirty="0">
                <a:latin typeface="Arial"/>
                <a:cs typeface="Arial"/>
              </a:rPr>
              <a:t>M</a:t>
            </a:r>
            <a:r>
              <a:rPr sz="3200" b="1" spc="-140" dirty="0">
                <a:latin typeface="Arial"/>
                <a:cs typeface="Arial"/>
              </a:rPr>
              <a:t>o</a:t>
            </a:r>
            <a:r>
              <a:rPr sz="3200" b="1" spc="-165" dirty="0">
                <a:latin typeface="Arial"/>
                <a:cs typeface="Arial"/>
              </a:rPr>
              <a:t>del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1039" y="1667724"/>
            <a:ext cx="5130800" cy="4689113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1547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Out</a:t>
            </a:r>
            <a:r>
              <a:rPr sz="4000" spc="-35" dirty="0"/>
              <a:t>line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914400" y="1450594"/>
            <a:ext cx="6858000" cy="5100320"/>
          </a:xfrm>
          <a:custGeom>
            <a:avLst/>
            <a:gdLst/>
            <a:ahLst/>
            <a:cxnLst/>
            <a:rect l="l" t="t" r="r" b="b"/>
            <a:pathLst>
              <a:path w="6858000" h="5100320">
                <a:moveTo>
                  <a:pt x="0" y="77215"/>
                </a:moveTo>
                <a:lnTo>
                  <a:pt x="6067" y="47148"/>
                </a:lnTo>
                <a:lnTo>
                  <a:pt x="22615" y="22605"/>
                </a:lnTo>
                <a:lnTo>
                  <a:pt x="47159" y="6064"/>
                </a:lnTo>
                <a:lnTo>
                  <a:pt x="77215" y="0"/>
                </a:lnTo>
                <a:lnTo>
                  <a:pt x="6780783" y="0"/>
                </a:lnTo>
                <a:lnTo>
                  <a:pt x="6810851" y="6064"/>
                </a:lnTo>
                <a:lnTo>
                  <a:pt x="6835394" y="22606"/>
                </a:lnTo>
                <a:lnTo>
                  <a:pt x="6851935" y="47148"/>
                </a:lnTo>
                <a:lnTo>
                  <a:pt x="6858000" y="77215"/>
                </a:lnTo>
                <a:lnTo>
                  <a:pt x="6858000" y="386079"/>
                </a:lnTo>
                <a:lnTo>
                  <a:pt x="6851935" y="416147"/>
                </a:lnTo>
                <a:lnTo>
                  <a:pt x="6835394" y="440689"/>
                </a:lnTo>
                <a:lnTo>
                  <a:pt x="6810851" y="457231"/>
                </a:lnTo>
                <a:lnTo>
                  <a:pt x="6780783" y="463295"/>
                </a:lnTo>
                <a:lnTo>
                  <a:pt x="77215" y="463295"/>
                </a:lnTo>
                <a:lnTo>
                  <a:pt x="47159" y="457231"/>
                </a:lnTo>
                <a:lnTo>
                  <a:pt x="22615" y="440689"/>
                </a:lnTo>
                <a:lnTo>
                  <a:pt x="6067" y="416147"/>
                </a:lnTo>
                <a:lnTo>
                  <a:pt x="0" y="386079"/>
                </a:lnTo>
                <a:lnTo>
                  <a:pt x="0" y="77215"/>
                </a:lnTo>
                <a:close/>
              </a:path>
              <a:path w="6858000" h="5100320">
                <a:moveTo>
                  <a:pt x="0" y="592454"/>
                </a:moveTo>
                <a:lnTo>
                  <a:pt x="6067" y="562387"/>
                </a:lnTo>
                <a:lnTo>
                  <a:pt x="22615" y="537844"/>
                </a:lnTo>
                <a:lnTo>
                  <a:pt x="47159" y="521303"/>
                </a:lnTo>
                <a:lnTo>
                  <a:pt x="77215" y="515238"/>
                </a:lnTo>
                <a:lnTo>
                  <a:pt x="6780783" y="515238"/>
                </a:lnTo>
                <a:lnTo>
                  <a:pt x="6810851" y="521303"/>
                </a:lnTo>
                <a:lnTo>
                  <a:pt x="6835394" y="537845"/>
                </a:lnTo>
                <a:lnTo>
                  <a:pt x="6851935" y="562387"/>
                </a:lnTo>
                <a:lnTo>
                  <a:pt x="6858000" y="592454"/>
                </a:lnTo>
                <a:lnTo>
                  <a:pt x="6858000" y="901318"/>
                </a:lnTo>
                <a:lnTo>
                  <a:pt x="6851935" y="931386"/>
                </a:lnTo>
                <a:lnTo>
                  <a:pt x="6835394" y="955928"/>
                </a:lnTo>
                <a:lnTo>
                  <a:pt x="6810851" y="972470"/>
                </a:lnTo>
                <a:lnTo>
                  <a:pt x="6780783" y="978534"/>
                </a:lnTo>
                <a:lnTo>
                  <a:pt x="77215" y="978534"/>
                </a:lnTo>
                <a:lnTo>
                  <a:pt x="47159" y="972470"/>
                </a:lnTo>
                <a:lnTo>
                  <a:pt x="22615" y="955928"/>
                </a:lnTo>
                <a:lnTo>
                  <a:pt x="6067" y="931386"/>
                </a:lnTo>
                <a:lnTo>
                  <a:pt x="0" y="901318"/>
                </a:lnTo>
                <a:lnTo>
                  <a:pt x="0" y="592454"/>
                </a:lnTo>
                <a:close/>
              </a:path>
              <a:path w="6858000" h="5100320">
                <a:moveTo>
                  <a:pt x="0" y="1107566"/>
                </a:moveTo>
                <a:lnTo>
                  <a:pt x="6067" y="1077499"/>
                </a:lnTo>
                <a:lnTo>
                  <a:pt x="22615" y="1052956"/>
                </a:lnTo>
                <a:lnTo>
                  <a:pt x="47159" y="1036415"/>
                </a:lnTo>
                <a:lnTo>
                  <a:pt x="77215" y="1030351"/>
                </a:lnTo>
                <a:lnTo>
                  <a:pt x="6780783" y="1030351"/>
                </a:lnTo>
                <a:lnTo>
                  <a:pt x="6810851" y="1036415"/>
                </a:lnTo>
                <a:lnTo>
                  <a:pt x="6835394" y="1052957"/>
                </a:lnTo>
                <a:lnTo>
                  <a:pt x="6851935" y="1077499"/>
                </a:lnTo>
                <a:lnTo>
                  <a:pt x="6858000" y="1107566"/>
                </a:lnTo>
                <a:lnTo>
                  <a:pt x="6858000" y="1416430"/>
                </a:lnTo>
                <a:lnTo>
                  <a:pt x="6851935" y="1446498"/>
                </a:lnTo>
                <a:lnTo>
                  <a:pt x="6835394" y="1471040"/>
                </a:lnTo>
                <a:lnTo>
                  <a:pt x="6810851" y="1487582"/>
                </a:lnTo>
                <a:lnTo>
                  <a:pt x="6780783" y="1493646"/>
                </a:lnTo>
                <a:lnTo>
                  <a:pt x="77215" y="1493646"/>
                </a:lnTo>
                <a:lnTo>
                  <a:pt x="47159" y="1487582"/>
                </a:lnTo>
                <a:lnTo>
                  <a:pt x="22615" y="1471040"/>
                </a:lnTo>
                <a:lnTo>
                  <a:pt x="6067" y="1446498"/>
                </a:lnTo>
                <a:lnTo>
                  <a:pt x="0" y="1416430"/>
                </a:lnTo>
                <a:lnTo>
                  <a:pt x="0" y="1107566"/>
                </a:lnTo>
                <a:close/>
              </a:path>
              <a:path w="6858000" h="5100320">
                <a:moveTo>
                  <a:pt x="0" y="1622678"/>
                </a:moveTo>
                <a:lnTo>
                  <a:pt x="6067" y="1592665"/>
                </a:lnTo>
                <a:lnTo>
                  <a:pt x="22615" y="1568116"/>
                </a:lnTo>
                <a:lnTo>
                  <a:pt x="47159" y="1551545"/>
                </a:lnTo>
                <a:lnTo>
                  <a:pt x="77215" y="1545463"/>
                </a:lnTo>
                <a:lnTo>
                  <a:pt x="6780783" y="1545463"/>
                </a:lnTo>
                <a:lnTo>
                  <a:pt x="6810851" y="1551545"/>
                </a:lnTo>
                <a:lnTo>
                  <a:pt x="6835394" y="1568116"/>
                </a:lnTo>
                <a:lnTo>
                  <a:pt x="6851935" y="1592665"/>
                </a:lnTo>
                <a:lnTo>
                  <a:pt x="6858000" y="1622678"/>
                </a:lnTo>
                <a:lnTo>
                  <a:pt x="6858000" y="1931542"/>
                </a:lnTo>
                <a:lnTo>
                  <a:pt x="6851935" y="1961630"/>
                </a:lnTo>
                <a:lnTo>
                  <a:pt x="6835394" y="1986216"/>
                </a:lnTo>
                <a:lnTo>
                  <a:pt x="6810851" y="2002801"/>
                </a:lnTo>
                <a:lnTo>
                  <a:pt x="6780783" y="2008885"/>
                </a:lnTo>
                <a:lnTo>
                  <a:pt x="77215" y="2008885"/>
                </a:lnTo>
                <a:lnTo>
                  <a:pt x="47159" y="2002801"/>
                </a:lnTo>
                <a:lnTo>
                  <a:pt x="22615" y="1986216"/>
                </a:lnTo>
                <a:lnTo>
                  <a:pt x="6067" y="1961630"/>
                </a:lnTo>
                <a:lnTo>
                  <a:pt x="0" y="1931542"/>
                </a:lnTo>
                <a:lnTo>
                  <a:pt x="0" y="1622678"/>
                </a:lnTo>
                <a:close/>
              </a:path>
              <a:path w="6858000" h="5100320">
                <a:moveTo>
                  <a:pt x="0" y="2137917"/>
                </a:moveTo>
                <a:lnTo>
                  <a:pt x="6067" y="2107850"/>
                </a:lnTo>
                <a:lnTo>
                  <a:pt x="22615" y="2083307"/>
                </a:lnTo>
                <a:lnTo>
                  <a:pt x="47159" y="2066766"/>
                </a:lnTo>
                <a:lnTo>
                  <a:pt x="77215" y="2060702"/>
                </a:lnTo>
                <a:lnTo>
                  <a:pt x="6780783" y="2060702"/>
                </a:lnTo>
                <a:lnTo>
                  <a:pt x="6810851" y="2066766"/>
                </a:lnTo>
                <a:lnTo>
                  <a:pt x="6835394" y="2083308"/>
                </a:lnTo>
                <a:lnTo>
                  <a:pt x="6851935" y="2107850"/>
                </a:lnTo>
                <a:lnTo>
                  <a:pt x="6858000" y="2137917"/>
                </a:lnTo>
                <a:lnTo>
                  <a:pt x="6858000" y="2446781"/>
                </a:lnTo>
                <a:lnTo>
                  <a:pt x="6851935" y="2476849"/>
                </a:lnTo>
                <a:lnTo>
                  <a:pt x="6835394" y="2501391"/>
                </a:lnTo>
                <a:lnTo>
                  <a:pt x="6810851" y="2517933"/>
                </a:lnTo>
                <a:lnTo>
                  <a:pt x="6780783" y="2523997"/>
                </a:lnTo>
                <a:lnTo>
                  <a:pt x="77215" y="2523997"/>
                </a:lnTo>
                <a:lnTo>
                  <a:pt x="47159" y="2517933"/>
                </a:lnTo>
                <a:lnTo>
                  <a:pt x="22615" y="2501391"/>
                </a:lnTo>
                <a:lnTo>
                  <a:pt x="6067" y="2476849"/>
                </a:lnTo>
                <a:lnTo>
                  <a:pt x="0" y="2446781"/>
                </a:lnTo>
                <a:lnTo>
                  <a:pt x="0" y="2137917"/>
                </a:lnTo>
                <a:close/>
              </a:path>
              <a:path w="6858000" h="5100320">
                <a:moveTo>
                  <a:pt x="0" y="2653029"/>
                </a:moveTo>
                <a:lnTo>
                  <a:pt x="6067" y="2622962"/>
                </a:lnTo>
                <a:lnTo>
                  <a:pt x="22615" y="2598419"/>
                </a:lnTo>
                <a:lnTo>
                  <a:pt x="47159" y="2581878"/>
                </a:lnTo>
                <a:lnTo>
                  <a:pt x="77215" y="2575813"/>
                </a:lnTo>
                <a:lnTo>
                  <a:pt x="6780783" y="2575813"/>
                </a:lnTo>
                <a:lnTo>
                  <a:pt x="6810851" y="2581878"/>
                </a:lnTo>
                <a:lnTo>
                  <a:pt x="6835394" y="2598419"/>
                </a:lnTo>
                <a:lnTo>
                  <a:pt x="6851935" y="2622962"/>
                </a:lnTo>
                <a:lnTo>
                  <a:pt x="6858000" y="2653029"/>
                </a:lnTo>
                <a:lnTo>
                  <a:pt x="6858000" y="2961893"/>
                </a:lnTo>
                <a:lnTo>
                  <a:pt x="6851935" y="2991961"/>
                </a:lnTo>
                <a:lnTo>
                  <a:pt x="6835394" y="3016504"/>
                </a:lnTo>
                <a:lnTo>
                  <a:pt x="6810851" y="3033045"/>
                </a:lnTo>
                <a:lnTo>
                  <a:pt x="6780783" y="3039110"/>
                </a:lnTo>
                <a:lnTo>
                  <a:pt x="77215" y="3039110"/>
                </a:lnTo>
                <a:lnTo>
                  <a:pt x="47159" y="3033045"/>
                </a:lnTo>
                <a:lnTo>
                  <a:pt x="22615" y="3016504"/>
                </a:lnTo>
                <a:lnTo>
                  <a:pt x="6067" y="2991961"/>
                </a:lnTo>
                <a:lnTo>
                  <a:pt x="0" y="2961893"/>
                </a:lnTo>
                <a:lnTo>
                  <a:pt x="0" y="2653029"/>
                </a:lnTo>
                <a:close/>
              </a:path>
              <a:path w="6858000" h="5100320">
                <a:moveTo>
                  <a:pt x="0" y="3168268"/>
                </a:moveTo>
                <a:lnTo>
                  <a:pt x="6067" y="3138181"/>
                </a:lnTo>
                <a:lnTo>
                  <a:pt x="22615" y="3113595"/>
                </a:lnTo>
                <a:lnTo>
                  <a:pt x="47159" y="3097010"/>
                </a:lnTo>
                <a:lnTo>
                  <a:pt x="77215" y="3090925"/>
                </a:lnTo>
                <a:lnTo>
                  <a:pt x="6780783" y="3090925"/>
                </a:lnTo>
                <a:lnTo>
                  <a:pt x="6810851" y="3097010"/>
                </a:lnTo>
                <a:lnTo>
                  <a:pt x="6835394" y="3113595"/>
                </a:lnTo>
                <a:lnTo>
                  <a:pt x="6851935" y="3138181"/>
                </a:lnTo>
                <a:lnTo>
                  <a:pt x="6858000" y="3168268"/>
                </a:lnTo>
                <a:lnTo>
                  <a:pt x="6858000" y="3477132"/>
                </a:lnTo>
                <a:lnTo>
                  <a:pt x="6851935" y="3507146"/>
                </a:lnTo>
                <a:lnTo>
                  <a:pt x="6835394" y="3531695"/>
                </a:lnTo>
                <a:lnTo>
                  <a:pt x="6810851" y="3548266"/>
                </a:lnTo>
                <a:lnTo>
                  <a:pt x="6780783" y="3554349"/>
                </a:lnTo>
                <a:lnTo>
                  <a:pt x="77215" y="3554349"/>
                </a:lnTo>
                <a:lnTo>
                  <a:pt x="47159" y="3548266"/>
                </a:lnTo>
                <a:lnTo>
                  <a:pt x="22615" y="3531695"/>
                </a:lnTo>
                <a:lnTo>
                  <a:pt x="6067" y="3507146"/>
                </a:lnTo>
                <a:lnTo>
                  <a:pt x="0" y="3477132"/>
                </a:lnTo>
                <a:lnTo>
                  <a:pt x="0" y="3168268"/>
                </a:lnTo>
                <a:close/>
              </a:path>
              <a:path w="6858000" h="5100320">
                <a:moveTo>
                  <a:pt x="0" y="3683380"/>
                </a:moveTo>
                <a:lnTo>
                  <a:pt x="6067" y="3653313"/>
                </a:lnTo>
                <a:lnTo>
                  <a:pt x="22615" y="3628770"/>
                </a:lnTo>
                <a:lnTo>
                  <a:pt x="47159" y="3612229"/>
                </a:lnTo>
                <a:lnTo>
                  <a:pt x="77215" y="3606164"/>
                </a:lnTo>
                <a:lnTo>
                  <a:pt x="6780783" y="3606164"/>
                </a:lnTo>
                <a:lnTo>
                  <a:pt x="6810851" y="3612229"/>
                </a:lnTo>
                <a:lnTo>
                  <a:pt x="6835394" y="3628770"/>
                </a:lnTo>
                <a:lnTo>
                  <a:pt x="6851935" y="3653313"/>
                </a:lnTo>
                <a:lnTo>
                  <a:pt x="6858000" y="3683380"/>
                </a:lnTo>
                <a:lnTo>
                  <a:pt x="6858000" y="3992244"/>
                </a:lnTo>
                <a:lnTo>
                  <a:pt x="6851935" y="4022312"/>
                </a:lnTo>
                <a:lnTo>
                  <a:pt x="6835394" y="4046854"/>
                </a:lnTo>
                <a:lnTo>
                  <a:pt x="6810851" y="4063396"/>
                </a:lnTo>
                <a:lnTo>
                  <a:pt x="6780783" y="4069460"/>
                </a:lnTo>
                <a:lnTo>
                  <a:pt x="77215" y="4069460"/>
                </a:lnTo>
                <a:lnTo>
                  <a:pt x="47159" y="4063396"/>
                </a:lnTo>
                <a:lnTo>
                  <a:pt x="22615" y="4046854"/>
                </a:lnTo>
                <a:lnTo>
                  <a:pt x="6067" y="4022312"/>
                </a:lnTo>
                <a:lnTo>
                  <a:pt x="0" y="3992244"/>
                </a:lnTo>
                <a:lnTo>
                  <a:pt x="0" y="3683380"/>
                </a:lnTo>
                <a:close/>
              </a:path>
              <a:path w="6858000" h="5100320">
                <a:moveTo>
                  <a:pt x="0" y="4198531"/>
                </a:moveTo>
                <a:lnTo>
                  <a:pt x="6067" y="4168463"/>
                </a:lnTo>
                <a:lnTo>
                  <a:pt x="22615" y="4143906"/>
                </a:lnTo>
                <a:lnTo>
                  <a:pt x="47159" y="4127348"/>
                </a:lnTo>
                <a:lnTo>
                  <a:pt x="77215" y="4121277"/>
                </a:lnTo>
                <a:lnTo>
                  <a:pt x="6780783" y="4121277"/>
                </a:lnTo>
                <a:lnTo>
                  <a:pt x="6810851" y="4127348"/>
                </a:lnTo>
                <a:lnTo>
                  <a:pt x="6835394" y="4143906"/>
                </a:lnTo>
                <a:lnTo>
                  <a:pt x="6851935" y="4168463"/>
                </a:lnTo>
                <a:lnTo>
                  <a:pt x="6858000" y="4198531"/>
                </a:lnTo>
                <a:lnTo>
                  <a:pt x="6858000" y="4507407"/>
                </a:lnTo>
                <a:lnTo>
                  <a:pt x="6851935" y="4537464"/>
                </a:lnTo>
                <a:lnTo>
                  <a:pt x="6835394" y="4562008"/>
                </a:lnTo>
                <a:lnTo>
                  <a:pt x="6810851" y="4578555"/>
                </a:lnTo>
                <a:lnTo>
                  <a:pt x="6780783" y="4584623"/>
                </a:lnTo>
                <a:lnTo>
                  <a:pt x="77215" y="4584623"/>
                </a:lnTo>
                <a:lnTo>
                  <a:pt x="47159" y="4578555"/>
                </a:lnTo>
                <a:lnTo>
                  <a:pt x="22615" y="4562008"/>
                </a:lnTo>
                <a:lnTo>
                  <a:pt x="6067" y="4537464"/>
                </a:lnTo>
                <a:lnTo>
                  <a:pt x="0" y="4507407"/>
                </a:lnTo>
                <a:lnTo>
                  <a:pt x="0" y="4198531"/>
                </a:lnTo>
                <a:close/>
              </a:path>
              <a:path w="6858000" h="5100320">
                <a:moveTo>
                  <a:pt x="0" y="4713681"/>
                </a:moveTo>
                <a:lnTo>
                  <a:pt x="6067" y="4683624"/>
                </a:lnTo>
                <a:lnTo>
                  <a:pt x="22615" y="4659080"/>
                </a:lnTo>
                <a:lnTo>
                  <a:pt x="47159" y="4642533"/>
                </a:lnTo>
                <a:lnTo>
                  <a:pt x="77215" y="4636465"/>
                </a:lnTo>
                <a:lnTo>
                  <a:pt x="6780783" y="4636465"/>
                </a:lnTo>
                <a:lnTo>
                  <a:pt x="6810851" y="4642533"/>
                </a:lnTo>
                <a:lnTo>
                  <a:pt x="6835394" y="4659080"/>
                </a:lnTo>
                <a:lnTo>
                  <a:pt x="6851935" y="4683624"/>
                </a:lnTo>
                <a:lnTo>
                  <a:pt x="6858000" y="4713681"/>
                </a:lnTo>
                <a:lnTo>
                  <a:pt x="6858000" y="5022557"/>
                </a:lnTo>
                <a:lnTo>
                  <a:pt x="6851935" y="5052621"/>
                </a:lnTo>
                <a:lnTo>
                  <a:pt x="6835394" y="5077169"/>
                </a:lnTo>
                <a:lnTo>
                  <a:pt x="6810851" y="5093718"/>
                </a:lnTo>
                <a:lnTo>
                  <a:pt x="6780783" y="5099786"/>
                </a:lnTo>
                <a:lnTo>
                  <a:pt x="77215" y="5099786"/>
                </a:lnTo>
                <a:lnTo>
                  <a:pt x="47159" y="5093718"/>
                </a:lnTo>
                <a:lnTo>
                  <a:pt x="22615" y="5077169"/>
                </a:lnTo>
                <a:lnTo>
                  <a:pt x="6067" y="5052621"/>
                </a:lnTo>
                <a:lnTo>
                  <a:pt x="0" y="5022557"/>
                </a:lnTo>
                <a:lnTo>
                  <a:pt x="0" y="4713681"/>
                </a:lnTo>
                <a:close/>
              </a:path>
            </a:pathLst>
          </a:custGeom>
          <a:ln w="12700">
            <a:solidFill>
              <a:srgbClr val="BE40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3139" y="1470406"/>
            <a:ext cx="6036945" cy="4958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Introduction</a:t>
            </a:r>
            <a:r>
              <a:rPr sz="2000" b="1" spc="-8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0" dirty="0">
                <a:solidFill>
                  <a:srgbClr val="BEBEBE"/>
                </a:solidFill>
                <a:latin typeface="Times New Roman"/>
                <a:cs typeface="Times New Roman"/>
              </a:rPr>
              <a:t>of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75" dirty="0">
                <a:solidFill>
                  <a:srgbClr val="BEBEBE"/>
                </a:solidFill>
                <a:latin typeface="Times New Roman"/>
                <a:cs typeface="Times New Roman"/>
              </a:rPr>
              <a:t>LAN;</a:t>
            </a:r>
            <a:r>
              <a:rPr sz="2000" b="1" spc="-12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35" dirty="0">
                <a:solidFill>
                  <a:srgbClr val="BEBEBE"/>
                </a:solidFill>
                <a:latin typeface="Times New Roman"/>
                <a:cs typeface="Times New Roman"/>
              </a:rPr>
              <a:t>MAN;WAN;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130" dirty="0">
                <a:solidFill>
                  <a:srgbClr val="BEBEBE"/>
                </a:solidFill>
                <a:latin typeface="Times New Roman"/>
                <a:cs typeface="Times New Roman"/>
              </a:rPr>
              <a:t>PAN,</a:t>
            </a:r>
            <a:r>
              <a:rPr sz="2000" b="1" spc="-21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Ad-hoc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BEBEBE"/>
                </a:solidFill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655"/>
              </a:spcBef>
            </a:pP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Topologies</a:t>
            </a:r>
            <a:endParaRPr sz="2000">
              <a:latin typeface="Times New Roman"/>
              <a:cs typeface="Times New Roman"/>
            </a:endParaRPr>
          </a:p>
          <a:p>
            <a:pPr marL="19685" marR="3536315">
              <a:lnSpc>
                <a:spcPct val="169000"/>
              </a:lnSpc>
            </a:pPr>
            <a:r>
              <a:rPr sz="2000" b="1" spc="-35" dirty="0">
                <a:solidFill>
                  <a:srgbClr val="BEBEBE"/>
                </a:solidFill>
                <a:latin typeface="Times New Roman"/>
                <a:cs typeface="Times New Roman"/>
              </a:rPr>
              <a:t>Ne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t</a:t>
            </a:r>
            <a:r>
              <a:rPr sz="2000" b="1" dirty="0">
                <a:solidFill>
                  <a:srgbClr val="BEBEBE"/>
                </a:solidFill>
                <a:latin typeface="Times New Roman"/>
                <a:cs typeface="Times New Roman"/>
              </a:rPr>
              <a:t>w</a:t>
            </a: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o</a:t>
            </a:r>
            <a:r>
              <a:rPr sz="2000" b="1" spc="10" dirty="0">
                <a:solidFill>
                  <a:srgbClr val="BEBEBE"/>
                </a:solidFill>
                <a:latin typeface="Times New Roman"/>
                <a:cs typeface="Times New Roman"/>
              </a:rPr>
              <a:t>r</a:t>
            </a: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k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Arc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hit</a:t>
            </a:r>
            <a:r>
              <a:rPr sz="2000" b="1" spc="20" dirty="0">
                <a:solidFill>
                  <a:srgbClr val="BEBEBE"/>
                </a:solidFill>
                <a:latin typeface="Times New Roman"/>
                <a:cs typeface="Times New Roman"/>
              </a:rPr>
              <a:t>e</a:t>
            </a:r>
            <a:r>
              <a:rPr sz="2000" b="1" spc="35" dirty="0">
                <a:solidFill>
                  <a:srgbClr val="BEBEBE"/>
                </a:solidFill>
                <a:latin typeface="Times New Roman"/>
                <a:cs typeface="Times New Roman"/>
              </a:rPr>
              <a:t>c</a:t>
            </a:r>
            <a:r>
              <a:rPr sz="2000" b="1" spc="15" dirty="0">
                <a:solidFill>
                  <a:srgbClr val="BEBEBE"/>
                </a:solidFill>
                <a:latin typeface="Times New Roman"/>
                <a:cs typeface="Times New Roman"/>
              </a:rPr>
              <a:t>t</a:t>
            </a:r>
            <a:r>
              <a:rPr sz="2000" b="1" spc="-15" dirty="0">
                <a:solidFill>
                  <a:srgbClr val="BEBEBE"/>
                </a:solidFill>
                <a:latin typeface="Times New Roman"/>
                <a:cs typeface="Times New Roman"/>
              </a:rPr>
              <a:t>ures  </a:t>
            </a:r>
            <a:r>
              <a:rPr sz="2000" b="1" spc="-185" dirty="0">
                <a:solidFill>
                  <a:srgbClr val="BEBEBE"/>
                </a:solidFill>
                <a:latin typeface="Times New Roman"/>
                <a:cs typeface="Times New Roman"/>
              </a:rPr>
              <a:t>O</a:t>
            </a:r>
            <a:r>
              <a:rPr sz="2000" b="1" spc="-140" dirty="0">
                <a:solidFill>
                  <a:srgbClr val="BEBEBE"/>
                </a:solidFill>
                <a:latin typeface="Times New Roman"/>
                <a:cs typeface="Times New Roman"/>
              </a:rPr>
              <a:t>S</a:t>
            </a:r>
            <a:r>
              <a:rPr sz="2000" b="1" spc="-50" dirty="0">
                <a:solidFill>
                  <a:srgbClr val="BEBEBE"/>
                </a:solidFill>
                <a:latin typeface="Times New Roman"/>
                <a:cs typeface="Times New Roman"/>
              </a:rPr>
              <a:t>I </a:t>
            </a:r>
            <a:r>
              <a:rPr sz="2000" b="1" spc="5" dirty="0">
                <a:solidFill>
                  <a:srgbClr val="BEBEBE"/>
                </a:solidFill>
                <a:latin typeface="Times New Roman"/>
                <a:cs typeface="Times New Roman"/>
              </a:rPr>
              <a:t>Mo</a:t>
            </a:r>
            <a:r>
              <a:rPr sz="2000" b="1" spc="35" dirty="0">
                <a:solidFill>
                  <a:srgbClr val="BEBEBE"/>
                </a:solidFill>
                <a:latin typeface="Times New Roman"/>
                <a:cs typeface="Times New Roman"/>
              </a:rPr>
              <a:t>del</a:t>
            </a:r>
            <a:endParaRPr sz="20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660"/>
              </a:spcBef>
            </a:pPr>
            <a:r>
              <a:rPr sz="2000" b="1" spc="-195" dirty="0">
                <a:solidFill>
                  <a:srgbClr val="BEBEBE"/>
                </a:solidFill>
                <a:latin typeface="Times New Roman"/>
                <a:cs typeface="Times New Roman"/>
              </a:rPr>
              <a:t>TC</a:t>
            </a:r>
            <a:r>
              <a:rPr sz="2000" b="1" spc="-165" dirty="0">
                <a:solidFill>
                  <a:srgbClr val="BEBEBE"/>
                </a:solidFill>
                <a:latin typeface="Times New Roman"/>
                <a:cs typeface="Times New Roman"/>
              </a:rPr>
              <a:t>P</a:t>
            </a:r>
            <a:r>
              <a:rPr sz="2000" b="1" spc="105" dirty="0">
                <a:solidFill>
                  <a:srgbClr val="BEBEBE"/>
                </a:solidFill>
                <a:latin typeface="Times New Roman"/>
                <a:cs typeface="Times New Roman"/>
              </a:rPr>
              <a:t>/IP</a:t>
            </a:r>
            <a:r>
              <a:rPr sz="2000" b="1" spc="-7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2000" b="1" spc="25" dirty="0">
                <a:solidFill>
                  <a:srgbClr val="BEBEBE"/>
                </a:solidFill>
                <a:latin typeface="Times New Roman"/>
                <a:cs typeface="Times New Roman"/>
              </a:rPr>
              <a:t>Model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Design</a:t>
            </a:r>
            <a:r>
              <a:rPr sz="18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issues</a:t>
            </a:r>
            <a:r>
              <a:rPr sz="1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18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90" dirty="0">
                <a:solidFill>
                  <a:srgbClr val="FF0000"/>
                </a:solidFill>
                <a:latin typeface="Times New Roman"/>
                <a:cs typeface="Times New Roman"/>
              </a:rPr>
              <a:t>Layers</a:t>
            </a:r>
            <a:endParaRPr sz="1800">
              <a:latin typeface="Times New Roman"/>
              <a:cs typeface="Times New Roman"/>
            </a:endParaRPr>
          </a:p>
          <a:p>
            <a:pPr marL="12700" marR="4124325">
              <a:lnSpc>
                <a:spcPct val="187800"/>
              </a:lnSpc>
            </a:pPr>
            <a:r>
              <a:rPr sz="1800" spc="-220" dirty="0">
                <a:latin typeface="Times New Roman"/>
                <a:cs typeface="Times New Roman"/>
              </a:rPr>
              <a:t>T</a:t>
            </a:r>
            <a:r>
              <a:rPr sz="1800" spc="-60" dirty="0">
                <a:latin typeface="Times New Roman"/>
                <a:cs typeface="Times New Roman"/>
              </a:rPr>
              <a:t>r</a:t>
            </a:r>
            <a:r>
              <a:rPr sz="1800" spc="-65" dirty="0">
                <a:latin typeface="Times New Roman"/>
                <a:cs typeface="Times New Roman"/>
              </a:rPr>
              <a:t>a</a:t>
            </a:r>
            <a:r>
              <a:rPr sz="1800" spc="-110" dirty="0">
                <a:latin typeface="Times New Roman"/>
                <a:cs typeface="Times New Roman"/>
              </a:rPr>
              <a:t>nsm</a:t>
            </a:r>
            <a:r>
              <a:rPr sz="1800" spc="-120" dirty="0">
                <a:latin typeface="Times New Roman"/>
                <a:cs typeface="Times New Roman"/>
              </a:rPr>
              <a:t>iss</a:t>
            </a:r>
            <a:r>
              <a:rPr sz="1800" spc="-105" dirty="0">
                <a:latin typeface="Times New Roman"/>
                <a:cs typeface="Times New Roman"/>
              </a:rPr>
              <a:t>i</a:t>
            </a:r>
            <a:r>
              <a:rPr sz="1800" spc="-80" dirty="0">
                <a:latin typeface="Times New Roman"/>
                <a:cs typeface="Times New Roman"/>
              </a:rPr>
              <a:t>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30" dirty="0">
                <a:latin typeface="Times New Roman"/>
                <a:cs typeface="Times New Roman"/>
              </a:rPr>
              <a:t>Me</a:t>
            </a:r>
            <a:r>
              <a:rPr sz="1800" spc="-95" dirty="0">
                <a:latin typeface="Times New Roman"/>
                <a:cs typeface="Times New Roman"/>
              </a:rPr>
              <a:t>d</a:t>
            </a:r>
            <a:r>
              <a:rPr sz="1800" spc="-90" dirty="0">
                <a:latin typeface="Times New Roman"/>
                <a:cs typeface="Times New Roman"/>
              </a:rPr>
              <a:t>iums  </a:t>
            </a:r>
            <a:r>
              <a:rPr sz="1800" spc="-55" dirty="0">
                <a:latin typeface="Times New Roman"/>
                <a:cs typeface="Times New Roman"/>
              </a:rPr>
              <a:t>Net</a:t>
            </a:r>
            <a:r>
              <a:rPr sz="1800" spc="-145" dirty="0">
                <a:latin typeface="Times New Roman"/>
                <a:cs typeface="Times New Roman"/>
              </a:rPr>
              <a:t>w</a:t>
            </a:r>
            <a:r>
              <a:rPr sz="1800" spc="-35" dirty="0">
                <a:latin typeface="Times New Roman"/>
                <a:cs typeface="Times New Roman"/>
              </a:rPr>
              <a:t>o</a:t>
            </a:r>
            <a:r>
              <a:rPr sz="1800" spc="-20" dirty="0">
                <a:latin typeface="Times New Roman"/>
                <a:cs typeface="Times New Roman"/>
              </a:rPr>
              <a:t>r</a:t>
            </a:r>
            <a:r>
              <a:rPr sz="1800" spc="-114" dirty="0">
                <a:latin typeface="Times New Roman"/>
                <a:cs typeface="Times New Roman"/>
              </a:rPr>
              <a:t>k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D</a:t>
            </a:r>
            <a:r>
              <a:rPr sz="1800" spc="-90" dirty="0">
                <a:latin typeface="Times New Roman"/>
                <a:cs typeface="Times New Roman"/>
              </a:rPr>
              <a:t>e</a:t>
            </a:r>
            <a:r>
              <a:rPr sz="1800" spc="-110" dirty="0">
                <a:latin typeface="Times New Roman"/>
                <a:cs typeface="Times New Roman"/>
              </a:rPr>
              <a:t>vices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240" dirty="0">
                <a:latin typeface="Times New Roman"/>
                <a:cs typeface="Times New Roman"/>
              </a:rPr>
              <a:t>M</a:t>
            </a:r>
            <a:r>
              <a:rPr sz="1800" spc="-114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50" dirty="0">
                <a:latin typeface="Times New Roman"/>
                <a:cs typeface="Times New Roman"/>
              </a:rPr>
              <a:t>c</a:t>
            </a:r>
            <a:r>
              <a:rPr sz="1800" spc="-110" dirty="0">
                <a:latin typeface="Times New Roman"/>
                <a:cs typeface="Times New Roman"/>
              </a:rPr>
              <a:t>hes</a:t>
            </a:r>
            <a:r>
              <a:rPr sz="1800" spc="-10" dirty="0">
                <a:latin typeface="Times New Roman"/>
                <a:cs typeface="Times New Roman"/>
              </a:rPr>
              <a:t>ter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an</a:t>
            </a:r>
            <a:r>
              <a:rPr sz="1800" spc="-80" dirty="0">
                <a:latin typeface="Times New Roman"/>
                <a:cs typeface="Times New Roman"/>
              </a:rPr>
              <a:t>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D</a:t>
            </a:r>
            <a:r>
              <a:rPr sz="1800" spc="-85" dirty="0">
                <a:latin typeface="Times New Roman"/>
                <a:cs typeface="Times New Roman"/>
              </a:rPr>
              <a:t>iffe</a:t>
            </a:r>
            <a:r>
              <a:rPr sz="1800" spc="-95" dirty="0">
                <a:latin typeface="Times New Roman"/>
                <a:cs typeface="Times New Roman"/>
              </a:rPr>
              <a:t>r</a:t>
            </a:r>
            <a:r>
              <a:rPr sz="1800" spc="-50" dirty="0">
                <a:latin typeface="Times New Roman"/>
                <a:cs typeface="Times New Roman"/>
              </a:rPr>
              <a:t>en</a:t>
            </a:r>
            <a:r>
              <a:rPr sz="1800" spc="-25" dirty="0">
                <a:latin typeface="Times New Roman"/>
                <a:cs typeface="Times New Roman"/>
              </a:rPr>
              <a:t>t</a:t>
            </a:r>
            <a:r>
              <a:rPr sz="1800" spc="-100" dirty="0">
                <a:latin typeface="Times New Roman"/>
                <a:cs typeface="Times New Roman"/>
              </a:rPr>
              <a:t>ial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40" dirty="0">
                <a:latin typeface="Times New Roman"/>
                <a:cs typeface="Times New Roman"/>
              </a:rPr>
              <a:t>M</a:t>
            </a:r>
            <a:r>
              <a:rPr sz="1800" spc="-114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50" dirty="0">
                <a:latin typeface="Times New Roman"/>
                <a:cs typeface="Times New Roman"/>
              </a:rPr>
              <a:t>c</a:t>
            </a:r>
            <a:r>
              <a:rPr sz="1800" spc="-110" dirty="0">
                <a:latin typeface="Times New Roman"/>
                <a:cs typeface="Times New Roman"/>
              </a:rPr>
              <a:t>hes</a:t>
            </a:r>
            <a:r>
              <a:rPr sz="1800" spc="-10" dirty="0">
                <a:latin typeface="Times New Roman"/>
                <a:cs typeface="Times New Roman"/>
              </a:rPr>
              <a:t>ter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90" dirty="0">
                <a:latin typeface="Times New Roman"/>
                <a:cs typeface="Times New Roman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n</a:t>
            </a:r>
            <a:r>
              <a:rPr sz="1800" spc="-85" dirty="0">
                <a:latin typeface="Times New Roman"/>
                <a:cs typeface="Times New Roman"/>
              </a:rPr>
              <a:t>c</a:t>
            </a:r>
            <a:r>
              <a:rPr sz="1800" spc="-80" dirty="0">
                <a:latin typeface="Times New Roman"/>
                <a:cs typeface="Times New Roman"/>
              </a:rPr>
              <a:t>o</a:t>
            </a:r>
            <a:r>
              <a:rPr sz="1800" spc="-75" dirty="0">
                <a:latin typeface="Times New Roman"/>
                <a:cs typeface="Times New Roman"/>
              </a:rPr>
              <a:t>d</a:t>
            </a:r>
            <a:r>
              <a:rPr sz="1800" spc="-85" dirty="0">
                <a:latin typeface="Times New Roman"/>
                <a:cs typeface="Times New Roman"/>
              </a:rPr>
              <a:t>ings;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90" dirty="0">
                <a:latin typeface="Times New Roman"/>
                <a:cs typeface="Times New Roman"/>
              </a:rPr>
              <a:t>IEEE802.11: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Frequency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Hopping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(FHSS)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Direct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Sequence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55" dirty="0">
                <a:latin typeface="Times New Roman"/>
                <a:cs typeface="Times New Roman"/>
              </a:rPr>
              <a:t>(DSSS)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5185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/>
              <a:t>Design</a:t>
            </a:r>
            <a:r>
              <a:rPr sz="4000" spc="-10" dirty="0"/>
              <a:t> </a:t>
            </a:r>
            <a:r>
              <a:rPr sz="4000" dirty="0"/>
              <a:t>issues</a:t>
            </a:r>
            <a:r>
              <a:rPr sz="4000" spc="-15" dirty="0"/>
              <a:t> </a:t>
            </a:r>
            <a:r>
              <a:rPr sz="4000" spc="-75" dirty="0"/>
              <a:t>for</a:t>
            </a:r>
            <a:r>
              <a:rPr sz="4000" spc="5" dirty="0"/>
              <a:t> </a:t>
            </a:r>
            <a:r>
              <a:rPr sz="4000" spc="-55" dirty="0"/>
              <a:t>Layers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58239"/>
            <a:ext cx="1984375" cy="23882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0" dirty="0">
                <a:latin typeface="Times New Roman"/>
                <a:cs typeface="Times New Roman"/>
              </a:rPr>
              <a:t>Addressing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50" dirty="0">
                <a:latin typeface="Times New Roman"/>
                <a:cs typeface="Times New Roman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r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C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30" dirty="0">
                <a:latin typeface="Times New Roman"/>
                <a:cs typeface="Times New Roman"/>
              </a:rPr>
              <a:t>t</a:t>
            </a:r>
            <a:r>
              <a:rPr sz="2600" spc="10" dirty="0">
                <a:latin typeface="Times New Roman"/>
                <a:cs typeface="Times New Roman"/>
              </a:rPr>
              <a:t>r</a:t>
            </a:r>
            <a:r>
              <a:rPr sz="2600" spc="-105" dirty="0">
                <a:latin typeface="Times New Roman"/>
                <a:cs typeface="Times New Roman"/>
              </a:rPr>
              <a:t>ol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45" dirty="0">
                <a:latin typeface="Times New Roman"/>
                <a:cs typeface="Times New Roman"/>
              </a:rPr>
              <a:t>Fl</a:t>
            </a:r>
            <a:r>
              <a:rPr sz="2600" spc="-260" dirty="0">
                <a:latin typeface="Times New Roman"/>
                <a:cs typeface="Times New Roman"/>
              </a:rPr>
              <a:t>o</a:t>
            </a:r>
            <a:r>
              <a:rPr sz="2600" spc="-145" dirty="0">
                <a:latin typeface="Times New Roman"/>
                <a:cs typeface="Times New Roman"/>
              </a:rPr>
              <a:t>w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Co</a:t>
            </a:r>
            <a:r>
              <a:rPr sz="2600" spc="-120" dirty="0">
                <a:latin typeface="Times New Roman"/>
                <a:cs typeface="Times New Roman"/>
              </a:rPr>
              <a:t>n</a:t>
            </a:r>
            <a:r>
              <a:rPr sz="2600" spc="30" dirty="0">
                <a:latin typeface="Times New Roman"/>
                <a:cs typeface="Times New Roman"/>
              </a:rPr>
              <a:t>t</a:t>
            </a:r>
            <a:r>
              <a:rPr sz="2600" spc="10" dirty="0">
                <a:latin typeface="Times New Roman"/>
                <a:cs typeface="Times New Roman"/>
              </a:rPr>
              <a:t>r</a:t>
            </a:r>
            <a:r>
              <a:rPr sz="2600" spc="-105" dirty="0">
                <a:latin typeface="Times New Roman"/>
                <a:cs typeface="Times New Roman"/>
              </a:rPr>
              <a:t>ol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25" dirty="0">
                <a:latin typeface="Times New Roman"/>
                <a:cs typeface="Times New Roman"/>
              </a:rPr>
              <a:t>Multiplexing</a:t>
            </a:r>
            <a:endParaRPr sz="26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20" dirty="0">
                <a:latin typeface="Times New Roman"/>
                <a:cs typeface="Times New Roman"/>
              </a:rPr>
              <a:t>Routing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751459"/>
            <a:ext cx="21507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Addressing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373784"/>
            <a:ext cx="7332345" cy="45561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434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-175" dirty="0">
                <a:latin typeface="Times New Roman"/>
                <a:cs typeface="Times New Roman"/>
              </a:rPr>
              <a:t>Ad</a:t>
            </a:r>
            <a:r>
              <a:rPr sz="2200" spc="-135" dirty="0">
                <a:latin typeface="Times New Roman"/>
                <a:cs typeface="Times New Roman"/>
              </a:rPr>
              <a:t>d</a:t>
            </a:r>
            <a:r>
              <a:rPr sz="2200" spc="-5" dirty="0">
                <a:latin typeface="Times New Roman"/>
                <a:cs typeface="Times New Roman"/>
              </a:rPr>
              <a:t>r</a:t>
            </a:r>
            <a:r>
              <a:rPr sz="2200" spc="-140" dirty="0">
                <a:latin typeface="Times New Roman"/>
                <a:cs typeface="Times New Roman"/>
              </a:rPr>
              <a:t>e</a:t>
            </a:r>
            <a:r>
              <a:rPr sz="2200" spc="-130" dirty="0">
                <a:latin typeface="Times New Roman"/>
                <a:cs typeface="Times New Roman"/>
              </a:rPr>
              <a:t>s</a:t>
            </a:r>
            <a:r>
              <a:rPr sz="2200" spc="-140" dirty="0">
                <a:latin typeface="Times New Roman"/>
                <a:cs typeface="Times New Roman"/>
              </a:rPr>
              <a:t>sing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95" dirty="0">
                <a:latin typeface="Times New Roman"/>
                <a:cs typeface="Times New Roman"/>
              </a:rPr>
              <a:t>L</a:t>
            </a:r>
            <a:r>
              <a:rPr sz="2200" spc="-175" dirty="0">
                <a:latin typeface="Times New Roman"/>
                <a:cs typeface="Times New Roman"/>
              </a:rPr>
              <a:t>e</a:t>
            </a:r>
            <a:r>
              <a:rPr sz="2200" spc="-240" dirty="0">
                <a:latin typeface="Times New Roman"/>
                <a:cs typeface="Times New Roman"/>
              </a:rPr>
              <a:t>v</a:t>
            </a:r>
            <a:r>
              <a:rPr sz="2200" spc="-85" dirty="0">
                <a:latin typeface="Times New Roman"/>
                <a:cs typeface="Times New Roman"/>
              </a:rPr>
              <a:t>el</a:t>
            </a:r>
            <a:endParaRPr sz="2200">
              <a:latin typeface="Times New Roman"/>
              <a:cs typeface="Times New Roman"/>
            </a:endParaRPr>
          </a:p>
          <a:p>
            <a:pPr marL="173355" indent="-161290">
              <a:lnSpc>
                <a:spcPts val="2510"/>
              </a:lnSpc>
              <a:spcBef>
                <a:spcPts val="335"/>
              </a:spcBef>
              <a:buChar char="•"/>
              <a:tabLst>
                <a:tab pos="173990" algn="l"/>
              </a:tabLst>
            </a:pPr>
            <a:r>
              <a:rPr sz="2200" spc="-105" dirty="0">
                <a:latin typeface="Times New Roman"/>
                <a:cs typeface="Times New Roman"/>
              </a:rPr>
              <a:t>Unique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address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for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each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end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system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(computer)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each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imes New Roman"/>
                <a:cs typeface="Times New Roman"/>
              </a:rPr>
              <a:t>intermediate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380"/>
              </a:lnSpc>
            </a:pPr>
            <a:r>
              <a:rPr sz="2200" spc="-80" dirty="0">
                <a:latin typeface="Times New Roman"/>
                <a:cs typeface="Times New Roman"/>
              </a:rPr>
              <a:t>system(router)</a:t>
            </a:r>
            <a:endParaRPr sz="2200">
              <a:latin typeface="Times New Roman"/>
              <a:cs typeface="Times New Roman"/>
            </a:endParaRPr>
          </a:p>
          <a:p>
            <a:pPr marL="12700" marR="1586230">
              <a:lnSpc>
                <a:spcPts val="2380"/>
              </a:lnSpc>
              <a:spcBef>
                <a:spcPts val="165"/>
              </a:spcBef>
              <a:buChar char="•"/>
              <a:tabLst>
                <a:tab pos="173990" algn="l"/>
              </a:tabLst>
            </a:pPr>
            <a:r>
              <a:rPr sz="2200" spc="-90" dirty="0">
                <a:latin typeface="Times New Roman"/>
                <a:cs typeface="Times New Roman"/>
              </a:rPr>
              <a:t>Network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level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14" dirty="0">
                <a:latin typeface="Times New Roman"/>
                <a:cs typeface="Times New Roman"/>
              </a:rPr>
              <a:t>address-IP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imes New Roman"/>
                <a:cs typeface="Times New Roman"/>
              </a:rPr>
              <a:t>internet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address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imes New Roman"/>
                <a:cs typeface="Times New Roman"/>
              </a:rPr>
              <a:t>(TCP/IP)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Network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service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50" dirty="0">
                <a:latin typeface="Times New Roman"/>
                <a:cs typeface="Times New Roman"/>
              </a:rPr>
              <a:t>access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imes New Roman"/>
                <a:cs typeface="Times New Roman"/>
              </a:rPr>
              <a:t>point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or </a:t>
            </a:r>
            <a:r>
              <a:rPr sz="2200" spc="-215" dirty="0">
                <a:latin typeface="Times New Roman"/>
                <a:cs typeface="Times New Roman"/>
              </a:rPr>
              <a:t>NSAP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14" dirty="0">
                <a:latin typeface="Times New Roman"/>
                <a:cs typeface="Times New Roman"/>
              </a:rPr>
              <a:t>(OSI)</a:t>
            </a:r>
            <a:endParaRPr sz="2200">
              <a:latin typeface="Times New Roman"/>
              <a:cs typeface="Times New Roman"/>
            </a:endParaRPr>
          </a:p>
          <a:p>
            <a:pPr marL="173355" indent="-161290">
              <a:lnSpc>
                <a:spcPts val="2205"/>
              </a:lnSpc>
              <a:buChar char="•"/>
              <a:tabLst>
                <a:tab pos="173990" algn="l"/>
              </a:tabLst>
            </a:pPr>
            <a:r>
              <a:rPr sz="2200" spc="-114" dirty="0">
                <a:latin typeface="Times New Roman"/>
                <a:cs typeface="Times New Roman"/>
              </a:rPr>
              <a:t>Process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within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system-Port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number</a:t>
            </a:r>
            <a:r>
              <a:rPr sz="2200" spc="-30" dirty="0">
                <a:latin typeface="Times New Roman"/>
                <a:cs typeface="Times New Roman"/>
              </a:rPr>
              <a:t> (TCP/IP)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510"/>
              </a:lnSpc>
            </a:pPr>
            <a:r>
              <a:rPr sz="2200" spc="-220" dirty="0">
                <a:latin typeface="Times New Roman"/>
                <a:cs typeface="Times New Roman"/>
              </a:rPr>
              <a:t>S</a:t>
            </a:r>
            <a:r>
              <a:rPr sz="2200" spc="-185" dirty="0">
                <a:latin typeface="Times New Roman"/>
                <a:cs typeface="Times New Roman"/>
              </a:rPr>
              <a:t>e</a:t>
            </a:r>
            <a:r>
              <a:rPr sz="2200" spc="100" dirty="0">
                <a:latin typeface="Times New Roman"/>
                <a:cs typeface="Times New Roman"/>
              </a:rPr>
              <a:t>r</a:t>
            </a:r>
            <a:r>
              <a:rPr sz="2200" spc="-135" dirty="0">
                <a:latin typeface="Times New Roman"/>
                <a:cs typeface="Times New Roman"/>
              </a:rPr>
              <a:t>vi</a:t>
            </a:r>
            <a:r>
              <a:rPr sz="2200" spc="-165" dirty="0">
                <a:latin typeface="Times New Roman"/>
                <a:cs typeface="Times New Roman"/>
              </a:rPr>
              <a:t>c</a:t>
            </a:r>
            <a:r>
              <a:rPr sz="2200" spc="-90" dirty="0">
                <a:latin typeface="Times New Roman"/>
                <a:cs typeface="Times New Roman"/>
              </a:rPr>
              <a:t>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55" dirty="0">
                <a:latin typeface="Times New Roman"/>
                <a:cs typeface="Times New Roman"/>
              </a:rPr>
              <a:t>ac</a:t>
            </a:r>
            <a:r>
              <a:rPr sz="2200" spc="-160" dirty="0">
                <a:latin typeface="Times New Roman"/>
                <a:cs typeface="Times New Roman"/>
              </a:rPr>
              <a:t>c</a:t>
            </a:r>
            <a:r>
              <a:rPr sz="2200" spc="-140" dirty="0">
                <a:latin typeface="Times New Roman"/>
                <a:cs typeface="Times New Roman"/>
              </a:rPr>
              <a:t>e</a:t>
            </a:r>
            <a:r>
              <a:rPr sz="2200" spc="-130" dirty="0">
                <a:latin typeface="Times New Roman"/>
                <a:cs typeface="Times New Roman"/>
              </a:rPr>
              <a:t>s</a:t>
            </a:r>
            <a:r>
              <a:rPr sz="2200" spc="-170" dirty="0">
                <a:latin typeface="Times New Roman"/>
                <a:cs typeface="Times New Roman"/>
              </a:rPr>
              <a:t>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poi</a:t>
            </a:r>
            <a:r>
              <a:rPr sz="2200" spc="-105" dirty="0">
                <a:latin typeface="Times New Roman"/>
                <a:cs typeface="Times New Roman"/>
              </a:rPr>
              <a:t>n</a:t>
            </a:r>
            <a:r>
              <a:rPr sz="2200" spc="30" dirty="0">
                <a:latin typeface="Times New Roman"/>
                <a:cs typeface="Times New Roman"/>
              </a:rPr>
              <a:t>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o</a:t>
            </a:r>
            <a:r>
              <a:rPr sz="2200" spc="20" dirty="0">
                <a:latin typeface="Times New Roman"/>
                <a:cs typeface="Times New Roman"/>
              </a:rPr>
              <a:t>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40" dirty="0">
                <a:latin typeface="Times New Roman"/>
                <a:cs typeface="Times New Roman"/>
              </a:rPr>
              <a:t>SAP</a:t>
            </a:r>
            <a:endParaRPr sz="22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340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-175" dirty="0">
                <a:latin typeface="Times New Roman"/>
                <a:cs typeface="Times New Roman"/>
              </a:rPr>
              <a:t>Ad</a:t>
            </a:r>
            <a:r>
              <a:rPr sz="2200" spc="-135" dirty="0">
                <a:latin typeface="Times New Roman"/>
                <a:cs typeface="Times New Roman"/>
              </a:rPr>
              <a:t>d</a:t>
            </a:r>
            <a:r>
              <a:rPr sz="2200" spc="-5" dirty="0">
                <a:latin typeface="Times New Roman"/>
                <a:cs typeface="Times New Roman"/>
              </a:rPr>
              <a:t>r</a:t>
            </a:r>
            <a:r>
              <a:rPr sz="2200" spc="-140" dirty="0">
                <a:latin typeface="Times New Roman"/>
                <a:cs typeface="Times New Roman"/>
              </a:rPr>
              <a:t>e</a:t>
            </a:r>
            <a:r>
              <a:rPr sz="2200" spc="-130" dirty="0">
                <a:latin typeface="Times New Roman"/>
                <a:cs typeface="Times New Roman"/>
              </a:rPr>
              <a:t>s</a:t>
            </a:r>
            <a:r>
              <a:rPr sz="2200" spc="-140" dirty="0">
                <a:latin typeface="Times New Roman"/>
                <a:cs typeface="Times New Roman"/>
              </a:rPr>
              <a:t>sing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45" dirty="0">
                <a:latin typeface="Times New Roman"/>
                <a:cs typeface="Times New Roman"/>
              </a:rPr>
              <a:t>S</a:t>
            </a:r>
            <a:r>
              <a:rPr sz="2200" spc="-204" dirty="0">
                <a:latin typeface="Times New Roman"/>
                <a:cs typeface="Times New Roman"/>
              </a:rPr>
              <a:t>c</a:t>
            </a:r>
            <a:r>
              <a:rPr sz="2200" spc="-95" dirty="0">
                <a:latin typeface="Times New Roman"/>
                <a:cs typeface="Times New Roman"/>
              </a:rPr>
              <a:t>ope</a:t>
            </a:r>
            <a:endParaRPr sz="2200">
              <a:latin typeface="Times New Roman"/>
              <a:cs typeface="Times New Roman"/>
            </a:endParaRPr>
          </a:p>
          <a:p>
            <a:pPr marL="12700" marR="95885">
              <a:lnSpc>
                <a:spcPts val="2380"/>
              </a:lnSpc>
              <a:spcBef>
                <a:spcPts val="630"/>
              </a:spcBef>
              <a:buChar char="•"/>
              <a:tabLst>
                <a:tab pos="173990" algn="l"/>
              </a:tabLst>
            </a:pPr>
            <a:r>
              <a:rPr sz="2200" spc="-120" dirty="0">
                <a:latin typeface="Times New Roman"/>
                <a:cs typeface="Times New Roman"/>
              </a:rPr>
              <a:t>Global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14" dirty="0">
                <a:latin typeface="Times New Roman"/>
                <a:cs typeface="Times New Roman"/>
              </a:rPr>
              <a:t>nonambiguity-Global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address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identifies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unique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system,There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is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only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one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system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with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address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40" dirty="0">
                <a:latin typeface="Times New Roman"/>
                <a:cs typeface="Times New Roman"/>
              </a:rPr>
              <a:t>X</a:t>
            </a:r>
            <a:endParaRPr sz="2200">
              <a:latin typeface="Times New Roman"/>
              <a:cs typeface="Times New Roman"/>
            </a:endParaRPr>
          </a:p>
          <a:p>
            <a:pPr marL="173355" indent="-161290">
              <a:lnSpc>
                <a:spcPts val="2205"/>
              </a:lnSpc>
              <a:buChar char="•"/>
              <a:tabLst>
                <a:tab pos="173990" algn="l"/>
              </a:tabLst>
            </a:pPr>
            <a:r>
              <a:rPr sz="2200" spc="-120" dirty="0">
                <a:latin typeface="Times New Roman"/>
                <a:cs typeface="Times New Roman"/>
              </a:rPr>
              <a:t>Global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applicability-It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possible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at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70" dirty="0">
                <a:latin typeface="Times New Roman"/>
                <a:cs typeface="Times New Roman"/>
              </a:rPr>
              <a:t>any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system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(any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address)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to </a:t>
            </a:r>
            <a:r>
              <a:rPr sz="2200" spc="-105" dirty="0">
                <a:latin typeface="Times New Roman"/>
                <a:cs typeface="Times New Roman"/>
              </a:rPr>
              <a:t>identify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375"/>
              </a:lnSpc>
            </a:pPr>
            <a:r>
              <a:rPr sz="2200" spc="-170" dirty="0">
                <a:latin typeface="Times New Roman"/>
                <a:cs typeface="Times New Roman"/>
              </a:rPr>
              <a:t>any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imes New Roman"/>
                <a:cs typeface="Times New Roman"/>
              </a:rPr>
              <a:t>other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system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(address)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75" dirty="0">
                <a:latin typeface="Times New Roman"/>
                <a:cs typeface="Times New Roman"/>
              </a:rPr>
              <a:t>by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global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address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imes New Roman"/>
                <a:cs typeface="Times New Roman"/>
              </a:rPr>
              <a:t>other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system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375"/>
              </a:lnSpc>
            </a:pPr>
            <a:r>
              <a:rPr sz="2200" spc="-135" dirty="0">
                <a:latin typeface="Times New Roman"/>
                <a:cs typeface="Times New Roman"/>
              </a:rPr>
              <a:t>Address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40" dirty="0">
                <a:latin typeface="Times New Roman"/>
                <a:cs typeface="Times New Roman"/>
              </a:rPr>
              <a:t>X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identifies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that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system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from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anywhere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on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network</a:t>
            </a:r>
            <a:endParaRPr sz="2200">
              <a:latin typeface="Times New Roman"/>
              <a:cs typeface="Times New Roman"/>
            </a:endParaRPr>
          </a:p>
          <a:p>
            <a:pPr marL="173355" indent="-161290">
              <a:lnSpc>
                <a:spcPts val="2510"/>
              </a:lnSpc>
              <a:buChar char="•"/>
              <a:tabLst>
                <a:tab pos="173990" algn="l"/>
              </a:tabLst>
            </a:pPr>
            <a:r>
              <a:rPr sz="2200" spc="-140" dirty="0">
                <a:latin typeface="Times New Roman"/>
                <a:cs typeface="Times New Roman"/>
              </a:rPr>
              <a:t>e</a:t>
            </a:r>
            <a:r>
              <a:rPr sz="2200" spc="90" dirty="0">
                <a:latin typeface="Times New Roman"/>
                <a:cs typeface="Times New Roman"/>
              </a:rPr>
              <a:t>.</a:t>
            </a:r>
            <a:r>
              <a:rPr sz="2200" spc="-390" dirty="0">
                <a:latin typeface="Times New Roman"/>
                <a:cs typeface="Times New Roman"/>
              </a:rPr>
              <a:t>g</a:t>
            </a:r>
            <a:r>
              <a:rPr sz="2200" spc="90" dirty="0">
                <a:latin typeface="Times New Roman"/>
                <a:cs typeface="Times New Roman"/>
              </a:rPr>
              <a:t>.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spc="-265" dirty="0">
                <a:latin typeface="Times New Roman"/>
                <a:cs typeface="Times New Roman"/>
              </a:rPr>
              <a:t>M</a:t>
            </a:r>
            <a:r>
              <a:rPr sz="2200" spc="-395" dirty="0">
                <a:latin typeface="Times New Roman"/>
                <a:cs typeface="Times New Roman"/>
              </a:rPr>
              <a:t>A</a:t>
            </a:r>
            <a:r>
              <a:rPr sz="2200" spc="-120" dirty="0">
                <a:latin typeface="Times New Roman"/>
                <a:cs typeface="Times New Roman"/>
              </a:rPr>
              <a:t>C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ad</a:t>
            </a:r>
            <a:r>
              <a:rPr sz="2200" spc="-130" dirty="0">
                <a:latin typeface="Times New Roman"/>
                <a:cs typeface="Times New Roman"/>
              </a:rPr>
              <a:t>d</a:t>
            </a:r>
            <a:r>
              <a:rPr sz="2200" spc="-5" dirty="0">
                <a:latin typeface="Times New Roman"/>
                <a:cs typeface="Times New Roman"/>
              </a:rPr>
              <a:t>r</a:t>
            </a:r>
            <a:r>
              <a:rPr sz="2200" spc="-140" dirty="0">
                <a:latin typeface="Times New Roman"/>
                <a:cs typeface="Times New Roman"/>
              </a:rPr>
              <a:t>e</a:t>
            </a:r>
            <a:r>
              <a:rPr sz="2200" spc="-130" dirty="0">
                <a:latin typeface="Times New Roman"/>
                <a:cs typeface="Times New Roman"/>
              </a:rPr>
              <a:t>s</a:t>
            </a:r>
            <a:r>
              <a:rPr sz="2200" spc="-170" dirty="0">
                <a:latin typeface="Times New Roman"/>
                <a:cs typeface="Times New Roman"/>
              </a:rPr>
              <a:t>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10" dirty="0">
                <a:latin typeface="Times New Roman"/>
                <a:cs typeface="Times New Roman"/>
              </a:rPr>
              <a:t>IEEE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802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net</a:t>
            </a:r>
            <a:r>
              <a:rPr sz="2200" spc="-185" dirty="0">
                <a:latin typeface="Times New Roman"/>
                <a:cs typeface="Times New Roman"/>
              </a:rPr>
              <a:t>w</a:t>
            </a:r>
            <a:r>
              <a:rPr sz="2200" spc="-95" dirty="0">
                <a:latin typeface="Times New Roman"/>
                <a:cs typeface="Times New Roman"/>
              </a:rPr>
              <a:t>orks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7114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Error</a:t>
            </a:r>
            <a:r>
              <a:rPr sz="4000" spc="-85" dirty="0"/>
              <a:t> </a:t>
            </a:r>
            <a:r>
              <a:rPr sz="4000" spc="-45" dirty="0"/>
              <a:t>Control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559675" cy="3799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65" dirty="0">
                <a:latin typeface="Times New Roman"/>
                <a:cs typeface="Times New Roman"/>
              </a:rPr>
              <a:t>G</a:t>
            </a:r>
            <a:r>
              <a:rPr sz="2600" spc="-125" dirty="0">
                <a:latin typeface="Times New Roman"/>
                <a:cs typeface="Times New Roman"/>
              </a:rPr>
              <a:t>u</a:t>
            </a:r>
            <a:r>
              <a:rPr sz="2600" spc="-95" dirty="0">
                <a:latin typeface="Times New Roman"/>
                <a:cs typeface="Times New Roman"/>
              </a:rPr>
              <a:t>ar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235" dirty="0">
                <a:latin typeface="Times New Roman"/>
                <a:cs typeface="Times New Roman"/>
              </a:rPr>
              <a:t>g</a:t>
            </a:r>
            <a:r>
              <a:rPr sz="2600" spc="-135" dirty="0">
                <a:latin typeface="Times New Roman"/>
                <a:cs typeface="Times New Roman"/>
              </a:rPr>
              <a:t>ains</a:t>
            </a:r>
            <a:r>
              <a:rPr sz="2600" spc="-90" dirty="0">
                <a:latin typeface="Times New Roman"/>
                <a:cs typeface="Times New Roman"/>
              </a:rPr>
              <a:t>t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los</a:t>
            </a:r>
            <a:r>
              <a:rPr sz="2600" spc="-150" dirty="0">
                <a:latin typeface="Times New Roman"/>
                <a:cs typeface="Times New Roman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30" dirty="0">
                <a:latin typeface="Times New Roman"/>
                <a:cs typeface="Times New Roman"/>
              </a:rPr>
              <a:t>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damag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d</a:t>
            </a:r>
            <a:r>
              <a:rPr sz="2600" spc="-180" dirty="0">
                <a:latin typeface="Times New Roman"/>
                <a:cs typeface="Times New Roman"/>
              </a:rPr>
              <a:t>a</a:t>
            </a:r>
            <a:r>
              <a:rPr sz="2600" spc="-85" dirty="0">
                <a:latin typeface="Times New Roman"/>
                <a:cs typeface="Times New Roman"/>
              </a:rPr>
              <a:t>ta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30" dirty="0">
                <a:latin typeface="Times New Roman"/>
                <a:cs typeface="Times New Roman"/>
              </a:rPr>
              <a:t>t</a:t>
            </a:r>
            <a:r>
              <a:rPr sz="2600" spc="10" dirty="0">
                <a:latin typeface="Times New Roman"/>
                <a:cs typeface="Times New Roman"/>
              </a:rPr>
              <a:t>r</a:t>
            </a:r>
            <a:r>
              <a:rPr sz="2600" spc="-105" dirty="0">
                <a:latin typeface="Times New Roman"/>
                <a:cs typeface="Times New Roman"/>
              </a:rPr>
              <a:t>ol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in</a:t>
            </a:r>
            <a:r>
              <a:rPr sz="2600" spc="-145" dirty="0">
                <a:latin typeface="Times New Roman"/>
                <a:cs typeface="Times New Roman"/>
              </a:rPr>
              <a:t>f</a:t>
            </a:r>
            <a:r>
              <a:rPr sz="2600" spc="-50" dirty="0">
                <a:latin typeface="Times New Roman"/>
                <a:cs typeface="Times New Roman"/>
              </a:rPr>
              <a:t>o</a:t>
            </a:r>
            <a:r>
              <a:rPr sz="2600" spc="30" dirty="0">
                <a:latin typeface="Times New Roman"/>
                <a:cs typeface="Times New Roman"/>
              </a:rPr>
              <a:t>r</a:t>
            </a:r>
            <a:r>
              <a:rPr sz="2600" spc="-229" dirty="0">
                <a:latin typeface="Times New Roman"/>
                <a:cs typeface="Times New Roman"/>
              </a:rPr>
              <a:t>m</a:t>
            </a:r>
            <a:r>
              <a:rPr sz="2600" spc="-160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tion  </a:t>
            </a:r>
            <a:r>
              <a:rPr sz="2600" spc="-50" dirty="0">
                <a:latin typeface="Times New Roman"/>
                <a:cs typeface="Times New Roman"/>
              </a:rPr>
              <a:t>Error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control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implemented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two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separate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functions:</a:t>
            </a:r>
            <a:endParaRPr sz="26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430"/>
              </a:spcBef>
            </a:pPr>
            <a:r>
              <a:rPr sz="2400" spc="-50" dirty="0">
                <a:latin typeface="Times New Roman"/>
                <a:cs typeface="Times New Roman"/>
              </a:rPr>
              <a:t>Error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  <a:p>
            <a:pPr marL="286385" marR="3514090">
              <a:lnSpc>
                <a:spcPct val="100000"/>
              </a:lnSpc>
            </a:pPr>
            <a:r>
              <a:rPr sz="2400" spc="-120" dirty="0">
                <a:latin typeface="Times New Roman"/>
                <a:cs typeface="Times New Roman"/>
              </a:rPr>
              <a:t>Sender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i</a:t>
            </a:r>
            <a:r>
              <a:rPr sz="2400" spc="-140" dirty="0">
                <a:latin typeface="Times New Roman"/>
                <a:cs typeface="Times New Roman"/>
              </a:rPr>
              <a:t>n</a:t>
            </a:r>
            <a:r>
              <a:rPr sz="2400" spc="-90" dirty="0">
                <a:latin typeface="Times New Roman"/>
                <a:cs typeface="Times New Roman"/>
              </a:rPr>
              <a:t>se</a:t>
            </a:r>
            <a:r>
              <a:rPr sz="2400" spc="10" dirty="0">
                <a:latin typeface="Times New Roman"/>
                <a:cs typeface="Times New Roman"/>
              </a:rPr>
              <a:t>r</a:t>
            </a:r>
            <a:r>
              <a:rPr sz="2400" spc="-75" dirty="0">
                <a:latin typeface="Times New Roman"/>
                <a:cs typeface="Times New Roman"/>
              </a:rPr>
              <a:t>ts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e</a:t>
            </a:r>
            <a:r>
              <a:rPr sz="2400" spc="1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40" dirty="0">
                <a:latin typeface="Times New Roman"/>
                <a:cs typeface="Times New Roman"/>
              </a:rPr>
              <a:t>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de</a:t>
            </a:r>
            <a:r>
              <a:rPr sz="2400" spc="-50" dirty="0">
                <a:latin typeface="Times New Roman"/>
                <a:cs typeface="Times New Roman"/>
              </a:rPr>
              <a:t>t</a:t>
            </a:r>
            <a:r>
              <a:rPr sz="2400" spc="-80" dirty="0">
                <a:latin typeface="Times New Roman"/>
                <a:cs typeface="Times New Roman"/>
              </a:rPr>
              <a:t>ec</a:t>
            </a:r>
            <a:r>
              <a:rPr sz="2400" spc="-60" dirty="0">
                <a:latin typeface="Times New Roman"/>
                <a:cs typeface="Times New Roman"/>
              </a:rPr>
              <a:t>t</a:t>
            </a:r>
            <a:r>
              <a:rPr sz="2400" spc="-140" dirty="0">
                <a:latin typeface="Times New Roman"/>
                <a:cs typeface="Times New Roman"/>
              </a:rPr>
              <a:t>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bits  </a:t>
            </a:r>
            <a:r>
              <a:rPr sz="2400" spc="-140" dirty="0">
                <a:latin typeface="Times New Roman"/>
                <a:cs typeface="Times New Roman"/>
              </a:rPr>
              <a:t>Recei</a:t>
            </a:r>
            <a:r>
              <a:rPr sz="2400" spc="-204" dirty="0">
                <a:latin typeface="Times New Roman"/>
                <a:cs typeface="Times New Roman"/>
              </a:rPr>
              <a:t>v</a:t>
            </a:r>
            <a:r>
              <a:rPr sz="2400" spc="-35" dirty="0">
                <a:latin typeface="Times New Roman"/>
                <a:cs typeface="Times New Roman"/>
              </a:rPr>
              <a:t>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c</a:t>
            </a:r>
            <a:r>
              <a:rPr sz="2400" spc="-130" dirty="0">
                <a:latin typeface="Times New Roman"/>
                <a:cs typeface="Times New Roman"/>
              </a:rPr>
              <a:t>he</a:t>
            </a:r>
            <a:r>
              <a:rPr sz="2400" spc="-80" dirty="0">
                <a:latin typeface="Times New Roman"/>
                <a:cs typeface="Times New Roman"/>
              </a:rPr>
              <a:t>c</a:t>
            </a:r>
            <a:r>
              <a:rPr sz="2400" spc="-170" dirty="0">
                <a:latin typeface="Times New Roman"/>
                <a:cs typeface="Times New Roman"/>
              </a:rPr>
              <a:t>ks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these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b</a:t>
            </a:r>
            <a:r>
              <a:rPr sz="2400" spc="-85" dirty="0">
                <a:latin typeface="Times New Roman"/>
                <a:cs typeface="Times New Roman"/>
              </a:rPr>
              <a:t>i</a:t>
            </a:r>
            <a:r>
              <a:rPr sz="2400" spc="-75" dirty="0">
                <a:latin typeface="Times New Roman"/>
                <a:cs typeface="Times New Roman"/>
              </a:rPr>
              <a:t>ts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400" spc="-180" dirty="0">
                <a:latin typeface="Times New Roman"/>
                <a:cs typeface="Times New Roman"/>
              </a:rPr>
              <a:t>If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OK,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a</a:t>
            </a:r>
            <a:r>
              <a:rPr sz="2400" spc="-125" dirty="0">
                <a:latin typeface="Times New Roman"/>
                <a:cs typeface="Times New Roman"/>
              </a:rPr>
              <a:t>ckn</a:t>
            </a:r>
            <a:r>
              <a:rPr sz="2400" spc="-170" dirty="0">
                <a:latin typeface="Times New Roman"/>
                <a:cs typeface="Times New Roman"/>
              </a:rPr>
              <a:t>o</a:t>
            </a:r>
            <a:r>
              <a:rPr sz="2400" spc="-110" dirty="0">
                <a:latin typeface="Times New Roman"/>
                <a:cs typeface="Times New Roman"/>
              </a:rPr>
              <a:t>wle</a:t>
            </a:r>
            <a:r>
              <a:rPr sz="2400" spc="-130" dirty="0">
                <a:latin typeface="Times New Roman"/>
                <a:cs typeface="Times New Roman"/>
              </a:rPr>
              <a:t>dge</a:t>
            </a:r>
            <a:endParaRPr sz="2400">
              <a:latin typeface="Times New Roman"/>
              <a:cs typeface="Times New Roman"/>
            </a:endParaRPr>
          </a:p>
          <a:p>
            <a:pPr marL="286385" marR="4775200">
              <a:lnSpc>
                <a:spcPct val="100000"/>
              </a:lnSpc>
            </a:pPr>
            <a:r>
              <a:rPr sz="2400" spc="-180" dirty="0">
                <a:latin typeface="Times New Roman"/>
                <a:cs typeface="Times New Roman"/>
              </a:rPr>
              <a:t>If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e</a:t>
            </a:r>
            <a:r>
              <a:rPr sz="2400" spc="1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05" dirty="0">
                <a:latin typeface="Times New Roman"/>
                <a:cs typeface="Times New Roman"/>
              </a:rPr>
              <a:t>o</a:t>
            </a:r>
            <a:r>
              <a:rPr sz="2400" spc="-185" dirty="0">
                <a:latin typeface="Times New Roman"/>
                <a:cs typeface="Times New Roman"/>
              </a:rPr>
              <a:t>r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di</a:t>
            </a:r>
            <a:r>
              <a:rPr sz="2400" spc="-130" dirty="0">
                <a:latin typeface="Times New Roman"/>
                <a:cs typeface="Times New Roman"/>
              </a:rPr>
              <a:t>s</a:t>
            </a:r>
            <a:r>
              <a:rPr sz="2400" spc="-105" dirty="0">
                <a:latin typeface="Times New Roman"/>
                <a:cs typeface="Times New Roman"/>
              </a:rPr>
              <a:t>card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pa</a:t>
            </a:r>
            <a:r>
              <a:rPr sz="2400" spc="-90" dirty="0">
                <a:latin typeface="Times New Roman"/>
                <a:cs typeface="Times New Roman"/>
              </a:rPr>
              <a:t>c</a:t>
            </a:r>
            <a:r>
              <a:rPr sz="2400" spc="-185" dirty="0">
                <a:latin typeface="Times New Roman"/>
                <a:cs typeface="Times New Roman"/>
              </a:rPr>
              <a:t>k</a:t>
            </a:r>
            <a:r>
              <a:rPr sz="2400" spc="-25" dirty="0">
                <a:latin typeface="Times New Roman"/>
                <a:cs typeface="Times New Roman"/>
              </a:rPr>
              <a:t>et  </a:t>
            </a:r>
            <a:r>
              <a:rPr sz="2400" spc="-120" dirty="0">
                <a:latin typeface="Times New Roman"/>
                <a:cs typeface="Times New Roman"/>
              </a:rPr>
              <a:t>Retransmission</a:t>
            </a:r>
            <a:endParaRPr sz="2400">
              <a:latin typeface="Times New Roman"/>
              <a:cs typeface="Times New Roman"/>
            </a:endParaRPr>
          </a:p>
          <a:p>
            <a:pPr marL="286385" marR="2378075">
              <a:lnSpc>
                <a:spcPct val="100000"/>
              </a:lnSpc>
            </a:pPr>
            <a:r>
              <a:rPr sz="2400" spc="-180" dirty="0">
                <a:latin typeface="Times New Roman"/>
                <a:cs typeface="Times New Roman"/>
              </a:rPr>
              <a:t>If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no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75" dirty="0">
                <a:latin typeface="Times New Roman"/>
                <a:cs typeface="Times New Roman"/>
              </a:rPr>
              <a:t>a</a:t>
            </a:r>
            <a:r>
              <a:rPr sz="2400" spc="-125" dirty="0">
                <a:latin typeface="Times New Roman"/>
                <a:cs typeface="Times New Roman"/>
              </a:rPr>
              <a:t>ck</a:t>
            </a:r>
            <a:r>
              <a:rPr sz="2400" spc="-120" dirty="0">
                <a:latin typeface="Times New Roman"/>
                <a:cs typeface="Times New Roman"/>
              </a:rPr>
              <a:t>n</a:t>
            </a:r>
            <a:r>
              <a:rPr sz="2400" spc="-175" dirty="0">
                <a:latin typeface="Times New Roman"/>
                <a:cs typeface="Times New Roman"/>
              </a:rPr>
              <a:t>o</a:t>
            </a:r>
            <a:r>
              <a:rPr sz="2400" spc="-120" dirty="0">
                <a:latin typeface="Times New Roman"/>
                <a:cs typeface="Times New Roman"/>
              </a:rPr>
              <a:t>wledge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g</a:t>
            </a:r>
            <a:r>
              <a:rPr sz="2400" spc="-114" dirty="0">
                <a:latin typeface="Times New Roman"/>
                <a:cs typeface="Times New Roman"/>
              </a:rPr>
              <a:t>i</a:t>
            </a:r>
            <a:r>
              <a:rPr sz="2400" spc="-260" dirty="0">
                <a:latin typeface="Times New Roman"/>
                <a:cs typeface="Times New Roman"/>
              </a:rPr>
              <a:t>v</a:t>
            </a:r>
            <a:r>
              <a:rPr sz="2400" spc="-100" dirty="0">
                <a:latin typeface="Times New Roman"/>
                <a:cs typeface="Times New Roman"/>
              </a:rPr>
              <a:t>en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tim</a:t>
            </a:r>
            <a:r>
              <a:rPr sz="2400" spc="-130" dirty="0">
                <a:latin typeface="Times New Roman"/>
                <a:cs typeface="Times New Roman"/>
              </a:rPr>
              <a:t>e</a:t>
            </a:r>
            <a:r>
              <a:rPr sz="2400" spc="100" dirty="0">
                <a:latin typeface="Times New Roman"/>
                <a:cs typeface="Times New Roman"/>
              </a:rPr>
              <a:t>,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85" dirty="0">
                <a:latin typeface="Times New Roman"/>
                <a:cs typeface="Times New Roman"/>
              </a:rPr>
              <a:t>e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spc="-85" dirty="0">
                <a:latin typeface="Times New Roman"/>
                <a:cs typeface="Times New Roman"/>
              </a:rPr>
              <a:t>trans</a:t>
            </a:r>
            <a:r>
              <a:rPr sz="2400" spc="-70" dirty="0">
                <a:latin typeface="Times New Roman"/>
                <a:cs typeface="Times New Roman"/>
              </a:rPr>
              <a:t>mit  </a:t>
            </a:r>
            <a:r>
              <a:rPr sz="2400" spc="-235" dirty="0">
                <a:latin typeface="Times New Roman"/>
                <a:cs typeface="Times New Roman"/>
              </a:rPr>
              <a:t>P</a:t>
            </a:r>
            <a:r>
              <a:rPr sz="2400" spc="-65" dirty="0">
                <a:latin typeface="Times New Roman"/>
                <a:cs typeface="Times New Roman"/>
              </a:rPr>
              <a:t>erfo</a:t>
            </a:r>
            <a:r>
              <a:rPr sz="2400" spc="15" dirty="0">
                <a:latin typeface="Times New Roman"/>
                <a:cs typeface="Times New Roman"/>
              </a:rPr>
              <a:t>r</a:t>
            </a:r>
            <a:r>
              <a:rPr sz="2400" spc="-125" dirty="0">
                <a:latin typeface="Times New Roman"/>
                <a:cs typeface="Times New Roman"/>
              </a:rPr>
              <a:t>me</a:t>
            </a:r>
            <a:r>
              <a:rPr sz="2400" spc="-100" dirty="0">
                <a:latin typeface="Times New Roman"/>
                <a:cs typeface="Times New Roman"/>
              </a:rPr>
              <a:t>d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15" dirty="0">
                <a:latin typeface="Times New Roman"/>
                <a:cs typeface="Times New Roman"/>
              </a:rPr>
              <a:t>a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50" dirty="0">
                <a:latin typeface="Times New Roman"/>
                <a:cs typeface="Times New Roman"/>
              </a:rPr>
              <a:t>v</a:t>
            </a:r>
            <a:r>
              <a:rPr sz="2400" spc="-1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r</a:t>
            </a:r>
            <a:r>
              <a:rPr sz="2400" spc="-100" dirty="0">
                <a:latin typeface="Times New Roman"/>
                <a:cs typeface="Times New Roman"/>
              </a:rPr>
              <a:t>io</a:t>
            </a:r>
            <a:r>
              <a:rPr sz="2400" spc="-120" dirty="0">
                <a:latin typeface="Times New Roman"/>
                <a:cs typeface="Times New Roman"/>
              </a:rPr>
              <a:t>u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l</a:t>
            </a:r>
            <a:r>
              <a:rPr sz="2400" spc="-265" dirty="0">
                <a:latin typeface="Times New Roman"/>
                <a:cs typeface="Times New Roman"/>
              </a:rPr>
              <a:t>a</a:t>
            </a:r>
            <a:r>
              <a:rPr sz="2400" spc="-245" dirty="0">
                <a:latin typeface="Times New Roman"/>
                <a:cs typeface="Times New Roman"/>
              </a:rPr>
              <a:t>y</a:t>
            </a:r>
            <a:r>
              <a:rPr sz="2400" spc="-40" dirty="0">
                <a:latin typeface="Times New Roman"/>
                <a:cs typeface="Times New Roman"/>
              </a:rPr>
              <a:t>e</a:t>
            </a:r>
            <a:r>
              <a:rPr sz="2400" spc="10" dirty="0">
                <a:latin typeface="Times New Roman"/>
                <a:cs typeface="Times New Roman"/>
              </a:rPr>
              <a:t>r</a:t>
            </a:r>
            <a:r>
              <a:rPr sz="2400" spc="-185" dirty="0">
                <a:latin typeface="Times New Roman"/>
                <a:cs typeface="Times New Roman"/>
              </a:rPr>
              <a:t>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o</a:t>
            </a:r>
            <a:r>
              <a:rPr sz="2400" spc="-180" dirty="0">
                <a:latin typeface="Times New Roman"/>
                <a:cs typeface="Times New Roman"/>
              </a:rPr>
              <a:t>f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p</a:t>
            </a:r>
            <a:r>
              <a:rPr sz="2400" spc="-50" dirty="0">
                <a:latin typeface="Times New Roman"/>
                <a:cs typeface="Times New Roman"/>
              </a:rPr>
              <a:t>r</a:t>
            </a:r>
            <a:r>
              <a:rPr sz="2400" spc="-85" dirty="0">
                <a:latin typeface="Times New Roman"/>
                <a:cs typeface="Times New Roman"/>
              </a:rPr>
              <a:t>otocol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6498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75" dirty="0"/>
              <a:t>Flow</a:t>
            </a:r>
            <a:r>
              <a:rPr sz="4000" spc="-65" dirty="0"/>
              <a:t> </a:t>
            </a:r>
            <a:r>
              <a:rPr sz="4000" spc="-45" dirty="0"/>
              <a:t>Control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025005" cy="2404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4" dirty="0">
                <a:latin typeface="Times New Roman"/>
                <a:cs typeface="Times New Roman"/>
              </a:rPr>
              <a:t>Done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b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20" dirty="0">
                <a:latin typeface="Times New Roman"/>
                <a:cs typeface="Times New Roman"/>
              </a:rPr>
              <a:t>ec</a:t>
            </a:r>
            <a:r>
              <a:rPr sz="2600" spc="-130" dirty="0">
                <a:latin typeface="Times New Roman"/>
                <a:cs typeface="Times New Roman"/>
              </a:rPr>
              <a:t>e</a:t>
            </a:r>
            <a:r>
              <a:rPr sz="2600" spc="-160" dirty="0">
                <a:latin typeface="Times New Roman"/>
                <a:cs typeface="Times New Roman"/>
              </a:rPr>
              <a:t>iving</a:t>
            </a:r>
            <a:r>
              <a:rPr sz="2600" spc="-65" dirty="0">
                <a:latin typeface="Times New Roman"/>
                <a:cs typeface="Times New Roman"/>
              </a:rPr>
              <a:t> en</a:t>
            </a:r>
            <a:r>
              <a:rPr sz="2600" spc="-50" dirty="0">
                <a:latin typeface="Times New Roman"/>
                <a:cs typeface="Times New Roman"/>
              </a:rPr>
              <a:t>t</a:t>
            </a:r>
            <a:r>
              <a:rPr sz="2600" spc="-105" dirty="0">
                <a:latin typeface="Times New Roman"/>
                <a:cs typeface="Times New Roman"/>
              </a:rPr>
              <a:t>ity</a:t>
            </a:r>
            <a:endParaRPr sz="2600">
              <a:latin typeface="Times New Roman"/>
              <a:cs typeface="Times New Roman"/>
            </a:endParaRPr>
          </a:p>
          <a:p>
            <a:pPr marL="286385" marR="875665">
              <a:lnSpc>
                <a:spcPct val="100000"/>
              </a:lnSpc>
            </a:pPr>
            <a:r>
              <a:rPr sz="2600" spc="-190" dirty="0">
                <a:latin typeface="Times New Roman"/>
                <a:cs typeface="Times New Roman"/>
              </a:rPr>
              <a:t>Fu</a:t>
            </a:r>
            <a:r>
              <a:rPr sz="2600" spc="-140" dirty="0">
                <a:latin typeface="Times New Roman"/>
                <a:cs typeface="Times New Roman"/>
              </a:rPr>
              <a:t>nc</a:t>
            </a:r>
            <a:r>
              <a:rPr sz="2600" spc="-80" dirty="0">
                <a:latin typeface="Times New Roman"/>
                <a:cs typeface="Times New Roman"/>
              </a:rPr>
              <a:t>tion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lim</a:t>
            </a:r>
            <a:r>
              <a:rPr sz="2600" spc="-90" dirty="0">
                <a:latin typeface="Times New Roman"/>
                <a:cs typeface="Times New Roman"/>
              </a:rPr>
              <a:t>i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amo</a:t>
            </a:r>
            <a:r>
              <a:rPr sz="2600" spc="-145" dirty="0">
                <a:latin typeface="Times New Roman"/>
                <a:cs typeface="Times New Roman"/>
              </a:rPr>
              <a:t>u</a:t>
            </a:r>
            <a:r>
              <a:rPr sz="2600" spc="-35" dirty="0">
                <a:latin typeface="Times New Roman"/>
                <a:cs typeface="Times New Roman"/>
              </a:rPr>
              <a:t>nt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r</a:t>
            </a:r>
            <a:r>
              <a:rPr sz="2600" spc="-125" dirty="0">
                <a:latin typeface="Times New Roman"/>
                <a:cs typeface="Times New Roman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te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o</a:t>
            </a:r>
            <a:r>
              <a:rPr sz="2600" spc="-190" dirty="0">
                <a:latin typeface="Times New Roman"/>
                <a:cs typeface="Times New Roman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d</a:t>
            </a:r>
            <a:r>
              <a:rPr sz="2600" spc="-185" dirty="0">
                <a:latin typeface="Times New Roman"/>
                <a:cs typeface="Times New Roman"/>
              </a:rPr>
              <a:t>a</a:t>
            </a:r>
            <a:r>
              <a:rPr sz="2600" spc="-85" dirty="0">
                <a:latin typeface="Times New Roman"/>
                <a:cs typeface="Times New Roman"/>
              </a:rPr>
              <a:t>ta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s</a:t>
            </a:r>
            <a:r>
              <a:rPr sz="2600" spc="-60" dirty="0">
                <a:latin typeface="Times New Roman"/>
                <a:cs typeface="Times New Roman"/>
              </a:rPr>
              <a:t>ent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b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  </a:t>
            </a:r>
            <a:r>
              <a:rPr sz="2600" spc="-95" dirty="0">
                <a:latin typeface="Times New Roman"/>
                <a:cs typeface="Times New Roman"/>
              </a:rPr>
              <a:t>transmitting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entity</a:t>
            </a:r>
            <a:endParaRPr sz="26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600" spc="-190" dirty="0">
                <a:latin typeface="Times New Roman"/>
                <a:cs typeface="Times New Roman"/>
              </a:rPr>
              <a:t>Simp</a:t>
            </a:r>
            <a:r>
              <a:rPr sz="2600" spc="-110" dirty="0">
                <a:latin typeface="Times New Roman"/>
                <a:cs typeface="Times New Roman"/>
              </a:rPr>
              <a:t>l</a:t>
            </a:r>
            <a:r>
              <a:rPr sz="2600" spc="-90" dirty="0">
                <a:latin typeface="Times New Roman"/>
                <a:cs typeface="Times New Roman"/>
              </a:rPr>
              <a:t>est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f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100" dirty="0">
                <a:latin typeface="Times New Roman"/>
                <a:cs typeface="Times New Roman"/>
              </a:rPr>
              <a:t>r</a:t>
            </a:r>
            <a:r>
              <a:rPr sz="2600" spc="-90" dirty="0">
                <a:latin typeface="Times New Roman"/>
                <a:cs typeface="Times New Roman"/>
              </a:rPr>
              <a:t>m</a:t>
            </a:r>
            <a:r>
              <a:rPr sz="2600" spc="-30" dirty="0">
                <a:latin typeface="Times New Roman"/>
                <a:cs typeface="Times New Roman"/>
              </a:rPr>
              <a:t>: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st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-110" dirty="0">
                <a:latin typeface="Times New Roman"/>
                <a:cs typeface="Times New Roman"/>
              </a:rPr>
              <a:t>p</a:t>
            </a:r>
            <a:r>
              <a:rPr sz="2600" spc="-55" dirty="0">
                <a:latin typeface="Times New Roman"/>
                <a:cs typeface="Times New Roman"/>
              </a:rPr>
              <a:t>-</a:t>
            </a:r>
            <a:r>
              <a:rPr sz="2600" spc="-145" dirty="0">
                <a:latin typeface="Times New Roman"/>
                <a:cs typeface="Times New Roman"/>
              </a:rPr>
              <a:t>an</a:t>
            </a:r>
            <a:r>
              <a:rPr sz="2600" spc="-160" dirty="0">
                <a:latin typeface="Times New Roman"/>
                <a:cs typeface="Times New Roman"/>
              </a:rPr>
              <a:t>d</a:t>
            </a:r>
            <a:r>
              <a:rPr sz="2600" spc="-55" dirty="0">
                <a:latin typeface="Times New Roman"/>
                <a:cs typeface="Times New Roman"/>
              </a:rPr>
              <a:t>-</a:t>
            </a:r>
            <a:r>
              <a:rPr sz="2600" spc="-170" dirty="0">
                <a:latin typeface="Times New Roman"/>
                <a:cs typeface="Times New Roman"/>
              </a:rPr>
              <a:t>w</a:t>
            </a:r>
            <a:r>
              <a:rPr sz="2600" spc="-110" dirty="0">
                <a:latin typeface="Times New Roman"/>
                <a:cs typeface="Times New Roman"/>
              </a:rPr>
              <a:t>ai</a:t>
            </a:r>
            <a:r>
              <a:rPr sz="2600" spc="-85" dirty="0">
                <a:latin typeface="Times New Roman"/>
                <a:cs typeface="Times New Roman"/>
              </a:rPr>
              <a:t>t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p</a:t>
            </a:r>
            <a:r>
              <a:rPr sz="2600" spc="-65" dirty="0">
                <a:latin typeface="Times New Roman"/>
                <a:cs typeface="Times New Roman"/>
              </a:rPr>
              <a:t>r</a:t>
            </a:r>
            <a:r>
              <a:rPr sz="2600" spc="-140" dirty="0">
                <a:latin typeface="Times New Roman"/>
                <a:cs typeface="Times New Roman"/>
              </a:rPr>
              <a:t>oc</a:t>
            </a:r>
            <a:r>
              <a:rPr sz="2600" spc="-105" dirty="0">
                <a:latin typeface="Times New Roman"/>
                <a:cs typeface="Times New Roman"/>
              </a:rPr>
              <a:t>ed</a:t>
            </a:r>
            <a:r>
              <a:rPr sz="2600" spc="-120" dirty="0">
                <a:latin typeface="Times New Roman"/>
                <a:cs typeface="Times New Roman"/>
              </a:rPr>
              <a:t>u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  <a:p>
            <a:pPr marL="286385" marR="5080">
              <a:lnSpc>
                <a:spcPct val="100000"/>
              </a:lnSpc>
            </a:pPr>
            <a:r>
              <a:rPr sz="2600" spc="-265" dirty="0">
                <a:latin typeface="Times New Roman"/>
                <a:cs typeface="Times New Roman"/>
              </a:rPr>
              <a:t>M</a:t>
            </a:r>
            <a:r>
              <a:rPr sz="2600" spc="-160" dirty="0">
                <a:latin typeface="Times New Roman"/>
                <a:cs typeface="Times New Roman"/>
              </a:rPr>
              <a:t>o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ef</a:t>
            </a:r>
            <a:r>
              <a:rPr sz="2600" spc="-155" dirty="0">
                <a:latin typeface="Times New Roman"/>
                <a:cs typeface="Times New Roman"/>
              </a:rPr>
              <a:t>f</a:t>
            </a:r>
            <a:r>
              <a:rPr sz="2600" spc="-100" dirty="0">
                <a:latin typeface="Times New Roman"/>
                <a:cs typeface="Times New Roman"/>
              </a:rPr>
              <a:t>icient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p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45" dirty="0">
                <a:latin typeface="Times New Roman"/>
                <a:cs typeface="Times New Roman"/>
              </a:rPr>
              <a:t>o</a:t>
            </a:r>
            <a:r>
              <a:rPr sz="2600" spc="-35" dirty="0">
                <a:latin typeface="Times New Roman"/>
                <a:cs typeface="Times New Roman"/>
              </a:rPr>
              <a:t>t</a:t>
            </a:r>
            <a:r>
              <a:rPr sz="2600" spc="-140" dirty="0">
                <a:latin typeface="Times New Roman"/>
                <a:cs typeface="Times New Roman"/>
              </a:rPr>
              <a:t>oc</a:t>
            </a:r>
            <a:r>
              <a:rPr sz="2600" spc="-95" dirty="0">
                <a:latin typeface="Times New Roman"/>
                <a:cs typeface="Times New Roman"/>
              </a:rPr>
              <a:t>ols:</a:t>
            </a:r>
            <a:r>
              <a:rPr sz="2600" spc="-17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C</a:t>
            </a:r>
            <a:r>
              <a:rPr sz="2600" spc="-50" dirty="0">
                <a:latin typeface="Times New Roman"/>
                <a:cs typeface="Times New Roman"/>
              </a:rPr>
              <a:t>r</a:t>
            </a:r>
            <a:r>
              <a:rPr sz="2600" spc="-75" dirty="0">
                <a:latin typeface="Times New Roman"/>
                <a:cs typeface="Times New Roman"/>
              </a:rPr>
              <a:t>edit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s</a:t>
            </a:r>
            <a:r>
              <a:rPr sz="2600" spc="-250" dirty="0">
                <a:latin typeface="Times New Roman"/>
                <a:cs typeface="Times New Roman"/>
              </a:rPr>
              <a:t>y</a:t>
            </a:r>
            <a:r>
              <a:rPr sz="2600" spc="-125" dirty="0">
                <a:latin typeface="Times New Roman"/>
                <a:cs typeface="Times New Roman"/>
              </a:rPr>
              <a:t>stems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05" dirty="0">
                <a:latin typeface="Times New Roman"/>
                <a:cs typeface="Times New Roman"/>
              </a:rPr>
              <a:t>S</a:t>
            </a:r>
            <a:r>
              <a:rPr sz="2600" spc="-165" dirty="0">
                <a:latin typeface="Times New Roman"/>
                <a:cs typeface="Times New Roman"/>
              </a:rPr>
              <a:t>l</a:t>
            </a:r>
            <a:r>
              <a:rPr sz="2600" spc="-140" dirty="0">
                <a:latin typeface="Times New Roman"/>
                <a:cs typeface="Times New Roman"/>
              </a:rPr>
              <a:t>iding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w</a:t>
            </a:r>
            <a:r>
              <a:rPr sz="2600" spc="-110" dirty="0">
                <a:latin typeface="Times New Roman"/>
                <a:cs typeface="Times New Roman"/>
              </a:rPr>
              <a:t>ind</a:t>
            </a:r>
            <a:r>
              <a:rPr sz="2600" spc="-215" dirty="0">
                <a:latin typeface="Times New Roman"/>
                <a:cs typeface="Times New Roman"/>
              </a:rPr>
              <a:t>o</a:t>
            </a:r>
            <a:r>
              <a:rPr sz="2600" spc="-80" dirty="0">
                <a:latin typeface="Times New Roman"/>
                <a:cs typeface="Times New Roman"/>
              </a:rPr>
              <a:t>w  </a:t>
            </a:r>
            <a:r>
              <a:rPr sz="2600" spc="-114" dirty="0">
                <a:latin typeface="Times New Roman"/>
                <a:cs typeface="Times New Roman"/>
              </a:rPr>
              <a:t>Need</a:t>
            </a:r>
            <a:r>
              <a:rPr sz="2600" spc="-105" dirty="0">
                <a:latin typeface="Times New Roman"/>
                <a:cs typeface="Times New Roman"/>
              </a:rPr>
              <a:t>ed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</a:t>
            </a:r>
            <a:r>
              <a:rPr sz="2600" spc="-175" dirty="0">
                <a:latin typeface="Times New Roman"/>
                <a:cs typeface="Times New Roman"/>
              </a:rPr>
              <a:t>p</a:t>
            </a:r>
            <a:r>
              <a:rPr sz="2600" spc="-114" dirty="0">
                <a:latin typeface="Times New Roman"/>
                <a:cs typeface="Times New Roman"/>
              </a:rPr>
              <a:t>pli</a:t>
            </a:r>
            <a:r>
              <a:rPr sz="2600" spc="-160" dirty="0">
                <a:latin typeface="Times New Roman"/>
                <a:cs typeface="Times New Roman"/>
              </a:rPr>
              <a:t>c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75" dirty="0">
                <a:latin typeface="Times New Roman"/>
                <a:cs typeface="Times New Roman"/>
              </a:rPr>
              <a:t>tion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20" dirty="0">
                <a:latin typeface="Times New Roman"/>
                <a:cs typeface="Times New Roman"/>
              </a:rPr>
              <a:t>a</a:t>
            </a:r>
            <a:r>
              <a:rPr sz="2600" spc="-19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40" dirty="0">
                <a:latin typeface="Times New Roman"/>
                <a:cs typeface="Times New Roman"/>
              </a:rPr>
              <a:t>w</a:t>
            </a:r>
            <a:r>
              <a:rPr sz="2600" spc="-100" dirty="0">
                <a:latin typeface="Times New Roman"/>
                <a:cs typeface="Times New Roman"/>
              </a:rPr>
              <a:t>ell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20" dirty="0">
                <a:latin typeface="Times New Roman"/>
                <a:cs typeface="Times New Roman"/>
              </a:rPr>
              <a:t>a</a:t>
            </a:r>
            <a:r>
              <a:rPr sz="2600" spc="-190" dirty="0">
                <a:latin typeface="Times New Roman"/>
                <a:cs typeface="Times New Roman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114" dirty="0">
                <a:latin typeface="Times New Roman"/>
                <a:cs typeface="Times New Roman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t</a:t>
            </a:r>
            <a:r>
              <a:rPr sz="2600" spc="-175" dirty="0">
                <a:latin typeface="Times New Roman"/>
                <a:cs typeface="Times New Roman"/>
              </a:rPr>
              <a:t>w</a:t>
            </a:r>
            <a:r>
              <a:rPr sz="2600" spc="-80" dirty="0">
                <a:latin typeface="Times New Roman"/>
                <a:cs typeface="Times New Roman"/>
              </a:rPr>
              <a:t>ork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l</a:t>
            </a:r>
            <a:r>
              <a:rPr sz="2600" spc="-310" dirty="0">
                <a:latin typeface="Times New Roman"/>
                <a:cs typeface="Times New Roman"/>
              </a:rPr>
              <a:t>a</a:t>
            </a:r>
            <a:r>
              <a:rPr sz="2600" spc="-260" dirty="0">
                <a:latin typeface="Times New Roman"/>
                <a:cs typeface="Times New Roman"/>
              </a:rPr>
              <a:t>y</a:t>
            </a:r>
            <a:r>
              <a:rPr sz="2600" spc="-40" dirty="0">
                <a:latin typeface="Times New Roman"/>
                <a:cs typeface="Times New Roman"/>
              </a:rPr>
              <a:t>e</a:t>
            </a:r>
            <a:r>
              <a:rPr sz="2600" spc="15" dirty="0">
                <a:latin typeface="Times New Roman"/>
                <a:cs typeface="Times New Roman"/>
              </a:rPr>
              <a:t>r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5984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5" dirty="0"/>
              <a:t>Multiplexing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346315" cy="2007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14" dirty="0">
                <a:latin typeface="Times New Roman"/>
                <a:cs typeface="Times New Roman"/>
              </a:rPr>
              <a:t>Supporting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multiple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connections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machine</a:t>
            </a:r>
            <a:endParaRPr sz="2600">
              <a:latin typeface="Times New Roman"/>
              <a:cs typeface="Times New Roman"/>
            </a:endParaRPr>
          </a:p>
          <a:p>
            <a:pPr marL="286385" marR="327660">
              <a:lnSpc>
                <a:spcPct val="100000"/>
              </a:lnSpc>
            </a:pPr>
            <a:r>
              <a:rPr sz="2600" spc="-155" dirty="0">
                <a:latin typeface="Times New Roman"/>
                <a:cs typeface="Times New Roman"/>
              </a:rPr>
              <a:t>-Mapping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multiple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connections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at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level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single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o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85" dirty="0">
                <a:latin typeface="Times New Roman"/>
                <a:cs typeface="Times New Roman"/>
              </a:rPr>
              <a:t>ec</a:t>
            </a:r>
            <a:r>
              <a:rPr sz="2600" spc="-70" dirty="0">
                <a:latin typeface="Times New Roman"/>
                <a:cs typeface="Times New Roman"/>
              </a:rPr>
              <a:t>t</a:t>
            </a:r>
            <a:r>
              <a:rPr sz="2600" spc="-114" dirty="0">
                <a:latin typeface="Times New Roman"/>
                <a:cs typeface="Times New Roman"/>
              </a:rPr>
              <a:t>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</a:t>
            </a:r>
            <a:r>
              <a:rPr sz="2600" spc="-160" dirty="0">
                <a:latin typeface="Times New Roman"/>
                <a:cs typeface="Times New Roman"/>
              </a:rPr>
              <a:t>o</a:t>
            </a:r>
            <a:r>
              <a:rPr sz="2600" spc="-50" dirty="0">
                <a:latin typeface="Times New Roman"/>
                <a:cs typeface="Times New Roman"/>
              </a:rPr>
              <a:t>ther</a:t>
            </a:r>
            <a:endParaRPr sz="26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600" spc="-55" dirty="0">
                <a:latin typeface="Times New Roman"/>
                <a:cs typeface="Times New Roman"/>
              </a:rPr>
              <a:t>-</a:t>
            </a:r>
            <a:r>
              <a:rPr sz="2600" spc="-125" dirty="0">
                <a:latin typeface="Times New Roman"/>
                <a:cs typeface="Times New Roman"/>
              </a:rPr>
              <a:t>Ca</a:t>
            </a:r>
            <a:r>
              <a:rPr sz="2600" spc="-25" dirty="0">
                <a:latin typeface="Times New Roman"/>
                <a:cs typeface="Times New Roman"/>
              </a:rPr>
              <a:t>r</a:t>
            </a:r>
            <a:r>
              <a:rPr sz="2600" spc="55" dirty="0">
                <a:latin typeface="Times New Roman"/>
                <a:cs typeface="Times New Roman"/>
              </a:rPr>
              <a:t>r</a:t>
            </a:r>
            <a:r>
              <a:rPr sz="2600" spc="-170" dirty="0">
                <a:latin typeface="Times New Roman"/>
                <a:cs typeface="Times New Roman"/>
              </a:rPr>
              <a:t>ying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125" dirty="0">
                <a:latin typeface="Times New Roman"/>
                <a:cs typeface="Times New Roman"/>
              </a:rPr>
              <a:t>u</a:t>
            </a:r>
            <a:r>
              <a:rPr sz="2600" spc="-105" dirty="0">
                <a:latin typeface="Times New Roman"/>
                <a:cs typeface="Times New Roman"/>
              </a:rPr>
              <a:t>mbe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o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85" dirty="0">
                <a:latin typeface="Times New Roman"/>
                <a:cs typeface="Times New Roman"/>
              </a:rPr>
              <a:t>ec</a:t>
            </a:r>
            <a:r>
              <a:rPr sz="2600" spc="-70" dirty="0">
                <a:latin typeface="Times New Roman"/>
                <a:cs typeface="Times New Roman"/>
              </a:rPr>
              <a:t>t</a:t>
            </a:r>
            <a:r>
              <a:rPr sz="2600" spc="-135" dirty="0">
                <a:latin typeface="Times New Roman"/>
                <a:cs typeface="Times New Roman"/>
              </a:rPr>
              <a:t>ions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one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fiber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0" dirty="0">
                <a:latin typeface="Times New Roman"/>
                <a:cs typeface="Times New Roman"/>
              </a:rPr>
              <a:t>p</a:t>
            </a:r>
            <a:r>
              <a:rPr sz="2600" spc="-80" dirty="0">
                <a:latin typeface="Times New Roman"/>
                <a:cs typeface="Times New Roman"/>
              </a:rPr>
              <a:t>tic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ca</a:t>
            </a:r>
            <a:r>
              <a:rPr sz="2600" spc="-225" dirty="0">
                <a:latin typeface="Times New Roman"/>
                <a:cs typeface="Times New Roman"/>
              </a:rPr>
              <a:t>b</a:t>
            </a:r>
            <a:r>
              <a:rPr sz="2600" spc="-105" dirty="0">
                <a:latin typeface="Times New Roman"/>
                <a:cs typeface="Times New Roman"/>
              </a:rPr>
              <a:t>le</a:t>
            </a:r>
            <a:endParaRPr sz="26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600" spc="-150" dirty="0">
                <a:latin typeface="Times New Roman"/>
                <a:cs typeface="Times New Roman"/>
              </a:rPr>
              <a:t>-Aggregating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bonding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ISDN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lines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gain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bandwidth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16624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85" dirty="0"/>
              <a:t>R</a:t>
            </a:r>
            <a:r>
              <a:rPr sz="4000" spc="-40" dirty="0"/>
              <a:t>out</a:t>
            </a:r>
            <a:r>
              <a:rPr sz="4000" spc="-65" dirty="0"/>
              <a:t>ing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6287135" cy="35928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80" dirty="0">
                <a:latin typeface="Times New Roman"/>
                <a:cs typeface="Times New Roman"/>
              </a:rPr>
              <a:t>Determine </a:t>
            </a:r>
            <a:r>
              <a:rPr sz="2600" spc="-120" dirty="0">
                <a:latin typeface="Times New Roman"/>
                <a:cs typeface="Times New Roman"/>
              </a:rPr>
              <a:t>path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0" dirty="0">
                <a:latin typeface="Times New Roman"/>
                <a:cs typeface="Times New Roman"/>
              </a:rPr>
              <a:t> route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that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packets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will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follow </a:t>
            </a:r>
            <a:r>
              <a:rPr sz="2600" spc="-13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Use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u</a:t>
            </a:r>
            <a:r>
              <a:rPr sz="2600" spc="-105" dirty="0">
                <a:latin typeface="Times New Roman"/>
                <a:cs typeface="Times New Roman"/>
              </a:rPr>
              <a:t>ting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p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45" dirty="0">
                <a:latin typeface="Times New Roman"/>
                <a:cs typeface="Times New Roman"/>
              </a:rPr>
              <a:t>o</a:t>
            </a:r>
            <a:r>
              <a:rPr sz="2600" spc="-35" dirty="0">
                <a:latin typeface="Times New Roman"/>
                <a:cs typeface="Times New Roman"/>
              </a:rPr>
              <a:t>t</a:t>
            </a:r>
            <a:r>
              <a:rPr sz="2600" spc="-140" dirty="0">
                <a:latin typeface="Times New Roman"/>
                <a:cs typeface="Times New Roman"/>
              </a:rPr>
              <a:t>oc</a:t>
            </a:r>
            <a:r>
              <a:rPr sz="2600" spc="-105" dirty="0">
                <a:latin typeface="Times New Roman"/>
                <a:cs typeface="Times New Roman"/>
              </a:rPr>
              <a:t>ol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b</a:t>
            </a:r>
            <a:r>
              <a:rPr sz="2600" spc="-170" dirty="0">
                <a:latin typeface="Times New Roman"/>
                <a:cs typeface="Times New Roman"/>
              </a:rPr>
              <a:t>a</a:t>
            </a:r>
            <a:r>
              <a:rPr sz="2600" spc="-135" dirty="0">
                <a:latin typeface="Times New Roman"/>
                <a:cs typeface="Times New Roman"/>
              </a:rPr>
              <a:t>sed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u</a:t>
            </a:r>
            <a:r>
              <a:rPr sz="2600" spc="-105" dirty="0">
                <a:latin typeface="Times New Roman"/>
                <a:cs typeface="Times New Roman"/>
              </a:rPr>
              <a:t>ting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al</a:t>
            </a:r>
            <a:r>
              <a:rPr sz="2600" spc="-229" dirty="0">
                <a:latin typeface="Times New Roman"/>
                <a:cs typeface="Times New Roman"/>
              </a:rPr>
              <a:t>g</a:t>
            </a:r>
            <a:r>
              <a:rPr sz="2600" spc="-50" dirty="0">
                <a:latin typeface="Times New Roman"/>
                <a:cs typeface="Times New Roman"/>
              </a:rPr>
              <a:t>o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85" dirty="0">
                <a:latin typeface="Times New Roman"/>
                <a:cs typeface="Times New Roman"/>
              </a:rPr>
              <a:t>ithm  </a:t>
            </a:r>
            <a:r>
              <a:rPr sz="2600" spc="-220" dirty="0">
                <a:latin typeface="Times New Roman"/>
                <a:cs typeface="Times New Roman"/>
              </a:rPr>
              <a:t>“G</a:t>
            </a:r>
            <a:r>
              <a:rPr sz="2600" spc="-195" dirty="0">
                <a:latin typeface="Times New Roman"/>
                <a:cs typeface="Times New Roman"/>
              </a:rPr>
              <a:t>o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d</a:t>
            </a:r>
            <a:r>
              <a:rPr sz="2600" spc="-340" dirty="0">
                <a:latin typeface="Times New Roman"/>
                <a:cs typeface="Times New Roman"/>
              </a:rPr>
              <a:t>”</a:t>
            </a:r>
            <a:r>
              <a:rPr sz="2600" spc="-18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p</a:t>
            </a:r>
            <a:r>
              <a:rPr sz="2600" spc="-185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th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sho</a:t>
            </a:r>
            <a:r>
              <a:rPr sz="2600" spc="-165" dirty="0">
                <a:latin typeface="Times New Roman"/>
                <a:cs typeface="Times New Roman"/>
              </a:rPr>
              <a:t>u</a:t>
            </a:r>
            <a:r>
              <a:rPr sz="2600" spc="-80" dirty="0">
                <a:latin typeface="Times New Roman"/>
                <a:cs typeface="Times New Roman"/>
              </a:rPr>
              <a:t>l</a:t>
            </a:r>
            <a:r>
              <a:rPr sz="2600" spc="-135" dirty="0">
                <a:latin typeface="Times New Roman"/>
                <a:cs typeface="Times New Roman"/>
              </a:rPr>
              <a:t>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leas</a:t>
            </a:r>
            <a:r>
              <a:rPr sz="2600" spc="-85" dirty="0">
                <a:latin typeface="Times New Roman"/>
                <a:cs typeface="Times New Roman"/>
              </a:rPr>
              <a:t>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o</a:t>
            </a:r>
            <a:r>
              <a:rPr sz="2600" spc="-80" dirty="0">
                <a:latin typeface="Times New Roman"/>
                <a:cs typeface="Times New Roman"/>
              </a:rPr>
              <a:t>st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p</a:t>
            </a:r>
            <a:r>
              <a:rPr sz="2600" spc="-185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th</a:t>
            </a:r>
            <a:endParaRPr sz="2600">
              <a:latin typeface="Times New Roman"/>
              <a:cs typeface="Times New Roman"/>
            </a:endParaRPr>
          </a:p>
          <a:p>
            <a:pPr marL="286385" marR="1243330">
              <a:lnSpc>
                <a:spcPct val="100000"/>
              </a:lnSpc>
            </a:pPr>
            <a:r>
              <a:rPr sz="2600" spc="-120" dirty="0">
                <a:latin typeface="Times New Roman"/>
                <a:cs typeface="Times New Roman"/>
              </a:rPr>
              <a:t>Cos</a:t>
            </a:r>
            <a:r>
              <a:rPr sz="2600" spc="-65" dirty="0">
                <a:latin typeface="Times New Roman"/>
                <a:cs typeface="Times New Roman"/>
              </a:rPr>
              <a:t>t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35" dirty="0">
                <a:latin typeface="Times New Roman"/>
                <a:cs typeface="Times New Roman"/>
              </a:rPr>
              <a:t>: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de</a:t>
            </a:r>
            <a:r>
              <a:rPr sz="2600" spc="-125" dirty="0">
                <a:latin typeface="Times New Roman"/>
                <a:cs typeface="Times New Roman"/>
              </a:rPr>
              <a:t>p</a:t>
            </a:r>
            <a:r>
              <a:rPr sz="2600" spc="-105" dirty="0">
                <a:latin typeface="Times New Roman"/>
                <a:cs typeface="Times New Roman"/>
              </a:rPr>
              <a:t>en</a:t>
            </a:r>
            <a:r>
              <a:rPr sz="2600" spc="-120" dirty="0">
                <a:latin typeface="Times New Roman"/>
                <a:cs typeface="Times New Roman"/>
              </a:rPr>
              <a:t>d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on</a:t>
            </a:r>
            <a:r>
              <a:rPr sz="2600" spc="-75" dirty="0">
                <a:latin typeface="Times New Roman"/>
                <a:cs typeface="Times New Roman"/>
              </a:rPr>
              <a:t> 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f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85" dirty="0">
                <a:latin typeface="Times New Roman"/>
                <a:cs typeface="Times New Roman"/>
              </a:rPr>
              <a:t>ll</a:t>
            </a:r>
            <a:r>
              <a:rPr sz="2600" spc="-225" dirty="0">
                <a:latin typeface="Times New Roman"/>
                <a:cs typeface="Times New Roman"/>
              </a:rPr>
              <a:t>o</a:t>
            </a:r>
            <a:r>
              <a:rPr sz="2600" spc="-150" dirty="0">
                <a:latin typeface="Times New Roman"/>
                <a:cs typeface="Times New Roman"/>
              </a:rPr>
              <a:t>wing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f</a:t>
            </a:r>
            <a:r>
              <a:rPr sz="2600" spc="-185" dirty="0">
                <a:latin typeface="Times New Roman"/>
                <a:cs typeface="Times New Roman"/>
              </a:rPr>
              <a:t>a</a:t>
            </a:r>
            <a:r>
              <a:rPr sz="2600" spc="-190" dirty="0">
                <a:latin typeface="Times New Roman"/>
                <a:cs typeface="Times New Roman"/>
              </a:rPr>
              <a:t>c</a:t>
            </a:r>
            <a:r>
              <a:rPr sz="2600" spc="-25" dirty="0">
                <a:latin typeface="Times New Roman"/>
                <a:cs typeface="Times New Roman"/>
              </a:rPr>
              <a:t>t</a:t>
            </a:r>
            <a:r>
              <a:rPr sz="2600" spc="-55" dirty="0">
                <a:latin typeface="Times New Roman"/>
                <a:cs typeface="Times New Roman"/>
              </a:rPr>
              <a:t>o</a:t>
            </a:r>
            <a:r>
              <a:rPr sz="2600" spc="75" dirty="0">
                <a:latin typeface="Times New Roman"/>
                <a:cs typeface="Times New Roman"/>
              </a:rPr>
              <a:t>r</a:t>
            </a:r>
            <a:r>
              <a:rPr sz="2600" spc="-250" dirty="0">
                <a:latin typeface="Times New Roman"/>
                <a:cs typeface="Times New Roman"/>
              </a:rPr>
              <a:t>s</a:t>
            </a:r>
            <a:r>
              <a:rPr sz="2600" spc="110" dirty="0">
                <a:latin typeface="Times New Roman"/>
                <a:cs typeface="Times New Roman"/>
              </a:rPr>
              <a:t>.  </a:t>
            </a:r>
            <a:r>
              <a:rPr sz="2600" spc="-470" dirty="0">
                <a:latin typeface="Times New Roman"/>
                <a:cs typeface="Times New Roman"/>
              </a:rPr>
              <a:t>A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120" dirty="0">
                <a:latin typeface="Times New Roman"/>
                <a:cs typeface="Times New Roman"/>
              </a:rPr>
              <a:t>erage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q</a:t>
            </a:r>
            <a:r>
              <a:rPr sz="2600" spc="-135" dirty="0">
                <a:latin typeface="Times New Roman"/>
                <a:cs typeface="Times New Roman"/>
              </a:rPr>
              <a:t>ueuing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del</a:t>
            </a:r>
            <a:r>
              <a:rPr sz="2600" spc="-310" dirty="0">
                <a:latin typeface="Times New Roman"/>
                <a:cs typeface="Times New Roman"/>
              </a:rPr>
              <a:t>a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endParaRPr sz="26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600" spc="-70" dirty="0">
                <a:latin typeface="Times New Roman"/>
                <a:cs typeface="Times New Roman"/>
              </a:rPr>
              <a:t>P</a:t>
            </a:r>
            <a:r>
              <a:rPr sz="2600" spc="-65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p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235" dirty="0">
                <a:latin typeface="Times New Roman"/>
                <a:cs typeface="Times New Roman"/>
              </a:rPr>
              <a:t>ga</a:t>
            </a:r>
            <a:r>
              <a:rPr sz="2600" spc="-75" dirty="0">
                <a:latin typeface="Times New Roman"/>
                <a:cs typeface="Times New Roman"/>
              </a:rPr>
              <a:t>tion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de</a:t>
            </a:r>
            <a:r>
              <a:rPr sz="2600" spc="-80" dirty="0">
                <a:latin typeface="Times New Roman"/>
                <a:cs typeface="Times New Roman"/>
              </a:rPr>
              <a:t>l</a:t>
            </a:r>
            <a:r>
              <a:rPr sz="2600" spc="-305" dirty="0">
                <a:latin typeface="Times New Roman"/>
                <a:cs typeface="Times New Roman"/>
              </a:rPr>
              <a:t>a</a:t>
            </a:r>
            <a:r>
              <a:rPr sz="2600" spc="-215" dirty="0">
                <a:latin typeface="Times New Roman"/>
                <a:cs typeface="Times New Roman"/>
              </a:rPr>
              <a:t>y</a:t>
            </a:r>
            <a:endParaRPr sz="26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600" spc="-210" dirty="0">
                <a:latin typeface="Times New Roman"/>
                <a:cs typeface="Times New Roman"/>
              </a:rPr>
              <a:t>Ban</a:t>
            </a:r>
            <a:r>
              <a:rPr sz="2600" spc="-254" dirty="0">
                <a:latin typeface="Times New Roman"/>
                <a:cs typeface="Times New Roman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width,</a:t>
            </a:r>
            <a:r>
              <a:rPr sz="2600" spc="-18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mea</a:t>
            </a:r>
            <a:r>
              <a:rPr sz="2600" spc="-130" dirty="0">
                <a:latin typeface="Times New Roman"/>
                <a:cs typeface="Times New Roman"/>
              </a:rPr>
              <a:t>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q</a:t>
            </a:r>
            <a:r>
              <a:rPr sz="2600" spc="-135" dirty="0">
                <a:latin typeface="Times New Roman"/>
                <a:cs typeface="Times New Roman"/>
              </a:rPr>
              <a:t>u</a:t>
            </a:r>
            <a:r>
              <a:rPr sz="2600" spc="-105" dirty="0">
                <a:latin typeface="Times New Roman"/>
                <a:cs typeface="Times New Roman"/>
              </a:rPr>
              <a:t>eue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len</a:t>
            </a:r>
            <a:r>
              <a:rPr sz="2600" spc="-165" dirty="0">
                <a:latin typeface="Times New Roman"/>
                <a:cs typeface="Times New Roman"/>
              </a:rPr>
              <a:t>g</a:t>
            </a:r>
            <a:r>
              <a:rPr sz="2600" spc="-5" dirty="0">
                <a:latin typeface="Times New Roman"/>
                <a:cs typeface="Times New Roman"/>
              </a:rPr>
              <a:t>th,</a:t>
            </a:r>
            <a:r>
              <a:rPr sz="2600" spc="-17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et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1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86385" marR="288290">
              <a:lnSpc>
                <a:spcPct val="100000"/>
              </a:lnSpc>
            </a:pPr>
            <a:r>
              <a:rPr sz="2600" spc="-160" dirty="0">
                <a:latin typeface="Times New Roman"/>
                <a:cs typeface="Times New Roman"/>
              </a:rPr>
              <a:t>End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systems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routers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maintain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routing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tables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Dyn</a:t>
            </a:r>
            <a:r>
              <a:rPr sz="2600" spc="-155" dirty="0">
                <a:latin typeface="Times New Roman"/>
                <a:cs typeface="Times New Roman"/>
              </a:rPr>
              <a:t>a</a:t>
            </a:r>
            <a:r>
              <a:rPr sz="2600" spc="-160" dirty="0">
                <a:latin typeface="Times New Roman"/>
                <a:cs typeface="Times New Roman"/>
              </a:rPr>
              <a:t>mi</a:t>
            </a:r>
            <a:r>
              <a:rPr sz="2600" spc="-130" dirty="0">
                <a:latin typeface="Times New Roman"/>
                <a:cs typeface="Times New Roman"/>
              </a:rPr>
              <a:t>c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st</a:t>
            </a:r>
            <a:r>
              <a:rPr sz="2600" spc="-175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tic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99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5708</Words>
  <Application>Microsoft Office PowerPoint</Application>
  <PresentationFormat>On-screen Show (4:3)</PresentationFormat>
  <Paragraphs>659</Paragraphs>
  <Slides>94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103" baseType="lpstr">
      <vt:lpstr>Arial</vt:lpstr>
      <vt:lpstr>Arial</vt:lpstr>
      <vt:lpstr>Arial MT</vt:lpstr>
      <vt:lpstr>Calibri</vt:lpstr>
      <vt:lpstr>Franklin Gothic Medium</vt:lpstr>
      <vt:lpstr>Segoe UI Symbol</vt:lpstr>
      <vt:lpstr>Times New Roman</vt:lpstr>
      <vt:lpstr>Wingdings</vt:lpstr>
      <vt:lpstr>Office Theme</vt:lpstr>
      <vt:lpstr>             Computer Networks   Unit I- Introduction</vt:lpstr>
      <vt:lpstr>Outline</vt:lpstr>
      <vt:lpstr>Introduction of Network</vt:lpstr>
      <vt:lpstr>Local Area Networks (LAN)</vt:lpstr>
      <vt:lpstr>LAN- Local Area Network</vt:lpstr>
      <vt:lpstr>LAN Diagram</vt:lpstr>
      <vt:lpstr>LAN Advantages</vt:lpstr>
      <vt:lpstr>LAN Disadvantages</vt:lpstr>
      <vt:lpstr>Applications</vt:lpstr>
      <vt:lpstr>MAN- Metropolitan Area Network</vt:lpstr>
      <vt:lpstr>MAN- Metropolitan Area Network  continued….</vt:lpstr>
      <vt:lpstr>MAN Diagram</vt:lpstr>
      <vt:lpstr>MAN-Advantages</vt:lpstr>
      <vt:lpstr>MAN-Disadvantages</vt:lpstr>
      <vt:lpstr>MAN Applications</vt:lpstr>
      <vt:lpstr>WAN-Wide Area Network</vt:lpstr>
      <vt:lpstr>WAN-Wide Area Network…continued</vt:lpstr>
      <vt:lpstr>WAN Diagram</vt:lpstr>
      <vt:lpstr>WAN Advantages</vt:lpstr>
      <vt:lpstr>WAN Disadvantages</vt:lpstr>
      <vt:lpstr>PAN-Personal Area Network</vt:lpstr>
      <vt:lpstr>PAN- Diagram</vt:lpstr>
      <vt:lpstr>PAN-Advantages</vt:lpstr>
      <vt:lpstr>PAN-Disadvantages</vt:lpstr>
      <vt:lpstr>Ad-hoc Networks</vt:lpstr>
      <vt:lpstr>Ad-hoc Network Diagram</vt:lpstr>
      <vt:lpstr>Ad-hoc Network Advantages</vt:lpstr>
      <vt:lpstr>Ad-hoc Network Disadvantages</vt:lpstr>
      <vt:lpstr>Ad-hoc Network Applications</vt:lpstr>
      <vt:lpstr>Other Wireless Networks</vt:lpstr>
      <vt:lpstr>Other Wireless Networks</vt:lpstr>
      <vt:lpstr>Other Networks</vt:lpstr>
      <vt:lpstr>PowerPoint Presentation</vt:lpstr>
      <vt:lpstr>DISTINGUISH BETWEEN LAN,WAN,MAN</vt:lpstr>
      <vt:lpstr>Network performance</vt:lpstr>
      <vt:lpstr>Outline</vt:lpstr>
      <vt:lpstr>Topologies-Types of Network Topology</vt:lpstr>
      <vt:lpstr>BUS Topology</vt:lpstr>
      <vt:lpstr>BUS Topology</vt:lpstr>
      <vt:lpstr>RING Topology</vt:lpstr>
      <vt:lpstr>Features of Ring Topology</vt:lpstr>
      <vt:lpstr>Ring Topology</vt:lpstr>
      <vt:lpstr>STAR Topology</vt:lpstr>
      <vt:lpstr>STAR Topology</vt:lpstr>
      <vt:lpstr>MESH Topology</vt:lpstr>
      <vt:lpstr>MESH Topology</vt:lpstr>
      <vt:lpstr>TREE Topology</vt:lpstr>
      <vt:lpstr>TREE Topology</vt:lpstr>
      <vt:lpstr>PowerPoint Presentation</vt:lpstr>
      <vt:lpstr>HYBRID Topology</vt:lpstr>
      <vt:lpstr>Outline</vt:lpstr>
      <vt:lpstr>NETWORK CLASSIFICATION BY THEIR  COMPONENT ROLE</vt:lpstr>
      <vt:lpstr>PEER TO PEER NETWORK</vt:lpstr>
      <vt:lpstr>ADVANTAGES &amp; DISADVANTAGES OF  PEER TO PEER NETWORK</vt:lpstr>
      <vt:lpstr>PowerPoint Presentation</vt:lpstr>
      <vt:lpstr>CLIENT/SERVER NETWORK</vt:lpstr>
      <vt:lpstr>ADVANTAGES AND DISADVANTAGES OF  CLIENT-SERVER NETWORK</vt:lpstr>
      <vt:lpstr>TYPES OF SERVERS</vt:lpstr>
      <vt:lpstr>TYPES OF SERVERS</vt:lpstr>
      <vt:lpstr>Distributed Networks</vt:lpstr>
      <vt:lpstr>Benefits of Distributed Network Architecture</vt:lpstr>
      <vt:lpstr>Outline</vt:lpstr>
      <vt:lpstr>Reference Models in  Communication Networks</vt:lpstr>
      <vt:lpstr>OSI</vt:lpstr>
      <vt:lpstr>OSI Model</vt:lpstr>
      <vt:lpstr>Feature of OSI Model :</vt:lpstr>
      <vt:lpstr>Layer 1: The Physical Layer :</vt:lpstr>
      <vt:lpstr>Layer 2: Data Link Layer :</vt:lpstr>
      <vt:lpstr>Layer 3: The Network Layer :</vt:lpstr>
      <vt:lpstr>Layer 4: Transport Layer :</vt:lpstr>
      <vt:lpstr>Layer 5: The Session Layer :</vt:lpstr>
      <vt:lpstr>Layer 6: The Presentation Layer :</vt:lpstr>
      <vt:lpstr>Layer 7: Application Layer :</vt:lpstr>
      <vt:lpstr>Merits of OSI reference model:</vt:lpstr>
      <vt:lpstr>Demerits of OSI reference model:</vt:lpstr>
      <vt:lpstr>Outline</vt:lpstr>
      <vt:lpstr>TCP/IP model overview</vt:lpstr>
      <vt:lpstr>TCP/IP reference model diagram</vt:lpstr>
      <vt:lpstr>Layer 1: Host-to-network Layer</vt:lpstr>
      <vt:lpstr>Layer 2: Internet layer</vt:lpstr>
      <vt:lpstr>Layer 3: Transport Layer</vt:lpstr>
      <vt:lpstr>Layer 4: Application Layer</vt:lpstr>
      <vt:lpstr>Merits of TCP/IP model</vt:lpstr>
      <vt:lpstr>Demerits of TCP/IP</vt:lpstr>
      <vt:lpstr>Comparison of OSI Reference Model  and TCP/IP Reference Model</vt:lpstr>
      <vt:lpstr>Comparison of OSI Reference Model  and TCP/IP Reference Model</vt:lpstr>
      <vt:lpstr>Diagrammatic Comparison between OSI  Reference Model and TCP/IP Reference Model</vt:lpstr>
      <vt:lpstr>Outline</vt:lpstr>
      <vt:lpstr>Design issues for Layers</vt:lpstr>
      <vt:lpstr>Addressing</vt:lpstr>
      <vt:lpstr>Error Control</vt:lpstr>
      <vt:lpstr>Flow Control</vt:lpstr>
      <vt:lpstr>Multiplexing</vt:lpstr>
      <vt:lpstr>Routing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Networks(2015 Pattern) Unit I- Physical Layer</dc:title>
  <dc:creator>Administrator</dc:creator>
  <cp:lastModifiedBy>Lenovo</cp:lastModifiedBy>
  <cp:revision>4</cp:revision>
  <dcterms:created xsi:type="dcterms:W3CDTF">2023-07-06T16:38:04Z</dcterms:created>
  <dcterms:modified xsi:type="dcterms:W3CDTF">2024-01-24T06:10:22Z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2017-06-19T00:00:00Z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2023-07-06T00:00:00Z</vt:filetime>
  </property>
</Properties>
</file>