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2" r:id="rId8"/>
    <p:sldId id="260" r:id="rId9"/>
    <p:sldId id="261" r:id="rId10"/>
    <p:sldId id="263" r:id="rId11"/>
    <p:sldId id="265" r:id="rId12"/>
    <p:sldId id="267" r:id="rId13"/>
    <p:sldId id="268" r:id="rId14"/>
    <p:sldId id="269" r:id="rId15"/>
    <p:sldId id="271" r:id="rId16"/>
    <p:sldId id="277" r:id="rId17"/>
    <p:sldId id="281" r:id="rId18"/>
    <p:sldId id="287" r:id="rId19"/>
    <p:sldId id="293" r:id="rId20"/>
    <p:sldId id="286" r:id="rId21"/>
    <p:sldId id="284" r:id="rId22"/>
    <p:sldId id="285" r:id="rId23"/>
    <p:sldId id="288" r:id="rId24"/>
    <p:sldId id="289" r:id="rId25"/>
    <p:sldId id="290" r:id="rId26"/>
    <p:sldId id="291" r:id="rId27"/>
    <p:sldId id="29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76" autoAdjust="0"/>
  </p:normalViewPr>
  <p:slideViewPr>
    <p:cSldViewPr>
      <p:cViewPr varScale="1">
        <p:scale>
          <a:sx n="61" d="100"/>
          <a:sy n="61" d="100"/>
        </p:scale>
        <p:origin x="1572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9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6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58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8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6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6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9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1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1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3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B5062-3D35-4756-83DF-9F7E4B7741F7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F1AAF-A063-42D8-B70C-34F7B29A82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8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33448" y="2514600"/>
            <a:ext cx="767710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en-US" sz="6600">
                <a:latin typeface="Lucida Calligraphy" pitchFamily="66" charset="0"/>
              </a:rPr>
              <a:t>Transport Layer</a:t>
            </a:r>
          </a:p>
        </p:txBody>
      </p:sp>
    </p:spTree>
    <p:extLst>
      <p:ext uri="{BB962C8B-B14F-4D97-AF65-F5344CB8AC3E}">
        <p14:creationId xmlns:p14="http://schemas.microsoft.com/office/powerpoint/2010/main" val="389060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057400" y="613495"/>
            <a:ext cx="53783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Times New Roman" pitchFamily="18" charset="0"/>
              </a:rPr>
              <a:t>Position of transport layer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057401"/>
            <a:ext cx="8226425" cy="4012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343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00100" y="2805112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sz="3600" b="0" dirty="0">
                <a:latin typeface="Times New Roman" pitchFamily="18" charset="0"/>
              </a:rPr>
              <a:t>The transport layer is responsible for process-to-process delivery. </a:t>
            </a: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1066800" y="613494"/>
            <a:ext cx="28437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Times New Roman" pitchFamily="18" charset="0"/>
              </a:rPr>
              <a:t>Introduction:</a:t>
            </a:r>
          </a:p>
        </p:txBody>
      </p:sp>
    </p:spTree>
    <p:extLst>
      <p:ext uri="{BB962C8B-B14F-4D97-AF65-F5344CB8AC3E}">
        <p14:creationId xmlns:p14="http://schemas.microsoft.com/office/powerpoint/2010/main" val="13641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371600" y="797070"/>
            <a:ext cx="5715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3600" dirty="0">
                <a:latin typeface="Times New Roman" pitchFamily="18" charset="0"/>
              </a:rPr>
              <a:t>Types of data deliveries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9" y="2057401"/>
            <a:ext cx="8501062" cy="3993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654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c958821.CNBB01(en-us,TechNet.10)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jpeg;base64,/9j/4AAQSkZJRgABAQAAAQABAAD/2wCEAAkGBhQSEBQUEhQUFBQVFRgaFBUYFRUXFBoYFxgVFhgYGBgaHyYeFxojGRUYHy8gIycpLCwsFR4xNTAqNSYrLCkBCQoKBQUFDQUFDSkYEhgpKSkpKSkpKSkpKSkpKSkpKSkpKSkpKSkpKSkpKSkpKSkpKSkpKSkpKSkpKSkpKSkpKf/AABEIALUBFwMBIgACEQEDEQH/xAAbAAACAgMBAAAAAAAAAAAAAAAABgEFAgMHBP/EAFsQAAEDAgMDBAcQDggFBQEAAAECAxEABAUSIQYxQRMiUWEUFjJUcYGTByMkNERTYpGSlKGxwdHS0xUlM0JDUnJzgoOys8LDFzVVZHSE4fBFY5WioyaFpLTjdf/EABQBAQAAAAAAAAAAAAAAAAAAAAD/xAAUEQEAAAAAAAAAAAAAAAAAAAAA/9oADAMBAAIRAxEAPwDuNFQTRNBNFRmomgKmomiaANKjm0lwXHUoSwEtuKQMynMxyZZJgRxprUaRGe7uNx9EvcPZdMdVBYJx+74otuO5b3V7HrqRtBd+t23lHgf3fXWGA7NJdtWHVvXGZxptavPBGZaUqOmXTWverZBPr9z7tHX7DroPMNo7ji0x5V3j+rrHtluuFux74cHGN3I16BsanX0Tda+yaPxt1l2oiPTNx7bB6+LVBoRtJc8bdmTu9EL+VmpG0z8+l2/fCvqq2K2Pn1Tcf+D6qgbJEeqrj2rY/wAqg0q2ouB6mb98/wD5Vknah7jbJH+YB/grNOyJG66f9zb/AFVYnZFffb3k7foj1ughe1Dw9TD3wn6NQnat7jax+vR9Gsjsm5wu3B+qt/oVC9knO+leRZ4adFBmNqXO9leJ5r5YqO2tzvRflmPDxVWI2Ve76Ph5Bv56k7MPd8g+G3T1ey6qDanapXG2dH6xg6+7qDtae9Xz+lb/AFlae1d/jcoP+WHyOVi5sy/B9ENe9iN3geoJuduktIU47bvttoErUSwQlOkqIS4TAmdAd1MlvcJWhK0mUqAUkjcQQCD7RrlW010peDPrOhXa5lATGqRI+HprpGzo9CW/5hr92mgsaKKKAmooNc9Tjt2rOoPqCeVdCUhtmAlLq0iCUawlI3mg6HRNIDeK3ZJHZR8kx0xuy1qttorhYlF3nEwSGmSB4wOig6JNFc/OO3QAm5Gpgyw3v4Aaiaxtdo7lwZkXbS0zEhhJE+JW+CKDoU1E0iIxy8Jjl29/e44/pitKttrhm5tUOlDrdw8lrRvk1JKwSFTnMgRqI1oOhUVAooPFjNqt1lTbZCSuEqUSRCFGFkRrmyzG7WNRSe5Y4khOQOOHkkMIlChDozqSopzIJSvIEKUrWCFQDM0/VEUCbaYBfNrJ5RBzKlagvKtUpZSSCWzlMoUrdB6BMiFYRiZUSXW+7lErzJTqkglPJjNBmIgxpTpRQLOG2l8l9JdcCmdZRKCQCHCJIQCpQPJiQQInTia7D7PEWg02VAJAYQIhzQJIeUVZZTAOcEnVTYH32jvURQL2CM33KTcrGTIrmp5OM+YDSE5soSJGs87XdVNbHW5PRc3ET1LV8lPRGlIlskk3Eak3NyN8fhFAcOg0DPsr6Rtf8Oz+7RVrSXhmP3DLDbRtkK5JtCCRcDXKlKZALfVNeo7XPDfae0+nq6UjpoGmKmlY7YPTHYh8T7VQrbF0b7Nfl2flIoGqlfaK2vDcZ7ZSkpbtyoJkFDjqVyGykqA5ydCo7gdCDBB24Od5ueJ63P8AFUK2yWN9m74nLf6dBAv8RCgCyhQkjMABuKspjlO5UkAqO9BMQreMEYriMJJt0klIJAASQrOJTq4R3MwZgkawCDW1O2iu839093bH+bWadsifUlz7dt9bQbMHxG8W4gPshCClRUQO4UIhJJUc3HnDfpoJ0YaWRtoJjsW5/wDjxvI9e6qy7dB3rde5Y+toGSilzt0TIHY117hvjpwcqe3RPe915JP0qBirW/3KvAfiqhG2zfrF11+cnT2jWL22bZSoBq6kpMDsdzooEXaX+onD/dE9PEIp+Yu327O2LFvyxLTeZKnUtFI5NPEhQJnSBSBtVKcEdSoAKFqgKG4yAgEeKuqYSIYaH/LR+yKCmGNX/HDx77a+jQ7jl6AT2Ad3C5ZPwaE+CmSoIoFrZLHry4Sk3diq1kTm5VCgf1fdpnoNL2GoAbk+uu7p3F52uixXL8MvUcnq42CFuzK0SPPHOEgjWgsc0T/vjM7qULnZxKV5S+EJQmVFMoU2pxTYbyJzcwKU2s7yBmUAADpdY0EPsKaLqUZgOcFJO4hW6TO7xT01Tp2RbOvZOY6AE8kZyqKgTJErlUA8Bp10HsRsioDIHie50KVHhqgHlCchgc0zqo68BlhuzKmloVymZKQISUr0AbQiU8/mzlkyDv4b68qdi20AlL8dxqADqkJ1ICyIKhmgg6qUdZ0DskAFAXG8AJJGqYOYgDNBTPAzJGpMkUDKiOjd8gO/T/cVSY2PRuFgbuzm/DolVXbbgjfO+TPwiDVLjCPR+FQPVonfwQTx8JoOvJooTuooJooooCiiigKKKKCDXKcX7I5d42j6g1yrspVZpcOcuLDgSoLBKc+aJHt6V1Y0isOBLbxgmHrlXCPTDx+SgWOWxE6l9vwmwUN+nBdTy+I6+fte8bg/Eo8abrbBrpaELAtuckKAzOiMwB/F662drtzEQx5Rw8SeLfXQJXZWJjc6z7xvNZoF7iXrlqf8nfcfAkzTsnArsTzbY/rHPD61QcGu5nk2J4efLjT9VQJSr7E9efaGf7niPE9SKwVieJE77PefUuJDXydNTz6kcolTaeUbWhEBXNUV5CnnZRA88E83ga9icHuo+4tE/wCIVG/81QJgxTE9R6D6fuOJg7zp9yrX9ncQ3egT+rxGd88Waek4XdAfcWp4+fb9/wDy+utasNu/WET1XHV0FFAmIx/EI7mx09jfD25Z66E7QXwjm2Bjhmuxx62qchh11mBLA4fhkEfszXjauVKyZG1FxSlNhGYCCgOBUqmPvDr4KBba2mvh+DsT1crcj426k7T3vrVjp/eXB8bdN4tLoep1bvXmiN3WZ6aySxcj1O54nmej8vpoEpO1d361Yk9V4B8aKgbV3c+l7P3+0OHWkU58ldcbd3xOWx+NwUPpfQCo2z0AEkhbEwBPrtBz/G8Vu7u2ctgxaBTwCARiLCjJIiE6SSYEdddssmyltCTvCUg+EACuW+aE/wDam4Uk720kaiRKmyOsGuqWvcJ/JHxCg20UUUAaXcS8z3D7h1Tr1oytxXdKKTJgRrB6BTCaUWtuXFIC02spM5fP0zExJGXT/WgzV5lWFn1Ez7SvnrE+ZNhfeTX/AH/SrIbZux6UPifb+aoVts6N9ory7VBr/oiwrvNv3Tn0qxPmP4V3mj3bw/jreNuFz6UX5Znr6+qpO3Kp9Ku+Vt/lXQeY+Y5hXeo8q/8ATrfh/mWYcw8h5q3yuNqzIVyrxgjqUsg1kNuT3o/4l2x/mVts9um1PtsuNOMLdkNFZaKVKTBKRya1awZ100OtAyiigGigDS5tPdXLbjRYKykpdKkJaCweTaW4kFWUlOdYSn4taZKKBPXthcpVlNoowUyoJfykEHNl871IgRwOYVCdt3y4UdinQJz6rlAWtxIcUMmrYCJkakKEDfDhFYJYSFFQAClRJgSYmJPGJPt0Czh209w8tQVb8ink3SJ5RS86EtEA8wJAPKGBJnIesVow7bV1QQlVusq86STCkytxtSjCVJ0AWgg74zJpwita7dJUlRAKkzlJAJE6GDwkUFHs/tMu6WUljk0htK8xWSecpaQmMg1GQzroTEUvNqhl/wDLuv3r5ia6BFc8QD2O9v1Vdbhr90e3Qev4aB8w4ect/m0/sild3at4XSmTyYRywRyuVSm20EOwVnMIWVthvKoJAKgoFQIqzs9rLUNoHKgQlI1SsbhHFPVW3tstPX0ePMPjFBSYjtPctFYCrdeRFsoZW184XD6mdJcGoACtYnNwGtNWHOOFlBeSlDpSM6UmUg9AP+/HVcra+z43DfjP+lbE7V2hHphr3QoF3FlS8+AfVTA/+qfip4rn97foK33UqSW+ymSVzzcqexQVA9AhUnqNNY2ss++WPKJ+egqca2ofYfcRlZKEIaWJKwQl54sBSzMBKSM6jG4Hw1ttNon1XvY+Rp1CUoUt1tRhKVm4AJknUFlIyidVn8WrFWP2m8v2+og+eN6jo36isWsfsgebcWo0jR1oaDcN+7Wgt6RcKJNxb9HZVx8CbqmtO0Fsd1wwf1rfz0nYXfIDtstSkpRy9wc5UAnVNzGp0M+Gg6AaUbfbRxabchtoF/JoXFQkr5fQnLwDPtnqph+zLHrzXlEfPXmULMgg9jEFWY/ctVa849ep136mgrtntsFXbuVLCgiAVLzEhJLaFiTlCSCVECCSQAYg6XuLGGHT/wAtf7JrWw8wkkoUyCqMxSUAmBlExvgADwCsMZu0djvc9P3Jz74fiKoOZ+aCo/YZ0f8AKaHGe7aro+I7Qs2qW+WUpOYc2G3VzAE9wkxvG+uceaKPtQsabmfhcbrrbY0HgoF8eaBZeunyL4/grW/5o9ilJVy8wCYCHJMCYEpAnw0zRWLrIUkpUJCgQQdQQdCD0igotm9uLS/HoZ0LMSUlKkqHTII+KaVMDjsZrrSOrUkk/Ka6MzbpQkJQAlIgBIACQOgAaCudYIsdjs9TaePGJ4UHpTofGNY6+mKpsbs3XFMhtSkJBXyi0q1AKDl5oUMxzDTfrrETXsxvluQPY0cpKY1TuHdSVDopcdtr7MtRBlSm1EJcaHObUkwATo2UzpvJidKD2NOX6lDNlSkFBUEhoq7tvOJnucvKEcYidaZFdYjwjxxSu05iA7qFGW55rI0yjPqDrCiRqI5og6zWaXMQ3qCBGTSGtQICjmzDKd/Nyn73WZNAyRu1GvyDwVS3sfZbChEHl3NPA0qKuVOdGv6RO7xQDVNcj7cYUOHKvePzk9QoOtgUUCigmiiigKKKKAooooINcuurq7t3FtCxefCVuEOtONZFBxaljRUGQFQZ3Eca6lXNbSzYDBdW02T58tR5NBUfPXSTJ3kxQeTthvCT9q7vX2TR+WpO0V0J+1d9r1IP8Ve4bPlaUn7HSCJ07D4wR98KjtZV/ZvER6U3cfwmv+tB4FbT3M64XiXuEn5aBtW+P+FYnx/Ag74HTVkdn9B9rlz/AJX6ytY2fE/1c9p1MdP56g8Hba9P9WYoNe9p/iqDtc7P9WYrxn0KrxceqrUYEP7PdHSQGeudOVrAYOIE2VyOmB9F7we1QVp2zUO6w/FB0eg1x1zrWtzbREkGwxDdxs1dM1ZjCf7pd/8Afv8AKmthw3otrwbt3LDWPYu6jdQVCdtGwPSWIeOzVG/5virEbcsACbe9j2Vmvp4eL4qt+xtfuGID339M1mhkpOjWIeH0Z9Ogo0bb2g9T3XvNXzVDu3Fl98w8OmbNW73Onhq+UFbyMSGnBWIb/ACaBMb8S8ZxCd1AuHbfDeLaveat0H2HCpO3eGCMySIHGzX9GmIOGO6xAfpX8+DUH/YrS5eJSCpT2IBIBJKuzQkASTJygADfJ6KBN2z25tbqyWyytZcUpoBJbcSNHUKVqRG4H2q70jdXL9qcVes7cPtOuqUhxoAOOLWhQU4lKgpJnNzT0+CuoJoJoqCKmggikK58y5ZUeSxC6ab3IahC0oTEZQVCSPDT6TVP24WffLPuxQKqvMuuP7Uf8gwfkqD5mF1wxZ/3uzTadrrPvljyiaE7XWZ9VW/lUfPQKB8y+74Yq547Vg1P9Gt7wxZfvVn56b+2uz76t/LN+DprPtntO+bfyzfz0CZ/Rrf/ANqk+GzZ+etmF+ZncIvba5fvuXFupZSjsdDc50FB1SrwcOFOHbJa982/lm/nrfaYqy6SGnW3CNSELSogdOhNB6hRU0UBVfjWNItmw44FFOdKVFInKFTKyJnKkCTEkAExpVhWi6s0uZcwnKoKGpHOExMbxqdDpQVCdtbXTM4EqP3ndqA50KOTMAkhOaZ3FJO8V6O2m2gHlm4JI1JG5RQZ005wiTxgcRWNtsnbNxybQQElJSlKlhIKBCSEg5RzeadNQADpWtOxloE5UshKddElQBkNgzrr9ybOvFAPTQTbbX27iHlNqzhlJUqI5yQ2l3MjXUEKgTEkHor0N7SW6tOWbB4pKgCO4meiM6R+lWi22St0crlSscs2G3PPF85CUBpIOu8ITAO8Sek15xsSwFggEplSlJUpSsylNqanMTKQEOLEDfzd2UUFnY44w+YZdbcIEkIWFECSmSBu1BHipHn0C5pILb59ou064XgTduSW88qCASpZVojNl3/lGkdTY+x6/wAy9+y5w8dB0OyHnSPyE/EK3RWu1EISPYj4hW2ggipoqJoCKrNpVuptHixm5UIPJ5QFKzaRAI1rxbQYjdoXlt2gpOQHNlK9TymeBmGqcrcJPdcoYPNqmtscxFDZSbflCEuqStbbgKoBLaCE/fey0BAjQ0Hqt7y9at33ilTys60sMls8pAfdSlRypScpa5Pp7nNOpFaHNpb1YgWq25WiFBpwkJ5YJKVJUIBLYKs24A9JFerFceu0Pck0226pLTSlgIdkF0vJKoB0SktJ5vdHPv0NYK2gvg4AbaEc4KUG3CEqzoTwMkJRmckd0ISII1BviiKU0bS3ZAm0KVEgKRDmh0MZ4ynODIVuTEK1Ne3ZbE33ElL6FApQ2eUUkpzlQOaQQIII3R0HjoF/FEUCpoIiqvar0jdf4d792urWqrakegbr8w7+wqg515oy/QBHS9b/AL5FdZFcn80Vv0GBAHoi34dLqa6LimGOulJbunbcCZDaGFBUnQnlEKOnVG+gtKiaXTs7dcMSufI2Z/lV58T2XvVsuIRiT2ZSFASzbJEkaHMhsKTB1lOvRQM76uao9R+Kub4SsC1Z1iWmt5P4iaacDwe5t2FC5vF3RDZ1U02iCAdZTzlfpE0sYU0eQY4Qy10/iJjT2/boPUlyePx9Ph6PipdY2yQWmlKhTjiQpSUEc3npTEEyTKwQJnRR4RVjjeKptm+UXJBUlMDeZCtecddAdOqlte1jQK/O0ZQtPFIJaU2nMfzvOUI0y7jQWbO2CFlAykJWAUAlsTzl5iCVgAQg6GDI41uwbaJFy4oISAkN5pMFWbORw0iIM1X2G0Fu0MiWFoAVGobPOA3k5iZBSkCdDKYrdZ7T25UChrJmUlGYJaSJWAQDBzQCQZ4zQMCEDoTPi65qut1FGOYelBgKTdZspIChyIUAocYUAfDFWXQD+kddevXo0qstx9vcO/Iuz4uSAoOriipooIIqaKKAooooCiiigg1yu0xq17HDLtyyhRStC0qdQlQmQRztx14iuqGuYIsOyQHnUWq3HQFKzWVus67pUo5laACT0UGxG1yNwxRO8Rz7E6eTE16DtQIMYmg741siercmvH2rtGPOLLXf9r2NPaIrX2osn8Bh/wD09v4w5Qe3tmVOmJt9fpP4NNa3J2ic/tBvcd4teBHRVT2oMTrb2B8FlHxOaVK9imO9sPjrs1fI/QXCcfdJ0v2R+gwfl+Ksk409wvmiPzbH0qoxsKwfU2HnwWrvyP6VCthLbvSxPgYfHV6/1UDEnGX59NMEnd5yiY8pUJxu5I9NMeDkB8HnutLSvM/t+FrYbwPuVyN/gerX/R/a8bSy8Quh4fw2+gbfs3c+vseQ644O1mvG7rg7b+QV0/nuik9Xme23CztPd3nyO1iPM5tifSlrr0PXw/mGgdBjF5OrluR+YWP50VP2ZvPxrc/qXR/NpMR5nFqfUrE/4m+Hyn/cVg55n1uPUzPivb0fJ4qB2bxm9ImbY/qnh/MOtacQvLp5hxpRYAcQpBKW3MwzJIMAr3wTSgnzPbfvZPgGIXY/gNT2iMd7n/qV19VQerzQwexGxBjsq24bpcHGuriuMXGy9nbqYW+y8EF9pMpvnncq1HzuULbAIzAA67jXZxQTRRRQarlvMhSfxkke2Irlxs8VZhtvD0OJbAQlwXTaQsJSlIUEqAIByzB6a6tURQcn+20AHCkkf4pr4KM2KccJO87rm347/hrrEVMUHJ3HsRIM4Q4d/qi2Op049WngNazcYgTrhDvhDtvOkDQ+Dd0V1uKIoOT9n34n7VXOvs2CeHGdaywC1vH8YtH3rJ5hDTb4UtZSUy4iBuOm6PHXVooigBU0UUBXnev20KShS0JUruUlSQo6xoCZOumleil7aLZpVy5OdCUlhxlQKCpUOraUVIMgBQ5MRIMEzwggwZqwFwnNlzDNxEidwO7fuI9uktexd3LihdjMoKCTD0pCilWnnn4yZ1nfXvxHZh5b63EPBAcKMwBcQohPJAgqQQdQhQngF0DJ2SmCZEDujIgRvk8KzzUoWeyVwli6aceQ4bhuAoheiy2ltSiNysxTmJiZMbt0HAb4rUOyVCeWIUFKKE5ko5NOUqzSlxObcRlKhOooHBSq5rb3WTDwtMBSbcFO4jNlzDTj004YHhbrPKF51TmbLkBcWsJCUAEc4CTmkzEmRNJakfawdBt06TP3g9rfQM6dkXY0uj1ksNa1KdkXgRF0BAH4BPDwLpnFTQKydkn++k+9x9ZWQ2VfHqlv3ueH62meigVTstc8LlrePU6uH62sxszcevs7vWFfW0z0UCt2s3PB9jd6w59bUDZi54vMeJlwcPztNVE0CsrZq59dY8k59Z11gdnLvg5beHI7J0/L/wBxTZRQK32Auvx7c9HNd+RVa14Dd9NsfDy3V83w020UCkMDu+i247lO8Y9j1V48Us7m3ZW6tFupKBmIC3JiYMSiJg081S7Yn0C/O7KPhUkUCDt6gBq2EyTf2w9pw766uK5Vt4qU2g3TiNtpx+6KPyfDXVqAooooCiiomgmitaHgSQCDG/q/1rZQFFFFAUUUUBRRRQFFFFAUUUUBRRRQYPHmnwH4q5o6oDDkb9WEceGRA3R19NdLdIymd0Gfarjd5hTim87b2IJt+YUNLVaqaDZUjKgnPnKQCOk0HZhU1AqaAooooMVjSku3xO9bZZPJOuuBttDyVpVq4kLLhTlgAk5Rn1TqI3GnUiljavFblDiWbVIUpbDq+5lYKS2gFJkJSRyhUJBkpA4yArWtosQHKE2yjJKkhTbunnbQ5NOUferzaqPOkxurcjHbpJW2pBWUqUrMkHlAnspTYGQAkAtlKkGNUJXJkTWxnHb2Fp5FC3G0SQAoKJDqkJBTmMZ0AOJ4aKnpoVjV4hDhFoVLE5RkJKxyiwmVBWgCQNNTCgd00EWW2LxfYZdZS2p1RmQ6ITkbUIkb8y1I10JbUNKcE1VYFnW2FvJIcDj2XOkBYRyq8g3bsgT4eNWwFAUUUUBVJtmfQL3gT+2iruqDbufse/lKQYTBUFFIPKIgqCecQOMa9FAkbdHSw00OI237Sq6rNcZRYXd1dWiHn7GG7pt2EIu21q5KVFILiMpOXMY36V1DFMTfbWA1aLfSRJWl1lEGTzYWoE8DPXQW00TSp2deansW714B+wMeAk1X4zjN22ytfYN66QBCDc28GSBGVheczPBKt+6gaMexlLLLpCgXEtLUlABUqUpJBKRrEjfupLRil84mV3KW0kA5QyjNEE85QVAnTROo6Tuq7N2peG3RVZrsz2O6cqyyZ87V+Ion3QBqnbTzRHR1RGgNBP2duWkGbhlKBxLCEpA93GpPw1ut9pLpXc3DK9YlLAVwB4O9BB8dVuM4WXmXGgrKVffQTGqToNOjp41QXGzmV1RYdCA46UhIUQQsFsrJJJ5RSQhwkESeVPRQOqsevAY5diYJA7GMwIHr3XWDm1N2FRylvMTBt3JgRrHLbtd/WKWe1t0qJS+cpUTkVykFKlJ5shYMAp0g7+qZzwvAnGXuUW6HZDkaKBham1ASonQFuY6SaBoTtHeGefbeQc+urZgG2Tq7/sR4NqKmC6hbaVIjIrKoKClqmZTEdc14G0TJ39JA4yIE9OlV+Aj/ANRN79MPc3/nkig6nRRRQFRNTVJtSh8tti2KgovIClJIEIIVmKjB5sxuFBdTUzSXYYvfNrS06lLhU6UpWpJQpScz8rCQqClKW0KgRzXQNSJO9nG73NzrZQBSOCikEFyUgSCMwAOY7pSCATQNk0TSgxil440+tTbjSwlnk0cnx5VwLKQQSZbCCQZiahrau6Mg2vPCXFZOclzKgpCSUGSQrPAiZLS44Cgar0+dr/JV8Rrnq0egEJn8Exp0SWvnpqtcQecZuC82G8oIRHKSrzoKKuekGJUQNPvTOtK9x6RaEictvEeFkUHRhU1AqaAooooClfHL++Q+oW7SVtQkBRRmImMyvugzx+LA8NNFRFAps3eIhaQWm1JUtedRCUZBncCCAFnMnLyR6YC5kxXiusUxMpkMwUlpQSlBClSpPKIJKyITzx7IJBBEzTzFEUFbgt28vlOWRkyuENmCnMiAQYJkHgR0jSRrVnURU0BRRRQFUm2ImzX+W1++aq7qk2xPoRUeuMfv2qBG2yPojDRH/ErfWetXDdXU01yrapybjC//AOizp7uuqpoJqIqaKCq2pgWN1O7kHf2FUmt3iMo5yeE84cfjroq0AiDqDvpTe8ybC1qKlWbZJJJMuDUmTuVQKuN4aLgJAfLJQsKBSATM8DmEfDvqnc2NJOlwNSVQEEQVBQMQvScxnXXKNRT/AP0QYV3m37p36dYnzHsK7zQPA48PiXQJQ2UMEC5MyvcVbl6DUrMEAASkDcNN4O6w2cUhaF9kKVCwo6K546FDMUjoEAaAdcth8xnCu9v/ADP/AE6g+YxhXex8s/8AToPGjdGo3a75PyV4Nmz/AOov/blH230xVz/QxhnBlweC4f8Ap1Z7OeZ3Z2Lxet0LS4UFBKnXF80kKiFExqkUDNRRRQFRFTRQRFGWpooIioyVlUUHkxbS3d/Nr/ZNI6miu1bCcuYIaInNEo5NWpg6GI06Zp8v7fO0tAMFSFJnozJIn4a5wGMWa87TYNLSjmpWLxCcwSICgFCUiBMHXWgY0bUXWss28dPLue19yrNW09yPU7HvhY/k0sKVi3HDARJ0F6z1dXVUKfxXX7Vn33b6caBo7aLnvZr3yr6mp7aX+9ke+D9VSsLvEx/wlzjuurY7466xRfYkP+FP+Xt/noGs7U3E62qI13XI4fq6jtteG+1HvhHypFLBxPEOOFXPift43z00OYxfccKuvKMHjPTQNHba93r4fRDXzVl22uz6UX5Znj4TSj9mb2f6qu/bZ+epOPXXHCr4HpCWz/FQN6drHD6kc8qx9KpRtWs+pHp4Q5bH+ZSejaO5EfavEOuEI65++662NbUXAP8AVeIgfmkn+KgchtKuPSr3u7b62sBtYeNrcDx2x+J2lVO17wEHDcT8gPkVXnXtcvjhuJe9T4vvqByG1v8Adrn2mPrar8ax4vtcmm3fSS40cyw0EgIdQskw4TuSdwpZ7cVaegMSHT6FVpw/Gqe3TX0niQ/yjnz9J+CgNp0RdYSNPT7Z3+xVXVE1x5/FV3d9hoRbXiA1dpWsuWy0ICQlQnNuG+uwpoJooooCiiigxBM/FWVFFAUUUUBRRRQFFFFAUUUUBRRRQFFFFAURRRQFFFFAURRRQRFEUUUBFGUUUUBloy0UUBloiiigIoiiigIqYoooCiiigKKKKAooooCiiigKKKKAooooP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jpeg;base64,/9j/4AAQSkZJRgABAQAAAQABAAD/2wCEAAkGBhQSEBQUEhQUFBQVFRgaFBUYFRUXFBoYFxgVFhgYGBgaHyYeFxojGRUYHy8gIycpLCwsFR4xNTAqNSYrLCkBCQoKBQUFDQUFDSkYEhgpKSkpKSkpKSkpKSkpKSkpKSkpKSkpKSkpKSkpKSkpKSkpKSkpKSkpKSkpKSkpKSkpKf/AABEIALUBFwMBIgACEQEDEQH/xAAbAAACAgMBAAAAAAAAAAAAAAAABgEFAgMHBP/EAFsQAAEDAgMDBAcQDggFBQEAAAECAxEABAUSIQYxQRMiUWEUFjJUcYGTByMkNERTYpGSlKGxwdHS0xUlM0JDUnJzgoOys8LDFzVVZHSE4fBFY5WioyaFpLTjdf/EABQBAQAAAAAAAAAAAAAAAAAAAAD/xAAUEQEAAAAAAAAAAAAAAAAAAAAA/9oADAMBAAIRAxEAPwDuNFQTRNBNFRmomgKmomiaANKjm0lwXHUoSwEtuKQMynMxyZZJgRxprUaRGe7uNx9EvcPZdMdVBYJx+74otuO5b3V7HrqRtBd+t23lHgf3fXWGA7NJdtWHVvXGZxptavPBGZaUqOmXTWverZBPr9z7tHX7DroPMNo7ji0x5V3j+rrHtluuFux74cHGN3I16BsanX0Tda+yaPxt1l2oiPTNx7bB6+LVBoRtJc8bdmTu9EL+VmpG0z8+l2/fCvqq2K2Pn1Tcf+D6qgbJEeqrj2rY/wAqg0q2ouB6mb98/wD5Vknah7jbJH+YB/grNOyJG66f9zb/AFVYnZFffb3k7foj1ughe1Dw9TD3wn6NQnat7jax+vR9Gsjsm5wu3B+qt/oVC9knO+leRZ4adFBmNqXO9leJ5r5YqO2tzvRflmPDxVWI2Ve76Ph5Bv56k7MPd8g+G3T1ey6qDanapXG2dH6xg6+7qDtae9Xz+lb/AFlae1d/jcoP+WHyOVi5sy/B9ENe9iN3geoJuduktIU47bvttoErUSwQlOkqIS4TAmdAd1MlvcJWhK0mUqAUkjcQQCD7RrlW010peDPrOhXa5lATGqRI+HprpGzo9CW/5hr92mgsaKKKAmooNc9Tjt2rOoPqCeVdCUhtmAlLq0iCUawlI3mg6HRNIDeK3ZJHZR8kx0xuy1qttorhYlF3nEwSGmSB4wOig6JNFc/OO3QAm5Gpgyw3v4Aaiaxtdo7lwZkXbS0zEhhJE+JW+CKDoU1E0iIxy8Jjl29/e44/pitKttrhm5tUOlDrdw8lrRvk1JKwSFTnMgRqI1oOhUVAooPFjNqt1lTbZCSuEqUSRCFGFkRrmyzG7WNRSe5Y4khOQOOHkkMIlChDozqSopzIJSvIEKUrWCFQDM0/VEUCbaYBfNrJ5RBzKlagvKtUpZSSCWzlMoUrdB6BMiFYRiZUSXW+7lErzJTqkglPJjNBmIgxpTpRQLOG2l8l9JdcCmdZRKCQCHCJIQCpQPJiQQInTia7D7PEWg02VAJAYQIhzQJIeUVZZTAOcEnVTYH32jvURQL2CM33KTcrGTIrmp5OM+YDSE5soSJGs87XdVNbHW5PRc3ET1LV8lPRGlIlskk3Eak3NyN8fhFAcOg0DPsr6Rtf8Oz+7RVrSXhmP3DLDbRtkK5JtCCRcDXKlKZALfVNeo7XPDfae0+nq6UjpoGmKmlY7YPTHYh8T7VQrbF0b7Nfl2flIoGqlfaK2vDcZ7ZSkpbtyoJkFDjqVyGykqA5ydCo7gdCDBB24Od5ueJ63P8AFUK2yWN9m74nLf6dBAv8RCgCyhQkjMABuKspjlO5UkAqO9BMQreMEYriMJJt0klIJAASQrOJTq4R3MwZgkawCDW1O2iu839093bH+bWadsifUlz7dt9bQbMHxG8W4gPshCClRUQO4UIhJJUc3HnDfpoJ0YaWRtoJjsW5/wDjxvI9e6qy7dB3rde5Y+toGSilzt0TIHY117hvjpwcqe3RPe915JP0qBirW/3KvAfiqhG2zfrF11+cnT2jWL22bZSoBq6kpMDsdzooEXaX+onD/dE9PEIp+Yu327O2LFvyxLTeZKnUtFI5NPEhQJnSBSBtVKcEdSoAKFqgKG4yAgEeKuqYSIYaH/LR+yKCmGNX/HDx77a+jQ7jl6AT2Ad3C5ZPwaE+CmSoIoFrZLHry4Sk3diq1kTm5VCgf1fdpnoNL2GoAbk+uu7p3F52uixXL8MvUcnq42CFuzK0SPPHOEgjWgsc0T/vjM7qULnZxKV5S+EJQmVFMoU2pxTYbyJzcwKU2s7yBmUAADpdY0EPsKaLqUZgOcFJO4hW6TO7xT01Tp2RbOvZOY6AE8kZyqKgTJErlUA8Bp10HsRsioDIHie50KVHhqgHlCchgc0zqo68BlhuzKmloVymZKQISUr0AbQiU8/mzlkyDv4b68qdi20AlL8dxqADqkJ1ICyIKhmgg6qUdZ0DskAFAXG8AJJGqYOYgDNBTPAzJGpMkUDKiOjd8gO/T/cVSY2PRuFgbuzm/DolVXbbgjfO+TPwiDVLjCPR+FQPVonfwQTx8JoOvJooTuooJooooCiiigKKKKCDXKcX7I5d42j6g1yrspVZpcOcuLDgSoLBKc+aJHt6V1Y0isOBLbxgmHrlXCPTDx+SgWOWxE6l9vwmwUN+nBdTy+I6+fte8bg/Eo8abrbBrpaELAtuckKAzOiMwB/F662drtzEQx5Rw8SeLfXQJXZWJjc6z7xvNZoF7iXrlqf8nfcfAkzTsnArsTzbY/rHPD61QcGu5nk2J4efLjT9VQJSr7E9efaGf7niPE9SKwVieJE77PefUuJDXydNTz6kcolTaeUbWhEBXNUV5CnnZRA88E83ga9icHuo+4tE/wCIVG/81QJgxTE9R6D6fuOJg7zp9yrX9ncQ3egT+rxGd88Waek4XdAfcWp4+fb9/wDy+utasNu/WET1XHV0FFAmIx/EI7mx09jfD25Z66E7QXwjm2Bjhmuxx62qchh11mBLA4fhkEfszXjauVKyZG1FxSlNhGYCCgOBUqmPvDr4KBba2mvh+DsT1crcj426k7T3vrVjp/eXB8bdN4tLoep1bvXmiN3WZ6aySxcj1O54nmej8vpoEpO1d361Yk9V4B8aKgbV3c+l7P3+0OHWkU58ldcbd3xOWx+NwUPpfQCo2z0AEkhbEwBPrtBz/G8Vu7u2ctgxaBTwCARiLCjJIiE6SSYEdddssmyltCTvCUg+EACuW+aE/wDam4Uk720kaiRKmyOsGuqWvcJ/JHxCg20UUUAaXcS8z3D7h1Tr1oytxXdKKTJgRrB6BTCaUWtuXFIC02spM5fP0zExJGXT/WgzV5lWFn1Ez7SvnrE+ZNhfeTX/AH/SrIbZux6UPifb+aoVts6N9ory7VBr/oiwrvNv3Tn0qxPmP4V3mj3bw/jreNuFz6UX5Znr6+qpO3Kp9Ku+Vt/lXQeY+Y5hXeo8q/8ATrfh/mWYcw8h5q3yuNqzIVyrxgjqUsg1kNuT3o/4l2x/mVts9um1PtsuNOMLdkNFZaKVKTBKRya1awZ100OtAyiigGigDS5tPdXLbjRYKykpdKkJaCweTaW4kFWUlOdYSn4taZKKBPXthcpVlNoowUyoJfykEHNl871IgRwOYVCdt3y4UdinQJz6rlAWtxIcUMmrYCJkakKEDfDhFYJYSFFQAClRJgSYmJPGJPt0Czh209w8tQVb8ink3SJ5RS86EtEA8wJAPKGBJnIesVow7bV1QQlVusq86STCkytxtSjCVJ0AWgg74zJpwita7dJUlRAKkzlJAJE6GDwkUFHs/tMu6WUljk0htK8xWSecpaQmMg1GQzroTEUvNqhl/wDLuv3r5ia6BFc8QD2O9v1Vdbhr90e3Qev4aB8w4ect/m0/sild3at4XSmTyYRywRyuVSm20EOwVnMIWVthvKoJAKgoFQIqzs9rLUNoHKgQlI1SsbhHFPVW3tstPX0ePMPjFBSYjtPctFYCrdeRFsoZW184XD6mdJcGoACtYnNwGtNWHOOFlBeSlDpSM6UmUg9AP+/HVcra+z43DfjP+lbE7V2hHphr3QoF3FlS8+AfVTA/+qfip4rn97foK33UqSW+ymSVzzcqexQVA9AhUnqNNY2ss++WPKJ+egqca2ofYfcRlZKEIaWJKwQl54sBSzMBKSM6jG4Hw1ttNon1XvY+Rp1CUoUt1tRhKVm4AJknUFlIyidVn8WrFWP2m8v2+og+eN6jo36isWsfsgebcWo0jR1oaDcN+7Wgt6RcKJNxb9HZVx8CbqmtO0Fsd1wwf1rfz0nYXfIDtstSkpRy9wc5UAnVNzGp0M+Gg6AaUbfbRxabchtoF/JoXFQkr5fQnLwDPtnqph+zLHrzXlEfPXmULMgg9jEFWY/ctVa849ep136mgrtntsFXbuVLCgiAVLzEhJLaFiTlCSCVECCSQAYg6XuLGGHT/wAtf7JrWw8wkkoUyCqMxSUAmBlExvgADwCsMZu0djvc9P3Jz74fiKoOZ+aCo/YZ0f8AKaHGe7aro+I7Qs2qW+WUpOYc2G3VzAE9wkxvG+uceaKPtQsabmfhcbrrbY0HgoF8eaBZeunyL4/grW/5o9ilJVy8wCYCHJMCYEpAnw0zRWLrIUkpUJCgQQdQQdCD0igotm9uLS/HoZ0LMSUlKkqHTII+KaVMDjsZrrSOrUkk/Ka6MzbpQkJQAlIgBIACQOgAaCudYIsdjs9TaePGJ4UHpTofGNY6+mKpsbs3XFMhtSkJBXyi0q1AKDl5oUMxzDTfrrETXsxvluQPY0cpKY1TuHdSVDopcdtr7MtRBlSm1EJcaHObUkwATo2UzpvJidKD2NOX6lDNlSkFBUEhoq7tvOJnucvKEcYidaZFdYjwjxxSu05iA7qFGW55rI0yjPqDrCiRqI5og6zWaXMQ3qCBGTSGtQICjmzDKd/Nyn73WZNAyRu1GvyDwVS3sfZbChEHl3NPA0qKuVOdGv6RO7xQDVNcj7cYUOHKvePzk9QoOtgUUCigmiiigKKKKAooooINcuurq7t3FtCxefCVuEOtONZFBxaljRUGQFQZ3Eca6lXNbSzYDBdW02T58tR5NBUfPXSTJ3kxQeTthvCT9q7vX2TR+WpO0V0J+1d9r1IP8Ve4bPlaUn7HSCJ07D4wR98KjtZV/ZvER6U3cfwmv+tB4FbT3M64XiXuEn5aBtW+P+FYnx/Ag74HTVkdn9B9rlz/AJX6ytY2fE/1c9p1MdP56g8Hba9P9WYoNe9p/iqDtc7P9WYrxn0KrxceqrUYEP7PdHSQGeudOVrAYOIE2VyOmB9F7we1QVp2zUO6w/FB0eg1x1zrWtzbREkGwxDdxs1dM1ZjCf7pd/8Afv8AKmthw3otrwbt3LDWPYu6jdQVCdtGwPSWIeOzVG/5virEbcsACbe9j2Vmvp4eL4qt+xtfuGID339M1mhkpOjWIeH0Z9Ogo0bb2g9T3XvNXzVDu3Fl98w8OmbNW73Onhq+UFbyMSGnBWIb/ACaBMb8S8ZxCd1AuHbfDeLaveat0H2HCpO3eGCMySIHGzX9GmIOGO6xAfpX8+DUH/YrS5eJSCpT2IBIBJKuzQkASTJygADfJ6KBN2z25tbqyWyytZcUpoBJbcSNHUKVqRG4H2q70jdXL9qcVes7cPtOuqUhxoAOOLWhQU4lKgpJnNzT0+CuoJoJoqCKmggikK58y5ZUeSxC6ab3IahC0oTEZQVCSPDT6TVP24WffLPuxQKqvMuuP7Uf8gwfkqD5mF1wxZ/3uzTadrrPvljyiaE7XWZ9VW/lUfPQKB8y+74Yq547Vg1P9Gt7wxZfvVn56b+2uz76t/LN+DprPtntO+bfyzfz0CZ/Rrf/ANqk+GzZ+etmF+ZncIvba5fvuXFupZSjsdDc50FB1SrwcOFOHbJa982/lm/nrfaYqy6SGnW3CNSELSogdOhNB6hRU0UBVfjWNItmw44FFOdKVFInKFTKyJnKkCTEkAExpVhWi6s0uZcwnKoKGpHOExMbxqdDpQVCdtbXTM4EqP3ndqA50KOTMAkhOaZ3FJO8V6O2m2gHlm4JI1JG5RQZ005wiTxgcRWNtsnbNxybQQElJSlKlhIKBCSEg5RzeadNQADpWtOxloE5UshKddElQBkNgzrr9ybOvFAPTQTbbX27iHlNqzhlJUqI5yQ2l3MjXUEKgTEkHor0N7SW6tOWbB4pKgCO4meiM6R+lWi22St0crlSscs2G3PPF85CUBpIOu8ITAO8Sek15xsSwFggEplSlJUpSsylNqanMTKQEOLEDfzd2UUFnY44w+YZdbcIEkIWFECSmSBu1BHipHn0C5pILb59ou064XgTduSW88qCASpZVojNl3/lGkdTY+x6/wAy9+y5w8dB0OyHnSPyE/EK3RWu1EISPYj4hW2ggipoqJoCKrNpVuptHixm5UIPJ5QFKzaRAI1rxbQYjdoXlt2gpOQHNlK9TymeBmGqcrcJPdcoYPNqmtscxFDZSbflCEuqStbbgKoBLaCE/fey0BAjQ0Hqt7y9at33ilTys60sMls8pAfdSlRypScpa5Pp7nNOpFaHNpb1YgWq25WiFBpwkJ5YJKVJUIBLYKs24A9JFerFceu0Pck0226pLTSlgIdkF0vJKoB0SktJ5vdHPv0NYK2gvg4AbaEc4KUG3CEqzoTwMkJRmckd0ISII1BviiKU0bS3ZAm0KVEgKRDmh0MZ4ynODIVuTEK1Ne3ZbE33ElL6FApQ2eUUkpzlQOaQQIII3R0HjoF/FEUCpoIiqvar0jdf4d792urWqrakegbr8w7+wqg515oy/QBHS9b/AL5FdZFcn80Vv0GBAHoi34dLqa6LimGOulJbunbcCZDaGFBUnQnlEKOnVG+gtKiaXTs7dcMSufI2Z/lV58T2XvVsuIRiT2ZSFASzbJEkaHMhsKTB1lOvRQM76uao9R+Kub4SsC1Z1iWmt5P4iaacDwe5t2FC5vF3RDZ1U02iCAdZTzlfpE0sYU0eQY4Qy10/iJjT2/boPUlyePx9Ph6PipdY2yQWmlKhTjiQpSUEc3npTEEyTKwQJnRR4RVjjeKptm+UXJBUlMDeZCtecddAdOqlte1jQK/O0ZQtPFIJaU2nMfzvOUI0y7jQWbO2CFlAykJWAUAlsTzl5iCVgAQg6GDI41uwbaJFy4oISAkN5pMFWbORw0iIM1X2G0Fu0MiWFoAVGobPOA3k5iZBSkCdDKYrdZ7T25UChrJmUlGYJaSJWAQDBzQCQZ4zQMCEDoTPi65qut1FGOYelBgKTdZspIChyIUAocYUAfDFWXQD+kddevXo0qstx9vcO/Iuz4uSAoOriipooIIqaKKAooooCiiigg1yu0xq17HDLtyyhRStC0qdQlQmQRztx14iuqGuYIsOyQHnUWq3HQFKzWVus67pUo5laACT0UGxG1yNwxRO8Rz7E6eTE16DtQIMYmg741siercmvH2rtGPOLLXf9r2NPaIrX2osn8Bh/wD09v4w5Qe3tmVOmJt9fpP4NNa3J2ic/tBvcd4teBHRVT2oMTrb2B8FlHxOaVK9imO9sPjrs1fI/QXCcfdJ0v2R+gwfl+Ksk409wvmiPzbH0qoxsKwfU2HnwWrvyP6VCthLbvSxPgYfHV6/1UDEnGX59NMEnd5yiY8pUJxu5I9NMeDkB8HnutLSvM/t+FrYbwPuVyN/gerX/R/a8bSy8Quh4fw2+gbfs3c+vseQ644O1mvG7rg7b+QV0/nuik9Xme23CztPd3nyO1iPM5tifSlrr0PXw/mGgdBjF5OrluR+YWP50VP2ZvPxrc/qXR/NpMR5nFqfUrE/4m+Hyn/cVg55n1uPUzPivb0fJ4qB2bxm9ImbY/qnh/MOtacQvLp5hxpRYAcQpBKW3MwzJIMAr3wTSgnzPbfvZPgGIXY/gNT2iMd7n/qV19VQerzQwexGxBjsq24bpcHGuriuMXGy9nbqYW+y8EF9pMpvnncq1HzuULbAIzAA67jXZxQTRRRQarlvMhSfxkke2Irlxs8VZhtvD0OJbAQlwXTaQsJSlIUEqAIByzB6a6tURQcn+20AHCkkf4pr4KM2KccJO87rm347/hrrEVMUHJ3HsRIM4Q4d/qi2Op049WngNazcYgTrhDvhDtvOkDQ+Dd0V1uKIoOT9n34n7VXOvs2CeHGdaywC1vH8YtH3rJ5hDTb4UtZSUy4iBuOm6PHXVooigBU0UUBXnev20KShS0JUruUlSQo6xoCZOumleil7aLZpVy5OdCUlhxlQKCpUOraUVIMgBQ5MRIMEzwggwZqwFwnNlzDNxEidwO7fuI9uktexd3LihdjMoKCTD0pCilWnnn4yZ1nfXvxHZh5b63EPBAcKMwBcQohPJAgqQQdQhQngF0DJ2SmCZEDujIgRvk8KzzUoWeyVwli6aceQ4bhuAoheiy2ltSiNysxTmJiZMbt0HAb4rUOyVCeWIUFKKE5ko5NOUqzSlxObcRlKhOooHBSq5rb3WTDwtMBSbcFO4jNlzDTj004YHhbrPKF51TmbLkBcWsJCUAEc4CTmkzEmRNJakfawdBt06TP3g9rfQM6dkXY0uj1ksNa1KdkXgRF0BAH4BPDwLpnFTQKydkn++k+9x9ZWQ2VfHqlv3ueH62meigVTstc8LlrePU6uH62sxszcevs7vWFfW0z0UCt2s3PB9jd6w59bUDZi54vMeJlwcPztNVE0CsrZq59dY8k59Z11gdnLvg5beHI7J0/L/wBxTZRQK32Auvx7c9HNd+RVa14Dd9NsfDy3V83w020UCkMDu+i247lO8Y9j1V48Us7m3ZW6tFupKBmIC3JiYMSiJg081S7Yn0C/O7KPhUkUCDt6gBq2EyTf2w9pw766uK5Vt4qU2g3TiNtpx+6KPyfDXVqAooooCiiomgmitaHgSQCDG/q/1rZQFFFFAUUUUBRRRQFFFFAUUUUBRRRQYPHmnwH4q5o6oDDkb9WEceGRA3R19NdLdIymd0Gfarjd5hTim87b2IJt+YUNLVaqaDZUjKgnPnKQCOk0HZhU1AqaAooooMVjSku3xO9bZZPJOuuBttDyVpVq4kLLhTlgAk5Rn1TqI3GnUiljavFblDiWbVIUpbDq+5lYKS2gFJkJSRyhUJBkpA4yArWtosQHKE2yjJKkhTbunnbQ5NOUferzaqPOkxurcjHbpJW2pBWUqUrMkHlAnspTYGQAkAtlKkGNUJXJkTWxnHb2Fp5FC3G0SQAoKJDqkJBTmMZ0AOJ4aKnpoVjV4hDhFoVLE5RkJKxyiwmVBWgCQNNTCgd00EWW2LxfYZdZS2p1RmQ6ITkbUIkb8y1I10JbUNKcE1VYFnW2FvJIcDj2XOkBYRyq8g3bsgT4eNWwFAUUUUBVJtmfQL3gT+2iruqDbufse/lKQYTBUFFIPKIgqCecQOMa9FAkbdHSw00OI237Sq6rNcZRYXd1dWiHn7GG7pt2EIu21q5KVFILiMpOXMY36V1DFMTfbWA1aLfSRJWl1lEGTzYWoE8DPXQW00TSp2deansW714B+wMeAk1X4zjN22ytfYN66QBCDc28GSBGVheczPBKt+6gaMexlLLLpCgXEtLUlABUqUpJBKRrEjfupLRil84mV3KW0kA5QyjNEE85QVAnTROo6Tuq7N2peG3RVZrsz2O6cqyyZ87V+Ion3QBqnbTzRHR1RGgNBP2duWkGbhlKBxLCEpA93GpPw1ut9pLpXc3DK9YlLAVwB4O9BB8dVuM4WXmXGgrKVffQTGqToNOjp41QXGzmV1RYdCA46UhIUQQsFsrJJJ5RSQhwkESeVPRQOqsevAY5diYJA7GMwIHr3XWDm1N2FRylvMTBt3JgRrHLbtd/WKWe1t0qJS+cpUTkVykFKlJ5shYMAp0g7+qZzwvAnGXuUW6HZDkaKBham1ASonQFuY6SaBoTtHeGefbeQc+urZgG2Tq7/sR4NqKmC6hbaVIjIrKoKClqmZTEdc14G0TJ39JA4yIE9OlV+Aj/ANRN79MPc3/nkig6nRRRQFRNTVJtSh8tti2KgovIClJIEIIVmKjB5sxuFBdTUzSXYYvfNrS06lLhU6UpWpJQpScz8rCQqClKW0KgRzXQNSJO9nG73NzrZQBSOCikEFyUgSCMwAOY7pSCATQNk0TSgxil440+tTbjSwlnk0cnx5VwLKQQSZbCCQZiahrau6Mg2vPCXFZOclzKgpCSUGSQrPAiZLS44Cgar0+dr/JV8Rrnq0egEJn8Exp0SWvnpqtcQecZuC82G8oIRHKSrzoKKuekGJUQNPvTOtK9x6RaEictvEeFkUHRhU1AqaAooooClfHL++Q+oW7SVtQkBRRmImMyvugzx+LA8NNFRFAps3eIhaQWm1JUtedRCUZBncCCAFnMnLyR6YC5kxXiusUxMpkMwUlpQSlBClSpPKIJKyITzx7IJBBEzTzFEUFbgt28vlOWRkyuENmCnMiAQYJkHgR0jSRrVnURU0BRRRQFUm2ImzX+W1++aq7qk2xPoRUeuMfv2qBG2yPojDRH/ErfWetXDdXU01yrapybjC//AOizp7uuqpoJqIqaKCq2pgWN1O7kHf2FUmt3iMo5yeE84cfjroq0AiDqDvpTe8ybC1qKlWbZJJJMuDUmTuVQKuN4aLgJAfLJQsKBSATM8DmEfDvqnc2NJOlwNSVQEEQVBQMQvScxnXXKNRT/AP0QYV3m37p36dYnzHsK7zQPA48PiXQJQ2UMEC5MyvcVbl6DUrMEAASkDcNN4O6w2cUhaF9kKVCwo6K546FDMUjoEAaAdcth8xnCu9v/ADP/AE6g+YxhXex8s/8AToPGjdGo3a75PyV4Nmz/AOov/blH230xVz/QxhnBlweC4f8Ap1Z7OeZ3Z2Lxet0LS4UFBKnXF80kKiFExqkUDNRRRQFRFTRQRFGWpooIioyVlUUHkxbS3d/Nr/ZNI6miu1bCcuYIaInNEo5NWpg6GI06Zp8v7fO0tAMFSFJnozJIn4a5wGMWa87TYNLSjmpWLxCcwSICgFCUiBMHXWgY0bUXWss28dPLue19yrNW09yPU7HvhY/k0sKVi3HDARJ0F6z1dXVUKfxXX7Vn33b6caBo7aLnvZr3yr6mp7aX+9ke+D9VSsLvEx/wlzjuurY7466xRfYkP+FP+Xt/noGs7U3E62qI13XI4fq6jtteG+1HvhHypFLBxPEOOFXPift43z00OYxfccKuvKMHjPTQNHba93r4fRDXzVl22uz6UX5Znj4TSj9mb2f6qu/bZ+epOPXXHCr4HpCWz/FQN6drHD6kc8qx9KpRtWs+pHp4Q5bH+ZSejaO5EfavEOuEI65++662NbUXAP8AVeIgfmkn+KgchtKuPSr3u7b62sBtYeNrcDx2x+J2lVO17wEHDcT8gPkVXnXtcvjhuJe9T4vvqByG1v8Adrn2mPrar8ax4vtcmm3fSS40cyw0EgIdQskw4TuSdwpZ7cVaegMSHT6FVpw/Gqe3TX0niQ/yjnz9J+CgNp0RdYSNPT7Z3+xVXVE1x5/FV3d9hoRbXiA1dpWsuWy0ICQlQnNuG+uwpoJooooCiiigxBM/FWVFFAUUUUBRRRQFFFFAUUUUBRRRQFFFFAURRRQFFFFAURRRQRFEUUUBFGUUUUBloy0UUBloiiigIoiiigIqYoooCiiigKKKKAooooCiiigKKKKAooooP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://4.bp.blogspot.com/_Ii1ukGkfijY/Sl8EtlbA-VI/AAAAAAAAAfg/vDoHfGzDSHQ/s400/Network%2BModel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914400"/>
            <a:ext cx="8156083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6200" y="228600"/>
            <a:ext cx="9296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3500" dirty="0">
                <a:latin typeface="Times New Roman" pitchFamily="18" charset="0"/>
              </a:rPr>
              <a:t>Position of Transport layer protocol in TCP/IP</a:t>
            </a:r>
          </a:p>
        </p:txBody>
      </p:sp>
    </p:spTree>
    <p:extLst>
      <p:ext uri="{BB962C8B-B14F-4D97-AF65-F5344CB8AC3E}">
        <p14:creationId xmlns:p14="http://schemas.microsoft.com/office/powerpoint/2010/main" val="209128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4800"/>
            <a:ext cx="85344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600" dirty="0">
                <a:latin typeface="Times New Roman" pitchFamily="18" charset="0"/>
              </a:rPr>
              <a:t>1] UDP: 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3600" dirty="0">
                <a:latin typeface="Times New Roman" pitchFamily="18" charset="0"/>
              </a:rPr>
              <a:t>Connectionless Protocol.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3600" dirty="0">
                <a:latin typeface="Times New Roman" pitchFamily="18" charset="0"/>
              </a:rPr>
              <a:t>Unreliable Protocol.</a:t>
            </a:r>
          </a:p>
          <a:p>
            <a:pPr marL="1200150" lvl="2" indent="-285750">
              <a:buFont typeface="Wingdings" pitchFamily="2" charset="2"/>
              <a:buChar char="§"/>
            </a:pPr>
            <a:endParaRPr lang="en-US" sz="3600" dirty="0">
              <a:latin typeface="Times New Roman" pitchFamily="18" charset="0"/>
            </a:endParaRPr>
          </a:p>
          <a:p>
            <a:r>
              <a:rPr lang="en-US" altLang="en-US" sz="3600" dirty="0">
                <a:latin typeface="Times New Roman" pitchFamily="18" charset="0"/>
              </a:rPr>
              <a:t>2] TCP: 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3600" dirty="0">
                <a:latin typeface="Times New Roman" pitchFamily="18" charset="0"/>
              </a:rPr>
              <a:t>Connection Oriented Protocol.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3600" dirty="0">
                <a:latin typeface="Times New Roman" pitchFamily="18" charset="0"/>
              </a:rPr>
              <a:t>Reliable Protocol.</a:t>
            </a:r>
          </a:p>
          <a:p>
            <a:pPr marL="1200150" lvl="2" indent="-285750">
              <a:buFont typeface="Wingdings" pitchFamily="2" charset="2"/>
              <a:buChar char="§"/>
            </a:pPr>
            <a:endParaRPr lang="en-US" sz="3600" dirty="0">
              <a:latin typeface="Times New Roman" pitchFamily="18" charset="0"/>
            </a:endParaRPr>
          </a:p>
          <a:p>
            <a:r>
              <a:rPr lang="en-US" altLang="en-US" sz="3600" dirty="0">
                <a:latin typeface="Times New Roman" pitchFamily="18" charset="0"/>
              </a:rPr>
              <a:t>3] SCTP: </a:t>
            </a:r>
            <a:r>
              <a:rPr lang="en-US" sz="3600" b="0" i="0" dirty="0">
                <a:solidFill>
                  <a:srgbClr val="001D35"/>
                </a:solidFill>
                <a:effectLst/>
                <a:latin typeface="Google Sans"/>
              </a:rPr>
              <a:t>Stream Control Transmission Protocol</a:t>
            </a:r>
            <a:endParaRPr lang="en-US" altLang="en-US" sz="3600" dirty="0">
              <a:latin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3600" dirty="0">
                <a:latin typeface="Times New Roman" pitchFamily="18" charset="0"/>
              </a:rPr>
              <a:t>Designed for multimedia, multihomed and multistream application</a:t>
            </a:r>
          </a:p>
          <a:p>
            <a:r>
              <a:rPr lang="en-US" sz="3600" dirty="0">
                <a:latin typeface="Times New Roman" pitchFamily="18" charset="0"/>
              </a:rPr>
              <a:t>                 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622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62000" y="1447800"/>
            <a:ext cx="79248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4000" dirty="0">
                <a:latin typeface="Times New Roman" pitchFamily="18" charset="0"/>
              </a:rPr>
              <a:t>IANA (Internet Assigned Number Authority) ranges:</a:t>
            </a:r>
          </a:p>
        </p:txBody>
      </p:sp>
      <p:pic>
        <p:nvPicPr>
          <p:cNvPr id="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3341688"/>
            <a:ext cx="7983537" cy="161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76400" y="289641"/>
            <a:ext cx="5715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000" b="1" dirty="0">
                <a:latin typeface="Times New Roman" pitchFamily="18" charset="0"/>
              </a:rPr>
              <a:t>Port numbers</a:t>
            </a:r>
          </a:p>
        </p:txBody>
      </p:sp>
    </p:spTree>
    <p:extLst>
      <p:ext uri="{BB962C8B-B14F-4D97-AF65-F5344CB8AC3E}">
        <p14:creationId xmlns:p14="http://schemas.microsoft.com/office/powerpoint/2010/main" val="21564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76400" y="304800"/>
            <a:ext cx="5715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000" b="1" dirty="0">
                <a:latin typeface="Times New Roman" pitchFamily="18" charset="0"/>
              </a:rPr>
              <a:t>Port numbers</a:t>
            </a:r>
          </a:p>
        </p:txBody>
      </p:sp>
      <p:pic>
        <p:nvPicPr>
          <p:cNvPr id="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71700"/>
            <a:ext cx="7879588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053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90600" y="344269"/>
            <a:ext cx="7010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3600" b="1" dirty="0">
                <a:latin typeface="Times New Roman" pitchFamily="18" charset="0"/>
              </a:rPr>
              <a:t>IP addresses versus port numbers</a:t>
            </a:r>
          </a:p>
        </p:txBody>
      </p:sp>
      <p:pic>
        <p:nvPicPr>
          <p:cNvPr id="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552575"/>
            <a:ext cx="6310312" cy="471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9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52600" y="304800"/>
            <a:ext cx="5715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000" b="1" dirty="0">
                <a:latin typeface="Times New Roman" pitchFamily="18" charset="0"/>
              </a:rPr>
              <a:t>Socket address</a:t>
            </a:r>
          </a:p>
        </p:txBody>
      </p:sp>
      <p:pic>
        <p:nvPicPr>
          <p:cNvPr id="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41563"/>
            <a:ext cx="6375380" cy="328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707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3248" y="1350962"/>
            <a:ext cx="7075515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6705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>
                <a:latin typeface="Times New Roman" pitchFamily="18" charset="0"/>
              </a:rPr>
              <a:t>Multiplexing and Demultiplexing</a:t>
            </a:r>
          </a:p>
        </p:txBody>
      </p:sp>
    </p:spTree>
    <p:extLst>
      <p:ext uri="{BB962C8B-B14F-4D97-AF65-F5344CB8AC3E}">
        <p14:creationId xmlns:p14="http://schemas.microsoft.com/office/powerpoint/2010/main" val="1882316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85800"/>
            <a:ext cx="8229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2" indent="-285750">
              <a:buFont typeface="Wingdings" pitchFamily="2" charset="2"/>
              <a:buChar char="q"/>
            </a:pPr>
            <a:r>
              <a:rPr lang="en-US" sz="3600" dirty="0">
                <a:latin typeface="Times New Roman" pitchFamily="18" charset="0"/>
              </a:rPr>
              <a:t>  </a:t>
            </a:r>
            <a:r>
              <a:rPr lang="en-US" sz="3600" dirty="0"/>
              <a:t>Connectionless Protocol Vs  </a:t>
            </a:r>
          </a:p>
          <a:p>
            <a:pPr marL="1200150" lvl="2" indent="-285750"/>
            <a:r>
              <a:rPr lang="en-US" sz="3600" dirty="0"/>
              <a:t>      Connection Oriented Protocol.</a:t>
            </a:r>
          </a:p>
          <a:p>
            <a:pPr marL="1200150" lvl="2" indent="-285750"/>
            <a:endParaRPr lang="en-US" sz="3600" dirty="0">
              <a:latin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q"/>
            </a:pPr>
            <a:r>
              <a:rPr lang="en-US" sz="3600" dirty="0"/>
              <a:t> Reliable Versus Unreliable.</a:t>
            </a:r>
            <a:endParaRPr lang="en-US" sz="3600" dirty="0">
              <a:latin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§"/>
            </a:pPr>
            <a:endParaRPr lang="en-US" sz="36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092782" y="304800"/>
            <a:ext cx="25460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baseline="0" dirty="0">
                <a:latin typeface="Times New Roman" pitchFamily="18" charset="0"/>
              </a:rPr>
              <a:t>Error control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793875"/>
            <a:ext cx="8821738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603117" y="406400"/>
            <a:ext cx="694068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 baseline="0" dirty="0"/>
              <a:t>USER DATAGRAM PROTOCOL (UDP)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04800" y="1676400"/>
            <a:ext cx="82296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3200" baseline="0" dirty="0"/>
              <a:t>The User Datagram Protocol (UDP) is called a connectionless, unreliable transport protocol. It does not add anything to the services of IP except to provide process-to-process communication instead of host-to-host communication. </a:t>
            </a:r>
          </a:p>
          <a:p>
            <a:pPr algn="just" eaLnBrk="1" hangingPunct="1"/>
            <a:endParaRPr lang="en-US" sz="3200" dirty="0"/>
          </a:p>
          <a:p>
            <a:r>
              <a:rPr lang="en-US" sz="3200" dirty="0"/>
              <a:t>Also, it performs very limited error checking.</a:t>
            </a:r>
          </a:p>
          <a:p>
            <a:r>
              <a:rPr lang="en-US" sz="3200" dirty="0"/>
              <a:t>UDP is so powerless.</a:t>
            </a:r>
            <a:endParaRPr lang="en-US" sz="3200" baseline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27785" y="228600"/>
            <a:ext cx="461344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 baseline="0" dirty="0">
                <a:latin typeface="Times New Roman" pitchFamily="18" charset="0"/>
              </a:rPr>
              <a:t>User datagram format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866899"/>
            <a:ext cx="7589370" cy="3314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52400" y="1447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8600" y="381000"/>
            <a:ext cx="698781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200" b="1" baseline="0" dirty="0">
                <a:latin typeface="Times New Roman" pitchFamily="18" charset="0"/>
              </a:rPr>
              <a:t>Checksum calculation of a simple UDP</a:t>
            </a:r>
          </a:p>
          <a:p>
            <a:pPr algn="ctr"/>
            <a:r>
              <a:rPr lang="en-US" sz="3200" b="1" baseline="0" dirty="0">
                <a:latin typeface="Times New Roman" pitchFamily="18" charset="0"/>
              </a:rPr>
              <a:t> user datagram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638" y="2012950"/>
            <a:ext cx="8564562" cy="393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57600" y="304800"/>
            <a:ext cx="88530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 baseline="0" dirty="0"/>
              <a:t>TCP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04800" y="1524000"/>
            <a:ext cx="82296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3200" baseline="0" dirty="0"/>
              <a:t>TCP is a connection-oriented protocol; it creates a virtual connection between two TCPs to send data. In addition, TCP uses flow and error control mechanisms at the transport level.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24200" y="304800"/>
            <a:ext cx="25574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TCP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0" y="1371600"/>
            <a:ext cx="732835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/>
              <a:t>1] Process-to-Process Communication</a:t>
            </a:r>
          </a:p>
          <a:p>
            <a:endParaRPr lang="en-US" sz="3600" b="1" i="1" dirty="0"/>
          </a:p>
          <a:p>
            <a:endParaRPr lang="en-US" sz="36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88597" y="76200"/>
            <a:ext cx="52456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aseline="0" dirty="0"/>
              <a:t>Well-known ports used by TCP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2862" y="741362"/>
            <a:ext cx="6535738" cy="588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667000" y="304800"/>
            <a:ext cx="47842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baseline="0" dirty="0">
                <a:latin typeface="Times New Roman" pitchFamily="18" charset="0"/>
              </a:rPr>
              <a:t>2] Stream delivery</a:t>
            </a:r>
            <a:r>
              <a:rPr lang="en-US" sz="3200" i="1" dirty="0"/>
              <a:t> </a:t>
            </a:r>
            <a:r>
              <a:rPr lang="en-US" sz="3200" b="1" dirty="0">
                <a:latin typeface="Times New Roman" pitchFamily="18" charset="0"/>
              </a:rPr>
              <a:t>Service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0"/>
            <a:ext cx="7843838" cy="291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33400" y="4343400"/>
            <a:ext cx="8382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Two processes seem to be connected by an imaginary "tube“ that carries their data across the Internet. </a:t>
            </a:r>
          </a:p>
          <a:p>
            <a:endParaRPr lang="en-US" sz="1600" dirty="0"/>
          </a:p>
          <a:p>
            <a:r>
              <a:rPr lang="en-US" sz="2800" dirty="0"/>
              <a:t>The sending process produces (writes to) the stream of bytes, and the receiving process consumes (reads from)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78773" y="228600"/>
            <a:ext cx="58518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baseline="0" dirty="0">
                <a:latin typeface="Times New Roman" pitchFamily="18" charset="0"/>
              </a:rPr>
              <a:t>3] Sending and receiving buffers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6113" y="1127125"/>
            <a:ext cx="7888287" cy="458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596454" y="304800"/>
            <a:ext cx="311854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baseline="0" dirty="0">
                <a:latin typeface="Times New Roman" pitchFamily="18" charset="0"/>
              </a:rPr>
              <a:t>4] TCP segments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4963" y="1279525"/>
            <a:ext cx="8428037" cy="458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609600"/>
            <a:ext cx="5417252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5] Full-Duplex Communication</a:t>
            </a:r>
          </a:p>
          <a:p>
            <a:endParaRPr lang="en-US" sz="3200" dirty="0"/>
          </a:p>
          <a:p>
            <a:r>
              <a:rPr lang="en-US" sz="3200" dirty="0"/>
              <a:t>6] Connection-Oriented Service</a:t>
            </a:r>
          </a:p>
          <a:p>
            <a:endParaRPr lang="en-US" sz="3200" dirty="0"/>
          </a:p>
          <a:p>
            <a:r>
              <a:rPr lang="en-US" sz="3200" dirty="0"/>
              <a:t>7] Reliable Service.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76600" y="-76200"/>
            <a:ext cx="28706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TCP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609600"/>
            <a:ext cx="54102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/>
              <a:t>1] Numbering System</a:t>
            </a:r>
          </a:p>
          <a:p>
            <a:endParaRPr lang="en-US" sz="3000" dirty="0"/>
          </a:p>
          <a:p>
            <a:r>
              <a:rPr lang="en-US" sz="3000" dirty="0"/>
              <a:t>2] Byte Number</a:t>
            </a:r>
          </a:p>
          <a:p>
            <a:endParaRPr lang="en-US" sz="3000" dirty="0"/>
          </a:p>
          <a:p>
            <a:r>
              <a:rPr lang="en-US" sz="3000" dirty="0"/>
              <a:t>3] Sequence Number</a:t>
            </a:r>
          </a:p>
          <a:p>
            <a:endParaRPr lang="en-US" sz="3000" dirty="0"/>
          </a:p>
          <a:p>
            <a:r>
              <a:rPr lang="en-US" sz="3000" dirty="0"/>
              <a:t>4] Acknowledgment Number</a:t>
            </a:r>
          </a:p>
          <a:p>
            <a:endParaRPr lang="en-US" sz="3000" dirty="0"/>
          </a:p>
          <a:p>
            <a:r>
              <a:rPr lang="en-US" sz="3000" dirty="0"/>
              <a:t>5] Flow Control</a:t>
            </a:r>
          </a:p>
          <a:p>
            <a:endParaRPr lang="en-US" sz="3000" dirty="0"/>
          </a:p>
          <a:p>
            <a:r>
              <a:rPr lang="en-US" sz="3000" dirty="0"/>
              <a:t>6] Error Control</a:t>
            </a:r>
          </a:p>
          <a:p>
            <a:endParaRPr lang="en-US" sz="3000" dirty="0"/>
          </a:p>
          <a:p>
            <a:r>
              <a:rPr lang="en-US" sz="3000" dirty="0"/>
              <a:t>7] Congestion Control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609600"/>
            <a:ext cx="7162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2] Byte Number:</a:t>
            </a:r>
          </a:p>
          <a:p>
            <a:r>
              <a:rPr lang="en-US" sz="3200" dirty="0"/>
              <a:t>	The numbering does not necessarily start from O. Instead, TCP generates a random number between 0 and 2</a:t>
            </a:r>
            <a:r>
              <a:rPr lang="en-US" sz="3200" b="1" baseline="30000" dirty="0"/>
              <a:t>32</a:t>
            </a:r>
            <a:r>
              <a:rPr lang="en-US" sz="3200" dirty="0"/>
              <a:t> - 1 for the number of the first byte.</a:t>
            </a:r>
          </a:p>
          <a:p>
            <a:endParaRPr lang="en-US" sz="3200" dirty="0"/>
          </a:p>
          <a:p>
            <a:r>
              <a:rPr lang="en-US" sz="3200" dirty="0"/>
              <a:t>Byte numbering is used for flow and error control.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81000"/>
            <a:ext cx="8532720" cy="4031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3] Sequence Number:</a:t>
            </a:r>
          </a:p>
          <a:p>
            <a:endParaRPr lang="en-US" sz="3200" dirty="0"/>
          </a:p>
          <a:p>
            <a:r>
              <a:rPr lang="en-US" sz="3200" dirty="0"/>
              <a:t>	After the bytes have been numbered, TCP </a:t>
            </a:r>
          </a:p>
          <a:p>
            <a:r>
              <a:rPr lang="en-US" sz="3200" dirty="0"/>
              <a:t>Assigns a sequence number to each segment that </a:t>
            </a:r>
          </a:p>
          <a:p>
            <a:r>
              <a:rPr lang="en-US" sz="3200" dirty="0"/>
              <a:t>is being sent. The sequence number for each</a:t>
            </a:r>
          </a:p>
          <a:p>
            <a:r>
              <a:rPr lang="en-US" sz="3200" dirty="0"/>
              <a:t>segment is the number of the first byte carried in </a:t>
            </a:r>
          </a:p>
          <a:p>
            <a:r>
              <a:rPr lang="en-US" sz="3200" dirty="0"/>
              <a:t>that segment.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066800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acknowledgment number defines the number of the next byte that the party expects to receive.</a:t>
            </a:r>
          </a:p>
          <a:p>
            <a:endParaRPr lang="en-US" sz="3200" dirty="0"/>
          </a:p>
          <a:p>
            <a:r>
              <a:rPr lang="en-US" sz="3200" dirty="0"/>
              <a:t>The acknowledgment number is cumulative,</a:t>
            </a:r>
          </a:p>
          <a:p>
            <a:r>
              <a:rPr lang="en-US" sz="3200" dirty="0"/>
              <a:t>which means that the party takes the number of the last byte that it has received,</a:t>
            </a:r>
          </a:p>
          <a:p>
            <a:r>
              <a:rPr lang="en-US" sz="3200" dirty="0"/>
              <a:t>safe and sound, adds 1 to it, and announces this sum as the </a:t>
            </a:r>
            <a:r>
              <a:rPr lang="en-US" sz="3200" b="1" dirty="0"/>
              <a:t>acknowledgment number.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381000"/>
            <a:ext cx="5100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4] Acknowledgment Number: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475</Words>
  <Application>Microsoft Office PowerPoint</Application>
  <PresentationFormat>On-screen Show (4:3)</PresentationFormat>
  <Paragraphs>83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Google Sans</vt:lpstr>
      <vt:lpstr>Lucida Calligraphy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bvcoew</dc:creator>
  <cp:lastModifiedBy>Lenovo</cp:lastModifiedBy>
  <cp:revision>61</cp:revision>
  <dcterms:created xsi:type="dcterms:W3CDTF">2014-02-14T06:36:28Z</dcterms:created>
  <dcterms:modified xsi:type="dcterms:W3CDTF">2024-10-10T10:46:26Z</dcterms:modified>
</cp:coreProperties>
</file>